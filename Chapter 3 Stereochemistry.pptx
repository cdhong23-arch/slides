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0"/>
  </p:notesMasterIdLst>
  <p:handoutMasterIdLst>
    <p:handoutMasterId r:id="rId31"/>
  </p:handoutMasterIdLst>
  <p:sldIdLst>
    <p:sldId id="256" r:id="rId2"/>
    <p:sldId id="260" r:id="rId3"/>
    <p:sldId id="261" r:id="rId4"/>
    <p:sldId id="264" r:id="rId5"/>
    <p:sldId id="266" r:id="rId6"/>
    <p:sldId id="267" r:id="rId7"/>
    <p:sldId id="268" r:id="rId8"/>
    <p:sldId id="270" r:id="rId9"/>
    <p:sldId id="272" r:id="rId10"/>
    <p:sldId id="273" r:id="rId11"/>
    <p:sldId id="298" r:id="rId12"/>
    <p:sldId id="302" r:id="rId13"/>
    <p:sldId id="276" r:id="rId14"/>
    <p:sldId id="277" r:id="rId15"/>
    <p:sldId id="280" r:id="rId16"/>
    <p:sldId id="299" r:id="rId17"/>
    <p:sldId id="281" r:id="rId18"/>
    <p:sldId id="283" r:id="rId19"/>
    <p:sldId id="285" r:id="rId20"/>
    <p:sldId id="289" r:id="rId21"/>
    <p:sldId id="290" r:id="rId22"/>
    <p:sldId id="292" r:id="rId23"/>
    <p:sldId id="291" r:id="rId24"/>
    <p:sldId id="294" r:id="rId25"/>
    <p:sldId id="295" r:id="rId26"/>
    <p:sldId id="296" r:id="rId27"/>
    <p:sldId id="297" r:id="rId28"/>
    <p:sldId id="300" r:id="rId29"/>
  </p:sldIdLst>
  <p:sldSz cx="12192000" cy="6858000"/>
  <p:notesSz cx="9144000" cy="6858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FFFF"/>
    <a:srgbClr val="00FF00"/>
    <a:srgbClr val="0000FF"/>
    <a:srgbClr val="FF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6492" autoAdjust="0"/>
    <p:restoredTop sz="94660"/>
  </p:normalViewPr>
  <p:slideViewPr>
    <p:cSldViewPr>
      <p:cViewPr varScale="1">
        <p:scale>
          <a:sx n="113" d="100"/>
          <a:sy n="113" d="100"/>
        </p:scale>
        <p:origin x="1002" y="108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-194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emf"/><Relationship Id="rId1" Type="http://schemas.openxmlformats.org/officeDocument/2006/relationships/image" Target="../media/image1.emf"/></Relationships>
</file>

<file path=ppt/drawings/_rels/vmlDrawing2.v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image" Target="../media/image6.emf"/></Relationships>
</file>

<file path=ppt/drawings/_rels/vmlDrawing3.v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image" Target="../media/image9.emf"/><Relationship Id="rId1" Type="http://schemas.openxmlformats.org/officeDocument/2006/relationships/image" Target="../media/image8.emf"/></Relationships>
</file>

<file path=ppt/drawings/_rels/vmlDrawing4.vml.rels><?xml version="1.0" encoding="UTF-8" standalone="yes"?>
<Relationships xmlns="http://schemas.openxmlformats.org/package/2006/relationships"><Relationship Id="rId2" Type="http://schemas.openxmlformats.org/officeDocument/2006/relationships/image" Target="../media/image12.emf"/><Relationship Id="rId1" Type="http://schemas.openxmlformats.org/officeDocument/2006/relationships/image" Target="../media/image11.emf"/></Relationships>
</file>

<file path=ppt/drawings/_rels/vmlDrawing5.vml.rels><?xml version="1.0" encoding="UTF-8" standalone="yes"?>
<Relationships xmlns="http://schemas.openxmlformats.org/package/2006/relationships"><Relationship Id="rId3" Type="http://schemas.openxmlformats.org/officeDocument/2006/relationships/image" Target="../media/image15.emf"/><Relationship Id="rId2" Type="http://schemas.openxmlformats.org/officeDocument/2006/relationships/image" Target="../media/image14.emf"/><Relationship Id="rId1" Type="http://schemas.openxmlformats.org/officeDocument/2006/relationships/image" Target="../media/image13.e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6.emf"/></Relationships>
</file>

<file path=ppt/drawings/_rels/vmlDrawing7.vml.rels><?xml version="1.0" encoding="UTF-8" standalone="yes"?>
<Relationships xmlns="http://schemas.openxmlformats.org/package/2006/relationships"><Relationship Id="rId3" Type="http://schemas.openxmlformats.org/officeDocument/2006/relationships/image" Target="../media/image19.emf"/><Relationship Id="rId7" Type="http://schemas.openxmlformats.org/officeDocument/2006/relationships/image" Target="../media/image23.emf"/><Relationship Id="rId2" Type="http://schemas.openxmlformats.org/officeDocument/2006/relationships/image" Target="../media/image18.emf"/><Relationship Id="rId1" Type="http://schemas.openxmlformats.org/officeDocument/2006/relationships/image" Target="../media/image17.emf"/><Relationship Id="rId6" Type="http://schemas.openxmlformats.org/officeDocument/2006/relationships/image" Target="../media/image22.emf"/><Relationship Id="rId5" Type="http://schemas.openxmlformats.org/officeDocument/2006/relationships/image" Target="../media/image21.emf"/><Relationship Id="rId4" Type="http://schemas.openxmlformats.org/officeDocument/2006/relationships/image" Target="../media/image20.emf"/></Relationships>
</file>

<file path=ppt/drawings/_rels/vmlDrawing8.vml.rels><?xml version="1.0" encoding="UTF-8" standalone="yes"?>
<Relationships xmlns="http://schemas.openxmlformats.org/package/2006/relationships"><Relationship Id="rId3" Type="http://schemas.openxmlformats.org/officeDocument/2006/relationships/image" Target="../media/image26.emf"/><Relationship Id="rId2" Type="http://schemas.openxmlformats.org/officeDocument/2006/relationships/image" Target="../media/image25.emf"/><Relationship Id="rId1" Type="http://schemas.openxmlformats.org/officeDocument/2006/relationships/image" Target="../media/image24.emf"/><Relationship Id="rId4" Type="http://schemas.openxmlformats.org/officeDocument/2006/relationships/image" Target="../media/image27.emf"/></Relationships>
</file>

<file path=ppt/drawings/_rels/vmlDrawing9.vml.rels><?xml version="1.0" encoding="UTF-8" standalone="yes"?>
<Relationships xmlns="http://schemas.openxmlformats.org/package/2006/relationships"><Relationship Id="rId2" Type="http://schemas.openxmlformats.org/officeDocument/2006/relationships/image" Target="../media/image29.emf"/><Relationship Id="rId1" Type="http://schemas.openxmlformats.org/officeDocument/2006/relationships/image" Target="../media/image28.emf"/></Relationships>
</file>

<file path=ppt/drawings/_rels/vmlDrawing10.vml.rels><?xml version="1.0" encoding="UTF-8" standalone="yes"?>
<Relationships xmlns="http://schemas.openxmlformats.org/package/2006/relationships"><Relationship Id="rId1" Type="http://schemas.openxmlformats.org/officeDocument/2006/relationships/image" Target="../media/image30.emf"/></Relationships>
</file>

<file path=ppt/drawings/_rels/vmlDrawing11.vml.rels><?xml version="1.0" encoding="UTF-8" standalone="yes"?>
<Relationships xmlns="http://schemas.openxmlformats.org/package/2006/relationships"><Relationship Id="rId1" Type="http://schemas.openxmlformats.org/officeDocument/2006/relationships/image" Target="../media/image31.emf"/></Relationships>
</file>

<file path=ppt/drawings/_rels/vmlDrawing12.vml.rels><?xml version="1.0" encoding="UTF-8" standalone="yes"?>
<Relationships xmlns="http://schemas.openxmlformats.org/package/2006/relationships"><Relationship Id="rId1" Type="http://schemas.openxmlformats.org/officeDocument/2006/relationships/image" Target="../media/image32.emf"/></Relationships>
</file>

<file path=ppt/drawings/_rels/vmlDrawing13.vml.rels><?xml version="1.0" encoding="UTF-8" standalone="yes"?>
<Relationships xmlns="http://schemas.openxmlformats.org/package/2006/relationships"><Relationship Id="rId2" Type="http://schemas.openxmlformats.org/officeDocument/2006/relationships/image" Target="../media/image34.emf"/><Relationship Id="rId1" Type="http://schemas.openxmlformats.org/officeDocument/2006/relationships/image" Target="../media/image33.emf"/></Relationships>
</file>

<file path=ppt/drawings/_rels/vmlDrawing14.vml.rels><?xml version="1.0" encoding="UTF-8" standalone="yes"?>
<Relationships xmlns="http://schemas.openxmlformats.org/package/2006/relationships"><Relationship Id="rId1" Type="http://schemas.openxmlformats.org/officeDocument/2006/relationships/image" Target="../media/image35.emf"/></Relationships>
</file>

<file path=ppt/drawings/_rels/vmlDrawing15.vml.rels><?xml version="1.0" encoding="UTF-8" standalone="yes"?>
<Relationships xmlns="http://schemas.openxmlformats.org/package/2006/relationships"><Relationship Id="rId2" Type="http://schemas.openxmlformats.org/officeDocument/2006/relationships/image" Target="../media/image37.emf"/><Relationship Id="rId1" Type="http://schemas.openxmlformats.org/officeDocument/2006/relationships/image" Target="../media/image36.emf"/></Relationships>
</file>

<file path=ppt/drawings/_rels/vmlDrawing16.vml.rels><?xml version="1.0" encoding="UTF-8" standalone="yes"?>
<Relationships xmlns="http://schemas.openxmlformats.org/package/2006/relationships"><Relationship Id="rId2" Type="http://schemas.openxmlformats.org/officeDocument/2006/relationships/image" Target="../media/image39.emf"/><Relationship Id="rId1" Type="http://schemas.openxmlformats.org/officeDocument/2006/relationships/image" Target="../media/image38.emf"/></Relationships>
</file>

<file path=ppt/drawings/_rels/vmlDrawing17.vml.rels><?xml version="1.0" encoding="UTF-8" standalone="yes"?>
<Relationships xmlns="http://schemas.openxmlformats.org/package/2006/relationships"><Relationship Id="rId3" Type="http://schemas.openxmlformats.org/officeDocument/2006/relationships/image" Target="../media/image42.emf"/><Relationship Id="rId2" Type="http://schemas.openxmlformats.org/officeDocument/2006/relationships/image" Target="../media/image41.emf"/><Relationship Id="rId1" Type="http://schemas.openxmlformats.org/officeDocument/2006/relationships/image" Target="../media/image40.emf"/></Relationships>
</file>

<file path=ppt/drawings/_rels/vmlDrawing18.vml.rels><?xml version="1.0" encoding="UTF-8" standalone="yes"?>
<Relationships xmlns="http://schemas.openxmlformats.org/package/2006/relationships"><Relationship Id="rId2" Type="http://schemas.openxmlformats.org/officeDocument/2006/relationships/image" Target="../media/image44.emf"/><Relationship Id="rId1" Type="http://schemas.openxmlformats.org/officeDocument/2006/relationships/image" Target="../media/image43.emf"/></Relationships>
</file>

<file path=ppt/drawings/_rels/vmlDrawing19.vml.rels><?xml version="1.0" encoding="UTF-8" standalone="yes"?>
<Relationships xmlns="http://schemas.openxmlformats.org/package/2006/relationships"><Relationship Id="rId1" Type="http://schemas.openxmlformats.org/officeDocument/2006/relationships/image" Target="../media/image45.emf"/></Relationships>
</file>

<file path=ppt/drawings/_rels/vmlDrawing20.vml.rels><?xml version="1.0" encoding="UTF-8" standalone="yes"?>
<Relationships xmlns="http://schemas.openxmlformats.org/package/2006/relationships"><Relationship Id="rId2" Type="http://schemas.openxmlformats.org/officeDocument/2006/relationships/image" Target="../media/image47.emf"/><Relationship Id="rId1" Type="http://schemas.openxmlformats.org/officeDocument/2006/relationships/image" Target="../media/image46.emf"/></Relationships>
</file>

<file path=ppt/drawings/_rels/vmlDrawing21.vml.rels><?xml version="1.0" encoding="UTF-8" standalone="yes"?>
<Relationships xmlns="http://schemas.openxmlformats.org/package/2006/relationships"><Relationship Id="rId1" Type="http://schemas.openxmlformats.org/officeDocument/2006/relationships/image" Target="../media/image48.emf"/></Relationships>
</file>

<file path=ppt/drawings/_rels/vmlDrawing22.vml.rels><?xml version="1.0" encoding="UTF-8" standalone="yes"?>
<Relationships xmlns="http://schemas.openxmlformats.org/package/2006/relationships"><Relationship Id="rId2" Type="http://schemas.openxmlformats.org/officeDocument/2006/relationships/image" Target="../media/image50.emf"/><Relationship Id="rId1" Type="http://schemas.openxmlformats.org/officeDocument/2006/relationships/image" Target="../media/image49.emf"/></Relationships>
</file>

<file path=ppt/drawings/_rels/vmlDrawing23.vml.rels><?xml version="1.0" encoding="UTF-8" standalone="yes"?>
<Relationships xmlns="http://schemas.openxmlformats.org/package/2006/relationships"><Relationship Id="rId2" Type="http://schemas.openxmlformats.org/officeDocument/2006/relationships/image" Target="../media/image52.emf"/><Relationship Id="rId1" Type="http://schemas.openxmlformats.org/officeDocument/2006/relationships/image" Target="../media/image51.emf"/></Relationships>
</file>

<file path=ppt/drawings/_rels/vmlDrawing24.vml.rels><?xml version="1.0" encoding="UTF-8" standalone="yes"?>
<Relationships xmlns="http://schemas.openxmlformats.org/package/2006/relationships"><Relationship Id="rId1" Type="http://schemas.openxmlformats.org/officeDocument/2006/relationships/image" Target="../media/image35.emf"/></Relationships>
</file>

<file path=ppt/drawings/_rels/vmlDrawing25.vml.rels><?xml version="1.0" encoding="UTF-8" standalone="yes"?>
<Relationships xmlns="http://schemas.openxmlformats.org/package/2006/relationships"><Relationship Id="rId1" Type="http://schemas.openxmlformats.org/officeDocument/2006/relationships/image" Target="../media/image53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5179484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8D13C4B-F864-41FF-BE56-AB10B87E1A7D}" type="datetimeFigureOut">
              <a:rPr lang="zh-CN" altLang="en-US" smtClean="0"/>
              <a:pPr/>
              <a:t>2026/8/27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651391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5179484" y="651391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ED14EB0-D834-4F6B-A7E2-D5A1815BD0B7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5179484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DF942B7-2F16-44AF-A997-A7A627464417}" type="datetimeFigureOut">
              <a:rPr lang="zh-CN" altLang="en-US" smtClean="0"/>
              <a:pPr/>
              <a:t>2026/8/27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651391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5179484" y="651391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AEDCBBA-5C54-4C96-8CF3-A1430E4379CD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53E2EB-F4B2-4DEB-AA21-65AB8F7FBBCE}" type="datetime1">
              <a:rPr lang="zh-CN" altLang="en-US" smtClean="0"/>
              <a:pPr/>
              <a:t>2026/8/27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48867B-8CDC-4F97-A2A6-76673D99D3BE}" type="datetime1">
              <a:rPr lang="zh-CN" altLang="en-US" smtClean="0"/>
              <a:pPr/>
              <a:t>2026/8/27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80EC42-1007-4876-B955-FF09B256E2DC}" type="datetime1">
              <a:rPr lang="zh-CN" altLang="en-US" smtClean="0"/>
              <a:pPr/>
              <a:t>2026/8/27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FD8D22-9454-4FB4-B03C-8E38C9FCF80C}" type="datetime1">
              <a:rPr lang="zh-CN" altLang="en-US" smtClean="0"/>
              <a:pPr/>
              <a:t>2026/8/27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154433-B18B-4D73-A808-821B7BAA3464}" type="datetime1">
              <a:rPr lang="zh-CN" altLang="en-US" smtClean="0"/>
              <a:pPr/>
              <a:t>2026/8/27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9B1CD5-1C10-4475-933E-97BC8A3AECAC}" type="datetime1">
              <a:rPr lang="zh-CN" altLang="en-US" smtClean="0"/>
              <a:pPr/>
              <a:t>2026/8/27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DACC2C-6863-410C-BB4F-878064E66751}" type="datetime1">
              <a:rPr lang="zh-CN" altLang="en-US" smtClean="0"/>
              <a:pPr/>
              <a:t>2026/8/27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1197B5-579F-43B2-96B5-CB2B3F04F685}" type="datetime1">
              <a:rPr lang="zh-CN" altLang="en-US" smtClean="0"/>
              <a:pPr/>
              <a:t>2026/8/27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B21EC4-B36A-477D-9138-CBFC34EA3B05}" type="datetime1">
              <a:rPr lang="zh-CN" altLang="en-US" smtClean="0"/>
              <a:pPr/>
              <a:t>2026/8/27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4F7E77-19BA-4685-B6F1-FD1B96114A6E}" type="datetime1">
              <a:rPr lang="zh-CN" altLang="en-US" smtClean="0"/>
              <a:pPr/>
              <a:t>2026/8/27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40727E-59D1-4417-9160-9B374EED639E}" type="datetime1">
              <a:rPr lang="zh-CN" altLang="en-US" smtClean="0"/>
              <a:pPr/>
              <a:t>2026/8/27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84A609-1EB7-4E49-9DF0-61C44F8CEAF9}" type="datetime1">
              <a:rPr lang="zh-CN" altLang="en-US" smtClean="0"/>
              <a:pPr/>
              <a:t>2026/8/27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emf"/><Relationship Id="rId3" Type="http://schemas.openxmlformats.org/officeDocument/2006/relationships/oleObject" Target="../embeddings/oleObject1.bin"/><Relationship Id="rId7" Type="http://schemas.openxmlformats.org/officeDocument/2006/relationships/oleObject" Target="../embeddings/oleObject3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2.e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1.emf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7.emf"/><Relationship Id="rId5" Type="http://schemas.openxmlformats.org/officeDocument/2006/relationships/oleObject" Target="../embeddings/oleObject5.bin"/><Relationship Id="rId4" Type="http://schemas.openxmlformats.org/officeDocument/2006/relationships/image" Target="../media/image6.emf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emf"/><Relationship Id="rId3" Type="http://schemas.openxmlformats.org/officeDocument/2006/relationships/oleObject" Target="../embeddings/oleObject6.bin"/><Relationship Id="rId7" Type="http://schemas.openxmlformats.org/officeDocument/2006/relationships/oleObject" Target="../embeddings/oleObject8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9.emf"/><Relationship Id="rId5" Type="http://schemas.openxmlformats.org/officeDocument/2006/relationships/oleObject" Target="../embeddings/oleObject7.bin"/><Relationship Id="rId4" Type="http://schemas.openxmlformats.org/officeDocument/2006/relationships/image" Target="../media/image8.em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12.emf"/><Relationship Id="rId5" Type="http://schemas.openxmlformats.org/officeDocument/2006/relationships/oleObject" Target="../embeddings/oleObject10.bin"/><Relationship Id="rId4" Type="http://schemas.openxmlformats.org/officeDocument/2006/relationships/image" Target="../media/image11.emf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emf"/><Relationship Id="rId3" Type="http://schemas.openxmlformats.org/officeDocument/2006/relationships/oleObject" Target="../embeddings/oleObject11.bin"/><Relationship Id="rId7" Type="http://schemas.openxmlformats.org/officeDocument/2006/relationships/oleObject" Target="../embeddings/oleObject13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5.vml"/><Relationship Id="rId6" Type="http://schemas.openxmlformats.org/officeDocument/2006/relationships/image" Target="../media/image14.emf"/><Relationship Id="rId5" Type="http://schemas.openxmlformats.org/officeDocument/2006/relationships/oleObject" Target="../embeddings/oleObject12.bin"/><Relationship Id="rId4" Type="http://schemas.openxmlformats.org/officeDocument/2006/relationships/image" Target="../media/image13.em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4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6.vml"/><Relationship Id="rId4" Type="http://schemas.openxmlformats.org/officeDocument/2006/relationships/image" Target="../media/image16.emf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emf"/><Relationship Id="rId13" Type="http://schemas.openxmlformats.org/officeDocument/2006/relationships/oleObject" Target="../embeddings/oleObject20.bin"/><Relationship Id="rId3" Type="http://schemas.openxmlformats.org/officeDocument/2006/relationships/oleObject" Target="../embeddings/oleObject15.bin"/><Relationship Id="rId7" Type="http://schemas.openxmlformats.org/officeDocument/2006/relationships/oleObject" Target="../embeddings/oleObject17.bin"/><Relationship Id="rId12" Type="http://schemas.openxmlformats.org/officeDocument/2006/relationships/image" Target="../media/image21.emf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23.emf"/><Relationship Id="rId1" Type="http://schemas.openxmlformats.org/officeDocument/2006/relationships/vmlDrawing" Target="../drawings/vmlDrawing7.vml"/><Relationship Id="rId6" Type="http://schemas.openxmlformats.org/officeDocument/2006/relationships/image" Target="../media/image18.emf"/><Relationship Id="rId11" Type="http://schemas.openxmlformats.org/officeDocument/2006/relationships/oleObject" Target="../embeddings/oleObject19.bin"/><Relationship Id="rId5" Type="http://schemas.openxmlformats.org/officeDocument/2006/relationships/oleObject" Target="../embeddings/oleObject16.bin"/><Relationship Id="rId15" Type="http://schemas.openxmlformats.org/officeDocument/2006/relationships/oleObject" Target="../embeddings/oleObject21.bin"/><Relationship Id="rId10" Type="http://schemas.openxmlformats.org/officeDocument/2006/relationships/image" Target="../media/image20.emf"/><Relationship Id="rId4" Type="http://schemas.openxmlformats.org/officeDocument/2006/relationships/image" Target="../media/image17.emf"/><Relationship Id="rId9" Type="http://schemas.openxmlformats.org/officeDocument/2006/relationships/oleObject" Target="../embeddings/oleObject18.bin"/><Relationship Id="rId14" Type="http://schemas.openxmlformats.org/officeDocument/2006/relationships/image" Target="../media/image22.emf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emf"/><Relationship Id="rId3" Type="http://schemas.openxmlformats.org/officeDocument/2006/relationships/oleObject" Target="../embeddings/oleObject22.bin"/><Relationship Id="rId7" Type="http://schemas.openxmlformats.org/officeDocument/2006/relationships/oleObject" Target="../embeddings/oleObject24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8.vml"/><Relationship Id="rId6" Type="http://schemas.openxmlformats.org/officeDocument/2006/relationships/image" Target="../media/image25.emf"/><Relationship Id="rId5" Type="http://schemas.openxmlformats.org/officeDocument/2006/relationships/oleObject" Target="../embeddings/oleObject23.bin"/><Relationship Id="rId10" Type="http://schemas.openxmlformats.org/officeDocument/2006/relationships/image" Target="../media/image27.emf"/><Relationship Id="rId4" Type="http://schemas.openxmlformats.org/officeDocument/2006/relationships/image" Target="../media/image24.emf"/><Relationship Id="rId9" Type="http://schemas.openxmlformats.org/officeDocument/2006/relationships/oleObject" Target="../embeddings/oleObject25.bin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6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9.vml"/><Relationship Id="rId6" Type="http://schemas.openxmlformats.org/officeDocument/2006/relationships/image" Target="../media/image29.emf"/><Relationship Id="rId5" Type="http://schemas.openxmlformats.org/officeDocument/2006/relationships/oleObject" Target="../embeddings/oleObject27.bin"/><Relationship Id="rId4" Type="http://schemas.openxmlformats.org/officeDocument/2006/relationships/image" Target="../media/image28.emf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8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0.vml"/><Relationship Id="rId4" Type="http://schemas.openxmlformats.org/officeDocument/2006/relationships/image" Target="../media/image30.emf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9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1.vml"/><Relationship Id="rId4" Type="http://schemas.openxmlformats.org/officeDocument/2006/relationships/image" Target="../media/image31.emf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0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2.vml"/><Relationship Id="rId4" Type="http://schemas.openxmlformats.org/officeDocument/2006/relationships/image" Target="../media/image32.emf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1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3.vml"/><Relationship Id="rId6" Type="http://schemas.openxmlformats.org/officeDocument/2006/relationships/image" Target="../media/image34.emf"/><Relationship Id="rId5" Type="http://schemas.openxmlformats.org/officeDocument/2006/relationships/oleObject" Target="../embeddings/oleObject32.bin"/><Relationship Id="rId4" Type="http://schemas.openxmlformats.org/officeDocument/2006/relationships/image" Target="../media/image33.emf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3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4.vml"/><Relationship Id="rId4" Type="http://schemas.openxmlformats.org/officeDocument/2006/relationships/image" Target="../media/image35.emf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4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5.vml"/><Relationship Id="rId6" Type="http://schemas.openxmlformats.org/officeDocument/2006/relationships/image" Target="../media/image37.emf"/><Relationship Id="rId5" Type="http://schemas.openxmlformats.org/officeDocument/2006/relationships/oleObject" Target="../embeddings/oleObject35.bin"/><Relationship Id="rId4" Type="http://schemas.openxmlformats.org/officeDocument/2006/relationships/image" Target="../media/image36.emf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6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6.vml"/><Relationship Id="rId6" Type="http://schemas.openxmlformats.org/officeDocument/2006/relationships/image" Target="../media/image39.emf"/><Relationship Id="rId5" Type="http://schemas.openxmlformats.org/officeDocument/2006/relationships/oleObject" Target="../embeddings/oleObject37.bin"/><Relationship Id="rId4" Type="http://schemas.openxmlformats.org/officeDocument/2006/relationships/image" Target="../media/image38.emf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emf"/><Relationship Id="rId3" Type="http://schemas.openxmlformats.org/officeDocument/2006/relationships/oleObject" Target="../embeddings/oleObject38.bin"/><Relationship Id="rId7" Type="http://schemas.openxmlformats.org/officeDocument/2006/relationships/oleObject" Target="../embeddings/oleObject40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7.vml"/><Relationship Id="rId6" Type="http://schemas.openxmlformats.org/officeDocument/2006/relationships/image" Target="../media/image41.emf"/><Relationship Id="rId5" Type="http://schemas.openxmlformats.org/officeDocument/2006/relationships/oleObject" Target="../embeddings/oleObject39.bin"/><Relationship Id="rId4" Type="http://schemas.openxmlformats.org/officeDocument/2006/relationships/image" Target="../media/image40.emf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1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8.vml"/><Relationship Id="rId6" Type="http://schemas.openxmlformats.org/officeDocument/2006/relationships/image" Target="../media/image44.emf"/><Relationship Id="rId5" Type="http://schemas.openxmlformats.org/officeDocument/2006/relationships/oleObject" Target="../embeddings/oleObject42.bin"/><Relationship Id="rId4" Type="http://schemas.openxmlformats.org/officeDocument/2006/relationships/image" Target="../media/image43.emf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3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9.vml"/><Relationship Id="rId4" Type="http://schemas.openxmlformats.org/officeDocument/2006/relationships/image" Target="../media/image45.emf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4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0.vml"/><Relationship Id="rId6" Type="http://schemas.openxmlformats.org/officeDocument/2006/relationships/image" Target="../media/image47.emf"/><Relationship Id="rId5" Type="http://schemas.openxmlformats.org/officeDocument/2006/relationships/oleObject" Target="../embeddings/oleObject45.bin"/><Relationship Id="rId4" Type="http://schemas.openxmlformats.org/officeDocument/2006/relationships/image" Target="../media/image46.emf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6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1.vml"/><Relationship Id="rId4" Type="http://schemas.openxmlformats.org/officeDocument/2006/relationships/image" Target="../media/image48.emf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7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2.vml"/><Relationship Id="rId6" Type="http://schemas.openxmlformats.org/officeDocument/2006/relationships/image" Target="../media/image50.emf"/><Relationship Id="rId5" Type="http://schemas.openxmlformats.org/officeDocument/2006/relationships/oleObject" Target="../embeddings/oleObject48.bin"/><Relationship Id="rId4" Type="http://schemas.openxmlformats.org/officeDocument/2006/relationships/image" Target="../media/image49.emf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9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3.vml"/><Relationship Id="rId6" Type="http://schemas.openxmlformats.org/officeDocument/2006/relationships/image" Target="../media/image52.emf"/><Relationship Id="rId5" Type="http://schemas.openxmlformats.org/officeDocument/2006/relationships/oleObject" Target="../embeddings/oleObject50.bin"/><Relationship Id="rId4" Type="http://schemas.openxmlformats.org/officeDocument/2006/relationships/image" Target="../media/image51.emf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1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4.vml"/><Relationship Id="rId4" Type="http://schemas.openxmlformats.org/officeDocument/2006/relationships/image" Target="../media/image35.emf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2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5.vml"/><Relationship Id="rId4" Type="http://schemas.openxmlformats.org/officeDocument/2006/relationships/image" Target="../media/image53.emf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1</a:t>
            </a:fld>
            <a:endParaRPr lang="zh-CN" altLang="en-US"/>
          </a:p>
        </p:txBody>
      </p:sp>
      <p:sp>
        <p:nvSpPr>
          <p:cNvPr id="3" name="TextBox 2"/>
          <p:cNvSpPr txBox="1"/>
          <p:nvPr/>
        </p:nvSpPr>
        <p:spPr>
          <a:xfrm>
            <a:off x="0" y="344321"/>
            <a:ext cx="12192000" cy="523220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latin typeface="MS Reference Sans Serif" panose="020B0604030504040204" pitchFamily="34" charset="0"/>
                <a:cs typeface="Microsoft Sans Serif" pitchFamily="34" charset="0"/>
              </a:rPr>
              <a:t>Chapter 3 Stereochemistry</a:t>
            </a:r>
            <a:endParaRPr lang="zh-CN" altLang="en-US" sz="2800" b="1" dirty="0">
              <a:latin typeface="MS Reference Sans Serif" panose="020B0604030504040204" pitchFamily="34" charset="0"/>
              <a:cs typeface="Microsoft Sans Serif" pitchFamily="3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75692" y="1430254"/>
            <a:ext cx="1164061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b="1" dirty="0">
                <a:highlight>
                  <a:srgbClr val="FFFF00"/>
                </a:highlight>
                <a:latin typeface="MS Reference Sans Serif" panose="020B0604030504040204" pitchFamily="34" charset="0"/>
                <a:cs typeface="Microsoft Sans Serif" pitchFamily="34" charset="0"/>
              </a:rPr>
              <a:t>Stereochemistry</a:t>
            </a:r>
            <a:r>
              <a:rPr lang="en-US" altLang="zh-CN" b="1" dirty="0">
                <a:latin typeface="MS Reference Sans Serif" panose="020B0604030504040204" pitchFamily="34" charset="0"/>
                <a:cs typeface="Microsoft Sans Serif" pitchFamily="34" charset="0"/>
              </a:rPr>
              <a:t> is </a:t>
            </a:r>
            <a:r>
              <a:rPr lang="en-US" altLang="zh-CN" b="1" dirty="0">
                <a:highlight>
                  <a:srgbClr val="00FF00"/>
                </a:highlight>
                <a:latin typeface="MS Reference Sans Serif" panose="020B0604030504040204" pitchFamily="34" charset="0"/>
                <a:cs typeface="Microsoft Sans Serif" pitchFamily="34" charset="0"/>
              </a:rPr>
              <a:t>the study of the three-dimensional structure of molecules</a:t>
            </a:r>
            <a:r>
              <a:rPr lang="en-US" altLang="zh-CN" b="1" dirty="0">
                <a:latin typeface="MS Reference Sans Serif" panose="020B0604030504040204" pitchFamily="34" charset="0"/>
                <a:cs typeface="Microsoft Sans Serif" pitchFamily="34" charset="0"/>
              </a:rPr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b="1" dirty="0">
                <a:latin typeface="MS Reference Sans Serif" panose="020B0604030504040204" pitchFamily="34" charset="0"/>
                <a:cs typeface="Microsoft Sans Serif" pitchFamily="34" charset="0"/>
              </a:rPr>
              <a:t>No one can understand organic chemistry, biochemistry, biology, and pharmacy without using stereochemistry.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b="1" dirty="0">
                <a:highlight>
                  <a:srgbClr val="FFFF00"/>
                </a:highlight>
                <a:latin typeface="MS Reference Sans Serif" panose="020B0604030504040204" pitchFamily="34" charset="0"/>
                <a:cs typeface="Microsoft Sans Serif" pitchFamily="34" charset="0"/>
              </a:rPr>
              <a:t>Classification of Isomers</a:t>
            </a:r>
            <a:r>
              <a:rPr lang="en-US" altLang="zh-CN" b="1" dirty="0">
                <a:latin typeface="MS Reference Sans Serif" panose="020B0604030504040204" pitchFamily="34" charset="0"/>
                <a:cs typeface="Microsoft Sans Serif" pitchFamily="34" charset="0"/>
              </a:rPr>
              <a:t>: isomers</a:t>
            </a:r>
            <a:r>
              <a:rPr lang="en-US" altLang="zh-CN" b="1" dirty="0">
                <a:solidFill>
                  <a:srgbClr val="0000FF"/>
                </a:solidFill>
                <a:latin typeface="MS Reference Sans Serif" panose="020B0604030504040204" pitchFamily="34" charset="0"/>
                <a:cs typeface="Microsoft Sans Serif" pitchFamily="34" charset="0"/>
              </a:rPr>
              <a:t> </a:t>
            </a:r>
            <a:r>
              <a:rPr lang="en-US" altLang="zh-CN" b="1" dirty="0">
                <a:latin typeface="MS Reference Sans Serif" panose="020B0604030504040204" pitchFamily="34" charset="0"/>
                <a:cs typeface="Microsoft Sans Serif" pitchFamily="34" charset="0"/>
              </a:rPr>
              <a:t>are grouped into three broad classes: </a:t>
            </a:r>
          </a:p>
        </p:txBody>
      </p:sp>
      <p:sp>
        <p:nvSpPr>
          <p:cNvPr id="6" name="矩形 5"/>
          <p:cNvSpPr/>
          <p:nvPr/>
        </p:nvSpPr>
        <p:spPr>
          <a:xfrm>
            <a:off x="5987" y="957835"/>
            <a:ext cx="2505814" cy="461665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</p:spPr>
        <p:txBody>
          <a:bodyPr wrap="none">
            <a:spAutoFit/>
          </a:bodyPr>
          <a:lstStyle/>
          <a:p>
            <a:r>
              <a:rPr lang="en-US" altLang="zh-CN" sz="2400" b="1" dirty="0">
                <a:latin typeface="MS Reference Sans Serif" panose="020B0604030504040204" pitchFamily="34" charset="0"/>
                <a:cs typeface="Microsoft Sans Serif" pitchFamily="34" charset="0"/>
              </a:rPr>
              <a:t>1. Introduction</a:t>
            </a:r>
          </a:p>
        </p:txBody>
      </p:sp>
      <p:graphicFrame>
        <p:nvGraphicFramePr>
          <p:cNvPr id="9" name="表格 12">
            <a:extLst>
              <a:ext uri="{FF2B5EF4-FFF2-40B4-BE49-F238E27FC236}">
                <a16:creationId xmlns:a16="http://schemas.microsoft.com/office/drawing/2014/main" id="{90AD6291-D31C-4F41-93D9-AD148DE9FA9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80787117"/>
              </p:ext>
            </p:extLst>
          </p:nvPr>
        </p:nvGraphicFramePr>
        <p:xfrm>
          <a:off x="462596" y="2672039"/>
          <a:ext cx="11453712" cy="328905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10903">
                  <a:extLst>
                    <a:ext uri="{9D8B030D-6E8A-4147-A177-3AD203B41FA5}">
                      <a16:colId xmlns:a16="http://schemas.microsoft.com/office/drawing/2014/main" val="4217913478"/>
                    </a:ext>
                  </a:extLst>
                </a:gridCol>
                <a:gridCol w="1973857">
                  <a:extLst>
                    <a:ext uri="{9D8B030D-6E8A-4147-A177-3AD203B41FA5}">
                      <a16:colId xmlns:a16="http://schemas.microsoft.com/office/drawing/2014/main" val="3440752301"/>
                    </a:ext>
                  </a:extLst>
                </a:gridCol>
                <a:gridCol w="4752528">
                  <a:extLst>
                    <a:ext uri="{9D8B030D-6E8A-4147-A177-3AD203B41FA5}">
                      <a16:colId xmlns:a16="http://schemas.microsoft.com/office/drawing/2014/main" val="3551169184"/>
                    </a:ext>
                  </a:extLst>
                </a:gridCol>
                <a:gridCol w="3816424">
                  <a:extLst>
                    <a:ext uri="{9D8B030D-6E8A-4147-A177-3AD203B41FA5}">
                      <a16:colId xmlns:a16="http://schemas.microsoft.com/office/drawing/2014/main" val="920277311"/>
                    </a:ext>
                  </a:extLst>
                </a:gridCol>
              </a:tblGrid>
              <a:tr h="462810">
                <a:tc>
                  <a:txBody>
                    <a:bodyPr/>
                    <a:lstStyle/>
                    <a:p>
                      <a:r>
                        <a:rPr lang="en-US" altLang="zh-CN" sz="1800" b="1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Class</a:t>
                      </a:r>
                      <a:endParaRPr lang="zh-CN" altLang="en-US" sz="1800" b="1" dirty="0">
                        <a:latin typeface="Microsoft Sans Serif" panose="020B0604020202020204" pitchFamily="34" charset="0"/>
                        <a:cs typeface="Microsoft Sans Serif" panose="020B0604020202020204" pitchFamily="34" charset="0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800" b="1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Name</a:t>
                      </a:r>
                      <a:endParaRPr lang="zh-CN" altLang="en-US" sz="1800" b="1" dirty="0">
                        <a:latin typeface="Microsoft Sans Serif" panose="020B0604020202020204" pitchFamily="34" charset="0"/>
                        <a:cs typeface="Microsoft Sans Serif" panose="020B0604020202020204" pitchFamily="34" charset="0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800" b="1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Definition</a:t>
                      </a:r>
                      <a:endParaRPr lang="zh-CN" altLang="en-US" sz="1800" b="1" dirty="0">
                        <a:latin typeface="Microsoft Sans Serif" panose="020B0604020202020204" pitchFamily="34" charset="0"/>
                        <a:cs typeface="Microsoft Sans Serif" panose="020B0604020202020204" pitchFamily="34" charset="0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800" b="1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Example</a:t>
                      </a:r>
                      <a:endParaRPr lang="zh-CN" altLang="en-US" sz="1800" b="1" dirty="0">
                        <a:latin typeface="Microsoft Sans Serif" panose="020B0604020202020204" pitchFamily="34" charset="0"/>
                        <a:cs typeface="Microsoft Sans Serif" panose="020B0604020202020204" pitchFamily="34" charset="0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5012385"/>
                  </a:ext>
                </a:extLst>
              </a:tr>
              <a:tr h="593573">
                <a:tc>
                  <a:txBody>
                    <a:bodyPr/>
                    <a:lstStyle/>
                    <a:p>
                      <a:r>
                        <a:rPr lang="en-US" altLang="zh-CN" sz="1800" b="1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1</a:t>
                      </a:r>
                      <a:endParaRPr lang="zh-CN" altLang="en-US" sz="1800" b="1" dirty="0">
                        <a:latin typeface="Microsoft Sans Serif" panose="020B0604020202020204" pitchFamily="34" charset="0"/>
                        <a:cs typeface="Microsoft Sans Serif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b="1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Constitutional isomers </a:t>
                      </a:r>
                      <a:endParaRPr lang="zh-CN" altLang="en-US" sz="1800" b="1" dirty="0">
                        <a:latin typeface="Microsoft Sans Serif" panose="020B0604020202020204" pitchFamily="34" charset="0"/>
                        <a:cs typeface="Microsoft Sans Serif" panose="020B0604020202020204" pitchFamily="34" charset="0"/>
                      </a:endParaRPr>
                    </a:p>
                    <a:p>
                      <a:endParaRPr lang="zh-CN" altLang="en-US" sz="1800" b="1" dirty="0">
                        <a:latin typeface="Microsoft Sans Serif" panose="020B0604020202020204" pitchFamily="34" charset="0"/>
                        <a:cs typeface="Microsoft Sans Serif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b="1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differ in bonding sequence, atoms connected differently.</a:t>
                      </a:r>
                      <a:endParaRPr lang="zh-CN" altLang="en-US" sz="1800" b="1" dirty="0">
                        <a:latin typeface="Microsoft Sans Serif" panose="020B0604020202020204" pitchFamily="34" charset="0"/>
                        <a:cs typeface="Microsoft Sans Serif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zh-CN" altLang="en-US" sz="1800" b="1" dirty="0">
                        <a:latin typeface="Microsoft Sans Serif" panose="020B0604020202020204" pitchFamily="34" charset="0"/>
                        <a:cs typeface="Microsoft Sans Serif" panose="020B06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66951082"/>
                  </a:ext>
                </a:extLst>
              </a:tr>
              <a:tr h="828452">
                <a:tc>
                  <a:txBody>
                    <a:bodyPr/>
                    <a:lstStyle/>
                    <a:p>
                      <a:r>
                        <a:rPr lang="en-US" altLang="zh-CN" sz="1800" b="1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2</a:t>
                      </a:r>
                      <a:endParaRPr lang="zh-CN" altLang="en-US" sz="1800" b="1" dirty="0">
                        <a:latin typeface="Microsoft Sans Serif" panose="020B0604020202020204" pitchFamily="34" charset="0"/>
                        <a:cs typeface="Microsoft Sans Serif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b="1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Conformational isomers</a:t>
                      </a:r>
                      <a:endParaRPr lang="zh-CN" altLang="en-US" sz="1800" b="1" dirty="0">
                        <a:latin typeface="Microsoft Sans Serif" panose="020B0604020202020204" pitchFamily="34" charset="0"/>
                        <a:cs typeface="Microsoft Sans Serif" panose="020B0604020202020204" pitchFamily="34" charset="0"/>
                      </a:endParaRPr>
                    </a:p>
                    <a:p>
                      <a:endParaRPr lang="zh-CN" altLang="en-US" sz="1800" b="1" dirty="0">
                        <a:latin typeface="Microsoft Sans Serif" panose="020B0604020202020204" pitchFamily="34" charset="0"/>
                        <a:cs typeface="Microsoft Sans Serif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b="1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same compounds with different images in space.</a:t>
                      </a:r>
                    </a:p>
                    <a:p>
                      <a:endParaRPr lang="zh-CN" altLang="en-US" sz="1800" b="1" dirty="0">
                        <a:latin typeface="Microsoft Sans Serif" panose="020B0604020202020204" pitchFamily="34" charset="0"/>
                        <a:cs typeface="Microsoft Sans Serif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zh-CN" altLang="en-US" sz="1800" b="1" dirty="0">
                        <a:latin typeface="Microsoft Sans Serif" panose="020B0604020202020204" pitchFamily="34" charset="0"/>
                        <a:cs typeface="Microsoft Sans Serif" panose="020B06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17444230"/>
                  </a:ext>
                </a:extLst>
              </a:tr>
              <a:tr h="997445">
                <a:tc>
                  <a:txBody>
                    <a:bodyPr/>
                    <a:lstStyle/>
                    <a:p>
                      <a:r>
                        <a:rPr lang="en-US" altLang="zh-CN" sz="1800" b="1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3</a:t>
                      </a:r>
                      <a:endParaRPr lang="zh-CN" altLang="en-US" sz="1800" b="1" dirty="0">
                        <a:latin typeface="Microsoft Sans Serif" panose="020B0604020202020204" pitchFamily="34" charset="0"/>
                        <a:cs typeface="Microsoft Sans Serif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CN" sz="1800" b="1" dirty="0">
                          <a:highlight>
                            <a:srgbClr val="FFFF00"/>
                          </a:highlight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Stereoisomers</a:t>
                      </a:r>
                      <a:endParaRPr lang="zh-CN" altLang="en-US" sz="1800" b="1" dirty="0">
                        <a:highlight>
                          <a:srgbClr val="FFFF00"/>
                        </a:highlight>
                        <a:latin typeface="Microsoft Sans Serif" panose="020B0604020202020204" pitchFamily="34" charset="0"/>
                        <a:cs typeface="Microsoft Sans Serif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CN" sz="1800" b="1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same bonding sequence, but they differ in the orientation of their atoms in space.</a:t>
                      </a:r>
                      <a:endParaRPr lang="zh-CN" altLang="en-US" sz="1800" b="1" dirty="0">
                        <a:latin typeface="Microsoft Sans Serif" panose="020B0604020202020204" pitchFamily="34" charset="0"/>
                        <a:cs typeface="Microsoft Sans Serif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zh-CN" altLang="en-US" sz="1800" b="1" dirty="0">
                        <a:latin typeface="Microsoft Sans Serif" panose="020B0604020202020204" pitchFamily="34" charset="0"/>
                        <a:cs typeface="Microsoft Sans Serif" panose="020B06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2436055"/>
                  </a:ext>
                </a:extLst>
              </a:tr>
            </a:tbl>
          </a:graphicData>
        </a:graphic>
      </p:graphicFrame>
      <p:graphicFrame>
        <p:nvGraphicFramePr>
          <p:cNvPr id="14" name="对象 13">
            <a:extLst>
              <a:ext uri="{FF2B5EF4-FFF2-40B4-BE49-F238E27FC236}">
                <a16:creationId xmlns:a16="http://schemas.microsoft.com/office/drawing/2014/main" id="{EDA2D838-0BA3-428C-B568-B6E8BA5827E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44076395"/>
              </p:ext>
            </p:extLst>
          </p:nvPr>
        </p:nvGraphicFramePr>
        <p:xfrm>
          <a:off x="8919616" y="3324761"/>
          <a:ext cx="2088232" cy="65984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8044" name="CS ChemDraw Drawing" r:id="rId3" imgW="1738840" imgH="549829" progId="ChemDraw.Document.6.0">
                  <p:embed/>
                </p:oleObj>
              </mc:Choice>
              <mc:Fallback>
                <p:oleObj name="CS ChemDraw Drawing" r:id="rId3" imgW="1738840" imgH="549829" progId="ChemDraw.Document.6.0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8919616" y="3324761"/>
                        <a:ext cx="2088232" cy="65984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对象 15">
            <a:extLst>
              <a:ext uri="{FF2B5EF4-FFF2-40B4-BE49-F238E27FC236}">
                <a16:creationId xmlns:a16="http://schemas.microsoft.com/office/drawing/2014/main" id="{8E16350C-69F8-45C1-A877-39F4D15892E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49536914"/>
              </p:ext>
            </p:extLst>
          </p:nvPr>
        </p:nvGraphicFramePr>
        <p:xfrm>
          <a:off x="8541331" y="4040710"/>
          <a:ext cx="2844801" cy="86502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8045" name="CS ChemDraw Drawing" r:id="rId5" imgW="2496006" imgH="758741" progId="ChemDraw.Document.6.0">
                  <p:embed/>
                </p:oleObj>
              </mc:Choice>
              <mc:Fallback>
                <p:oleObj name="CS ChemDraw Drawing" r:id="rId5" imgW="2496006" imgH="758741" progId="ChemDraw.Document.6.0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8541331" y="4040710"/>
                        <a:ext cx="2844801" cy="86502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对象 16">
            <a:extLst>
              <a:ext uri="{FF2B5EF4-FFF2-40B4-BE49-F238E27FC236}">
                <a16:creationId xmlns:a16="http://schemas.microsoft.com/office/drawing/2014/main" id="{9F6BDF84-F298-409C-8ACE-55D19731B93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58411529"/>
              </p:ext>
            </p:extLst>
          </p:nvPr>
        </p:nvGraphicFramePr>
        <p:xfrm>
          <a:off x="9013816" y="5087689"/>
          <a:ext cx="1899829" cy="82707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8046" name="CS ChemDraw Drawing" r:id="rId7" imgW="1607450" imgH="700864" progId="ChemDraw.Document.6.0">
                  <p:embed/>
                </p:oleObj>
              </mc:Choice>
              <mc:Fallback>
                <p:oleObj name="CS ChemDraw Drawing" r:id="rId7" imgW="1607450" imgH="700864" progId="ChemDraw.Document.6.0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9013816" y="5087689"/>
                        <a:ext cx="1899829" cy="82707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文本框 10">
            <a:extLst>
              <a:ext uri="{FF2B5EF4-FFF2-40B4-BE49-F238E27FC236}">
                <a16:creationId xmlns:a16="http://schemas.microsoft.com/office/drawing/2014/main" id="{61BE8F24-FFE3-4BBA-8E07-3FAB9EAB8BA5}"/>
              </a:ext>
            </a:extLst>
          </p:cNvPr>
          <p:cNvSpPr txBox="1"/>
          <p:nvPr/>
        </p:nvSpPr>
        <p:spPr>
          <a:xfrm>
            <a:off x="275692" y="6096719"/>
            <a:ext cx="1150894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800" b="1" dirty="0">
                <a:latin typeface="MS Reference Sans Serif" panose="020B0604030504040204" pitchFamily="34" charset="0"/>
                <a:cs typeface="Microsoft Sans Serif" pitchFamily="34" charset="0"/>
              </a:rPr>
              <a:t>In this chapter, we study the three-dimensional structures of molecules to understand their </a:t>
            </a:r>
            <a:r>
              <a:rPr lang="en-US" altLang="zh-CN" sz="1800" b="1" dirty="0">
                <a:highlight>
                  <a:srgbClr val="00FF00"/>
                </a:highlight>
                <a:latin typeface="MS Reference Sans Serif" panose="020B0604030504040204" pitchFamily="34" charset="0"/>
                <a:cs typeface="Microsoft Sans Serif" pitchFamily="34" charset="0"/>
              </a:rPr>
              <a:t>stereochemical relationships</a:t>
            </a:r>
            <a:r>
              <a:rPr lang="en-US" altLang="zh-CN" sz="1800" b="1" dirty="0">
                <a:latin typeface="MS Reference Sans Serif" panose="020B0604030504040204" pitchFamily="34" charset="0"/>
                <a:cs typeface="Microsoft Sans Serif" pitchFamily="34" charset="0"/>
              </a:rPr>
              <a:t>.</a:t>
            </a:r>
            <a:endParaRPr lang="zh-CN" altLang="en-US" dirty="0">
              <a:latin typeface="MS Reference Sans Serif" panose="020B060403050404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2</a:t>
            </a:fld>
            <a:endParaRPr lang="zh-CN" altLang="en-US"/>
          </a:p>
        </p:txBody>
      </p:sp>
      <p:sp>
        <p:nvSpPr>
          <p:cNvPr id="3" name="TextBox 2"/>
          <p:cNvSpPr txBox="1"/>
          <p:nvPr/>
        </p:nvSpPr>
        <p:spPr>
          <a:xfrm>
            <a:off x="316608" y="3784482"/>
            <a:ext cx="1116124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2000" b="1" dirty="0">
                <a:latin typeface="MS Reference Sans Serif" panose="020B0604030504040204" pitchFamily="34" charset="0"/>
                <a:cs typeface="Microsoft Sans Serif" pitchFamily="34" charset="0"/>
              </a:rPr>
              <a:t>A </a:t>
            </a:r>
            <a:r>
              <a:rPr lang="en-US" altLang="zh-CN" sz="2000" b="1" dirty="0">
                <a:highlight>
                  <a:srgbClr val="00FFFF"/>
                </a:highlight>
                <a:latin typeface="MS Reference Sans Serif" panose="020B0604030504040204" pitchFamily="34" charset="0"/>
                <a:cs typeface="Microsoft Sans Serif" pitchFamily="34" charset="0"/>
              </a:rPr>
              <a:t>chiral</a:t>
            </a:r>
            <a:r>
              <a:rPr lang="en-US" altLang="zh-CN" sz="2000" b="1" dirty="0">
                <a:latin typeface="MS Reference Sans Serif" panose="020B0604030504040204" pitchFamily="34" charset="0"/>
                <a:cs typeface="Microsoft Sans Serif" pitchFamily="34" charset="0"/>
              </a:rPr>
              <a:t> object has </a:t>
            </a:r>
            <a:r>
              <a:rPr lang="en-US" altLang="zh-CN" sz="2000" b="1" dirty="0">
                <a:highlight>
                  <a:srgbClr val="FFFF00"/>
                </a:highlight>
                <a:latin typeface="MS Reference Sans Serif" panose="020B0604030504040204" pitchFamily="34" charset="0"/>
                <a:cs typeface="Microsoft Sans Serif" pitchFamily="34" charset="0"/>
              </a:rPr>
              <a:t>a mirror image that is different from the original object </a:t>
            </a:r>
            <a:r>
              <a:rPr lang="en-US" altLang="zh-CN" sz="2000" b="1" dirty="0">
                <a:latin typeface="MS Reference Sans Serif" panose="020B0604030504040204" pitchFamily="34" charset="0"/>
                <a:cs typeface="Microsoft Sans Serif" pitchFamily="34" charset="0"/>
              </a:rPr>
              <a:t>because they </a:t>
            </a:r>
            <a:r>
              <a:rPr lang="en-US" altLang="zh-CN" sz="2000" b="1" dirty="0">
                <a:highlight>
                  <a:srgbClr val="FFFF00"/>
                </a:highlight>
                <a:latin typeface="MS Reference Sans Serif" panose="020B0604030504040204" pitchFamily="34" charset="0"/>
                <a:cs typeface="Microsoft Sans Serif" pitchFamily="34" charset="0"/>
              </a:rPr>
              <a:t>are not superimposable</a:t>
            </a:r>
            <a:r>
              <a:rPr lang="en-US" altLang="zh-CN" sz="2000" b="1" dirty="0">
                <a:latin typeface="MS Reference Sans Serif" panose="020B0604030504040204" pitchFamily="34" charset="0"/>
                <a:cs typeface="Microsoft Sans Serif" pitchFamily="34" charset="0"/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sz="2000" b="1" dirty="0">
              <a:latin typeface="MS Reference Sans Serif" panose="020B0604030504040204" pitchFamily="34" charset="0"/>
              <a:cs typeface="Microsoft Sans Serif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2000" b="1" dirty="0">
                <a:latin typeface="MS Reference Sans Serif" panose="020B0604030504040204" pitchFamily="34" charset="0"/>
                <a:cs typeface="Microsoft Sans Serif" pitchFamily="34" charset="0"/>
              </a:rPr>
              <a:t>An object that is </a:t>
            </a:r>
            <a:r>
              <a:rPr lang="en-US" altLang="zh-CN" sz="2000" b="1" dirty="0">
                <a:highlight>
                  <a:srgbClr val="FFFF00"/>
                </a:highlight>
                <a:latin typeface="MS Reference Sans Serif" panose="020B0604030504040204" pitchFamily="34" charset="0"/>
                <a:cs typeface="Microsoft Sans Serif" pitchFamily="34" charset="0"/>
              </a:rPr>
              <a:t>superimposable with its mirror image </a:t>
            </a:r>
            <a:r>
              <a:rPr lang="en-US" altLang="zh-CN" sz="2000" b="1" dirty="0">
                <a:latin typeface="MS Reference Sans Serif" panose="020B0604030504040204" pitchFamily="34" charset="0"/>
                <a:cs typeface="Microsoft Sans Serif" pitchFamily="34" charset="0"/>
              </a:rPr>
              <a:t>is called </a:t>
            </a:r>
            <a:r>
              <a:rPr lang="en-US" altLang="zh-CN" sz="2000" b="1" dirty="0">
                <a:highlight>
                  <a:srgbClr val="00FFFF"/>
                </a:highlight>
                <a:latin typeface="MS Reference Sans Serif" panose="020B0604030504040204" pitchFamily="34" charset="0"/>
                <a:cs typeface="Microsoft Sans Serif" pitchFamily="34" charset="0"/>
              </a:rPr>
              <a:t>achiral</a:t>
            </a:r>
            <a:r>
              <a:rPr lang="en-US" altLang="zh-CN" sz="2000" b="1" dirty="0">
                <a:latin typeface="MS Reference Sans Serif" panose="020B0604030504040204" pitchFamily="34" charset="0"/>
                <a:cs typeface="Microsoft Sans Serif" pitchFamily="34" charset="0"/>
              </a:rPr>
              <a:t>, meaning “</a:t>
            </a:r>
            <a:r>
              <a:rPr lang="en-US" altLang="zh-CN" sz="2000" b="1" dirty="0">
                <a:highlight>
                  <a:srgbClr val="00FFFF"/>
                </a:highlight>
                <a:latin typeface="MS Reference Sans Serif" panose="020B0604030504040204" pitchFamily="34" charset="0"/>
                <a:cs typeface="Microsoft Sans Serif" pitchFamily="34" charset="0"/>
              </a:rPr>
              <a:t>not chiral</a:t>
            </a:r>
            <a:r>
              <a:rPr lang="en-US" altLang="zh-CN" sz="2000" b="1" dirty="0">
                <a:latin typeface="MS Reference Sans Serif" panose="020B0604030504040204" pitchFamily="34" charset="0"/>
                <a:cs typeface="Microsoft Sans Serif" pitchFamily="34" charset="0"/>
              </a:rPr>
              <a:t>”.</a:t>
            </a:r>
            <a:endParaRPr lang="zh-CN" altLang="en-US" sz="2000" b="1" dirty="0">
              <a:latin typeface="MS Reference Sans Serif" panose="020B0604030504040204" pitchFamily="34" charset="0"/>
              <a:cs typeface="Microsoft Sans Serif" pitchFamily="34" charset="0"/>
            </a:endParaRPr>
          </a:p>
        </p:txBody>
      </p:sp>
      <p:pic>
        <p:nvPicPr>
          <p:cNvPr id="3077" name="Picture 5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423592" y="2131320"/>
            <a:ext cx="2160240" cy="14658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084" name="Picture 1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359696" y="5239574"/>
            <a:ext cx="1872208" cy="14190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softEdge rad="127000"/>
          </a:effectLst>
        </p:spPr>
      </p:pic>
      <p:sp>
        <p:nvSpPr>
          <p:cNvPr id="11" name="矩形 10"/>
          <p:cNvSpPr/>
          <p:nvPr/>
        </p:nvSpPr>
        <p:spPr>
          <a:xfrm>
            <a:off x="0" y="199364"/>
            <a:ext cx="8386783" cy="461665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</p:spPr>
        <p:txBody>
          <a:bodyPr wrap="none">
            <a:spAutoFit/>
          </a:bodyPr>
          <a:lstStyle/>
          <a:p>
            <a:r>
              <a:rPr lang="en-US" altLang="zh-CN" sz="2400" b="1" dirty="0">
                <a:latin typeface="MS Reference Sans Serif" panose="020B0604030504040204" pitchFamily="34" charset="0"/>
                <a:cs typeface="Microsoft Sans Serif" pitchFamily="34" charset="0"/>
              </a:rPr>
              <a:t>2. Chirality and Enantiomerism in organic molecules 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316608" y="1221853"/>
            <a:ext cx="117955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b="1" dirty="0">
                <a:highlight>
                  <a:srgbClr val="00FFFF"/>
                </a:highlight>
                <a:latin typeface="MS Reference Sans Serif" panose="020B060403050404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Our two hands</a:t>
            </a:r>
            <a:r>
              <a:rPr lang="en-US" altLang="zh-CN" b="1" dirty="0">
                <a:latin typeface="MS Reference Sans Serif" panose="020B060403050404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 are </a:t>
            </a:r>
            <a:r>
              <a:rPr lang="en-US" altLang="zh-CN" b="1" dirty="0">
                <a:highlight>
                  <a:srgbClr val="FFFF00"/>
                </a:highlight>
                <a:latin typeface="MS Reference Sans Serif" panose="020B060403050404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mirror images of each other</a:t>
            </a:r>
            <a:r>
              <a:rPr lang="en-US" altLang="zh-CN" b="1" dirty="0">
                <a:latin typeface="MS Reference Sans Serif" panose="020B060403050404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. Though they </a:t>
            </a:r>
            <a:r>
              <a:rPr lang="en-US" altLang="zh-CN" b="1" dirty="0">
                <a:highlight>
                  <a:srgbClr val="FFFF00"/>
                </a:highlight>
                <a:latin typeface="MS Reference Sans Serif" panose="020B060403050404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look </a:t>
            </a:r>
            <a:r>
              <a:rPr lang="en-US" altLang="zh-CN" b="1" dirty="0">
                <a:solidFill>
                  <a:srgbClr val="FF0000"/>
                </a:solidFill>
                <a:highlight>
                  <a:srgbClr val="FFFF00"/>
                </a:highlight>
                <a:latin typeface="MS Reference Sans Serif" panose="020B060403050404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almost</a:t>
            </a:r>
            <a:r>
              <a:rPr lang="en-US" altLang="zh-CN" b="1" dirty="0">
                <a:highlight>
                  <a:srgbClr val="FFFF00"/>
                </a:highlight>
                <a:latin typeface="MS Reference Sans Serif" panose="020B060403050404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 identical</a:t>
            </a:r>
            <a:r>
              <a:rPr lang="en-US" altLang="zh-CN" b="1" dirty="0">
                <a:latin typeface="MS Reference Sans Serif" panose="020B060403050404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, they are </a:t>
            </a:r>
            <a:r>
              <a:rPr lang="en-US" altLang="zh-CN" b="1" dirty="0">
                <a:highlight>
                  <a:srgbClr val="00FF00"/>
                </a:highlight>
                <a:latin typeface="MS Reference Sans Serif" panose="020B060403050404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nonsuperimposable</a:t>
            </a:r>
            <a:r>
              <a:rPr lang="en-US" altLang="zh-CN" b="1" dirty="0">
                <a:latin typeface="MS Reference Sans Serif" panose="020B060403050404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 (</a:t>
            </a:r>
            <a:r>
              <a:rPr lang="en-US" altLang="zh-CN" b="1" dirty="0">
                <a:highlight>
                  <a:srgbClr val="FFFF00"/>
                </a:highlight>
                <a:latin typeface="MS Reference Sans Serif" panose="020B060403050404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not identical</a:t>
            </a:r>
            <a:r>
              <a:rPr lang="en-US" altLang="zh-CN" b="1" dirty="0">
                <a:latin typeface="MS Reference Sans Serif" panose="020B060403050404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).</a:t>
            </a:r>
            <a:endParaRPr lang="zh-CN" altLang="en-US" b="1" dirty="0">
              <a:latin typeface="MS Reference Sans Serif" panose="020B060403050404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C48FA692-AF90-4E91-A899-A45B6F15CCEA}"/>
              </a:ext>
            </a:extLst>
          </p:cNvPr>
          <p:cNvSpPr txBox="1"/>
          <p:nvPr/>
        </p:nvSpPr>
        <p:spPr>
          <a:xfrm>
            <a:off x="5447928" y="2384403"/>
            <a:ext cx="54006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b="1" dirty="0">
                <a:latin typeface="MS Reference Sans Serif" panose="020B0604030504040204" pitchFamily="34" charset="0"/>
                <a:cs typeface="Microsoft Sans Serif" pitchFamily="34" charset="0"/>
              </a:rPr>
              <a:t>Objects that have left-handed and right-handed forms are called </a:t>
            </a:r>
            <a:r>
              <a:rPr lang="en-US" altLang="zh-CN" sz="1800" b="1" dirty="0">
                <a:solidFill>
                  <a:srgbClr val="FF0000"/>
                </a:solidFill>
                <a:latin typeface="MS Reference Sans Serif" panose="020B0604030504040204" pitchFamily="34" charset="0"/>
                <a:cs typeface="Microsoft Sans Serif" pitchFamily="34" charset="0"/>
              </a:rPr>
              <a:t>chiral</a:t>
            </a:r>
            <a:r>
              <a:rPr lang="en-US" altLang="zh-CN" sz="1800" b="1" dirty="0">
                <a:latin typeface="MS Reference Sans Serif" panose="020B0604030504040204" pitchFamily="34" charset="0"/>
                <a:cs typeface="Microsoft Sans Serif" pitchFamily="34" charset="0"/>
              </a:rPr>
              <a:t>, the Greek word for “</a:t>
            </a:r>
            <a:r>
              <a:rPr lang="en-US" altLang="zh-CN" sz="1800" b="1" dirty="0">
                <a:solidFill>
                  <a:srgbClr val="FF0000"/>
                </a:solidFill>
                <a:latin typeface="MS Reference Sans Serif" panose="020B0604030504040204" pitchFamily="34" charset="0"/>
                <a:cs typeface="Microsoft Sans Serif" pitchFamily="34" charset="0"/>
              </a:rPr>
              <a:t>handed</a:t>
            </a:r>
            <a:r>
              <a:rPr lang="en-US" altLang="zh-CN" sz="1800" b="1" dirty="0">
                <a:latin typeface="MS Reference Sans Serif" panose="020B0604030504040204" pitchFamily="34" charset="0"/>
                <a:cs typeface="Microsoft Sans Serif" pitchFamily="34" charset="0"/>
              </a:rPr>
              <a:t>”</a:t>
            </a:r>
          </a:p>
        </p:txBody>
      </p:sp>
      <p:pic>
        <p:nvPicPr>
          <p:cNvPr id="16" name="Picture 12">
            <a:extLst>
              <a:ext uri="{FF2B5EF4-FFF2-40B4-BE49-F238E27FC236}">
                <a16:creationId xmlns:a16="http://schemas.microsoft.com/office/drawing/2014/main" id="{4A628135-3346-40C4-B51F-32B06DF695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 flipH="1">
            <a:off x="5958705" y="5257321"/>
            <a:ext cx="1793475" cy="14013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softEdge rad="127000"/>
          </a:effectLst>
        </p:spPr>
      </p:pic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97B849A0-5FFF-40C1-9854-3C8C19D41D81}"/>
              </a:ext>
            </a:extLst>
          </p:cNvPr>
          <p:cNvCxnSpPr/>
          <p:nvPr/>
        </p:nvCxnSpPr>
        <p:spPr>
          <a:xfrm>
            <a:off x="5591944" y="5313521"/>
            <a:ext cx="0" cy="1271167"/>
          </a:xfrm>
          <a:prstGeom prst="line">
            <a:avLst/>
          </a:prstGeom>
          <a:ln w="762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文本框 7">
            <a:extLst>
              <a:ext uri="{FF2B5EF4-FFF2-40B4-BE49-F238E27FC236}">
                <a16:creationId xmlns:a16="http://schemas.microsoft.com/office/drawing/2014/main" id="{E1289E84-E5BF-4391-865B-B1056840F8D0}"/>
              </a:ext>
            </a:extLst>
          </p:cNvPr>
          <p:cNvSpPr txBox="1"/>
          <p:nvPr/>
        </p:nvSpPr>
        <p:spPr>
          <a:xfrm>
            <a:off x="0" y="757369"/>
            <a:ext cx="4464496" cy="40011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zh-CN" sz="2000" b="1" dirty="0">
                <a:latin typeface="MS Reference Sans Serif" panose="020B060403050404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2-1 Chiral and achiral objects</a:t>
            </a:r>
            <a:endParaRPr lang="zh-CN" altLang="en-US" sz="2000" b="1" dirty="0">
              <a:latin typeface="MS Reference Sans Serif" panose="020B0604030504040204" pitchFamily="34" charset="0"/>
              <a:cs typeface="Microsoft Sans Serif" panose="020B0604020202020204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9C9B3E8F-8003-48D3-B111-ADBFDB5544F5}"/>
              </a:ext>
            </a:extLst>
          </p:cNvPr>
          <p:cNvSpPr/>
          <p:nvPr/>
        </p:nvSpPr>
        <p:spPr>
          <a:xfrm>
            <a:off x="6237425" y="3690219"/>
            <a:ext cx="5116175" cy="1477328"/>
          </a:xfrm>
          <a:prstGeom prst="round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S Reference Sans Serif" panose="020B0604030504040204" pitchFamily="34" charset="0"/>
            </a:endParaRPr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E539BA33-AA81-4F51-B5D3-312FC49C8492}"/>
              </a:ext>
            </a:extLst>
          </p:cNvPr>
          <p:cNvSpPr/>
          <p:nvPr/>
        </p:nvSpPr>
        <p:spPr>
          <a:xfrm>
            <a:off x="592381" y="3717110"/>
            <a:ext cx="4793526" cy="1450437"/>
          </a:xfrm>
          <a:prstGeom prst="round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S Reference Sans Serif" panose="020B0604030504040204" pitchFamily="34" charset="0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3</a:t>
            </a:fld>
            <a:endParaRPr lang="zh-CN" altLang="en-US"/>
          </a:p>
        </p:txBody>
      </p:sp>
      <p:sp>
        <p:nvSpPr>
          <p:cNvPr id="3" name="TextBox 2"/>
          <p:cNvSpPr txBox="1"/>
          <p:nvPr/>
        </p:nvSpPr>
        <p:spPr>
          <a:xfrm>
            <a:off x="178569" y="714574"/>
            <a:ext cx="111750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b="1" dirty="0">
                <a:latin typeface="MS Reference Sans Serif" panose="020B0604030504040204" pitchFamily="34" charset="0"/>
                <a:cs typeface="Microsoft Sans Serif" pitchFamily="34" charset="0"/>
              </a:rPr>
              <a:t>Like other objects, </a:t>
            </a:r>
            <a:r>
              <a:rPr lang="en-US" altLang="zh-CN" b="1" dirty="0">
                <a:highlight>
                  <a:srgbClr val="FFFF00"/>
                </a:highlight>
                <a:latin typeface="MS Reference Sans Serif" panose="020B0604030504040204" pitchFamily="34" charset="0"/>
                <a:cs typeface="Microsoft Sans Serif" pitchFamily="34" charset="0"/>
              </a:rPr>
              <a:t>molecules are either chiral or achiral</a:t>
            </a:r>
            <a:r>
              <a:rPr lang="en-US" altLang="zh-CN" b="1" dirty="0">
                <a:latin typeface="MS Reference Sans Serif" panose="020B0604030504040204" pitchFamily="34" charset="0"/>
                <a:cs typeface="Microsoft Sans Serif" pitchFamily="34" charset="0"/>
              </a:rPr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b="1" dirty="0">
                <a:latin typeface="MS Reference Sans Serif" panose="020B0604030504040204" pitchFamily="34" charset="0"/>
                <a:cs typeface="Microsoft Sans Serif" pitchFamily="34" charset="0"/>
              </a:rPr>
              <a:t>Consider the two </a:t>
            </a:r>
            <a:r>
              <a:rPr lang="en-US" altLang="zh-CN" b="1" i="1" dirty="0" err="1">
                <a:latin typeface="MS Reference Sans Serif" panose="020B0604030504040204" pitchFamily="34" charset="0"/>
                <a:cs typeface="Microsoft Sans Serif" pitchFamily="34" charset="0"/>
              </a:rPr>
              <a:t>cis</a:t>
            </a:r>
            <a:r>
              <a:rPr lang="en-US" altLang="zh-CN" b="1" dirty="0" err="1">
                <a:latin typeface="MS Reference Sans Serif" panose="020B0604030504040204" pitchFamily="34" charset="0"/>
                <a:cs typeface="Microsoft Sans Serif" pitchFamily="34" charset="0"/>
              </a:rPr>
              <a:t>,</a:t>
            </a:r>
            <a:r>
              <a:rPr lang="en-US" altLang="zh-CN" b="1" i="1" dirty="0" err="1">
                <a:latin typeface="MS Reference Sans Serif" panose="020B0604030504040204" pitchFamily="34" charset="0"/>
                <a:cs typeface="Microsoft Sans Serif" pitchFamily="34" charset="0"/>
              </a:rPr>
              <a:t>trans</a:t>
            </a:r>
            <a:r>
              <a:rPr lang="en-US" altLang="zh-CN" b="1" i="1" dirty="0">
                <a:latin typeface="MS Reference Sans Serif" panose="020B0604030504040204" pitchFamily="34" charset="0"/>
                <a:cs typeface="Microsoft Sans Serif" pitchFamily="34" charset="0"/>
              </a:rPr>
              <a:t>-</a:t>
            </a:r>
            <a:r>
              <a:rPr lang="en-US" altLang="zh-CN" b="1" dirty="0">
                <a:latin typeface="MS Reference Sans Serif" panose="020B0604030504040204" pitchFamily="34" charset="0"/>
                <a:cs typeface="Microsoft Sans Serif" pitchFamily="34" charset="0"/>
              </a:rPr>
              <a:t>isomers of 1,2-dichlorocyclopentane.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61114555-29A3-4D79-A36D-4252BECD68AC}"/>
              </a:ext>
            </a:extLst>
          </p:cNvPr>
          <p:cNvSpPr txBox="1"/>
          <p:nvPr/>
        </p:nvSpPr>
        <p:spPr>
          <a:xfrm>
            <a:off x="-11845" y="256839"/>
            <a:ext cx="5159896" cy="400110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zh-CN" sz="2000" b="1" dirty="0">
                <a:latin typeface="MS Reference Sans Serif" panose="020B060403050404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2-2 Chiral and achiral molecules</a:t>
            </a:r>
            <a:endParaRPr lang="zh-CN" altLang="en-US" sz="2000" b="1" dirty="0">
              <a:latin typeface="MS Reference Sans Serif" panose="020B0604030504040204" pitchFamily="34" charset="0"/>
              <a:cs typeface="Microsoft Sans Serif" panose="020B0604020202020204" pitchFamily="34" charset="0"/>
            </a:endParaRPr>
          </a:p>
        </p:txBody>
      </p:sp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D862BC42-F0BE-4F94-9C18-B018A667B25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63529557"/>
              </p:ext>
            </p:extLst>
          </p:nvPr>
        </p:nvGraphicFramePr>
        <p:xfrm>
          <a:off x="1415480" y="1507782"/>
          <a:ext cx="3240360" cy="220168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040" name="CS ChemDraw Drawing" r:id="rId3" imgW="1985442" imgH="1348608" progId="ChemDraw.Document.6.0">
                  <p:embed/>
                </p:oleObj>
              </mc:Choice>
              <mc:Fallback>
                <p:oleObj name="CS ChemDraw Drawing" r:id="rId3" imgW="1985442" imgH="1348608" progId="ChemDraw.Document.6.0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415480" y="1507782"/>
                        <a:ext cx="3240360" cy="220168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>
            <a:extLst>
              <a:ext uri="{FF2B5EF4-FFF2-40B4-BE49-F238E27FC236}">
                <a16:creationId xmlns:a16="http://schemas.microsoft.com/office/drawing/2014/main" id="{E3318323-0396-4BFA-A2FA-A6F3A168DE3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85414593"/>
              </p:ext>
            </p:extLst>
          </p:nvPr>
        </p:nvGraphicFramePr>
        <p:xfrm>
          <a:off x="7045412" y="1559686"/>
          <a:ext cx="3240360" cy="214630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041" name="CS ChemDraw Drawing" r:id="rId5" imgW="2091974" imgH="1386267" progId="ChemDraw.Document.6.0">
                  <p:embed/>
                </p:oleObj>
              </mc:Choice>
              <mc:Fallback>
                <p:oleObj name="CS ChemDraw Drawing" r:id="rId5" imgW="2091974" imgH="1386267" progId="ChemDraw.Document.6.0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7045412" y="1559686"/>
                        <a:ext cx="3240360" cy="214630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文本框 12">
            <a:extLst>
              <a:ext uri="{FF2B5EF4-FFF2-40B4-BE49-F238E27FC236}">
                <a16:creationId xmlns:a16="http://schemas.microsoft.com/office/drawing/2014/main" id="{22C31FC2-D38E-4CBF-AED3-E585B3DD1827}"/>
              </a:ext>
            </a:extLst>
          </p:cNvPr>
          <p:cNvSpPr txBox="1"/>
          <p:nvPr/>
        </p:nvSpPr>
        <p:spPr>
          <a:xfrm>
            <a:off x="6256237" y="3735403"/>
            <a:ext cx="5146634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latin typeface="MS Reference Sans Serif" panose="020B060403050404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The original molecule and its mirror image are nonsuperimposable (not identical, different compounds) </a:t>
            </a:r>
          </a:p>
          <a:p>
            <a:pPr algn="ctr"/>
            <a:r>
              <a:rPr lang="en-US" altLang="zh-CN" b="1" dirty="0">
                <a:solidFill>
                  <a:srgbClr val="0000FF"/>
                </a:solidFill>
                <a:latin typeface="MS Reference Sans Serif" panose="020B060403050404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Chiral molecules</a:t>
            </a:r>
          </a:p>
          <a:p>
            <a:pPr algn="ctr"/>
            <a:r>
              <a:rPr lang="en-US" altLang="zh-CN" b="1" dirty="0">
                <a:solidFill>
                  <a:srgbClr val="FF0000"/>
                </a:solidFill>
                <a:latin typeface="MS Reference Sans Serif" panose="020B060403050404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Enantiomers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C8794AFF-E8FB-4490-871C-CAE28A9B266C}"/>
              </a:ext>
            </a:extLst>
          </p:cNvPr>
          <p:cNvSpPr txBox="1"/>
          <p:nvPr/>
        </p:nvSpPr>
        <p:spPr>
          <a:xfrm>
            <a:off x="623392" y="3717111"/>
            <a:ext cx="476251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zh-CN" b="1" dirty="0">
                <a:latin typeface="MS Reference Sans Serif" panose="020B060403050404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The original molecule and its mirror image are superimposable (identical, same compound) </a:t>
            </a:r>
          </a:p>
          <a:p>
            <a:pPr algn="ctr"/>
            <a:r>
              <a:rPr lang="en-US" altLang="zh-CN" b="1" dirty="0">
                <a:solidFill>
                  <a:srgbClr val="0000FF"/>
                </a:solidFill>
                <a:latin typeface="MS Reference Sans Serif" panose="020B060403050404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Achiral molecule</a:t>
            </a:r>
          </a:p>
          <a:p>
            <a:pPr algn="ctr"/>
            <a:r>
              <a:rPr lang="en-US" altLang="zh-CN" b="1" dirty="0">
                <a:solidFill>
                  <a:srgbClr val="FF0000"/>
                </a:solidFill>
                <a:latin typeface="MS Reference Sans Serif" panose="020B060403050404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same</a:t>
            </a:r>
          </a:p>
        </p:txBody>
      </p:sp>
      <p:sp>
        <p:nvSpPr>
          <p:cNvPr id="17" name="TextBox 7">
            <a:extLst>
              <a:ext uri="{FF2B5EF4-FFF2-40B4-BE49-F238E27FC236}">
                <a16:creationId xmlns:a16="http://schemas.microsoft.com/office/drawing/2014/main" id="{1F7D1CDB-1743-4CE9-87AD-7745EEEF6155}"/>
              </a:ext>
            </a:extLst>
          </p:cNvPr>
          <p:cNvSpPr txBox="1"/>
          <p:nvPr/>
        </p:nvSpPr>
        <p:spPr>
          <a:xfrm>
            <a:off x="176254" y="5573643"/>
            <a:ext cx="1116124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altLang="zh-CN" b="1" dirty="0">
                <a:latin typeface="MS Reference Sans Serif" panose="020B0604030504040204" pitchFamily="34" charset="0"/>
                <a:cs typeface="Microsoft Sans Serif" pitchFamily="34" charset="0"/>
              </a:rPr>
              <a:t>Nonsuperimposable mirror-image molecules are called </a:t>
            </a:r>
            <a:r>
              <a:rPr lang="en-US" altLang="zh-CN" b="1" dirty="0">
                <a:highlight>
                  <a:srgbClr val="00FF00"/>
                </a:highlight>
                <a:latin typeface="MS Reference Sans Serif" panose="020B0604030504040204" pitchFamily="34" charset="0"/>
                <a:cs typeface="Microsoft Sans Serif" pitchFamily="34" charset="0"/>
              </a:rPr>
              <a:t>enantiomers</a:t>
            </a:r>
            <a:r>
              <a:rPr lang="en-US" altLang="zh-CN" b="1" dirty="0">
                <a:latin typeface="MS Reference Sans Serif" panose="020B0604030504040204" pitchFamily="34" charset="0"/>
                <a:cs typeface="Microsoft Sans Serif" pitchFamily="34" charset="0"/>
              </a:rPr>
              <a:t>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altLang="zh-CN" b="1" dirty="0">
                <a:highlight>
                  <a:srgbClr val="FFFF00"/>
                </a:highlight>
                <a:latin typeface="MS Reference Sans Serif" panose="020B0604030504040204" pitchFamily="34" charset="0"/>
                <a:cs typeface="Microsoft Sans Serif" pitchFamily="34" charset="0"/>
              </a:rPr>
              <a:t>A chiral compound</a:t>
            </a:r>
            <a:r>
              <a:rPr lang="en-US" altLang="zh-CN" b="1" dirty="0">
                <a:latin typeface="MS Reference Sans Serif" panose="020B0604030504040204" pitchFamily="34" charset="0"/>
                <a:cs typeface="Microsoft Sans Serif" pitchFamily="34" charset="0"/>
              </a:rPr>
              <a:t> </a:t>
            </a:r>
            <a:r>
              <a:rPr lang="en-US" altLang="zh-CN" b="1" dirty="0">
                <a:solidFill>
                  <a:srgbClr val="0000FF"/>
                </a:solidFill>
                <a:latin typeface="MS Reference Sans Serif" panose="020B0604030504040204" pitchFamily="34" charset="0"/>
                <a:cs typeface="Microsoft Sans Serif" pitchFamily="34" charset="0"/>
              </a:rPr>
              <a:t>always has a nonsuperimposable mirror image</a:t>
            </a:r>
            <a:r>
              <a:rPr lang="en-US" altLang="zh-CN" b="1" dirty="0">
                <a:latin typeface="MS Reference Sans Serif" panose="020B0604030504040204" pitchFamily="34" charset="0"/>
                <a:cs typeface="Microsoft Sans Serif" pitchFamily="34" charset="0"/>
              </a:rPr>
              <a:t>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altLang="zh-CN" b="1" dirty="0">
                <a:highlight>
                  <a:srgbClr val="FFFF00"/>
                </a:highlight>
                <a:latin typeface="MS Reference Sans Serif" panose="020B0604030504040204" pitchFamily="34" charset="0"/>
                <a:cs typeface="Microsoft Sans Serif" pitchFamily="34" charset="0"/>
              </a:rPr>
              <a:t>An achiral compound</a:t>
            </a:r>
            <a:r>
              <a:rPr lang="en-US" altLang="zh-CN" b="1" dirty="0">
                <a:latin typeface="MS Reference Sans Serif" panose="020B0604030504040204" pitchFamily="34" charset="0"/>
                <a:cs typeface="Microsoft Sans Serif" pitchFamily="34" charset="0"/>
              </a:rPr>
              <a:t> </a:t>
            </a:r>
            <a:r>
              <a:rPr lang="en-US" altLang="zh-CN" b="1" dirty="0">
                <a:solidFill>
                  <a:srgbClr val="0000FF"/>
                </a:solidFill>
                <a:latin typeface="MS Reference Sans Serif" panose="020B0604030504040204" pitchFamily="34" charset="0"/>
                <a:cs typeface="Microsoft Sans Serif" pitchFamily="34" charset="0"/>
              </a:rPr>
              <a:t>always has a mirror image that is the same as the original molecule</a:t>
            </a:r>
            <a:r>
              <a:rPr lang="en-US" altLang="zh-CN" b="1" dirty="0">
                <a:latin typeface="MS Reference Sans Serif" panose="020B0604030504040204" pitchFamily="34" charset="0"/>
                <a:cs typeface="Microsoft Sans Serif" pitchFamily="34" charset="0"/>
              </a:rPr>
              <a:t>.</a:t>
            </a:r>
            <a:endParaRPr lang="zh-CN" altLang="en-US" b="1" dirty="0">
              <a:latin typeface="MS Reference Sans Serif" panose="020B0604030504040204" pitchFamily="34" charset="0"/>
              <a:cs typeface="Microsoft Sans Serif" pitchFamily="3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4</a:t>
            </a:fld>
            <a:endParaRPr lang="zh-CN" altLang="en-US"/>
          </a:p>
        </p:txBody>
      </p:sp>
      <p:sp>
        <p:nvSpPr>
          <p:cNvPr id="3" name="TextBox 2"/>
          <p:cNvSpPr txBox="1"/>
          <p:nvPr/>
        </p:nvSpPr>
        <p:spPr>
          <a:xfrm>
            <a:off x="191344" y="673845"/>
            <a:ext cx="114492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b="1" dirty="0">
                <a:latin typeface="MS Reference Sans Serif" panose="020B0604030504040204" pitchFamily="34" charset="0"/>
                <a:cs typeface="Microsoft Sans Serif" pitchFamily="34" charset="0"/>
              </a:rPr>
              <a:t>2-bromobutane is chiral because it cannot be superimposed on its mirror image.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b="1" dirty="0">
                <a:latin typeface="MS Reference Sans Serif" panose="020B0604030504040204" pitchFamily="34" charset="0"/>
                <a:cs typeface="Microsoft Sans Serif" pitchFamily="34" charset="0"/>
              </a:rPr>
              <a:t>2-bromobutane has two distinct enantiomers.</a:t>
            </a:r>
          </a:p>
        </p:txBody>
      </p:sp>
      <p:sp>
        <p:nvSpPr>
          <p:cNvPr id="5" name="矩形 4"/>
          <p:cNvSpPr/>
          <p:nvPr/>
        </p:nvSpPr>
        <p:spPr>
          <a:xfrm>
            <a:off x="9600" y="216690"/>
            <a:ext cx="6888088" cy="400110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zh-CN" sz="2000" b="1" dirty="0">
                <a:latin typeface="MS Reference Sans Serif" panose="020B0604030504040204" pitchFamily="34" charset="0"/>
                <a:cs typeface="Microsoft Sans Serif" pitchFamily="34" charset="0"/>
              </a:rPr>
              <a:t>2-3 Asymmetric Carbon Atoms and Chirality Centers</a:t>
            </a:r>
          </a:p>
        </p:txBody>
      </p:sp>
      <p:sp>
        <p:nvSpPr>
          <p:cNvPr id="9" name="矩形 8"/>
          <p:cNvSpPr/>
          <p:nvPr/>
        </p:nvSpPr>
        <p:spPr>
          <a:xfrm>
            <a:off x="191344" y="5652975"/>
            <a:ext cx="11665296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altLang="zh-CN" b="1" dirty="0">
                <a:latin typeface="MS Reference Sans Serif" panose="020B0604030504040204" pitchFamily="34" charset="0"/>
                <a:cs typeface="Microsoft Sans Serif" pitchFamily="34" charset="0"/>
              </a:rPr>
              <a:t>Such a carbon is called an </a:t>
            </a:r>
            <a:r>
              <a:rPr lang="en-US" altLang="zh-CN" b="1" dirty="0">
                <a:highlight>
                  <a:srgbClr val="00FFFF"/>
                </a:highlight>
                <a:latin typeface="MS Reference Sans Serif" panose="020B0604030504040204" pitchFamily="34" charset="0"/>
                <a:cs typeface="Microsoft Sans Serif" pitchFamily="34" charset="0"/>
              </a:rPr>
              <a:t>asymmetric carbon atom</a:t>
            </a:r>
            <a:r>
              <a:rPr lang="en-US" altLang="zh-CN" b="1" dirty="0">
                <a:latin typeface="MS Reference Sans Serif" panose="020B0604030504040204" pitchFamily="34" charset="0"/>
                <a:cs typeface="Microsoft Sans Serif" pitchFamily="34" charset="0"/>
              </a:rPr>
              <a:t> or a </a:t>
            </a:r>
            <a:r>
              <a:rPr lang="en-US" altLang="zh-CN" b="1" dirty="0">
                <a:highlight>
                  <a:srgbClr val="00FFFF"/>
                </a:highlight>
                <a:latin typeface="MS Reference Sans Serif" panose="020B0604030504040204" pitchFamily="34" charset="0"/>
                <a:cs typeface="Microsoft Sans Serif" pitchFamily="34" charset="0"/>
              </a:rPr>
              <a:t>chiral carbon atom</a:t>
            </a:r>
            <a:r>
              <a:rPr lang="en-US" altLang="zh-CN" b="1" dirty="0">
                <a:latin typeface="MS Reference Sans Serif" panose="020B0604030504040204" pitchFamily="34" charset="0"/>
                <a:cs typeface="Microsoft Sans Serif" pitchFamily="34" charset="0"/>
              </a:rPr>
              <a:t>, and is often designated by an asterisk. An asymmetric carbon atom is the most common example of a </a:t>
            </a:r>
            <a:r>
              <a:rPr lang="en-US" altLang="zh-CN" b="1" dirty="0">
                <a:highlight>
                  <a:srgbClr val="00FF00"/>
                </a:highlight>
                <a:latin typeface="MS Reference Sans Serif" panose="020B0604030504040204" pitchFamily="34" charset="0"/>
                <a:cs typeface="Microsoft Sans Serif" pitchFamily="34" charset="0"/>
              </a:rPr>
              <a:t>chirality center</a:t>
            </a:r>
            <a:r>
              <a:rPr lang="en-US" altLang="zh-CN" b="1" dirty="0">
                <a:latin typeface="MS Reference Sans Serif" panose="020B0604030504040204" pitchFamily="34" charset="0"/>
                <a:cs typeface="Microsoft Sans Serif" pitchFamily="34" charset="0"/>
              </a:rPr>
              <a:t>.</a:t>
            </a:r>
          </a:p>
        </p:txBody>
      </p:sp>
      <p:graphicFrame>
        <p:nvGraphicFramePr>
          <p:cNvPr id="10" name="对象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23772685"/>
              </p:ext>
            </p:extLst>
          </p:nvPr>
        </p:nvGraphicFramePr>
        <p:xfrm>
          <a:off x="5119400" y="4338615"/>
          <a:ext cx="1336640" cy="11110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0039" name="CS ChemDraw Drawing" r:id="rId3" imgW="630906" imgH="524062" progId="ChemDraw.Document.6.0">
                  <p:embed/>
                </p:oleObj>
              </mc:Choice>
              <mc:Fallback>
                <p:oleObj name="CS ChemDraw Drawing" r:id="rId3" imgW="630906" imgH="524062" progId="ChemDraw.Document.6.0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119400" y="4338615"/>
                        <a:ext cx="1336640" cy="111106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>
            <a:extLst>
              <a:ext uri="{FF2B5EF4-FFF2-40B4-BE49-F238E27FC236}">
                <a16:creationId xmlns:a16="http://schemas.microsoft.com/office/drawing/2014/main" id="{D41C9522-A45E-449A-ACDF-CE513A87AE6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97359012"/>
              </p:ext>
            </p:extLst>
          </p:nvPr>
        </p:nvGraphicFramePr>
        <p:xfrm>
          <a:off x="911424" y="1434285"/>
          <a:ext cx="4408208" cy="210690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0040" name="CS ChemDraw Drawing" r:id="rId5" imgW="2448659" imgH="1170221" progId="ChemDraw.Document.6.0">
                  <p:embed/>
                </p:oleObj>
              </mc:Choice>
              <mc:Fallback>
                <p:oleObj name="CS ChemDraw Drawing" r:id="rId5" imgW="2448659" imgH="1170221" progId="ChemDraw.Document.6.0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911424" y="1434285"/>
                        <a:ext cx="4408208" cy="210690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>
            <a:extLst>
              <a:ext uri="{FF2B5EF4-FFF2-40B4-BE49-F238E27FC236}">
                <a16:creationId xmlns:a16="http://schemas.microsoft.com/office/drawing/2014/main" id="{11A908FE-2C2C-42D0-8ED0-878CCE71BBB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53955789"/>
              </p:ext>
            </p:extLst>
          </p:nvPr>
        </p:nvGraphicFramePr>
        <p:xfrm>
          <a:off x="6456040" y="1641724"/>
          <a:ext cx="4207604" cy="178727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0041" name="CS ChemDraw Drawing" r:id="rId7" imgW="2268738" imgH="962895" progId="ChemDraw.Document.6.0">
                  <p:embed/>
                </p:oleObj>
              </mc:Choice>
              <mc:Fallback>
                <p:oleObj name="CS ChemDraw Drawing" r:id="rId7" imgW="2268738" imgH="962895" progId="ChemDraw.Document.6.0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6456040" y="1641724"/>
                        <a:ext cx="4207604" cy="178727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文本框 13">
            <a:extLst>
              <a:ext uri="{FF2B5EF4-FFF2-40B4-BE49-F238E27FC236}">
                <a16:creationId xmlns:a16="http://schemas.microsoft.com/office/drawing/2014/main" id="{9F161485-96D2-480C-9FEF-212B1EA9FB2E}"/>
              </a:ext>
            </a:extLst>
          </p:cNvPr>
          <p:cNvSpPr txBox="1"/>
          <p:nvPr/>
        </p:nvSpPr>
        <p:spPr>
          <a:xfrm>
            <a:off x="185912" y="3682825"/>
            <a:ext cx="1087320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b="1" dirty="0">
                <a:highlight>
                  <a:srgbClr val="FFFF00"/>
                </a:highlight>
                <a:latin typeface="MS Reference Sans Serif" panose="020B0604030504040204" pitchFamily="34" charset="0"/>
                <a:cs typeface="Microsoft Sans Serif" pitchFamily="34" charset="0"/>
              </a:rPr>
              <a:t>The most common feature</a:t>
            </a:r>
            <a:r>
              <a:rPr lang="en-US" altLang="zh-CN" b="1" dirty="0">
                <a:latin typeface="MS Reference Sans Serif" panose="020B0604030504040204" pitchFamily="34" charset="0"/>
                <a:cs typeface="Microsoft Sans Serif" pitchFamily="34" charset="0"/>
              </a:rPr>
              <a:t> (but not the only one) </a:t>
            </a:r>
            <a:r>
              <a:rPr lang="en-US" altLang="zh-CN" b="1" dirty="0">
                <a:highlight>
                  <a:srgbClr val="FFFF00"/>
                </a:highlight>
                <a:latin typeface="MS Reference Sans Serif" panose="020B0604030504040204" pitchFamily="34" charset="0"/>
                <a:cs typeface="Microsoft Sans Serif" pitchFamily="34" charset="0"/>
              </a:rPr>
              <a:t>that leads to chirality</a:t>
            </a:r>
            <a:r>
              <a:rPr lang="en-US" altLang="zh-CN" b="1" dirty="0">
                <a:latin typeface="MS Reference Sans Serif" panose="020B0604030504040204" pitchFamily="34" charset="0"/>
                <a:cs typeface="Microsoft Sans Serif" pitchFamily="34" charset="0"/>
              </a:rPr>
              <a:t> is </a:t>
            </a:r>
            <a:r>
              <a:rPr lang="en-US" altLang="zh-CN" b="1" dirty="0">
                <a:highlight>
                  <a:srgbClr val="00FFFF"/>
                </a:highlight>
                <a:latin typeface="MS Reference Sans Serif" panose="020B0604030504040204" pitchFamily="34" charset="0"/>
                <a:cs typeface="Microsoft Sans Serif" pitchFamily="34" charset="0"/>
              </a:rPr>
              <a:t>a carbon atom that is bonded to four different groups</a:t>
            </a:r>
            <a:r>
              <a:rPr lang="en-US" altLang="zh-CN" b="1" dirty="0">
                <a:latin typeface="MS Reference Sans Serif" panose="020B0604030504040204" pitchFamily="34" charset="0"/>
                <a:cs typeface="Microsoft Sans Serif" pitchFamily="34" charset="0"/>
              </a:rPr>
              <a:t>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5</a:t>
            </a:fld>
            <a:endParaRPr lang="zh-CN" altLang="en-US"/>
          </a:p>
        </p:txBody>
      </p:sp>
      <p:sp>
        <p:nvSpPr>
          <p:cNvPr id="8" name="TextBox 7"/>
          <p:cNvSpPr txBox="1"/>
          <p:nvPr/>
        </p:nvSpPr>
        <p:spPr>
          <a:xfrm>
            <a:off x="263352" y="218532"/>
            <a:ext cx="113772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altLang="zh-CN" b="1" dirty="0">
                <a:latin typeface="MS Reference Sans Serif" panose="020B0604030504040204" pitchFamily="34" charset="0"/>
                <a:cs typeface="Microsoft Sans Serif" pitchFamily="34" charset="0"/>
              </a:rPr>
              <a:t>By contrast, </a:t>
            </a:r>
            <a:r>
              <a:rPr lang="en-US" altLang="zh-CN" b="1" dirty="0">
                <a:highlight>
                  <a:srgbClr val="FFFF00"/>
                </a:highlight>
                <a:latin typeface="MS Reference Sans Serif" panose="020B0604030504040204" pitchFamily="34" charset="0"/>
                <a:cs typeface="Microsoft Sans Serif" pitchFamily="34" charset="0"/>
              </a:rPr>
              <a:t>If two (or more than two) of the four groups on a carbon atom are the same</a:t>
            </a:r>
            <a:r>
              <a:rPr lang="en-US" altLang="zh-CN" b="1" dirty="0">
                <a:latin typeface="MS Reference Sans Serif" panose="020B0604030504040204" pitchFamily="34" charset="0"/>
                <a:cs typeface="Microsoft Sans Serif" pitchFamily="34" charset="0"/>
              </a:rPr>
              <a:t>, </a:t>
            </a:r>
            <a:r>
              <a:rPr lang="en-US" altLang="zh-CN" b="1" dirty="0">
                <a:highlight>
                  <a:srgbClr val="00FFFF"/>
                </a:highlight>
                <a:latin typeface="MS Reference Sans Serif" panose="020B0604030504040204" pitchFamily="34" charset="0"/>
                <a:cs typeface="Microsoft Sans Serif" pitchFamily="34" charset="0"/>
              </a:rPr>
              <a:t>the molecule usually is not chiral</a:t>
            </a:r>
            <a:r>
              <a:rPr lang="en-US" altLang="zh-CN" b="1" dirty="0">
                <a:latin typeface="MS Reference Sans Serif" panose="020B0604030504040204" pitchFamily="34" charset="0"/>
                <a:cs typeface="Microsoft Sans Serif" pitchFamily="34" charset="0"/>
              </a:rPr>
              <a:t>.</a:t>
            </a:r>
          </a:p>
        </p:txBody>
      </p:sp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5C891F73-EF72-4CAB-A9BD-DB155444B7E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27358976"/>
              </p:ext>
            </p:extLst>
          </p:nvPr>
        </p:nvGraphicFramePr>
        <p:xfrm>
          <a:off x="2423592" y="1124744"/>
          <a:ext cx="7056784" cy="17914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233" name="CS ChemDraw Drawing" r:id="rId3" imgW="3901440" imgH="990248" progId="ChemDraw.Document.6.0">
                  <p:embed/>
                </p:oleObj>
              </mc:Choice>
              <mc:Fallback>
                <p:oleObj name="CS ChemDraw Drawing" r:id="rId3" imgW="3901440" imgH="990248" progId="ChemDraw.Document.6.0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423592" y="1124744"/>
                        <a:ext cx="7056784" cy="179147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文本框 8">
            <a:extLst>
              <a:ext uri="{FF2B5EF4-FFF2-40B4-BE49-F238E27FC236}">
                <a16:creationId xmlns:a16="http://schemas.microsoft.com/office/drawing/2014/main" id="{D0AD6E19-DFC0-47A8-A4DA-BC5391A0DFF9}"/>
              </a:ext>
            </a:extLst>
          </p:cNvPr>
          <p:cNvSpPr txBox="1"/>
          <p:nvPr/>
        </p:nvSpPr>
        <p:spPr>
          <a:xfrm>
            <a:off x="263352" y="5864696"/>
            <a:ext cx="1137726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altLang="zh-CN" b="1" dirty="0">
                <a:latin typeface="MS Reference Sans Serif" panose="020B0604030504040204" pitchFamily="34" charset="0"/>
                <a:cs typeface="Microsoft Sans Serif" pitchFamily="34" charset="0"/>
              </a:rPr>
              <a:t>Keep in mind that </a:t>
            </a:r>
            <a:r>
              <a:rPr lang="en-US" altLang="zh-CN" b="1" dirty="0">
                <a:highlight>
                  <a:srgbClr val="00FFFF"/>
                </a:highlight>
                <a:latin typeface="MS Reference Sans Serif" panose="020B0604030504040204" pitchFamily="34" charset="0"/>
                <a:cs typeface="Microsoft Sans Serif" pitchFamily="34" charset="0"/>
              </a:rPr>
              <a:t>the ultimate test for chirality </a:t>
            </a:r>
            <a:r>
              <a:rPr lang="en-US" altLang="zh-CN" b="1" dirty="0">
                <a:latin typeface="MS Reference Sans Serif" panose="020B0604030504040204" pitchFamily="34" charset="0"/>
                <a:cs typeface="Microsoft Sans Serif" pitchFamily="34" charset="0"/>
              </a:rPr>
              <a:t>is always </a:t>
            </a:r>
            <a:r>
              <a:rPr lang="en-US" altLang="zh-CN" b="1" dirty="0">
                <a:highlight>
                  <a:srgbClr val="FFFF00"/>
                </a:highlight>
                <a:latin typeface="MS Reference Sans Serif" panose="020B0604030504040204" pitchFamily="34" charset="0"/>
                <a:cs typeface="Microsoft Sans Serif" pitchFamily="34" charset="0"/>
              </a:rPr>
              <a:t>whether the molecule’s mirror image is the same or different</a:t>
            </a:r>
            <a:r>
              <a:rPr lang="en-US" altLang="zh-CN" b="1" dirty="0">
                <a:latin typeface="MS Reference Sans Serif" panose="020B0604030504040204" pitchFamily="34" charset="0"/>
                <a:cs typeface="Microsoft Sans Serif" pitchFamily="34" charset="0"/>
              </a:rPr>
              <a:t>.</a:t>
            </a:r>
            <a:endParaRPr lang="zh-CN" altLang="en-US" b="1" dirty="0">
              <a:latin typeface="MS Reference Sans Serif" panose="020B0604030504040204" pitchFamily="34" charset="0"/>
              <a:cs typeface="Microsoft Sans Serif" pitchFamily="34" charset="0"/>
            </a:endParaRPr>
          </a:p>
        </p:txBody>
      </p:sp>
      <p:graphicFrame>
        <p:nvGraphicFramePr>
          <p:cNvPr id="10" name="对象 9">
            <a:extLst>
              <a:ext uri="{FF2B5EF4-FFF2-40B4-BE49-F238E27FC236}">
                <a16:creationId xmlns:a16="http://schemas.microsoft.com/office/drawing/2014/main" id="{4A62F011-CCE5-4C15-9603-F2C0EFE92DC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43903487"/>
              </p:ext>
            </p:extLst>
          </p:nvPr>
        </p:nvGraphicFramePr>
        <p:xfrm>
          <a:off x="4007769" y="3172483"/>
          <a:ext cx="3024336" cy="243594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234" name="CS ChemDraw Drawing" r:id="rId5" imgW="1631913" imgH="1314912" progId="ChemDraw.Document.6.0">
                  <p:embed/>
                </p:oleObj>
              </mc:Choice>
              <mc:Fallback>
                <p:oleObj name="CS ChemDraw Drawing" r:id="rId5" imgW="1631913" imgH="1314912" progId="ChemDraw.Document.6.0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007769" y="3172483"/>
                        <a:ext cx="3024336" cy="243594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: 圆角 9">
            <a:extLst>
              <a:ext uri="{FF2B5EF4-FFF2-40B4-BE49-F238E27FC236}">
                <a16:creationId xmlns:a16="http://schemas.microsoft.com/office/drawing/2014/main" id="{11BD7546-2B80-4D63-B057-6E58DBF9D782}"/>
              </a:ext>
            </a:extLst>
          </p:cNvPr>
          <p:cNvSpPr/>
          <p:nvPr/>
        </p:nvSpPr>
        <p:spPr>
          <a:xfrm>
            <a:off x="6134480" y="2204342"/>
            <a:ext cx="5328592" cy="947772"/>
          </a:xfrm>
          <a:prstGeom prst="round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S Reference Sans Serif" panose="020B0604030504040204" pitchFamily="34" charset="0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6</a:t>
            </a:fld>
            <a:endParaRPr lang="zh-CN" altLang="en-US"/>
          </a:p>
        </p:txBody>
      </p:sp>
      <p:sp>
        <p:nvSpPr>
          <p:cNvPr id="4" name="TextBox 3"/>
          <p:cNvSpPr txBox="1"/>
          <p:nvPr/>
        </p:nvSpPr>
        <p:spPr>
          <a:xfrm>
            <a:off x="186756" y="710961"/>
            <a:ext cx="1174189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b="1" dirty="0">
                <a:latin typeface="MS Reference Sans Serif" panose="020B0604030504040204" pitchFamily="34" charset="0"/>
                <a:cs typeface="Microsoft Sans Serif" pitchFamily="34" charset="0"/>
              </a:rPr>
              <a:t>Though the ultimate test for chirality is always whether the molecule’s mirror image is the same or different,</a:t>
            </a:r>
            <a:r>
              <a:rPr lang="en-US" altLang="zh-CN" b="1" dirty="0">
                <a:solidFill>
                  <a:srgbClr val="0000FF"/>
                </a:solidFill>
                <a:latin typeface="MS Reference Sans Serif" panose="020B0604030504040204" pitchFamily="34" charset="0"/>
                <a:cs typeface="Microsoft Sans Serif" pitchFamily="34" charset="0"/>
              </a:rPr>
              <a:t> </a:t>
            </a:r>
            <a:r>
              <a:rPr lang="en-US" altLang="zh-CN" b="1" dirty="0">
                <a:latin typeface="MS Reference Sans Serif" panose="020B0604030504040204" pitchFamily="34" charset="0"/>
                <a:cs typeface="Microsoft Sans Serif" pitchFamily="34" charset="0"/>
              </a:rPr>
              <a:t>we have </a:t>
            </a:r>
            <a:r>
              <a:rPr lang="en-US" altLang="zh-CN" b="1" dirty="0">
                <a:highlight>
                  <a:srgbClr val="FFFF00"/>
                </a:highlight>
                <a:latin typeface="MS Reference Sans Serif" panose="020B0604030504040204" pitchFamily="34" charset="0"/>
                <a:cs typeface="Microsoft Sans Serif" pitchFamily="34" charset="0"/>
              </a:rPr>
              <a:t>shortcuts to judge whether a molecule is chiral or achiral</a:t>
            </a:r>
            <a:r>
              <a:rPr lang="en-US" altLang="zh-CN" b="1" dirty="0">
                <a:latin typeface="MS Reference Sans Serif" panose="020B0604030504040204" pitchFamily="34" charset="0"/>
                <a:cs typeface="Microsoft Sans Serif" pitchFamily="34" charset="0"/>
              </a:rPr>
              <a:t>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78496" y="2203450"/>
            <a:ext cx="518457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zh-CN" b="1" dirty="0">
                <a:latin typeface="MS Reference Sans Serif" panose="020B0604030504040204" pitchFamily="34" charset="0"/>
                <a:cs typeface="Microsoft Sans Serif" pitchFamily="34" charset="0"/>
              </a:rPr>
              <a:t>An </a:t>
            </a:r>
            <a:r>
              <a:rPr lang="en-US" altLang="zh-CN" b="1" dirty="0">
                <a:highlight>
                  <a:srgbClr val="00FF00"/>
                </a:highlight>
                <a:latin typeface="MS Reference Sans Serif" panose="020B0604030504040204" pitchFamily="34" charset="0"/>
                <a:cs typeface="Microsoft Sans Serif" pitchFamily="34" charset="0"/>
              </a:rPr>
              <a:t>internal mirror plane</a:t>
            </a:r>
            <a:r>
              <a:rPr lang="en-US" altLang="zh-CN" b="1" dirty="0">
                <a:latin typeface="MS Reference Sans Serif" panose="020B0604030504040204" pitchFamily="34" charset="0"/>
                <a:cs typeface="Microsoft Sans Serif" pitchFamily="34" charset="0"/>
              </a:rPr>
              <a:t> bisects the molecule into two parts and this two parts are also mirror images of each other. </a:t>
            </a:r>
            <a:endParaRPr lang="zh-CN" altLang="en-US" b="1" dirty="0">
              <a:latin typeface="MS Reference Sans Serif" panose="020B0604030504040204" pitchFamily="34" charset="0"/>
              <a:cs typeface="Microsoft Sans Serif" pitchFamily="34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07368" y="4017467"/>
            <a:ext cx="103237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b="1" dirty="0">
                <a:latin typeface="MS Reference Sans Serif" panose="020B0604030504040204" pitchFamily="34" charset="0"/>
                <a:cs typeface="Microsoft Sans Serif" pitchFamily="34" charset="0"/>
              </a:rPr>
              <a:t>Any molecule that has</a:t>
            </a:r>
            <a:r>
              <a:rPr lang="zh-CN" altLang="en-US" b="1" dirty="0">
                <a:latin typeface="MS Reference Sans Serif" panose="020B0604030504040204" pitchFamily="34" charset="0"/>
                <a:cs typeface="Microsoft Sans Serif" pitchFamily="34" charset="0"/>
              </a:rPr>
              <a:t> </a:t>
            </a:r>
            <a:r>
              <a:rPr lang="en-US" altLang="zh-CN" b="1" dirty="0">
                <a:latin typeface="MS Reference Sans Serif" panose="020B0604030504040204" pitchFamily="34" charset="0"/>
                <a:cs typeface="Microsoft Sans Serif" pitchFamily="34" charset="0"/>
              </a:rPr>
              <a:t>one or more </a:t>
            </a:r>
            <a:r>
              <a:rPr lang="en-US" altLang="zh-CN" b="1" dirty="0">
                <a:solidFill>
                  <a:srgbClr val="FF0000"/>
                </a:solidFill>
                <a:latin typeface="MS Reference Sans Serif" panose="020B0604030504040204" pitchFamily="34" charset="0"/>
                <a:cs typeface="Microsoft Sans Serif" pitchFamily="34" charset="0"/>
              </a:rPr>
              <a:t>internal mirror planes of symmetry </a:t>
            </a:r>
            <a:r>
              <a:rPr lang="en-US" altLang="zh-CN" b="1" dirty="0">
                <a:latin typeface="MS Reference Sans Serif" panose="020B0604030504040204" pitchFamily="34" charset="0"/>
                <a:cs typeface="Microsoft Sans Serif" pitchFamily="34" charset="0"/>
              </a:rPr>
              <a:t>is </a:t>
            </a:r>
            <a:r>
              <a:rPr lang="en-US" altLang="zh-CN" b="1" dirty="0">
                <a:solidFill>
                  <a:srgbClr val="FF0000"/>
                </a:solidFill>
                <a:latin typeface="MS Reference Sans Serif" panose="020B0604030504040204" pitchFamily="34" charset="0"/>
                <a:cs typeface="Microsoft Sans Serif" pitchFamily="34" charset="0"/>
              </a:rPr>
              <a:t>achiral</a:t>
            </a:r>
            <a:r>
              <a:rPr lang="en-US" altLang="zh-CN" b="1" dirty="0">
                <a:latin typeface="MS Reference Sans Serif" panose="020B0604030504040204" pitchFamily="34" charset="0"/>
                <a:cs typeface="Microsoft Sans Serif" pitchFamily="34" charset="0"/>
              </a:rPr>
              <a:t>.</a:t>
            </a:r>
            <a:endParaRPr lang="zh-CN" altLang="en-US" b="1" dirty="0">
              <a:latin typeface="MS Reference Sans Serif" panose="020B0604030504040204" pitchFamily="34" charset="0"/>
              <a:cs typeface="Microsoft Sans Serif" pitchFamily="34" charset="0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0" y="217094"/>
            <a:ext cx="4167551" cy="400110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</p:spPr>
        <p:txBody>
          <a:bodyPr wrap="none">
            <a:spAutoFit/>
          </a:bodyPr>
          <a:lstStyle/>
          <a:p>
            <a:r>
              <a:rPr lang="en-US" altLang="zh-CN" sz="2000" b="1" dirty="0">
                <a:latin typeface="MS Reference Sans Serif" panose="020B0604030504040204" pitchFamily="34" charset="0"/>
                <a:cs typeface="Microsoft Sans Serif" pitchFamily="34" charset="0"/>
              </a:rPr>
              <a:t>2-4 Mirror Planes of Symmetry</a:t>
            </a:r>
          </a:p>
        </p:txBody>
      </p:sp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5E9718B8-5CD4-4890-8497-27E7BC7B283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77976329"/>
              </p:ext>
            </p:extLst>
          </p:nvPr>
        </p:nvGraphicFramePr>
        <p:xfrm>
          <a:off x="580263" y="1679597"/>
          <a:ext cx="2160240" cy="20633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758" name="CS ChemDraw Drawing" r:id="rId3" imgW="1062164" imgH="1014429" progId="ChemDraw.Document.6.0">
                  <p:embed/>
                </p:oleObj>
              </mc:Choice>
              <mc:Fallback>
                <p:oleObj name="CS ChemDraw Drawing" r:id="rId3" imgW="1062164" imgH="1014429" progId="ChemDraw.Document.6.0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80263" y="1679597"/>
                        <a:ext cx="2160240" cy="206337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对象 12">
            <a:extLst>
              <a:ext uri="{FF2B5EF4-FFF2-40B4-BE49-F238E27FC236}">
                <a16:creationId xmlns:a16="http://schemas.microsoft.com/office/drawing/2014/main" id="{2E14B2A6-4519-4815-A908-E7484C58D39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97306243"/>
              </p:ext>
            </p:extLst>
          </p:nvPr>
        </p:nvGraphicFramePr>
        <p:xfrm>
          <a:off x="3449029" y="1565836"/>
          <a:ext cx="2274127" cy="2223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759" name="CS ChemDraw Drawing" r:id="rId5" imgW="1139893" imgH="1115119" progId="ChemDraw.Document.6.0">
                  <p:embed/>
                </p:oleObj>
              </mc:Choice>
              <mc:Fallback>
                <p:oleObj name="CS ChemDraw Drawing" r:id="rId5" imgW="1139893" imgH="1115119" progId="ChemDraw.Document.6.0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449029" y="1565836"/>
                        <a:ext cx="2274127" cy="22234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对象 13">
            <a:extLst>
              <a:ext uri="{FF2B5EF4-FFF2-40B4-BE49-F238E27FC236}">
                <a16:creationId xmlns:a16="http://schemas.microsoft.com/office/drawing/2014/main" id="{B1C022BA-D5BF-46B1-BB9A-94E376FEC69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26891985"/>
              </p:ext>
            </p:extLst>
          </p:nvPr>
        </p:nvGraphicFramePr>
        <p:xfrm>
          <a:off x="3575720" y="4576542"/>
          <a:ext cx="4663195" cy="213670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760" name="CS ChemDraw Drawing" r:id="rId7" imgW="2602538" imgH="1192816" progId="ChemDraw.Document.6.0">
                  <p:embed/>
                </p:oleObj>
              </mc:Choice>
              <mc:Fallback>
                <p:oleObj name="CS ChemDraw Drawing" r:id="rId7" imgW="2602538" imgH="1192816" progId="ChemDraw.Document.6.0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3575720" y="4576542"/>
                        <a:ext cx="4663195" cy="213670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: 圆角 8">
            <a:extLst>
              <a:ext uri="{FF2B5EF4-FFF2-40B4-BE49-F238E27FC236}">
                <a16:creationId xmlns:a16="http://schemas.microsoft.com/office/drawing/2014/main" id="{169CFEB6-D4BD-407B-8B9E-EAA038446E12}"/>
              </a:ext>
            </a:extLst>
          </p:cNvPr>
          <p:cNvSpPr/>
          <p:nvPr/>
        </p:nvSpPr>
        <p:spPr>
          <a:xfrm>
            <a:off x="7191125" y="2085769"/>
            <a:ext cx="2966121" cy="646331"/>
          </a:xfrm>
          <a:prstGeom prst="round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7</a:t>
            </a:fld>
            <a:endParaRPr lang="zh-CN" altLang="en-US"/>
          </a:p>
        </p:txBody>
      </p:sp>
      <p:sp>
        <p:nvSpPr>
          <p:cNvPr id="3" name="TextBox 2"/>
          <p:cNvSpPr txBox="1"/>
          <p:nvPr/>
        </p:nvSpPr>
        <p:spPr>
          <a:xfrm>
            <a:off x="0" y="260648"/>
            <a:ext cx="9120336" cy="461665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latin typeface="MS Reference Sans Serif" panose="020B0604030504040204" pitchFamily="34" charset="0"/>
                <a:cs typeface="Microsoft Sans Serif" pitchFamily="34" charset="0"/>
              </a:rPr>
              <a:t>3 (</a:t>
            </a:r>
            <a:r>
              <a:rPr lang="en-US" altLang="zh-CN" sz="2400" b="1" i="1" dirty="0">
                <a:latin typeface="MS Reference Sans Serif" panose="020B0604030504040204" pitchFamily="34" charset="0"/>
                <a:cs typeface="Microsoft Sans Serif" pitchFamily="34" charset="0"/>
              </a:rPr>
              <a:t>R</a:t>
            </a:r>
            <a:r>
              <a:rPr lang="en-US" altLang="zh-CN" sz="2400" b="1" dirty="0">
                <a:latin typeface="MS Reference Sans Serif" panose="020B0604030504040204" pitchFamily="34" charset="0"/>
                <a:cs typeface="Microsoft Sans Serif" pitchFamily="34" charset="0"/>
              </a:rPr>
              <a:t>) and (</a:t>
            </a:r>
            <a:r>
              <a:rPr lang="en-US" altLang="zh-CN" sz="2400" b="1" i="1" dirty="0">
                <a:latin typeface="MS Reference Sans Serif" panose="020B0604030504040204" pitchFamily="34" charset="0"/>
                <a:cs typeface="Microsoft Sans Serif" pitchFamily="34" charset="0"/>
              </a:rPr>
              <a:t>S</a:t>
            </a:r>
            <a:r>
              <a:rPr lang="en-US" altLang="zh-CN" sz="2400" b="1" dirty="0">
                <a:latin typeface="MS Reference Sans Serif" panose="020B0604030504040204" pitchFamily="34" charset="0"/>
                <a:cs typeface="Microsoft Sans Serif" pitchFamily="34" charset="0"/>
              </a:rPr>
              <a:t>) Nomenclature of Asymmetric Carbon Atoms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1344" y="4007920"/>
            <a:ext cx="11031016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altLang="zh-CN" b="1" dirty="0">
                <a:highlight>
                  <a:srgbClr val="FFFF00"/>
                </a:highlight>
                <a:latin typeface="MS Reference Sans Serif" panose="020B0604030504040204" pitchFamily="34" charset="0"/>
                <a:cs typeface="Microsoft Sans Serif" pitchFamily="34" charset="0"/>
              </a:rPr>
              <a:t>The difference between the two enantiomers</a:t>
            </a:r>
            <a:r>
              <a:rPr lang="en-US" altLang="zh-CN" b="1" dirty="0">
                <a:latin typeface="MS Reference Sans Serif" panose="020B0604030504040204" pitchFamily="34" charset="0"/>
                <a:cs typeface="Microsoft Sans Serif" pitchFamily="34" charset="0"/>
              </a:rPr>
              <a:t> lies in </a:t>
            </a:r>
            <a:r>
              <a:rPr lang="en-US" altLang="zh-CN" b="1" dirty="0">
                <a:highlight>
                  <a:srgbClr val="00FFFF"/>
                </a:highlight>
                <a:latin typeface="MS Reference Sans Serif" panose="020B0604030504040204" pitchFamily="34" charset="0"/>
                <a:cs typeface="Microsoft Sans Serif" pitchFamily="34" charset="0"/>
              </a:rPr>
              <a:t>the three-dimensional arrangement of the four groups around the asymmetric carbon atom</a:t>
            </a:r>
            <a:r>
              <a:rPr lang="en-US" altLang="zh-CN" b="1" dirty="0">
                <a:latin typeface="MS Reference Sans Serif" panose="020B0604030504040204" pitchFamily="34" charset="0"/>
                <a:cs typeface="Microsoft Sans Serif" pitchFamily="34" charset="0"/>
              </a:rPr>
              <a:t>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altLang="zh-CN" b="1" dirty="0">
              <a:latin typeface="MS Reference Sans Serif" panose="020B0604030504040204" pitchFamily="34" charset="0"/>
              <a:cs typeface="Microsoft Sans Serif" pitchFamily="3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altLang="zh-CN" b="1" dirty="0">
                <a:latin typeface="MS Reference Sans Serif" panose="020B0604030504040204" pitchFamily="34" charset="0"/>
                <a:cs typeface="Microsoft Sans Serif" pitchFamily="34" charset="0"/>
              </a:rPr>
              <a:t>Any asymmetric carbon has </a:t>
            </a:r>
            <a:r>
              <a:rPr lang="en-US" altLang="zh-CN" b="1" dirty="0">
                <a:highlight>
                  <a:srgbClr val="00FF00"/>
                </a:highlight>
                <a:latin typeface="MS Reference Sans Serif" panose="020B0604030504040204" pitchFamily="34" charset="0"/>
                <a:cs typeface="Microsoft Sans Serif" pitchFamily="34" charset="0"/>
              </a:rPr>
              <a:t>two</a:t>
            </a:r>
            <a:r>
              <a:rPr lang="en-US" altLang="zh-CN" b="1" dirty="0">
                <a:latin typeface="MS Reference Sans Serif" panose="020B0604030504040204" pitchFamily="34" charset="0"/>
                <a:cs typeface="Microsoft Sans Serif" pitchFamily="34" charset="0"/>
              </a:rPr>
              <a:t> possible (mirror-image) spatial arrangements, which we call </a:t>
            </a:r>
            <a:r>
              <a:rPr lang="en-US" altLang="zh-CN" b="1" dirty="0">
                <a:highlight>
                  <a:srgbClr val="00FF00"/>
                </a:highlight>
                <a:latin typeface="MS Reference Sans Serif" panose="020B0604030504040204" pitchFamily="34" charset="0"/>
                <a:cs typeface="Microsoft Sans Serif" pitchFamily="34" charset="0"/>
              </a:rPr>
              <a:t>configurations</a:t>
            </a:r>
            <a:r>
              <a:rPr lang="en-US" altLang="zh-CN" b="1" dirty="0">
                <a:latin typeface="MS Reference Sans Serif" panose="020B0604030504040204" pitchFamily="34" charset="0"/>
                <a:cs typeface="Microsoft Sans Serif" pitchFamily="34" charset="0"/>
              </a:rPr>
              <a:t>.</a:t>
            </a:r>
          </a:p>
          <a:p>
            <a:pPr algn="just">
              <a:buFont typeface="Arial" pitchFamily="34" charset="0"/>
              <a:buChar char="•"/>
            </a:pPr>
            <a:endParaRPr lang="en-US" altLang="zh-CN" b="1" dirty="0">
              <a:latin typeface="MS Reference Sans Serif" panose="020B0604030504040204" pitchFamily="34" charset="0"/>
              <a:cs typeface="Microsoft Sans Serif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b="1" dirty="0">
                <a:highlight>
                  <a:srgbClr val="FFFF00"/>
                </a:highlight>
                <a:latin typeface="MS Reference Sans Serif" panose="020B0604030504040204" pitchFamily="34" charset="0"/>
                <a:cs typeface="Microsoft Sans Serif" pitchFamily="34" charset="0"/>
              </a:rPr>
              <a:t>The Cahn-Ingold-Prelog convention </a:t>
            </a:r>
            <a:r>
              <a:rPr lang="en-US" altLang="zh-CN" b="1" dirty="0">
                <a:latin typeface="MS Reference Sans Serif" panose="020B0604030504040204" pitchFamily="34" charset="0"/>
                <a:cs typeface="Microsoft Sans Serif" pitchFamily="34" charset="0"/>
              </a:rPr>
              <a:t>(CIP) is widely accepted for </a:t>
            </a:r>
            <a:r>
              <a:rPr lang="en-US" altLang="zh-CN" b="1" dirty="0">
                <a:highlight>
                  <a:srgbClr val="FFFF00"/>
                </a:highlight>
                <a:latin typeface="MS Reference Sans Serif" panose="020B0604030504040204" pitchFamily="34" charset="0"/>
                <a:cs typeface="Microsoft Sans Serif" pitchFamily="34" charset="0"/>
              </a:rPr>
              <a:t>naming the configurations of chirality centers</a:t>
            </a:r>
            <a:r>
              <a:rPr lang="en-US" altLang="zh-CN" b="1" dirty="0">
                <a:latin typeface="MS Reference Sans Serif" panose="020B0604030504040204" pitchFamily="34" charset="0"/>
                <a:cs typeface="Microsoft Sans Serif" pitchFamily="34" charset="0"/>
              </a:rPr>
              <a:t>. </a:t>
            </a:r>
            <a:r>
              <a:rPr lang="en-US" altLang="zh-CN" b="1" dirty="0">
                <a:highlight>
                  <a:srgbClr val="00FFFF"/>
                </a:highlight>
                <a:latin typeface="MS Reference Sans Serif" panose="020B0604030504040204" pitchFamily="34" charset="0"/>
                <a:cs typeface="Microsoft Sans Serif" pitchFamily="34" charset="0"/>
              </a:rPr>
              <a:t>Each asymmetric carbon atom is assigned as (</a:t>
            </a:r>
            <a:r>
              <a:rPr lang="en-US" altLang="zh-CN" b="1" i="1" dirty="0">
                <a:highlight>
                  <a:srgbClr val="00FFFF"/>
                </a:highlight>
                <a:latin typeface="MS Reference Sans Serif" panose="020B0604030504040204" pitchFamily="34" charset="0"/>
                <a:cs typeface="Microsoft Sans Serif" pitchFamily="34" charset="0"/>
              </a:rPr>
              <a:t>R</a:t>
            </a:r>
            <a:r>
              <a:rPr lang="en-US" altLang="zh-CN" b="1" dirty="0">
                <a:highlight>
                  <a:srgbClr val="00FFFF"/>
                </a:highlight>
                <a:latin typeface="MS Reference Sans Serif" panose="020B0604030504040204" pitchFamily="34" charset="0"/>
                <a:cs typeface="Microsoft Sans Serif" pitchFamily="34" charset="0"/>
              </a:rPr>
              <a:t>) or (</a:t>
            </a:r>
            <a:r>
              <a:rPr lang="en-US" altLang="zh-CN" b="1" i="1" dirty="0">
                <a:highlight>
                  <a:srgbClr val="00FFFF"/>
                </a:highlight>
                <a:latin typeface="MS Reference Sans Serif" panose="020B0604030504040204" pitchFamily="34" charset="0"/>
                <a:cs typeface="Microsoft Sans Serif" pitchFamily="34" charset="0"/>
              </a:rPr>
              <a:t>S</a:t>
            </a:r>
            <a:r>
              <a:rPr lang="en-US" altLang="zh-CN" b="1" dirty="0">
                <a:highlight>
                  <a:srgbClr val="00FFFF"/>
                </a:highlight>
                <a:latin typeface="MS Reference Sans Serif" panose="020B0604030504040204" pitchFamily="34" charset="0"/>
                <a:cs typeface="Microsoft Sans Serif" pitchFamily="34" charset="0"/>
              </a:rPr>
              <a:t>) </a:t>
            </a:r>
            <a:r>
              <a:rPr lang="en-US" altLang="zh-CN" b="1" dirty="0">
                <a:latin typeface="MS Reference Sans Serif" panose="020B0604030504040204" pitchFamily="34" charset="0"/>
                <a:cs typeface="Microsoft Sans Serif" pitchFamily="34" charset="0"/>
              </a:rPr>
              <a:t>based on its three-dimensional configuration.</a:t>
            </a:r>
          </a:p>
        </p:txBody>
      </p:sp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EDCC26D0-8B4C-4F69-B98B-15CD254443C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74816022"/>
              </p:ext>
            </p:extLst>
          </p:nvPr>
        </p:nvGraphicFramePr>
        <p:xfrm>
          <a:off x="2495600" y="1487397"/>
          <a:ext cx="4536503" cy="216387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057" name="CS ChemDraw Drawing" r:id="rId3" imgW="2450237" imgH="1168635" progId="ChemDraw.Document.6.0">
                  <p:embed/>
                </p:oleObj>
              </mc:Choice>
              <mc:Fallback>
                <p:oleObj name="CS ChemDraw Drawing" r:id="rId3" imgW="2450237" imgH="1168635" progId="ChemDraw.Document.6.0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495600" y="1487397"/>
                        <a:ext cx="4536503" cy="216387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文本框 7">
            <a:extLst>
              <a:ext uri="{FF2B5EF4-FFF2-40B4-BE49-F238E27FC236}">
                <a16:creationId xmlns:a16="http://schemas.microsoft.com/office/drawing/2014/main" id="{7B63B44D-8ED2-4052-80FA-BE9BEB1126ED}"/>
              </a:ext>
            </a:extLst>
          </p:cNvPr>
          <p:cNvSpPr txBox="1"/>
          <p:nvPr/>
        </p:nvSpPr>
        <p:spPr>
          <a:xfrm>
            <a:off x="7238238" y="2085769"/>
            <a:ext cx="292176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latin typeface="MS Reference Sans Serif" panose="020B060403050404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Same constitution</a:t>
            </a:r>
          </a:p>
          <a:p>
            <a:r>
              <a:rPr lang="en-US" altLang="zh-CN" b="1" dirty="0">
                <a:latin typeface="MS Reference Sans Serif" panose="020B060403050404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Different configurations</a:t>
            </a:r>
            <a:endParaRPr lang="zh-CN" altLang="en-US" b="1" dirty="0">
              <a:latin typeface="MS Reference Sans Serif" panose="020B060403050404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0391ABAD-48AC-4D12-B13C-ECF5CD433BD0}"/>
              </a:ext>
            </a:extLst>
          </p:cNvPr>
          <p:cNvSpPr txBox="1"/>
          <p:nvPr/>
        </p:nvSpPr>
        <p:spPr>
          <a:xfrm>
            <a:off x="0" y="810517"/>
            <a:ext cx="6063198" cy="40011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altLang="zh-CN" sz="2000" b="1" dirty="0">
                <a:latin typeface="MS Reference Sans Serif" panose="020B060403050404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3-1 the configurations of asymmetric carbons</a:t>
            </a:r>
            <a:endParaRPr lang="zh-CN" altLang="en-US" sz="2000" b="1" dirty="0">
              <a:latin typeface="MS Reference Sans Serif" panose="020B0604030504040204" pitchFamily="34" charset="0"/>
              <a:cs typeface="Microsoft Sans Serif" panose="020B0604020202020204" pitchFamily="34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8</a:t>
            </a:fld>
            <a:endParaRPr lang="zh-CN" altLang="en-US"/>
          </a:p>
        </p:txBody>
      </p:sp>
      <p:sp>
        <p:nvSpPr>
          <p:cNvPr id="3" name="矩形 2"/>
          <p:cNvSpPr/>
          <p:nvPr/>
        </p:nvSpPr>
        <p:spPr>
          <a:xfrm>
            <a:off x="220551" y="684370"/>
            <a:ext cx="848595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SzPct val="60000"/>
            </a:pPr>
            <a:r>
              <a:rPr lang="en-US" altLang="zh-CN" b="1" dirty="0">
                <a:latin typeface="MS Reference Sans Serif" panose="020B0604030504040204" pitchFamily="34" charset="0"/>
                <a:cs typeface="Microsoft Sans Serif" pitchFamily="34" charset="0"/>
              </a:rPr>
              <a:t>(1) Assign a “</a:t>
            </a:r>
            <a:r>
              <a:rPr lang="en-US" altLang="zh-CN" b="1" dirty="0">
                <a:highlight>
                  <a:srgbClr val="00FFFF"/>
                </a:highlight>
                <a:latin typeface="MS Reference Sans Serif" panose="020B0604030504040204" pitchFamily="34" charset="0"/>
                <a:cs typeface="Microsoft Sans Serif" pitchFamily="34" charset="0"/>
              </a:rPr>
              <a:t>priority</a:t>
            </a:r>
            <a:r>
              <a:rPr lang="en-US" altLang="zh-CN" b="1" dirty="0">
                <a:latin typeface="MS Reference Sans Serif" panose="020B0604030504040204" pitchFamily="34" charset="0"/>
                <a:cs typeface="Microsoft Sans Serif" pitchFamily="34" charset="0"/>
              </a:rPr>
              <a:t>” to each group bonded to the asymmetric carbon.</a:t>
            </a:r>
          </a:p>
        </p:txBody>
      </p:sp>
      <p:graphicFrame>
        <p:nvGraphicFramePr>
          <p:cNvPr id="7" name="对象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78175667"/>
              </p:ext>
            </p:extLst>
          </p:nvPr>
        </p:nvGraphicFramePr>
        <p:xfrm>
          <a:off x="745015" y="3474977"/>
          <a:ext cx="3622793" cy="140153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796" name="CS ChemDraw Drawing" r:id="rId3" imgW="2007143" imgH="776976" progId="ChemDraw.Document.6.0">
                  <p:embed/>
                </p:oleObj>
              </mc:Choice>
              <mc:Fallback>
                <p:oleObj name="CS ChemDraw Drawing" r:id="rId3" imgW="2007143" imgH="776976" progId="ChemDraw.Document.6.0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745015" y="3474977"/>
                        <a:ext cx="3622793" cy="140153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9" name="直接连接符 8"/>
          <p:cNvCxnSpPr/>
          <p:nvPr/>
        </p:nvCxnSpPr>
        <p:spPr>
          <a:xfrm flipV="1">
            <a:off x="2757265" y="4056031"/>
            <a:ext cx="1219176" cy="562360"/>
          </a:xfrm>
          <a:prstGeom prst="line">
            <a:avLst/>
          </a:prstGeom>
          <a:ln>
            <a:solidFill>
              <a:srgbClr val="FF0000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/>
          <p:cNvSpPr/>
          <p:nvPr/>
        </p:nvSpPr>
        <p:spPr>
          <a:xfrm>
            <a:off x="220551" y="2317337"/>
            <a:ext cx="11291464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SzPct val="60000"/>
            </a:pPr>
            <a:r>
              <a:rPr lang="en-US" altLang="zh-CN" b="1" dirty="0">
                <a:latin typeface="MS Reference Sans Serif" panose="020B0604030504040204" pitchFamily="34" charset="0"/>
                <a:cs typeface="Microsoft Sans Serif" pitchFamily="34" charset="0"/>
              </a:rPr>
              <a:t>(3) Draw an arrow </a:t>
            </a:r>
            <a:r>
              <a:rPr lang="en-US" altLang="zh-CN" b="1" dirty="0">
                <a:highlight>
                  <a:srgbClr val="00FF00"/>
                </a:highlight>
                <a:latin typeface="MS Reference Sans Serif" panose="020B0604030504040204" pitchFamily="34" charset="0"/>
                <a:cs typeface="Microsoft Sans Serif" pitchFamily="34" charset="0"/>
              </a:rPr>
              <a:t>from the first-priority group, through the second, to the third</a:t>
            </a:r>
            <a:r>
              <a:rPr lang="en-US" altLang="zh-CN" b="1" dirty="0">
                <a:latin typeface="MS Reference Sans Serif" panose="020B0604030504040204" pitchFamily="34" charset="0"/>
                <a:cs typeface="Microsoft Sans Serif" pitchFamily="34" charset="0"/>
              </a:rPr>
              <a:t>:</a:t>
            </a:r>
            <a:endParaRPr lang="en-US" altLang="zh-CN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MS Reference Sans Serif" panose="020B0604030504040204" pitchFamily="34" charset="0"/>
              <a:cs typeface="Microsoft Sans Serif" pitchFamily="34" charset="0"/>
            </a:endParaRPr>
          </a:p>
          <a:p>
            <a:pPr marL="342900" indent="-342900">
              <a:buSzPct val="100000"/>
              <a:buFont typeface="Arial" panose="020B0604020202020204" pitchFamily="34" charset="0"/>
              <a:buChar char="•"/>
            </a:pPr>
            <a:r>
              <a:rPr lang="en-US" altLang="zh-CN" b="1" dirty="0">
                <a:latin typeface="MS Reference Sans Serif" panose="020B0604030504040204" pitchFamily="34" charset="0"/>
                <a:cs typeface="Microsoft Sans Serif" pitchFamily="34" charset="0"/>
              </a:rPr>
              <a:t>If the arrow points </a:t>
            </a:r>
            <a:r>
              <a:rPr lang="en-US" altLang="zh-CN" b="1" dirty="0">
                <a:solidFill>
                  <a:srgbClr val="FF0000"/>
                </a:solidFill>
                <a:latin typeface="MS Reference Sans Serif" panose="020B0604030504040204" pitchFamily="34" charset="0"/>
                <a:cs typeface="Microsoft Sans Serif" pitchFamily="34" charset="0"/>
              </a:rPr>
              <a:t>clockwise</a:t>
            </a:r>
            <a:r>
              <a:rPr lang="en-US" altLang="zh-CN" b="1" dirty="0">
                <a:latin typeface="MS Reference Sans Serif" panose="020B0604030504040204" pitchFamily="34" charset="0"/>
                <a:cs typeface="Microsoft Sans Serif" pitchFamily="34" charset="0"/>
              </a:rPr>
              <a:t>, the chiral carbon atom is called (</a:t>
            </a:r>
            <a:r>
              <a:rPr lang="en-US" altLang="zh-CN" b="1" i="1" dirty="0">
                <a:solidFill>
                  <a:srgbClr val="FF0000"/>
                </a:solidFill>
                <a:latin typeface="MS Reference Sans Serif" panose="020B0604030504040204" pitchFamily="34" charset="0"/>
                <a:cs typeface="Microsoft Sans Serif" pitchFamily="34" charset="0"/>
              </a:rPr>
              <a:t>R</a:t>
            </a:r>
            <a:r>
              <a:rPr lang="en-US" altLang="zh-CN" b="1" dirty="0">
                <a:latin typeface="MS Reference Sans Serif" panose="020B0604030504040204" pitchFamily="34" charset="0"/>
                <a:cs typeface="Microsoft Sans Serif" pitchFamily="34" charset="0"/>
              </a:rPr>
              <a:t>). </a:t>
            </a:r>
          </a:p>
          <a:p>
            <a:pPr marL="342900" indent="-342900">
              <a:buSzPct val="100000"/>
              <a:buFont typeface="Arial" panose="020B0604020202020204" pitchFamily="34" charset="0"/>
              <a:buChar char="•"/>
            </a:pPr>
            <a:r>
              <a:rPr lang="en-US" altLang="zh-CN" b="1" dirty="0">
                <a:latin typeface="MS Reference Sans Serif" panose="020B0604030504040204" pitchFamily="34" charset="0"/>
                <a:cs typeface="Microsoft Sans Serif" pitchFamily="34" charset="0"/>
              </a:rPr>
              <a:t>If the arrow points </a:t>
            </a:r>
            <a:r>
              <a:rPr lang="en-US" altLang="zh-CN" b="1" dirty="0">
                <a:solidFill>
                  <a:srgbClr val="FF0000"/>
                </a:solidFill>
                <a:latin typeface="MS Reference Sans Serif" panose="020B0604030504040204" pitchFamily="34" charset="0"/>
                <a:cs typeface="Microsoft Sans Serif" pitchFamily="34" charset="0"/>
              </a:rPr>
              <a:t>counterclockwise</a:t>
            </a:r>
            <a:r>
              <a:rPr lang="en-US" altLang="zh-CN" b="1" dirty="0">
                <a:latin typeface="MS Reference Sans Serif" panose="020B0604030504040204" pitchFamily="34" charset="0"/>
                <a:cs typeface="Microsoft Sans Serif" pitchFamily="34" charset="0"/>
              </a:rPr>
              <a:t>, the chiral carbon atom is called (</a:t>
            </a:r>
            <a:r>
              <a:rPr lang="en-US" altLang="zh-CN" b="1" i="1" dirty="0">
                <a:solidFill>
                  <a:srgbClr val="FF0000"/>
                </a:solidFill>
                <a:latin typeface="MS Reference Sans Serif" panose="020B0604030504040204" pitchFamily="34" charset="0"/>
                <a:cs typeface="Microsoft Sans Serif" pitchFamily="34" charset="0"/>
              </a:rPr>
              <a:t>S</a:t>
            </a:r>
            <a:r>
              <a:rPr lang="en-US" altLang="zh-CN" b="1" dirty="0">
                <a:latin typeface="MS Reference Sans Serif" panose="020B0604030504040204" pitchFamily="34" charset="0"/>
                <a:cs typeface="Microsoft Sans Serif" pitchFamily="34" charset="0"/>
              </a:rPr>
              <a:t>).</a:t>
            </a:r>
          </a:p>
        </p:txBody>
      </p:sp>
      <p:cxnSp>
        <p:nvCxnSpPr>
          <p:cNvPr id="17" name="直接箭头连接符 16"/>
          <p:cNvCxnSpPr/>
          <p:nvPr/>
        </p:nvCxnSpPr>
        <p:spPr>
          <a:xfrm flipH="1">
            <a:off x="4121272" y="3814807"/>
            <a:ext cx="450405" cy="21023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接连接符 29"/>
          <p:cNvCxnSpPr/>
          <p:nvPr/>
        </p:nvCxnSpPr>
        <p:spPr>
          <a:xfrm>
            <a:off x="3911174" y="5828629"/>
            <a:ext cx="1104706" cy="504056"/>
          </a:xfrm>
          <a:prstGeom prst="line">
            <a:avLst/>
          </a:prstGeom>
          <a:ln>
            <a:solidFill>
              <a:srgbClr val="FF0000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接箭头连接符 32"/>
          <p:cNvCxnSpPr/>
          <p:nvPr/>
        </p:nvCxnSpPr>
        <p:spPr>
          <a:xfrm>
            <a:off x="3507212" y="5643290"/>
            <a:ext cx="314668" cy="153515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连接符 7"/>
          <p:cNvCxnSpPr/>
          <p:nvPr/>
        </p:nvCxnSpPr>
        <p:spPr>
          <a:xfrm flipV="1">
            <a:off x="630844" y="5077121"/>
            <a:ext cx="9289032" cy="58842"/>
          </a:xfrm>
          <a:prstGeom prst="line">
            <a:avLst/>
          </a:prstGeom>
          <a:ln>
            <a:solidFill>
              <a:schemeClr val="tx1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文本框 17">
            <a:extLst>
              <a:ext uri="{FF2B5EF4-FFF2-40B4-BE49-F238E27FC236}">
                <a16:creationId xmlns:a16="http://schemas.microsoft.com/office/drawing/2014/main" id="{9E1DECB6-8CCB-4408-BFDB-A8AFDD543CD4}"/>
              </a:ext>
            </a:extLst>
          </p:cNvPr>
          <p:cNvSpPr txBox="1"/>
          <p:nvPr/>
        </p:nvSpPr>
        <p:spPr>
          <a:xfrm>
            <a:off x="0" y="224340"/>
            <a:ext cx="3491661" cy="40011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altLang="zh-CN" sz="2000" b="1" dirty="0">
                <a:latin typeface="MS Reference Sans Serif" panose="020B060403050404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3-2 The 3-step Procedure</a:t>
            </a:r>
            <a:endParaRPr lang="zh-CN" altLang="en-US" sz="2000" b="1" dirty="0">
              <a:latin typeface="MS Reference Sans Serif" panose="020B060403050404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1E0CC0CF-DB28-4A8A-B591-826F8B124818}"/>
              </a:ext>
            </a:extLst>
          </p:cNvPr>
          <p:cNvSpPr txBox="1"/>
          <p:nvPr/>
        </p:nvSpPr>
        <p:spPr>
          <a:xfrm>
            <a:off x="220551" y="1218415"/>
            <a:ext cx="823219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SzPct val="60000"/>
            </a:pPr>
            <a:r>
              <a:rPr lang="en-US" altLang="zh-CN" b="1" dirty="0">
                <a:latin typeface="MS Reference Sans Serif" panose="020B0604030504040204" pitchFamily="34" charset="0"/>
                <a:cs typeface="Microsoft Sans Serif" pitchFamily="34" charset="0"/>
              </a:rPr>
              <a:t>(2) Using a three-dimensional drawing, </a:t>
            </a:r>
            <a:r>
              <a:rPr lang="en-US" altLang="zh-CN" b="1" dirty="0">
                <a:highlight>
                  <a:srgbClr val="00FF00"/>
                </a:highlight>
                <a:latin typeface="MS Reference Sans Serif" panose="020B0604030504040204" pitchFamily="34" charset="0"/>
                <a:cs typeface="Microsoft Sans Serif" pitchFamily="34" charset="0"/>
              </a:rPr>
              <a:t>put the fourth-priority group in back </a:t>
            </a:r>
            <a:r>
              <a:rPr lang="en-US" altLang="zh-CN" b="1" dirty="0">
                <a:latin typeface="MS Reference Sans Serif" panose="020B0604030504040204" pitchFamily="34" charset="0"/>
                <a:cs typeface="Microsoft Sans Serif" pitchFamily="34" charset="0"/>
              </a:rPr>
              <a:t>and </a:t>
            </a:r>
            <a:r>
              <a:rPr lang="en-US" altLang="zh-CN" b="1" dirty="0">
                <a:highlight>
                  <a:srgbClr val="FFFF00"/>
                </a:highlight>
                <a:latin typeface="MS Reference Sans Serif" panose="020B0604030504040204" pitchFamily="34" charset="0"/>
                <a:cs typeface="Microsoft Sans Serif" pitchFamily="34" charset="0"/>
              </a:rPr>
              <a:t>view</a:t>
            </a:r>
            <a:r>
              <a:rPr lang="en-US" altLang="zh-CN" b="1" dirty="0">
                <a:latin typeface="MS Reference Sans Serif" panose="020B0604030504040204" pitchFamily="34" charset="0"/>
                <a:cs typeface="Microsoft Sans Serif" pitchFamily="34" charset="0"/>
              </a:rPr>
              <a:t> the molecule </a:t>
            </a:r>
            <a:r>
              <a:rPr lang="en-US" altLang="zh-CN" b="1" dirty="0">
                <a:highlight>
                  <a:srgbClr val="FFFF00"/>
                </a:highlight>
                <a:latin typeface="MS Reference Sans Serif" panose="020B0604030504040204" pitchFamily="34" charset="0"/>
                <a:cs typeface="Microsoft Sans Serif" pitchFamily="34" charset="0"/>
              </a:rPr>
              <a:t>along the bond from the asymmetric carbon to the fourth-priority group</a:t>
            </a:r>
            <a:r>
              <a:rPr lang="en-US" altLang="zh-CN" b="1" dirty="0">
                <a:latin typeface="MS Reference Sans Serif" panose="020B0604030504040204" pitchFamily="34" charset="0"/>
                <a:cs typeface="Microsoft Sans Serif" pitchFamily="34" charset="0"/>
              </a:rPr>
              <a:t>.</a:t>
            </a:r>
          </a:p>
        </p:txBody>
      </p:sp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31D29E42-AEBD-43B2-AB6C-A2573372BE9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81483100"/>
              </p:ext>
            </p:extLst>
          </p:nvPr>
        </p:nvGraphicFramePr>
        <p:xfrm>
          <a:off x="8716382" y="324111"/>
          <a:ext cx="3255067" cy="199322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797" name="CS ChemDraw Drawing" r:id="rId5" imgW="1929019" imgH="1180924" progId="ChemDraw.Document.6.0">
                  <p:embed/>
                </p:oleObj>
              </mc:Choice>
              <mc:Fallback>
                <p:oleObj name="CS ChemDraw Drawing" r:id="rId5" imgW="1929019" imgH="1180924" progId="ChemDraw.Document.6.0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8716382" y="324111"/>
                        <a:ext cx="3255067" cy="199322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>
            <a:extLst>
              <a:ext uri="{FF2B5EF4-FFF2-40B4-BE49-F238E27FC236}">
                <a16:creationId xmlns:a16="http://schemas.microsoft.com/office/drawing/2014/main" id="{89BCEF4A-E8FA-4D9F-8CA5-4F688F0586F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60537478"/>
              </p:ext>
            </p:extLst>
          </p:nvPr>
        </p:nvGraphicFramePr>
        <p:xfrm>
          <a:off x="4689347" y="3570029"/>
          <a:ext cx="347080" cy="34989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798" name="CS ChemDraw Drawing" r:id="rId7" imgW="587899" imgH="592642" progId="ChemDraw.Document.6.0">
                  <p:embed/>
                </p:oleObj>
              </mc:Choice>
              <mc:Fallback>
                <p:oleObj name="CS ChemDraw Drawing" r:id="rId7" imgW="587899" imgH="592642" progId="ChemDraw.Document.6.0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689347" y="3570029"/>
                        <a:ext cx="347080" cy="34989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对象 15">
            <a:extLst>
              <a:ext uri="{FF2B5EF4-FFF2-40B4-BE49-F238E27FC236}">
                <a16:creationId xmlns:a16="http://schemas.microsoft.com/office/drawing/2014/main" id="{F3BC4BA3-7371-4656-9622-8FCA2F06851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14816569"/>
              </p:ext>
            </p:extLst>
          </p:nvPr>
        </p:nvGraphicFramePr>
        <p:xfrm>
          <a:off x="785099" y="5162693"/>
          <a:ext cx="3944332" cy="136374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799" name="CS ChemDraw Drawing" r:id="rId9" imgW="2259663" imgH="781733" progId="ChemDraw.Document.6.0">
                  <p:embed/>
                </p:oleObj>
              </mc:Choice>
              <mc:Fallback>
                <p:oleObj name="CS ChemDraw Drawing" r:id="rId9" imgW="2259663" imgH="781733" progId="ChemDraw.Document.6.0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785099" y="5162693"/>
                        <a:ext cx="3944332" cy="136374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对象 19">
            <a:extLst>
              <a:ext uri="{FF2B5EF4-FFF2-40B4-BE49-F238E27FC236}">
                <a16:creationId xmlns:a16="http://schemas.microsoft.com/office/drawing/2014/main" id="{4DEC2EB7-FF11-474D-ABE3-933B9FE035D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69002554"/>
              </p:ext>
            </p:extLst>
          </p:nvPr>
        </p:nvGraphicFramePr>
        <p:xfrm>
          <a:off x="3071664" y="5416991"/>
          <a:ext cx="356675" cy="35859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800" name="CS ChemDraw Drawing" r:id="rId11" imgW="589477" imgH="592642" progId="ChemDraw.Document.6.0">
                  <p:embed/>
                </p:oleObj>
              </mc:Choice>
              <mc:Fallback>
                <p:oleObj name="CS ChemDraw Drawing" r:id="rId11" imgW="589477" imgH="592642" progId="ChemDraw.Document.6.0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3071664" y="5416991"/>
                        <a:ext cx="356675" cy="35859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" name="对象 22">
            <a:extLst>
              <a:ext uri="{FF2B5EF4-FFF2-40B4-BE49-F238E27FC236}">
                <a16:creationId xmlns:a16="http://schemas.microsoft.com/office/drawing/2014/main" id="{950D7057-CBEE-4535-8CC6-984446514E7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69475113"/>
              </p:ext>
            </p:extLst>
          </p:nvPr>
        </p:nvGraphicFramePr>
        <p:xfrm>
          <a:off x="5771602" y="3353766"/>
          <a:ext cx="2498395" cy="164534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801" name="CS ChemDraw Drawing" r:id="rId13" imgW="1631913" imgH="1075477" progId="ChemDraw.Document.6.0">
                  <p:embed/>
                </p:oleObj>
              </mc:Choice>
              <mc:Fallback>
                <p:oleObj name="CS ChemDraw Drawing" r:id="rId13" imgW="1631913" imgH="1075477" progId="ChemDraw.Document.6.0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5771602" y="3353766"/>
                        <a:ext cx="2498395" cy="164534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" name="对象 23">
            <a:extLst>
              <a:ext uri="{FF2B5EF4-FFF2-40B4-BE49-F238E27FC236}">
                <a16:creationId xmlns:a16="http://schemas.microsoft.com/office/drawing/2014/main" id="{2788184B-41B5-4E99-82BC-FE9B5AFCE4E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69055756"/>
              </p:ext>
            </p:extLst>
          </p:nvPr>
        </p:nvGraphicFramePr>
        <p:xfrm>
          <a:off x="5663954" y="5162693"/>
          <a:ext cx="3024336" cy="152290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802" name="CS ChemDraw Drawing" r:id="rId15" imgW="2011483" imgH="1013240" progId="ChemDraw.Document.6.0">
                  <p:embed/>
                </p:oleObj>
              </mc:Choice>
              <mc:Fallback>
                <p:oleObj name="CS ChemDraw Drawing" r:id="rId15" imgW="2011483" imgH="1013240" progId="ChemDraw.Document.6.0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5663954" y="5162693"/>
                        <a:ext cx="3024336" cy="152290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9</a:t>
            </a:fld>
            <a:endParaRPr lang="zh-CN" altLang="en-US"/>
          </a:p>
        </p:txBody>
      </p:sp>
      <p:sp>
        <p:nvSpPr>
          <p:cNvPr id="3" name="TextBox 2"/>
          <p:cNvSpPr txBox="1"/>
          <p:nvPr/>
        </p:nvSpPr>
        <p:spPr>
          <a:xfrm>
            <a:off x="320734" y="2330817"/>
            <a:ext cx="1131988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SzPct val="100000"/>
              <a:buFont typeface="Arial" panose="020B0604020202020204" pitchFamily="34" charset="0"/>
              <a:buChar char="•"/>
            </a:pPr>
            <a:r>
              <a:rPr lang="en-US" altLang="zh-CN" b="1" dirty="0">
                <a:latin typeface="MS Reference Sans Serif" panose="020B0604030504040204" pitchFamily="34" charset="0"/>
                <a:cs typeface="Microsoft Sans Serif" pitchFamily="34" charset="0"/>
              </a:rPr>
              <a:t>Look at the first atom of the group--the atom bonded to the asymmetric carbon.</a:t>
            </a:r>
          </a:p>
          <a:p>
            <a:pPr marL="285750" indent="-285750">
              <a:buSzPct val="100000"/>
              <a:buFont typeface="Arial" panose="020B0604020202020204" pitchFamily="34" charset="0"/>
              <a:buChar char="•"/>
            </a:pPr>
            <a:r>
              <a:rPr lang="en-US" altLang="zh-CN" b="1" dirty="0">
                <a:highlight>
                  <a:srgbClr val="FFFF00"/>
                </a:highlight>
                <a:latin typeface="MS Reference Sans Serif" panose="020B0604030504040204" pitchFamily="34" charset="0"/>
                <a:cs typeface="Microsoft Sans Serif" pitchFamily="34" charset="0"/>
              </a:rPr>
              <a:t>Atoms with higher atomic numbers receive higher priorities</a:t>
            </a:r>
            <a:r>
              <a:rPr lang="en-US" altLang="zh-CN" b="1" dirty="0">
                <a:latin typeface="MS Reference Sans Serif" panose="020B0604030504040204" pitchFamily="34" charset="0"/>
                <a:cs typeface="Microsoft Sans Serif" pitchFamily="34" charset="0"/>
              </a:rPr>
              <a:t>.</a:t>
            </a:r>
          </a:p>
          <a:p>
            <a:pPr algn="ctr">
              <a:buSzPct val="60000"/>
            </a:pPr>
            <a:r>
              <a:rPr lang="en-US" altLang="zh-CN" b="1" dirty="0">
                <a:latin typeface="MS Reference Sans Serif" panose="020B0604030504040204" pitchFamily="34" charset="0"/>
                <a:cs typeface="Microsoft Sans Serif" pitchFamily="34" charset="0"/>
              </a:rPr>
              <a:t>I &gt; Br &gt; Cl &gt; S &gt; F &gt; O &gt; N &gt; C &gt; H</a:t>
            </a:r>
            <a:endParaRPr lang="zh-CN" altLang="en-US" b="1" dirty="0">
              <a:latin typeface="MS Reference Sans Serif" panose="020B0604030504040204" pitchFamily="34" charset="0"/>
              <a:cs typeface="Microsoft Sans Serif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20734" y="3300503"/>
            <a:ext cx="116799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SzPct val="100000"/>
              <a:buFont typeface="Arial" panose="020B0604020202020204" pitchFamily="34" charset="0"/>
              <a:buChar char="•"/>
            </a:pPr>
            <a:r>
              <a:rPr lang="en-US" altLang="zh-CN" b="1" dirty="0">
                <a:highlight>
                  <a:srgbClr val="00FF00"/>
                </a:highlight>
                <a:latin typeface="MS Reference Sans Serif" panose="020B0604030504040204" pitchFamily="34" charset="0"/>
                <a:cs typeface="Microsoft Sans Serif" pitchFamily="34" charset="0"/>
              </a:rPr>
              <a:t>In case of ties</a:t>
            </a:r>
            <a:r>
              <a:rPr lang="en-US" altLang="zh-CN" b="1" dirty="0">
                <a:latin typeface="MS Reference Sans Serif" panose="020B0604030504040204" pitchFamily="34" charset="0"/>
                <a:cs typeface="Microsoft Sans Serif" pitchFamily="34" charset="0"/>
              </a:rPr>
              <a:t>, </a:t>
            </a:r>
            <a:r>
              <a:rPr lang="en-US" altLang="zh-CN" b="1" dirty="0">
                <a:highlight>
                  <a:srgbClr val="FFFF00"/>
                </a:highlight>
                <a:latin typeface="MS Reference Sans Serif" panose="020B0604030504040204" pitchFamily="34" charset="0"/>
                <a:cs typeface="Microsoft Sans Serif" pitchFamily="34" charset="0"/>
              </a:rPr>
              <a:t>use the next atoms along the chain of each group as tiebreakers</a:t>
            </a:r>
            <a:r>
              <a:rPr lang="en-US" altLang="zh-CN" b="1" dirty="0">
                <a:latin typeface="MS Reference Sans Serif" panose="020B0604030504040204" pitchFamily="34" charset="0"/>
                <a:cs typeface="Microsoft Sans Serif" pitchFamily="34" charset="0"/>
              </a:rPr>
              <a:t>. </a:t>
            </a:r>
            <a:r>
              <a:rPr lang="en-US" altLang="zh-CN" b="1" dirty="0">
                <a:highlight>
                  <a:srgbClr val="00FFFF"/>
                </a:highlight>
                <a:latin typeface="MS Reference Sans Serif" panose="020B0604030504040204" pitchFamily="34" charset="0"/>
                <a:cs typeface="Microsoft Sans Serif" pitchFamily="34" charset="0"/>
              </a:rPr>
              <a:t>One high-priority atom takes priority over any number of lower-priority atoms</a:t>
            </a:r>
            <a:r>
              <a:rPr lang="en-US" altLang="zh-CN" b="1" dirty="0">
                <a:latin typeface="MS Reference Sans Serif" panose="020B0604030504040204" pitchFamily="34" charset="0"/>
                <a:cs typeface="Microsoft Sans Serif" pitchFamily="34" charset="0"/>
              </a:rPr>
              <a:t>.</a:t>
            </a:r>
          </a:p>
        </p:txBody>
      </p:sp>
      <p:graphicFrame>
        <p:nvGraphicFramePr>
          <p:cNvPr id="7" name="对象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38628060"/>
              </p:ext>
            </p:extLst>
          </p:nvPr>
        </p:nvGraphicFramePr>
        <p:xfrm>
          <a:off x="3175224" y="4006675"/>
          <a:ext cx="6984776" cy="95395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9206" name="CS ChemDraw Drawing" r:id="rId3" imgW="4079783" imgH="557361" progId="ChemDraw.Document.6.0">
                  <p:embed/>
                </p:oleObj>
              </mc:Choice>
              <mc:Fallback>
                <p:oleObj name="CS ChemDraw Drawing" r:id="rId3" imgW="4079783" imgH="557361" progId="ChemDraw.Document.6.0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175224" y="4006675"/>
                        <a:ext cx="6984776" cy="95395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矩形 3"/>
          <p:cNvSpPr/>
          <p:nvPr/>
        </p:nvSpPr>
        <p:spPr>
          <a:xfrm>
            <a:off x="0" y="193095"/>
            <a:ext cx="4045018" cy="40011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none">
            <a:spAutoFit/>
          </a:bodyPr>
          <a:lstStyle/>
          <a:p>
            <a:r>
              <a:rPr lang="en-US" altLang="zh-CN" sz="2000" b="1" dirty="0">
                <a:latin typeface="MS Reference Sans Serif" panose="020B0604030504040204" pitchFamily="34" charset="0"/>
                <a:cs typeface="Microsoft Sans Serif" pitchFamily="34" charset="0"/>
              </a:rPr>
              <a:t>3-3 The CIP priority of groups</a:t>
            </a:r>
            <a:endParaRPr lang="en-US" altLang="zh-CN" sz="2000" b="1" dirty="0">
              <a:solidFill>
                <a:srgbClr val="0000FF"/>
              </a:solidFill>
              <a:latin typeface="MS Reference Sans Serif" panose="020B0604030504040204" pitchFamily="34" charset="0"/>
              <a:cs typeface="Microsoft Sans Serif" pitchFamily="34" charset="0"/>
            </a:endParaRPr>
          </a:p>
        </p:txBody>
      </p:sp>
      <p:graphicFrame>
        <p:nvGraphicFramePr>
          <p:cNvPr id="10" name="对象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19604608"/>
              </p:ext>
            </p:extLst>
          </p:nvPr>
        </p:nvGraphicFramePr>
        <p:xfrm>
          <a:off x="335518" y="4415644"/>
          <a:ext cx="2359957" cy="232819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9207" name="CS ChemDraw Drawing" r:id="rId5" imgW="1532878" imgH="1513121" progId="ChemDraw.Document.6.0">
                  <p:embed/>
                </p:oleObj>
              </mc:Choice>
              <mc:Fallback>
                <p:oleObj name="CS ChemDraw Drawing" r:id="rId5" imgW="1532878" imgH="1513121" progId="ChemDraw.Document.6.0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35518" y="4415644"/>
                        <a:ext cx="2359957" cy="232819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>
            <a:extLst>
              <a:ext uri="{FF2B5EF4-FFF2-40B4-BE49-F238E27FC236}">
                <a16:creationId xmlns:a16="http://schemas.microsoft.com/office/drawing/2014/main" id="{7465A116-0376-4A3F-B87F-01DEC01B060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17031728"/>
              </p:ext>
            </p:extLst>
          </p:nvPr>
        </p:nvGraphicFramePr>
        <p:xfrm>
          <a:off x="3143672" y="641356"/>
          <a:ext cx="6912768" cy="167005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9208" name="CS ChemDraw Drawing" r:id="rId7" imgW="4152777" imgH="1002537" progId="ChemDraw.Document.6.0">
                  <p:embed/>
                </p:oleObj>
              </mc:Choice>
              <mc:Fallback>
                <p:oleObj name="CS ChemDraw Drawing" r:id="rId7" imgW="4152777" imgH="1002537" progId="ChemDraw.Document.6.0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3143672" y="641356"/>
                        <a:ext cx="6912768" cy="167005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>
            <a:extLst>
              <a:ext uri="{FF2B5EF4-FFF2-40B4-BE49-F238E27FC236}">
                <a16:creationId xmlns:a16="http://schemas.microsoft.com/office/drawing/2014/main" id="{BE7A0215-BDF6-4046-AC4A-518382F0974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83085472"/>
              </p:ext>
            </p:extLst>
          </p:nvPr>
        </p:nvGraphicFramePr>
        <p:xfrm>
          <a:off x="3454401" y="5076037"/>
          <a:ext cx="6994370" cy="158886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9209" name="CS ChemDraw Drawing" r:id="rId9" imgW="4640062" imgH="1054071" progId="ChemDraw.Document.6.0">
                  <p:embed/>
                </p:oleObj>
              </mc:Choice>
              <mc:Fallback>
                <p:oleObj name="CS ChemDraw Drawing" r:id="rId9" imgW="4640062" imgH="1054071" progId="ChemDraw.Document.6.0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3454401" y="5076037"/>
                        <a:ext cx="6994370" cy="158886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10</a:t>
            </a:fld>
            <a:endParaRPr lang="zh-CN" altLang="en-US"/>
          </a:p>
        </p:txBody>
      </p:sp>
      <p:sp>
        <p:nvSpPr>
          <p:cNvPr id="6" name="TextBox 5"/>
          <p:cNvSpPr txBox="1"/>
          <p:nvPr/>
        </p:nvSpPr>
        <p:spPr>
          <a:xfrm>
            <a:off x="263352" y="136524"/>
            <a:ext cx="1144927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SzPct val="100000"/>
              <a:buFont typeface="Arial" panose="020B0604020202020204" pitchFamily="34" charset="0"/>
              <a:buChar char="•"/>
            </a:pPr>
            <a:r>
              <a:rPr lang="en-US" altLang="zh-CN" b="1" dirty="0">
                <a:latin typeface="MS Reference Sans Serif" panose="020B0604030504040204" pitchFamily="34" charset="0"/>
                <a:cs typeface="Microsoft Sans Serif" pitchFamily="34" charset="0"/>
              </a:rPr>
              <a:t>Treat double and triple bonds as if each were a bond to a separate atom. For this method, imagine that each pi bond is broken and the atoms at both ends duplicated. Note that when you break a bond, you always add two imaginary atoms.</a:t>
            </a: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80079818"/>
              </p:ext>
            </p:extLst>
          </p:nvPr>
        </p:nvGraphicFramePr>
        <p:xfrm>
          <a:off x="3638884" y="1194123"/>
          <a:ext cx="5544616" cy="207804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0941" name="CS ChemDraw Drawing" r:id="rId3" imgW="3701397" imgH="1388249" progId="ChemDraw.Document.6.0">
                  <p:embed/>
                </p:oleObj>
              </mc:Choice>
              <mc:Fallback>
                <p:oleObj name="CS ChemDraw Drawing" r:id="rId3" imgW="3701397" imgH="1388249" progId="ChemDraw.Document.6.0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638884" y="1194123"/>
                        <a:ext cx="5544616" cy="207804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TextBox 4">
            <a:extLst>
              <a:ext uri="{FF2B5EF4-FFF2-40B4-BE49-F238E27FC236}">
                <a16:creationId xmlns:a16="http://schemas.microsoft.com/office/drawing/2014/main" id="{5075DEFC-4D2B-4108-935F-DDA38437FC28}"/>
              </a:ext>
            </a:extLst>
          </p:cNvPr>
          <p:cNvSpPr txBox="1"/>
          <p:nvPr/>
        </p:nvSpPr>
        <p:spPr>
          <a:xfrm>
            <a:off x="263352" y="3384937"/>
            <a:ext cx="1110302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altLang="zh-CN" b="1" dirty="0">
                <a:latin typeface="MS Reference Sans Serif" panose="020B0604030504040204" pitchFamily="34" charset="0"/>
                <a:cs typeface="Microsoft Sans Serif" pitchFamily="34" charset="0"/>
              </a:rPr>
              <a:t>Notice that </a:t>
            </a:r>
            <a:r>
              <a:rPr lang="en-US" altLang="zh-CN" b="1" dirty="0">
                <a:highlight>
                  <a:srgbClr val="FFFF00"/>
                </a:highlight>
                <a:latin typeface="MS Reference Sans Serif" panose="020B0604030504040204" pitchFamily="34" charset="0"/>
                <a:cs typeface="Microsoft Sans Serif" pitchFamily="34" charset="0"/>
              </a:rPr>
              <a:t>interchanging any two groups on an asymmetric carbon atom</a:t>
            </a:r>
            <a:r>
              <a:rPr lang="en-US" altLang="zh-CN" b="1" dirty="0">
                <a:latin typeface="MS Reference Sans Serif" panose="020B0604030504040204" pitchFamily="34" charset="0"/>
                <a:cs typeface="Microsoft Sans Serif" pitchFamily="34" charset="0"/>
              </a:rPr>
              <a:t> </a:t>
            </a:r>
            <a:r>
              <a:rPr lang="en-US" altLang="zh-CN" b="1" dirty="0">
                <a:highlight>
                  <a:srgbClr val="00FFFF"/>
                </a:highlight>
                <a:latin typeface="MS Reference Sans Serif" panose="020B0604030504040204" pitchFamily="34" charset="0"/>
                <a:cs typeface="Microsoft Sans Serif" pitchFamily="34" charset="0"/>
              </a:rPr>
              <a:t>inverts its configuration.</a:t>
            </a:r>
            <a:endParaRPr lang="zh-CN" altLang="en-US" b="1" dirty="0">
              <a:highlight>
                <a:srgbClr val="00FFFF"/>
              </a:highlight>
              <a:latin typeface="MS Reference Sans Serif" panose="020B0604030504040204" pitchFamily="34" charset="0"/>
              <a:cs typeface="Microsoft Sans Serif" pitchFamily="34" charset="0"/>
            </a:endParaRPr>
          </a:p>
        </p:txBody>
      </p:sp>
      <p:graphicFrame>
        <p:nvGraphicFramePr>
          <p:cNvPr id="11" name="对象 10">
            <a:extLst>
              <a:ext uri="{FF2B5EF4-FFF2-40B4-BE49-F238E27FC236}">
                <a16:creationId xmlns:a16="http://schemas.microsoft.com/office/drawing/2014/main" id="{D9C1B20D-A09C-4708-AA34-4C2E8832651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08099646"/>
              </p:ext>
            </p:extLst>
          </p:nvPr>
        </p:nvGraphicFramePr>
        <p:xfrm>
          <a:off x="3071664" y="3910620"/>
          <a:ext cx="6437820" cy="277847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0942" name="CS ChemDraw Drawing" r:id="rId5" imgW="4363079" imgH="1883373" progId="ChemDraw.Document.6.0">
                  <p:embed/>
                </p:oleObj>
              </mc:Choice>
              <mc:Fallback>
                <p:oleObj name="CS ChemDraw Drawing" r:id="rId5" imgW="4363079" imgH="1883373" progId="ChemDraw.Document.6.0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071664" y="3910620"/>
                        <a:ext cx="6437820" cy="277847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11</a:t>
            </a:fld>
            <a:endParaRPr lang="zh-CN" altLang="en-US"/>
          </a:p>
        </p:txBody>
      </p:sp>
      <p:sp>
        <p:nvSpPr>
          <p:cNvPr id="3" name="矩形 2"/>
          <p:cNvSpPr/>
          <p:nvPr/>
        </p:nvSpPr>
        <p:spPr>
          <a:xfrm>
            <a:off x="0" y="173904"/>
            <a:ext cx="5962081" cy="461665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solidFill>
              <a:schemeClr val="accent6">
                <a:lumMod val="40000"/>
                <a:lumOff val="60000"/>
              </a:schemeClr>
            </a:solidFill>
          </a:ln>
        </p:spPr>
        <p:txBody>
          <a:bodyPr wrap="none">
            <a:spAutoFit/>
          </a:bodyPr>
          <a:lstStyle/>
          <a:p>
            <a:r>
              <a:rPr lang="en-US" altLang="zh-CN" sz="2400" b="1" dirty="0">
                <a:latin typeface="MS Reference Sans Serif" panose="020B0604030504040204" pitchFamily="34" charset="0"/>
                <a:cs typeface="Microsoft Sans Serif" pitchFamily="34" charset="0"/>
              </a:rPr>
              <a:t>4. Physical Properties of Enantiomers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282106" y="1364938"/>
            <a:ext cx="117185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b="1" dirty="0">
                <a:highlight>
                  <a:srgbClr val="FFFF00"/>
                </a:highlight>
                <a:latin typeface="MS Reference Sans Serif" panose="020B060403050404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Enantiomers</a:t>
            </a:r>
            <a:r>
              <a:rPr lang="en-US" altLang="zh-CN" b="1" dirty="0">
                <a:latin typeface="MS Reference Sans Serif" panose="020B060403050404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 have  many </a:t>
            </a:r>
            <a:r>
              <a:rPr lang="en-US" altLang="zh-CN" b="1" dirty="0">
                <a:highlight>
                  <a:srgbClr val="00FF00"/>
                </a:highlight>
                <a:latin typeface="MS Reference Sans Serif" panose="020B060403050404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identical</a:t>
            </a:r>
            <a:r>
              <a:rPr lang="en-US" altLang="zh-CN" b="1" dirty="0">
                <a:latin typeface="MS Reference Sans Serif" panose="020B060403050404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 physical properties: </a:t>
            </a:r>
            <a:r>
              <a:rPr lang="en-US" altLang="zh-CN" b="1" dirty="0">
                <a:highlight>
                  <a:srgbClr val="00FF00"/>
                </a:highlight>
                <a:latin typeface="MS Reference Sans Serif" panose="020B060403050404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boiling points, melting points, solubilities, densities,</a:t>
            </a:r>
            <a:r>
              <a:rPr lang="en-US" altLang="zh-CN" b="1" dirty="0">
                <a:latin typeface="MS Reference Sans Serif" panose="020B060403050404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 p</a:t>
            </a:r>
            <a:r>
              <a:rPr lang="en-US" altLang="zh-CN" b="1" i="1" dirty="0">
                <a:latin typeface="MS Reference Sans Serif" panose="020B060403050404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K</a:t>
            </a:r>
            <a:r>
              <a:rPr lang="en-US" altLang="zh-CN" b="1" baseline="-25000" dirty="0">
                <a:latin typeface="MS Reference Sans Serif" panose="020B060403050404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a</a:t>
            </a:r>
            <a:r>
              <a:rPr lang="en-US" altLang="zh-CN" b="1" dirty="0">
                <a:latin typeface="MS Reference Sans Serif" panose="020B060403050404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, etc. 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8B3A4ED0-B296-4D37-AAC7-335DF64891FB}"/>
              </a:ext>
            </a:extLst>
          </p:cNvPr>
          <p:cNvSpPr txBox="1"/>
          <p:nvPr/>
        </p:nvSpPr>
        <p:spPr>
          <a:xfrm>
            <a:off x="282106" y="5690674"/>
            <a:ext cx="1115530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b="1" dirty="0">
                <a:latin typeface="MS Reference Sans Serif" panose="020B060403050404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Enantiomeric compounds </a:t>
            </a:r>
            <a:r>
              <a:rPr lang="en-US" altLang="zh-CN" b="1" dirty="0">
                <a:highlight>
                  <a:srgbClr val="FFFF00"/>
                </a:highlight>
                <a:latin typeface="MS Reference Sans Serif" panose="020B060403050404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rotate the plane of polarized light </a:t>
            </a:r>
            <a:r>
              <a:rPr lang="en-US" altLang="zh-CN" b="1" dirty="0">
                <a:latin typeface="MS Reference Sans Serif" panose="020B060403050404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by </a:t>
            </a:r>
            <a:r>
              <a:rPr lang="en-US" altLang="zh-CN" b="1" dirty="0">
                <a:highlight>
                  <a:srgbClr val="00FFFF"/>
                </a:highlight>
                <a:latin typeface="MS Reference Sans Serif" panose="020B060403050404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exactly the same amount</a:t>
            </a:r>
            <a:r>
              <a:rPr lang="en-US" altLang="zh-CN" b="1" dirty="0">
                <a:latin typeface="MS Reference Sans Serif" panose="020B060403050404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 </a:t>
            </a:r>
            <a:r>
              <a:rPr lang="en-US" altLang="zh-CN" b="1" dirty="0">
                <a:highlight>
                  <a:srgbClr val="00FF00"/>
                </a:highlight>
                <a:latin typeface="MS Reference Sans Serif" panose="020B060403050404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but in opposite directions</a:t>
            </a:r>
            <a:r>
              <a:rPr lang="en-US" altLang="zh-CN" b="1" dirty="0">
                <a:latin typeface="MS Reference Sans Serif" panose="020B060403050404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.</a:t>
            </a:r>
          </a:p>
        </p:txBody>
      </p:sp>
      <p:graphicFrame>
        <p:nvGraphicFramePr>
          <p:cNvPr id="15" name="对象 14">
            <a:extLst>
              <a:ext uri="{FF2B5EF4-FFF2-40B4-BE49-F238E27FC236}">
                <a16:creationId xmlns:a16="http://schemas.microsoft.com/office/drawing/2014/main" id="{1F37A316-8179-43F0-903A-07A81704F66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36451838"/>
              </p:ext>
            </p:extLst>
          </p:nvPr>
        </p:nvGraphicFramePr>
        <p:xfrm>
          <a:off x="2973235" y="2542321"/>
          <a:ext cx="5544616" cy="219692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8046" name="CS ChemDraw Drawing" r:id="rId3" imgW="2944230" imgH="1167049" progId="ChemDraw.Document.6.0">
                  <p:embed/>
                </p:oleObj>
              </mc:Choice>
              <mc:Fallback>
                <p:oleObj name="CS ChemDraw Drawing" r:id="rId3" imgW="2944230" imgH="1167049" progId="ChemDraw.Document.6.0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973235" y="2542321"/>
                        <a:ext cx="5544616" cy="219692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文本框 18">
            <a:extLst>
              <a:ext uri="{FF2B5EF4-FFF2-40B4-BE49-F238E27FC236}">
                <a16:creationId xmlns:a16="http://schemas.microsoft.com/office/drawing/2014/main" id="{385A8444-C929-4F3D-A4B7-E574E6FF1A17}"/>
              </a:ext>
            </a:extLst>
          </p:cNvPr>
          <p:cNvSpPr txBox="1"/>
          <p:nvPr/>
        </p:nvSpPr>
        <p:spPr>
          <a:xfrm>
            <a:off x="0" y="844160"/>
            <a:ext cx="4335546" cy="40011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altLang="zh-CN" sz="2000" b="1" dirty="0">
                <a:latin typeface="MS Reference Sans Serif" panose="020B060403050404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4-1 Identical Physical Properties</a:t>
            </a:r>
            <a:endParaRPr lang="zh-CN" altLang="en-US" sz="2000" b="1" dirty="0">
              <a:latin typeface="MS Reference Sans Serif" panose="020B0604030504040204" pitchFamily="34" charset="0"/>
              <a:cs typeface="Microsoft Sans Serif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2739697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2509FF4B-C1D6-4AA5-8D06-821FE83383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12</a:t>
            </a:fld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AD7495FB-DF46-4CDA-ADA7-EB508C938819}"/>
              </a:ext>
            </a:extLst>
          </p:cNvPr>
          <p:cNvSpPr/>
          <p:nvPr/>
        </p:nvSpPr>
        <p:spPr>
          <a:xfrm>
            <a:off x="-96688" y="868236"/>
            <a:ext cx="5186420" cy="40011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r>
              <a:rPr lang="en-US" altLang="zh-CN" sz="2000" b="1" dirty="0">
                <a:highlight>
                  <a:srgbClr val="C0C0C0"/>
                </a:highlight>
                <a:latin typeface="MS Reference Sans Serif" panose="020B0604030504040204" pitchFamily="34" charset="0"/>
                <a:cs typeface="Microsoft Sans Serif" pitchFamily="34" charset="0"/>
              </a:rPr>
              <a:t>4-2-1 Rotation of Plane-Polarized Light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B836A071-B89D-4DB6-BDEA-3C8D4C087132}"/>
              </a:ext>
            </a:extLst>
          </p:cNvPr>
          <p:cNvSpPr/>
          <p:nvPr/>
        </p:nvSpPr>
        <p:spPr>
          <a:xfrm>
            <a:off x="210307" y="1426278"/>
            <a:ext cx="1015312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b="1" dirty="0">
                <a:latin typeface="MS Reference Sans Serif" panose="020B0604030504040204" pitchFamily="34" charset="0"/>
                <a:cs typeface="Microsoft Sans Serif" pitchFamily="34" charset="0"/>
              </a:rPr>
              <a:t>Plane-Polarized Light is composed of waves that vibrate in only one plane.</a:t>
            </a:r>
            <a:endParaRPr lang="zh-CN" altLang="en-US" dirty="0">
              <a:latin typeface="MS Reference Sans Serif" panose="020B0604030504040204" pitchFamily="34" charset="0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74D5523-1C7F-44C0-AF1C-98E98BE564B7}"/>
              </a:ext>
            </a:extLst>
          </p:cNvPr>
          <p:cNvSpPr txBox="1"/>
          <p:nvPr/>
        </p:nvSpPr>
        <p:spPr>
          <a:xfrm>
            <a:off x="-14809" y="377001"/>
            <a:ext cx="2653612" cy="40011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altLang="zh-CN" sz="2000" b="1" dirty="0">
                <a:latin typeface="MS Reference Sans Serif" panose="020B060403050404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4-2 Optical Activity</a:t>
            </a:r>
            <a:endParaRPr lang="zh-CN" altLang="en-US" sz="2000" b="1" dirty="0">
              <a:latin typeface="MS Reference Sans Serif" panose="020B060403050404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10" name="TextBox 2">
            <a:extLst>
              <a:ext uri="{FF2B5EF4-FFF2-40B4-BE49-F238E27FC236}">
                <a16:creationId xmlns:a16="http://schemas.microsoft.com/office/drawing/2014/main" id="{EAB3ACA8-0A76-4DC1-B37F-3B6FB42639DA}"/>
              </a:ext>
            </a:extLst>
          </p:cNvPr>
          <p:cNvSpPr txBox="1"/>
          <p:nvPr/>
        </p:nvSpPr>
        <p:spPr>
          <a:xfrm>
            <a:off x="218360" y="5612466"/>
            <a:ext cx="1171028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b="1" dirty="0">
                <a:latin typeface="MS Reference Sans Serif" panose="020B0604030504040204" pitchFamily="34" charset="0"/>
                <a:cs typeface="Microsoft Sans Serif" pitchFamily="34" charset="0"/>
              </a:rPr>
              <a:t>When plane-polarized light passes through a solution containing a chiral compound, </a:t>
            </a:r>
            <a:r>
              <a:rPr lang="en-US" altLang="zh-CN" b="1" dirty="0">
                <a:highlight>
                  <a:srgbClr val="FFFF00"/>
                </a:highlight>
                <a:latin typeface="MS Reference Sans Serif" panose="020B0604030504040204" pitchFamily="34" charset="0"/>
                <a:cs typeface="Microsoft Sans Serif" pitchFamily="34" charset="0"/>
              </a:rPr>
              <a:t>the chiral compound causes the plane of vibration to rotate</a:t>
            </a:r>
            <a:r>
              <a:rPr lang="en-US" altLang="zh-CN" b="1" dirty="0">
                <a:latin typeface="MS Reference Sans Serif" panose="020B0604030504040204" pitchFamily="34" charset="0"/>
                <a:cs typeface="Microsoft Sans Serif" pitchFamily="34" charset="0"/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b="1" dirty="0">
                <a:highlight>
                  <a:srgbClr val="00FFFF"/>
                </a:highlight>
                <a:latin typeface="MS Reference Sans Serif" panose="020B0604030504040204" pitchFamily="34" charset="0"/>
                <a:cs typeface="Microsoft Sans Serif" pitchFamily="34" charset="0"/>
              </a:rPr>
              <a:t>The observed rotation</a:t>
            </a:r>
            <a:r>
              <a:rPr lang="en-US" altLang="zh-CN" b="1" dirty="0">
                <a:latin typeface="MS Reference Sans Serif" panose="020B0604030504040204" pitchFamily="34" charset="0"/>
                <a:cs typeface="Microsoft Sans Serif" pitchFamily="34" charset="0"/>
              </a:rPr>
              <a:t> is symbolized by </a:t>
            </a:r>
            <a:r>
              <a:rPr lang="en-US" altLang="zh-CN" b="1" dirty="0">
                <a:highlight>
                  <a:srgbClr val="00FFFF"/>
                </a:highlight>
                <a:latin typeface="MS Reference Sans Serif" panose="020B0604030504040204" pitchFamily="34" charset="0"/>
                <a:cs typeface="Microsoft Sans Serif" pitchFamily="34" charset="0"/>
                <a:sym typeface="Symbol" panose="05050102010706020507" pitchFamily="18" charset="2"/>
              </a:rPr>
              <a:t></a:t>
            </a:r>
            <a:r>
              <a:rPr lang="en-US" altLang="zh-CN" b="1" dirty="0">
                <a:latin typeface="MS Reference Sans Serif" panose="020B0604030504040204" pitchFamily="34" charset="0"/>
                <a:cs typeface="Microsoft Sans Serif" pitchFamily="34" charset="0"/>
                <a:sym typeface="Symbol" panose="05050102010706020507" pitchFamily="18" charset="2"/>
              </a:rPr>
              <a:t>.</a:t>
            </a:r>
            <a:endParaRPr lang="en-US" altLang="zh-CN" b="1" dirty="0">
              <a:latin typeface="MS Reference Sans Serif" panose="020B0604030504040204" pitchFamily="34" charset="0"/>
              <a:cs typeface="Microsoft Sans Serif" pitchFamily="34" charset="0"/>
            </a:endParaRPr>
          </a:p>
        </p:txBody>
      </p:sp>
      <p:sp>
        <p:nvSpPr>
          <p:cNvPr id="19" name="TextBox 5">
            <a:extLst>
              <a:ext uri="{FF2B5EF4-FFF2-40B4-BE49-F238E27FC236}">
                <a16:creationId xmlns:a16="http://schemas.microsoft.com/office/drawing/2014/main" id="{A91ECA3E-021C-4D43-85DC-38ED6996DE08}"/>
              </a:ext>
            </a:extLst>
          </p:cNvPr>
          <p:cNvSpPr txBox="1"/>
          <p:nvPr/>
        </p:nvSpPr>
        <p:spPr>
          <a:xfrm>
            <a:off x="5933623" y="2551407"/>
            <a:ext cx="204718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rgbClr val="FF0000"/>
                </a:solidFill>
                <a:ea typeface="Microsoft Sans Serif" panose="020B0604020202020204" pitchFamily="34" charset="0"/>
                <a:cs typeface="Microsoft Sans Serif" panose="020B0604020202020204" pitchFamily="34" charset="0"/>
              </a:rPr>
              <a:t>sample cell containing a chiral molecule</a:t>
            </a:r>
            <a:endParaRPr lang="zh-CN" altLang="en-US" b="1" dirty="0">
              <a:solidFill>
                <a:srgbClr val="FF0000"/>
              </a:solidFill>
              <a:cs typeface="Microsoft Sans Serif" panose="020B0604020202020204" pitchFamily="34" charset="0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F166351D-B879-45CF-9AD3-AC9017F928C0}"/>
              </a:ext>
            </a:extLst>
          </p:cNvPr>
          <p:cNvSpPr txBox="1"/>
          <p:nvPr/>
        </p:nvSpPr>
        <p:spPr>
          <a:xfrm>
            <a:off x="2059554" y="3474737"/>
            <a:ext cx="188204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/>
              <a:t>waves vibrating in all directions</a:t>
            </a:r>
            <a:endParaRPr lang="zh-CN" altLang="en-US" sz="2000" b="1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C940E179-1668-43BA-8143-8EB00CCA1033}"/>
              </a:ext>
            </a:extLst>
          </p:cNvPr>
          <p:cNvSpPr txBox="1"/>
          <p:nvPr/>
        </p:nvSpPr>
        <p:spPr>
          <a:xfrm>
            <a:off x="4367808" y="4152336"/>
            <a:ext cx="201622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/>
              <a:t>waves vibrating in a single plane</a:t>
            </a:r>
            <a:endParaRPr lang="zh-CN" altLang="en-US" sz="2000" b="1" dirty="0"/>
          </a:p>
        </p:txBody>
      </p:sp>
      <p:graphicFrame>
        <p:nvGraphicFramePr>
          <p:cNvPr id="8" name="对象 7">
            <a:extLst>
              <a:ext uri="{FF2B5EF4-FFF2-40B4-BE49-F238E27FC236}">
                <a16:creationId xmlns:a16="http://schemas.microsoft.com/office/drawing/2014/main" id="{58D99797-5340-4D07-9747-0BC42A5C975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90060135"/>
              </p:ext>
            </p:extLst>
          </p:nvPr>
        </p:nvGraphicFramePr>
        <p:xfrm>
          <a:off x="1919536" y="2492896"/>
          <a:ext cx="8086335" cy="248654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786" name="CS ChemDraw Drawing" r:id="rId3" imgW="3812718" imgH="1174664" progId="ChemDraw.Document.6.0">
                  <p:embed/>
                </p:oleObj>
              </mc:Choice>
              <mc:Fallback>
                <p:oleObj name="CS ChemDraw Drawing" r:id="rId3" imgW="3812718" imgH="1174664" progId="ChemDraw.Document.6.0">
                  <p:embed/>
                  <p:pic>
                    <p:nvPicPr>
                      <p:cNvPr id="0" name="Object 7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19536" y="2492896"/>
                        <a:ext cx="8086335" cy="2486548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31998513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13</a:t>
            </a:fld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277144" y="358660"/>
            <a:ext cx="11305256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b="1" dirty="0">
                <a:highlight>
                  <a:srgbClr val="FFFF00"/>
                </a:highlight>
                <a:latin typeface="MS Reference Sans Serif" panose="020B060403050404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Rotation of the plane of polarized light </a:t>
            </a:r>
            <a:r>
              <a:rPr lang="en-US" altLang="zh-CN" b="1" dirty="0">
                <a:latin typeface="MS Reference Sans Serif" panose="020B060403050404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is called </a:t>
            </a:r>
            <a:r>
              <a:rPr lang="en-US" altLang="zh-CN" b="1" dirty="0">
                <a:highlight>
                  <a:srgbClr val="00FF00"/>
                </a:highlight>
                <a:latin typeface="MS Reference Sans Serif" panose="020B060403050404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optical activity</a:t>
            </a:r>
            <a:r>
              <a:rPr lang="en-US" altLang="zh-CN" b="1" dirty="0">
                <a:latin typeface="MS Reference Sans Serif" panose="020B060403050404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. Substances that rotate the plane of polarized light are said to be </a:t>
            </a:r>
            <a:r>
              <a:rPr lang="en-US" altLang="zh-CN" b="1" dirty="0">
                <a:highlight>
                  <a:srgbClr val="00FF00"/>
                </a:highlight>
                <a:latin typeface="MS Reference Sans Serif" panose="020B060403050404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optically active</a:t>
            </a:r>
            <a:r>
              <a:rPr lang="en-US" altLang="zh-CN" b="1" dirty="0">
                <a:latin typeface="MS Reference Sans Serif" panose="020B060403050404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b="1" dirty="0">
              <a:latin typeface="MS Reference Sans Serif" panose="020B0604030504040204" pitchFamily="34" charset="0"/>
              <a:ea typeface="Microsoft Sans Serif" panose="020B0604020202020204" pitchFamily="34" charset="0"/>
              <a:cs typeface="Microsoft Sans Serif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b="1" dirty="0">
                <a:latin typeface="MS Reference Sans Serif" panose="020B0604030504040204" pitchFamily="34" charset="0"/>
                <a:cs typeface="Microsoft Sans Serif" pitchFamily="34" charset="0"/>
              </a:rPr>
              <a:t>Compounds that </a:t>
            </a:r>
            <a:r>
              <a:rPr lang="en-US" altLang="zh-CN" b="1" dirty="0">
                <a:highlight>
                  <a:srgbClr val="FFFF00"/>
                </a:highlight>
                <a:latin typeface="MS Reference Sans Serif" panose="020B0604030504040204" pitchFamily="34" charset="0"/>
                <a:cs typeface="Microsoft Sans Serif" pitchFamily="34" charset="0"/>
              </a:rPr>
              <a:t>rotate the plane of polarized light </a:t>
            </a:r>
            <a:r>
              <a:rPr lang="en-US" altLang="zh-CN" b="1" dirty="0">
                <a:highlight>
                  <a:srgbClr val="00FFFF"/>
                </a:highlight>
                <a:latin typeface="MS Reference Sans Serif" panose="020B0604030504040204" pitchFamily="34" charset="0"/>
                <a:cs typeface="Microsoft Sans Serif" pitchFamily="34" charset="0"/>
              </a:rPr>
              <a:t>clockwise</a:t>
            </a:r>
            <a:r>
              <a:rPr lang="en-US" altLang="zh-CN" b="1" dirty="0">
                <a:latin typeface="MS Reference Sans Serif" panose="020B0604030504040204" pitchFamily="34" charset="0"/>
                <a:cs typeface="Microsoft Sans Serif" pitchFamily="34" charset="0"/>
              </a:rPr>
              <a:t> are called </a:t>
            </a:r>
            <a:r>
              <a:rPr lang="en-US" altLang="zh-CN" b="1" dirty="0">
                <a:highlight>
                  <a:srgbClr val="00FF00"/>
                </a:highlight>
                <a:latin typeface="MS Reference Sans Serif" panose="020B0604030504040204" pitchFamily="34" charset="0"/>
                <a:cs typeface="Microsoft Sans Serif" pitchFamily="34" charset="0"/>
              </a:rPr>
              <a:t>dextrorotatory</a:t>
            </a:r>
            <a:r>
              <a:rPr lang="en-US" altLang="zh-CN" b="1" dirty="0">
                <a:latin typeface="MS Reference Sans Serif" panose="020B0604030504040204" pitchFamily="34" charset="0"/>
                <a:cs typeface="Microsoft Sans Serif" pitchFamily="34" charset="0"/>
              </a:rPr>
              <a:t> (abbreviated by </a:t>
            </a:r>
            <a:r>
              <a:rPr lang="en-US" altLang="zh-CN" b="1" i="1" dirty="0">
                <a:highlight>
                  <a:srgbClr val="00FF00"/>
                </a:highlight>
                <a:latin typeface="MS Reference Sans Serif" panose="020B0604030504040204" pitchFamily="34" charset="0"/>
                <a:cs typeface="Microsoft Sans Serif" pitchFamily="34" charset="0"/>
              </a:rPr>
              <a:t>d</a:t>
            </a:r>
            <a:r>
              <a:rPr lang="en-US" altLang="zh-CN" b="1" dirty="0">
                <a:latin typeface="MS Reference Sans Serif" panose="020B0604030504040204" pitchFamily="34" charset="0"/>
                <a:cs typeface="Microsoft Sans Serif" pitchFamily="34" charset="0"/>
              </a:rPr>
              <a:t>), specified by the </a:t>
            </a:r>
            <a:r>
              <a:rPr lang="en-US" altLang="zh-CN" b="1" dirty="0">
                <a:highlight>
                  <a:srgbClr val="00FF00"/>
                </a:highlight>
                <a:latin typeface="MS Reference Sans Serif" panose="020B0604030504040204" pitchFamily="34" charset="0"/>
                <a:cs typeface="Microsoft Sans Serif" pitchFamily="34" charset="0"/>
              </a:rPr>
              <a:t>(+)</a:t>
            </a:r>
            <a:r>
              <a:rPr lang="en-US" altLang="zh-CN" b="1" dirty="0">
                <a:latin typeface="MS Reference Sans Serif" panose="020B0604030504040204" pitchFamily="34" charset="0"/>
                <a:cs typeface="Microsoft Sans Serif" pitchFamily="34" charset="0"/>
              </a:rPr>
              <a:t> sign.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b="1" dirty="0">
                <a:latin typeface="MS Reference Sans Serif" panose="020B0604030504040204" pitchFamily="34" charset="0"/>
                <a:cs typeface="Microsoft Sans Serif" pitchFamily="34" charset="0"/>
              </a:rPr>
              <a:t>Compounds that </a:t>
            </a:r>
            <a:r>
              <a:rPr lang="en-US" altLang="zh-CN" b="1" dirty="0">
                <a:highlight>
                  <a:srgbClr val="FFFF00"/>
                </a:highlight>
                <a:latin typeface="MS Reference Sans Serif" panose="020B0604030504040204" pitchFamily="34" charset="0"/>
                <a:cs typeface="Microsoft Sans Serif" pitchFamily="34" charset="0"/>
              </a:rPr>
              <a:t>rotate the plane </a:t>
            </a:r>
            <a:r>
              <a:rPr lang="en-US" altLang="zh-CN" b="1" dirty="0">
                <a:highlight>
                  <a:srgbClr val="00FFFF"/>
                </a:highlight>
                <a:latin typeface="MS Reference Sans Serif" panose="020B0604030504040204" pitchFamily="34" charset="0"/>
                <a:cs typeface="Microsoft Sans Serif" pitchFamily="34" charset="0"/>
              </a:rPr>
              <a:t>counterclockwise</a:t>
            </a:r>
            <a:r>
              <a:rPr lang="en-US" altLang="zh-CN" b="1" dirty="0">
                <a:latin typeface="MS Reference Sans Serif" panose="020B0604030504040204" pitchFamily="34" charset="0"/>
                <a:cs typeface="Microsoft Sans Serif" pitchFamily="34" charset="0"/>
              </a:rPr>
              <a:t> are called </a:t>
            </a:r>
            <a:r>
              <a:rPr lang="en-US" altLang="zh-CN" b="1" dirty="0">
                <a:highlight>
                  <a:srgbClr val="00FF00"/>
                </a:highlight>
                <a:latin typeface="MS Reference Sans Serif" panose="020B0604030504040204" pitchFamily="34" charset="0"/>
                <a:cs typeface="Microsoft Sans Serif" pitchFamily="34" charset="0"/>
              </a:rPr>
              <a:t>levorotatory</a:t>
            </a:r>
            <a:r>
              <a:rPr lang="en-US" altLang="zh-CN" b="1" dirty="0">
                <a:latin typeface="MS Reference Sans Serif" panose="020B0604030504040204" pitchFamily="34" charset="0"/>
                <a:cs typeface="Microsoft Sans Serif" pitchFamily="34" charset="0"/>
              </a:rPr>
              <a:t> (abbreviated by </a:t>
            </a:r>
            <a:r>
              <a:rPr lang="en-US" altLang="zh-CN" b="1" i="1" dirty="0">
                <a:latin typeface="MS Reference Sans Serif" panose="020B0604030504040204" pitchFamily="34" charset="0"/>
                <a:cs typeface="Microsoft Sans Serif" pitchFamily="34" charset="0"/>
              </a:rPr>
              <a:t>l</a:t>
            </a:r>
            <a:r>
              <a:rPr lang="en-US" altLang="zh-CN" b="1" dirty="0">
                <a:latin typeface="MS Reference Sans Serif" panose="020B0604030504040204" pitchFamily="34" charset="0"/>
                <a:cs typeface="Microsoft Sans Serif" pitchFamily="34" charset="0"/>
              </a:rPr>
              <a:t>), specified by the </a:t>
            </a:r>
            <a:r>
              <a:rPr lang="en-US" altLang="zh-CN" b="1" dirty="0">
                <a:highlight>
                  <a:srgbClr val="00FF00"/>
                </a:highlight>
                <a:latin typeface="MS Reference Sans Serif" panose="020B0604030504040204" pitchFamily="34" charset="0"/>
                <a:cs typeface="Microsoft Sans Serif" pitchFamily="34" charset="0"/>
              </a:rPr>
              <a:t>(-)</a:t>
            </a:r>
            <a:r>
              <a:rPr lang="en-US" altLang="zh-CN" b="1" dirty="0">
                <a:latin typeface="MS Reference Sans Serif" panose="020B0604030504040204" pitchFamily="34" charset="0"/>
                <a:cs typeface="Microsoft Sans Serif" pitchFamily="34" charset="0"/>
              </a:rPr>
              <a:t> sign.</a:t>
            </a:r>
          </a:p>
        </p:txBody>
      </p:sp>
      <p:graphicFrame>
        <p:nvGraphicFramePr>
          <p:cNvPr id="8" name="对象 7">
            <a:extLst>
              <a:ext uri="{FF2B5EF4-FFF2-40B4-BE49-F238E27FC236}">
                <a16:creationId xmlns:a16="http://schemas.microsoft.com/office/drawing/2014/main" id="{A43BE1D6-EBE2-47C5-AD41-C02C97CA368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30149269"/>
              </p:ext>
            </p:extLst>
          </p:nvPr>
        </p:nvGraphicFramePr>
        <p:xfrm>
          <a:off x="1199456" y="2947510"/>
          <a:ext cx="10029886" cy="34303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9886" name="CS ChemDraw Drawing" r:id="rId3" imgW="5606347" imgH="1917069" progId="ChemDraw.Document.6.0">
                  <p:embed/>
                </p:oleObj>
              </mc:Choice>
              <mc:Fallback>
                <p:oleObj name="CS ChemDraw Drawing" r:id="rId3" imgW="5606347" imgH="1917069" progId="ChemDraw.Document.6.0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199456" y="2947510"/>
                        <a:ext cx="10029886" cy="343038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圆角 2">
            <a:extLst>
              <a:ext uri="{FF2B5EF4-FFF2-40B4-BE49-F238E27FC236}">
                <a16:creationId xmlns:a16="http://schemas.microsoft.com/office/drawing/2014/main" id="{51884171-F593-44E4-AD4C-8D326E34C186}"/>
              </a:ext>
            </a:extLst>
          </p:cNvPr>
          <p:cNvSpPr/>
          <p:nvPr/>
        </p:nvSpPr>
        <p:spPr>
          <a:xfrm>
            <a:off x="2279575" y="3143081"/>
            <a:ext cx="7200801" cy="936690"/>
          </a:xfrm>
          <a:prstGeom prst="round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14</a:t>
            </a:fld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-96688" y="188426"/>
            <a:ext cx="3143938" cy="40011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just"/>
            <a:r>
              <a:rPr lang="en-US" altLang="zh-CN" sz="2000" b="1" dirty="0">
                <a:highlight>
                  <a:srgbClr val="C0C0C0"/>
                </a:highlight>
                <a:latin typeface="MS Reference Sans Serif" panose="020B0604030504040204" pitchFamily="34" charset="0"/>
                <a:cs typeface="Microsoft Sans Serif" pitchFamily="34" charset="0"/>
              </a:rPr>
              <a:t>4-2-2 Specific Rotation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296382" y="699561"/>
            <a:ext cx="11593288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b="1" dirty="0">
                <a:highlight>
                  <a:srgbClr val="FFFF00"/>
                </a:highlight>
                <a:latin typeface="MS Reference Sans Serif" panose="020B060403050404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Different chiral compounds </a:t>
            </a:r>
            <a:r>
              <a:rPr lang="en-US" altLang="zh-CN" b="1" dirty="0">
                <a:latin typeface="MS Reference Sans Serif" panose="020B060403050404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have </a:t>
            </a:r>
            <a:r>
              <a:rPr lang="en-US" altLang="zh-CN" b="1" dirty="0">
                <a:highlight>
                  <a:srgbClr val="FFFF00"/>
                </a:highlight>
                <a:latin typeface="MS Reference Sans Serif" panose="020B060403050404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different abilities to rotate the plane of polarized light</a:t>
            </a:r>
            <a:r>
              <a:rPr lang="en-US" altLang="zh-CN" b="1" dirty="0">
                <a:latin typeface="MS Reference Sans Serif" panose="020B060403050404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. The rotation observed depends on the concentration of the sample solution and the length of the cell, as well as the optical activity of the chiral compound.</a:t>
            </a:r>
          </a:p>
          <a:p>
            <a:pPr marL="342900" indent="-342900" algn="just">
              <a:buSzPct val="100000"/>
              <a:buFont typeface="Arial" panose="020B0604020202020204" pitchFamily="34" charset="0"/>
              <a:buChar char="•"/>
            </a:pPr>
            <a:r>
              <a:rPr lang="en-US" altLang="zh-CN" b="1" dirty="0">
                <a:latin typeface="MS Reference Sans Serif" panose="020B060403050404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To use the rotation of polarized light as </a:t>
            </a:r>
            <a:r>
              <a:rPr lang="en-US" altLang="zh-CN" b="1" dirty="0">
                <a:highlight>
                  <a:srgbClr val="00FFFF"/>
                </a:highlight>
                <a:latin typeface="MS Reference Sans Serif" panose="020B060403050404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a characteristic property of a chiral compound</a:t>
            </a:r>
            <a:r>
              <a:rPr lang="en-US" altLang="zh-CN" b="1" dirty="0">
                <a:latin typeface="MS Reference Sans Serif" panose="020B060403050404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, we must </a:t>
            </a:r>
            <a:r>
              <a:rPr lang="en-US" altLang="zh-CN" b="1" dirty="0">
                <a:highlight>
                  <a:srgbClr val="00FFFF"/>
                </a:highlight>
                <a:latin typeface="MS Reference Sans Serif" panose="020B060403050404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standardize the conditions for measurement</a:t>
            </a:r>
            <a:r>
              <a:rPr lang="en-US" altLang="zh-CN" b="1" dirty="0">
                <a:latin typeface="MS Reference Sans Serif" panose="020B060403050404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.</a:t>
            </a:r>
          </a:p>
          <a:p>
            <a:pPr marL="342900" indent="-342900" algn="just">
              <a:buSzPct val="100000"/>
              <a:buFont typeface="Arial" panose="020B0604020202020204" pitchFamily="34" charset="0"/>
              <a:buChar char="•"/>
            </a:pPr>
            <a:r>
              <a:rPr lang="en-US" altLang="zh-CN" b="1" dirty="0">
                <a:latin typeface="MS Reference Sans Serif" panose="020B060403050404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We define a chiral compound’s </a:t>
            </a:r>
            <a:r>
              <a:rPr lang="en-US" altLang="zh-CN" b="1" dirty="0">
                <a:highlight>
                  <a:srgbClr val="00FF00"/>
                </a:highlight>
                <a:latin typeface="MS Reference Sans Serif" panose="020B060403050404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specific rotation [</a:t>
            </a:r>
            <a:r>
              <a:rPr lang="en-US" altLang="zh-CN" b="1" dirty="0">
                <a:highlight>
                  <a:srgbClr val="00FF00"/>
                </a:highlight>
                <a:latin typeface="MS Reference Sans Serif" panose="020B060403050404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  <a:sym typeface="Symbol"/>
              </a:rPr>
              <a:t>]</a:t>
            </a:r>
            <a:r>
              <a:rPr lang="en-US" altLang="zh-CN" b="1" dirty="0">
                <a:latin typeface="MS Reference Sans Serif" panose="020B060403050404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  <a:sym typeface="Symbol"/>
              </a:rPr>
              <a:t> as the rotation found using a </a:t>
            </a:r>
            <a:r>
              <a:rPr lang="en-US" altLang="zh-CN" b="1" dirty="0">
                <a:highlight>
                  <a:srgbClr val="00FF00"/>
                </a:highlight>
                <a:latin typeface="MS Reference Sans Serif" panose="020B060403050404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  <a:sym typeface="Symbol"/>
              </a:rPr>
              <a:t>1 dm sample cell </a:t>
            </a:r>
            <a:r>
              <a:rPr lang="en-US" altLang="zh-CN" b="1" dirty="0">
                <a:latin typeface="MS Reference Sans Serif" panose="020B060403050404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  <a:sym typeface="Symbol"/>
              </a:rPr>
              <a:t>and </a:t>
            </a:r>
            <a:r>
              <a:rPr lang="en-US" altLang="zh-CN" b="1" dirty="0">
                <a:highlight>
                  <a:srgbClr val="00FF00"/>
                </a:highlight>
                <a:latin typeface="MS Reference Sans Serif" panose="020B060403050404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  <a:sym typeface="Symbol"/>
              </a:rPr>
              <a:t>a concentration of 1 g/</a:t>
            </a:r>
            <a:r>
              <a:rPr lang="en-US" altLang="zh-CN" b="1" dirty="0" err="1">
                <a:highlight>
                  <a:srgbClr val="00FF00"/>
                </a:highlight>
                <a:latin typeface="MS Reference Sans Serif" panose="020B060403050404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  <a:sym typeface="Symbol"/>
              </a:rPr>
              <a:t>mL</a:t>
            </a:r>
            <a:r>
              <a:rPr lang="en-US" altLang="zh-CN" b="1" dirty="0" err="1">
                <a:latin typeface="MS Reference Sans Serif" panose="020B060403050404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  <a:sym typeface="Symbol"/>
              </a:rPr>
              <a:t>.</a:t>
            </a:r>
            <a:r>
              <a:rPr lang="en-US" altLang="zh-CN" b="1" dirty="0">
                <a:latin typeface="MS Reference Sans Serif" panose="020B060403050404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  <a:sym typeface="Symbol"/>
              </a:rPr>
              <a:t> Other cell lengths and concentrations may be used, as long as the observed rotation is divided by the </a:t>
            </a:r>
            <a:r>
              <a:rPr lang="en-US" altLang="zh-CN" b="1" dirty="0">
                <a:solidFill>
                  <a:srgbClr val="0000FF"/>
                </a:solidFill>
                <a:latin typeface="MS Reference Sans Serif" panose="020B060403050404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  <a:sym typeface="Symbol"/>
              </a:rPr>
              <a:t>path length of the cell (</a:t>
            </a:r>
            <a:r>
              <a:rPr lang="en-US" altLang="zh-CN" b="1" i="1" dirty="0">
                <a:solidFill>
                  <a:srgbClr val="0000FF"/>
                </a:solidFill>
                <a:latin typeface="MS Reference Sans Serif" panose="020B060403050404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  <a:sym typeface="Symbol"/>
              </a:rPr>
              <a:t>l</a:t>
            </a:r>
            <a:r>
              <a:rPr lang="en-US" altLang="zh-CN" b="1" dirty="0">
                <a:solidFill>
                  <a:srgbClr val="0000FF"/>
                </a:solidFill>
                <a:latin typeface="MS Reference Sans Serif" panose="020B060403050404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  <a:sym typeface="Symbol"/>
              </a:rPr>
              <a:t>)</a:t>
            </a:r>
            <a:r>
              <a:rPr lang="en-US" altLang="zh-CN" b="1" dirty="0">
                <a:latin typeface="MS Reference Sans Serif" panose="020B060403050404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  <a:sym typeface="Symbol"/>
              </a:rPr>
              <a:t> and </a:t>
            </a:r>
            <a:r>
              <a:rPr lang="en-US" altLang="zh-CN" b="1" dirty="0">
                <a:solidFill>
                  <a:srgbClr val="0000FF"/>
                </a:solidFill>
                <a:latin typeface="MS Reference Sans Serif" panose="020B060403050404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  <a:sym typeface="Symbol"/>
              </a:rPr>
              <a:t>the mass concentration (</a:t>
            </a:r>
            <a:r>
              <a:rPr lang="en-US" altLang="zh-CN" b="1" i="1" dirty="0">
                <a:solidFill>
                  <a:srgbClr val="0000FF"/>
                </a:solidFill>
                <a:latin typeface="MS Reference Sans Serif" panose="020B060403050404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  <a:sym typeface="Symbol"/>
              </a:rPr>
              <a:t>c</a:t>
            </a:r>
            <a:r>
              <a:rPr lang="en-US" altLang="zh-CN" b="1" dirty="0">
                <a:solidFill>
                  <a:srgbClr val="0000FF"/>
                </a:solidFill>
                <a:latin typeface="MS Reference Sans Serif" panose="020B060403050404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  <a:sym typeface="Symbol"/>
              </a:rPr>
              <a:t>)</a:t>
            </a:r>
            <a:r>
              <a:rPr lang="en-US" altLang="zh-CN" b="1" dirty="0">
                <a:latin typeface="MS Reference Sans Serif" panose="020B060403050404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  <a:sym typeface="Symbol"/>
              </a:rPr>
              <a:t>.</a:t>
            </a:r>
            <a:endParaRPr lang="zh-CN" altLang="en-US" b="1" dirty="0">
              <a:latin typeface="MS Reference Sans Serif" panose="020B0604030504040204" pitchFamily="34" charset="0"/>
              <a:cs typeface="Microsoft Sans Serif" panose="020B0604020202020204" pitchFamily="34" charset="0"/>
            </a:endParaRPr>
          </a:p>
        </p:txBody>
      </p:sp>
      <p:graphicFrame>
        <p:nvGraphicFramePr>
          <p:cNvPr id="8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24501110"/>
              </p:ext>
            </p:extLst>
          </p:nvPr>
        </p:nvGraphicFramePr>
        <p:xfrm>
          <a:off x="2351583" y="3249770"/>
          <a:ext cx="2736304" cy="83000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8844" name="CS ChemDraw Drawing" r:id="rId3" imgW="1287348" imgH="389784" progId="ChemDraw.Document.6.0">
                  <p:embed/>
                </p:oleObj>
              </mc:Choice>
              <mc:Fallback>
                <p:oleObj name="CS ChemDraw Drawing" r:id="rId3" imgW="1287348" imgH="389784" progId="ChemDraw.Document.6.0">
                  <p:embed/>
                  <p:pic>
                    <p:nvPicPr>
                      <p:cNvPr id="35842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51583" y="3249770"/>
                        <a:ext cx="2736304" cy="83000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TextBox 4"/>
          <p:cNvSpPr txBox="1"/>
          <p:nvPr/>
        </p:nvSpPr>
        <p:spPr>
          <a:xfrm>
            <a:off x="5447929" y="3135530"/>
            <a:ext cx="446449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latin typeface="Microsoft Sans Serif" pitchFamily="34" charset="0"/>
                <a:cs typeface="Microsoft Sans Serif" pitchFamily="34" charset="0"/>
                <a:sym typeface="Symbol"/>
              </a:rPr>
              <a:t> (observed) = rotation observed</a:t>
            </a:r>
          </a:p>
          <a:p>
            <a:r>
              <a:rPr lang="en-US" altLang="zh-CN" b="1" i="1" dirty="0">
                <a:latin typeface="Microsoft Sans Serif" pitchFamily="34" charset="0"/>
                <a:cs typeface="Microsoft Sans Serif" pitchFamily="34" charset="0"/>
                <a:sym typeface="Symbol"/>
              </a:rPr>
              <a:t>c</a:t>
            </a:r>
            <a:r>
              <a:rPr lang="en-US" altLang="zh-CN" b="1" dirty="0">
                <a:latin typeface="Microsoft Sans Serif" pitchFamily="34" charset="0"/>
                <a:cs typeface="Microsoft Sans Serif" pitchFamily="34" charset="0"/>
                <a:sym typeface="Symbol"/>
              </a:rPr>
              <a:t> = concentration in grams per mL</a:t>
            </a:r>
          </a:p>
          <a:p>
            <a:r>
              <a:rPr lang="en-US" altLang="zh-CN" b="1" i="1" dirty="0">
                <a:latin typeface="Microsoft Sans Serif" pitchFamily="34" charset="0"/>
                <a:cs typeface="Microsoft Sans Serif" pitchFamily="34" charset="0"/>
                <a:sym typeface="Symbol"/>
              </a:rPr>
              <a:t>l</a:t>
            </a:r>
            <a:r>
              <a:rPr lang="en-US" altLang="zh-CN" b="1" dirty="0">
                <a:latin typeface="Microsoft Sans Serif" pitchFamily="34" charset="0"/>
                <a:cs typeface="Microsoft Sans Serif" pitchFamily="34" charset="0"/>
                <a:sym typeface="Symbol"/>
              </a:rPr>
              <a:t> = length of sample cell in decimeters</a:t>
            </a:r>
            <a:endParaRPr lang="zh-CN" altLang="en-US" b="1" dirty="0">
              <a:latin typeface="Microsoft Sans Serif" pitchFamily="34" charset="0"/>
              <a:cs typeface="Microsoft Sans Serif" pitchFamily="34" charset="0"/>
            </a:endParaRPr>
          </a:p>
        </p:txBody>
      </p:sp>
      <p:sp>
        <p:nvSpPr>
          <p:cNvPr id="10" name="TextBox 2"/>
          <p:cNvSpPr txBox="1"/>
          <p:nvPr/>
        </p:nvSpPr>
        <p:spPr>
          <a:xfrm>
            <a:off x="296382" y="4186460"/>
            <a:ext cx="1159328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b="1" dirty="0">
                <a:latin typeface="MS Reference Sans Serif" panose="020B0604030504040204" pitchFamily="34" charset="0"/>
                <a:cs typeface="Microsoft Sans Serif" pitchFamily="34" charset="0"/>
              </a:rPr>
              <a:t>A rotation depends on </a:t>
            </a:r>
            <a:r>
              <a:rPr lang="en-US" altLang="zh-CN" b="1" dirty="0">
                <a:solidFill>
                  <a:srgbClr val="0000FF"/>
                </a:solidFill>
                <a:latin typeface="MS Reference Sans Serif" panose="020B0604030504040204" pitchFamily="34" charset="0"/>
                <a:cs typeface="Microsoft Sans Serif" pitchFamily="34" charset="0"/>
              </a:rPr>
              <a:t>the wavelength of light used </a:t>
            </a:r>
            <a:r>
              <a:rPr lang="en-US" altLang="zh-CN" b="1" dirty="0">
                <a:latin typeface="MS Reference Sans Serif" panose="020B0604030504040204" pitchFamily="34" charset="0"/>
                <a:cs typeface="Microsoft Sans Serif" pitchFamily="34" charset="0"/>
              </a:rPr>
              <a:t>and also on </a:t>
            </a:r>
            <a:r>
              <a:rPr lang="en-US" altLang="zh-CN" b="1" dirty="0">
                <a:solidFill>
                  <a:srgbClr val="0000FF"/>
                </a:solidFill>
                <a:latin typeface="MS Reference Sans Serif" panose="020B0604030504040204" pitchFamily="34" charset="0"/>
                <a:cs typeface="Microsoft Sans Serif" pitchFamily="34" charset="0"/>
              </a:rPr>
              <a:t>the temperature</a:t>
            </a:r>
            <a:r>
              <a:rPr lang="en-US" altLang="zh-CN" b="1" dirty="0">
                <a:latin typeface="MS Reference Sans Serif" panose="020B0604030504040204" pitchFamily="34" charset="0"/>
                <a:cs typeface="Microsoft Sans Serif" pitchFamily="34" charset="0"/>
              </a:rPr>
              <a:t>, so these data are given together with the rotation as </a:t>
            </a:r>
            <a:r>
              <a:rPr lang="en-US" altLang="zh-CN" b="1" dirty="0">
                <a:solidFill>
                  <a:srgbClr val="FF0000"/>
                </a:solidFill>
                <a:highlight>
                  <a:srgbClr val="FFFF00"/>
                </a:highlight>
                <a:latin typeface="MS Reference Sans Serif" panose="020B0604030504040204" pitchFamily="34" charset="0"/>
                <a:cs typeface="Microsoft Sans Serif" pitchFamily="34" charset="0"/>
              </a:rPr>
              <a:t>[</a:t>
            </a:r>
            <a:r>
              <a:rPr lang="en-US" altLang="zh-CN" b="1" dirty="0">
                <a:solidFill>
                  <a:srgbClr val="FF0000"/>
                </a:solidFill>
                <a:highlight>
                  <a:srgbClr val="FFFF00"/>
                </a:highlight>
                <a:latin typeface="MS Reference Sans Serif" panose="020B0604030504040204" pitchFamily="34" charset="0"/>
                <a:cs typeface="Microsoft Sans Serif" pitchFamily="34" charset="0"/>
                <a:sym typeface="Symbol"/>
              </a:rPr>
              <a:t>]</a:t>
            </a:r>
            <a:r>
              <a:rPr lang="en-US" altLang="zh-CN" b="1" baseline="-25000" dirty="0">
                <a:solidFill>
                  <a:srgbClr val="FF0000"/>
                </a:solidFill>
                <a:highlight>
                  <a:srgbClr val="FFFF00"/>
                </a:highlight>
                <a:latin typeface="MS Reference Sans Serif" panose="020B0604030504040204" pitchFamily="34" charset="0"/>
                <a:cs typeface="Microsoft Sans Serif" pitchFamily="34" charset="0"/>
                <a:sym typeface="Symbol"/>
              </a:rPr>
              <a:t>D</a:t>
            </a:r>
            <a:r>
              <a:rPr lang="en-US" altLang="zh-CN" b="1" baseline="30000" dirty="0">
                <a:solidFill>
                  <a:srgbClr val="FF0000"/>
                </a:solidFill>
                <a:highlight>
                  <a:srgbClr val="FFFF00"/>
                </a:highlight>
                <a:latin typeface="MS Reference Sans Serif" panose="020B0604030504040204" pitchFamily="34" charset="0"/>
                <a:cs typeface="Microsoft Sans Serif" pitchFamily="34" charset="0"/>
                <a:sym typeface="Symbol"/>
              </a:rPr>
              <a:t>25</a:t>
            </a:r>
            <a:r>
              <a:rPr lang="en-US" altLang="zh-CN" b="1" dirty="0">
                <a:latin typeface="MS Reference Sans Serif" panose="020B0604030504040204" pitchFamily="34" charset="0"/>
                <a:cs typeface="Microsoft Sans Serif" pitchFamily="34" charset="0"/>
                <a:sym typeface="Symbol"/>
              </a:rPr>
              <a:t>, where “25” means that the measurement was made at </a:t>
            </a:r>
            <a:r>
              <a:rPr lang="en-US" altLang="zh-CN" b="1" dirty="0">
                <a:solidFill>
                  <a:srgbClr val="0000FF"/>
                </a:solidFill>
                <a:latin typeface="MS Reference Sans Serif" panose="020B0604030504040204" pitchFamily="34" charset="0"/>
                <a:cs typeface="Microsoft Sans Serif" pitchFamily="34" charset="0"/>
                <a:sym typeface="Symbol"/>
              </a:rPr>
              <a:t>25 C</a:t>
            </a:r>
            <a:r>
              <a:rPr lang="en-US" altLang="zh-CN" b="1" dirty="0">
                <a:latin typeface="MS Reference Sans Serif" panose="020B0604030504040204" pitchFamily="34" charset="0"/>
                <a:cs typeface="Microsoft Sans Serif" pitchFamily="34" charset="0"/>
                <a:sym typeface="Symbol"/>
              </a:rPr>
              <a:t>, and the “D” means that the light used was </a:t>
            </a:r>
            <a:r>
              <a:rPr lang="en-US" altLang="zh-CN" b="1" dirty="0">
                <a:solidFill>
                  <a:srgbClr val="0000FF"/>
                </a:solidFill>
                <a:latin typeface="MS Reference Sans Serif" panose="020B0604030504040204" pitchFamily="34" charset="0"/>
                <a:cs typeface="Microsoft Sans Serif" pitchFamily="34" charset="0"/>
                <a:sym typeface="Symbol"/>
              </a:rPr>
              <a:t>the D line of the sodium spectrum</a:t>
            </a:r>
            <a:r>
              <a:rPr lang="en-US" altLang="zh-CN" b="1" dirty="0">
                <a:latin typeface="MS Reference Sans Serif" panose="020B0604030504040204" pitchFamily="34" charset="0"/>
                <a:cs typeface="Microsoft Sans Serif" pitchFamily="34" charset="0"/>
                <a:sym typeface="Symbol"/>
              </a:rPr>
              <a:t>.</a:t>
            </a:r>
            <a:endParaRPr lang="zh-CN" altLang="en-US" b="1" baseline="30000" dirty="0">
              <a:latin typeface="MS Reference Sans Serif" panose="020B0604030504040204" pitchFamily="34" charset="0"/>
              <a:cs typeface="Microsoft Sans Serif" pitchFamily="34" charset="0"/>
            </a:endParaRPr>
          </a:p>
        </p:txBody>
      </p:sp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F8D98747-E34C-4D58-B057-1131B6653A7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11652701"/>
              </p:ext>
            </p:extLst>
          </p:nvPr>
        </p:nvGraphicFramePr>
        <p:xfrm>
          <a:off x="4213036" y="5058780"/>
          <a:ext cx="3765928" cy="1727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8845" name="CS ChemDraw Drawing" r:id="rId5" imgW="2284126" imgH="1048124" progId="ChemDraw.Document.6.0">
                  <p:embed/>
                </p:oleObj>
              </mc:Choice>
              <mc:Fallback>
                <p:oleObj name="CS ChemDraw Drawing" r:id="rId5" imgW="2284126" imgH="1048124" progId="ChemDraw.Document.6.0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213036" y="5058780"/>
                        <a:ext cx="3765928" cy="17272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: 圆角 7">
            <a:extLst>
              <a:ext uri="{FF2B5EF4-FFF2-40B4-BE49-F238E27FC236}">
                <a16:creationId xmlns:a16="http://schemas.microsoft.com/office/drawing/2014/main" id="{2AB1B685-FF53-4104-B568-660EDD835F24}"/>
              </a:ext>
            </a:extLst>
          </p:cNvPr>
          <p:cNvSpPr/>
          <p:nvPr/>
        </p:nvSpPr>
        <p:spPr>
          <a:xfrm>
            <a:off x="1134065" y="3419030"/>
            <a:ext cx="6419557" cy="897518"/>
          </a:xfrm>
          <a:prstGeom prst="round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15</a:t>
            </a:fld>
            <a:endParaRPr lang="zh-CN" altLang="en-US"/>
          </a:p>
        </p:txBody>
      </p:sp>
      <p:sp>
        <p:nvSpPr>
          <p:cNvPr id="3" name="TextBox 2"/>
          <p:cNvSpPr txBox="1"/>
          <p:nvPr/>
        </p:nvSpPr>
        <p:spPr>
          <a:xfrm>
            <a:off x="401988" y="712773"/>
            <a:ext cx="11388024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b="1" dirty="0">
                <a:highlight>
                  <a:srgbClr val="FFFF00"/>
                </a:highlight>
                <a:latin typeface="MS Reference Sans Serif" panose="020B0604030504040204" pitchFamily="34" charset="0"/>
                <a:cs typeface="Microsoft Sans Serif" pitchFamily="34" charset="0"/>
              </a:rPr>
              <a:t>A mixture of equal amounts of two enantiomers</a:t>
            </a:r>
            <a:r>
              <a:rPr lang="en-US" altLang="zh-CN" b="1" dirty="0">
                <a:latin typeface="MS Reference Sans Serif" panose="020B0604030504040204" pitchFamily="34" charset="0"/>
                <a:cs typeface="Microsoft Sans Serif" pitchFamily="34" charset="0"/>
              </a:rPr>
              <a:t>  is called </a:t>
            </a:r>
            <a:r>
              <a:rPr lang="en-US" altLang="zh-CN" b="1" dirty="0">
                <a:highlight>
                  <a:srgbClr val="00FFFF"/>
                </a:highlight>
                <a:latin typeface="MS Reference Sans Serif" panose="020B0604030504040204" pitchFamily="34" charset="0"/>
                <a:cs typeface="Microsoft Sans Serif" pitchFamily="34" charset="0"/>
              </a:rPr>
              <a:t>a racemic mixture</a:t>
            </a:r>
            <a:r>
              <a:rPr lang="en-US" altLang="zh-C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S Reference Sans Serif" panose="020B0604030504040204" pitchFamily="34" charset="0"/>
                <a:cs typeface="Microsoft Sans Serif" pitchFamily="34" charset="0"/>
              </a:rPr>
              <a:t> </a:t>
            </a:r>
            <a:r>
              <a:rPr lang="en-US" altLang="zh-CN" b="1" dirty="0">
                <a:latin typeface="MS Reference Sans Serif" panose="020B0604030504040204" pitchFamily="34" charset="0"/>
                <a:cs typeface="Microsoft Sans Serif" pitchFamily="34" charset="0"/>
              </a:rPr>
              <a:t>or </a:t>
            </a:r>
            <a:r>
              <a:rPr lang="en-US" altLang="zh-CN" b="1" dirty="0">
                <a:highlight>
                  <a:srgbClr val="00FFFF"/>
                </a:highlight>
                <a:latin typeface="MS Reference Sans Serif" panose="020B0604030504040204" pitchFamily="34" charset="0"/>
                <a:cs typeface="Microsoft Sans Serif" pitchFamily="34" charset="0"/>
              </a:rPr>
              <a:t>a racemate</a:t>
            </a:r>
            <a:r>
              <a:rPr lang="en-US" altLang="zh-CN" b="1" dirty="0">
                <a:latin typeface="MS Reference Sans Serif" panose="020B0604030504040204" pitchFamily="34" charset="0"/>
                <a:cs typeface="Microsoft Sans Serif" pitchFamily="34" charset="0"/>
              </a:rPr>
              <a:t>, symbolized by placing </a:t>
            </a:r>
            <a:r>
              <a:rPr lang="en-US" altLang="zh-CN" b="1" dirty="0">
                <a:highlight>
                  <a:srgbClr val="00FFFF"/>
                </a:highlight>
                <a:latin typeface="MS Reference Sans Serif" panose="020B0604030504040204" pitchFamily="34" charset="0"/>
                <a:cs typeface="Microsoft Sans Serif" pitchFamily="34" charset="0"/>
              </a:rPr>
              <a:t>(</a:t>
            </a:r>
            <a:r>
              <a:rPr lang="en-US" altLang="zh-CN" b="1" dirty="0">
                <a:highlight>
                  <a:srgbClr val="00FFFF"/>
                </a:highlight>
                <a:latin typeface="MS Reference Sans Serif" panose="020B0604030504040204" pitchFamily="34" charset="0"/>
                <a:cs typeface="Microsoft Sans Serif" pitchFamily="34" charset="0"/>
                <a:sym typeface="Symbol" panose="05050102010706020507" pitchFamily="18" charset="2"/>
              </a:rPr>
              <a:t>)</a:t>
            </a:r>
            <a:r>
              <a:rPr lang="en-US" altLang="zh-CN" b="1" dirty="0">
                <a:latin typeface="MS Reference Sans Serif" panose="020B0604030504040204" pitchFamily="34" charset="0"/>
                <a:cs typeface="Microsoft Sans Serif" pitchFamily="34" charset="0"/>
                <a:sym typeface="Symbol" panose="05050102010706020507" pitchFamily="18" charset="2"/>
              </a:rPr>
              <a:t> or </a:t>
            </a:r>
            <a:r>
              <a:rPr lang="en-US" altLang="zh-CN" b="1" dirty="0">
                <a:highlight>
                  <a:srgbClr val="00FFFF"/>
                </a:highlight>
                <a:latin typeface="MS Reference Sans Serif" panose="020B0604030504040204" pitchFamily="34" charset="0"/>
                <a:cs typeface="Microsoft Sans Serif" pitchFamily="34" charset="0"/>
                <a:sym typeface="Symbol" panose="05050102010706020507" pitchFamily="18" charset="2"/>
              </a:rPr>
              <a:t>(</a:t>
            </a:r>
            <a:r>
              <a:rPr lang="en-US" altLang="zh-CN" b="1" i="1" dirty="0" err="1">
                <a:highlight>
                  <a:srgbClr val="00FFFF"/>
                </a:highlight>
                <a:latin typeface="MS Reference Sans Serif" panose="020B0604030504040204" pitchFamily="34" charset="0"/>
                <a:cs typeface="Microsoft Sans Serif" pitchFamily="34" charset="0"/>
                <a:sym typeface="Symbol" panose="05050102010706020507" pitchFamily="18" charset="2"/>
              </a:rPr>
              <a:t>d</a:t>
            </a:r>
            <a:r>
              <a:rPr lang="en-US" altLang="zh-CN" b="1" dirty="0" err="1">
                <a:highlight>
                  <a:srgbClr val="00FFFF"/>
                </a:highlight>
                <a:latin typeface="MS Reference Sans Serif" panose="020B0604030504040204" pitchFamily="34" charset="0"/>
                <a:cs typeface="Microsoft Sans Serif" pitchFamily="34" charset="0"/>
                <a:sym typeface="Symbol" panose="05050102010706020507" pitchFamily="18" charset="2"/>
              </a:rPr>
              <a:t>,</a:t>
            </a:r>
            <a:r>
              <a:rPr lang="en-US" altLang="zh-CN" b="1" i="1" dirty="0" err="1">
                <a:highlight>
                  <a:srgbClr val="00FFFF"/>
                </a:highlight>
                <a:latin typeface="MS Reference Sans Serif" panose="020B0604030504040204" pitchFamily="34" charset="0"/>
                <a:cs typeface="Microsoft Sans Serif" pitchFamily="34" charset="0"/>
                <a:sym typeface="Symbol" panose="05050102010706020507" pitchFamily="18" charset="2"/>
              </a:rPr>
              <a:t>l</a:t>
            </a:r>
            <a:r>
              <a:rPr lang="en-US" altLang="zh-CN" b="1" dirty="0">
                <a:highlight>
                  <a:srgbClr val="00FFFF"/>
                </a:highlight>
                <a:latin typeface="MS Reference Sans Serif" panose="020B0604030504040204" pitchFamily="34" charset="0"/>
                <a:cs typeface="Microsoft Sans Serif" pitchFamily="34" charset="0"/>
                <a:sym typeface="Symbol" panose="05050102010706020507" pitchFamily="18" charset="2"/>
              </a:rPr>
              <a:t>)</a:t>
            </a:r>
            <a:r>
              <a:rPr lang="en-US" altLang="zh-CN" b="1" dirty="0">
                <a:latin typeface="MS Reference Sans Serif" panose="020B0604030504040204" pitchFamily="34" charset="0"/>
                <a:cs typeface="Microsoft Sans Serif" pitchFamily="34" charset="0"/>
                <a:sym typeface="Symbol" panose="05050102010706020507" pitchFamily="18" charset="2"/>
              </a:rPr>
              <a:t> in front of the name of the compound.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b="1" dirty="0">
              <a:latin typeface="MS Reference Sans Serif" panose="020B0604030504040204" pitchFamily="34" charset="0"/>
              <a:cs typeface="Microsoft Sans Serif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b="1" dirty="0">
                <a:latin typeface="MS Reference Sans Serif" panose="020B0604030504040204" pitchFamily="34" charset="0"/>
                <a:cs typeface="Microsoft Sans Serif" pitchFamily="34" charset="0"/>
              </a:rPr>
              <a:t>A </a:t>
            </a:r>
            <a:r>
              <a:rPr lang="en-US" altLang="zh-CN" b="1" dirty="0">
                <a:highlight>
                  <a:srgbClr val="00FFFF"/>
                </a:highlight>
                <a:latin typeface="MS Reference Sans Serif" panose="020B0604030504040204" pitchFamily="34" charset="0"/>
                <a:cs typeface="Microsoft Sans Serif" pitchFamily="34" charset="0"/>
              </a:rPr>
              <a:t>racemic mixture (racemate)</a:t>
            </a:r>
            <a:r>
              <a:rPr lang="en-US" altLang="zh-CN" b="1" dirty="0">
                <a:latin typeface="MS Reference Sans Serif" panose="020B0604030504040204" pitchFamily="34" charset="0"/>
                <a:cs typeface="Microsoft Sans Serif" pitchFamily="34" charset="0"/>
              </a:rPr>
              <a:t> is </a:t>
            </a:r>
            <a:r>
              <a:rPr lang="en-US" altLang="zh-CN" b="1" dirty="0">
                <a:highlight>
                  <a:srgbClr val="FFFF00"/>
                </a:highlight>
                <a:latin typeface="MS Reference Sans Serif" panose="020B0604030504040204" pitchFamily="34" charset="0"/>
                <a:cs typeface="Microsoft Sans Serif" pitchFamily="34" charset="0"/>
              </a:rPr>
              <a:t>optically inactive</a:t>
            </a:r>
            <a:r>
              <a:rPr lang="en-US" altLang="zh-CN" b="1" dirty="0">
                <a:latin typeface="MS Reference Sans Serif" panose="020B0604030504040204" pitchFamily="34" charset="0"/>
                <a:cs typeface="Microsoft Sans Serif" pitchFamily="34" charset="0"/>
              </a:rPr>
              <a:t>, the </a:t>
            </a:r>
            <a:r>
              <a:rPr lang="en-US" altLang="zh-CN" b="1" dirty="0">
                <a:highlight>
                  <a:srgbClr val="FFFF00"/>
                </a:highlight>
                <a:latin typeface="MS Reference Sans Serif" panose="020B0604030504040204" pitchFamily="34" charset="0"/>
                <a:cs typeface="Microsoft Sans Serif" pitchFamily="34" charset="0"/>
              </a:rPr>
              <a:t>rotation observed is zero</a:t>
            </a:r>
            <a:r>
              <a:rPr lang="en-US" altLang="zh-CN" b="1" dirty="0">
                <a:latin typeface="MS Reference Sans Serif" panose="020B0604030504040204" pitchFamily="34" charset="0"/>
                <a:cs typeface="Microsoft Sans Serif" pitchFamily="34" charset="0"/>
              </a:rPr>
              <a:t>, </a:t>
            </a:r>
            <a:r>
              <a:rPr lang="en-US" altLang="zh-CN" b="1" dirty="0">
                <a:highlight>
                  <a:srgbClr val="00FF00"/>
                </a:highlight>
                <a:latin typeface="MS Reference Sans Serif" panose="020B0604030504040204" pitchFamily="34" charset="0"/>
                <a:cs typeface="Microsoft Sans Serif" pitchFamily="34" charset="0"/>
              </a:rPr>
              <a:t>as though </a:t>
            </a:r>
            <a:r>
              <a:rPr lang="en-US" altLang="zh-CN" b="1" dirty="0">
                <a:latin typeface="MS Reference Sans Serif" panose="020B0604030504040204" pitchFamily="34" charset="0"/>
                <a:cs typeface="Microsoft Sans Serif" pitchFamily="34" charset="0"/>
              </a:rPr>
              <a:t>it were </a:t>
            </a:r>
            <a:r>
              <a:rPr lang="en-US" altLang="zh-CN" b="1" dirty="0">
                <a:highlight>
                  <a:srgbClr val="00FF00"/>
                </a:highlight>
                <a:latin typeface="MS Reference Sans Serif" panose="020B0604030504040204" pitchFamily="34" charset="0"/>
                <a:cs typeface="Microsoft Sans Serif" pitchFamily="34" charset="0"/>
              </a:rPr>
              <a:t>an achiral compound</a:t>
            </a:r>
            <a:r>
              <a:rPr lang="en-US" altLang="zh-CN" b="1" dirty="0">
                <a:latin typeface="MS Reference Sans Serif" panose="020B0604030504040204" pitchFamily="34" charset="0"/>
                <a:cs typeface="Microsoft Sans Serif" pitchFamily="34" charset="0"/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b="1" dirty="0">
              <a:latin typeface="MS Reference Sans Serif" panose="020B0604030504040204" pitchFamily="34" charset="0"/>
              <a:cs typeface="Microsoft Sans Serif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b="1" dirty="0">
                <a:highlight>
                  <a:srgbClr val="FFFF00"/>
                </a:highlight>
                <a:latin typeface="MS Reference Sans Serif" panose="020B0604030504040204" pitchFamily="34" charset="0"/>
                <a:cs typeface="Microsoft Sans Serif" pitchFamily="34" charset="0"/>
              </a:rPr>
              <a:t>Many reactions lead to racemic products</a:t>
            </a:r>
            <a:r>
              <a:rPr lang="en-US" altLang="zh-CN" b="1" dirty="0">
                <a:latin typeface="MS Reference Sans Serif" panose="020B0604030504040204" pitchFamily="34" charset="0"/>
                <a:cs typeface="Microsoft Sans Serif" pitchFamily="34" charset="0"/>
              </a:rPr>
              <a:t>, especially when an achiral molecule is converted to a chiral molecule.</a:t>
            </a:r>
          </a:p>
        </p:txBody>
      </p:sp>
      <p:sp>
        <p:nvSpPr>
          <p:cNvPr id="5" name="矩形 4"/>
          <p:cNvSpPr/>
          <p:nvPr/>
        </p:nvSpPr>
        <p:spPr>
          <a:xfrm>
            <a:off x="0" y="198800"/>
            <a:ext cx="3310906" cy="461665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</p:spPr>
        <p:txBody>
          <a:bodyPr wrap="none">
            <a:spAutoFit/>
          </a:bodyPr>
          <a:lstStyle/>
          <a:p>
            <a:r>
              <a:rPr lang="en-US" altLang="zh-CN" sz="2400" b="1" dirty="0">
                <a:latin typeface="MS Reference Sans Serif" panose="020B0604030504040204" pitchFamily="34" charset="0"/>
                <a:cs typeface="Microsoft Sans Serif" pitchFamily="34" charset="0"/>
              </a:rPr>
              <a:t>5. Racemic Mixtures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71BF087-CEB9-4E1D-8A9D-2FC5F4FCA118}"/>
              </a:ext>
            </a:extLst>
          </p:cNvPr>
          <p:cNvSpPr txBox="1"/>
          <p:nvPr/>
        </p:nvSpPr>
        <p:spPr>
          <a:xfrm>
            <a:off x="1188939" y="3419030"/>
            <a:ext cx="636468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dirty="0">
                <a:latin typeface="Microsoft Sans Serif" pitchFamily="34" charset="0"/>
                <a:cs typeface="Microsoft Sans Serif" pitchFamily="34" charset="0"/>
              </a:rPr>
              <a:t>A reaction that uses optically inactive reactants and catalysts cannot produce a product that is optically active. Any chiral product must be formed as a racemic mixture.</a:t>
            </a:r>
          </a:p>
        </p:txBody>
      </p:sp>
      <p:graphicFrame>
        <p:nvGraphicFramePr>
          <p:cNvPr id="9" name="对象 8">
            <a:extLst>
              <a:ext uri="{FF2B5EF4-FFF2-40B4-BE49-F238E27FC236}">
                <a16:creationId xmlns:a16="http://schemas.microsoft.com/office/drawing/2014/main" id="{76C518AD-D9B4-4543-976C-E81A312AD52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83513656"/>
              </p:ext>
            </p:extLst>
          </p:nvPr>
        </p:nvGraphicFramePr>
        <p:xfrm>
          <a:off x="958035" y="3926340"/>
          <a:ext cx="10142673" cy="279513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689" name="CS ChemDraw Drawing" r:id="rId3" imgW="5662770" imgH="1560294" progId="ChemDraw.Document.6.0">
                  <p:embed/>
                </p:oleObj>
              </mc:Choice>
              <mc:Fallback>
                <p:oleObj name="CS ChemDraw Drawing" r:id="rId3" imgW="5662770" imgH="1560294" progId="ChemDraw.Document.6.0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958035" y="3926340"/>
                        <a:ext cx="10142673" cy="279513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16</a:t>
            </a:fld>
            <a:endParaRPr lang="zh-CN" altLang="en-US"/>
          </a:p>
        </p:txBody>
      </p:sp>
      <p:graphicFrame>
        <p:nvGraphicFramePr>
          <p:cNvPr id="3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90575940"/>
              </p:ext>
            </p:extLst>
          </p:nvPr>
        </p:nvGraphicFramePr>
        <p:xfrm>
          <a:off x="537170" y="2427774"/>
          <a:ext cx="5570748" cy="83099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131" name="CS ChemDraw Drawing" r:id="rId3" imgW="2585764" imgH="385195" progId="ChemDraw.Document.6.0">
                  <p:embed/>
                </p:oleObj>
              </mc:Choice>
              <mc:Fallback>
                <p:oleObj name="CS ChemDraw Drawing" r:id="rId3" imgW="2585764" imgH="385195" progId="ChemDraw.Document.6.0">
                  <p:embed/>
                  <p:pic>
                    <p:nvPicPr>
                      <p:cNvPr id="3789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7170" y="2427774"/>
                        <a:ext cx="5570748" cy="830996"/>
                      </a:xfrm>
                      <a:prstGeom prst="rect">
                        <a:avLst/>
                      </a:prstGeom>
                      <a:noFill/>
                      <a:ln w="38100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矩形 3"/>
          <p:cNvSpPr/>
          <p:nvPr/>
        </p:nvSpPr>
        <p:spPr>
          <a:xfrm>
            <a:off x="198240" y="762294"/>
            <a:ext cx="11305256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b="1" dirty="0">
                <a:latin typeface="MS Reference Sans Serif" panose="020B0604030504040204" pitchFamily="34" charset="0"/>
                <a:cs typeface="Microsoft Sans Serif" pitchFamily="34" charset="0"/>
              </a:rPr>
              <a:t>When we deal with mixtures that are neither optically pure (all one enantiomer) nor racemic (equal amounts of two enantiomers), we specify the optical purity (</a:t>
            </a:r>
            <a:r>
              <a:rPr lang="en-US" altLang="zh-CN" b="1" dirty="0" err="1">
                <a:latin typeface="MS Reference Sans Serif" panose="020B0604030504040204" pitchFamily="34" charset="0"/>
                <a:cs typeface="Microsoft Sans Serif" pitchFamily="34" charset="0"/>
              </a:rPr>
              <a:t>o.p</a:t>
            </a:r>
            <a:r>
              <a:rPr lang="en-US" altLang="zh-CN" b="1" dirty="0">
                <a:latin typeface="MS Reference Sans Serif" panose="020B0604030504040204" pitchFamily="34" charset="0"/>
                <a:cs typeface="Microsoft Sans Serif" pitchFamily="34" charset="0"/>
              </a:rPr>
              <a:t>.) of the mixture.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b="1" dirty="0">
                <a:latin typeface="MS Reference Sans Serif" panose="020B0604030504040204" pitchFamily="34" charset="0"/>
                <a:cs typeface="Microsoft Sans Serif" pitchFamily="34" charset="0"/>
              </a:rPr>
              <a:t>The </a:t>
            </a:r>
            <a:r>
              <a:rPr lang="en-US" altLang="zh-CN" b="1" dirty="0">
                <a:highlight>
                  <a:srgbClr val="00FFFF"/>
                </a:highlight>
                <a:latin typeface="MS Reference Sans Serif" panose="020B0604030504040204" pitchFamily="34" charset="0"/>
                <a:cs typeface="Microsoft Sans Serif" pitchFamily="34" charset="0"/>
              </a:rPr>
              <a:t>optical purity (</a:t>
            </a:r>
            <a:r>
              <a:rPr lang="en-US" altLang="zh-CN" b="1" dirty="0" err="1">
                <a:highlight>
                  <a:srgbClr val="00FFFF"/>
                </a:highlight>
                <a:latin typeface="MS Reference Sans Serif" panose="020B0604030504040204" pitchFamily="34" charset="0"/>
                <a:cs typeface="Microsoft Sans Serif" pitchFamily="34" charset="0"/>
              </a:rPr>
              <a:t>o.p</a:t>
            </a:r>
            <a:r>
              <a:rPr lang="en-US" altLang="zh-CN" b="1" dirty="0">
                <a:highlight>
                  <a:srgbClr val="00FFFF"/>
                </a:highlight>
                <a:latin typeface="MS Reference Sans Serif" panose="020B0604030504040204" pitchFamily="34" charset="0"/>
                <a:cs typeface="Microsoft Sans Serif" pitchFamily="34" charset="0"/>
              </a:rPr>
              <a:t>.)</a:t>
            </a:r>
            <a:r>
              <a:rPr lang="en-US" altLang="zh-CN" b="1" dirty="0">
                <a:latin typeface="MS Reference Sans Serif" panose="020B0604030504040204" pitchFamily="34" charset="0"/>
                <a:cs typeface="Microsoft Sans Serif" pitchFamily="34" charset="0"/>
              </a:rPr>
              <a:t> of </a:t>
            </a:r>
            <a:r>
              <a:rPr lang="en-US" altLang="zh-CN" b="1" dirty="0">
                <a:highlight>
                  <a:srgbClr val="00FFFF"/>
                </a:highlight>
                <a:latin typeface="MS Reference Sans Serif" panose="020B0604030504040204" pitchFamily="34" charset="0"/>
                <a:cs typeface="Microsoft Sans Serif" pitchFamily="34" charset="0"/>
              </a:rPr>
              <a:t>a mixture of unequal amounts of two enantiomers</a:t>
            </a:r>
            <a:r>
              <a:rPr lang="en-US" altLang="zh-CN" b="1" dirty="0">
                <a:latin typeface="MS Reference Sans Serif" panose="020B0604030504040204" pitchFamily="34" charset="0"/>
                <a:cs typeface="Microsoft Sans Serif" pitchFamily="34" charset="0"/>
              </a:rPr>
              <a:t> is defined as </a:t>
            </a:r>
            <a:r>
              <a:rPr lang="en-US" altLang="zh-CN" b="1" dirty="0">
                <a:highlight>
                  <a:srgbClr val="FFFF00"/>
                </a:highlight>
                <a:latin typeface="MS Reference Sans Serif" panose="020B0604030504040204" pitchFamily="34" charset="0"/>
                <a:cs typeface="Microsoft Sans Serif" pitchFamily="34" charset="0"/>
              </a:rPr>
              <a:t>the ratio of its rotation to the rotation of a pure enantiomer</a:t>
            </a:r>
            <a:r>
              <a:rPr lang="en-US" altLang="zh-CN" b="1" dirty="0">
                <a:latin typeface="MS Reference Sans Serif" panose="020B0604030504040204" pitchFamily="34" charset="0"/>
                <a:cs typeface="Microsoft Sans Serif" pitchFamily="34" charset="0"/>
              </a:rPr>
              <a:t>.</a:t>
            </a:r>
          </a:p>
        </p:txBody>
      </p:sp>
      <p:sp>
        <p:nvSpPr>
          <p:cNvPr id="5" name="矩形 4"/>
          <p:cNvSpPr/>
          <p:nvPr/>
        </p:nvSpPr>
        <p:spPr>
          <a:xfrm>
            <a:off x="0" y="260648"/>
            <a:ext cx="6645089" cy="461665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</p:spPr>
        <p:txBody>
          <a:bodyPr wrap="none">
            <a:spAutoFit/>
          </a:bodyPr>
          <a:lstStyle/>
          <a:p>
            <a:r>
              <a:rPr lang="en-US" altLang="zh-CN" sz="2400" b="1" dirty="0">
                <a:latin typeface="MS Reference Sans Serif" panose="020B0604030504040204" pitchFamily="34" charset="0"/>
                <a:cs typeface="Microsoft Sans Serif" pitchFamily="34" charset="0"/>
              </a:rPr>
              <a:t>6. Enantiomeric Excess and Optical Purity</a:t>
            </a:r>
          </a:p>
        </p:txBody>
      </p:sp>
      <p:sp>
        <p:nvSpPr>
          <p:cNvPr id="6" name="TextBox 7"/>
          <p:cNvSpPr txBox="1"/>
          <p:nvPr/>
        </p:nvSpPr>
        <p:spPr>
          <a:xfrm>
            <a:off x="6316309" y="2002604"/>
            <a:ext cx="557074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SzPct val="50000"/>
            </a:pPr>
            <a:r>
              <a:rPr lang="en-US" altLang="zh-CN" b="1" dirty="0">
                <a:latin typeface="Consolas" panose="020B0609020204030204" pitchFamily="49" charset="0"/>
                <a:cs typeface="Courier New" panose="02070309020205020404" pitchFamily="49" charset="0"/>
                <a:sym typeface="Symbol"/>
              </a:rPr>
              <a:t>It is known that the specific rotation of pure (+)-butan-2-ol is + 13.5. </a:t>
            </a:r>
            <a:r>
              <a:rPr lang="en-US" altLang="zh-CN" b="1" dirty="0">
                <a:latin typeface="Consolas" panose="020B0609020204030204" pitchFamily="49" charset="0"/>
                <a:cs typeface="Courier New" panose="02070309020205020404" pitchFamily="49" charset="0"/>
              </a:rPr>
              <a:t>If we have a sample as a mixture of (+)-butan-2-ol and (-)- butan-2-ol with a specific rotation of +9.72</a:t>
            </a:r>
            <a:r>
              <a:rPr lang="en-US" altLang="zh-CN" b="1" dirty="0">
                <a:latin typeface="Consolas" panose="020B0609020204030204" pitchFamily="49" charset="0"/>
                <a:cs typeface="Courier New" panose="02070309020205020404" pitchFamily="49" charset="0"/>
                <a:sym typeface="Symbol"/>
              </a:rPr>
              <a:t>.</a:t>
            </a:r>
          </a:p>
          <a:p>
            <a:pPr>
              <a:buSzPct val="50000"/>
            </a:pPr>
            <a:r>
              <a:rPr lang="en-US" altLang="zh-CN" b="1" dirty="0">
                <a:latin typeface="Consolas" panose="020B0609020204030204" pitchFamily="49" charset="0"/>
                <a:cs typeface="Courier New" panose="02070309020205020404" pitchFamily="49" charset="0"/>
                <a:sym typeface="Symbol"/>
              </a:rPr>
              <a:t>The </a:t>
            </a:r>
            <a:r>
              <a:rPr lang="en-US" altLang="zh-CN" b="1" dirty="0" err="1">
                <a:latin typeface="Consolas" panose="020B0609020204030204" pitchFamily="49" charset="0"/>
                <a:cs typeface="Courier New" panose="02070309020205020404" pitchFamily="49" charset="0"/>
                <a:sym typeface="Symbol"/>
              </a:rPr>
              <a:t>o.p</a:t>
            </a:r>
            <a:r>
              <a:rPr lang="en-US" altLang="zh-CN" b="1" dirty="0">
                <a:latin typeface="Consolas" panose="020B0609020204030204" pitchFamily="49" charset="0"/>
                <a:cs typeface="Courier New" panose="02070309020205020404" pitchFamily="49" charset="0"/>
                <a:sym typeface="Symbol"/>
              </a:rPr>
              <a:t>. =  (9.27  13.5) </a:t>
            </a:r>
            <a:r>
              <a:rPr lang="en-US" altLang="zh-CN" b="1" dirty="0">
                <a:latin typeface="Consolas" panose="020B0609020204030204" pitchFamily="49" charset="0"/>
                <a:cs typeface="Courier New" panose="02070309020205020404" pitchFamily="49" charset="0"/>
                <a:sym typeface="Symbol" panose="05050102010706020507" pitchFamily="18" charset="2"/>
              </a:rPr>
              <a:t></a:t>
            </a:r>
            <a:r>
              <a:rPr lang="en-US" altLang="zh-CN" b="1" dirty="0">
                <a:latin typeface="Consolas" panose="020B0609020204030204" pitchFamily="49" charset="0"/>
                <a:cs typeface="Courier New" panose="02070309020205020404" pitchFamily="49" charset="0"/>
                <a:sym typeface="Symbol"/>
              </a:rPr>
              <a:t> 100% = 72.0%</a:t>
            </a:r>
            <a:endParaRPr lang="zh-CN" altLang="en-US" b="1" dirty="0">
              <a:latin typeface="Consolas" panose="020B0609020204030204" pitchFamily="49" charset="0"/>
              <a:cs typeface="Courier New" panose="02070309020205020404" pitchFamily="49" charset="0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198240" y="3856311"/>
            <a:ext cx="11619421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b="1" dirty="0">
                <a:latin typeface="MS Reference Sans Serif" panose="020B0604030504040204" pitchFamily="34" charset="0"/>
                <a:cs typeface="Microsoft Sans Serif" pitchFamily="34" charset="0"/>
              </a:rPr>
              <a:t>The </a:t>
            </a:r>
            <a:r>
              <a:rPr lang="en-US" altLang="zh-CN" b="1" dirty="0">
                <a:highlight>
                  <a:srgbClr val="00FF00"/>
                </a:highlight>
                <a:latin typeface="MS Reference Sans Serif" panose="020B0604030504040204" pitchFamily="34" charset="0"/>
                <a:cs typeface="Microsoft Sans Serif" pitchFamily="34" charset="0"/>
              </a:rPr>
              <a:t>enantiomeric excess (</a:t>
            </a:r>
            <a:r>
              <a:rPr lang="en-US" altLang="zh-CN" b="1" dirty="0" err="1">
                <a:highlight>
                  <a:srgbClr val="00FF00"/>
                </a:highlight>
                <a:latin typeface="MS Reference Sans Serif" panose="020B0604030504040204" pitchFamily="34" charset="0"/>
                <a:cs typeface="Microsoft Sans Serif" pitchFamily="34" charset="0"/>
              </a:rPr>
              <a:t>e.e.</a:t>
            </a:r>
            <a:r>
              <a:rPr lang="en-US" altLang="zh-CN" b="1" dirty="0">
                <a:highlight>
                  <a:srgbClr val="00FF00"/>
                </a:highlight>
                <a:latin typeface="MS Reference Sans Serif" panose="020B0604030504040204" pitchFamily="34" charset="0"/>
                <a:cs typeface="Microsoft Sans Serif" pitchFamily="34" charset="0"/>
              </a:rPr>
              <a:t>)</a:t>
            </a:r>
            <a:r>
              <a:rPr lang="en-US" altLang="zh-CN" b="1" dirty="0">
                <a:latin typeface="MS Reference Sans Serif" panose="020B0604030504040204" pitchFamily="34" charset="0"/>
                <a:cs typeface="Microsoft Sans Serif" pitchFamily="34" charset="0"/>
              </a:rPr>
              <a:t> is a similar method for expressing the relative amounts of enantiomers in a mixture.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b="1" dirty="0">
                <a:latin typeface="MS Reference Sans Serif" panose="020B0604030504040204" pitchFamily="34" charset="0"/>
                <a:cs typeface="Microsoft Sans Serif" pitchFamily="34" charset="0"/>
              </a:rPr>
              <a:t>To compute the enantiomeric excess of a mixture, we calculate </a:t>
            </a:r>
            <a:r>
              <a:rPr lang="en-US" altLang="zh-CN" b="1" dirty="0">
                <a:highlight>
                  <a:srgbClr val="FFFF00"/>
                </a:highlight>
                <a:latin typeface="MS Reference Sans Serif" panose="020B0604030504040204" pitchFamily="34" charset="0"/>
                <a:cs typeface="Microsoft Sans Serif" pitchFamily="34" charset="0"/>
              </a:rPr>
              <a:t>the excess of the predominant enantiomer as a percentage of the entire mixture</a:t>
            </a:r>
            <a:r>
              <a:rPr lang="en-US" altLang="zh-CN" b="1" dirty="0">
                <a:latin typeface="MS Reference Sans Serif" panose="020B0604030504040204" pitchFamily="34" charset="0"/>
                <a:cs typeface="Microsoft Sans Serif" pitchFamily="34" charset="0"/>
              </a:rPr>
              <a:t>.</a:t>
            </a:r>
            <a:endParaRPr lang="zh-CN" altLang="en-US" dirty="0">
              <a:latin typeface="MS Reference Sans Serif" panose="020B0604030504040204" pitchFamily="34" charset="0"/>
              <a:cs typeface="Microsoft Sans Serif" pitchFamily="34" charset="0"/>
            </a:endParaRPr>
          </a:p>
        </p:txBody>
      </p:sp>
      <p:graphicFrame>
        <p:nvGraphicFramePr>
          <p:cNvPr id="9" name="对象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68757726"/>
              </p:ext>
            </p:extLst>
          </p:nvPr>
        </p:nvGraphicFramePr>
        <p:xfrm>
          <a:off x="1055440" y="5414469"/>
          <a:ext cx="10240940" cy="95150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132" name="CS ChemDraw Drawing" r:id="rId5" imgW="4972679" imgH="461428" progId="ChemDraw.Document.6.0">
                  <p:embed/>
                </p:oleObj>
              </mc:Choice>
              <mc:Fallback>
                <p:oleObj name="CS ChemDraw Drawing" r:id="rId5" imgW="4972679" imgH="461428" progId="ChemDraw.Document.6.0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055440" y="5414469"/>
                        <a:ext cx="10240940" cy="951506"/>
                      </a:xfrm>
                      <a:prstGeom prst="rect">
                        <a:avLst/>
                      </a:prstGeom>
                      <a:ln w="38100">
                        <a:solidFill>
                          <a:schemeClr val="tx1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9251418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17</a:t>
            </a:fld>
            <a:endParaRPr lang="zh-CN" altLang="en-US"/>
          </a:p>
        </p:txBody>
      </p:sp>
      <p:sp>
        <p:nvSpPr>
          <p:cNvPr id="6" name="TextBox 5"/>
          <p:cNvSpPr txBox="1"/>
          <p:nvPr/>
        </p:nvSpPr>
        <p:spPr>
          <a:xfrm>
            <a:off x="191344" y="332656"/>
            <a:ext cx="11665295" cy="646331"/>
          </a:xfrm>
          <a:prstGeom prst="rect">
            <a:avLst/>
          </a:prstGeom>
          <a:noFill/>
          <a:ln w="38100">
            <a:noFill/>
          </a:ln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b="1" dirty="0">
                <a:latin typeface="MS Reference Sans Serif" panose="020B0604030504040204" pitchFamily="34" charset="0"/>
                <a:cs typeface="Microsoft Sans Serif" pitchFamily="34" charset="0"/>
              </a:rPr>
              <a:t>For a chemically pure compound, the calculation of </a:t>
            </a:r>
            <a:r>
              <a:rPr lang="en-US" altLang="zh-CN" b="1" dirty="0">
                <a:highlight>
                  <a:srgbClr val="FFFF00"/>
                </a:highlight>
                <a:latin typeface="MS Reference Sans Serif" panose="020B0604030504040204" pitchFamily="34" charset="0"/>
                <a:cs typeface="Microsoft Sans Serif" pitchFamily="34" charset="0"/>
              </a:rPr>
              <a:t>enantiomeric excess</a:t>
            </a:r>
            <a:r>
              <a:rPr lang="en-US" altLang="zh-CN" b="1" dirty="0">
                <a:latin typeface="MS Reference Sans Serif" panose="020B0604030504040204" pitchFamily="34" charset="0"/>
                <a:cs typeface="Microsoft Sans Serif" pitchFamily="34" charset="0"/>
              </a:rPr>
              <a:t> generally gives the </a:t>
            </a:r>
            <a:r>
              <a:rPr lang="en-US" altLang="zh-CN" b="1" dirty="0">
                <a:highlight>
                  <a:srgbClr val="FFFF00"/>
                </a:highlight>
                <a:latin typeface="MS Reference Sans Serif" panose="020B0604030504040204" pitchFamily="34" charset="0"/>
                <a:cs typeface="Microsoft Sans Serif" pitchFamily="34" charset="0"/>
              </a:rPr>
              <a:t>same</a:t>
            </a:r>
            <a:r>
              <a:rPr lang="en-US" altLang="zh-CN" b="1" dirty="0">
                <a:latin typeface="MS Reference Sans Serif" panose="020B0604030504040204" pitchFamily="34" charset="0"/>
                <a:cs typeface="Microsoft Sans Serif" pitchFamily="34" charset="0"/>
              </a:rPr>
              <a:t> result as the calculation of </a:t>
            </a:r>
            <a:r>
              <a:rPr lang="en-US" altLang="zh-CN" b="1" dirty="0">
                <a:highlight>
                  <a:srgbClr val="FFFF00"/>
                </a:highlight>
                <a:latin typeface="MS Reference Sans Serif" panose="020B0604030504040204" pitchFamily="34" charset="0"/>
                <a:cs typeface="Microsoft Sans Serif" pitchFamily="34" charset="0"/>
              </a:rPr>
              <a:t>optical purity</a:t>
            </a:r>
            <a:r>
              <a:rPr lang="en-US" altLang="zh-CN" b="1" dirty="0">
                <a:latin typeface="MS Reference Sans Serif" panose="020B0604030504040204" pitchFamily="34" charset="0"/>
                <a:cs typeface="Microsoft Sans Serif" pitchFamily="34" charset="0"/>
              </a:rPr>
              <a:t>, and we often use the two terms interchangeably.</a:t>
            </a:r>
            <a:endParaRPr lang="zh-CN" altLang="en-US" b="1" dirty="0">
              <a:latin typeface="MS Reference Sans Serif" panose="020B0604030504040204" pitchFamily="34" charset="0"/>
              <a:cs typeface="Microsoft Sans Serif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415480" y="2963415"/>
            <a:ext cx="1000911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SzPct val="50000"/>
            </a:pPr>
            <a:r>
              <a:rPr lang="en-US" altLang="zh-CN" b="1" dirty="0">
                <a:latin typeface="Consolas" panose="020B0609020204030204" pitchFamily="49" charset="0"/>
                <a:cs typeface="Microsoft Sans Serif" pitchFamily="34" charset="0"/>
                <a:sym typeface="Symbol"/>
              </a:rPr>
              <a:t>The </a:t>
            </a:r>
            <a:r>
              <a:rPr lang="en-US" altLang="zh-CN" b="1" dirty="0" err="1">
                <a:latin typeface="Consolas" panose="020B0609020204030204" pitchFamily="49" charset="0"/>
                <a:cs typeface="Microsoft Sans Serif" pitchFamily="34" charset="0"/>
                <a:sym typeface="Symbol"/>
              </a:rPr>
              <a:t>o.p</a:t>
            </a:r>
            <a:r>
              <a:rPr lang="en-US" altLang="zh-CN" b="1" dirty="0">
                <a:latin typeface="Consolas" panose="020B0609020204030204" pitchFamily="49" charset="0"/>
                <a:cs typeface="Microsoft Sans Serif" pitchFamily="34" charset="0"/>
                <a:sym typeface="Symbol"/>
              </a:rPr>
              <a:t>. = (9.27  13.5 ) X 100% = 72%.</a:t>
            </a:r>
          </a:p>
          <a:p>
            <a:pPr>
              <a:buSzPct val="50000"/>
            </a:pPr>
            <a:endParaRPr lang="en-US" altLang="zh-CN" b="1" dirty="0">
              <a:latin typeface="Consolas" panose="020B0609020204030204" pitchFamily="49" charset="0"/>
              <a:cs typeface="Microsoft Sans Serif" pitchFamily="34" charset="0"/>
              <a:sym typeface="Symbol"/>
            </a:endParaRPr>
          </a:p>
          <a:p>
            <a:pPr>
              <a:buSzPct val="50000"/>
            </a:pPr>
            <a:r>
              <a:rPr lang="en-US" altLang="zh-CN" b="1" dirty="0">
                <a:latin typeface="Consolas" panose="020B0609020204030204" pitchFamily="49" charset="0"/>
                <a:cs typeface="Microsoft Sans Serif" pitchFamily="34" charset="0"/>
                <a:sym typeface="Symbol"/>
              </a:rPr>
              <a:t>Therefore  the </a:t>
            </a:r>
            <a:r>
              <a:rPr lang="en-US" altLang="zh-CN" b="1" dirty="0" err="1">
                <a:latin typeface="Consolas" panose="020B0609020204030204" pitchFamily="49" charset="0"/>
                <a:cs typeface="Microsoft Sans Serif" pitchFamily="34" charset="0"/>
                <a:sym typeface="Symbol"/>
              </a:rPr>
              <a:t>e.e</a:t>
            </a:r>
            <a:r>
              <a:rPr lang="en-US" altLang="zh-CN" b="1" dirty="0">
                <a:latin typeface="Consolas" panose="020B0609020204030204" pitchFamily="49" charset="0"/>
                <a:cs typeface="Microsoft Sans Serif" pitchFamily="34" charset="0"/>
                <a:sym typeface="Symbol"/>
              </a:rPr>
              <a:t> of (+)-butan-2-ol = 72%, with the (+)-enantiomer in excess.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599" y="1534118"/>
            <a:ext cx="1124704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SzPct val="50000"/>
            </a:pPr>
            <a:r>
              <a:rPr lang="en-US" altLang="zh-CN" b="1" dirty="0">
                <a:latin typeface="Consolas" panose="020B0609020204030204" pitchFamily="49" charset="0"/>
                <a:cs typeface="Courier New" panose="02070309020205020404" pitchFamily="49" charset="0"/>
                <a:sym typeface="Symbol"/>
              </a:rPr>
              <a:t>It is known that the rotation of the pure (+)-butan-2-ol is + 13.5. </a:t>
            </a:r>
          </a:p>
          <a:p>
            <a:pPr>
              <a:buSzPct val="50000"/>
            </a:pPr>
            <a:r>
              <a:rPr lang="en-US" altLang="zh-CN" b="1" dirty="0">
                <a:latin typeface="Consolas" panose="020B0609020204030204" pitchFamily="49" charset="0"/>
                <a:cs typeface="Courier New" panose="02070309020205020404" pitchFamily="49" charset="0"/>
              </a:rPr>
              <a:t>If we have a sample as a mixture of (+)-butan-2-ol and (-)- butan-2-ol with a specific rotation of + 9.72</a:t>
            </a:r>
            <a:r>
              <a:rPr lang="en-US" altLang="zh-CN" b="1" dirty="0">
                <a:latin typeface="Consolas" panose="020B0609020204030204" pitchFamily="49" charset="0"/>
                <a:cs typeface="Courier New" panose="02070309020205020404" pitchFamily="49" charset="0"/>
                <a:sym typeface="Symbol"/>
              </a:rPr>
              <a:t>. Calculate the percentages of (+)-enantiomer and the percentage of (</a:t>
            </a:r>
            <a:r>
              <a:rPr lang="en-US" altLang="zh-CN" b="1" dirty="0">
                <a:latin typeface="Consolas" panose="020B0609020204030204" pitchFamily="49" charset="0"/>
                <a:cs typeface="Courier New" panose="02070309020205020404" pitchFamily="49" charset="0"/>
                <a:sym typeface="Symbol" panose="05050102010706020507" pitchFamily="18" charset="2"/>
              </a:rPr>
              <a:t>)-enantiomer of the sample.</a:t>
            </a:r>
            <a:endParaRPr lang="zh-CN" altLang="en-US" b="1" dirty="0">
              <a:latin typeface="Consolas" panose="020B0609020204030204" pitchFamily="49" charset="0"/>
              <a:cs typeface="Courier New" panose="02070309020205020404" pitchFamily="49" charset="0"/>
            </a:endParaRP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77019328"/>
              </p:ext>
            </p:extLst>
          </p:nvPr>
        </p:nvGraphicFramePr>
        <p:xfrm>
          <a:off x="4079776" y="4028242"/>
          <a:ext cx="3348072" cy="74493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6933" name="CS ChemDraw Drawing" r:id="rId3" imgW="1933754" imgH="430904" progId="ChemDraw.Document.6.0">
                  <p:embed/>
                </p:oleObj>
              </mc:Choice>
              <mc:Fallback>
                <p:oleObj name="CS ChemDraw Drawing" r:id="rId3" imgW="1933754" imgH="430904" progId="ChemDraw.Document.6.0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079776" y="4028242"/>
                        <a:ext cx="3348072" cy="74493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40628620"/>
              </p:ext>
            </p:extLst>
          </p:nvPr>
        </p:nvGraphicFramePr>
        <p:xfrm>
          <a:off x="2964118" y="5213943"/>
          <a:ext cx="5579387" cy="130392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6934" name="CS ChemDraw Drawing" r:id="rId5" imgW="2995918" imgH="700864" progId="ChemDraw.Document.6.0">
                  <p:embed/>
                </p:oleObj>
              </mc:Choice>
              <mc:Fallback>
                <p:oleObj name="CS ChemDraw Drawing" r:id="rId5" imgW="2995918" imgH="700864" progId="ChemDraw.Document.6.0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964118" y="5213943"/>
                        <a:ext cx="5579387" cy="130392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254AFAFF-98A7-4E31-A0F6-F70B5A0326F9}"/>
              </a:ext>
            </a:extLst>
          </p:cNvPr>
          <p:cNvSpPr/>
          <p:nvPr/>
        </p:nvSpPr>
        <p:spPr>
          <a:xfrm>
            <a:off x="4367808" y="5681132"/>
            <a:ext cx="5112568" cy="923330"/>
          </a:xfrm>
          <a:prstGeom prst="round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844CFCB1-3A2C-49DA-B539-27E214943078}"/>
              </a:ext>
            </a:extLst>
          </p:cNvPr>
          <p:cNvSpPr/>
          <p:nvPr/>
        </p:nvSpPr>
        <p:spPr>
          <a:xfrm>
            <a:off x="3719736" y="4635083"/>
            <a:ext cx="6840760" cy="676388"/>
          </a:xfrm>
          <a:prstGeom prst="round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18</a:t>
            </a:fld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0" y="253538"/>
            <a:ext cx="8544272" cy="461665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zh-CN" sz="2400" b="1" dirty="0">
                <a:latin typeface="MS Reference Sans Serif" panose="020B0604030504040204" pitchFamily="34" charset="0"/>
                <a:cs typeface="Microsoft Sans Serif" pitchFamily="34" charset="0"/>
              </a:rPr>
              <a:t>7. Chirality of Molecule and Chirality of Conformations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263352" y="753291"/>
            <a:ext cx="114492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b="1" dirty="0">
                <a:latin typeface="MS Reference Sans Serif" panose="020B060403050404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A molecule cannot be optically active if it its chiral conformations are in equilibrium with their mirror images. We consider such a molecule to be achiral.</a:t>
            </a:r>
          </a:p>
        </p:txBody>
      </p:sp>
      <p:graphicFrame>
        <p:nvGraphicFramePr>
          <p:cNvPr id="8" name="对象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6184456"/>
              </p:ext>
            </p:extLst>
          </p:nvPr>
        </p:nvGraphicFramePr>
        <p:xfrm>
          <a:off x="397146" y="2501026"/>
          <a:ext cx="2929202" cy="128832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747" name="CS ChemDraw Drawing" r:id="rId3" imgW="1410958" imgH="619995" progId="ChemDraw.Document.6.0">
                  <p:embed/>
                </p:oleObj>
              </mc:Choice>
              <mc:Fallback>
                <p:oleObj name="CS ChemDraw Drawing" r:id="rId3" imgW="1410958" imgH="619995" progId="ChemDraw.Document.6.0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97146" y="2501026"/>
                        <a:ext cx="2929202" cy="1288323"/>
                      </a:xfrm>
                      <a:prstGeom prst="rect">
                        <a:avLst/>
                      </a:prstGeom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F2BA3224-63AD-410A-9CA4-E0FAE7ED8DB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95000206"/>
              </p:ext>
            </p:extLst>
          </p:nvPr>
        </p:nvGraphicFramePr>
        <p:xfrm>
          <a:off x="3719736" y="1437789"/>
          <a:ext cx="7572573" cy="274284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748" name="CS ChemDraw Drawing" r:id="rId5" imgW="4746989" imgH="1720050" progId="ChemDraw.Document.6.0">
                  <p:embed/>
                </p:oleObj>
              </mc:Choice>
              <mc:Fallback>
                <p:oleObj name="CS ChemDraw Drawing" r:id="rId5" imgW="4746989" imgH="1720050" progId="ChemDraw.Document.6.0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719736" y="1437789"/>
                        <a:ext cx="7572573" cy="274284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文本框 10">
            <a:extLst>
              <a:ext uri="{FF2B5EF4-FFF2-40B4-BE49-F238E27FC236}">
                <a16:creationId xmlns:a16="http://schemas.microsoft.com/office/drawing/2014/main" id="{6ADE783F-A770-4082-B389-6C541B370ED9}"/>
              </a:ext>
            </a:extLst>
          </p:cNvPr>
          <p:cNvSpPr txBox="1"/>
          <p:nvPr/>
        </p:nvSpPr>
        <p:spPr>
          <a:xfrm>
            <a:off x="3719736" y="4635083"/>
            <a:ext cx="748883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To determine whether a conformationally mobile molecule can be optically active, consider its most symmetric conformation.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A4DE5309-0E0C-4AAC-BB75-E662334222EB}"/>
              </a:ext>
            </a:extLst>
          </p:cNvPr>
          <p:cNvSpPr txBox="1"/>
          <p:nvPr/>
        </p:nvSpPr>
        <p:spPr>
          <a:xfrm>
            <a:off x="4367808" y="5681132"/>
            <a:ext cx="507656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We can consider cycloalkane rings as though they were flat (the most symmetric conformation) when determining chirality.</a:t>
            </a:r>
            <a:endParaRPr lang="zh-CN" altLang="en-US" b="1" dirty="0"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graphicFrame>
        <p:nvGraphicFramePr>
          <p:cNvPr id="17" name="对象 16">
            <a:extLst>
              <a:ext uri="{FF2B5EF4-FFF2-40B4-BE49-F238E27FC236}">
                <a16:creationId xmlns:a16="http://schemas.microsoft.com/office/drawing/2014/main" id="{4D18C821-7815-4719-A553-8B431F5CCB2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5285291"/>
              </p:ext>
            </p:extLst>
          </p:nvPr>
        </p:nvGraphicFramePr>
        <p:xfrm>
          <a:off x="502502" y="4870054"/>
          <a:ext cx="3019915" cy="185142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749" name="CS ChemDraw Drawing" r:id="rId7" imgW="1529721" imgH="938317" progId="ChemDraw.Document.6.0">
                  <p:embed/>
                </p:oleObj>
              </mc:Choice>
              <mc:Fallback>
                <p:oleObj name="CS ChemDraw Drawing" r:id="rId7" imgW="1529721" imgH="938317" progId="ChemDraw.Document.6.0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502502" y="4870054"/>
                        <a:ext cx="3019915" cy="185142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: 圆角 5">
            <a:extLst>
              <a:ext uri="{FF2B5EF4-FFF2-40B4-BE49-F238E27FC236}">
                <a16:creationId xmlns:a16="http://schemas.microsoft.com/office/drawing/2014/main" id="{EE173F65-8E79-4BAB-81E3-9D9B3EDF2C46}"/>
              </a:ext>
            </a:extLst>
          </p:cNvPr>
          <p:cNvSpPr/>
          <p:nvPr/>
        </p:nvSpPr>
        <p:spPr>
          <a:xfrm>
            <a:off x="371364" y="1815314"/>
            <a:ext cx="11449272" cy="1387210"/>
          </a:xfrm>
          <a:prstGeom prst="round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19</a:t>
            </a:fld>
            <a:endParaRPr lang="zh-CN" altLang="en-US"/>
          </a:p>
        </p:txBody>
      </p:sp>
      <p:sp>
        <p:nvSpPr>
          <p:cNvPr id="3" name="TextBox 2"/>
          <p:cNvSpPr txBox="1"/>
          <p:nvPr/>
        </p:nvSpPr>
        <p:spPr>
          <a:xfrm>
            <a:off x="263352" y="776659"/>
            <a:ext cx="1144927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b="1" dirty="0">
                <a:latin typeface="MS Reference Sans Serif" panose="020B0604030504040204" pitchFamily="34" charset="0"/>
                <a:cs typeface="Microsoft Sans Serif" pitchFamily="34" charset="0"/>
              </a:rPr>
              <a:t>Sometimes, perspective drawings can be time-consuming and cumbersome in indicating the stereochemistry of chiral molecules.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b="1" dirty="0">
                <a:highlight>
                  <a:srgbClr val="00FF00"/>
                </a:highlight>
                <a:latin typeface="MS Reference Sans Serif" panose="020B0604030504040204" pitchFamily="34" charset="0"/>
                <a:cs typeface="Microsoft Sans Serif" pitchFamily="34" charset="0"/>
              </a:rPr>
              <a:t>Fischer Projections</a:t>
            </a:r>
            <a:r>
              <a:rPr lang="en-US" altLang="zh-CN" b="1" dirty="0">
                <a:latin typeface="MS Reference Sans Serif" panose="020B0604030504040204" pitchFamily="34" charset="0"/>
                <a:cs typeface="Microsoft Sans Serif" pitchFamily="34" charset="0"/>
              </a:rPr>
              <a:t> are  </a:t>
            </a:r>
            <a:r>
              <a:rPr lang="en-US" altLang="zh-CN" b="1" dirty="0">
                <a:highlight>
                  <a:srgbClr val="FFFF00"/>
                </a:highlight>
                <a:latin typeface="MS Reference Sans Serif" panose="020B0604030504040204" pitchFamily="34" charset="0"/>
                <a:cs typeface="Microsoft Sans Serif" pitchFamily="34" charset="0"/>
              </a:rPr>
              <a:t>a symbolic way of drawing asymmetric carbon atoms rapidly</a:t>
            </a:r>
            <a:r>
              <a:rPr lang="en-US" altLang="zh-CN" b="1" dirty="0">
                <a:latin typeface="MS Reference Sans Serif" panose="020B0604030504040204" pitchFamily="34" charset="0"/>
                <a:cs typeface="Microsoft Sans Serif" pitchFamily="34" charset="0"/>
              </a:rPr>
              <a:t>.</a:t>
            </a:r>
          </a:p>
        </p:txBody>
      </p:sp>
      <p:sp>
        <p:nvSpPr>
          <p:cNvPr id="4" name="矩形 3"/>
          <p:cNvSpPr/>
          <p:nvPr/>
        </p:nvSpPr>
        <p:spPr>
          <a:xfrm>
            <a:off x="0" y="257303"/>
            <a:ext cx="3506088" cy="461665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</p:spPr>
        <p:txBody>
          <a:bodyPr wrap="none">
            <a:spAutoFit/>
          </a:bodyPr>
          <a:lstStyle/>
          <a:p>
            <a:r>
              <a:rPr lang="en-US" altLang="zh-CN" sz="2400" b="1" dirty="0">
                <a:latin typeface="MS Reference Sans Serif" panose="020B0604030504040204" pitchFamily="34" charset="0"/>
                <a:cs typeface="Microsoft Sans Serif" pitchFamily="34" charset="0"/>
              </a:rPr>
              <a:t>8. Fischer Projections</a:t>
            </a:r>
          </a:p>
        </p:txBody>
      </p:sp>
      <p:sp>
        <p:nvSpPr>
          <p:cNvPr id="5" name="矩形 4"/>
          <p:cNvSpPr/>
          <p:nvPr/>
        </p:nvSpPr>
        <p:spPr>
          <a:xfrm>
            <a:off x="374316" y="1770255"/>
            <a:ext cx="11449272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b="1" dirty="0">
                <a:latin typeface="MS Reference Sans Serif" panose="020B0604030504040204" pitchFamily="34" charset="0"/>
                <a:cs typeface="Microsoft Sans Serif" pitchFamily="34" charset="0"/>
              </a:rPr>
              <a:t>The Fischer projection looks like a cross, with the asymmetric carbon at the point where the lines cross.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b="1" dirty="0">
                <a:latin typeface="MS Reference Sans Serif" panose="020B0604030504040204" pitchFamily="34" charset="0"/>
                <a:cs typeface="Microsoft Sans Serif" pitchFamily="34" charset="0"/>
              </a:rPr>
              <a:t>The horizontal lines are taken to be wedges, namely bonds that project out toward the viewer.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b="1" dirty="0">
                <a:latin typeface="MS Reference Sans Serif" panose="020B0604030504040204" pitchFamily="34" charset="0"/>
                <a:cs typeface="Microsoft Sans Serif" pitchFamily="34" charset="0"/>
              </a:rPr>
              <a:t>The vertical lines are taken to be dashed lines, namely bonds that project away from the viewer.</a:t>
            </a:r>
            <a:endParaRPr lang="zh-CN" altLang="en-US" b="1" dirty="0">
              <a:latin typeface="MS Reference Sans Serif" panose="020B0604030504040204" pitchFamily="34" charset="0"/>
              <a:cs typeface="Microsoft Sans Serif" pitchFamily="34" charset="0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7136611" y="4412033"/>
            <a:ext cx="460851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rgbClr val="FF0000"/>
                </a:solidFill>
                <a:latin typeface="Consolas" panose="020B0609020204030204" pitchFamily="49" charset="0"/>
              </a:rPr>
              <a:t>“horizontal lines forward,</a:t>
            </a:r>
          </a:p>
          <a:p>
            <a:r>
              <a:rPr lang="en-US" altLang="zh-CN" sz="2400" b="1" dirty="0">
                <a:solidFill>
                  <a:srgbClr val="FF0000"/>
                </a:solidFill>
                <a:latin typeface="Consolas" panose="020B0609020204030204" pitchFamily="49" charset="0"/>
              </a:rPr>
              <a:t> vertical lines back”</a:t>
            </a:r>
            <a:endParaRPr lang="zh-CN" altLang="en-US" sz="2400" b="1" dirty="0">
              <a:solidFill>
                <a:srgbClr val="FF0000"/>
              </a:solidFill>
              <a:latin typeface="Consolas" panose="020B0609020204030204" pitchFamily="49" charset="0"/>
            </a:endParaRPr>
          </a:p>
        </p:txBody>
      </p:sp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DB8F263E-6B24-4696-9A96-464F2A351D7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83893624"/>
              </p:ext>
            </p:extLst>
          </p:nvPr>
        </p:nvGraphicFramePr>
        <p:xfrm>
          <a:off x="654342" y="3292642"/>
          <a:ext cx="5703492" cy="168567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652" name="CS ChemDraw Drawing" r:id="rId3" imgW="3712082" imgH="1096817" progId="ChemDraw.Document.6.0">
                  <p:embed/>
                </p:oleObj>
              </mc:Choice>
              <mc:Fallback>
                <p:oleObj name="CS ChemDraw Drawing" r:id="rId3" imgW="3712082" imgH="1096817" progId="ChemDraw.Document.6.0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54342" y="3292642"/>
                        <a:ext cx="5703492" cy="168567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>
            <a:extLst>
              <a:ext uri="{FF2B5EF4-FFF2-40B4-BE49-F238E27FC236}">
                <a16:creationId xmlns:a16="http://schemas.microsoft.com/office/drawing/2014/main" id="{79551216-B1FB-4984-91A3-2BF6661A593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19901528"/>
              </p:ext>
            </p:extLst>
          </p:nvPr>
        </p:nvGraphicFramePr>
        <p:xfrm>
          <a:off x="1919536" y="5089006"/>
          <a:ext cx="5215752" cy="1652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653" name="CS ChemDraw Drawing" r:id="rId5" imgW="3311273" imgH="1049552" progId="ChemDraw.Document.6.0">
                  <p:embed/>
                </p:oleObj>
              </mc:Choice>
              <mc:Fallback>
                <p:oleObj name="CS ChemDraw Drawing" r:id="rId5" imgW="3311273" imgH="1049552" progId="ChemDraw.Document.6.0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919536" y="5089006"/>
                        <a:ext cx="5215752" cy="16527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20</a:t>
            </a:fld>
            <a:endParaRPr lang="zh-CN" altLang="en-US"/>
          </a:p>
        </p:txBody>
      </p:sp>
      <p:sp>
        <p:nvSpPr>
          <p:cNvPr id="3" name="矩形 2"/>
          <p:cNvSpPr/>
          <p:nvPr/>
        </p:nvSpPr>
        <p:spPr>
          <a:xfrm>
            <a:off x="229984" y="798290"/>
            <a:ext cx="11770672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b="1" dirty="0">
                <a:highlight>
                  <a:srgbClr val="00FFFF"/>
                </a:highlight>
                <a:latin typeface="MS Reference Sans Serif" panose="020B0604030504040204" pitchFamily="34" charset="0"/>
                <a:cs typeface="Microsoft Sans Serif" pitchFamily="34" charset="0"/>
              </a:rPr>
              <a:t>Stereoisomers</a:t>
            </a:r>
            <a:r>
              <a:rPr lang="en-US" altLang="zh-CN" b="1" dirty="0">
                <a:latin typeface="MS Reference Sans Serif" panose="020B0604030504040204" pitchFamily="34" charset="0"/>
                <a:cs typeface="Microsoft Sans Serif" pitchFamily="34" charset="0"/>
              </a:rPr>
              <a:t>: isomers whose atoms are bonded together in the same order (</a:t>
            </a:r>
            <a:r>
              <a:rPr lang="en-US" altLang="zh-CN" b="1" dirty="0">
                <a:highlight>
                  <a:srgbClr val="FFFF00"/>
                </a:highlight>
                <a:latin typeface="MS Reference Sans Serif" panose="020B0604030504040204" pitchFamily="34" charset="0"/>
                <a:cs typeface="Microsoft Sans Serif" pitchFamily="34" charset="0"/>
              </a:rPr>
              <a:t>the same bonding sequence</a:t>
            </a:r>
            <a:r>
              <a:rPr lang="en-US" altLang="zh-CN" b="1" dirty="0">
                <a:latin typeface="MS Reference Sans Serif" panose="020B0604030504040204" pitchFamily="34" charset="0"/>
                <a:cs typeface="Microsoft Sans Serif" pitchFamily="34" charset="0"/>
              </a:rPr>
              <a:t>) but </a:t>
            </a:r>
            <a:r>
              <a:rPr lang="en-US" altLang="zh-CN" b="1" dirty="0">
                <a:highlight>
                  <a:srgbClr val="FFFF00"/>
                </a:highlight>
                <a:latin typeface="MS Reference Sans Serif" panose="020B0604030504040204" pitchFamily="34" charset="0"/>
                <a:cs typeface="Microsoft Sans Serif" pitchFamily="34" charset="0"/>
              </a:rPr>
              <a:t>differ in how the atoms are directed in space</a:t>
            </a:r>
            <a:r>
              <a:rPr lang="en-US" altLang="zh-CN" b="1" dirty="0">
                <a:latin typeface="MS Reference Sans Serif" panose="020B0604030504040204" pitchFamily="34" charset="0"/>
                <a:cs typeface="Microsoft Sans Serif" pitchFamily="34" charset="0"/>
              </a:rPr>
              <a:t>.</a:t>
            </a:r>
          </a:p>
          <a:p>
            <a:pPr>
              <a:buFont typeface="Arial" pitchFamily="34" charset="0"/>
              <a:buChar char="•"/>
            </a:pPr>
            <a:endParaRPr lang="en-US" altLang="zh-CN" b="1" dirty="0">
              <a:latin typeface="MS Reference Sans Serif" panose="020B0604030504040204" pitchFamily="34" charset="0"/>
              <a:cs typeface="Microsoft Sans Serif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b="1" dirty="0">
                <a:highlight>
                  <a:srgbClr val="00FFFF"/>
                </a:highlight>
                <a:latin typeface="MS Reference Sans Serif" panose="020B0604030504040204" pitchFamily="34" charset="0"/>
                <a:cs typeface="Microsoft Sans Serif" pitchFamily="34" charset="0"/>
              </a:rPr>
              <a:t>Enantiomers</a:t>
            </a:r>
            <a:r>
              <a:rPr lang="en-US" altLang="zh-CN" b="1" dirty="0">
                <a:latin typeface="MS Reference Sans Serif" panose="020B0604030504040204" pitchFamily="34" charset="0"/>
                <a:cs typeface="Microsoft Sans Serif" pitchFamily="34" charset="0"/>
              </a:rPr>
              <a:t>: </a:t>
            </a:r>
            <a:r>
              <a:rPr lang="en-US" altLang="zh-CN" b="1" dirty="0">
                <a:highlight>
                  <a:srgbClr val="FFFF00"/>
                </a:highlight>
                <a:latin typeface="MS Reference Sans Serif" panose="020B0604030504040204" pitchFamily="34" charset="0"/>
                <a:cs typeface="Microsoft Sans Serif" pitchFamily="34" charset="0"/>
              </a:rPr>
              <a:t>mirror-image stereoisomers</a:t>
            </a:r>
            <a:r>
              <a:rPr lang="en-US" altLang="zh-CN" b="1" dirty="0">
                <a:latin typeface="MS Reference Sans Serif" panose="020B0604030504040204" pitchFamily="34" charset="0"/>
                <a:cs typeface="Microsoft Sans Serif" pitchFamily="34" charset="0"/>
              </a:rPr>
              <a:t>.</a:t>
            </a:r>
          </a:p>
          <a:p>
            <a:pPr>
              <a:buFont typeface="Arial" pitchFamily="34" charset="0"/>
              <a:buChar char="•"/>
            </a:pPr>
            <a:endParaRPr lang="en-US" altLang="zh-CN" b="1" dirty="0">
              <a:latin typeface="MS Reference Sans Serif" panose="020B0604030504040204" pitchFamily="34" charset="0"/>
              <a:cs typeface="Microsoft Sans Serif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b="1" dirty="0">
                <a:highlight>
                  <a:srgbClr val="00FFFF"/>
                </a:highlight>
                <a:latin typeface="MS Reference Sans Serif" panose="020B0604030504040204" pitchFamily="34" charset="0"/>
                <a:cs typeface="Microsoft Sans Serif" pitchFamily="34" charset="0"/>
              </a:rPr>
              <a:t>Diastereomers</a:t>
            </a:r>
            <a:r>
              <a:rPr lang="en-US" altLang="zh-CN" b="1" dirty="0">
                <a:latin typeface="MS Reference Sans Serif" panose="020B0604030504040204" pitchFamily="34" charset="0"/>
                <a:cs typeface="Microsoft Sans Serif" pitchFamily="34" charset="0"/>
              </a:rPr>
              <a:t>: </a:t>
            </a:r>
            <a:r>
              <a:rPr lang="en-US" altLang="zh-CN" b="1" dirty="0">
                <a:highlight>
                  <a:srgbClr val="FFFF00"/>
                </a:highlight>
                <a:latin typeface="MS Reference Sans Serif" panose="020B0604030504040204" pitchFamily="34" charset="0"/>
                <a:cs typeface="Microsoft Sans Serif" pitchFamily="34" charset="0"/>
              </a:rPr>
              <a:t>all other stereoisomers that are not mirror images</a:t>
            </a:r>
            <a:r>
              <a:rPr lang="en-US" altLang="zh-CN" b="1" dirty="0">
                <a:latin typeface="MS Reference Sans Serif" panose="020B0604030504040204" pitchFamily="34" charset="0"/>
                <a:cs typeface="Microsoft Sans Serif" pitchFamily="34" charset="0"/>
              </a:rPr>
              <a:t>.</a:t>
            </a:r>
          </a:p>
          <a:p>
            <a:pPr>
              <a:buFont typeface="Arial" pitchFamily="34" charset="0"/>
              <a:buChar char="•"/>
            </a:pPr>
            <a:endParaRPr lang="en-US" altLang="zh-CN" b="1" dirty="0">
              <a:latin typeface="MS Reference Sans Serif" panose="020B0604030504040204" pitchFamily="34" charset="0"/>
              <a:cs typeface="Microsoft Sans Serif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b="1" dirty="0">
                <a:latin typeface="MS Reference Sans Serif" panose="020B0604030504040204" pitchFamily="34" charset="0"/>
                <a:cs typeface="Microsoft Sans Serif" pitchFamily="34" charset="0"/>
              </a:rPr>
              <a:t>Most diastereomers are either </a:t>
            </a:r>
            <a:r>
              <a:rPr lang="en-US" altLang="zh-CN" b="1" i="1" dirty="0">
                <a:highlight>
                  <a:srgbClr val="00FF00"/>
                </a:highlight>
                <a:latin typeface="MS Reference Sans Serif" panose="020B0604030504040204" pitchFamily="34" charset="0"/>
                <a:cs typeface="Microsoft Sans Serif" pitchFamily="34" charset="0"/>
              </a:rPr>
              <a:t>cis</a:t>
            </a:r>
            <a:r>
              <a:rPr lang="en-US" altLang="zh-CN" b="1" dirty="0">
                <a:highlight>
                  <a:srgbClr val="00FF00"/>
                </a:highlight>
                <a:latin typeface="MS Reference Sans Serif" panose="020B0604030504040204" pitchFamily="34" charset="0"/>
                <a:cs typeface="Microsoft Sans Serif" pitchFamily="34" charset="0"/>
              </a:rPr>
              <a:t>, </a:t>
            </a:r>
            <a:r>
              <a:rPr lang="en-US" altLang="zh-CN" b="1" i="1" dirty="0">
                <a:highlight>
                  <a:srgbClr val="00FF00"/>
                </a:highlight>
                <a:latin typeface="MS Reference Sans Serif" panose="020B0604030504040204" pitchFamily="34" charset="0"/>
                <a:cs typeface="Microsoft Sans Serif" pitchFamily="34" charset="0"/>
              </a:rPr>
              <a:t>trans</a:t>
            </a:r>
            <a:r>
              <a:rPr lang="en-US" altLang="zh-CN" b="1" dirty="0">
                <a:highlight>
                  <a:srgbClr val="00FF00"/>
                </a:highlight>
                <a:latin typeface="MS Reference Sans Serif" panose="020B0604030504040204" pitchFamily="34" charset="0"/>
                <a:cs typeface="Microsoft Sans Serif" pitchFamily="34" charset="0"/>
              </a:rPr>
              <a:t>-isomers</a:t>
            </a:r>
            <a:r>
              <a:rPr lang="en-US" altLang="zh-CN" b="1" dirty="0">
                <a:latin typeface="MS Reference Sans Serif" panose="020B0604030504040204" pitchFamily="34" charset="0"/>
                <a:cs typeface="Microsoft Sans Serif" pitchFamily="34" charset="0"/>
              </a:rPr>
              <a:t>  or </a:t>
            </a:r>
            <a:r>
              <a:rPr lang="en-US" altLang="zh-CN" b="1" dirty="0">
                <a:highlight>
                  <a:srgbClr val="00FF00"/>
                </a:highlight>
                <a:latin typeface="MS Reference Sans Serif" panose="020B0604030504040204" pitchFamily="34" charset="0"/>
                <a:cs typeface="Microsoft Sans Serif" pitchFamily="34" charset="0"/>
              </a:rPr>
              <a:t>compounds containing two or more chirality centers</a:t>
            </a:r>
            <a:r>
              <a:rPr lang="en-US" altLang="zh-CN" b="1" dirty="0">
                <a:latin typeface="MS Reference Sans Serif" panose="020B0604030504040204" pitchFamily="34" charset="0"/>
                <a:cs typeface="Microsoft Sans Serif" pitchFamily="34" charset="0"/>
              </a:rPr>
              <a:t>.</a:t>
            </a:r>
          </a:p>
        </p:txBody>
      </p:sp>
      <p:sp>
        <p:nvSpPr>
          <p:cNvPr id="4" name="矩形 3"/>
          <p:cNvSpPr/>
          <p:nvPr/>
        </p:nvSpPr>
        <p:spPr>
          <a:xfrm>
            <a:off x="1684512" y="4844281"/>
            <a:ext cx="2393604" cy="461665"/>
          </a:xfrm>
          <a:prstGeom prst="rect">
            <a:avLst/>
          </a:prstGeom>
          <a:solidFill>
            <a:srgbClr val="FFFF00"/>
          </a:solidFill>
          <a:ln w="38100">
            <a:solidFill>
              <a:schemeClr val="tx1"/>
            </a:solidFill>
          </a:ln>
        </p:spPr>
        <p:txBody>
          <a:bodyPr wrap="none">
            <a:spAutoFit/>
          </a:bodyPr>
          <a:lstStyle/>
          <a:p>
            <a:r>
              <a:rPr lang="en-US" altLang="zh-CN" sz="2400" b="1" dirty="0" err="1">
                <a:latin typeface="Consolas" panose="020B0609020204030204" pitchFamily="49" charset="0"/>
              </a:rPr>
              <a:t>Stereoisomers</a:t>
            </a:r>
            <a:endParaRPr lang="zh-CN" altLang="en-US" sz="2400" dirty="0">
              <a:latin typeface="Consolas" panose="020B0609020204030204" pitchFamily="49" charset="0"/>
            </a:endParaRPr>
          </a:p>
        </p:txBody>
      </p:sp>
      <p:cxnSp>
        <p:nvCxnSpPr>
          <p:cNvPr id="6" name="直接箭头连接符 5"/>
          <p:cNvCxnSpPr/>
          <p:nvPr/>
        </p:nvCxnSpPr>
        <p:spPr>
          <a:xfrm flipV="1">
            <a:off x="4073742" y="4493151"/>
            <a:ext cx="504056" cy="364396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箭头连接符 7"/>
          <p:cNvCxnSpPr/>
          <p:nvPr/>
        </p:nvCxnSpPr>
        <p:spPr>
          <a:xfrm>
            <a:off x="4073742" y="5309092"/>
            <a:ext cx="504056" cy="360040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矩形 17"/>
          <p:cNvSpPr/>
          <p:nvPr/>
        </p:nvSpPr>
        <p:spPr>
          <a:xfrm>
            <a:off x="4583832" y="4293096"/>
            <a:ext cx="2053767" cy="461665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38100">
            <a:solidFill>
              <a:srgbClr val="00B050"/>
            </a:solidFill>
          </a:ln>
        </p:spPr>
        <p:txBody>
          <a:bodyPr wrap="none">
            <a:spAutoFit/>
          </a:bodyPr>
          <a:lstStyle/>
          <a:p>
            <a:r>
              <a:rPr lang="en-US" altLang="zh-CN" sz="2400" b="1" dirty="0">
                <a:latin typeface="Consolas" panose="020B0609020204030204" pitchFamily="49" charset="0"/>
              </a:rPr>
              <a:t>Enantiomers</a:t>
            </a:r>
            <a:endParaRPr lang="zh-CN" altLang="en-US" sz="2400" dirty="0">
              <a:latin typeface="Consolas" panose="020B0609020204030204" pitchFamily="49" charset="0"/>
            </a:endParaRPr>
          </a:p>
        </p:txBody>
      </p:sp>
      <p:sp>
        <p:nvSpPr>
          <p:cNvPr id="24" name="矩形 23"/>
          <p:cNvSpPr/>
          <p:nvPr/>
        </p:nvSpPr>
        <p:spPr>
          <a:xfrm>
            <a:off x="4577798" y="5492458"/>
            <a:ext cx="2393604" cy="46166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38100">
            <a:solidFill>
              <a:srgbClr val="00B050"/>
            </a:solidFill>
          </a:ln>
        </p:spPr>
        <p:txBody>
          <a:bodyPr wrap="none">
            <a:spAutoFit/>
          </a:bodyPr>
          <a:lstStyle/>
          <a:p>
            <a:r>
              <a:rPr lang="en-US" altLang="zh-CN" sz="2400" b="1" dirty="0">
                <a:latin typeface="Consolas" panose="020B0609020204030204" pitchFamily="49" charset="0"/>
              </a:rPr>
              <a:t>Diastereomers</a:t>
            </a:r>
            <a:endParaRPr lang="zh-CN" altLang="en-US" sz="2400" dirty="0">
              <a:latin typeface="Consolas" panose="020B0609020204030204" pitchFamily="49" charset="0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0" y="260648"/>
            <a:ext cx="2848857" cy="461665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</p:spPr>
        <p:txBody>
          <a:bodyPr wrap="none">
            <a:spAutoFit/>
          </a:bodyPr>
          <a:lstStyle/>
          <a:p>
            <a:r>
              <a:rPr lang="en-US" altLang="zh-CN" sz="2400" b="1" dirty="0">
                <a:latin typeface="MS Reference Sans Serif" panose="020B0604030504040204" pitchFamily="34" charset="0"/>
                <a:cs typeface="Microsoft Sans Serif" pitchFamily="34" charset="0"/>
              </a:rPr>
              <a:t>9. Diastereomers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7320136" y="4323873"/>
            <a:ext cx="385233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b="1" dirty="0">
                <a:latin typeface="Consolas" panose="020B0609020204030204" pitchFamily="49" charset="0"/>
              </a:rPr>
              <a:t>mirror-image stereoisomers</a:t>
            </a:r>
            <a:endParaRPr lang="zh-CN" altLang="en-US" sz="2000" b="1" dirty="0">
              <a:latin typeface="Consolas" panose="020B0609020204030204" pitchFamily="49" charset="0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7320136" y="5374374"/>
            <a:ext cx="355403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>
                <a:latin typeface="Consolas" panose="020B0609020204030204" pitchFamily="49" charset="0"/>
              </a:rPr>
              <a:t>stereoisomers that are not mirror images</a:t>
            </a:r>
            <a:endParaRPr lang="zh-CN" altLang="en-US" sz="2000" b="1" dirty="0">
              <a:latin typeface="Consolas" panose="020B0609020204030204" pitchFamily="49" charset="0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21</a:t>
            </a:fld>
            <a:endParaRPr lang="zh-CN" altLang="en-US"/>
          </a:p>
        </p:txBody>
      </p:sp>
      <p:sp>
        <p:nvSpPr>
          <p:cNvPr id="10" name="矩形 9"/>
          <p:cNvSpPr/>
          <p:nvPr/>
        </p:nvSpPr>
        <p:spPr>
          <a:xfrm>
            <a:off x="6400" y="269684"/>
            <a:ext cx="4477829" cy="40011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none">
            <a:spAutoFit/>
          </a:bodyPr>
          <a:lstStyle/>
          <a:p>
            <a:r>
              <a:rPr lang="en-US" altLang="zh-CN" sz="2000" b="1" dirty="0">
                <a:latin typeface="MS Reference Sans Serif" panose="020B0604030504040204" pitchFamily="34" charset="0"/>
                <a:cs typeface="Microsoft Sans Serif" pitchFamily="34" charset="0"/>
              </a:rPr>
              <a:t>9-1 </a:t>
            </a:r>
            <a:r>
              <a:rPr lang="en-US" altLang="zh-CN" sz="2000" b="1" i="1" dirty="0">
                <a:latin typeface="MS Reference Sans Serif" panose="020B0604030504040204" pitchFamily="34" charset="0"/>
                <a:cs typeface="Microsoft Sans Serif" pitchFamily="34" charset="0"/>
              </a:rPr>
              <a:t>cis-trans</a:t>
            </a:r>
            <a:r>
              <a:rPr lang="en-US" altLang="zh-CN" sz="2000" b="1" dirty="0">
                <a:latin typeface="MS Reference Sans Serif" panose="020B0604030504040204" pitchFamily="34" charset="0"/>
                <a:cs typeface="Microsoft Sans Serif" pitchFamily="34" charset="0"/>
              </a:rPr>
              <a:t> Isomerism on Rings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119336" y="764704"/>
            <a:ext cx="753360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b="1" dirty="0">
                <a:latin typeface="MS Reference Sans Serif" panose="020B060403050404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Cis-trans isomerism is possible when there is a ring present.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b="1" dirty="0">
                <a:highlight>
                  <a:srgbClr val="FFFF00"/>
                </a:highlight>
                <a:latin typeface="MS Reference Sans Serif" panose="020B060403050404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Cis-trans isomers are diastereomers</a:t>
            </a:r>
            <a:r>
              <a:rPr lang="en-US" altLang="zh-CN" b="1" dirty="0">
                <a:latin typeface="MS Reference Sans Serif" panose="020B060403050404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.</a:t>
            </a:r>
            <a:endParaRPr lang="zh-CN" altLang="en-US" b="1" dirty="0">
              <a:latin typeface="MS Reference Sans Serif" panose="020B0604030504040204" pitchFamily="34" charset="0"/>
              <a:cs typeface="Microsoft Sans Serif" panose="020B0604020202020204" pitchFamily="34" charset="0"/>
            </a:endParaRPr>
          </a:p>
        </p:txBody>
      </p:sp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44BA1FB4-7071-46E9-907E-A85836A8359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79372214"/>
              </p:ext>
            </p:extLst>
          </p:nvPr>
        </p:nvGraphicFramePr>
        <p:xfrm>
          <a:off x="2058331" y="1916832"/>
          <a:ext cx="7920880" cy="433418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850" name="CS ChemDraw Drawing" r:id="rId3" imgW="4088463" imgH="2236977" progId="ChemDraw.Document.6.0">
                  <p:embed/>
                </p:oleObj>
              </mc:Choice>
              <mc:Fallback>
                <p:oleObj name="CS ChemDraw Drawing" r:id="rId3" imgW="4088463" imgH="2236977" progId="ChemDraw.Document.6.0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058331" y="1916832"/>
                        <a:ext cx="7920880" cy="433418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45AA60BB-5603-4D38-B69A-35EEBCB9F6C7}"/>
              </a:ext>
            </a:extLst>
          </p:cNvPr>
          <p:cNvSpPr/>
          <p:nvPr/>
        </p:nvSpPr>
        <p:spPr>
          <a:xfrm>
            <a:off x="7320136" y="5445224"/>
            <a:ext cx="3672408" cy="923330"/>
          </a:xfrm>
          <a:prstGeom prst="round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22</a:t>
            </a:fld>
            <a:endParaRPr lang="zh-CN" altLang="en-US"/>
          </a:p>
        </p:txBody>
      </p:sp>
      <p:sp>
        <p:nvSpPr>
          <p:cNvPr id="3" name="矩形 2"/>
          <p:cNvSpPr/>
          <p:nvPr/>
        </p:nvSpPr>
        <p:spPr>
          <a:xfrm>
            <a:off x="191344" y="724318"/>
            <a:ext cx="1159328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b="1" dirty="0">
                <a:latin typeface="MS Reference Sans Serif" panose="020B0604030504040204" pitchFamily="34" charset="0"/>
                <a:cs typeface="Microsoft Sans Serif" pitchFamily="34" charset="0"/>
              </a:rPr>
              <a:t>A compound with 2 asymmetric carbon atoms can have 4 stereoisomers, as a result of all the permutations of (</a:t>
            </a:r>
            <a:r>
              <a:rPr lang="en-US" altLang="zh-CN" b="1" i="1" dirty="0">
                <a:latin typeface="MS Reference Sans Serif" panose="020B0604030504040204" pitchFamily="34" charset="0"/>
                <a:cs typeface="Microsoft Sans Serif" pitchFamily="34" charset="0"/>
              </a:rPr>
              <a:t>R</a:t>
            </a:r>
            <a:r>
              <a:rPr lang="en-US" altLang="zh-CN" b="1" dirty="0">
                <a:latin typeface="MS Reference Sans Serif" panose="020B0604030504040204" pitchFamily="34" charset="0"/>
                <a:cs typeface="Microsoft Sans Serif" pitchFamily="34" charset="0"/>
              </a:rPr>
              <a:t>) and (</a:t>
            </a:r>
            <a:r>
              <a:rPr lang="en-US" altLang="zh-CN" b="1" i="1" dirty="0">
                <a:latin typeface="MS Reference Sans Serif" panose="020B0604030504040204" pitchFamily="34" charset="0"/>
                <a:cs typeface="Microsoft Sans Serif" pitchFamily="34" charset="0"/>
              </a:rPr>
              <a:t>S</a:t>
            </a:r>
            <a:r>
              <a:rPr lang="en-US" altLang="zh-CN" b="1" dirty="0">
                <a:latin typeface="MS Reference Sans Serif" panose="020B0604030504040204" pitchFamily="34" charset="0"/>
                <a:cs typeface="Microsoft Sans Serif" pitchFamily="34" charset="0"/>
              </a:rPr>
              <a:t>) configurations at the two asymmetric carbon atoms.</a:t>
            </a:r>
            <a:endParaRPr lang="en-US" altLang="zh-CN" b="1" dirty="0">
              <a:solidFill>
                <a:srgbClr val="FF0000"/>
              </a:solidFill>
              <a:latin typeface="MS Reference Sans Serif" panose="020B0604030504040204" pitchFamily="34" charset="0"/>
              <a:cs typeface="Microsoft Sans Serif" pitchFamily="34" charset="0"/>
            </a:endParaRPr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07580549"/>
              </p:ext>
            </p:extLst>
          </p:nvPr>
        </p:nvGraphicFramePr>
        <p:xfrm>
          <a:off x="1559496" y="1564319"/>
          <a:ext cx="5521016" cy="1981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770" name="CS ChemDraw Drawing" r:id="rId3" imgW="3193988" imgH="1146039" progId="ChemDraw.Document.6.0">
                  <p:embed/>
                </p:oleObj>
              </mc:Choice>
              <mc:Fallback>
                <p:oleObj name="CS ChemDraw Drawing" r:id="rId3" imgW="3193988" imgH="1146039" progId="ChemDraw.Document.6.0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59496" y="1564319"/>
                        <a:ext cx="5521016" cy="1981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矩形 6">
            <a:extLst>
              <a:ext uri="{FF2B5EF4-FFF2-40B4-BE49-F238E27FC236}">
                <a16:creationId xmlns:a16="http://schemas.microsoft.com/office/drawing/2014/main" id="{A7148442-10BA-4C8F-B302-BD9F850201B8}"/>
              </a:ext>
            </a:extLst>
          </p:cNvPr>
          <p:cNvSpPr/>
          <p:nvPr/>
        </p:nvSpPr>
        <p:spPr>
          <a:xfrm>
            <a:off x="0" y="252620"/>
            <a:ext cx="10344472" cy="40011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zh-CN" sz="2000" b="1" dirty="0">
                <a:latin typeface="MS Reference Sans Serif" panose="020B0604030504040204" pitchFamily="34" charset="0"/>
                <a:cs typeface="Microsoft Sans Serif" pitchFamily="34" charset="0"/>
              </a:rPr>
              <a:t>9-2 Diastereomers of Molecules with Two or More Asymmetric Carbons</a:t>
            </a:r>
          </a:p>
        </p:txBody>
      </p:sp>
      <p:graphicFrame>
        <p:nvGraphicFramePr>
          <p:cNvPr id="8" name="对象 7">
            <a:extLst>
              <a:ext uri="{FF2B5EF4-FFF2-40B4-BE49-F238E27FC236}">
                <a16:creationId xmlns:a16="http://schemas.microsoft.com/office/drawing/2014/main" id="{C88DC606-8C27-4DE8-AF43-46FE8CFAAA3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01876878"/>
              </p:ext>
            </p:extLst>
          </p:nvPr>
        </p:nvGraphicFramePr>
        <p:xfrm>
          <a:off x="479376" y="4046953"/>
          <a:ext cx="6048672" cy="22047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771" name="CS ChemDraw Drawing" r:id="rId5" imgW="3361678" imgH="1225322" progId="ChemDraw.Document.6.0">
                  <p:embed/>
                </p:oleObj>
              </mc:Choice>
              <mc:Fallback>
                <p:oleObj name="CS ChemDraw Drawing" r:id="rId5" imgW="3361678" imgH="1225322" progId="ChemDraw.Document.6.0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79376" y="4046953"/>
                        <a:ext cx="6048672" cy="220471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文本框 9">
            <a:extLst>
              <a:ext uri="{FF2B5EF4-FFF2-40B4-BE49-F238E27FC236}">
                <a16:creationId xmlns:a16="http://schemas.microsoft.com/office/drawing/2014/main" id="{F9250271-D5BC-47F9-BE60-EC0F49FF9B0C}"/>
              </a:ext>
            </a:extLst>
          </p:cNvPr>
          <p:cNvSpPr txBox="1"/>
          <p:nvPr/>
        </p:nvSpPr>
        <p:spPr>
          <a:xfrm>
            <a:off x="2213810" y="6251663"/>
            <a:ext cx="316835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dirty="0">
                <a:solidFill>
                  <a:srgbClr val="0000FF"/>
                </a:solidFill>
                <a:latin typeface="Microsoft Sans Serif" pitchFamily="34" charset="0"/>
                <a:cs typeface="Microsoft Sans Serif" pitchFamily="34" charset="0"/>
              </a:rPr>
              <a:t>2-bromo-3-chlorobutane</a:t>
            </a:r>
            <a:endParaRPr lang="zh-CN" altLang="en-US" dirty="0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7EF2530F-63CC-4CF5-A1F6-25EB64DBE3E0}"/>
              </a:ext>
            </a:extLst>
          </p:cNvPr>
          <p:cNvSpPr txBox="1"/>
          <p:nvPr/>
        </p:nvSpPr>
        <p:spPr>
          <a:xfrm>
            <a:off x="7394117" y="5439123"/>
            <a:ext cx="3958467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dirty="0">
                <a:latin typeface="Microsoft Sans Serif" pitchFamily="34" charset="0"/>
                <a:cs typeface="Microsoft Sans Serif" pitchFamily="34" charset="0"/>
              </a:rPr>
              <a:t>Either member of one pair of enantiomers is a diastereomer of either member of the other pair.</a:t>
            </a:r>
          </a:p>
        </p:txBody>
      </p:sp>
      <p:graphicFrame>
        <p:nvGraphicFramePr>
          <p:cNvPr id="13" name="表格 13">
            <a:extLst>
              <a:ext uri="{FF2B5EF4-FFF2-40B4-BE49-F238E27FC236}">
                <a16:creationId xmlns:a16="http://schemas.microsoft.com/office/drawing/2014/main" id="{6576F00A-4557-4E96-A5A3-12025432623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67568020"/>
              </p:ext>
            </p:extLst>
          </p:nvPr>
        </p:nvGraphicFramePr>
        <p:xfrm>
          <a:off x="7398075" y="3285893"/>
          <a:ext cx="3834650" cy="1854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917325">
                  <a:extLst>
                    <a:ext uri="{9D8B030D-6E8A-4147-A177-3AD203B41FA5}">
                      <a16:colId xmlns:a16="http://schemas.microsoft.com/office/drawing/2014/main" val="1342451021"/>
                    </a:ext>
                  </a:extLst>
                </a:gridCol>
                <a:gridCol w="1917325">
                  <a:extLst>
                    <a:ext uri="{9D8B030D-6E8A-4147-A177-3AD203B41FA5}">
                      <a16:colId xmlns:a16="http://schemas.microsoft.com/office/drawing/2014/main" val="344410414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Enantiomers</a:t>
                      </a:r>
                      <a:endParaRPr lang="zh-CN" altLang="en-US" sz="1800" b="1" dirty="0">
                        <a:latin typeface="Microsoft Sans Serif" panose="020B0604020202020204" pitchFamily="34" charset="0"/>
                        <a:cs typeface="Microsoft Sans Serif" panose="020B0604020202020204" pitchFamily="34" charset="0"/>
                      </a:endParaRP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Diastereomers</a:t>
                      </a:r>
                      <a:endParaRPr lang="zh-CN" altLang="en-US" sz="1800" b="1" dirty="0">
                        <a:latin typeface="Microsoft Sans Serif" panose="020B0604020202020204" pitchFamily="34" charset="0"/>
                        <a:cs typeface="Microsoft Sans Serif" panose="020B0604020202020204" pitchFamily="34" charset="0"/>
                      </a:endParaRP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746032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dirty="0">
                          <a:latin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A&amp;B</a:t>
                      </a:r>
                      <a:endParaRPr lang="zh-CN" altLang="en-US" sz="1800" b="1" dirty="0">
                        <a:latin typeface="Microsoft Sans Serif" panose="020B0604020202020204" pitchFamily="34" charset="0"/>
                        <a:cs typeface="Microsoft Sans Serif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dirty="0">
                          <a:latin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A&amp;C</a:t>
                      </a:r>
                      <a:endParaRPr lang="zh-CN" altLang="en-US" sz="1800" b="1" dirty="0">
                        <a:latin typeface="Microsoft Sans Serif" panose="020B0604020202020204" pitchFamily="34" charset="0"/>
                        <a:cs typeface="Microsoft Sans Serif" panose="020B06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245648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dirty="0">
                          <a:latin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C&amp;D</a:t>
                      </a:r>
                      <a:endParaRPr lang="zh-CN" altLang="en-US" sz="1800" b="1" dirty="0">
                        <a:latin typeface="Microsoft Sans Serif" panose="020B0604020202020204" pitchFamily="34" charset="0"/>
                        <a:cs typeface="Microsoft Sans Serif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dirty="0">
                          <a:latin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A&amp;D</a:t>
                      </a:r>
                      <a:endParaRPr lang="zh-CN" altLang="en-US" sz="1800" b="1" dirty="0">
                        <a:latin typeface="Microsoft Sans Serif" panose="020B0604020202020204" pitchFamily="34" charset="0"/>
                        <a:cs typeface="Microsoft Sans Serif" panose="020B06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997363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zh-CN" altLang="en-US" sz="1800" b="1">
                        <a:latin typeface="Microsoft Sans Serif" panose="020B0604020202020204" pitchFamily="34" charset="0"/>
                        <a:cs typeface="Microsoft Sans Serif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dirty="0">
                          <a:latin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B&amp;C</a:t>
                      </a:r>
                      <a:endParaRPr lang="zh-CN" altLang="en-US" sz="1800" b="1" dirty="0">
                        <a:latin typeface="Microsoft Sans Serif" panose="020B0604020202020204" pitchFamily="34" charset="0"/>
                        <a:cs typeface="Microsoft Sans Serif" panose="020B06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541272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zh-CN" altLang="en-US" sz="1800" b="1">
                        <a:latin typeface="Microsoft Sans Serif" panose="020B0604020202020204" pitchFamily="34" charset="0"/>
                        <a:cs typeface="Microsoft Sans Serif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dirty="0">
                          <a:latin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B&amp;D</a:t>
                      </a:r>
                      <a:endParaRPr lang="zh-CN" altLang="en-US" sz="1800" b="1" dirty="0">
                        <a:latin typeface="Microsoft Sans Serif" panose="020B0604020202020204" pitchFamily="34" charset="0"/>
                        <a:cs typeface="Microsoft Sans Serif" panose="020B06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605494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23</a:t>
            </a:fld>
            <a:endParaRPr lang="zh-CN" altLang="en-US"/>
          </a:p>
        </p:txBody>
      </p:sp>
      <p:sp>
        <p:nvSpPr>
          <p:cNvPr id="14" name="TextBox 4">
            <a:extLst>
              <a:ext uri="{FF2B5EF4-FFF2-40B4-BE49-F238E27FC236}">
                <a16:creationId xmlns:a16="http://schemas.microsoft.com/office/drawing/2014/main" id="{D1B3D5A7-EEDD-4349-B485-F98DF383CEBE}"/>
              </a:ext>
            </a:extLst>
          </p:cNvPr>
          <p:cNvSpPr txBox="1"/>
          <p:nvPr/>
        </p:nvSpPr>
        <p:spPr>
          <a:xfrm>
            <a:off x="191344" y="213027"/>
            <a:ext cx="1169092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b="1" dirty="0">
                <a:highlight>
                  <a:srgbClr val="FFFF00"/>
                </a:highlight>
                <a:latin typeface="MS Reference Sans Serif" panose="020B0604030504040204" pitchFamily="34" charset="0"/>
                <a:cs typeface="Microsoft Sans Serif" pitchFamily="34" charset="0"/>
              </a:rPr>
              <a:t>A compound with </a:t>
            </a:r>
            <a:r>
              <a:rPr lang="en-US" altLang="zh-CN" b="1" i="1" dirty="0">
                <a:highlight>
                  <a:srgbClr val="FFFF00"/>
                </a:highlight>
                <a:latin typeface="MS Reference Sans Serif" panose="020B0604030504040204" pitchFamily="34" charset="0"/>
                <a:cs typeface="Microsoft Sans Serif" pitchFamily="34" charset="0"/>
              </a:rPr>
              <a:t>n</a:t>
            </a:r>
            <a:r>
              <a:rPr lang="en-US" altLang="zh-CN" b="1" dirty="0">
                <a:highlight>
                  <a:srgbClr val="FFFF00"/>
                </a:highlight>
                <a:latin typeface="MS Reference Sans Serif" panose="020B0604030504040204" pitchFamily="34" charset="0"/>
                <a:cs typeface="Microsoft Sans Serif" pitchFamily="34" charset="0"/>
              </a:rPr>
              <a:t> asymmetric carbon atoms often has 2</a:t>
            </a:r>
            <a:r>
              <a:rPr lang="en-US" altLang="zh-CN" b="1" baseline="30000" dirty="0">
                <a:highlight>
                  <a:srgbClr val="FFFF00"/>
                </a:highlight>
                <a:latin typeface="MS Reference Sans Serif" panose="020B0604030504040204" pitchFamily="34" charset="0"/>
                <a:cs typeface="Microsoft Sans Serif" pitchFamily="34" charset="0"/>
              </a:rPr>
              <a:t>n</a:t>
            </a:r>
            <a:r>
              <a:rPr lang="en-US" altLang="zh-CN" b="1" dirty="0">
                <a:highlight>
                  <a:srgbClr val="FFFF00"/>
                </a:highlight>
                <a:latin typeface="MS Reference Sans Serif" panose="020B0604030504040204" pitchFamily="34" charset="0"/>
                <a:cs typeface="Microsoft Sans Serif" pitchFamily="34" charset="0"/>
              </a:rPr>
              <a:t> stereoisomers</a:t>
            </a:r>
            <a:r>
              <a:rPr lang="en-US" altLang="zh-CN" b="1" dirty="0">
                <a:latin typeface="MS Reference Sans Serif" panose="020B0604030504040204" pitchFamily="34" charset="0"/>
                <a:cs typeface="Microsoft Sans Serif" pitchFamily="34" charset="0"/>
              </a:rPr>
              <a:t>. This formula is called </a:t>
            </a:r>
            <a:r>
              <a:rPr lang="en-US" altLang="zh-CN" b="1" dirty="0">
                <a:highlight>
                  <a:srgbClr val="00FFFF"/>
                </a:highlight>
                <a:latin typeface="MS Reference Sans Serif" panose="020B0604030504040204" pitchFamily="34" charset="0"/>
                <a:cs typeface="Microsoft Sans Serif" pitchFamily="34" charset="0"/>
              </a:rPr>
              <a:t>the 2</a:t>
            </a:r>
            <a:r>
              <a:rPr lang="en-US" altLang="zh-CN" b="1" baseline="30000" dirty="0">
                <a:highlight>
                  <a:srgbClr val="00FFFF"/>
                </a:highlight>
                <a:latin typeface="MS Reference Sans Serif" panose="020B0604030504040204" pitchFamily="34" charset="0"/>
                <a:cs typeface="Microsoft Sans Serif" pitchFamily="34" charset="0"/>
              </a:rPr>
              <a:t>n</a:t>
            </a:r>
            <a:r>
              <a:rPr lang="en-US" altLang="zh-CN" b="1" dirty="0">
                <a:highlight>
                  <a:srgbClr val="00FFFF"/>
                </a:highlight>
                <a:latin typeface="MS Reference Sans Serif" panose="020B0604030504040204" pitchFamily="34" charset="0"/>
                <a:cs typeface="Microsoft Sans Serif" pitchFamily="34" charset="0"/>
              </a:rPr>
              <a:t> rule</a:t>
            </a:r>
            <a:r>
              <a:rPr lang="en-US" altLang="zh-CN" b="1" dirty="0">
                <a:latin typeface="MS Reference Sans Serif" panose="020B0604030504040204" pitchFamily="34" charset="0"/>
                <a:cs typeface="Microsoft Sans Serif" pitchFamily="34" charset="0"/>
              </a:rPr>
              <a:t>. It suggests we should look for </a:t>
            </a:r>
            <a:r>
              <a:rPr lang="en-US" altLang="zh-CN" b="1" dirty="0">
                <a:highlight>
                  <a:srgbClr val="FFFF00"/>
                </a:highlight>
                <a:latin typeface="MS Reference Sans Serif" panose="020B0604030504040204" pitchFamily="34" charset="0"/>
                <a:cs typeface="Microsoft Sans Serif" pitchFamily="34" charset="0"/>
              </a:rPr>
              <a:t>a maximum of 2</a:t>
            </a:r>
            <a:r>
              <a:rPr lang="en-US" altLang="zh-CN" b="1" baseline="30000" dirty="0">
                <a:highlight>
                  <a:srgbClr val="FFFF00"/>
                </a:highlight>
                <a:latin typeface="MS Reference Sans Serif" panose="020B0604030504040204" pitchFamily="34" charset="0"/>
                <a:cs typeface="Microsoft Sans Serif" pitchFamily="34" charset="0"/>
              </a:rPr>
              <a:t>n</a:t>
            </a:r>
            <a:r>
              <a:rPr lang="en-US" altLang="zh-CN" b="1" dirty="0">
                <a:highlight>
                  <a:srgbClr val="FFFF00"/>
                </a:highlight>
                <a:latin typeface="MS Reference Sans Serif" panose="020B0604030504040204" pitchFamily="34" charset="0"/>
                <a:cs typeface="Microsoft Sans Serif" pitchFamily="34" charset="0"/>
              </a:rPr>
              <a:t> </a:t>
            </a:r>
            <a:r>
              <a:rPr lang="en-US" altLang="zh-CN" b="1" dirty="0" err="1">
                <a:highlight>
                  <a:srgbClr val="FFFF00"/>
                </a:highlight>
                <a:latin typeface="MS Reference Sans Serif" panose="020B0604030504040204" pitchFamily="34" charset="0"/>
                <a:cs typeface="Microsoft Sans Serif" pitchFamily="34" charset="0"/>
              </a:rPr>
              <a:t>stereoisomers</a:t>
            </a:r>
            <a:r>
              <a:rPr lang="en-US" altLang="zh-CN" b="1" dirty="0">
                <a:latin typeface="MS Reference Sans Serif" panose="020B0604030504040204" pitchFamily="34" charset="0"/>
                <a:cs typeface="Microsoft Sans Serif" pitchFamily="34" charset="0"/>
              </a:rPr>
              <a:t>.</a:t>
            </a:r>
            <a:r>
              <a:rPr lang="en-US" altLang="zh-CN" b="1" dirty="0">
                <a:highlight>
                  <a:srgbClr val="FFFF00"/>
                </a:highlight>
                <a:latin typeface="MS Reference Sans Serif" panose="020B0604030504040204" pitchFamily="34" charset="0"/>
                <a:cs typeface="Microsoft Sans Serif" pitchFamily="34" charset="0"/>
              </a:rPr>
              <a:t> </a:t>
            </a:r>
          </a:p>
          <a:p>
            <a:pPr>
              <a:buFont typeface="Arial" pitchFamily="34" charset="0"/>
              <a:buChar char="•"/>
            </a:pPr>
            <a:endParaRPr lang="en-US" altLang="zh-CN" b="1" dirty="0">
              <a:latin typeface="MS Reference Sans Serif" panose="020B0604030504040204" pitchFamily="34" charset="0"/>
              <a:cs typeface="Microsoft Sans Serif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b="1" dirty="0">
                <a:highlight>
                  <a:srgbClr val="00FF00"/>
                </a:highlight>
                <a:latin typeface="MS Reference Sans Serif" panose="020B0604030504040204" pitchFamily="34" charset="0"/>
                <a:cs typeface="Microsoft Sans Serif" pitchFamily="34" charset="0"/>
              </a:rPr>
              <a:t>However</a:t>
            </a:r>
            <a:r>
              <a:rPr lang="en-US" altLang="zh-CN" b="1" dirty="0">
                <a:latin typeface="MS Reference Sans Serif" panose="020B0604030504040204" pitchFamily="34" charset="0"/>
                <a:cs typeface="Microsoft Sans Serif" pitchFamily="34" charset="0"/>
              </a:rPr>
              <a:t>, we may not always find 2</a:t>
            </a:r>
            <a:r>
              <a:rPr lang="en-US" altLang="zh-CN" b="1" baseline="30000" dirty="0">
                <a:latin typeface="MS Reference Sans Serif" panose="020B0604030504040204" pitchFamily="34" charset="0"/>
                <a:cs typeface="Microsoft Sans Serif" pitchFamily="34" charset="0"/>
              </a:rPr>
              <a:t>n</a:t>
            </a:r>
            <a:r>
              <a:rPr lang="en-US" altLang="zh-CN" b="1" dirty="0">
                <a:latin typeface="MS Reference Sans Serif" panose="020B0604030504040204" pitchFamily="34" charset="0"/>
                <a:cs typeface="Microsoft Sans Serif" pitchFamily="34" charset="0"/>
              </a:rPr>
              <a:t> stereoisomers, especially when two of the asymmetric carbon atoms have identical substituents. </a:t>
            </a:r>
            <a:endParaRPr lang="zh-CN" altLang="en-US" dirty="0">
              <a:latin typeface="MS Reference Sans Serif" panose="020B0604030504040204" pitchFamily="34" charset="0"/>
              <a:cs typeface="Microsoft Sans Serif" pitchFamily="34" charset="0"/>
            </a:endParaRPr>
          </a:p>
        </p:txBody>
      </p:sp>
      <p:sp>
        <p:nvSpPr>
          <p:cNvPr id="15" name="TextBox 2">
            <a:extLst>
              <a:ext uri="{FF2B5EF4-FFF2-40B4-BE49-F238E27FC236}">
                <a16:creationId xmlns:a16="http://schemas.microsoft.com/office/drawing/2014/main" id="{428CCE53-7C13-4D03-BF8B-740A69FC65D1}"/>
              </a:ext>
            </a:extLst>
          </p:cNvPr>
          <p:cNvSpPr txBox="1"/>
          <p:nvPr/>
        </p:nvSpPr>
        <p:spPr>
          <a:xfrm>
            <a:off x="191344" y="1832563"/>
            <a:ext cx="1173730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b="1" dirty="0">
                <a:latin typeface="MS Reference Sans Serif" panose="020B060403050404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There are </a:t>
            </a:r>
            <a:r>
              <a:rPr lang="en-US" altLang="zh-CN" b="1" dirty="0">
                <a:highlight>
                  <a:srgbClr val="00FF00"/>
                </a:highlight>
                <a:latin typeface="MS Reference Sans Serif" panose="020B060403050404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only 3 stereoisomers</a:t>
            </a:r>
            <a:r>
              <a:rPr lang="en-US" altLang="zh-CN" b="1" dirty="0">
                <a:latin typeface="MS Reference Sans Serif" panose="020B060403050404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 for </a:t>
            </a:r>
            <a:r>
              <a:rPr lang="en-US" altLang="zh-CN" b="1" dirty="0">
                <a:highlight>
                  <a:srgbClr val="FFFF00"/>
                </a:highlight>
                <a:latin typeface="MS Reference Sans Serif" panose="020B060403050404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molecules whose two asymmetric carbons have identical substituents</a:t>
            </a:r>
            <a:r>
              <a:rPr lang="en-US" altLang="zh-CN" b="1" dirty="0">
                <a:latin typeface="MS Reference Sans Serif" panose="020B060403050404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.</a:t>
            </a:r>
            <a:endParaRPr lang="zh-CN" altLang="en-US" b="1" dirty="0">
              <a:latin typeface="MS Reference Sans Serif" panose="020B0604030504040204" pitchFamily="34" charset="0"/>
              <a:cs typeface="Microsoft Sans Serif" panose="020B0604020202020204" pitchFamily="34" charset="0"/>
            </a:endParaRPr>
          </a:p>
        </p:txBody>
      </p:sp>
      <p:graphicFrame>
        <p:nvGraphicFramePr>
          <p:cNvPr id="17" name="对象 16">
            <a:extLst>
              <a:ext uri="{FF2B5EF4-FFF2-40B4-BE49-F238E27FC236}">
                <a16:creationId xmlns:a16="http://schemas.microsoft.com/office/drawing/2014/main" id="{2F0017FA-3FBD-415D-9DFB-5B0B3047982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57522560"/>
              </p:ext>
            </p:extLst>
          </p:nvPr>
        </p:nvGraphicFramePr>
        <p:xfrm>
          <a:off x="2567608" y="2852936"/>
          <a:ext cx="6768752" cy="37096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679" name="CS ChemDraw Drawing" r:id="rId3" imgW="3501748" imgH="1919844" progId="ChemDraw.Document.6.0">
                  <p:embed/>
                </p:oleObj>
              </mc:Choice>
              <mc:Fallback>
                <p:oleObj name="CS ChemDraw Drawing" r:id="rId3" imgW="3501748" imgH="1919844" progId="ChemDraw.Document.6.0">
                  <p:embed/>
                  <p:pic>
                    <p:nvPicPr>
                      <p:cNvPr id="4" name="对象 3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567608" y="2852936"/>
                        <a:ext cx="6768752" cy="370962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24</a:t>
            </a:fld>
            <a:endParaRPr lang="zh-CN" altLang="en-US"/>
          </a:p>
        </p:txBody>
      </p:sp>
      <p:sp>
        <p:nvSpPr>
          <p:cNvPr id="3" name="矩形 2"/>
          <p:cNvSpPr/>
          <p:nvPr/>
        </p:nvSpPr>
        <p:spPr>
          <a:xfrm>
            <a:off x="191344" y="610580"/>
            <a:ext cx="11737304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b="1" dirty="0">
                <a:latin typeface="MS Reference Sans Serif" panose="020B0604030504040204" pitchFamily="34" charset="0"/>
                <a:cs typeface="Microsoft Sans Serif" pitchFamily="34" charset="0"/>
              </a:rPr>
              <a:t>Compounds that are achiral even though they have asymmetric carbon atoms are called meso compounds.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zh-CN" b="1" dirty="0">
              <a:latin typeface="MS Reference Sans Serif" panose="020B0604030504040204" pitchFamily="34" charset="0"/>
              <a:cs typeface="Microsoft Sans Serif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b="1" dirty="0">
                <a:highlight>
                  <a:srgbClr val="00FFFF"/>
                </a:highlight>
                <a:latin typeface="MS Reference Sans Serif" panose="020B0604030504040204" pitchFamily="34" charset="0"/>
                <a:cs typeface="Microsoft Sans Serif" pitchFamily="34" charset="0"/>
              </a:rPr>
              <a:t>Meso compound</a:t>
            </a:r>
            <a:r>
              <a:rPr lang="en-US" altLang="zh-CN" b="1" dirty="0">
                <a:latin typeface="MS Reference Sans Serif" panose="020B0604030504040204" pitchFamily="34" charset="0"/>
                <a:cs typeface="Microsoft Sans Serif" pitchFamily="34" charset="0"/>
              </a:rPr>
              <a:t>:  An </a:t>
            </a:r>
            <a:r>
              <a:rPr lang="en-US" altLang="zh-CN" b="1" dirty="0">
                <a:highlight>
                  <a:srgbClr val="FFFF00"/>
                </a:highlight>
                <a:latin typeface="MS Reference Sans Serif" panose="020B0604030504040204" pitchFamily="34" charset="0"/>
                <a:cs typeface="Microsoft Sans Serif" pitchFamily="34" charset="0"/>
              </a:rPr>
              <a:t>achiral compound </a:t>
            </a:r>
            <a:r>
              <a:rPr lang="en-US" altLang="zh-CN" b="1" dirty="0">
                <a:latin typeface="MS Reference Sans Serif" panose="020B0604030504040204" pitchFamily="34" charset="0"/>
                <a:cs typeface="Microsoft Sans Serif" pitchFamily="34" charset="0"/>
              </a:rPr>
              <a:t>that has </a:t>
            </a:r>
            <a:r>
              <a:rPr lang="en-US" altLang="zh-CN" b="1" dirty="0">
                <a:highlight>
                  <a:srgbClr val="00FF00"/>
                </a:highlight>
                <a:latin typeface="MS Reference Sans Serif" panose="020B0604030504040204" pitchFamily="34" charset="0"/>
                <a:cs typeface="Microsoft Sans Serif" pitchFamily="34" charset="0"/>
              </a:rPr>
              <a:t>chirality centers</a:t>
            </a:r>
            <a:r>
              <a:rPr lang="en-US" altLang="zh-CN" b="1" dirty="0">
                <a:latin typeface="MS Reference Sans Serif" panose="020B0604030504040204" pitchFamily="34" charset="0"/>
                <a:cs typeface="Microsoft Sans Serif" pitchFamily="34" charset="0"/>
              </a:rPr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zh-CN" b="1" dirty="0">
              <a:latin typeface="MS Reference Sans Serif" panose="020B0604030504040204" pitchFamily="34" charset="0"/>
              <a:cs typeface="Microsoft Sans Serif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b="1" dirty="0">
                <a:latin typeface="MS Reference Sans Serif" panose="020B0604030504040204" pitchFamily="34" charset="0"/>
                <a:cs typeface="Microsoft Sans Serif" pitchFamily="34" charset="0"/>
              </a:rPr>
              <a:t>The (2</a:t>
            </a:r>
            <a:r>
              <a:rPr lang="en-US" altLang="zh-CN" b="1" i="1" dirty="0">
                <a:latin typeface="MS Reference Sans Serif" panose="020B0604030504040204" pitchFamily="34" charset="0"/>
                <a:cs typeface="Microsoft Sans Serif" pitchFamily="34" charset="0"/>
              </a:rPr>
              <a:t>R</a:t>
            </a:r>
            <a:r>
              <a:rPr lang="en-US" altLang="zh-CN" b="1" dirty="0">
                <a:latin typeface="MS Reference Sans Serif" panose="020B0604030504040204" pitchFamily="34" charset="0"/>
                <a:cs typeface="Microsoft Sans Serif" pitchFamily="34" charset="0"/>
              </a:rPr>
              <a:t>, 3</a:t>
            </a:r>
            <a:r>
              <a:rPr lang="en-US" altLang="zh-CN" b="1" i="1" dirty="0">
                <a:latin typeface="MS Reference Sans Serif" panose="020B0604030504040204" pitchFamily="34" charset="0"/>
                <a:cs typeface="Microsoft Sans Serif" pitchFamily="34" charset="0"/>
              </a:rPr>
              <a:t>S</a:t>
            </a:r>
            <a:r>
              <a:rPr lang="en-US" altLang="zh-CN" b="1" dirty="0">
                <a:latin typeface="MS Reference Sans Serif" panose="020B0604030504040204" pitchFamily="34" charset="0"/>
                <a:cs typeface="Microsoft Sans Serif" pitchFamily="34" charset="0"/>
              </a:rPr>
              <a:t>) isomer of 2,3-dibromobutane is a meso compound.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zh-CN" b="1" dirty="0">
              <a:latin typeface="MS Reference Sans Serif" panose="020B0604030504040204" pitchFamily="34" charset="0"/>
              <a:cs typeface="Microsoft Sans Serif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b="1" dirty="0">
                <a:latin typeface="MS Reference Sans Serif" panose="020B0604030504040204" pitchFamily="34" charset="0"/>
                <a:cs typeface="Microsoft Sans Serif" pitchFamily="34" charset="0"/>
              </a:rPr>
              <a:t>Most meso compounds have two similar halves of the molecule having opposite configurations.</a:t>
            </a:r>
          </a:p>
        </p:txBody>
      </p:sp>
      <p:sp>
        <p:nvSpPr>
          <p:cNvPr id="11" name="矩形 10"/>
          <p:cNvSpPr/>
          <p:nvPr/>
        </p:nvSpPr>
        <p:spPr>
          <a:xfrm>
            <a:off x="0" y="148915"/>
            <a:ext cx="3522118" cy="461665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</p:spPr>
        <p:txBody>
          <a:bodyPr wrap="none">
            <a:spAutoFit/>
          </a:bodyPr>
          <a:lstStyle/>
          <a:p>
            <a:r>
              <a:rPr lang="en-US" altLang="zh-CN" sz="2400" b="1" dirty="0">
                <a:latin typeface="MS Reference Sans Serif" panose="020B0604030504040204" pitchFamily="34" charset="0"/>
                <a:cs typeface="Microsoft Sans Serif" pitchFamily="34" charset="0"/>
              </a:rPr>
              <a:t>10. Meso Compounds</a:t>
            </a:r>
          </a:p>
        </p:txBody>
      </p:sp>
      <p:graphicFrame>
        <p:nvGraphicFramePr>
          <p:cNvPr id="10" name="对象 9">
            <a:extLst>
              <a:ext uri="{FF2B5EF4-FFF2-40B4-BE49-F238E27FC236}">
                <a16:creationId xmlns:a16="http://schemas.microsoft.com/office/drawing/2014/main" id="{A46DAB3A-7742-4F93-B0F9-A508828B827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81840115"/>
              </p:ext>
            </p:extLst>
          </p:nvPr>
        </p:nvGraphicFramePr>
        <p:xfrm>
          <a:off x="7680176" y="3914357"/>
          <a:ext cx="3210709" cy="183552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251" name="CS ChemDraw Drawing" r:id="rId3" imgW="1749493" imgH="999365" progId="ChemDraw.Document.6.0">
                  <p:embed/>
                </p:oleObj>
              </mc:Choice>
              <mc:Fallback>
                <p:oleObj name="CS ChemDraw Drawing" r:id="rId3" imgW="1749493" imgH="999365" progId="ChemDraw.Document.6.0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7680176" y="3914357"/>
                        <a:ext cx="3210709" cy="183552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>
            <a:extLst>
              <a:ext uri="{FF2B5EF4-FFF2-40B4-BE49-F238E27FC236}">
                <a16:creationId xmlns:a16="http://schemas.microsoft.com/office/drawing/2014/main" id="{3F0B2BAE-F1F6-440B-A46F-56F1487641B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95738913"/>
              </p:ext>
            </p:extLst>
          </p:nvPr>
        </p:nvGraphicFramePr>
        <p:xfrm>
          <a:off x="767408" y="3573136"/>
          <a:ext cx="5760640" cy="2393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252" name="CS ChemDraw Drawing" r:id="rId5" imgW="2999074" imgH="1246332" progId="ChemDraw.Document.6.0">
                  <p:embed/>
                </p:oleObj>
              </mc:Choice>
              <mc:Fallback>
                <p:oleObj name="CS ChemDraw Drawing" r:id="rId5" imgW="2999074" imgH="1246332" progId="ChemDraw.Document.6.0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767408" y="3573136"/>
                        <a:ext cx="5760640" cy="23939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: 圆角 3">
            <a:extLst>
              <a:ext uri="{FF2B5EF4-FFF2-40B4-BE49-F238E27FC236}">
                <a16:creationId xmlns:a16="http://schemas.microsoft.com/office/drawing/2014/main" id="{67198DE6-60EA-4680-95DB-75B12B5F8122}"/>
              </a:ext>
            </a:extLst>
          </p:cNvPr>
          <p:cNvSpPr/>
          <p:nvPr/>
        </p:nvSpPr>
        <p:spPr>
          <a:xfrm>
            <a:off x="407368" y="5878562"/>
            <a:ext cx="11017224" cy="698754"/>
          </a:xfrm>
          <a:prstGeom prst="round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25</a:t>
            </a:fld>
            <a:endParaRPr lang="zh-CN" altLang="en-US" dirty="0"/>
          </a:p>
        </p:txBody>
      </p:sp>
      <p:sp>
        <p:nvSpPr>
          <p:cNvPr id="3" name="矩形 2"/>
          <p:cNvSpPr/>
          <p:nvPr/>
        </p:nvSpPr>
        <p:spPr>
          <a:xfrm>
            <a:off x="191344" y="838031"/>
            <a:ext cx="1152128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b="1" dirty="0">
                <a:highlight>
                  <a:srgbClr val="FFFF00"/>
                </a:highlight>
                <a:latin typeface="MS Reference Sans Serif" panose="020B0604030504040204" pitchFamily="34" charset="0"/>
                <a:cs typeface="Microsoft Sans Serif" pitchFamily="34" charset="0"/>
              </a:rPr>
              <a:t>Enantiomers</a:t>
            </a:r>
            <a:r>
              <a:rPr lang="en-US" altLang="zh-CN" b="1" dirty="0">
                <a:latin typeface="MS Reference Sans Serif" panose="020B0604030504040204" pitchFamily="34" charset="0"/>
                <a:cs typeface="Microsoft Sans Serif" pitchFamily="34" charset="0"/>
              </a:rPr>
              <a:t> have </a:t>
            </a:r>
            <a:r>
              <a:rPr lang="en-US" altLang="zh-CN" b="1" dirty="0">
                <a:highlight>
                  <a:srgbClr val="FFFF00"/>
                </a:highlight>
                <a:latin typeface="MS Reference Sans Serif" panose="020B0604030504040204" pitchFamily="34" charset="0"/>
                <a:cs typeface="Microsoft Sans Serif" pitchFamily="34" charset="0"/>
              </a:rPr>
              <a:t>identical physical properties</a:t>
            </a:r>
            <a:r>
              <a:rPr lang="en-US" altLang="zh-CN" b="1" dirty="0">
                <a:latin typeface="MS Reference Sans Serif" panose="020B0604030504040204" pitchFamily="34" charset="0"/>
                <a:cs typeface="Microsoft Sans Serif" pitchFamily="34" charset="0"/>
              </a:rPr>
              <a:t> except for the direction in which they rotate polarized light.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b="1" dirty="0">
                <a:highlight>
                  <a:srgbClr val="00FFFF"/>
                </a:highlight>
                <a:latin typeface="MS Reference Sans Serif" panose="020B0604030504040204" pitchFamily="34" charset="0"/>
                <a:cs typeface="Microsoft Sans Serif" pitchFamily="34" charset="0"/>
              </a:rPr>
              <a:t>Diastereomers</a:t>
            </a:r>
            <a:r>
              <a:rPr lang="en-US" altLang="zh-CN" b="1" dirty="0">
                <a:latin typeface="MS Reference Sans Serif" panose="020B0604030504040204" pitchFamily="34" charset="0"/>
                <a:cs typeface="Microsoft Sans Serif" pitchFamily="34" charset="0"/>
              </a:rPr>
              <a:t>, on the other hand, </a:t>
            </a:r>
            <a:r>
              <a:rPr lang="en-US" altLang="zh-CN" b="1" dirty="0">
                <a:highlight>
                  <a:srgbClr val="00FFFF"/>
                </a:highlight>
                <a:latin typeface="MS Reference Sans Serif" panose="020B0604030504040204" pitchFamily="34" charset="0"/>
                <a:cs typeface="Microsoft Sans Serif" pitchFamily="34" charset="0"/>
              </a:rPr>
              <a:t>generally</a:t>
            </a:r>
            <a:r>
              <a:rPr lang="en-US" altLang="zh-CN" b="1" dirty="0">
                <a:latin typeface="MS Reference Sans Serif" panose="020B0604030504040204" pitchFamily="34" charset="0"/>
                <a:cs typeface="Microsoft Sans Serif" pitchFamily="34" charset="0"/>
              </a:rPr>
              <a:t> have </a:t>
            </a:r>
            <a:r>
              <a:rPr lang="en-US" altLang="zh-CN" b="1" dirty="0">
                <a:highlight>
                  <a:srgbClr val="00FFFF"/>
                </a:highlight>
                <a:latin typeface="MS Reference Sans Serif" panose="020B0604030504040204" pitchFamily="34" charset="0"/>
                <a:cs typeface="Microsoft Sans Serif" pitchFamily="34" charset="0"/>
              </a:rPr>
              <a:t>different physical properties</a:t>
            </a:r>
            <a:r>
              <a:rPr lang="en-US" altLang="zh-CN" b="1" dirty="0">
                <a:latin typeface="MS Reference Sans Serif" panose="020B0604030504040204" pitchFamily="34" charset="0"/>
                <a:cs typeface="Microsoft Sans Serif" pitchFamily="34" charset="0"/>
              </a:rPr>
              <a:t>.</a:t>
            </a:r>
          </a:p>
        </p:txBody>
      </p:sp>
      <p:sp>
        <p:nvSpPr>
          <p:cNvPr id="5" name="矩形 4"/>
          <p:cNvSpPr/>
          <p:nvPr/>
        </p:nvSpPr>
        <p:spPr>
          <a:xfrm>
            <a:off x="479376" y="5878562"/>
            <a:ext cx="1152128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b="1" dirty="0">
                <a:latin typeface="MS Reference Sans Serif" panose="020B0604030504040204" pitchFamily="34" charset="0"/>
                <a:cs typeface="Microsoft Sans Serif" pitchFamily="34" charset="0"/>
              </a:rPr>
              <a:t>Because diastereomers have different physical properties, we </a:t>
            </a:r>
            <a:r>
              <a:rPr lang="en-US" altLang="zh-CN" b="1" dirty="0">
                <a:highlight>
                  <a:srgbClr val="00FFFF"/>
                </a:highlight>
                <a:latin typeface="MS Reference Sans Serif" panose="020B0604030504040204" pitchFamily="34" charset="0"/>
                <a:cs typeface="Microsoft Sans Serif" pitchFamily="34" charset="0"/>
              </a:rPr>
              <a:t>can separate diastereomers </a:t>
            </a:r>
            <a:r>
              <a:rPr lang="en-US" altLang="zh-CN" b="1" dirty="0">
                <a:highlight>
                  <a:srgbClr val="00FF00"/>
                </a:highlight>
                <a:latin typeface="MS Reference Sans Serif" panose="020B0604030504040204" pitchFamily="34" charset="0"/>
                <a:cs typeface="Microsoft Sans Serif" pitchFamily="34" charset="0"/>
              </a:rPr>
              <a:t>by</a:t>
            </a:r>
            <a:r>
              <a:rPr lang="en-US" altLang="zh-CN" b="1" dirty="0">
                <a:highlight>
                  <a:srgbClr val="FFFF00"/>
                </a:highlight>
                <a:latin typeface="MS Reference Sans Serif" panose="020B0604030504040204" pitchFamily="34" charset="0"/>
                <a:cs typeface="Microsoft Sans Serif" pitchFamily="34" charset="0"/>
              </a:rPr>
              <a:t> </a:t>
            </a:r>
            <a:r>
              <a:rPr lang="en-US" altLang="zh-CN" b="1" dirty="0">
                <a:highlight>
                  <a:srgbClr val="00FF00"/>
                </a:highlight>
                <a:latin typeface="MS Reference Sans Serif" panose="020B0604030504040204" pitchFamily="34" charset="0"/>
                <a:cs typeface="Microsoft Sans Serif" pitchFamily="34" charset="0"/>
              </a:rPr>
              <a:t>ordinary means </a:t>
            </a:r>
            <a:r>
              <a:rPr lang="en-US" altLang="zh-CN" b="1" dirty="0">
                <a:latin typeface="MS Reference Sans Serif" panose="020B0604030504040204" pitchFamily="34" charset="0"/>
                <a:cs typeface="Microsoft Sans Serif" pitchFamily="34" charset="0"/>
              </a:rPr>
              <a:t>such as distillation, recrystallization, and chromatography.</a:t>
            </a:r>
          </a:p>
        </p:txBody>
      </p:sp>
      <p:sp>
        <p:nvSpPr>
          <p:cNvPr id="6" name="矩形 5"/>
          <p:cNvSpPr/>
          <p:nvPr/>
        </p:nvSpPr>
        <p:spPr>
          <a:xfrm>
            <a:off x="4522" y="280684"/>
            <a:ext cx="6465424" cy="461665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</p:spPr>
        <p:txBody>
          <a:bodyPr wrap="none">
            <a:spAutoFit/>
          </a:bodyPr>
          <a:lstStyle/>
          <a:p>
            <a:r>
              <a:rPr lang="en-US" altLang="zh-CN" sz="2400" b="1" dirty="0">
                <a:latin typeface="MS Reference Sans Serif" panose="020B0604030504040204" pitchFamily="34" charset="0"/>
                <a:cs typeface="Microsoft Sans Serif" pitchFamily="34" charset="0"/>
              </a:rPr>
              <a:t>11. Physical Properties of Diastereomers</a:t>
            </a:r>
          </a:p>
        </p:txBody>
      </p:sp>
      <p:graphicFrame>
        <p:nvGraphicFramePr>
          <p:cNvPr id="7" name="对象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75480456"/>
              </p:ext>
            </p:extLst>
          </p:nvPr>
        </p:nvGraphicFramePr>
        <p:xfrm>
          <a:off x="695400" y="1901717"/>
          <a:ext cx="6699258" cy="380830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919" name="CS ChemDraw Drawing" r:id="rId3" imgW="4440808" imgH="2523585" progId="ChemDraw.Document.6.0">
                  <p:embed/>
                </p:oleObj>
              </mc:Choice>
              <mc:Fallback>
                <p:oleObj name="CS ChemDraw Drawing" r:id="rId3" imgW="4440808" imgH="2523585" progId="ChemDraw.Document.6.0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95400" y="1901717"/>
                        <a:ext cx="6699258" cy="380830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63056371"/>
              </p:ext>
            </p:extLst>
          </p:nvPr>
        </p:nvGraphicFramePr>
        <p:xfrm>
          <a:off x="8110816" y="2466050"/>
          <a:ext cx="3379880" cy="319464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920" name="CS ChemDraw Drawing" r:id="rId5" imgW="2114858" imgH="1997938" progId="ChemDraw.Document.6.0">
                  <p:embed/>
                </p:oleObj>
              </mc:Choice>
              <mc:Fallback>
                <p:oleObj name="CS ChemDraw Drawing" r:id="rId5" imgW="2114858" imgH="1997938" progId="ChemDraw.Document.6.0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8110816" y="2466050"/>
                        <a:ext cx="3379880" cy="319464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26</a:t>
            </a:fld>
            <a:endParaRPr lang="zh-CN" altLang="en-US"/>
          </a:p>
        </p:txBody>
      </p:sp>
      <p:sp>
        <p:nvSpPr>
          <p:cNvPr id="3" name="矩形 2"/>
          <p:cNvSpPr/>
          <p:nvPr/>
        </p:nvSpPr>
        <p:spPr>
          <a:xfrm>
            <a:off x="299356" y="758355"/>
            <a:ext cx="11449272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b="1" dirty="0">
                <a:latin typeface="MS Reference Sans Serif" panose="020B0604030504040204" pitchFamily="34" charset="0"/>
                <a:cs typeface="Microsoft Sans Serif" pitchFamily="34" charset="0"/>
              </a:rPr>
              <a:t>Pure enantiomers of optically active compounds are often obtained by isolation from biological sources. Most optically active molecules are found as only one enantiomer in living organisms.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zh-CN" b="1" dirty="0">
              <a:latin typeface="MS Reference Sans Serif" panose="020B0604030504040204" pitchFamily="34" charset="0"/>
              <a:cs typeface="Microsoft Sans Serif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b="1" dirty="0">
                <a:highlight>
                  <a:srgbClr val="FFFF00"/>
                </a:highlight>
                <a:latin typeface="MS Reference Sans Serif" panose="020B0604030504040204" pitchFamily="34" charset="0"/>
                <a:cs typeface="Microsoft Sans Serif" pitchFamily="34" charset="0"/>
              </a:rPr>
              <a:t>When a chiral compound is synthesized from achiral reagents</a:t>
            </a:r>
            <a:r>
              <a:rPr lang="en-US" altLang="zh-CN" b="1" dirty="0">
                <a:latin typeface="MS Reference Sans Serif" panose="020B0604030504040204" pitchFamily="34" charset="0"/>
                <a:cs typeface="Microsoft Sans Serif" pitchFamily="34" charset="0"/>
              </a:rPr>
              <a:t>, however, </a:t>
            </a:r>
            <a:r>
              <a:rPr lang="en-US" altLang="zh-CN" b="1" dirty="0">
                <a:highlight>
                  <a:srgbClr val="FFFF00"/>
                </a:highlight>
                <a:latin typeface="MS Reference Sans Serif" panose="020B0604030504040204" pitchFamily="34" charset="0"/>
                <a:cs typeface="Microsoft Sans Serif" pitchFamily="34" charset="0"/>
              </a:rPr>
              <a:t>a racemic mixture of enantiomers is obtained</a:t>
            </a:r>
            <a:r>
              <a:rPr lang="en-US" altLang="zh-CN" b="1" dirty="0">
                <a:latin typeface="MS Reference Sans Serif" panose="020B0604030504040204" pitchFamily="34" charset="0"/>
                <a:cs typeface="Microsoft Sans Serif" pitchFamily="34" charset="0"/>
              </a:rPr>
              <a:t>. If we need one pure enantiomer, we must find a way of separating it from the other enantiomer.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9356" y="5244148"/>
            <a:ext cx="11629292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b="1" dirty="0">
                <a:highlight>
                  <a:srgbClr val="00FFFF"/>
                </a:highlight>
                <a:latin typeface="MS Reference Sans Serif" panose="020B0604030504040204" pitchFamily="34" charset="0"/>
                <a:cs typeface="Microsoft Sans Serif" pitchFamily="34" charset="0"/>
              </a:rPr>
              <a:t>The separation of enantiomers</a:t>
            </a:r>
            <a:r>
              <a:rPr lang="en-US" altLang="zh-CN" b="1" dirty="0">
                <a:latin typeface="MS Reference Sans Serif" panose="020B0604030504040204" pitchFamily="34" charset="0"/>
                <a:cs typeface="Microsoft Sans Serif" pitchFamily="34" charset="0"/>
              </a:rPr>
              <a:t> is called </a:t>
            </a:r>
            <a:r>
              <a:rPr lang="en-US" altLang="zh-CN" b="1" dirty="0">
                <a:highlight>
                  <a:srgbClr val="00FFFF"/>
                </a:highlight>
                <a:latin typeface="MS Reference Sans Serif" panose="020B0604030504040204" pitchFamily="34" charset="0"/>
                <a:cs typeface="Microsoft Sans Serif" pitchFamily="34" charset="0"/>
              </a:rPr>
              <a:t>resolution</a:t>
            </a:r>
            <a:r>
              <a:rPr lang="en-US" altLang="zh-CN" b="1" dirty="0">
                <a:latin typeface="MS Reference Sans Serif" panose="020B0604030504040204" pitchFamily="34" charset="0"/>
                <a:cs typeface="Microsoft Sans Serif" pitchFamily="34" charset="0"/>
              </a:rPr>
              <a:t>. It is a different process from the usual physical separations.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b="1" dirty="0">
              <a:latin typeface="MS Reference Sans Serif" panose="020B0604030504040204" pitchFamily="34" charset="0"/>
              <a:cs typeface="Microsoft Sans Serif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b="1" dirty="0">
                <a:highlight>
                  <a:srgbClr val="00FF00"/>
                </a:highlight>
                <a:latin typeface="MS Reference Sans Serif" panose="020B0604030504040204" pitchFamily="34" charset="0"/>
                <a:cs typeface="Microsoft Sans Serif" pitchFamily="34" charset="0"/>
              </a:rPr>
              <a:t>An enantiomerically pure chiral compound is necessary for the resolution of enantiomers</a:t>
            </a:r>
            <a:r>
              <a:rPr lang="en-US" altLang="zh-CN" b="1" dirty="0">
                <a:latin typeface="MS Reference Sans Serif" panose="020B0604030504040204" pitchFamily="34" charset="0"/>
                <a:cs typeface="Microsoft Sans Serif" pitchFamily="34" charset="0"/>
              </a:rPr>
              <a:t>. Such a chiral compound is called </a:t>
            </a:r>
            <a:r>
              <a:rPr lang="en-US" altLang="zh-CN" b="1" dirty="0">
                <a:highlight>
                  <a:srgbClr val="00FF00"/>
                </a:highlight>
                <a:latin typeface="MS Reference Sans Serif" panose="020B0604030504040204" pitchFamily="34" charset="0"/>
                <a:cs typeface="Microsoft Sans Serif" pitchFamily="34" charset="0"/>
              </a:rPr>
              <a:t>a resolving agent</a:t>
            </a:r>
            <a:r>
              <a:rPr lang="en-US" altLang="zh-CN" b="1" dirty="0">
                <a:latin typeface="MS Reference Sans Serif" panose="020B0604030504040204" pitchFamily="34" charset="0"/>
                <a:cs typeface="Microsoft Sans Serif" pitchFamily="34" charset="0"/>
              </a:rPr>
              <a:t>.</a:t>
            </a:r>
            <a:endParaRPr lang="zh-CN" altLang="en-US" b="1" dirty="0">
              <a:latin typeface="MS Reference Sans Serif" panose="020B0604030504040204" pitchFamily="34" charset="0"/>
              <a:cs typeface="Microsoft Sans Serif" pitchFamily="34" charset="0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-3340" y="296690"/>
            <a:ext cx="4859535" cy="461665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</p:spPr>
        <p:txBody>
          <a:bodyPr wrap="none">
            <a:spAutoFit/>
          </a:bodyPr>
          <a:lstStyle/>
          <a:p>
            <a:r>
              <a:rPr lang="en-US" altLang="zh-CN" sz="2400" b="1" dirty="0">
                <a:latin typeface="MS Reference Sans Serif" panose="020B0604030504040204" pitchFamily="34" charset="0"/>
                <a:cs typeface="Microsoft Sans Serif" pitchFamily="34" charset="0"/>
              </a:rPr>
              <a:t>12. Resolution of Enantiomers</a:t>
            </a:r>
          </a:p>
        </p:txBody>
      </p:sp>
      <p:graphicFrame>
        <p:nvGraphicFramePr>
          <p:cNvPr id="8" name="对象 7">
            <a:extLst>
              <a:ext uri="{FF2B5EF4-FFF2-40B4-BE49-F238E27FC236}">
                <a16:creationId xmlns:a16="http://schemas.microsoft.com/office/drawing/2014/main" id="{7D801ABF-45A6-4D84-94A9-9FB39D63758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42880035"/>
              </p:ext>
            </p:extLst>
          </p:nvPr>
        </p:nvGraphicFramePr>
        <p:xfrm>
          <a:off x="1211070" y="2340768"/>
          <a:ext cx="9805863" cy="27023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798" name="CS ChemDraw Drawing" r:id="rId3" imgW="5662770" imgH="1560294" progId="ChemDraw.Document.6.0">
                  <p:embed/>
                </p:oleObj>
              </mc:Choice>
              <mc:Fallback>
                <p:oleObj name="CS ChemDraw Drawing" r:id="rId3" imgW="5662770" imgH="1560294" progId="ChemDraw.Document.6.0">
                  <p:embed/>
                  <p:pic>
                    <p:nvPicPr>
                      <p:cNvPr id="9" name="对象 8">
                        <a:extLst>
                          <a:ext uri="{FF2B5EF4-FFF2-40B4-BE49-F238E27FC236}">
                            <a16:creationId xmlns:a16="http://schemas.microsoft.com/office/drawing/2014/main" id="{76C518AD-D9B4-4543-976C-E81A312AD52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211070" y="2340768"/>
                        <a:ext cx="9805863" cy="27023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: 圆角 7">
            <a:extLst>
              <a:ext uri="{FF2B5EF4-FFF2-40B4-BE49-F238E27FC236}">
                <a16:creationId xmlns:a16="http://schemas.microsoft.com/office/drawing/2014/main" id="{848AE376-76FE-4519-B596-2C52EDAC9BBA}"/>
              </a:ext>
            </a:extLst>
          </p:cNvPr>
          <p:cNvSpPr/>
          <p:nvPr/>
        </p:nvSpPr>
        <p:spPr>
          <a:xfrm>
            <a:off x="6281953" y="5304255"/>
            <a:ext cx="2694367" cy="429416"/>
          </a:xfrm>
          <a:prstGeom prst="round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9F6E9B17-B5DE-4933-86FE-A152A4D83CA0}"/>
              </a:ext>
            </a:extLst>
          </p:cNvPr>
          <p:cNvSpPr/>
          <p:nvPr/>
        </p:nvSpPr>
        <p:spPr>
          <a:xfrm>
            <a:off x="7968208" y="3107507"/>
            <a:ext cx="3391148" cy="864095"/>
          </a:xfrm>
          <a:prstGeom prst="round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FD7F120C-F4D6-4504-A6DF-3458DDF62DBD}"/>
              </a:ext>
            </a:extLst>
          </p:cNvPr>
          <p:cNvSpPr/>
          <p:nvPr/>
        </p:nvSpPr>
        <p:spPr>
          <a:xfrm>
            <a:off x="1199456" y="2924944"/>
            <a:ext cx="2160240" cy="365126"/>
          </a:xfrm>
          <a:prstGeom prst="rect">
            <a:avLst/>
          </a:prstGeom>
          <a:solidFill>
            <a:srgbClr val="00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BF31FC2F-F6EE-4E71-B97F-B1821CAD3547}"/>
              </a:ext>
            </a:extLst>
          </p:cNvPr>
          <p:cNvSpPr/>
          <p:nvPr/>
        </p:nvSpPr>
        <p:spPr>
          <a:xfrm>
            <a:off x="6456040" y="2666249"/>
            <a:ext cx="3168352" cy="365126"/>
          </a:xfrm>
          <a:prstGeom prst="rect">
            <a:avLst/>
          </a:prstGeom>
          <a:solidFill>
            <a:srgbClr val="00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69BF1865-DD75-4485-AC56-76FFABC57A6B}"/>
              </a:ext>
            </a:extLst>
          </p:cNvPr>
          <p:cNvSpPr/>
          <p:nvPr/>
        </p:nvSpPr>
        <p:spPr>
          <a:xfrm>
            <a:off x="3935760" y="2420888"/>
            <a:ext cx="1944216" cy="1152128"/>
          </a:xfrm>
          <a:prstGeom prst="round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10" name="对象 9">
            <a:extLst>
              <a:ext uri="{FF2B5EF4-FFF2-40B4-BE49-F238E27FC236}">
                <a16:creationId xmlns:a16="http://schemas.microsoft.com/office/drawing/2014/main" id="{80672CA1-3794-4CC9-A3BB-88CB6890DCA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27826906"/>
              </p:ext>
            </p:extLst>
          </p:nvPr>
        </p:nvGraphicFramePr>
        <p:xfrm>
          <a:off x="1127448" y="834627"/>
          <a:ext cx="10159900" cy="570428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705" name="CS ChemDraw Drawing" r:id="rId3" imgW="5863997" imgH="3291840" progId="ChemDraw.Document.6.0">
                  <p:embed/>
                </p:oleObj>
              </mc:Choice>
              <mc:Fallback>
                <p:oleObj name="CS ChemDraw Drawing" r:id="rId3" imgW="5863997" imgH="3291840" progId="ChemDraw.Document.6.0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127448" y="834627"/>
                        <a:ext cx="10159900" cy="570428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27</a:t>
            </a:fld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0" y="214000"/>
            <a:ext cx="5513176" cy="40011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none">
            <a:spAutoFit/>
          </a:bodyPr>
          <a:lstStyle/>
          <a:p>
            <a:r>
              <a:rPr lang="en-US" altLang="zh-CN" sz="2000" b="1" dirty="0">
                <a:latin typeface="MS Reference Sans Serif" panose="020B0604030504040204" pitchFamily="34" charset="0"/>
                <a:cs typeface="Microsoft Sans Serif" pitchFamily="34" charset="0"/>
              </a:rPr>
              <a:t>12-1 Chemical Resolution of Enantiomers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28</a:t>
            </a:fld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0" y="260648"/>
            <a:ext cx="6552243" cy="40011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none">
            <a:spAutoFit/>
          </a:bodyPr>
          <a:lstStyle/>
          <a:p>
            <a:r>
              <a:rPr lang="en-US" altLang="zh-CN" sz="2000" b="1" dirty="0">
                <a:latin typeface="MS Reference Sans Serif" panose="020B0604030504040204" pitchFamily="34" charset="0"/>
                <a:cs typeface="Microsoft Sans Serif" pitchFamily="34" charset="0"/>
              </a:rPr>
              <a:t>12-2 Chromatographic Resolution of Enantiomers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200224" y="1268760"/>
            <a:ext cx="6480720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b="1" dirty="0">
                <a:highlight>
                  <a:srgbClr val="00FFFF"/>
                </a:highlight>
                <a:latin typeface="MS Reference Sans Serif" panose="020B060403050404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Enantiomers may be resolved </a:t>
            </a:r>
            <a:r>
              <a:rPr lang="en-US" altLang="zh-CN" b="1" dirty="0">
                <a:latin typeface="MS Reference Sans Serif" panose="020B060403050404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by </a:t>
            </a:r>
            <a:r>
              <a:rPr lang="en-US" altLang="zh-CN" b="1" dirty="0">
                <a:highlight>
                  <a:srgbClr val="FFFF00"/>
                </a:highlight>
                <a:latin typeface="MS Reference Sans Serif" panose="020B060403050404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passing the racemic mixture through a column</a:t>
            </a:r>
            <a:r>
              <a:rPr lang="en-US" altLang="zh-CN" b="1" dirty="0">
                <a:latin typeface="MS Reference Sans Serif" panose="020B060403050404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 containing particles whose surface is </a:t>
            </a:r>
            <a:r>
              <a:rPr lang="en-US" altLang="zh-CN" b="1" dirty="0">
                <a:highlight>
                  <a:srgbClr val="FFFF00"/>
                </a:highlight>
                <a:latin typeface="MS Reference Sans Serif" panose="020B060403050404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coated with enantiomerically pure molecules</a:t>
            </a:r>
            <a:r>
              <a:rPr lang="en-US" altLang="zh-CN" b="1" dirty="0">
                <a:latin typeface="MS Reference Sans Serif" panose="020B060403050404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b="1" dirty="0">
              <a:latin typeface="MS Reference Sans Serif" panose="020B0604030504040204" pitchFamily="34" charset="0"/>
              <a:ea typeface="Microsoft Sans Serif" panose="020B0604020202020204" pitchFamily="34" charset="0"/>
              <a:cs typeface="Microsoft Sans Serif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b="1" dirty="0">
                <a:latin typeface="MS Reference Sans Serif" panose="020B060403050404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As the solution passes through the column, </a:t>
            </a:r>
            <a:r>
              <a:rPr lang="en-US" altLang="zh-CN" b="1" dirty="0">
                <a:highlight>
                  <a:srgbClr val="00FF00"/>
                </a:highlight>
                <a:latin typeface="MS Reference Sans Serif" panose="020B060403050404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the enantiomers form weak diastereomeric complexes </a:t>
            </a:r>
            <a:r>
              <a:rPr lang="en-US" altLang="zh-CN" b="1" dirty="0">
                <a:latin typeface="MS Reference Sans Serif" panose="020B060403050404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with the chiral column packing.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b="1" dirty="0">
              <a:latin typeface="MS Reference Sans Serif" panose="020B0604030504040204" pitchFamily="34" charset="0"/>
              <a:ea typeface="Microsoft Sans Serif" panose="020B0604020202020204" pitchFamily="34" charset="0"/>
              <a:cs typeface="Microsoft Sans Serif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b="1" dirty="0">
                <a:highlight>
                  <a:srgbClr val="FFFF00"/>
                </a:highlight>
                <a:latin typeface="MS Reference Sans Serif" panose="020B060403050404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These diastereomeric complexes have different physical properties.</a:t>
            </a:r>
            <a:r>
              <a:rPr lang="en-US" altLang="zh-CN" b="1" dirty="0">
                <a:latin typeface="MS Reference Sans Serif" panose="020B060403050404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  One of the two enantiomers will spend more time complexed with the chiral column packing. </a:t>
            </a:r>
            <a:r>
              <a:rPr lang="en-US" altLang="zh-CN" b="1" dirty="0">
                <a:highlight>
                  <a:srgbClr val="00FFFF"/>
                </a:highlight>
                <a:latin typeface="MS Reference Sans Serif" panose="020B060403050404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The more strongly complexed enantiomer passes through the column more slowly</a:t>
            </a:r>
            <a:r>
              <a:rPr lang="en-US" altLang="zh-CN" b="1" dirty="0">
                <a:latin typeface="MS Reference Sans Serif" panose="020B060403050404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 and emerges from the column after the faster-moving (more weakly complexed) enantiomer.</a:t>
            </a:r>
            <a:endParaRPr lang="zh-CN" altLang="en-US" b="1" dirty="0">
              <a:latin typeface="MS Reference Sans Serif" panose="020B0604030504040204" pitchFamily="34" charset="0"/>
              <a:cs typeface="Microsoft Sans Serif" panose="020B0604020202020204" pitchFamily="34" charset="0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07336" y="1166841"/>
            <a:ext cx="4967533" cy="43687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41166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4414</TotalTime>
  <Words>2472</Words>
  <Application>Microsoft Office PowerPoint</Application>
  <PresentationFormat>宽屏</PresentationFormat>
  <Paragraphs>213</Paragraphs>
  <Slides>28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28</vt:i4>
      </vt:variant>
    </vt:vector>
  </HeadingPairs>
  <TitlesOfParts>
    <vt:vector size="35" baseType="lpstr">
      <vt:lpstr>Arial</vt:lpstr>
      <vt:lpstr>Calibri</vt:lpstr>
      <vt:lpstr>Consolas</vt:lpstr>
      <vt:lpstr>Microsoft Sans Serif</vt:lpstr>
      <vt:lpstr>MS Reference Sans Serif</vt:lpstr>
      <vt:lpstr>Office 主题</vt:lpstr>
      <vt:lpstr>CS ChemDraw Drawing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Administrator</dc:creator>
  <cp:lastModifiedBy>luo</cp:lastModifiedBy>
  <cp:revision>920</cp:revision>
  <dcterms:created xsi:type="dcterms:W3CDTF">2016-07-21T08:21:40Z</dcterms:created>
  <dcterms:modified xsi:type="dcterms:W3CDTF">2026-08-27T02:00:24Z</dcterms:modified>
</cp:coreProperties>
</file>