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handoutMasterIdLst>
    <p:handoutMasterId r:id="rId19"/>
  </p:handoutMasterIdLst>
  <p:sldIdLst>
    <p:sldId id="256" r:id="rId2"/>
    <p:sldId id="284" r:id="rId3"/>
    <p:sldId id="261" r:id="rId4"/>
    <p:sldId id="301" r:id="rId5"/>
    <p:sldId id="262" r:id="rId6"/>
    <p:sldId id="287" r:id="rId7"/>
    <p:sldId id="297" r:id="rId8"/>
    <p:sldId id="298" r:id="rId9"/>
    <p:sldId id="265" r:id="rId10"/>
    <p:sldId id="266" r:id="rId11"/>
    <p:sldId id="270" r:id="rId12"/>
    <p:sldId id="271" r:id="rId13"/>
    <p:sldId id="288" r:id="rId14"/>
    <p:sldId id="274" r:id="rId15"/>
    <p:sldId id="275" r:id="rId16"/>
    <p:sldId id="276" r:id="rId17"/>
  </p:sldIdLst>
  <p:sldSz cx="12192000" cy="6858000"/>
  <p:notesSz cx="9928225" cy="679767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FF"/>
    <a:srgbClr val="00CC00"/>
    <a:srgbClr val="00FFFF"/>
    <a:srgbClr val="008000"/>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479" autoAdjust="0"/>
    <p:restoredTop sz="94660"/>
  </p:normalViewPr>
  <p:slideViewPr>
    <p:cSldViewPr>
      <p:cViewPr varScale="1">
        <p:scale>
          <a:sx n="72" d="100"/>
          <a:sy n="72" d="100"/>
        </p:scale>
        <p:origin x="784" y="52"/>
      </p:cViewPr>
      <p:guideLst>
        <p:guide orient="horz" pos="2160"/>
        <p:guide pos="3840"/>
      </p:guideLst>
    </p:cSldViewPr>
  </p:slideViewPr>
  <p:notesTextViewPr>
    <p:cViewPr>
      <p:scale>
        <a:sx n="100" d="100"/>
        <a:sy n="100" d="100"/>
      </p:scale>
      <p:origin x="0" y="0"/>
    </p:cViewPr>
  </p:notesTextViewPr>
  <p:sorterViewPr>
    <p:cViewPr>
      <p:scale>
        <a:sx n="66" d="100"/>
        <a:sy n="66" d="100"/>
      </p:scale>
      <p:origin x="0" y="-89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image" Target="../media/image10.emf"/><Relationship Id="rId5" Type="http://schemas.openxmlformats.org/officeDocument/2006/relationships/image" Target="../media/image14.emf"/><Relationship Id="rId4" Type="http://schemas.openxmlformats.org/officeDocument/2006/relationships/image" Target="../media/image13.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image" Target="../media/image16.emf"/><Relationship Id="rId5" Type="http://schemas.openxmlformats.org/officeDocument/2006/relationships/image" Target="../media/image20.emf"/><Relationship Id="rId4" Type="http://schemas.openxmlformats.org/officeDocument/2006/relationships/image" Target="../media/image1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image" Target="../media/image22.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image" Target="../media/image25.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14.emf"/><Relationship Id="rId1" Type="http://schemas.openxmlformats.org/officeDocument/2006/relationships/image" Target="../media/image13.emf"/><Relationship Id="rId4" Type="http://schemas.openxmlformats.org/officeDocument/2006/relationships/image" Target="../media/image28.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image" Target="../media/image29.e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image" Target="../media/image32.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302231" cy="339884"/>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623697" y="0"/>
            <a:ext cx="4302231" cy="339884"/>
          </a:xfrm>
          <a:prstGeom prst="rect">
            <a:avLst/>
          </a:prstGeom>
        </p:spPr>
        <p:txBody>
          <a:bodyPr vert="horz" lIns="91440" tIns="45720" rIns="91440" bIns="45720" rtlCol="0"/>
          <a:lstStyle>
            <a:lvl1pPr algn="r">
              <a:defRPr sz="1200"/>
            </a:lvl1pPr>
          </a:lstStyle>
          <a:p>
            <a:fld id="{3B698E23-0B18-420E-9DCE-1BF6082C4048}" type="datetimeFigureOut">
              <a:rPr lang="zh-CN" altLang="en-US" smtClean="0"/>
              <a:pPr/>
              <a:t>2026/8/11</a:t>
            </a:fld>
            <a:endParaRPr lang="zh-CN" altLang="en-US"/>
          </a:p>
        </p:txBody>
      </p:sp>
      <p:sp>
        <p:nvSpPr>
          <p:cNvPr id="4" name="页脚占位符 3"/>
          <p:cNvSpPr>
            <a:spLocks noGrp="1"/>
          </p:cNvSpPr>
          <p:nvPr>
            <p:ph type="ftr" sz="quarter" idx="2"/>
          </p:nvPr>
        </p:nvSpPr>
        <p:spPr>
          <a:xfrm>
            <a:off x="0" y="6456612"/>
            <a:ext cx="4302231" cy="339884"/>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623697" y="6456612"/>
            <a:ext cx="4302231" cy="339884"/>
          </a:xfrm>
          <a:prstGeom prst="rect">
            <a:avLst/>
          </a:prstGeom>
        </p:spPr>
        <p:txBody>
          <a:bodyPr vert="horz" lIns="91440" tIns="45720" rIns="91440" bIns="45720" rtlCol="0" anchor="b"/>
          <a:lstStyle>
            <a:lvl1pPr algn="r">
              <a:defRPr sz="1200"/>
            </a:lvl1pPr>
          </a:lstStyle>
          <a:p>
            <a:fld id="{3D8EA6B6-D98E-4638-98E8-174927707BE0}" type="slidenum">
              <a:rPr lang="zh-CN" altLang="en-US" smtClean="0"/>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302231" cy="339884"/>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623697" y="0"/>
            <a:ext cx="4302231" cy="339884"/>
          </a:xfrm>
          <a:prstGeom prst="rect">
            <a:avLst/>
          </a:prstGeom>
        </p:spPr>
        <p:txBody>
          <a:bodyPr vert="horz" lIns="91440" tIns="45720" rIns="91440" bIns="45720" rtlCol="0"/>
          <a:lstStyle>
            <a:lvl1pPr algn="r">
              <a:defRPr sz="1200"/>
            </a:lvl1pPr>
          </a:lstStyle>
          <a:p>
            <a:fld id="{482E02B9-5FD2-405A-8329-9BC5804297B8}" type="datetimeFigureOut">
              <a:rPr lang="zh-CN" altLang="en-US" smtClean="0"/>
              <a:pPr/>
              <a:t>2026/8/11</a:t>
            </a:fld>
            <a:endParaRPr lang="zh-CN" altLang="en-US"/>
          </a:p>
        </p:txBody>
      </p:sp>
      <p:sp>
        <p:nvSpPr>
          <p:cNvPr id="4" name="幻灯片图像占位符 3"/>
          <p:cNvSpPr>
            <a:spLocks noGrp="1" noRot="1" noChangeAspect="1"/>
          </p:cNvSpPr>
          <p:nvPr>
            <p:ph type="sldImg" idx="2"/>
          </p:nvPr>
        </p:nvSpPr>
        <p:spPr>
          <a:xfrm>
            <a:off x="2698750" y="509588"/>
            <a:ext cx="4530725" cy="25495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92823" y="3228895"/>
            <a:ext cx="7942580" cy="305895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456612"/>
            <a:ext cx="4302231" cy="339884"/>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623697" y="6456612"/>
            <a:ext cx="4302231" cy="339884"/>
          </a:xfrm>
          <a:prstGeom prst="rect">
            <a:avLst/>
          </a:prstGeom>
        </p:spPr>
        <p:txBody>
          <a:bodyPr vert="horz" lIns="91440" tIns="45720" rIns="91440" bIns="45720" rtlCol="0" anchor="b"/>
          <a:lstStyle>
            <a:lvl1pPr algn="r">
              <a:defRPr sz="1200"/>
            </a:lvl1pPr>
          </a:lstStyle>
          <a:p>
            <a:fld id="{944AED71-FBFF-4F6D-8D62-6372E9742979}"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84C69AE-44CE-468F-8B3C-50C530D5588C}" type="datetime1">
              <a:rPr lang="zh-CN" altLang="en-US" smtClean="0"/>
              <a:pPr/>
              <a:t>2026/8/11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D0F519E-AB88-4743-9971-EB2977690147}" type="datetime1">
              <a:rPr lang="zh-CN" altLang="en-US" smtClean="0"/>
              <a:pPr/>
              <a:t>2026/8/11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B50D68D9-CCDA-4052-B5C7-2D4649E53A3E}" type="datetime1">
              <a:rPr lang="zh-CN" altLang="en-US" smtClean="0"/>
              <a:pPr/>
              <a:t>2026/8/11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0EEBE6EA-AC0B-4816-A564-FC7A1E635C10}" type="datetime1">
              <a:rPr lang="zh-CN" altLang="en-US" smtClean="0"/>
              <a:pPr/>
              <a:t>2026/8/11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C1286F95-DA15-4C19-93B9-DC9B8D9BC36D}" type="datetime1">
              <a:rPr lang="zh-CN" altLang="en-US" smtClean="0"/>
              <a:pPr/>
              <a:t>2026/8/11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A9FA969-F0A2-4C05-8A2A-BC0675AC3DA4}" type="datetime1">
              <a:rPr lang="zh-CN" altLang="en-US" smtClean="0"/>
              <a:pPr/>
              <a:t>2026/8/11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6AE38FE-2B74-49C8-924B-403F119E032F}" type="datetime1">
              <a:rPr lang="zh-CN" altLang="en-US" smtClean="0"/>
              <a:pPr/>
              <a:t>2026/8/11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12CFB80-3AFB-4521-909C-3E625821EF4A}" type="datetime1">
              <a:rPr lang="zh-CN" altLang="en-US" smtClean="0"/>
              <a:pPr/>
              <a:t>2026/8/11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8230AFB-DDAD-4A8D-95B6-877BA0C675BE}" type="datetime1">
              <a:rPr lang="zh-CN" altLang="en-US" smtClean="0"/>
              <a:pPr/>
              <a:t>2026/8/11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E67584E-E69D-4238-91BD-AEAFDD0608E0}" type="datetime1">
              <a:rPr lang="zh-CN" altLang="en-US" smtClean="0"/>
              <a:pPr/>
              <a:t>2026/8/11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816C7D5-B15B-40A6-9BA6-B05C6AD7260F}" type="datetime1">
              <a:rPr lang="zh-CN" altLang="en-US" smtClean="0"/>
              <a:pPr/>
              <a:t>2026/8/11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C25A76-A0C0-4D4D-9052-CC85D53E0429}" type="datetime1">
              <a:rPr lang="zh-CN" altLang="en-US" smtClean="0"/>
              <a:pPr/>
              <a:t>2026/8/11</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image" Target="../media/image4.png"/><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2.emf"/><Relationship Id="rId5" Type="http://schemas.openxmlformats.org/officeDocument/2006/relationships/oleObject" Target="../embeddings/oleObject2.bin"/><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6.e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4.bin"/><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oleObject" Target="../embeddings/oleObject5.bin"/><Relationship Id="rId7" Type="http://schemas.openxmlformats.org/officeDocument/2006/relationships/oleObject" Target="../embeddings/oleObject7.bin"/><Relationship Id="rId12" Type="http://schemas.openxmlformats.org/officeDocument/2006/relationships/image" Target="../media/image14.e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1.emf"/><Relationship Id="rId11" Type="http://schemas.openxmlformats.org/officeDocument/2006/relationships/oleObject" Target="../embeddings/oleObject9.bin"/><Relationship Id="rId5" Type="http://schemas.openxmlformats.org/officeDocument/2006/relationships/oleObject" Target="../embeddings/oleObject6.bin"/><Relationship Id="rId10" Type="http://schemas.openxmlformats.org/officeDocument/2006/relationships/image" Target="../media/image13.emf"/><Relationship Id="rId4" Type="http://schemas.openxmlformats.org/officeDocument/2006/relationships/image" Target="../media/image10.emf"/><Relationship Id="rId9" Type="http://schemas.openxmlformats.org/officeDocument/2006/relationships/oleObject" Target="../embeddings/oleObject8.bin"/></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15.emf"/></Relationships>
</file>

<file path=ppt/slides/_rels/slide7.xml.rels><?xml version="1.0" encoding="UTF-8" standalone="yes"?>
<Relationships xmlns="http://schemas.openxmlformats.org/package/2006/relationships"><Relationship Id="rId8" Type="http://schemas.openxmlformats.org/officeDocument/2006/relationships/image" Target="../media/image18.emf"/><Relationship Id="rId3" Type="http://schemas.openxmlformats.org/officeDocument/2006/relationships/oleObject" Target="../embeddings/oleObject11.bin"/><Relationship Id="rId7" Type="http://schemas.openxmlformats.org/officeDocument/2006/relationships/oleObject" Target="../embeddings/oleObject13.bin"/><Relationship Id="rId12" Type="http://schemas.openxmlformats.org/officeDocument/2006/relationships/image" Target="../media/image20.emf"/><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17.emf"/><Relationship Id="rId11" Type="http://schemas.openxmlformats.org/officeDocument/2006/relationships/oleObject" Target="../embeddings/oleObject15.bin"/><Relationship Id="rId5" Type="http://schemas.openxmlformats.org/officeDocument/2006/relationships/oleObject" Target="../embeddings/oleObject12.bin"/><Relationship Id="rId10" Type="http://schemas.openxmlformats.org/officeDocument/2006/relationships/image" Target="../media/image19.emf"/><Relationship Id="rId4" Type="http://schemas.openxmlformats.org/officeDocument/2006/relationships/image" Target="../media/image16.emf"/><Relationship Id="rId9" Type="http://schemas.openxmlformats.org/officeDocument/2006/relationships/oleObject" Target="../embeddings/oleObject14.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21.emf"/></Relationships>
</file>

<file path=ppt/slides/_rels/slide9.xml.rels><?xml version="1.0" encoding="UTF-8" standalone="yes"?>
<Relationships xmlns="http://schemas.openxmlformats.org/package/2006/relationships"><Relationship Id="rId8" Type="http://schemas.openxmlformats.org/officeDocument/2006/relationships/image" Target="../media/image24.emf"/><Relationship Id="rId3" Type="http://schemas.openxmlformats.org/officeDocument/2006/relationships/oleObject" Target="../embeddings/oleObject17.bin"/><Relationship Id="rId7" Type="http://schemas.openxmlformats.org/officeDocument/2006/relationships/oleObject" Target="../embeddings/oleObject19.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23.emf"/><Relationship Id="rId5" Type="http://schemas.openxmlformats.org/officeDocument/2006/relationships/oleObject" Target="../embeddings/oleObject18.bin"/><Relationship Id="rId4" Type="http://schemas.openxmlformats.org/officeDocument/2006/relationships/image" Target="../media/image22.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26.emf"/><Relationship Id="rId5" Type="http://schemas.openxmlformats.org/officeDocument/2006/relationships/oleObject" Target="../embeddings/oleObject21.bin"/><Relationship Id="rId4" Type="http://schemas.openxmlformats.org/officeDocument/2006/relationships/image" Target="../media/image25.emf"/></Relationships>
</file>

<file path=ppt/slides/_rels/slide11.xml.rels><?xml version="1.0" encoding="UTF-8" standalone="yes"?>
<Relationships xmlns="http://schemas.openxmlformats.org/package/2006/relationships"><Relationship Id="rId8" Type="http://schemas.openxmlformats.org/officeDocument/2006/relationships/image" Target="../media/image27.emf"/><Relationship Id="rId3" Type="http://schemas.openxmlformats.org/officeDocument/2006/relationships/oleObject" Target="../embeddings/oleObject22.bin"/><Relationship Id="rId7" Type="http://schemas.openxmlformats.org/officeDocument/2006/relationships/oleObject" Target="../embeddings/oleObject24.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14.emf"/><Relationship Id="rId5" Type="http://schemas.openxmlformats.org/officeDocument/2006/relationships/oleObject" Target="../embeddings/oleObject23.bin"/><Relationship Id="rId10" Type="http://schemas.openxmlformats.org/officeDocument/2006/relationships/image" Target="../media/image28.emf"/><Relationship Id="rId4" Type="http://schemas.openxmlformats.org/officeDocument/2006/relationships/image" Target="../media/image13.emf"/><Relationship Id="rId9" Type="http://schemas.openxmlformats.org/officeDocument/2006/relationships/oleObject" Target="../embeddings/oleObject25.bin"/></Relationships>
</file>

<file path=ppt/slides/_rels/slide12.xml.rels><?xml version="1.0" encoding="UTF-8" standalone="yes"?>
<Relationships xmlns="http://schemas.openxmlformats.org/package/2006/relationships"><Relationship Id="rId8" Type="http://schemas.openxmlformats.org/officeDocument/2006/relationships/image" Target="../media/image31.emf"/><Relationship Id="rId3" Type="http://schemas.openxmlformats.org/officeDocument/2006/relationships/oleObject" Target="../embeddings/oleObject26.bin"/><Relationship Id="rId7" Type="http://schemas.openxmlformats.org/officeDocument/2006/relationships/oleObject" Target="../embeddings/oleObject28.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30.emf"/><Relationship Id="rId5" Type="http://schemas.openxmlformats.org/officeDocument/2006/relationships/oleObject" Target="../embeddings/oleObject27.bin"/><Relationship Id="rId4" Type="http://schemas.openxmlformats.org/officeDocument/2006/relationships/image" Target="../media/image29.emf"/></Relationships>
</file>

<file path=ppt/slides/_rels/slide13.xml.rels><?xml version="1.0" encoding="UTF-8" standalone="yes"?>
<Relationships xmlns="http://schemas.openxmlformats.org/package/2006/relationships"><Relationship Id="rId8" Type="http://schemas.openxmlformats.org/officeDocument/2006/relationships/image" Target="../media/image34.emf"/><Relationship Id="rId3" Type="http://schemas.openxmlformats.org/officeDocument/2006/relationships/oleObject" Target="../embeddings/oleObject29.bin"/><Relationship Id="rId7" Type="http://schemas.openxmlformats.org/officeDocument/2006/relationships/oleObject" Target="../embeddings/oleObject31.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33.emf"/><Relationship Id="rId5" Type="http://schemas.openxmlformats.org/officeDocument/2006/relationships/oleObject" Target="../embeddings/oleObject30.bin"/><Relationship Id="rId4" Type="http://schemas.openxmlformats.org/officeDocument/2006/relationships/image" Target="../media/image32.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7.xml"/><Relationship Id="rId1" Type="http://schemas.openxmlformats.org/officeDocument/2006/relationships/vmlDrawing" Target="../drawings/vmlDrawing13.vml"/><Relationship Id="rId4" Type="http://schemas.openxmlformats.org/officeDocument/2006/relationships/image" Target="../media/image35.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7.xml"/><Relationship Id="rId1" Type="http://schemas.openxmlformats.org/officeDocument/2006/relationships/vmlDrawing" Target="../drawings/vmlDrawing14.vml"/><Relationship Id="rId4" Type="http://schemas.openxmlformats.org/officeDocument/2006/relationships/image" Target="../media/image36.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7.xml"/><Relationship Id="rId1" Type="http://schemas.openxmlformats.org/officeDocument/2006/relationships/vmlDrawing" Target="../drawings/vmlDrawing15.vml"/><Relationship Id="rId4" Type="http://schemas.openxmlformats.org/officeDocument/2006/relationships/image" Target="../media/image37.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323233"/>
            <a:ext cx="12192000" cy="523220"/>
          </a:xfrm>
          <a:prstGeom prst="rect">
            <a:avLst/>
          </a:prstGeom>
          <a:solidFill>
            <a:schemeClr val="tx2">
              <a:lumMod val="20000"/>
              <a:lumOff val="80000"/>
            </a:schemeClr>
          </a:solidFill>
          <a:ln>
            <a:noFill/>
          </a:ln>
        </p:spPr>
        <p:txBody>
          <a:bodyPr wrap="square" rtlCol="0">
            <a:spAutoFit/>
          </a:bodyPr>
          <a:lstStyle/>
          <a:p>
            <a:pPr algn="ctr"/>
            <a:r>
              <a:rPr lang="en-US" altLang="zh-CN" sz="2800" b="1" dirty="0">
                <a:latin typeface="Microsoft Sans Serif" pitchFamily="34" charset="0"/>
                <a:cs typeface="Microsoft Sans Serif" pitchFamily="34" charset="0"/>
              </a:rPr>
              <a:t>Chapter 5 Conjugated Dienes and the Resonance Theory</a:t>
            </a:r>
            <a:endParaRPr lang="zh-CN" altLang="en-US" sz="2800" b="1" dirty="0">
              <a:latin typeface="Microsoft Sans Serif" pitchFamily="34" charset="0"/>
              <a:cs typeface="Microsoft Sans Serif" pitchFamily="34" charset="0"/>
            </a:endParaRPr>
          </a:p>
        </p:txBody>
      </p:sp>
      <p:sp>
        <p:nvSpPr>
          <p:cNvPr id="5" name="TextBox 4"/>
          <p:cNvSpPr txBox="1"/>
          <p:nvPr/>
        </p:nvSpPr>
        <p:spPr>
          <a:xfrm>
            <a:off x="-29601" y="980728"/>
            <a:ext cx="4886274" cy="461665"/>
          </a:xfrm>
          <a:prstGeom prst="rect">
            <a:avLst/>
          </a:prstGeom>
          <a:solidFill>
            <a:schemeClr val="tx2">
              <a:lumMod val="20000"/>
              <a:lumOff val="80000"/>
            </a:schemeClr>
          </a:solidFill>
        </p:spPr>
        <p:txBody>
          <a:bodyPr wrap="none" rtlCol="0">
            <a:spAutoFit/>
          </a:bodyPr>
          <a:lstStyle/>
          <a:p>
            <a:r>
              <a:rPr lang="en-US" altLang="zh-CN" sz="2400" b="1" dirty="0">
                <a:latin typeface="Microsoft Sans Serif" pitchFamily="34" charset="0"/>
                <a:cs typeface="Microsoft Sans Serif" pitchFamily="34" charset="0"/>
              </a:rPr>
              <a:t>5-1  Classification of double bonds</a:t>
            </a:r>
            <a:endParaRPr lang="zh-CN" altLang="en-US" sz="2400" b="1" dirty="0">
              <a:latin typeface="Microsoft Sans Serif" pitchFamily="34" charset="0"/>
              <a:cs typeface="Microsoft Sans Serif" pitchFamily="34" charset="0"/>
            </a:endParaRPr>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1</a:t>
            </a:fld>
            <a:endParaRPr lang="zh-CN" altLang="en-US"/>
          </a:p>
        </p:txBody>
      </p:sp>
      <p:sp>
        <p:nvSpPr>
          <p:cNvPr id="13" name="矩形 12"/>
          <p:cNvSpPr/>
          <p:nvPr/>
        </p:nvSpPr>
        <p:spPr>
          <a:xfrm>
            <a:off x="407368" y="6087482"/>
            <a:ext cx="10517673" cy="400110"/>
          </a:xfrm>
          <a:prstGeom prst="rect">
            <a:avLst/>
          </a:prstGeom>
        </p:spPr>
        <p:txBody>
          <a:bodyPr wrap="square">
            <a:spAutoFit/>
          </a:bodyPr>
          <a:lstStyle/>
          <a:p>
            <a:pPr marL="285750" indent="-285750">
              <a:buFont typeface="Arial" panose="020B0604020202020204" pitchFamily="34" charset="0"/>
              <a:buChar char="•"/>
            </a:pPr>
            <a:r>
              <a:rPr lang="en-US" altLang="zh-CN" sz="2000" b="1" dirty="0">
                <a:highlight>
                  <a:srgbClr val="FFFF00"/>
                </a:highlight>
                <a:latin typeface="Microsoft Sans Serif" pitchFamily="34" charset="0"/>
                <a:ea typeface="宋体" charset="-122"/>
                <a:cs typeface="Microsoft Sans Serif" pitchFamily="34" charset="0"/>
              </a:rPr>
              <a:t>Conjugated </a:t>
            </a:r>
            <a:r>
              <a:rPr lang="en-US" altLang="zh-CN" sz="2000" b="1" dirty="0">
                <a:highlight>
                  <a:srgbClr val="FFFF00"/>
                </a:highlight>
                <a:latin typeface="Microsoft Sans Serif" pitchFamily="34" charset="0"/>
                <a:cs typeface="Microsoft Sans Serif" pitchFamily="34" charset="0"/>
              </a:rPr>
              <a:t>double bonds</a:t>
            </a:r>
            <a:r>
              <a:rPr lang="en-US" altLang="zh-CN" sz="2000" b="1" dirty="0">
                <a:latin typeface="Microsoft Sans Serif" pitchFamily="34" charset="0"/>
                <a:cs typeface="Microsoft Sans Serif" pitchFamily="34" charset="0"/>
              </a:rPr>
              <a:t> can </a:t>
            </a:r>
            <a:r>
              <a:rPr lang="en-US" altLang="zh-CN" sz="2000" b="1" dirty="0">
                <a:highlight>
                  <a:srgbClr val="00FF00"/>
                </a:highlight>
                <a:latin typeface="Microsoft Sans Serif" pitchFamily="34" charset="0"/>
                <a:cs typeface="Microsoft Sans Serif" pitchFamily="34" charset="0"/>
              </a:rPr>
              <a:t>interact</a:t>
            </a:r>
            <a:r>
              <a:rPr lang="en-US" altLang="zh-CN" sz="2000" b="1" dirty="0">
                <a:latin typeface="Microsoft Sans Serif" pitchFamily="34" charset="0"/>
                <a:cs typeface="Microsoft Sans Serif" pitchFamily="34" charset="0"/>
              </a:rPr>
              <a:t>  with each, resulting </a:t>
            </a:r>
            <a:r>
              <a:rPr lang="en-US" altLang="zh-CN" sz="2000" b="1" dirty="0">
                <a:highlight>
                  <a:srgbClr val="00FFFF"/>
                </a:highlight>
                <a:latin typeface="Microsoft Sans Serif" pitchFamily="34" charset="0"/>
                <a:cs typeface="Microsoft Sans Serif" pitchFamily="34" charset="0"/>
              </a:rPr>
              <a:t>in unique properties</a:t>
            </a:r>
            <a:r>
              <a:rPr lang="en-US" altLang="zh-CN" sz="2000" b="1" dirty="0">
                <a:latin typeface="Microsoft Sans Serif" pitchFamily="34" charset="0"/>
                <a:cs typeface="Microsoft Sans Serif" pitchFamily="34" charset="0"/>
              </a:rPr>
              <a:t>.</a:t>
            </a:r>
            <a:endParaRPr lang="en-US" altLang="zh-CN" sz="2000" b="1" dirty="0">
              <a:latin typeface="Microsoft Sans Serif" pitchFamily="34" charset="0"/>
              <a:ea typeface="宋体" charset="-122"/>
              <a:cs typeface="Microsoft Sans Serif" pitchFamily="34" charset="0"/>
            </a:endParaRPr>
          </a:p>
        </p:txBody>
      </p:sp>
      <p:sp>
        <p:nvSpPr>
          <p:cNvPr id="8" name="文本框 7"/>
          <p:cNvSpPr txBox="1"/>
          <p:nvPr/>
        </p:nvSpPr>
        <p:spPr>
          <a:xfrm>
            <a:off x="7999760" y="2175978"/>
            <a:ext cx="4320480" cy="923330"/>
          </a:xfrm>
          <a:prstGeom prst="rect">
            <a:avLst/>
          </a:prstGeom>
          <a:noFill/>
        </p:spPr>
        <p:txBody>
          <a:bodyPr wrap="square" rtlCol="0">
            <a:spAutoFit/>
          </a:bodyPr>
          <a:lstStyle/>
          <a:p>
            <a:pPr marL="285750" indent="-285750">
              <a:buFont typeface="Arial" panose="020B0604020202020204" pitchFamily="34" charset="0"/>
              <a:buChar char="•"/>
            </a:pPr>
            <a:r>
              <a:rPr lang="en-US" altLang="zh-CN" b="1" dirty="0">
                <a:latin typeface="Consolas" panose="020B0609020204030204" pitchFamily="49" charset="0"/>
                <a:ea typeface="宋体" charset="-122"/>
                <a:cs typeface="Microsoft Sans Serif" pitchFamily="34" charset="0"/>
              </a:rPr>
              <a:t>Isolated double bonds are </a:t>
            </a:r>
            <a:r>
              <a:rPr lang="en-US" altLang="zh-CN" b="1" dirty="0">
                <a:solidFill>
                  <a:srgbClr val="0000FF"/>
                </a:solidFill>
                <a:latin typeface="Consolas" panose="020B0609020204030204" pitchFamily="49" charset="0"/>
                <a:ea typeface="宋体" charset="-122"/>
                <a:cs typeface="Microsoft Sans Serif" pitchFamily="34" charset="0"/>
              </a:rPr>
              <a:t>separated by two or more single bonds</a:t>
            </a:r>
            <a:r>
              <a:rPr lang="en-US" altLang="zh-CN" b="1" dirty="0">
                <a:latin typeface="Consolas" panose="020B0609020204030204" pitchFamily="49" charset="0"/>
                <a:ea typeface="宋体" charset="-122"/>
                <a:cs typeface="Microsoft Sans Serif" pitchFamily="34" charset="0"/>
              </a:rPr>
              <a:t>. </a:t>
            </a:r>
          </a:p>
        </p:txBody>
      </p:sp>
      <p:sp>
        <p:nvSpPr>
          <p:cNvPr id="14" name="文本框 13"/>
          <p:cNvSpPr txBox="1"/>
          <p:nvPr/>
        </p:nvSpPr>
        <p:spPr>
          <a:xfrm>
            <a:off x="7955296" y="3497226"/>
            <a:ext cx="3760717" cy="1015663"/>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highlight>
                  <a:srgbClr val="FFFF00"/>
                </a:highlight>
                <a:latin typeface="Consolas" panose="020B0609020204030204" pitchFamily="49" charset="0"/>
                <a:ea typeface="宋体" charset="-122"/>
                <a:cs typeface="Microsoft Sans Serif" pitchFamily="34" charset="0"/>
              </a:rPr>
              <a:t>Conjugated double bonds </a:t>
            </a:r>
            <a:r>
              <a:rPr lang="en-US" altLang="zh-CN" sz="2000" b="1" dirty="0">
                <a:latin typeface="Consolas" panose="020B0609020204030204" pitchFamily="49" charset="0"/>
                <a:ea typeface="宋体" charset="-122"/>
                <a:cs typeface="Microsoft Sans Serif" pitchFamily="34" charset="0"/>
              </a:rPr>
              <a:t>are </a:t>
            </a:r>
            <a:r>
              <a:rPr lang="en-US" altLang="zh-CN" sz="2000" b="1" dirty="0">
                <a:solidFill>
                  <a:srgbClr val="0000FF"/>
                </a:solidFill>
                <a:highlight>
                  <a:srgbClr val="00FFFF"/>
                </a:highlight>
                <a:latin typeface="Consolas" panose="020B0609020204030204" pitchFamily="49" charset="0"/>
                <a:ea typeface="宋体" charset="-122"/>
                <a:cs typeface="Microsoft Sans Serif" pitchFamily="34" charset="0"/>
              </a:rPr>
              <a:t>separated by one single bond</a:t>
            </a:r>
            <a:r>
              <a:rPr lang="en-US" altLang="zh-CN" sz="2000" b="1" dirty="0">
                <a:latin typeface="Consolas" panose="020B0609020204030204" pitchFamily="49" charset="0"/>
                <a:ea typeface="宋体" charset="-122"/>
                <a:cs typeface="Microsoft Sans Serif" pitchFamily="34" charset="0"/>
              </a:rPr>
              <a:t>.</a:t>
            </a:r>
          </a:p>
        </p:txBody>
      </p:sp>
      <p:sp>
        <p:nvSpPr>
          <p:cNvPr id="15" name="矩形 14"/>
          <p:cNvSpPr/>
          <p:nvPr/>
        </p:nvSpPr>
        <p:spPr>
          <a:xfrm>
            <a:off x="7999760" y="4728967"/>
            <a:ext cx="3387765" cy="646331"/>
          </a:xfrm>
          <a:prstGeom prst="rect">
            <a:avLst/>
          </a:prstGeom>
        </p:spPr>
        <p:txBody>
          <a:bodyPr wrap="square">
            <a:spAutoFit/>
          </a:bodyPr>
          <a:lstStyle/>
          <a:p>
            <a:pPr marL="285750" indent="-285750">
              <a:buFont typeface="Arial" panose="020B0604020202020204" pitchFamily="34" charset="0"/>
              <a:buChar char="•"/>
            </a:pPr>
            <a:r>
              <a:rPr lang="en-US" altLang="zh-CN" b="1" dirty="0">
                <a:latin typeface="Consolas" panose="020B0609020204030204" pitchFamily="49" charset="0"/>
                <a:ea typeface="宋体" charset="-122"/>
                <a:cs typeface="Microsoft Sans Serif" pitchFamily="34" charset="0"/>
              </a:rPr>
              <a:t>Cumulated double bonds are </a:t>
            </a:r>
            <a:r>
              <a:rPr lang="en-US" altLang="zh-CN" b="1" dirty="0">
                <a:solidFill>
                  <a:srgbClr val="0000FF"/>
                </a:solidFill>
                <a:latin typeface="Consolas" panose="020B0609020204030204" pitchFamily="49" charset="0"/>
                <a:ea typeface="宋体" charset="-122"/>
                <a:cs typeface="Microsoft Sans Serif" pitchFamily="34" charset="0"/>
              </a:rPr>
              <a:t>on adjacent carbons</a:t>
            </a:r>
            <a:r>
              <a:rPr lang="en-US" altLang="zh-CN" b="1" dirty="0">
                <a:latin typeface="Consolas" panose="020B0609020204030204" pitchFamily="49" charset="0"/>
                <a:ea typeface="宋体" charset="-122"/>
                <a:cs typeface="Microsoft Sans Serif" pitchFamily="34" charset="0"/>
              </a:rPr>
              <a:t>. </a:t>
            </a:r>
          </a:p>
        </p:txBody>
      </p:sp>
      <p:graphicFrame>
        <p:nvGraphicFramePr>
          <p:cNvPr id="6" name="对象 5">
            <a:extLst>
              <a:ext uri="{FF2B5EF4-FFF2-40B4-BE49-F238E27FC236}">
                <a16:creationId xmlns:a16="http://schemas.microsoft.com/office/drawing/2014/main" id="{4837AD98-917B-41BB-A84B-C82B89D7422C}"/>
              </a:ext>
            </a:extLst>
          </p:cNvPr>
          <p:cNvGraphicFramePr>
            <a:graphicFrameLocks noChangeAspect="1"/>
          </p:cNvGraphicFramePr>
          <p:nvPr>
            <p:extLst>
              <p:ext uri="{D42A27DB-BD31-4B8C-83A1-F6EECF244321}">
                <p14:modId xmlns:p14="http://schemas.microsoft.com/office/powerpoint/2010/main" val="3135865352"/>
              </p:ext>
            </p:extLst>
          </p:nvPr>
        </p:nvGraphicFramePr>
        <p:xfrm>
          <a:off x="207645" y="2361520"/>
          <a:ext cx="7301518" cy="2944964"/>
        </p:xfrm>
        <a:graphic>
          <a:graphicData uri="http://schemas.openxmlformats.org/presentationml/2006/ole">
            <mc:AlternateContent xmlns:mc="http://schemas.openxmlformats.org/markup-compatibility/2006">
              <mc:Choice xmlns:v="urn:schemas-microsoft-com:vml" Requires="v">
                <p:oleObj spid="_x0000_s1243" name="CS ChemDraw Drawing" r:id="rId3" imgW="4187893" imgH="1689526" progId="ChemDraw.Document.6.0">
                  <p:embed/>
                </p:oleObj>
              </mc:Choice>
              <mc:Fallback>
                <p:oleObj name="CS ChemDraw Drawing" r:id="rId3" imgW="4187893" imgH="1689526" progId="ChemDraw.Document.6.0">
                  <p:embed/>
                  <p:pic>
                    <p:nvPicPr>
                      <p:cNvPr id="0" name=""/>
                      <p:cNvPicPr/>
                      <p:nvPr/>
                    </p:nvPicPr>
                    <p:blipFill>
                      <a:blip r:embed="rId4"/>
                      <a:stretch>
                        <a:fillRect/>
                      </a:stretch>
                    </p:blipFill>
                    <p:spPr>
                      <a:xfrm>
                        <a:off x="207645" y="2361520"/>
                        <a:ext cx="7301518" cy="2944964"/>
                      </a:xfrm>
                      <a:prstGeom prst="rect">
                        <a:avLst/>
                      </a:prstGeom>
                    </p:spPr>
                  </p:pic>
                </p:oleObj>
              </mc:Fallback>
            </mc:AlternateContent>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2</a:t>
            </a:fld>
            <a:endParaRPr lang="zh-CN" altLang="en-US"/>
          </a:p>
        </p:txBody>
      </p:sp>
      <p:sp>
        <p:nvSpPr>
          <p:cNvPr id="6" name="TextBox 5"/>
          <p:cNvSpPr txBox="1"/>
          <p:nvPr/>
        </p:nvSpPr>
        <p:spPr>
          <a:xfrm>
            <a:off x="0" y="260648"/>
            <a:ext cx="6296917" cy="461665"/>
          </a:xfrm>
          <a:prstGeom prst="rect">
            <a:avLst/>
          </a:prstGeom>
          <a:solidFill>
            <a:schemeClr val="tx2">
              <a:lumMod val="20000"/>
              <a:lumOff val="80000"/>
            </a:schemeClr>
          </a:solidFill>
        </p:spPr>
        <p:txBody>
          <a:bodyPr wrap="none" rtlCol="0">
            <a:spAutoFit/>
          </a:bodyPr>
          <a:lstStyle/>
          <a:p>
            <a:r>
              <a:rPr lang="en-US" altLang="zh-CN" sz="2400" b="1" dirty="0">
                <a:latin typeface="Microsoft Sans Serif" pitchFamily="34" charset="0"/>
                <a:cs typeface="Microsoft Sans Serif" pitchFamily="34" charset="0"/>
              </a:rPr>
              <a:t>5-2  Structure and Bonding of Buta-1,3-diene</a:t>
            </a:r>
            <a:endParaRPr lang="zh-CN" altLang="en-US" sz="2400" b="1" dirty="0">
              <a:latin typeface="Microsoft Sans Serif" pitchFamily="34" charset="0"/>
              <a:cs typeface="Microsoft Sans Serif" pitchFamily="34" charset="0"/>
            </a:endParaRPr>
          </a:p>
        </p:txBody>
      </p:sp>
      <p:sp>
        <p:nvSpPr>
          <p:cNvPr id="8" name="TextBox 7"/>
          <p:cNvSpPr txBox="1"/>
          <p:nvPr/>
        </p:nvSpPr>
        <p:spPr>
          <a:xfrm>
            <a:off x="385138" y="837969"/>
            <a:ext cx="9023230" cy="400110"/>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latin typeface="Microsoft Sans Serif" pitchFamily="34" charset="0"/>
                <a:cs typeface="Microsoft Sans Serif" pitchFamily="34" charset="0"/>
              </a:rPr>
              <a:t>The Structure of </a:t>
            </a:r>
            <a:r>
              <a:rPr lang="en-US" altLang="zh-CN" sz="2000" b="1" dirty="0">
                <a:solidFill>
                  <a:srgbClr val="0000FF"/>
                </a:solidFill>
                <a:latin typeface="Microsoft Sans Serif" pitchFamily="34" charset="0"/>
                <a:cs typeface="Microsoft Sans Serif" pitchFamily="34" charset="0"/>
              </a:rPr>
              <a:t>buta-1,3-diene</a:t>
            </a:r>
            <a:r>
              <a:rPr lang="en-US" altLang="zh-CN" sz="2000" b="1" dirty="0">
                <a:latin typeface="Microsoft Sans Serif" pitchFamily="34" charset="0"/>
                <a:cs typeface="Microsoft Sans Serif" pitchFamily="34" charset="0"/>
              </a:rPr>
              <a:t> in its most stable conformation is </a:t>
            </a:r>
            <a:r>
              <a:rPr lang="en-US" altLang="zh-CN" sz="2000" b="1" dirty="0">
                <a:solidFill>
                  <a:srgbClr val="0000FF"/>
                </a:solidFill>
                <a:latin typeface="Microsoft Sans Serif" pitchFamily="34" charset="0"/>
                <a:cs typeface="Microsoft Sans Serif" pitchFamily="34" charset="0"/>
              </a:rPr>
              <a:t>planar</a:t>
            </a:r>
            <a:r>
              <a:rPr lang="en-US" altLang="zh-CN" sz="2000" b="1" dirty="0">
                <a:latin typeface="Microsoft Sans Serif" pitchFamily="34" charset="0"/>
                <a:cs typeface="Microsoft Sans Serif" pitchFamily="34" charset="0"/>
              </a:rPr>
              <a:t>.</a:t>
            </a:r>
            <a:endParaRPr lang="zh-CN" altLang="en-US" sz="2000" b="1" dirty="0">
              <a:latin typeface="Microsoft Sans Serif" pitchFamily="34" charset="0"/>
              <a:cs typeface="Microsoft Sans Serif" pitchFamily="34" charset="0"/>
            </a:endParaRPr>
          </a:p>
        </p:txBody>
      </p:sp>
      <p:pic>
        <p:nvPicPr>
          <p:cNvPr id="44041" name="Picture 9"/>
          <p:cNvPicPr>
            <a:picLocks noChangeAspect="1" noChangeArrowheads="1"/>
          </p:cNvPicPr>
          <p:nvPr/>
        </p:nvPicPr>
        <p:blipFill>
          <a:blip r:embed="rId3" cstate="print"/>
          <a:srcRect/>
          <a:stretch>
            <a:fillRect/>
          </a:stretch>
        </p:blipFill>
        <p:spPr bwMode="auto">
          <a:xfrm>
            <a:off x="2927648" y="1244811"/>
            <a:ext cx="1728192" cy="1269141"/>
          </a:xfrm>
          <a:prstGeom prst="rect">
            <a:avLst/>
          </a:prstGeom>
          <a:noFill/>
          <a:ln w="9525">
            <a:noFill/>
            <a:miter lim="800000"/>
            <a:headEnd/>
            <a:tailEnd/>
          </a:ln>
          <a:effectLst>
            <a:softEdge rad="127000"/>
          </a:effectLst>
        </p:spPr>
      </p:pic>
      <p:pic>
        <p:nvPicPr>
          <p:cNvPr id="44042" name="Picture 10"/>
          <p:cNvPicPr>
            <a:picLocks noChangeAspect="1" noChangeArrowheads="1"/>
          </p:cNvPicPr>
          <p:nvPr/>
        </p:nvPicPr>
        <p:blipFill>
          <a:blip r:embed="rId4" cstate="print"/>
          <a:srcRect/>
          <a:stretch>
            <a:fillRect/>
          </a:stretch>
        </p:blipFill>
        <p:spPr bwMode="auto">
          <a:xfrm>
            <a:off x="5447928" y="1485241"/>
            <a:ext cx="2695921" cy="857256"/>
          </a:xfrm>
          <a:prstGeom prst="rect">
            <a:avLst/>
          </a:prstGeom>
          <a:noFill/>
          <a:ln w="9525">
            <a:noFill/>
            <a:miter lim="800000"/>
            <a:headEnd/>
            <a:tailEnd/>
          </a:ln>
          <a:effectLst>
            <a:softEdge rad="127000"/>
          </a:effectLst>
        </p:spPr>
      </p:pic>
      <p:sp>
        <p:nvSpPr>
          <p:cNvPr id="11" name="矩形 10"/>
          <p:cNvSpPr/>
          <p:nvPr/>
        </p:nvSpPr>
        <p:spPr>
          <a:xfrm>
            <a:off x="335813" y="2520684"/>
            <a:ext cx="11197262" cy="707886"/>
          </a:xfrm>
          <a:prstGeom prst="rect">
            <a:avLst/>
          </a:prstGeom>
        </p:spPr>
        <p:txBody>
          <a:bodyPr wrap="square">
            <a:spAutoFit/>
          </a:bodyPr>
          <a:lstStyle/>
          <a:p>
            <a:pPr marL="285750" indent="-285750">
              <a:buFont typeface="Arial" panose="020B0604020202020204" pitchFamily="34" charset="0"/>
              <a:buChar char="•"/>
            </a:pPr>
            <a:r>
              <a:rPr lang="en-US" altLang="zh-CN" sz="2000" b="1" dirty="0">
                <a:latin typeface="Microsoft Sans Serif" pitchFamily="34" charset="0"/>
                <a:ea typeface="宋体" charset="-122"/>
                <a:cs typeface="Microsoft Sans Serif" pitchFamily="34" charset="0"/>
              </a:rPr>
              <a:t>The C2-C3 bond length is intermediate between the normal length of a single bond and that of a double bond.</a:t>
            </a:r>
            <a:endParaRPr lang="en-US" altLang="zh-CN" sz="2000" b="1" dirty="0">
              <a:latin typeface="Microsoft Sans Serif" pitchFamily="34" charset="0"/>
              <a:ea typeface="宋体" charset="-122"/>
              <a:cs typeface="Microsoft Sans Serif" pitchFamily="34" charset="0"/>
              <a:sym typeface="Symbol"/>
            </a:endParaRPr>
          </a:p>
        </p:txBody>
      </p:sp>
      <p:sp>
        <p:nvSpPr>
          <p:cNvPr id="5" name="文本框 4"/>
          <p:cNvSpPr txBox="1"/>
          <p:nvPr/>
        </p:nvSpPr>
        <p:spPr>
          <a:xfrm>
            <a:off x="385138" y="4268605"/>
            <a:ext cx="11255478" cy="707886"/>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The planar conformation, with the </a:t>
            </a:r>
            <a:r>
              <a:rPr lang="en-US" altLang="zh-CN" sz="2000" b="1" i="1" dirty="0">
                <a:latin typeface="Microsoft Sans Serif" panose="020B0604020202020204" pitchFamily="34" charset="0"/>
                <a:ea typeface="Microsoft Sans Serif" panose="020B0604020202020204" pitchFamily="34" charset="0"/>
                <a:cs typeface="Microsoft Sans Serif" panose="020B0604020202020204" pitchFamily="34" charset="0"/>
              </a:rPr>
              <a:t>p</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orbitals of the two double bonds aligned, allows overlap between the pi bonds.</a:t>
            </a:r>
          </a:p>
        </p:txBody>
      </p:sp>
      <p:sp>
        <p:nvSpPr>
          <p:cNvPr id="9" name="矩形 8"/>
          <p:cNvSpPr/>
          <p:nvPr/>
        </p:nvSpPr>
        <p:spPr>
          <a:xfrm>
            <a:off x="1771424" y="5215474"/>
            <a:ext cx="5812088" cy="1323439"/>
          </a:xfrm>
          <a:prstGeom prst="rect">
            <a:avLst/>
          </a:prstGeom>
          <a:noFill/>
        </p:spPr>
        <p:txBody>
          <a:bodyPr wrap="square">
            <a:spAutoFit/>
          </a:bodyPr>
          <a:lstStyle/>
          <a:p>
            <a:pPr algn="just"/>
            <a:r>
              <a:rPr lang="en-US" altLang="zh-CN" sz="20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The electrons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in the double bonds are </a:t>
            </a:r>
            <a:r>
              <a:rPr lang="en-US" altLang="zh-CN" sz="20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not localized in each double bond</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zh-CN" sz="20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but</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are </a:t>
            </a:r>
            <a:r>
              <a:rPr lang="en-US" altLang="zh-CN" sz="20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delocalized</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over the entire molecule, creating </a:t>
            </a:r>
            <a:r>
              <a:rPr lang="en-US" altLang="zh-CN" sz="2000"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some pi overlap and pi bonding in the C2-C3 bond</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zh-CN" altLang="en-US" sz="2000" b="1" dirty="0">
              <a:latin typeface="Microsoft Sans Serif" panose="020B0604020202020204" pitchFamily="34" charset="0"/>
              <a:cs typeface="Microsoft Sans Serif" panose="020B0604020202020204" pitchFamily="34" charset="0"/>
            </a:endParaRPr>
          </a:p>
        </p:txBody>
      </p:sp>
      <p:graphicFrame>
        <p:nvGraphicFramePr>
          <p:cNvPr id="7" name="对象 6">
            <a:extLst>
              <a:ext uri="{FF2B5EF4-FFF2-40B4-BE49-F238E27FC236}">
                <a16:creationId xmlns:a16="http://schemas.microsoft.com/office/drawing/2014/main" id="{E9B6C59F-00BB-4A23-BA63-2910323384E7}"/>
              </a:ext>
            </a:extLst>
          </p:cNvPr>
          <p:cNvGraphicFramePr>
            <a:graphicFrameLocks noChangeAspect="1"/>
          </p:cNvGraphicFramePr>
          <p:nvPr>
            <p:extLst>
              <p:ext uri="{D42A27DB-BD31-4B8C-83A1-F6EECF244321}">
                <p14:modId xmlns:p14="http://schemas.microsoft.com/office/powerpoint/2010/main" val="1927978106"/>
              </p:ext>
            </p:extLst>
          </p:nvPr>
        </p:nvGraphicFramePr>
        <p:xfrm>
          <a:off x="2495600" y="2848167"/>
          <a:ext cx="8320016" cy="1420718"/>
        </p:xfrm>
        <a:graphic>
          <a:graphicData uri="http://schemas.openxmlformats.org/presentationml/2006/ole">
            <mc:AlternateContent xmlns:mc="http://schemas.openxmlformats.org/markup-compatibility/2006">
              <mc:Choice xmlns:v="urn:schemas-microsoft-com:vml" Requires="v">
                <p:oleObj spid="_x0000_s44442" name="CS ChemDraw Drawing" r:id="rId5" imgW="4266805" imgH="728217" progId="ChemDraw.Document.6.0">
                  <p:embed/>
                </p:oleObj>
              </mc:Choice>
              <mc:Fallback>
                <p:oleObj name="CS ChemDraw Drawing" r:id="rId5" imgW="4266805" imgH="728217" progId="ChemDraw.Document.6.0">
                  <p:embed/>
                  <p:pic>
                    <p:nvPicPr>
                      <p:cNvPr id="0" name=""/>
                      <p:cNvPicPr/>
                      <p:nvPr/>
                    </p:nvPicPr>
                    <p:blipFill>
                      <a:blip r:embed="rId6"/>
                      <a:stretch>
                        <a:fillRect/>
                      </a:stretch>
                    </p:blipFill>
                    <p:spPr>
                      <a:xfrm>
                        <a:off x="2495600" y="2848167"/>
                        <a:ext cx="8320016" cy="1420718"/>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65584C5C-3CA1-4D0D-B14D-2ED518993567}"/>
              </a:ext>
            </a:extLst>
          </p:cNvPr>
          <p:cNvGraphicFramePr>
            <a:graphicFrameLocks noChangeAspect="1"/>
          </p:cNvGraphicFramePr>
          <p:nvPr>
            <p:extLst>
              <p:ext uri="{D42A27DB-BD31-4B8C-83A1-F6EECF244321}">
                <p14:modId xmlns:p14="http://schemas.microsoft.com/office/powerpoint/2010/main" val="1324457417"/>
              </p:ext>
            </p:extLst>
          </p:nvPr>
        </p:nvGraphicFramePr>
        <p:xfrm>
          <a:off x="7968208" y="4705415"/>
          <a:ext cx="2664296" cy="2047246"/>
        </p:xfrm>
        <a:graphic>
          <a:graphicData uri="http://schemas.openxmlformats.org/presentationml/2006/ole">
            <mc:AlternateContent xmlns:mc="http://schemas.openxmlformats.org/markup-compatibility/2006">
              <mc:Choice xmlns:v="urn:schemas-microsoft-com:vml" Requires="v">
                <p:oleObj spid="_x0000_s44443" name="CS ChemDraw Drawing" r:id="rId7" imgW="1618103" imgH="1243161" progId="ChemDraw.Document.6.0">
                  <p:embed/>
                </p:oleObj>
              </mc:Choice>
              <mc:Fallback>
                <p:oleObj name="CS ChemDraw Drawing" r:id="rId7" imgW="1618103" imgH="1243161" progId="ChemDraw.Document.6.0">
                  <p:embed/>
                  <p:pic>
                    <p:nvPicPr>
                      <p:cNvPr id="5" name="对象 4"/>
                      <p:cNvPicPr/>
                      <p:nvPr/>
                    </p:nvPicPr>
                    <p:blipFill>
                      <a:blip r:embed="rId8"/>
                      <a:stretch>
                        <a:fillRect/>
                      </a:stretch>
                    </p:blipFill>
                    <p:spPr>
                      <a:xfrm>
                        <a:off x="7968208" y="4705415"/>
                        <a:ext cx="2664296" cy="2047246"/>
                      </a:xfrm>
                      <a:prstGeom prst="rect">
                        <a:avLst/>
                      </a:prstGeom>
                    </p:spPr>
                  </p:pic>
                </p:oleObj>
              </mc:Fallback>
            </mc:AlternateContent>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3</a:t>
            </a:fld>
            <a:endParaRPr lang="zh-CN" altLang="en-US"/>
          </a:p>
        </p:txBody>
      </p:sp>
      <p:sp>
        <p:nvSpPr>
          <p:cNvPr id="9" name="TextBox 8"/>
          <p:cNvSpPr txBox="1"/>
          <p:nvPr/>
        </p:nvSpPr>
        <p:spPr>
          <a:xfrm>
            <a:off x="0" y="212460"/>
            <a:ext cx="3479078" cy="461665"/>
          </a:xfrm>
          <a:prstGeom prst="rect">
            <a:avLst/>
          </a:prstGeom>
          <a:solidFill>
            <a:schemeClr val="tx2">
              <a:lumMod val="20000"/>
              <a:lumOff val="80000"/>
            </a:schemeClr>
          </a:solidFill>
        </p:spPr>
        <p:txBody>
          <a:bodyPr wrap="square" rtlCol="0">
            <a:spAutoFit/>
          </a:bodyPr>
          <a:lstStyle/>
          <a:p>
            <a:r>
              <a:rPr lang="en-US" altLang="zh-CN" sz="2400" b="1" dirty="0">
                <a:latin typeface="Microsoft Sans Serif" pitchFamily="34" charset="0"/>
                <a:cs typeface="Microsoft Sans Serif" pitchFamily="34" charset="0"/>
              </a:rPr>
              <a:t>5-3  Resonance theory</a:t>
            </a:r>
            <a:endParaRPr lang="zh-CN" altLang="en-US" sz="2400" b="1" dirty="0">
              <a:effectLst>
                <a:outerShdw blurRad="38100" dist="38100" dir="2700000" algn="tl">
                  <a:srgbClr val="000000">
                    <a:alpha val="43137"/>
                  </a:srgbClr>
                </a:outerShdw>
              </a:effectLst>
              <a:latin typeface="Microsoft Sans Serif" pitchFamily="34" charset="0"/>
              <a:cs typeface="Microsoft Sans Serif" pitchFamily="34" charset="0"/>
            </a:endParaRPr>
          </a:p>
        </p:txBody>
      </p:sp>
      <p:sp>
        <p:nvSpPr>
          <p:cNvPr id="4" name="TextBox 3"/>
          <p:cNvSpPr txBox="1"/>
          <p:nvPr/>
        </p:nvSpPr>
        <p:spPr>
          <a:xfrm>
            <a:off x="389087" y="806799"/>
            <a:ext cx="11611569" cy="707886"/>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latin typeface="Microsoft Sans Serif" pitchFamily="34" charset="0"/>
                <a:cs typeface="Microsoft Sans Serif" pitchFamily="34" charset="0"/>
              </a:rPr>
              <a:t>The structures of </a:t>
            </a:r>
            <a:r>
              <a:rPr lang="en-US" altLang="zh-CN" sz="2000" b="1" dirty="0">
                <a:highlight>
                  <a:srgbClr val="00FFFF"/>
                </a:highlight>
                <a:latin typeface="Microsoft Sans Serif" pitchFamily="34" charset="0"/>
                <a:cs typeface="Microsoft Sans Serif" pitchFamily="34" charset="0"/>
              </a:rPr>
              <a:t>some molecules and ions</a:t>
            </a:r>
            <a:r>
              <a:rPr lang="en-US" altLang="zh-CN" sz="2000" b="1" dirty="0">
                <a:latin typeface="Microsoft Sans Serif" pitchFamily="34" charset="0"/>
                <a:cs typeface="Microsoft Sans Serif" pitchFamily="34" charset="0"/>
              </a:rPr>
              <a:t> are not adequately represented by a single Lewis structure. In such cases, we </a:t>
            </a:r>
            <a:r>
              <a:rPr lang="en-US" altLang="zh-CN" sz="2000" b="1" dirty="0">
                <a:highlight>
                  <a:srgbClr val="FFFF00"/>
                </a:highlight>
                <a:latin typeface="Microsoft Sans Serif" pitchFamily="34" charset="0"/>
                <a:cs typeface="Microsoft Sans Serif" pitchFamily="34" charset="0"/>
              </a:rPr>
              <a:t>use more than one Lewis structures </a:t>
            </a:r>
            <a:r>
              <a:rPr lang="en-US" altLang="zh-CN" sz="2000" b="1" dirty="0">
                <a:highlight>
                  <a:srgbClr val="00FFFF"/>
                </a:highlight>
                <a:latin typeface="Microsoft Sans Serif" pitchFamily="34" charset="0"/>
                <a:cs typeface="Microsoft Sans Serif" pitchFamily="34" charset="0"/>
              </a:rPr>
              <a:t>to mutually represent </a:t>
            </a:r>
            <a:r>
              <a:rPr lang="en-US" altLang="zh-CN" sz="2000" b="1" dirty="0">
                <a:latin typeface="Microsoft Sans Serif" pitchFamily="34" charset="0"/>
                <a:cs typeface="Microsoft Sans Serif" pitchFamily="34" charset="0"/>
              </a:rPr>
              <a:t>them.</a:t>
            </a:r>
          </a:p>
        </p:txBody>
      </p:sp>
      <p:pic>
        <p:nvPicPr>
          <p:cNvPr id="5" name="Picture 11"/>
          <p:cNvPicPr>
            <a:picLocks noChangeAspect="1" noChangeArrowheads="1"/>
          </p:cNvPicPr>
          <p:nvPr/>
        </p:nvPicPr>
        <p:blipFill>
          <a:blip r:embed="rId3" cstate="print"/>
          <a:srcRect/>
          <a:stretch>
            <a:fillRect/>
          </a:stretch>
        </p:blipFill>
        <p:spPr bwMode="auto">
          <a:xfrm>
            <a:off x="3668118" y="1900982"/>
            <a:ext cx="808370" cy="1412474"/>
          </a:xfrm>
          <a:prstGeom prst="rect">
            <a:avLst/>
          </a:prstGeom>
          <a:noFill/>
          <a:ln w="9525">
            <a:noFill/>
            <a:miter lim="800000"/>
            <a:headEnd/>
            <a:tailEnd/>
          </a:ln>
        </p:spPr>
      </p:pic>
      <p:pic>
        <p:nvPicPr>
          <p:cNvPr id="6" name="Picture 12"/>
          <p:cNvPicPr>
            <a:picLocks noChangeAspect="1" noChangeArrowheads="1"/>
          </p:cNvPicPr>
          <p:nvPr/>
        </p:nvPicPr>
        <p:blipFill>
          <a:blip r:embed="rId4" cstate="print"/>
          <a:srcRect/>
          <a:stretch>
            <a:fillRect/>
          </a:stretch>
        </p:blipFill>
        <p:spPr bwMode="auto">
          <a:xfrm>
            <a:off x="5468318" y="1828974"/>
            <a:ext cx="792088" cy="1460856"/>
          </a:xfrm>
          <a:prstGeom prst="rect">
            <a:avLst/>
          </a:prstGeom>
          <a:noFill/>
          <a:ln w="9525">
            <a:noFill/>
            <a:miter lim="800000"/>
            <a:headEnd/>
            <a:tailEnd/>
          </a:ln>
        </p:spPr>
      </p:pic>
      <p:pic>
        <p:nvPicPr>
          <p:cNvPr id="7" name="Picture 13"/>
          <p:cNvPicPr>
            <a:picLocks noChangeAspect="1" noChangeArrowheads="1"/>
          </p:cNvPicPr>
          <p:nvPr/>
        </p:nvPicPr>
        <p:blipFill>
          <a:blip r:embed="rId5" cstate="print"/>
          <a:srcRect/>
          <a:stretch>
            <a:fillRect/>
          </a:stretch>
        </p:blipFill>
        <p:spPr bwMode="auto">
          <a:xfrm>
            <a:off x="7196510" y="1900982"/>
            <a:ext cx="793464" cy="1440160"/>
          </a:xfrm>
          <a:prstGeom prst="rect">
            <a:avLst/>
          </a:prstGeom>
          <a:noFill/>
          <a:ln w="9525">
            <a:noFill/>
            <a:miter lim="800000"/>
            <a:headEnd/>
            <a:tailEnd/>
          </a:ln>
        </p:spPr>
      </p:pic>
      <p:cxnSp>
        <p:nvCxnSpPr>
          <p:cNvPr id="8" name="直接箭头连接符 7"/>
          <p:cNvCxnSpPr/>
          <p:nvPr/>
        </p:nvCxnSpPr>
        <p:spPr>
          <a:xfrm>
            <a:off x="4676230" y="2549054"/>
            <a:ext cx="648072" cy="0"/>
          </a:xfrm>
          <a:prstGeom prst="straightConnector1">
            <a:avLst/>
          </a:prstGeom>
          <a:ln w="57150">
            <a:solidFill>
              <a:srgbClr val="0000FF"/>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a:off x="6404422" y="2549054"/>
            <a:ext cx="648072" cy="0"/>
          </a:xfrm>
          <a:prstGeom prst="straightConnector1">
            <a:avLst/>
          </a:prstGeom>
          <a:ln w="57150">
            <a:solidFill>
              <a:srgbClr val="0000FF"/>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3442128" y="3401180"/>
            <a:ext cx="1277529" cy="400110"/>
          </a:xfrm>
          <a:prstGeom prst="rect">
            <a:avLst/>
          </a:prstGeom>
          <a:noFill/>
        </p:spPr>
        <p:txBody>
          <a:bodyPr wrap="none" rtlCol="0">
            <a:spAutoFit/>
          </a:bodyPr>
          <a:lstStyle/>
          <a:p>
            <a:r>
              <a:rPr lang="en-US" altLang="zh-CN" sz="2000" b="1" dirty="0"/>
              <a:t>front view</a:t>
            </a:r>
            <a:endParaRPr lang="zh-CN" altLang="en-US" sz="2000" b="1" dirty="0"/>
          </a:p>
        </p:txBody>
      </p:sp>
      <p:sp>
        <p:nvSpPr>
          <p:cNvPr id="22" name="TextBox 21"/>
          <p:cNvSpPr txBox="1"/>
          <p:nvPr/>
        </p:nvSpPr>
        <p:spPr>
          <a:xfrm>
            <a:off x="5314336" y="3401180"/>
            <a:ext cx="1178849" cy="400110"/>
          </a:xfrm>
          <a:prstGeom prst="rect">
            <a:avLst/>
          </a:prstGeom>
          <a:noFill/>
        </p:spPr>
        <p:txBody>
          <a:bodyPr wrap="none" rtlCol="0">
            <a:spAutoFit/>
          </a:bodyPr>
          <a:lstStyle/>
          <a:p>
            <a:r>
              <a:rPr lang="en-US" altLang="zh-CN" sz="2000" b="1" dirty="0"/>
              <a:t>side view</a:t>
            </a:r>
            <a:endParaRPr lang="zh-CN" altLang="en-US" sz="2000" b="1" dirty="0"/>
          </a:p>
        </p:txBody>
      </p:sp>
      <p:sp>
        <p:nvSpPr>
          <p:cNvPr id="23" name="TextBox 22"/>
          <p:cNvSpPr txBox="1"/>
          <p:nvPr/>
        </p:nvSpPr>
        <p:spPr>
          <a:xfrm>
            <a:off x="7009589" y="3401180"/>
            <a:ext cx="1241365" cy="400110"/>
          </a:xfrm>
          <a:prstGeom prst="rect">
            <a:avLst/>
          </a:prstGeom>
          <a:noFill/>
        </p:spPr>
        <p:txBody>
          <a:bodyPr wrap="none" rtlCol="0">
            <a:spAutoFit/>
          </a:bodyPr>
          <a:lstStyle/>
          <a:p>
            <a:r>
              <a:rPr lang="en-US" altLang="zh-CN" sz="2000" b="1" dirty="0"/>
              <a:t>back view</a:t>
            </a:r>
            <a:endParaRPr lang="zh-CN" altLang="en-US" sz="2000" b="1" dirty="0"/>
          </a:p>
        </p:txBody>
      </p:sp>
      <p:sp>
        <p:nvSpPr>
          <p:cNvPr id="17" name="矩形 16">
            <a:extLst>
              <a:ext uri="{FF2B5EF4-FFF2-40B4-BE49-F238E27FC236}">
                <a16:creationId xmlns:a16="http://schemas.microsoft.com/office/drawing/2014/main" id="{8AFF03D8-DDAB-470F-8097-0354259616C5}"/>
              </a:ext>
            </a:extLst>
          </p:cNvPr>
          <p:cNvSpPr/>
          <p:nvPr/>
        </p:nvSpPr>
        <p:spPr>
          <a:xfrm>
            <a:off x="389087" y="4013789"/>
            <a:ext cx="11233248" cy="2554545"/>
          </a:xfrm>
          <a:prstGeom prst="rect">
            <a:avLst/>
          </a:prstGeom>
        </p:spPr>
        <p:txBody>
          <a:bodyPr wrap="square">
            <a:spAutoFit/>
          </a:bodyPr>
          <a:lstStyle/>
          <a:p>
            <a:pPr marL="285750" indent="-285750">
              <a:buFont typeface="Arial" panose="020B0604020202020204" pitchFamily="34" charset="0"/>
              <a:buChar char="•"/>
            </a:pPr>
            <a:r>
              <a:rPr lang="en-US" altLang="zh-CN" sz="2000" b="1" dirty="0">
                <a:latin typeface="Microsoft Sans Serif" pitchFamily="34" charset="0"/>
                <a:cs typeface="Microsoft Sans Serif" pitchFamily="34" charset="0"/>
              </a:rPr>
              <a:t>These Lewis structures </a:t>
            </a:r>
            <a:r>
              <a:rPr lang="en-US" altLang="zh-CN" sz="2000" b="1" dirty="0">
                <a:highlight>
                  <a:srgbClr val="FFFF00"/>
                </a:highlight>
                <a:latin typeface="Microsoft Sans Serif" pitchFamily="34" charset="0"/>
                <a:cs typeface="Microsoft Sans Serif" pitchFamily="34" charset="0"/>
              </a:rPr>
              <a:t>differ only in the placement of electrons </a:t>
            </a:r>
            <a:r>
              <a:rPr lang="en-US" altLang="zh-CN" sz="2000" b="1" dirty="0">
                <a:latin typeface="Microsoft Sans Serif" pitchFamily="34" charset="0"/>
                <a:cs typeface="Microsoft Sans Serif" pitchFamily="34" charset="0"/>
              </a:rPr>
              <a:t>and individual Lewis structures show a characteristic of the compounds they mutually represent. </a:t>
            </a:r>
          </a:p>
          <a:p>
            <a:pPr marL="285750" indent="-285750">
              <a:buFont typeface="Arial" panose="020B0604020202020204" pitchFamily="34" charset="0"/>
              <a:buChar char="•"/>
            </a:pPr>
            <a:r>
              <a:rPr lang="en-US" altLang="zh-CN" sz="2000" b="1" dirty="0">
                <a:latin typeface="Microsoft Sans Serif" pitchFamily="34" charset="0"/>
                <a:cs typeface="Microsoft Sans Serif" pitchFamily="34" charset="0"/>
              </a:rPr>
              <a:t>The different Lewis structures are called </a:t>
            </a:r>
            <a:r>
              <a:rPr lang="en-US" altLang="zh-CN" sz="2000" b="1" dirty="0">
                <a:highlight>
                  <a:srgbClr val="00FF00"/>
                </a:highlight>
                <a:latin typeface="Microsoft Sans Serif" pitchFamily="34" charset="0"/>
                <a:cs typeface="Microsoft Sans Serif" pitchFamily="34" charset="0"/>
              </a:rPr>
              <a:t>resonance forms </a:t>
            </a:r>
            <a:r>
              <a:rPr lang="en-US" altLang="zh-CN" sz="2000" b="1" dirty="0">
                <a:latin typeface="Microsoft Sans Serif" pitchFamily="34" charset="0"/>
                <a:cs typeface="Microsoft Sans Serif" pitchFamily="34" charset="0"/>
              </a:rPr>
              <a:t>because they are not different compounds, </a:t>
            </a:r>
            <a:r>
              <a:rPr lang="en-US" altLang="zh-CN" sz="2000" b="1" dirty="0">
                <a:highlight>
                  <a:srgbClr val="FFFF00"/>
                </a:highlight>
                <a:latin typeface="Microsoft Sans Serif" pitchFamily="34" charset="0"/>
                <a:cs typeface="Microsoft Sans Serif" pitchFamily="34" charset="0"/>
              </a:rPr>
              <a:t>just different ways of drawing the same compound</a:t>
            </a:r>
            <a:r>
              <a:rPr lang="en-US" altLang="zh-CN" sz="2000" b="1" dirty="0">
                <a:latin typeface="Microsoft Sans Serif" pitchFamily="34" charset="0"/>
                <a:cs typeface="Microsoft Sans Serif" pitchFamily="34" charset="0"/>
              </a:rPr>
              <a:t>. </a:t>
            </a:r>
          </a:p>
          <a:p>
            <a:pPr marL="285750" indent="-285750">
              <a:buFont typeface="Arial" panose="020B0604020202020204" pitchFamily="34" charset="0"/>
              <a:buChar char="•"/>
            </a:pPr>
            <a:r>
              <a:rPr lang="en-US" altLang="zh-CN" sz="2000" b="1" dirty="0">
                <a:latin typeface="Microsoft Sans Serif" pitchFamily="34" charset="0"/>
                <a:cs typeface="Microsoft Sans Serif" pitchFamily="34" charset="0"/>
              </a:rPr>
              <a:t>The actual molecule is said to be a </a:t>
            </a:r>
            <a:r>
              <a:rPr lang="en-US" altLang="zh-CN" sz="2000" b="1" dirty="0">
                <a:highlight>
                  <a:srgbClr val="00FF00"/>
                </a:highlight>
                <a:latin typeface="Microsoft Sans Serif" pitchFamily="34" charset="0"/>
                <a:cs typeface="Microsoft Sans Serif" pitchFamily="34" charset="0"/>
              </a:rPr>
              <a:t>resonance hybrid</a:t>
            </a:r>
            <a:r>
              <a:rPr lang="en-US" altLang="zh-CN" sz="2000" b="1" dirty="0">
                <a:latin typeface="Microsoft Sans Serif" pitchFamily="34" charset="0"/>
                <a:cs typeface="Microsoft Sans Serif" pitchFamily="34" charset="0"/>
              </a:rPr>
              <a:t> of its resonance forms.</a:t>
            </a:r>
          </a:p>
          <a:p>
            <a:pPr marL="285750" indent="-285750">
              <a:buFont typeface="Arial" panose="020B0604020202020204" pitchFamily="34" charset="0"/>
              <a:buChar char="•"/>
            </a:pPr>
            <a:r>
              <a:rPr lang="en-US" altLang="zh-CN" sz="2000" b="1" dirty="0">
                <a:latin typeface="Microsoft Sans Serif" pitchFamily="34" charset="0"/>
                <a:cs typeface="Microsoft Sans Serif" pitchFamily="34" charset="0"/>
              </a:rPr>
              <a:t>We </a:t>
            </a:r>
            <a:r>
              <a:rPr lang="en-US" altLang="zh-CN" sz="2000" b="1" dirty="0">
                <a:highlight>
                  <a:srgbClr val="FFFF00"/>
                </a:highlight>
                <a:latin typeface="Microsoft Sans Serif" pitchFamily="34" charset="0"/>
                <a:cs typeface="Microsoft Sans Serif" pitchFamily="34" charset="0"/>
              </a:rPr>
              <a:t>use a single double-headed arrow between resonance forms</a:t>
            </a:r>
            <a:r>
              <a:rPr lang="en-US" altLang="zh-CN" sz="2000" b="1" dirty="0">
                <a:latin typeface="Microsoft Sans Serif" pitchFamily="34" charset="0"/>
                <a:cs typeface="Microsoft Sans Serif" pitchFamily="34" charset="0"/>
              </a:rPr>
              <a:t> to indicate that the actual structure is a hybrid of the Lewis structures we have drawn. Resonance forms are </a:t>
            </a:r>
            <a:r>
              <a:rPr lang="en-US" altLang="zh-CN" sz="2000" b="1" dirty="0">
                <a:highlight>
                  <a:srgbClr val="FFFF00"/>
                </a:highlight>
                <a:latin typeface="Microsoft Sans Serif" pitchFamily="34" charset="0"/>
                <a:cs typeface="Microsoft Sans Serif" pitchFamily="34" charset="0"/>
              </a:rPr>
              <a:t>enclosed in brackets</a:t>
            </a:r>
            <a:r>
              <a:rPr lang="en-US" altLang="zh-CN" sz="2000" b="1" dirty="0">
                <a:latin typeface="Microsoft Sans Serif" pitchFamily="34" charset="0"/>
                <a:cs typeface="Microsoft Sans Serif" pitchFamily="34" charset="0"/>
              </a:rPr>
              <a:t>.</a:t>
            </a:r>
            <a:endParaRPr lang="zh-CN" altLang="en-US" sz="2000" b="1" dirty="0">
              <a:latin typeface="Microsoft Sans Serif" pitchFamily="34" charset="0"/>
              <a:cs typeface="Microsoft Sans Serif" pitchFamily="34" charset="0"/>
            </a:endParaRPr>
          </a:p>
        </p:txBody>
      </p:sp>
      <p:graphicFrame>
        <p:nvGraphicFramePr>
          <p:cNvPr id="12" name="对象 11">
            <a:extLst>
              <a:ext uri="{FF2B5EF4-FFF2-40B4-BE49-F238E27FC236}">
                <a16:creationId xmlns:a16="http://schemas.microsoft.com/office/drawing/2014/main" id="{B29EBA18-9AD4-45E8-83F1-86054D64DCAA}"/>
              </a:ext>
            </a:extLst>
          </p:cNvPr>
          <p:cNvGraphicFramePr>
            <a:graphicFrameLocks noChangeAspect="1"/>
          </p:cNvGraphicFramePr>
          <p:nvPr>
            <p:extLst>
              <p:ext uri="{D42A27DB-BD31-4B8C-83A1-F6EECF244321}">
                <p14:modId xmlns:p14="http://schemas.microsoft.com/office/powerpoint/2010/main" val="4268404209"/>
              </p:ext>
            </p:extLst>
          </p:nvPr>
        </p:nvGraphicFramePr>
        <p:xfrm>
          <a:off x="2567608" y="1828974"/>
          <a:ext cx="6672303" cy="1972316"/>
        </p:xfrm>
        <a:graphic>
          <a:graphicData uri="http://schemas.openxmlformats.org/presentationml/2006/ole">
            <mc:AlternateContent xmlns:mc="http://schemas.openxmlformats.org/markup-compatibility/2006">
              <mc:Choice xmlns:v="urn:schemas-microsoft-com:vml" Requires="v">
                <p:oleObj spid="_x0000_s70675" name="CS ChemDraw Drawing" r:id="rId6" imgW="3533707" imgH="1045349" progId="ChemDraw.Document.6.0">
                  <p:embed/>
                </p:oleObj>
              </mc:Choice>
              <mc:Fallback>
                <p:oleObj name="CS ChemDraw Drawing" r:id="rId6" imgW="3533707" imgH="1045349" progId="ChemDraw.Document.6.0">
                  <p:embed/>
                  <p:pic>
                    <p:nvPicPr>
                      <p:cNvPr id="0" name=""/>
                      <p:cNvPicPr/>
                      <p:nvPr/>
                    </p:nvPicPr>
                    <p:blipFill>
                      <a:blip r:embed="rId7"/>
                      <a:stretch>
                        <a:fillRect/>
                      </a:stretch>
                    </p:blipFill>
                    <p:spPr>
                      <a:xfrm>
                        <a:off x="2567608" y="1828974"/>
                        <a:ext cx="6672303" cy="1972316"/>
                      </a:xfrm>
                      <a:prstGeom prst="rect">
                        <a:avLst/>
                      </a:prstGeom>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4</a:t>
            </a:fld>
            <a:endParaRPr lang="zh-CN" altLang="en-US"/>
          </a:p>
        </p:txBody>
      </p:sp>
      <p:sp>
        <p:nvSpPr>
          <p:cNvPr id="17" name="TextBox 2">
            <a:extLst>
              <a:ext uri="{FF2B5EF4-FFF2-40B4-BE49-F238E27FC236}">
                <a16:creationId xmlns:a16="http://schemas.microsoft.com/office/drawing/2014/main" id="{BEB466CA-7EEE-434D-998E-FBEEED90AF29}"/>
              </a:ext>
            </a:extLst>
          </p:cNvPr>
          <p:cNvSpPr txBox="1"/>
          <p:nvPr/>
        </p:nvSpPr>
        <p:spPr>
          <a:xfrm>
            <a:off x="526704" y="1124744"/>
            <a:ext cx="10897888" cy="5016758"/>
          </a:xfrm>
          <a:prstGeom prst="rect">
            <a:avLst/>
          </a:prstGeom>
          <a:noFill/>
        </p:spPr>
        <p:txBody>
          <a:bodyPr wrap="square" rtlCol="0">
            <a:spAutoFit/>
          </a:bodyPr>
          <a:lstStyle/>
          <a:p>
            <a:r>
              <a:rPr lang="en-US" altLang="zh-CN" sz="2000" b="1" dirty="0">
                <a:latin typeface="Microsoft Sans Serif" pitchFamily="34" charset="0"/>
                <a:cs typeface="Microsoft Sans Serif" pitchFamily="34" charset="0"/>
              </a:rPr>
              <a:t>(1) All the resonance forms must be </a:t>
            </a:r>
            <a:r>
              <a:rPr lang="en-US" altLang="zh-CN" sz="2000" b="1" dirty="0">
                <a:highlight>
                  <a:srgbClr val="FFFF00"/>
                </a:highlight>
                <a:latin typeface="Microsoft Sans Serif" pitchFamily="34" charset="0"/>
                <a:cs typeface="Microsoft Sans Serif" pitchFamily="34" charset="0"/>
              </a:rPr>
              <a:t>valid Lewis structures</a:t>
            </a:r>
            <a:r>
              <a:rPr lang="en-US" altLang="zh-CN" sz="2000" b="1" dirty="0">
                <a:latin typeface="Microsoft Sans Serif" pitchFamily="34" charset="0"/>
                <a:cs typeface="Microsoft Sans Serif" pitchFamily="34" charset="0"/>
              </a:rPr>
              <a:t>.</a:t>
            </a:r>
          </a:p>
          <a:p>
            <a:pPr marL="457200" indent="-457200">
              <a:buAutoNum type="arabicParenBoth"/>
            </a:pPr>
            <a:endParaRPr lang="en-US" altLang="zh-CN" sz="2000" b="1" dirty="0">
              <a:latin typeface="Microsoft Sans Serif" pitchFamily="34" charset="0"/>
              <a:cs typeface="Microsoft Sans Serif" pitchFamily="34" charset="0"/>
            </a:endParaRPr>
          </a:p>
          <a:p>
            <a:r>
              <a:rPr lang="en-US" altLang="zh-CN" sz="2000" b="1" dirty="0">
                <a:latin typeface="Microsoft Sans Serif" pitchFamily="34" charset="0"/>
                <a:cs typeface="Microsoft Sans Serif" pitchFamily="34" charset="0"/>
              </a:rPr>
              <a:t>(2) </a:t>
            </a:r>
            <a:r>
              <a:rPr lang="en-US" altLang="zh-CN" sz="2000" b="1" dirty="0">
                <a:highlight>
                  <a:srgbClr val="FFFF00"/>
                </a:highlight>
                <a:latin typeface="Microsoft Sans Serif" pitchFamily="34" charset="0"/>
                <a:cs typeface="Microsoft Sans Serif" pitchFamily="34" charset="0"/>
              </a:rPr>
              <a:t>Only the placement of the electrons</a:t>
            </a:r>
            <a:r>
              <a:rPr lang="en-US" altLang="zh-CN" sz="2000" b="1" dirty="0">
                <a:latin typeface="Microsoft Sans Serif" pitchFamily="34" charset="0"/>
                <a:cs typeface="Microsoft Sans Serif" pitchFamily="34" charset="0"/>
              </a:rPr>
              <a:t> (electrons in double bonds and lone pairs) </a:t>
            </a:r>
            <a:r>
              <a:rPr lang="en-US" altLang="zh-CN" sz="2000" b="1" dirty="0">
                <a:highlight>
                  <a:srgbClr val="FFFF00"/>
                </a:highlight>
                <a:latin typeface="Microsoft Sans Serif" pitchFamily="34" charset="0"/>
                <a:cs typeface="Microsoft Sans Serif" pitchFamily="34" charset="0"/>
              </a:rPr>
              <a:t>may be shifted </a:t>
            </a:r>
            <a:r>
              <a:rPr lang="en-US" altLang="zh-CN" sz="2000" b="1" dirty="0">
                <a:latin typeface="Microsoft Sans Serif" pitchFamily="34" charset="0"/>
                <a:cs typeface="Microsoft Sans Serif" pitchFamily="34" charset="0"/>
              </a:rPr>
              <a:t>from one structure to another. </a:t>
            </a:r>
            <a:r>
              <a:rPr lang="en-US" altLang="zh-CN" sz="2000" b="1" dirty="0">
                <a:highlight>
                  <a:srgbClr val="00FFFF"/>
                </a:highlight>
                <a:latin typeface="Microsoft Sans Serif" pitchFamily="34" charset="0"/>
                <a:cs typeface="Microsoft Sans Serif" pitchFamily="34" charset="0"/>
              </a:rPr>
              <a:t>Nuclei cannot be moved</a:t>
            </a:r>
            <a:r>
              <a:rPr lang="en-US" altLang="zh-CN" sz="2000" b="1" dirty="0">
                <a:latin typeface="Microsoft Sans Serif" pitchFamily="34" charset="0"/>
                <a:cs typeface="Microsoft Sans Serif" pitchFamily="34" charset="0"/>
              </a:rPr>
              <a:t>, and the bond angles must remain the same.</a:t>
            </a:r>
          </a:p>
          <a:p>
            <a:endParaRPr lang="en-US" altLang="zh-CN" sz="2000" b="1" dirty="0">
              <a:latin typeface="Microsoft Sans Serif" pitchFamily="34" charset="0"/>
              <a:cs typeface="Microsoft Sans Serif" pitchFamily="34" charset="0"/>
            </a:endParaRPr>
          </a:p>
          <a:p>
            <a:r>
              <a:rPr lang="en-US" altLang="zh-CN" sz="2000" b="1" dirty="0">
                <a:latin typeface="Microsoft Sans Serif" pitchFamily="34" charset="0"/>
                <a:cs typeface="Microsoft Sans Serif" pitchFamily="34" charset="0"/>
              </a:rPr>
              <a:t>(3) </a:t>
            </a:r>
            <a:r>
              <a:rPr lang="en-US" altLang="zh-CN" sz="2000" b="1" dirty="0">
                <a:highlight>
                  <a:srgbClr val="FFFF00"/>
                </a:highlight>
                <a:latin typeface="Microsoft Sans Serif" pitchFamily="34" charset="0"/>
                <a:cs typeface="Microsoft Sans Serif" pitchFamily="34" charset="0"/>
              </a:rPr>
              <a:t>The number of unpaired electrons (if any) must remain the same</a:t>
            </a:r>
            <a:r>
              <a:rPr lang="en-US" altLang="zh-CN" sz="2000" b="1" dirty="0">
                <a:latin typeface="Microsoft Sans Serif" pitchFamily="34" charset="0"/>
                <a:cs typeface="Microsoft Sans Serif" pitchFamily="34" charset="0"/>
              </a:rPr>
              <a:t>. Most stable compounds have no unpaired electrons, and </a:t>
            </a:r>
            <a:r>
              <a:rPr lang="en-US" altLang="zh-CN" sz="2000" b="1" dirty="0">
                <a:highlight>
                  <a:srgbClr val="FFFF00"/>
                </a:highlight>
                <a:latin typeface="Microsoft Sans Serif" pitchFamily="34" charset="0"/>
                <a:cs typeface="Microsoft Sans Serif" pitchFamily="34" charset="0"/>
              </a:rPr>
              <a:t>all the electrons must remain paired in all the resonance forms</a:t>
            </a:r>
            <a:r>
              <a:rPr lang="en-US" altLang="zh-CN" sz="2000" b="1" dirty="0">
                <a:latin typeface="Microsoft Sans Serif" pitchFamily="34" charset="0"/>
                <a:cs typeface="Microsoft Sans Serif" pitchFamily="34" charset="0"/>
              </a:rPr>
              <a:t>.</a:t>
            </a:r>
          </a:p>
          <a:p>
            <a:endParaRPr lang="en-US" altLang="zh-CN" sz="2000" b="1" dirty="0">
              <a:latin typeface="Microsoft Sans Serif" pitchFamily="34" charset="0"/>
              <a:cs typeface="Microsoft Sans Serif" pitchFamily="34" charset="0"/>
            </a:endParaRPr>
          </a:p>
          <a:p>
            <a:r>
              <a:rPr lang="en-US" altLang="zh-CN" sz="2000" b="1" dirty="0">
                <a:latin typeface="Microsoft Sans Serif" pitchFamily="34" charset="0"/>
                <a:cs typeface="Microsoft Sans Serif" pitchFamily="34" charset="0"/>
              </a:rPr>
              <a:t>(4) </a:t>
            </a:r>
            <a:r>
              <a:rPr lang="en-US" altLang="zh-CN" sz="2000" b="1" dirty="0">
                <a:highlight>
                  <a:srgbClr val="FFFF00"/>
                </a:highlight>
                <a:latin typeface="Microsoft Sans Serif" pitchFamily="34" charset="0"/>
                <a:cs typeface="Microsoft Sans Serif" pitchFamily="34" charset="0"/>
              </a:rPr>
              <a:t>The major resonance contributor</a:t>
            </a:r>
            <a:r>
              <a:rPr lang="en-US" altLang="zh-CN" sz="2000" b="1" dirty="0">
                <a:latin typeface="Microsoft Sans Serif" pitchFamily="34" charset="0"/>
                <a:cs typeface="Microsoft Sans Serif" pitchFamily="34" charset="0"/>
              </a:rPr>
              <a:t> is the one with </a:t>
            </a:r>
            <a:r>
              <a:rPr lang="en-US" altLang="zh-CN" sz="2000" b="1" dirty="0">
                <a:highlight>
                  <a:srgbClr val="FFFF00"/>
                </a:highlight>
                <a:latin typeface="Microsoft Sans Serif" pitchFamily="34" charset="0"/>
                <a:cs typeface="Microsoft Sans Serif" pitchFamily="34" charset="0"/>
              </a:rPr>
              <a:t>the lowest energy</a:t>
            </a:r>
            <a:r>
              <a:rPr lang="en-US" altLang="zh-CN" sz="2000" b="1" dirty="0">
                <a:latin typeface="Microsoft Sans Serif" pitchFamily="34" charset="0"/>
                <a:cs typeface="Microsoft Sans Serif" pitchFamily="34" charset="0"/>
              </a:rPr>
              <a:t>. </a:t>
            </a:r>
            <a:r>
              <a:rPr lang="en-US" altLang="zh-CN" sz="2000" b="1" dirty="0">
                <a:highlight>
                  <a:srgbClr val="00FFFF"/>
                </a:highlight>
                <a:latin typeface="Microsoft Sans Serif" pitchFamily="34" charset="0"/>
                <a:cs typeface="Microsoft Sans Serif" pitchFamily="34" charset="0"/>
              </a:rPr>
              <a:t>Good contributors generally have all octets satisfied, as many bonds as possible, and as little charge separation as possible. Negative charges are more stable on more electronegative atoms, such as O, N, and S</a:t>
            </a:r>
            <a:r>
              <a:rPr lang="en-US" altLang="zh-CN" sz="2000" b="1" dirty="0">
                <a:latin typeface="Microsoft Sans Serif" pitchFamily="34" charset="0"/>
                <a:cs typeface="Microsoft Sans Serif" pitchFamily="34" charset="0"/>
              </a:rPr>
              <a:t>.</a:t>
            </a:r>
          </a:p>
          <a:p>
            <a:endParaRPr lang="en-US" altLang="zh-CN" sz="2000" b="1" dirty="0">
              <a:latin typeface="Microsoft Sans Serif" pitchFamily="34" charset="0"/>
              <a:cs typeface="Microsoft Sans Serif" pitchFamily="34" charset="0"/>
            </a:endParaRPr>
          </a:p>
          <a:p>
            <a:r>
              <a:rPr lang="en-US" altLang="zh-CN" sz="2000" b="1" dirty="0">
                <a:latin typeface="Microsoft Sans Serif" pitchFamily="34" charset="0"/>
                <a:cs typeface="Microsoft Sans Serif" pitchFamily="34" charset="0"/>
              </a:rPr>
              <a:t>(5) </a:t>
            </a:r>
            <a:r>
              <a:rPr lang="en-US" altLang="zh-CN" sz="2000" b="1" dirty="0">
                <a:highlight>
                  <a:srgbClr val="FFFF00"/>
                </a:highlight>
                <a:latin typeface="Microsoft Sans Serif" pitchFamily="34" charset="0"/>
                <a:cs typeface="Microsoft Sans Serif" pitchFamily="34" charset="0"/>
              </a:rPr>
              <a:t>More stable resonance forms</a:t>
            </a:r>
            <a:r>
              <a:rPr lang="en-US" altLang="zh-CN" sz="2000" b="1" dirty="0">
                <a:latin typeface="Microsoft Sans Serif" pitchFamily="34" charset="0"/>
                <a:cs typeface="Microsoft Sans Serif" pitchFamily="34" charset="0"/>
              </a:rPr>
              <a:t> are </a:t>
            </a:r>
            <a:r>
              <a:rPr lang="en-US" altLang="zh-CN" sz="2000" b="1" dirty="0">
                <a:highlight>
                  <a:srgbClr val="FFFF00"/>
                </a:highlight>
                <a:latin typeface="Microsoft Sans Serif" pitchFamily="34" charset="0"/>
                <a:cs typeface="Microsoft Sans Serif" pitchFamily="34" charset="0"/>
              </a:rPr>
              <a:t>closer representations of the real molecule </a:t>
            </a:r>
            <a:r>
              <a:rPr lang="en-US" altLang="zh-CN" sz="2000" b="1" dirty="0">
                <a:latin typeface="Microsoft Sans Serif" pitchFamily="34" charset="0"/>
                <a:cs typeface="Microsoft Sans Serif" pitchFamily="34" charset="0"/>
              </a:rPr>
              <a:t>than less stable ones.</a:t>
            </a:r>
          </a:p>
        </p:txBody>
      </p:sp>
      <p:sp>
        <p:nvSpPr>
          <p:cNvPr id="18" name="文本框 17">
            <a:extLst>
              <a:ext uri="{FF2B5EF4-FFF2-40B4-BE49-F238E27FC236}">
                <a16:creationId xmlns:a16="http://schemas.microsoft.com/office/drawing/2014/main" id="{B0CB0496-A4DA-4508-B09E-0BA211EC519B}"/>
              </a:ext>
            </a:extLst>
          </p:cNvPr>
          <p:cNvSpPr txBox="1"/>
          <p:nvPr/>
        </p:nvSpPr>
        <p:spPr>
          <a:xfrm>
            <a:off x="263352" y="548680"/>
            <a:ext cx="6094520" cy="400110"/>
          </a:xfrm>
          <a:prstGeom prst="rect">
            <a:avLst/>
          </a:prstGeom>
          <a:noFill/>
        </p:spPr>
        <p:txBody>
          <a:bodyPr wrap="square">
            <a:spAutoFit/>
          </a:bodyPr>
          <a:lstStyle/>
          <a:p>
            <a:pPr marL="285750" indent="-285750">
              <a:buFont typeface="Arial" panose="020B0604020202020204" pitchFamily="34" charset="0"/>
              <a:buChar char="•"/>
            </a:pPr>
            <a:r>
              <a:rPr lang="en-US" altLang="zh-CN" sz="2000" b="1" dirty="0">
                <a:latin typeface="Microsoft Sans Serif" pitchFamily="34" charset="0"/>
                <a:cs typeface="Microsoft Sans Serif" pitchFamily="34" charset="0"/>
              </a:rPr>
              <a:t>The General Rules of Drawing Resonance Forms</a:t>
            </a:r>
            <a:endParaRPr lang="zh-CN" alt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5</a:t>
            </a:fld>
            <a:endParaRPr lang="zh-CN" altLang="en-US"/>
          </a:p>
        </p:txBody>
      </p:sp>
      <p:sp>
        <p:nvSpPr>
          <p:cNvPr id="3" name="TextBox 2"/>
          <p:cNvSpPr txBox="1"/>
          <p:nvPr/>
        </p:nvSpPr>
        <p:spPr>
          <a:xfrm>
            <a:off x="0" y="220196"/>
            <a:ext cx="2717411" cy="461665"/>
          </a:xfrm>
          <a:prstGeom prst="rect">
            <a:avLst/>
          </a:prstGeom>
          <a:solidFill>
            <a:schemeClr val="tx2">
              <a:lumMod val="20000"/>
              <a:lumOff val="80000"/>
            </a:schemeClr>
          </a:solidFill>
        </p:spPr>
        <p:txBody>
          <a:bodyPr wrap="none" rtlCol="0">
            <a:spAutoFit/>
          </a:bodyPr>
          <a:lstStyle/>
          <a:p>
            <a:r>
              <a:rPr lang="en-US" altLang="zh-CN" sz="2400" b="1" dirty="0">
                <a:latin typeface="Microsoft Sans Serif" pitchFamily="34" charset="0"/>
                <a:cs typeface="Microsoft Sans Serif" pitchFamily="34" charset="0"/>
              </a:rPr>
              <a:t>5-4  Allylic Cations</a:t>
            </a:r>
            <a:endParaRPr lang="zh-CN" altLang="en-US" sz="2400" b="1" dirty="0">
              <a:latin typeface="Microsoft Sans Serif" pitchFamily="34" charset="0"/>
              <a:cs typeface="Microsoft Sans Serif" pitchFamily="34" charset="0"/>
            </a:endParaRPr>
          </a:p>
        </p:txBody>
      </p:sp>
      <p:sp>
        <p:nvSpPr>
          <p:cNvPr id="4" name="TextBox 3"/>
          <p:cNvSpPr txBox="1"/>
          <p:nvPr/>
        </p:nvSpPr>
        <p:spPr>
          <a:xfrm>
            <a:off x="335360" y="1143645"/>
            <a:ext cx="6034992" cy="400110"/>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latin typeface="Microsoft Sans Serif" pitchFamily="34" charset="0"/>
                <a:cs typeface="Microsoft Sans Serif" pitchFamily="34" charset="0"/>
              </a:rPr>
              <a:t>Carbon adjacent to C=C double bond is </a:t>
            </a:r>
            <a:r>
              <a:rPr lang="en-US" altLang="zh-CN" sz="2000" b="1" dirty="0">
                <a:highlight>
                  <a:srgbClr val="00FFFF"/>
                </a:highlight>
                <a:latin typeface="Microsoft Sans Serif" pitchFamily="34" charset="0"/>
                <a:cs typeface="Microsoft Sans Serif" pitchFamily="34" charset="0"/>
              </a:rPr>
              <a:t>allylic</a:t>
            </a:r>
            <a:r>
              <a:rPr lang="en-US" altLang="zh-CN" sz="2000" b="1" dirty="0">
                <a:latin typeface="Microsoft Sans Serif" pitchFamily="34" charset="0"/>
                <a:cs typeface="Microsoft Sans Serif" pitchFamily="34" charset="0"/>
              </a:rPr>
              <a:t>.</a:t>
            </a:r>
          </a:p>
        </p:txBody>
      </p:sp>
      <p:sp>
        <p:nvSpPr>
          <p:cNvPr id="23" name="TextBox 22"/>
          <p:cNvSpPr txBox="1"/>
          <p:nvPr/>
        </p:nvSpPr>
        <p:spPr>
          <a:xfrm>
            <a:off x="338306" y="3614777"/>
            <a:ext cx="10225136" cy="1631216"/>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highlight>
                  <a:srgbClr val="FFFF00"/>
                </a:highlight>
                <a:latin typeface="Microsoft Sans Serif" pitchFamily="34" charset="0"/>
                <a:cs typeface="Microsoft Sans Serif" pitchFamily="34" charset="0"/>
              </a:rPr>
              <a:t>Allyl cation </a:t>
            </a:r>
            <a:r>
              <a:rPr lang="en-US" altLang="zh-CN" sz="2000" b="1" dirty="0">
                <a:latin typeface="Microsoft Sans Serif" pitchFamily="34" charset="0"/>
                <a:cs typeface="Microsoft Sans Serif" pitchFamily="34" charset="0"/>
              </a:rPr>
              <a:t>is an </a:t>
            </a:r>
            <a:r>
              <a:rPr lang="en-US" altLang="zh-CN" sz="2000" b="1" dirty="0">
                <a:highlight>
                  <a:srgbClr val="00FFFF"/>
                </a:highlight>
                <a:latin typeface="Microsoft Sans Serif" pitchFamily="34" charset="0"/>
                <a:cs typeface="Microsoft Sans Serif" pitchFamily="34" charset="0"/>
              </a:rPr>
              <a:t>allyl group </a:t>
            </a:r>
            <a:r>
              <a:rPr lang="en-US" altLang="zh-CN" sz="2000" b="1" dirty="0">
                <a:latin typeface="Microsoft Sans Serif" pitchFamily="34" charset="0"/>
                <a:cs typeface="Microsoft Sans Serif" pitchFamily="34" charset="0"/>
              </a:rPr>
              <a:t>with </a:t>
            </a:r>
            <a:r>
              <a:rPr lang="en-US" altLang="zh-CN" sz="2000" b="1" dirty="0">
                <a:highlight>
                  <a:srgbClr val="00FFFF"/>
                </a:highlight>
                <a:latin typeface="Microsoft Sans Serif" pitchFamily="34" charset="0"/>
                <a:cs typeface="Microsoft Sans Serif" pitchFamily="34" charset="0"/>
              </a:rPr>
              <a:t>a positive charge on the allylic carbon</a:t>
            </a:r>
            <a:r>
              <a:rPr lang="en-US" altLang="zh-CN" sz="2000" b="1" dirty="0">
                <a:latin typeface="Microsoft Sans Serif" pitchFamily="34" charset="0"/>
                <a:cs typeface="Microsoft Sans Serif" pitchFamily="34" charset="0"/>
              </a:rPr>
              <a:t>.</a:t>
            </a:r>
          </a:p>
          <a:p>
            <a:pPr marL="285750" indent="-285750">
              <a:buFont typeface="Arial" panose="020B0604020202020204" pitchFamily="34" charset="0"/>
              <a:buChar char="•"/>
            </a:pPr>
            <a:r>
              <a:rPr lang="en-US" altLang="zh-CN" sz="2000" b="1" dirty="0">
                <a:latin typeface="Microsoft Sans Serif" pitchFamily="34" charset="0"/>
                <a:cs typeface="Microsoft Sans Serif" pitchFamily="34" charset="0"/>
              </a:rPr>
              <a:t>In fact, </a:t>
            </a:r>
            <a:r>
              <a:rPr lang="en-US" altLang="zh-CN" sz="2000" b="1" dirty="0">
                <a:highlight>
                  <a:srgbClr val="FFFF00"/>
                </a:highlight>
                <a:latin typeface="Microsoft Sans Serif" pitchFamily="34" charset="0"/>
                <a:cs typeface="Microsoft Sans Serif" pitchFamily="34" charset="0"/>
              </a:rPr>
              <a:t>the positive charge </a:t>
            </a:r>
            <a:r>
              <a:rPr lang="en-US" altLang="zh-CN" sz="2000" b="1" dirty="0">
                <a:latin typeface="Microsoft Sans Serif" pitchFamily="34" charset="0"/>
                <a:cs typeface="Microsoft Sans Serif" pitchFamily="34" charset="0"/>
              </a:rPr>
              <a:t>in the allyl cation is </a:t>
            </a:r>
            <a:r>
              <a:rPr lang="en-US" altLang="zh-CN" sz="2000" b="1" dirty="0">
                <a:highlight>
                  <a:srgbClr val="00FFFF"/>
                </a:highlight>
                <a:latin typeface="Microsoft Sans Serif" pitchFamily="34" charset="0"/>
                <a:cs typeface="Microsoft Sans Serif" pitchFamily="34" charset="0"/>
              </a:rPr>
              <a:t>not localized over one carbon</a:t>
            </a:r>
            <a:r>
              <a:rPr lang="en-US" altLang="zh-CN" sz="2000" b="1" dirty="0">
                <a:latin typeface="Microsoft Sans Serif" pitchFamily="34" charset="0"/>
                <a:cs typeface="Microsoft Sans Serif" pitchFamily="34" charset="0"/>
              </a:rPr>
              <a:t>, </a:t>
            </a:r>
            <a:r>
              <a:rPr lang="en-US" altLang="zh-CN" sz="2000" b="1" dirty="0">
                <a:highlight>
                  <a:srgbClr val="00FF00"/>
                </a:highlight>
                <a:latin typeface="Microsoft Sans Serif" pitchFamily="34" charset="0"/>
                <a:cs typeface="Microsoft Sans Serif" pitchFamily="34" charset="0"/>
              </a:rPr>
              <a:t>but delocalized over two carbons</a:t>
            </a:r>
            <a:r>
              <a:rPr lang="en-US" altLang="zh-CN" sz="2000" b="1" dirty="0">
                <a:latin typeface="Microsoft Sans Serif" pitchFamily="34" charset="0"/>
                <a:cs typeface="Microsoft Sans Serif" pitchFamily="34" charset="0"/>
              </a:rPr>
              <a:t>.</a:t>
            </a:r>
          </a:p>
          <a:p>
            <a:pPr marL="285750" indent="-285750">
              <a:buFont typeface="Arial" panose="020B0604020202020204" pitchFamily="34" charset="0"/>
              <a:buChar char="•"/>
            </a:pPr>
            <a:r>
              <a:rPr lang="en-US" altLang="zh-CN" sz="2000" b="1" dirty="0">
                <a:highlight>
                  <a:srgbClr val="FFFF00"/>
                </a:highlight>
                <a:latin typeface="Microsoft Sans Serif" pitchFamily="34" charset="0"/>
                <a:cs typeface="Microsoft Sans Serif" pitchFamily="34" charset="0"/>
              </a:rPr>
              <a:t>One Lewis structure is not adequate to represent the real structure of the allyl cation</a:t>
            </a:r>
            <a:r>
              <a:rPr lang="en-US" altLang="zh-CN" sz="2000" b="1" dirty="0">
                <a:latin typeface="Microsoft Sans Serif" pitchFamily="34" charset="0"/>
                <a:cs typeface="Microsoft Sans Serif" pitchFamily="34" charset="0"/>
              </a:rPr>
              <a:t>. We represent the delocalized allyl cation by resonance forms.</a:t>
            </a:r>
          </a:p>
        </p:txBody>
      </p:sp>
      <p:sp>
        <p:nvSpPr>
          <p:cNvPr id="5" name="文本框 4"/>
          <p:cNvSpPr txBox="1"/>
          <p:nvPr/>
        </p:nvSpPr>
        <p:spPr>
          <a:xfrm>
            <a:off x="335360" y="764760"/>
            <a:ext cx="10855857" cy="400110"/>
          </a:xfrm>
          <a:prstGeom prst="rect">
            <a:avLst/>
          </a:prstGeom>
          <a:noFill/>
        </p:spPr>
        <p:txBody>
          <a:bodyPr wrap="none" rtlCol="0">
            <a:spAutoFit/>
          </a:bodyPr>
          <a:lstStyle/>
          <a:p>
            <a:pPr marL="285750" indent="-285750">
              <a:buFont typeface="Arial" panose="020B0604020202020204" pitchFamily="34" charset="0"/>
              <a:buChar char="•"/>
            </a:pPr>
            <a:r>
              <a:rPr lang="en-US" altLang="zh-CN" sz="20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Conjugated dienes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undergo many reactions which involve </a:t>
            </a:r>
            <a:r>
              <a:rPr lang="en-US" altLang="zh-CN" sz="2000"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allylic cations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and </a:t>
            </a:r>
            <a:r>
              <a:rPr lang="en-US" altLang="zh-CN" sz="2000" b="1" dirty="0">
                <a:highlight>
                  <a:srgbClr val="00FFFF"/>
                </a:highlight>
                <a:latin typeface="Microsoft Sans Serif" panose="020B0604020202020204" pitchFamily="34" charset="0"/>
                <a:ea typeface="Microsoft Sans Serif" panose="020B0604020202020204" pitchFamily="34" charset="0"/>
                <a:cs typeface="Microsoft Sans Serif" panose="020B0604020202020204" pitchFamily="34" charset="0"/>
              </a:rPr>
              <a:t>allylic radicals</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zh-CN" altLang="en-US" sz="2000" b="1" dirty="0">
              <a:latin typeface="Microsoft Sans Serif" panose="020B0604020202020204" pitchFamily="34" charset="0"/>
              <a:cs typeface="Microsoft Sans Serif" panose="020B0604020202020204" pitchFamily="34"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20876938"/>
              </p:ext>
            </p:extLst>
          </p:nvPr>
        </p:nvGraphicFramePr>
        <p:xfrm>
          <a:off x="687818" y="1669560"/>
          <a:ext cx="5330075" cy="1353878"/>
        </p:xfrm>
        <a:graphic>
          <a:graphicData uri="http://schemas.openxmlformats.org/presentationml/2006/ole">
            <mc:AlternateContent xmlns:mc="http://schemas.openxmlformats.org/markup-compatibility/2006">
              <mc:Choice xmlns:v="urn:schemas-microsoft-com:vml" Requires="v">
                <p:oleObj spid="_x0000_s19411" name="CS ChemDraw Drawing" r:id="rId3" imgW="2575313" imgH="653294" progId="ChemDraw.Document.6.0">
                  <p:embed/>
                </p:oleObj>
              </mc:Choice>
              <mc:Fallback>
                <p:oleObj name="CS ChemDraw Drawing" r:id="rId3" imgW="2575313" imgH="653294" progId="ChemDraw.Document.6.0">
                  <p:embed/>
                  <p:pic>
                    <p:nvPicPr>
                      <p:cNvPr id="0" name=""/>
                      <p:cNvPicPr/>
                      <p:nvPr/>
                    </p:nvPicPr>
                    <p:blipFill>
                      <a:blip r:embed="rId4"/>
                      <a:stretch>
                        <a:fillRect/>
                      </a:stretch>
                    </p:blipFill>
                    <p:spPr>
                      <a:xfrm>
                        <a:off x="687818" y="1669560"/>
                        <a:ext cx="5330075" cy="1353878"/>
                      </a:xfrm>
                      <a:prstGeom prst="rect">
                        <a:avLst/>
                      </a:prstGeom>
                      <a:ln w="28575">
                        <a:solidFill>
                          <a:schemeClr val="bg1">
                            <a:lumMod val="75000"/>
                          </a:schemeClr>
                        </a:solidFill>
                      </a:ln>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4438586"/>
              </p:ext>
            </p:extLst>
          </p:nvPr>
        </p:nvGraphicFramePr>
        <p:xfrm>
          <a:off x="6370352" y="1640571"/>
          <a:ext cx="5036992" cy="1271287"/>
        </p:xfrm>
        <a:graphic>
          <a:graphicData uri="http://schemas.openxmlformats.org/presentationml/2006/ole">
            <mc:AlternateContent xmlns:mc="http://schemas.openxmlformats.org/markup-compatibility/2006">
              <mc:Choice xmlns:v="urn:schemas-microsoft-com:vml" Requires="v">
                <p:oleObj spid="_x0000_s19412" name="CS ChemDraw Drawing" r:id="rId5" imgW="2491271" imgH="627923" progId="ChemDraw.Document.6.0">
                  <p:embed/>
                </p:oleObj>
              </mc:Choice>
              <mc:Fallback>
                <p:oleObj name="CS ChemDraw Drawing" r:id="rId5" imgW="2491271" imgH="627923" progId="ChemDraw.Document.6.0">
                  <p:embed/>
                  <p:pic>
                    <p:nvPicPr>
                      <p:cNvPr id="0" name=""/>
                      <p:cNvPicPr/>
                      <p:nvPr/>
                    </p:nvPicPr>
                    <p:blipFill>
                      <a:blip r:embed="rId6"/>
                      <a:stretch>
                        <a:fillRect/>
                      </a:stretch>
                    </p:blipFill>
                    <p:spPr>
                      <a:xfrm>
                        <a:off x="6370352" y="1640571"/>
                        <a:ext cx="5036992" cy="1271287"/>
                      </a:xfrm>
                      <a:prstGeom prst="rect">
                        <a:avLst/>
                      </a:prstGeom>
                    </p:spPr>
                  </p:pic>
                </p:oleObj>
              </mc:Fallback>
            </mc:AlternateContent>
          </a:graphicData>
        </a:graphic>
      </p:graphicFrame>
      <p:sp>
        <p:nvSpPr>
          <p:cNvPr id="9" name="矩形 8"/>
          <p:cNvSpPr/>
          <p:nvPr/>
        </p:nvSpPr>
        <p:spPr>
          <a:xfrm>
            <a:off x="0" y="3157153"/>
            <a:ext cx="2085827" cy="400110"/>
          </a:xfrm>
          <a:prstGeom prst="rect">
            <a:avLst/>
          </a:prstGeom>
          <a:solidFill>
            <a:schemeClr val="tx2">
              <a:lumMod val="20000"/>
              <a:lumOff val="80000"/>
            </a:schemeClr>
          </a:solidFill>
        </p:spPr>
        <p:txBody>
          <a:bodyPr wrap="none">
            <a:spAutoFit/>
          </a:bodyPr>
          <a:lstStyle/>
          <a:p>
            <a:r>
              <a:rPr lang="en-US" altLang="zh-CN" sz="2000" b="1" dirty="0">
                <a:latin typeface="Microsoft Sans Serif" pitchFamily="34" charset="0"/>
                <a:cs typeface="Microsoft Sans Serif" pitchFamily="34" charset="0"/>
              </a:rPr>
              <a:t>5-4-1 Allyl cation</a:t>
            </a:r>
          </a:p>
        </p:txBody>
      </p:sp>
      <p:graphicFrame>
        <p:nvGraphicFramePr>
          <p:cNvPr id="12" name="对象 11"/>
          <p:cNvGraphicFramePr>
            <a:graphicFrameLocks noChangeAspect="1"/>
          </p:cNvGraphicFramePr>
          <p:nvPr>
            <p:extLst>
              <p:ext uri="{D42A27DB-BD31-4B8C-83A1-F6EECF244321}">
                <p14:modId xmlns:p14="http://schemas.microsoft.com/office/powerpoint/2010/main" val="3556142754"/>
              </p:ext>
            </p:extLst>
          </p:nvPr>
        </p:nvGraphicFramePr>
        <p:xfrm>
          <a:off x="9810835" y="3343866"/>
          <a:ext cx="2045805" cy="1139573"/>
        </p:xfrm>
        <a:graphic>
          <a:graphicData uri="http://schemas.openxmlformats.org/presentationml/2006/ole">
            <mc:AlternateContent xmlns:mc="http://schemas.openxmlformats.org/markup-compatibility/2006">
              <mc:Choice xmlns:v="urn:schemas-microsoft-com:vml" Requires="v">
                <p:oleObj spid="_x0000_s19413" name="CS ChemDraw Drawing" r:id="rId7" imgW="1197499" imgH="665979" progId="ChemDraw.Document.6.0">
                  <p:embed/>
                </p:oleObj>
              </mc:Choice>
              <mc:Fallback>
                <p:oleObj name="CS ChemDraw Drawing" r:id="rId7" imgW="1197499" imgH="665979" progId="ChemDraw.Document.6.0">
                  <p:embed/>
                  <p:pic>
                    <p:nvPicPr>
                      <p:cNvPr id="0" name=""/>
                      <p:cNvPicPr/>
                      <p:nvPr/>
                    </p:nvPicPr>
                    <p:blipFill>
                      <a:blip r:embed="rId8"/>
                      <a:stretch>
                        <a:fillRect/>
                      </a:stretch>
                    </p:blipFill>
                    <p:spPr>
                      <a:xfrm>
                        <a:off x="9810835" y="3343866"/>
                        <a:ext cx="2045805" cy="1139573"/>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91D082F0-6755-499F-AFFA-945B9429F929}"/>
              </a:ext>
            </a:extLst>
          </p:cNvPr>
          <p:cNvGraphicFramePr>
            <a:graphicFrameLocks noChangeAspect="1"/>
          </p:cNvGraphicFramePr>
          <p:nvPr>
            <p:extLst>
              <p:ext uri="{D42A27DB-BD31-4B8C-83A1-F6EECF244321}">
                <p14:modId xmlns:p14="http://schemas.microsoft.com/office/powerpoint/2010/main" val="3467444517"/>
              </p:ext>
            </p:extLst>
          </p:nvPr>
        </p:nvGraphicFramePr>
        <p:xfrm>
          <a:off x="609600" y="5266037"/>
          <a:ext cx="5968978" cy="1533036"/>
        </p:xfrm>
        <a:graphic>
          <a:graphicData uri="http://schemas.openxmlformats.org/presentationml/2006/ole">
            <mc:AlternateContent xmlns:mc="http://schemas.openxmlformats.org/markup-compatibility/2006">
              <mc:Choice xmlns:v="urn:schemas-microsoft-com:vml" Requires="v">
                <p:oleObj spid="_x0000_s19414" name="CS ChemDraw Drawing" r:id="rId9" imgW="2788377" imgH="715928" progId="ChemDraw.Document.6.0">
                  <p:embed/>
                </p:oleObj>
              </mc:Choice>
              <mc:Fallback>
                <p:oleObj name="CS ChemDraw Drawing" r:id="rId9" imgW="2788377" imgH="715928" progId="ChemDraw.Document.6.0">
                  <p:embed/>
                  <p:pic>
                    <p:nvPicPr>
                      <p:cNvPr id="4" name="对象 3"/>
                      <p:cNvPicPr/>
                      <p:nvPr/>
                    </p:nvPicPr>
                    <p:blipFill>
                      <a:blip r:embed="rId10"/>
                      <a:stretch>
                        <a:fillRect/>
                      </a:stretch>
                    </p:blipFill>
                    <p:spPr>
                      <a:xfrm>
                        <a:off x="609600" y="5266037"/>
                        <a:ext cx="5968978" cy="1533036"/>
                      </a:xfrm>
                      <a:prstGeom prst="rect">
                        <a:avLst/>
                      </a:prstGeom>
                    </p:spPr>
                  </p:pic>
                </p:oleObj>
              </mc:Fallback>
            </mc:AlternateContent>
          </a:graphicData>
        </a:graphic>
      </p:graphicFrame>
      <p:sp>
        <p:nvSpPr>
          <p:cNvPr id="16" name="椭圆 15">
            <a:extLst>
              <a:ext uri="{FF2B5EF4-FFF2-40B4-BE49-F238E27FC236}">
                <a16:creationId xmlns:a16="http://schemas.microsoft.com/office/drawing/2014/main" id="{05DDDF29-A868-4130-BE2A-3A7FD8A8899A}"/>
              </a:ext>
            </a:extLst>
          </p:cNvPr>
          <p:cNvSpPr/>
          <p:nvPr/>
        </p:nvSpPr>
        <p:spPr>
          <a:xfrm>
            <a:off x="2275217" y="5299191"/>
            <a:ext cx="371130" cy="308067"/>
          </a:xfrm>
          <a:prstGeom prst="ellipse">
            <a:avLst/>
          </a:prstGeom>
          <a:noFill/>
          <a:ln w="28575">
            <a:solidFill>
              <a:srgbClr val="00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3A4786DC-07F1-4AC5-AD67-28CE10BB3B84}"/>
              </a:ext>
            </a:extLst>
          </p:cNvPr>
          <p:cNvSpPr/>
          <p:nvPr/>
        </p:nvSpPr>
        <p:spPr>
          <a:xfrm>
            <a:off x="4225705" y="5299191"/>
            <a:ext cx="371130" cy="308067"/>
          </a:xfrm>
          <a:prstGeom prst="ellipse">
            <a:avLst/>
          </a:prstGeom>
          <a:noFill/>
          <a:ln w="28575">
            <a:solidFill>
              <a:srgbClr val="00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8" name="对象 17">
            <a:extLst>
              <a:ext uri="{FF2B5EF4-FFF2-40B4-BE49-F238E27FC236}">
                <a16:creationId xmlns:a16="http://schemas.microsoft.com/office/drawing/2014/main" id="{92D4A6E1-7B02-49D7-AC34-7FFB617C97B8}"/>
              </a:ext>
            </a:extLst>
          </p:cNvPr>
          <p:cNvGraphicFramePr>
            <a:graphicFrameLocks noChangeAspect="1"/>
          </p:cNvGraphicFramePr>
          <p:nvPr>
            <p:extLst>
              <p:ext uri="{D42A27DB-BD31-4B8C-83A1-F6EECF244321}">
                <p14:modId xmlns:p14="http://schemas.microsoft.com/office/powerpoint/2010/main" val="3353107910"/>
              </p:ext>
            </p:extLst>
          </p:nvPr>
        </p:nvGraphicFramePr>
        <p:xfrm>
          <a:off x="6777422" y="5121816"/>
          <a:ext cx="5218679" cy="1599660"/>
        </p:xfrm>
        <a:graphic>
          <a:graphicData uri="http://schemas.openxmlformats.org/presentationml/2006/ole">
            <mc:AlternateContent xmlns:mc="http://schemas.openxmlformats.org/markup-compatibility/2006">
              <mc:Choice xmlns:v="urn:schemas-microsoft-com:vml" Requires="v">
                <p:oleObj spid="_x0000_s19415" name="CS ChemDraw Drawing" r:id="rId11" imgW="3454795" imgH="1058828" progId="ChemDraw.Document.6.0">
                  <p:embed/>
                </p:oleObj>
              </mc:Choice>
              <mc:Fallback>
                <p:oleObj name="CS ChemDraw Drawing" r:id="rId11" imgW="3454795" imgH="1058828" progId="ChemDraw.Document.6.0">
                  <p:embed/>
                  <p:pic>
                    <p:nvPicPr>
                      <p:cNvPr id="5" name="对象 4"/>
                      <p:cNvPicPr/>
                      <p:nvPr/>
                    </p:nvPicPr>
                    <p:blipFill>
                      <a:blip r:embed="rId12"/>
                      <a:stretch>
                        <a:fillRect/>
                      </a:stretch>
                    </p:blipFill>
                    <p:spPr>
                      <a:xfrm>
                        <a:off x="6777422" y="5121816"/>
                        <a:ext cx="5218679" cy="1599660"/>
                      </a:xfrm>
                      <a:prstGeom prst="rect">
                        <a:avLst/>
                      </a:prstGeom>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椭圆 20"/>
          <p:cNvSpPr/>
          <p:nvPr/>
        </p:nvSpPr>
        <p:spPr>
          <a:xfrm>
            <a:off x="8072330" y="4178700"/>
            <a:ext cx="792088" cy="479079"/>
          </a:xfrm>
          <a:prstGeom prst="ellipse">
            <a:avLst/>
          </a:prstGeom>
          <a:solidFill>
            <a:srgbClr val="FFFF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6888088" y="4178700"/>
            <a:ext cx="792088" cy="479079"/>
          </a:xfrm>
          <a:prstGeom prst="ellipse">
            <a:avLst/>
          </a:prstGeom>
          <a:solidFill>
            <a:srgbClr val="FFFF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3428854" y="4274725"/>
            <a:ext cx="1443010" cy="479079"/>
          </a:xfrm>
          <a:prstGeom prst="ellipse">
            <a:avLst/>
          </a:prstGeom>
          <a:solidFill>
            <a:srgbClr val="FFFF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1121544376"/>
              </p:ext>
            </p:extLst>
          </p:nvPr>
        </p:nvGraphicFramePr>
        <p:xfrm>
          <a:off x="2086580" y="3857588"/>
          <a:ext cx="6876043" cy="1512441"/>
        </p:xfrm>
        <a:graphic>
          <a:graphicData uri="http://schemas.openxmlformats.org/presentationml/2006/ole">
            <mc:AlternateContent xmlns:mc="http://schemas.openxmlformats.org/markup-compatibility/2006">
              <mc:Choice xmlns:v="urn:schemas-microsoft-com:vml" Requires="v">
                <p:oleObj spid="_x0000_s47842" name="CS ChemDraw Drawing" r:id="rId3" imgW="3038530" imgH="668754" progId="ChemDraw.Document.6.0">
                  <p:embed/>
                </p:oleObj>
              </mc:Choice>
              <mc:Fallback>
                <p:oleObj name="CS ChemDraw Drawing" r:id="rId3" imgW="3038530" imgH="668754" progId="ChemDraw.Document.6.0">
                  <p:embed/>
                  <p:pic>
                    <p:nvPicPr>
                      <p:cNvPr id="0" name=""/>
                      <p:cNvPicPr/>
                      <p:nvPr/>
                    </p:nvPicPr>
                    <p:blipFill>
                      <a:blip r:embed="rId4"/>
                      <a:stretch>
                        <a:fillRect/>
                      </a:stretch>
                    </p:blipFill>
                    <p:spPr>
                      <a:xfrm>
                        <a:off x="2086580" y="3857588"/>
                        <a:ext cx="6876043" cy="1512441"/>
                      </a:xfrm>
                      <a:prstGeom prst="rect">
                        <a:avLst/>
                      </a:prstGeom>
                    </p:spPr>
                  </p:pic>
                </p:oleObj>
              </mc:Fallback>
            </mc:AlternateContent>
          </a:graphicData>
        </a:graphic>
      </p:graphicFrame>
      <p:sp>
        <p:nvSpPr>
          <p:cNvPr id="2" name="灯片编号占位符 1"/>
          <p:cNvSpPr>
            <a:spLocks noGrp="1"/>
          </p:cNvSpPr>
          <p:nvPr>
            <p:ph type="sldNum" sz="quarter" idx="12"/>
          </p:nvPr>
        </p:nvSpPr>
        <p:spPr/>
        <p:txBody>
          <a:bodyPr/>
          <a:lstStyle/>
          <a:p>
            <a:fld id="{0C913308-F349-4B6D-A68A-DD1791B4A57B}" type="slidenum">
              <a:rPr lang="zh-CN" altLang="en-US" smtClean="0"/>
              <a:pPr/>
              <a:t>6</a:t>
            </a:fld>
            <a:endParaRPr lang="zh-CN" altLang="en-US"/>
          </a:p>
        </p:txBody>
      </p:sp>
      <p:sp>
        <p:nvSpPr>
          <p:cNvPr id="15" name="TextBox 2"/>
          <p:cNvSpPr txBox="1"/>
          <p:nvPr/>
        </p:nvSpPr>
        <p:spPr>
          <a:xfrm>
            <a:off x="335360" y="404664"/>
            <a:ext cx="11449272" cy="2554545"/>
          </a:xfrm>
          <a:prstGeom prst="rect">
            <a:avLst/>
          </a:prstGeom>
          <a:noFill/>
          <a:ln w="38100">
            <a:noFill/>
          </a:ln>
        </p:spPr>
        <p:txBody>
          <a:bodyPr wrap="square" rtlCol="0">
            <a:spAutoFit/>
          </a:bodyPr>
          <a:lstStyle/>
          <a:p>
            <a:pPr marL="285750" indent="-285750">
              <a:buFont typeface="Arial" panose="020B0604020202020204" pitchFamily="34" charset="0"/>
              <a:buChar char="•"/>
            </a:pPr>
            <a:r>
              <a:rPr lang="en-US" altLang="zh-CN" sz="2000" b="1" dirty="0">
                <a:highlight>
                  <a:srgbClr val="FFFF00"/>
                </a:highlight>
                <a:latin typeface="Microsoft Sans Serif" pitchFamily="34" charset="0"/>
                <a:cs typeface="Microsoft Sans Serif" pitchFamily="34" charset="0"/>
              </a:rPr>
              <a:t>Allyl cation</a:t>
            </a:r>
            <a:r>
              <a:rPr lang="en-US" altLang="zh-CN" sz="2000" b="1" dirty="0">
                <a:latin typeface="Microsoft Sans Serif" pitchFamily="34" charset="0"/>
                <a:cs typeface="Microsoft Sans Serif" pitchFamily="34" charset="0"/>
              </a:rPr>
              <a:t> is </a:t>
            </a:r>
            <a:r>
              <a:rPr lang="en-US" altLang="zh-CN" sz="2000" b="1" dirty="0">
                <a:highlight>
                  <a:srgbClr val="00FFFF"/>
                </a:highlight>
                <a:latin typeface="Microsoft Sans Serif" pitchFamily="34" charset="0"/>
                <a:cs typeface="Microsoft Sans Serif" pitchFamily="34" charset="0"/>
              </a:rPr>
              <a:t>stabilized by resonance</a:t>
            </a:r>
            <a:r>
              <a:rPr lang="en-US" altLang="zh-CN" sz="2000" b="1" dirty="0">
                <a:latin typeface="Microsoft Sans Serif" pitchFamily="34" charset="0"/>
                <a:cs typeface="Microsoft Sans Serif" pitchFamily="34" charset="0"/>
              </a:rPr>
              <a:t>  with the adjacent double bond, which </a:t>
            </a:r>
            <a:r>
              <a:rPr lang="en-US" altLang="zh-CN" sz="2000" b="1" dirty="0">
                <a:highlight>
                  <a:srgbClr val="00FFFF"/>
                </a:highlight>
                <a:latin typeface="Microsoft Sans Serif" pitchFamily="34" charset="0"/>
                <a:cs typeface="Microsoft Sans Serif" pitchFamily="34" charset="0"/>
              </a:rPr>
              <a:t>delocalizes the positive charge over two carbon atoms</a:t>
            </a:r>
            <a:r>
              <a:rPr lang="en-US" altLang="zh-CN" sz="2000" b="1" dirty="0">
                <a:latin typeface="Microsoft Sans Serif" pitchFamily="34" charset="0"/>
                <a:cs typeface="Microsoft Sans Serif" pitchFamily="34" charset="0"/>
              </a:rPr>
              <a:t>. </a:t>
            </a:r>
          </a:p>
          <a:p>
            <a:pPr marL="285750" indent="-285750">
              <a:buFont typeface="Arial" panose="020B0604020202020204" pitchFamily="34" charset="0"/>
              <a:buChar char="•"/>
            </a:pPr>
            <a:endParaRPr lang="en-US" altLang="zh-CN" sz="2000" b="1" dirty="0">
              <a:latin typeface="Microsoft Sans Serif" pitchFamily="34" charset="0"/>
              <a:cs typeface="Microsoft Sans Serif" pitchFamily="34" charset="0"/>
            </a:endParaRPr>
          </a:p>
          <a:p>
            <a:pPr marL="285750" indent="-285750">
              <a:buFont typeface="Arial" panose="020B0604020202020204" pitchFamily="34" charset="0"/>
              <a:buChar char="•"/>
            </a:pPr>
            <a:r>
              <a:rPr lang="en-US" altLang="zh-CN" sz="2000" b="1" dirty="0">
                <a:latin typeface="Microsoft Sans Serif" pitchFamily="34" charset="0"/>
                <a:cs typeface="Microsoft Sans Serif" pitchFamily="34" charset="0"/>
              </a:rPr>
              <a:t>Resonance is most important to stabilization when it serves to delocalize a charge over two or more atoms.</a:t>
            </a:r>
          </a:p>
          <a:p>
            <a:pPr marL="285750" indent="-285750">
              <a:buFont typeface="Arial" panose="020B0604020202020204" pitchFamily="34" charset="0"/>
              <a:buChar char="•"/>
            </a:pPr>
            <a:endParaRPr lang="en-US" altLang="zh-CN" sz="2000" b="1" dirty="0">
              <a:latin typeface="Microsoft Sans Serif" pitchFamily="34" charset="0"/>
              <a:cs typeface="Microsoft Sans Serif" pitchFamily="34" charset="0"/>
            </a:endParaRPr>
          </a:p>
          <a:p>
            <a:pPr marL="285750" indent="-285750">
              <a:buFont typeface="Arial" panose="020B0604020202020204" pitchFamily="34" charset="0"/>
              <a:buChar char="•"/>
            </a:pPr>
            <a:r>
              <a:rPr lang="en-US" altLang="zh-CN" sz="2000" b="1" dirty="0">
                <a:latin typeface="Microsoft Sans Serif" pitchFamily="34" charset="0"/>
                <a:cs typeface="Microsoft Sans Serif" pitchFamily="34" charset="0"/>
              </a:rPr>
              <a:t>Because of its resonance stabilization, </a:t>
            </a:r>
            <a:r>
              <a:rPr lang="en-US" altLang="zh-CN" sz="2000" b="1" dirty="0">
                <a:highlight>
                  <a:srgbClr val="FFFF00"/>
                </a:highlight>
                <a:latin typeface="Microsoft Sans Serif" pitchFamily="34" charset="0"/>
                <a:cs typeface="Microsoft Sans Serif" pitchFamily="34" charset="0"/>
              </a:rPr>
              <a:t>the allyl cation (1</a:t>
            </a:r>
            <a:r>
              <a:rPr lang="en-US" altLang="zh-CN" sz="2000" b="1" dirty="0">
                <a:highlight>
                  <a:srgbClr val="FFFF00"/>
                </a:highlight>
                <a:latin typeface="Microsoft Sans Serif" pitchFamily="34" charset="0"/>
                <a:cs typeface="Microsoft Sans Serif" pitchFamily="34" charset="0"/>
                <a:sym typeface="Symbol"/>
              </a:rPr>
              <a:t></a:t>
            </a:r>
            <a:r>
              <a:rPr lang="en-US" altLang="zh-CN" sz="2000" b="1" dirty="0">
                <a:highlight>
                  <a:srgbClr val="FFFF00"/>
                </a:highlight>
                <a:latin typeface="Microsoft Sans Serif" pitchFamily="34" charset="0"/>
                <a:cs typeface="Microsoft Sans Serif" pitchFamily="34" charset="0"/>
              </a:rPr>
              <a:t>) is about as stable as simple 2</a:t>
            </a:r>
            <a:r>
              <a:rPr lang="en-US" altLang="zh-CN" sz="2000" b="1" dirty="0">
                <a:highlight>
                  <a:srgbClr val="FFFF00"/>
                </a:highlight>
                <a:latin typeface="Microsoft Sans Serif" pitchFamily="34" charset="0"/>
                <a:cs typeface="Microsoft Sans Serif" pitchFamily="34" charset="0"/>
                <a:sym typeface="Symbol"/>
              </a:rPr>
              <a:t></a:t>
            </a:r>
            <a:r>
              <a:rPr lang="en-US" altLang="zh-CN" sz="2000" b="1" dirty="0">
                <a:highlight>
                  <a:srgbClr val="FFFF00"/>
                </a:highlight>
                <a:latin typeface="Microsoft Sans Serif" pitchFamily="34" charset="0"/>
                <a:cs typeface="Microsoft Sans Serif" pitchFamily="34" charset="0"/>
              </a:rPr>
              <a:t> alkyl carbocations</a:t>
            </a:r>
            <a:r>
              <a:rPr lang="en-US" altLang="zh-CN" sz="2000" b="1" dirty="0">
                <a:latin typeface="Microsoft Sans Serif" pitchFamily="34" charset="0"/>
                <a:cs typeface="Microsoft Sans Serif" pitchFamily="34" charset="0"/>
              </a:rPr>
              <a:t>.</a:t>
            </a:r>
            <a:endParaRPr lang="zh-CN" altLang="en-US" sz="2000" b="1" dirty="0">
              <a:latin typeface="Microsoft Sans Serif" pitchFamily="34" charset="0"/>
              <a:cs typeface="Microsoft Sans Serif" pitchFamily="34" charset="0"/>
            </a:endParaRPr>
          </a:p>
        </p:txBody>
      </p:sp>
      <p:sp>
        <p:nvSpPr>
          <p:cNvPr id="16" name="文本框 15"/>
          <p:cNvSpPr txBox="1"/>
          <p:nvPr/>
        </p:nvSpPr>
        <p:spPr>
          <a:xfrm>
            <a:off x="1505242" y="5521280"/>
            <a:ext cx="4608512" cy="707886"/>
          </a:xfrm>
          <a:prstGeom prst="rect">
            <a:avLst/>
          </a:prstGeom>
          <a:noFill/>
        </p:spPr>
        <p:txBody>
          <a:bodyPr wrap="square" rtlCol="0">
            <a:spAutoFit/>
          </a:bodyPr>
          <a:lstStyle/>
          <a:p>
            <a:r>
              <a:rPr lang="en-US" altLang="zh-CN" sz="2000" b="1" dirty="0">
                <a:latin typeface="Consolas" panose="020B0609020204030204" pitchFamily="49" charset="0"/>
              </a:rPr>
              <a:t>positive charge stabilized by resonance with the adjacent C=C</a:t>
            </a:r>
            <a:endParaRPr lang="zh-CN" altLang="en-US" sz="2000" b="1" dirty="0">
              <a:latin typeface="Consolas" panose="020B0609020204030204" pitchFamily="49" charset="0"/>
            </a:endParaRPr>
          </a:p>
        </p:txBody>
      </p:sp>
      <p:sp>
        <p:nvSpPr>
          <p:cNvPr id="24" name="文本框 23"/>
          <p:cNvSpPr txBox="1"/>
          <p:nvPr/>
        </p:nvSpPr>
        <p:spPr>
          <a:xfrm>
            <a:off x="6658367" y="5370029"/>
            <a:ext cx="4608511" cy="1015663"/>
          </a:xfrm>
          <a:prstGeom prst="rect">
            <a:avLst/>
          </a:prstGeom>
          <a:noFill/>
        </p:spPr>
        <p:txBody>
          <a:bodyPr wrap="square" rtlCol="0">
            <a:spAutoFit/>
          </a:bodyPr>
          <a:lstStyle/>
          <a:p>
            <a:r>
              <a:rPr lang="en-US" altLang="zh-CN" sz="2000" b="1" dirty="0">
                <a:latin typeface="Consolas" panose="020B0609020204030204" pitchFamily="49" charset="0"/>
              </a:rPr>
              <a:t>positive charge stabilized by </a:t>
            </a:r>
            <a:r>
              <a:rPr lang="en-US" altLang="zh-CN" sz="2000" b="1" dirty="0" err="1">
                <a:latin typeface="Consolas" panose="020B0609020204030204" pitchFamily="49" charset="0"/>
              </a:rPr>
              <a:t>hyperconjugation</a:t>
            </a:r>
            <a:r>
              <a:rPr lang="en-US" altLang="zh-CN" sz="2000" b="1" dirty="0">
                <a:latin typeface="Consolas" panose="020B0609020204030204" pitchFamily="49" charset="0"/>
              </a:rPr>
              <a:t> with the adjacent alkyl groups</a:t>
            </a:r>
            <a:endParaRPr lang="zh-CN" altLang="en-US" sz="2000" b="1" dirty="0">
              <a:latin typeface="Consolas" panose="020B0609020204030204" pitchFamily="49"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圆角 21">
            <a:extLst>
              <a:ext uri="{FF2B5EF4-FFF2-40B4-BE49-F238E27FC236}">
                <a16:creationId xmlns:a16="http://schemas.microsoft.com/office/drawing/2014/main" id="{B056DED5-509F-4643-9204-6F083E502BF5}"/>
              </a:ext>
            </a:extLst>
          </p:cNvPr>
          <p:cNvSpPr/>
          <p:nvPr/>
        </p:nvSpPr>
        <p:spPr>
          <a:xfrm>
            <a:off x="9885234" y="3733007"/>
            <a:ext cx="1402822" cy="274340"/>
          </a:xfrm>
          <a:prstGeom prst="round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a:extLst>
              <a:ext uri="{FF2B5EF4-FFF2-40B4-BE49-F238E27FC236}">
                <a16:creationId xmlns:a16="http://schemas.microsoft.com/office/drawing/2014/main" id="{6E87EE4A-23E5-4AC6-AD2F-4BEC67E89F19}"/>
              </a:ext>
            </a:extLst>
          </p:cNvPr>
          <p:cNvSpPr/>
          <p:nvPr/>
        </p:nvSpPr>
        <p:spPr>
          <a:xfrm>
            <a:off x="7220938" y="3719155"/>
            <a:ext cx="1402822" cy="274340"/>
          </a:xfrm>
          <a:prstGeom prst="round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a:extLst>
              <a:ext uri="{FF2B5EF4-FFF2-40B4-BE49-F238E27FC236}">
                <a16:creationId xmlns:a16="http://schemas.microsoft.com/office/drawing/2014/main" id="{5369A73F-DA32-4976-8C99-01A42631986C}"/>
              </a:ext>
            </a:extLst>
          </p:cNvPr>
          <p:cNvSpPr/>
          <p:nvPr/>
        </p:nvSpPr>
        <p:spPr>
          <a:xfrm>
            <a:off x="3685306" y="3919579"/>
            <a:ext cx="1402822" cy="274340"/>
          </a:xfrm>
          <a:prstGeom prst="round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a:extLst>
              <a:ext uri="{FF2B5EF4-FFF2-40B4-BE49-F238E27FC236}">
                <a16:creationId xmlns:a16="http://schemas.microsoft.com/office/drawing/2014/main" id="{891EE373-A5EC-45DD-981A-4B57D42F5FE4}"/>
              </a:ext>
            </a:extLst>
          </p:cNvPr>
          <p:cNvSpPr/>
          <p:nvPr/>
        </p:nvSpPr>
        <p:spPr>
          <a:xfrm>
            <a:off x="626300" y="3899672"/>
            <a:ext cx="1402822" cy="274340"/>
          </a:xfrm>
          <a:prstGeom prst="round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7</a:t>
            </a:fld>
            <a:endParaRPr lang="zh-CN" altLang="en-US"/>
          </a:p>
        </p:txBody>
      </p:sp>
      <p:sp>
        <p:nvSpPr>
          <p:cNvPr id="8" name="矩形 7"/>
          <p:cNvSpPr/>
          <p:nvPr/>
        </p:nvSpPr>
        <p:spPr>
          <a:xfrm>
            <a:off x="0" y="285909"/>
            <a:ext cx="2460930" cy="400110"/>
          </a:xfrm>
          <a:prstGeom prst="rect">
            <a:avLst/>
          </a:prstGeom>
          <a:solidFill>
            <a:schemeClr val="tx2">
              <a:lumMod val="20000"/>
              <a:lumOff val="80000"/>
            </a:schemeClr>
          </a:solidFill>
        </p:spPr>
        <p:txBody>
          <a:bodyPr wrap="none">
            <a:spAutoFit/>
          </a:bodyPr>
          <a:lstStyle/>
          <a:p>
            <a:r>
              <a:rPr lang="en-US" altLang="zh-CN" sz="2000" b="1" dirty="0">
                <a:latin typeface="Microsoft Sans Serif" pitchFamily="34" charset="0"/>
                <a:cs typeface="Microsoft Sans Serif" pitchFamily="34" charset="0"/>
              </a:rPr>
              <a:t>5-4-2 </a:t>
            </a:r>
            <a:r>
              <a:rPr lang="en-US" altLang="zh-CN" sz="2000" b="1" dirty="0" err="1">
                <a:latin typeface="Microsoft Sans Serif" pitchFamily="34" charset="0"/>
                <a:cs typeface="Microsoft Sans Serif" pitchFamily="34" charset="0"/>
              </a:rPr>
              <a:t>Allyllic</a:t>
            </a:r>
            <a:r>
              <a:rPr lang="en-US" altLang="zh-CN" sz="2000" b="1" dirty="0">
                <a:latin typeface="Microsoft Sans Serif" pitchFamily="34" charset="0"/>
                <a:cs typeface="Microsoft Sans Serif" pitchFamily="34" charset="0"/>
              </a:rPr>
              <a:t> cations</a:t>
            </a:r>
          </a:p>
        </p:txBody>
      </p:sp>
      <p:sp>
        <p:nvSpPr>
          <p:cNvPr id="9" name="矩形 8"/>
          <p:cNvSpPr/>
          <p:nvPr/>
        </p:nvSpPr>
        <p:spPr>
          <a:xfrm>
            <a:off x="347015" y="824943"/>
            <a:ext cx="7693201" cy="400110"/>
          </a:xfrm>
          <a:prstGeom prst="rect">
            <a:avLst/>
          </a:prstGeom>
        </p:spPr>
        <p:txBody>
          <a:bodyPr wrap="square">
            <a:spAutoFit/>
          </a:bodyPr>
          <a:lstStyle/>
          <a:p>
            <a:pPr marL="285750" indent="-285750">
              <a:buFont typeface="Arial" panose="020B0604020202020204" pitchFamily="34" charset="0"/>
              <a:buChar char="•"/>
            </a:pPr>
            <a:r>
              <a:rPr lang="en-US" altLang="zh-CN" sz="2000" b="1" dirty="0">
                <a:latin typeface="Microsoft Sans Serif" pitchFamily="34" charset="0"/>
                <a:cs typeface="Microsoft Sans Serif" pitchFamily="34" charset="0"/>
              </a:rPr>
              <a:t>Allylic cations are </a:t>
            </a:r>
            <a:r>
              <a:rPr lang="en-US" altLang="zh-CN" sz="2000" b="1" dirty="0">
                <a:solidFill>
                  <a:srgbClr val="0000FF"/>
                </a:solidFill>
                <a:latin typeface="Microsoft Sans Serif" pitchFamily="34" charset="0"/>
                <a:cs typeface="Microsoft Sans Serif" pitchFamily="34" charset="0"/>
              </a:rPr>
              <a:t>more-substituted </a:t>
            </a:r>
            <a:r>
              <a:rPr lang="en-US" altLang="zh-CN" sz="2000" b="1" dirty="0">
                <a:latin typeface="Microsoft Sans Serif" pitchFamily="34" charset="0"/>
                <a:cs typeface="Microsoft Sans Serif" pitchFamily="34" charset="0"/>
              </a:rPr>
              <a:t>analogues</a:t>
            </a:r>
            <a:r>
              <a:rPr lang="en-US" altLang="zh-CN" sz="2000" b="1" dirty="0">
                <a:solidFill>
                  <a:srgbClr val="0000FF"/>
                </a:solidFill>
                <a:latin typeface="Microsoft Sans Serif" pitchFamily="34" charset="0"/>
                <a:cs typeface="Microsoft Sans Serif" pitchFamily="34" charset="0"/>
              </a:rPr>
              <a:t> </a:t>
            </a:r>
            <a:r>
              <a:rPr lang="en-US" altLang="zh-CN" sz="2000" b="1" dirty="0">
                <a:latin typeface="Microsoft Sans Serif" pitchFamily="34" charset="0"/>
                <a:cs typeface="Microsoft Sans Serif" pitchFamily="34" charset="0"/>
              </a:rPr>
              <a:t>of the </a:t>
            </a:r>
            <a:r>
              <a:rPr lang="en-US" altLang="zh-CN" sz="2000" b="1" dirty="0">
                <a:solidFill>
                  <a:srgbClr val="0000FF"/>
                </a:solidFill>
                <a:latin typeface="Microsoft Sans Serif" pitchFamily="34" charset="0"/>
                <a:cs typeface="Microsoft Sans Serif" pitchFamily="34" charset="0"/>
              </a:rPr>
              <a:t>allyl cation</a:t>
            </a:r>
            <a:r>
              <a:rPr lang="en-US" altLang="zh-CN" sz="2000" b="1" dirty="0">
                <a:latin typeface="Microsoft Sans Serif" pitchFamily="34" charset="0"/>
                <a:cs typeface="Microsoft Sans Serif" pitchFamily="34" charset="0"/>
              </a:rPr>
              <a:t>.</a:t>
            </a:r>
            <a:endParaRPr lang="zh-CN" altLang="en-US" sz="2000" b="1" dirty="0">
              <a:latin typeface="Microsoft Sans Serif" pitchFamily="34" charset="0"/>
              <a:cs typeface="Microsoft Sans Serif" pitchFamily="34"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542948737"/>
              </p:ext>
            </p:extLst>
          </p:nvPr>
        </p:nvGraphicFramePr>
        <p:xfrm>
          <a:off x="2855640" y="1628800"/>
          <a:ext cx="4984319" cy="864096"/>
        </p:xfrm>
        <a:graphic>
          <a:graphicData uri="http://schemas.openxmlformats.org/presentationml/2006/ole">
            <mc:AlternateContent xmlns:mc="http://schemas.openxmlformats.org/markup-compatibility/2006">
              <mc:Choice xmlns:v="urn:schemas-microsoft-com:vml" Requires="v">
                <p:oleObj spid="_x0000_s64247" name="CS ChemDraw Drawing" r:id="rId3" imgW="2884651" imgH="499484" progId="ChemDraw.Document.6.0">
                  <p:embed/>
                </p:oleObj>
              </mc:Choice>
              <mc:Fallback>
                <p:oleObj name="CS ChemDraw Drawing" r:id="rId3" imgW="2884651" imgH="499484" progId="ChemDraw.Document.6.0">
                  <p:embed/>
                  <p:pic>
                    <p:nvPicPr>
                      <p:cNvPr id="0" name=""/>
                      <p:cNvPicPr/>
                      <p:nvPr/>
                    </p:nvPicPr>
                    <p:blipFill>
                      <a:blip r:embed="rId4"/>
                      <a:stretch>
                        <a:fillRect/>
                      </a:stretch>
                    </p:blipFill>
                    <p:spPr>
                      <a:xfrm>
                        <a:off x="2855640" y="1628800"/>
                        <a:ext cx="4984319" cy="864096"/>
                      </a:xfrm>
                      <a:prstGeom prst="rect">
                        <a:avLst/>
                      </a:prstGeom>
                    </p:spPr>
                  </p:pic>
                </p:oleObj>
              </mc:Fallback>
            </mc:AlternateContent>
          </a:graphicData>
        </a:graphic>
      </p:graphicFrame>
      <p:sp>
        <p:nvSpPr>
          <p:cNvPr id="5" name="椭圆 4"/>
          <p:cNvSpPr/>
          <p:nvPr/>
        </p:nvSpPr>
        <p:spPr>
          <a:xfrm>
            <a:off x="2783632" y="1700808"/>
            <a:ext cx="1512168" cy="648072"/>
          </a:xfrm>
          <a:prstGeom prst="ellipse">
            <a:avLst/>
          </a:prstGeom>
          <a:noFill/>
          <a:ln>
            <a:solidFill>
              <a:srgbClr val="00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6528048" y="1700808"/>
            <a:ext cx="1512168" cy="648072"/>
          </a:xfrm>
          <a:prstGeom prst="ellipse">
            <a:avLst/>
          </a:prstGeom>
          <a:noFill/>
          <a:ln>
            <a:solidFill>
              <a:srgbClr val="00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flipH="1">
            <a:off x="338144" y="2543077"/>
            <a:ext cx="11509625" cy="707886"/>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All allylic cations are stabilized by resonance with the adjacent double bond(s), which delocalizes the positive charge over two or more carbon atoms.</a:t>
            </a:r>
            <a:endParaRPr lang="zh-CN" altLang="en-US" sz="2000" b="1" dirty="0">
              <a:latin typeface="Microsoft Sans Serif" panose="020B0604020202020204" pitchFamily="34" charset="0"/>
              <a:cs typeface="Microsoft Sans Serif" panose="020B0604020202020204" pitchFamily="34" charset="0"/>
            </a:endParaRPr>
          </a:p>
        </p:txBody>
      </p:sp>
      <p:graphicFrame>
        <p:nvGraphicFramePr>
          <p:cNvPr id="13" name="对象 12"/>
          <p:cNvGraphicFramePr>
            <a:graphicFrameLocks noChangeAspect="1"/>
          </p:cNvGraphicFramePr>
          <p:nvPr>
            <p:extLst>
              <p:ext uri="{D42A27DB-BD31-4B8C-83A1-F6EECF244321}">
                <p14:modId xmlns:p14="http://schemas.microsoft.com/office/powerpoint/2010/main" val="2104439191"/>
              </p:ext>
            </p:extLst>
          </p:nvPr>
        </p:nvGraphicFramePr>
        <p:xfrm>
          <a:off x="372938" y="3558491"/>
          <a:ext cx="5530085" cy="829373"/>
        </p:xfrm>
        <a:graphic>
          <a:graphicData uri="http://schemas.openxmlformats.org/presentationml/2006/ole">
            <mc:AlternateContent xmlns:mc="http://schemas.openxmlformats.org/markup-compatibility/2006">
              <mc:Choice xmlns:v="urn:schemas-microsoft-com:vml" Requires="v">
                <p:oleObj spid="_x0000_s64248" name="CS ChemDraw Drawing" r:id="rId5" imgW="3122572" imgH="468960" progId="ChemDraw.Document.6.0">
                  <p:embed/>
                </p:oleObj>
              </mc:Choice>
              <mc:Fallback>
                <p:oleObj name="CS ChemDraw Drawing" r:id="rId5" imgW="3122572" imgH="468960" progId="ChemDraw.Document.6.0">
                  <p:embed/>
                  <p:pic>
                    <p:nvPicPr>
                      <p:cNvPr id="0" name=""/>
                      <p:cNvPicPr/>
                      <p:nvPr/>
                    </p:nvPicPr>
                    <p:blipFill>
                      <a:blip r:embed="rId6"/>
                      <a:stretch>
                        <a:fillRect/>
                      </a:stretch>
                    </p:blipFill>
                    <p:spPr>
                      <a:xfrm>
                        <a:off x="372938" y="3558491"/>
                        <a:ext cx="5530085" cy="829373"/>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3919417071"/>
              </p:ext>
            </p:extLst>
          </p:nvPr>
        </p:nvGraphicFramePr>
        <p:xfrm>
          <a:off x="6689691" y="3373178"/>
          <a:ext cx="4683032" cy="1045983"/>
        </p:xfrm>
        <a:graphic>
          <a:graphicData uri="http://schemas.openxmlformats.org/presentationml/2006/ole">
            <mc:AlternateContent xmlns:mc="http://schemas.openxmlformats.org/markup-compatibility/2006">
              <mc:Choice xmlns:v="urn:schemas-microsoft-com:vml" Requires="v">
                <p:oleObj spid="_x0000_s64249" name="CS ChemDraw Drawing" r:id="rId7" imgW="2800609" imgH="624752" progId="ChemDraw.Document.6.0">
                  <p:embed/>
                </p:oleObj>
              </mc:Choice>
              <mc:Fallback>
                <p:oleObj name="CS ChemDraw Drawing" r:id="rId7" imgW="2800609" imgH="624752" progId="ChemDraw.Document.6.0">
                  <p:embed/>
                  <p:pic>
                    <p:nvPicPr>
                      <p:cNvPr id="0" name=""/>
                      <p:cNvPicPr/>
                      <p:nvPr/>
                    </p:nvPicPr>
                    <p:blipFill>
                      <a:blip r:embed="rId8"/>
                      <a:stretch>
                        <a:fillRect/>
                      </a:stretch>
                    </p:blipFill>
                    <p:spPr>
                      <a:xfrm>
                        <a:off x="6689691" y="3373178"/>
                        <a:ext cx="4683032" cy="1045983"/>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12846066-2A16-4941-A01F-3CFC1DDF7F3E}"/>
              </a:ext>
            </a:extLst>
          </p:cNvPr>
          <p:cNvGraphicFramePr>
            <a:graphicFrameLocks noChangeAspect="1"/>
          </p:cNvGraphicFramePr>
          <p:nvPr>
            <p:extLst>
              <p:ext uri="{D42A27DB-BD31-4B8C-83A1-F6EECF244321}">
                <p14:modId xmlns:p14="http://schemas.microsoft.com/office/powerpoint/2010/main" val="2521842054"/>
              </p:ext>
            </p:extLst>
          </p:nvPr>
        </p:nvGraphicFramePr>
        <p:xfrm>
          <a:off x="609600" y="5108021"/>
          <a:ext cx="3467534" cy="1464070"/>
        </p:xfrm>
        <a:graphic>
          <a:graphicData uri="http://schemas.openxmlformats.org/presentationml/2006/ole">
            <mc:AlternateContent xmlns:mc="http://schemas.openxmlformats.org/markup-compatibility/2006">
              <mc:Choice xmlns:v="urn:schemas-microsoft-com:vml" Requires="v">
                <p:oleObj spid="_x0000_s64250" name="CS ChemDraw Drawing" r:id="rId9" imgW="1572334" imgH="663997" progId="ChemDraw.Document.6.0">
                  <p:embed/>
                </p:oleObj>
              </mc:Choice>
              <mc:Fallback>
                <p:oleObj name="CS ChemDraw Drawing" r:id="rId9" imgW="1572334" imgH="663997" progId="ChemDraw.Document.6.0">
                  <p:embed/>
                  <p:pic>
                    <p:nvPicPr>
                      <p:cNvPr id="0" name=""/>
                      <p:cNvPicPr/>
                      <p:nvPr/>
                    </p:nvPicPr>
                    <p:blipFill>
                      <a:blip r:embed="rId10"/>
                      <a:stretch>
                        <a:fillRect/>
                      </a:stretch>
                    </p:blipFill>
                    <p:spPr>
                      <a:xfrm>
                        <a:off x="609600" y="5108021"/>
                        <a:ext cx="3467534" cy="1464070"/>
                      </a:xfrm>
                      <a:prstGeom prst="rect">
                        <a:avLst/>
                      </a:prstGeom>
                    </p:spPr>
                  </p:pic>
                </p:oleObj>
              </mc:Fallback>
            </mc:AlternateContent>
          </a:graphicData>
        </a:graphic>
      </p:graphicFrame>
      <p:sp>
        <p:nvSpPr>
          <p:cNvPr id="10" name="文本框 9">
            <a:extLst>
              <a:ext uri="{FF2B5EF4-FFF2-40B4-BE49-F238E27FC236}">
                <a16:creationId xmlns:a16="http://schemas.microsoft.com/office/drawing/2014/main" id="{26227ED9-2B1D-4899-A270-BBFC900690A8}"/>
              </a:ext>
            </a:extLst>
          </p:cNvPr>
          <p:cNvSpPr txBox="1"/>
          <p:nvPr/>
        </p:nvSpPr>
        <p:spPr>
          <a:xfrm>
            <a:off x="119336" y="4262216"/>
            <a:ext cx="3102131" cy="400110"/>
          </a:xfrm>
          <a:prstGeom prst="rect">
            <a:avLst/>
          </a:prstGeom>
          <a:noFill/>
        </p:spPr>
        <p:txBody>
          <a:bodyPr wrap="none" rtlCol="0">
            <a:spAutoFit/>
          </a:bodyPr>
          <a:lstStyle/>
          <a:p>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the major resonance form</a:t>
            </a:r>
            <a:endParaRPr lang="zh-CN" altLang="en-US" sz="2000" b="1" dirty="0">
              <a:solidFill>
                <a:srgbClr val="0000FF"/>
              </a:solidFill>
              <a:latin typeface="Microsoft Sans Serif" panose="020B0604020202020204" pitchFamily="34" charset="0"/>
              <a:cs typeface="Microsoft Sans Serif" panose="020B0604020202020204" pitchFamily="34" charset="0"/>
            </a:endParaRPr>
          </a:p>
        </p:txBody>
      </p:sp>
      <p:sp>
        <p:nvSpPr>
          <p:cNvPr id="24" name="文本框 23">
            <a:extLst>
              <a:ext uri="{FF2B5EF4-FFF2-40B4-BE49-F238E27FC236}">
                <a16:creationId xmlns:a16="http://schemas.microsoft.com/office/drawing/2014/main" id="{03774FC1-4206-4ECE-8B07-2C46331FD3C7}"/>
              </a:ext>
            </a:extLst>
          </p:cNvPr>
          <p:cNvSpPr txBox="1"/>
          <p:nvPr/>
        </p:nvSpPr>
        <p:spPr>
          <a:xfrm>
            <a:off x="8930307" y="4262216"/>
            <a:ext cx="3102131" cy="400110"/>
          </a:xfrm>
          <a:prstGeom prst="rect">
            <a:avLst/>
          </a:prstGeom>
          <a:noFill/>
        </p:spPr>
        <p:txBody>
          <a:bodyPr wrap="none" rtlCol="0">
            <a:spAutoFit/>
          </a:bodyPr>
          <a:lstStyle/>
          <a:p>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the major resonance form</a:t>
            </a:r>
            <a:endParaRPr lang="zh-CN" altLang="en-US" sz="2000" b="1" dirty="0">
              <a:solidFill>
                <a:srgbClr val="0000FF"/>
              </a:solidFill>
              <a:latin typeface="Microsoft Sans Serif" panose="020B0604020202020204" pitchFamily="34" charset="0"/>
              <a:cs typeface="Microsoft Sans Serif" panose="020B0604020202020204" pitchFamily="34" charset="0"/>
            </a:endParaRPr>
          </a:p>
        </p:txBody>
      </p:sp>
      <p:graphicFrame>
        <p:nvGraphicFramePr>
          <p:cNvPr id="11" name="对象 10">
            <a:extLst>
              <a:ext uri="{FF2B5EF4-FFF2-40B4-BE49-F238E27FC236}">
                <a16:creationId xmlns:a16="http://schemas.microsoft.com/office/drawing/2014/main" id="{F73513C7-BD8A-4095-82BE-97DC213675C4}"/>
              </a:ext>
            </a:extLst>
          </p:cNvPr>
          <p:cNvGraphicFramePr>
            <a:graphicFrameLocks noChangeAspect="1"/>
          </p:cNvGraphicFramePr>
          <p:nvPr>
            <p:extLst>
              <p:ext uri="{D42A27DB-BD31-4B8C-83A1-F6EECF244321}">
                <p14:modId xmlns:p14="http://schemas.microsoft.com/office/powerpoint/2010/main" val="696589898"/>
              </p:ext>
            </p:extLst>
          </p:nvPr>
        </p:nvGraphicFramePr>
        <p:xfrm>
          <a:off x="5055586" y="4997919"/>
          <a:ext cx="5559838" cy="1559283"/>
        </p:xfrm>
        <a:graphic>
          <a:graphicData uri="http://schemas.openxmlformats.org/presentationml/2006/ole">
            <mc:AlternateContent xmlns:mc="http://schemas.openxmlformats.org/markup-compatibility/2006">
              <mc:Choice xmlns:v="urn:schemas-microsoft-com:vml" Requires="v">
                <p:oleObj spid="_x0000_s64251" name="CS ChemDraw Drawing" r:id="rId11" imgW="2931998" imgH="822564" progId="ChemDraw.Document.6.0">
                  <p:embed/>
                </p:oleObj>
              </mc:Choice>
              <mc:Fallback>
                <p:oleObj name="CS ChemDraw Drawing" r:id="rId11" imgW="2931998" imgH="822564" progId="ChemDraw.Document.6.0">
                  <p:embed/>
                  <p:pic>
                    <p:nvPicPr>
                      <p:cNvPr id="0" name=""/>
                      <p:cNvPicPr/>
                      <p:nvPr/>
                    </p:nvPicPr>
                    <p:blipFill>
                      <a:blip r:embed="rId12"/>
                      <a:stretch>
                        <a:fillRect/>
                      </a:stretch>
                    </p:blipFill>
                    <p:spPr>
                      <a:xfrm>
                        <a:off x="5055586" y="4997919"/>
                        <a:ext cx="5559838" cy="1559283"/>
                      </a:xfrm>
                      <a:prstGeom prst="rect">
                        <a:avLst/>
                      </a:prstGeom>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8</a:t>
            </a:fld>
            <a:endParaRPr lang="zh-CN" altLang="en-US"/>
          </a:p>
        </p:txBody>
      </p:sp>
      <p:sp>
        <p:nvSpPr>
          <p:cNvPr id="6" name="TextBox 9"/>
          <p:cNvSpPr txBox="1"/>
          <p:nvPr/>
        </p:nvSpPr>
        <p:spPr>
          <a:xfrm>
            <a:off x="407368" y="421815"/>
            <a:ext cx="10657184" cy="707886"/>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highlight>
                  <a:srgbClr val="FFFF00"/>
                </a:highlight>
                <a:latin typeface="Microsoft Sans Serif" pitchFamily="34" charset="0"/>
                <a:cs typeface="Microsoft Sans Serif" pitchFamily="34" charset="0"/>
              </a:rPr>
              <a:t>Allylic cations </a:t>
            </a:r>
            <a:r>
              <a:rPr lang="en-US" altLang="zh-CN" sz="2000" b="1" dirty="0">
                <a:latin typeface="Microsoft Sans Serif" pitchFamily="34" charset="0"/>
                <a:cs typeface="Microsoft Sans Serif" pitchFamily="34" charset="0"/>
              </a:rPr>
              <a:t>generally are about </a:t>
            </a:r>
            <a:r>
              <a:rPr lang="en-US" altLang="zh-CN" sz="2000" b="1" dirty="0">
                <a:highlight>
                  <a:srgbClr val="00FFFF"/>
                </a:highlight>
                <a:latin typeface="Microsoft Sans Serif" pitchFamily="34" charset="0"/>
                <a:cs typeface="Microsoft Sans Serif" pitchFamily="34" charset="0"/>
              </a:rPr>
              <a:t>as stable as or more stable than simple 3</a:t>
            </a:r>
            <a:r>
              <a:rPr lang="en-US" altLang="zh-CN" sz="2000" b="1" dirty="0">
                <a:highlight>
                  <a:srgbClr val="00FFFF"/>
                </a:highlight>
                <a:latin typeface="Microsoft Sans Serif" pitchFamily="34" charset="0"/>
                <a:cs typeface="Microsoft Sans Serif" pitchFamily="34" charset="0"/>
                <a:sym typeface="Symbol"/>
              </a:rPr>
              <a:t></a:t>
            </a:r>
            <a:r>
              <a:rPr lang="en-US" altLang="zh-CN" sz="2000" b="1" dirty="0">
                <a:highlight>
                  <a:srgbClr val="00FFFF"/>
                </a:highlight>
                <a:latin typeface="Microsoft Sans Serif" pitchFamily="34" charset="0"/>
                <a:cs typeface="Microsoft Sans Serif" pitchFamily="34" charset="0"/>
              </a:rPr>
              <a:t> alkyl carbocations</a:t>
            </a:r>
            <a:r>
              <a:rPr lang="en-US" altLang="zh-CN" sz="2000" b="1" dirty="0">
                <a:latin typeface="Microsoft Sans Serif" pitchFamily="34" charset="0"/>
                <a:cs typeface="Microsoft Sans Serif" pitchFamily="34" charset="0"/>
              </a:rPr>
              <a:t>.</a:t>
            </a:r>
            <a:endParaRPr lang="zh-CN" altLang="en-US" sz="2000" b="1" dirty="0">
              <a:latin typeface="Microsoft Sans Serif" pitchFamily="34" charset="0"/>
              <a:cs typeface="Microsoft Sans Serif" pitchFamily="34"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312374964"/>
              </p:ext>
            </p:extLst>
          </p:nvPr>
        </p:nvGraphicFramePr>
        <p:xfrm>
          <a:off x="839416" y="1844824"/>
          <a:ext cx="10073708" cy="3456384"/>
        </p:xfrm>
        <a:graphic>
          <a:graphicData uri="http://schemas.openxmlformats.org/presentationml/2006/ole">
            <mc:AlternateContent xmlns:mc="http://schemas.openxmlformats.org/markup-compatibility/2006">
              <mc:Choice xmlns:v="urn:schemas-microsoft-com:vml" Requires="v">
                <p:oleObj spid="_x0000_s64817" name="CS ChemDraw Drawing" r:id="rId3" imgW="5033442" imgH="1727978" progId="ChemDraw.Document.6.0">
                  <p:embed/>
                </p:oleObj>
              </mc:Choice>
              <mc:Fallback>
                <p:oleObj name="CS ChemDraw Drawing" r:id="rId3" imgW="5033442" imgH="1727978" progId="ChemDraw.Document.6.0">
                  <p:embed/>
                  <p:pic>
                    <p:nvPicPr>
                      <p:cNvPr id="0" name=""/>
                      <p:cNvPicPr/>
                      <p:nvPr/>
                    </p:nvPicPr>
                    <p:blipFill>
                      <a:blip r:embed="rId4"/>
                      <a:stretch>
                        <a:fillRect/>
                      </a:stretch>
                    </p:blipFill>
                    <p:spPr>
                      <a:xfrm>
                        <a:off x="839416" y="1844824"/>
                        <a:ext cx="10073708" cy="3456384"/>
                      </a:xfrm>
                      <a:prstGeom prst="rect">
                        <a:avLst/>
                      </a:prstGeom>
                    </p:spPr>
                  </p:pic>
                </p:oleObj>
              </mc:Fallback>
            </mc:AlternateContent>
          </a:graphicData>
        </a:graphic>
      </p:graphicFrame>
      <p:sp>
        <p:nvSpPr>
          <p:cNvPr id="5" name="文本框 4"/>
          <p:cNvSpPr txBox="1"/>
          <p:nvPr/>
        </p:nvSpPr>
        <p:spPr>
          <a:xfrm>
            <a:off x="4583832" y="5733256"/>
            <a:ext cx="3711272" cy="400110"/>
          </a:xfrm>
          <a:prstGeom prst="rect">
            <a:avLst/>
          </a:prstGeom>
          <a:noFill/>
        </p:spPr>
        <p:txBody>
          <a:bodyPr wrap="none" rtlCol="0">
            <a:spAutoFit/>
          </a:bodyPr>
          <a:lstStyle/>
          <a:p>
            <a:r>
              <a:rPr lang="en-US" altLang="zh-CN" sz="2000" b="1" dirty="0">
                <a:solidFill>
                  <a:srgbClr val="FF0000"/>
                </a:solidFill>
                <a:latin typeface="Consolas" panose="020B0609020204030204" pitchFamily="49" charset="0"/>
              </a:rPr>
              <a:t>Stability of carbocations</a:t>
            </a:r>
            <a:endParaRPr lang="zh-CN" altLang="en-US" sz="2000" b="1" dirty="0">
              <a:solidFill>
                <a:srgbClr val="FF0000"/>
              </a:solidFill>
              <a:latin typeface="Consolas" panose="020B0609020204030204" pitchFamily="49"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云形标注 6"/>
          <p:cNvSpPr/>
          <p:nvPr/>
        </p:nvSpPr>
        <p:spPr>
          <a:xfrm>
            <a:off x="7680176" y="1952480"/>
            <a:ext cx="1980728" cy="720080"/>
          </a:xfrm>
          <a:prstGeom prst="cloudCallout">
            <a:avLst>
              <a:gd name="adj1" fmla="val -64071"/>
              <a:gd name="adj2" fmla="val -5206"/>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9</a:t>
            </a:fld>
            <a:endParaRPr lang="zh-CN" altLang="en-US"/>
          </a:p>
        </p:txBody>
      </p:sp>
      <p:sp>
        <p:nvSpPr>
          <p:cNvPr id="3" name="TextBox 2"/>
          <p:cNvSpPr txBox="1"/>
          <p:nvPr/>
        </p:nvSpPr>
        <p:spPr>
          <a:xfrm>
            <a:off x="0" y="236342"/>
            <a:ext cx="7032104" cy="461665"/>
          </a:xfrm>
          <a:prstGeom prst="rect">
            <a:avLst/>
          </a:prstGeom>
          <a:solidFill>
            <a:schemeClr val="tx2">
              <a:lumMod val="20000"/>
              <a:lumOff val="80000"/>
            </a:schemeClr>
          </a:solidFill>
        </p:spPr>
        <p:txBody>
          <a:bodyPr wrap="square" rtlCol="0">
            <a:spAutoFit/>
          </a:bodyPr>
          <a:lstStyle/>
          <a:p>
            <a:r>
              <a:rPr lang="en-US" altLang="zh-CN" sz="2400" b="1" dirty="0">
                <a:latin typeface="Microsoft Sans Serif" pitchFamily="34" charset="0"/>
                <a:cs typeface="Microsoft Sans Serif" pitchFamily="34" charset="0"/>
              </a:rPr>
              <a:t>5-5  1,2- and 1,4-Addition to Conjugated Dienes</a:t>
            </a:r>
            <a:endParaRPr lang="zh-CN" altLang="en-US" sz="2400" b="1" dirty="0">
              <a:latin typeface="Microsoft Sans Serif" pitchFamily="34" charset="0"/>
              <a:cs typeface="Microsoft Sans Serif" pitchFamily="34" charset="0"/>
            </a:endParaRPr>
          </a:p>
        </p:txBody>
      </p:sp>
      <p:sp>
        <p:nvSpPr>
          <p:cNvPr id="4" name="TextBox 3"/>
          <p:cNvSpPr txBox="1"/>
          <p:nvPr/>
        </p:nvSpPr>
        <p:spPr>
          <a:xfrm>
            <a:off x="310504" y="4044838"/>
            <a:ext cx="11474127" cy="707886"/>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highlight>
                  <a:srgbClr val="FFFF00"/>
                </a:highlight>
                <a:latin typeface="Microsoft Sans Serif" pitchFamily="34" charset="0"/>
                <a:cs typeface="Microsoft Sans Serif" pitchFamily="34" charset="0"/>
              </a:rPr>
              <a:t>Electrophilic additions to conjugated dienes </a:t>
            </a:r>
            <a:r>
              <a:rPr lang="en-US" altLang="zh-CN" sz="2000" b="1" dirty="0">
                <a:latin typeface="Microsoft Sans Serif" pitchFamily="34" charset="0"/>
                <a:cs typeface="Microsoft Sans Serif" pitchFamily="34" charset="0"/>
              </a:rPr>
              <a:t>usually </a:t>
            </a:r>
            <a:r>
              <a:rPr lang="en-US" altLang="zh-CN" sz="2000" b="1" dirty="0">
                <a:highlight>
                  <a:srgbClr val="00FFFF"/>
                </a:highlight>
                <a:latin typeface="Microsoft Sans Serif" pitchFamily="34" charset="0"/>
                <a:cs typeface="Microsoft Sans Serif" pitchFamily="34" charset="0"/>
              </a:rPr>
              <a:t>involve allylic cations as intermediates</a:t>
            </a:r>
            <a:r>
              <a:rPr lang="en-US" altLang="zh-CN" sz="2000" b="1" dirty="0">
                <a:latin typeface="Microsoft Sans Serif" pitchFamily="34" charset="0"/>
                <a:cs typeface="Microsoft Sans Serif" pitchFamily="34" charset="0"/>
              </a:rPr>
              <a:t>, giving two products.</a:t>
            </a:r>
          </a:p>
        </p:txBody>
      </p:sp>
      <p:graphicFrame>
        <p:nvGraphicFramePr>
          <p:cNvPr id="5" name="对象 4"/>
          <p:cNvGraphicFramePr>
            <a:graphicFrameLocks noChangeAspect="1"/>
          </p:cNvGraphicFramePr>
          <p:nvPr>
            <p:extLst>
              <p:ext uri="{D42A27DB-BD31-4B8C-83A1-F6EECF244321}">
                <p14:modId xmlns:p14="http://schemas.microsoft.com/office/powerpoint/2010/main" val="3193739352"/>
              </p:ext>
            </p:extLst>
          </p:nvPr>
        </p:nvGraphicFramePr>
        <p:xfrm>
          <a:off x="2660387" y="1331187"/>
          <a:ext cx="5453963" cy="1085979"/>
        </p:xfrm>
        <a:graphic>
          <a:graphicData uri="http://schemas.openxmlformats.org/presentationml/2006/ole">
            <mc:AlternateContent xmlns:mc="http://schemas.openxmlformats.org/markup-compatibility/2006">
              <mc:Choice xmlns:v="urn:schemas-microsoft-com:vml" Requires="v">
                <p:oleObj spid="_x0000_s22153" name="CS ChemDraw Drawing" r:id="rId3" imgW="2878732" imgH="572821" progId="ChemDraw.Document.6.0">
                  <p:embed/>
                </p:oleObj>
              </mc:Choice>
              <mc:Fallback>
                <p:oleObj name="CS ChemDraw Drawing" r:id="rId3" imgW="2878732" imgH="572821" progId="ChemDraw.Document.6.0">
                  <p:embed/>
                  <p:pic>
                    <p:nvPicPr>
                      <p:cNvPr id="0" name=""/>
                      <p:cNvPicPr/>
                      <p:nvPr/>
                    </p:nvPicPr>
                    <p:blipFill>
                      <a:blip r:embed="rId4"/>
                      <a:stretch>
                        <a:fillRect/>
                      </a:stretch>
                    </p:blipFill>
                    <p:spPr>
                      <a:xfrm>
                        <a:off x="2660387" y="1331187"/>
                        <a:ext cx="5453963" cy="1085979"/>
                      </a:xfrm>
                      <a:prstGeom prst="rect">
                        <a:avLst/>
                      </a:prstGeom>
                    </p:spPr>
                  </p:pic>
                </p:oleObj>
              </mc:Fallback>
            </mc:AlternateContent>
          </a:graphicData>
        </a:graphic>
      </p:graphicFrame>
      <p:sp>
        <p:nvSpPr>
          <p:cNvPr id="8" name="文本框 7"/>
          <p:cNvSpPr txBox="1"/>
          <p:nvPr/>
        </p:nvSpPr>
        <p:spPr>
          <a:xfrm>
            <a:off x="310505" y="796642"/>
            <a:ext cx="9616735" cy="400110"/>
          </a:xfrm>
          <a:prstGeom prst="rect">
            <a:avLst/>
          </a:prstGeom>
          <a:noFill/>
        </p:spPr>
        <p:txBody>
          <a:bodyPr wrap="none" rtlCol="0">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Electrophilic addition of HX to an alkene involves the formation of a carbocation. </a:t>
            </a:r>
            <a:endParaRPr lang="zh-CN" altLang="en-US" sz="2000" b="1" dirty="0">
              <a:latin typeface="Microsoft Sans Serif" panose="020B0604020202020204" pitchFamily="34" charset="0"/>
              <a:cs typeface="Microsoft Sans Serif" panose="020B0604020202020204" pitchFamily="34" charset="0"/>
            </a:endParaRPr>
          </a:p>
        </p:txBody>
      </p:sp>
      <p:graphicFrame>
        <p:nvGraphicFramePr>
          <p:cNvPr id="11" name="对象 10"/>
          <p:cNvGraphicFramePr>
            <a:graphicFrameLocks noChangeAspect="1"/>
          </p:cNvGraphicFramePr>
          <p:nvPr>
            <p:extLst>
              <p:ext uri="{D42A27DB-BD31-4B8C-83A1-F6EECF244321}">
                <p14:modId xmlns:p14="http://schemas.microsoft.com/office/powerpoint/2010/main" val="4145886290"/>
              </p:ext>
            </p:extLst>
          </p:nvPr>
        </p:nvGraphicFramePr>
        <p:xfrm>
          <a:off x="767408" y="4697391"/>
          <a:ext cx="10081120" cy="1794017"/>
        </p:xfrm>
        <a:graphic>
          <a:graphicData uri="http://schemas.openxmlformats.org/presentationml/2006/ole">
            <mc:AlternateContent xmlns:mc="http://schemas.openxmlformats.org/markup-compatibility/2006">
              <mc:Choice xmlns:v="urn:schemas-microsoft-com:vml" Requires="v">
                <p:oleObj spid="_x0000_s22154" name="CS ChemDraw Drawing" r:id="rId5" imgW="5085524" imgH="905018" progId="ChemDraw.Document.6.0">
                  <p:embed/>
                </p:oleObj>
              </mc:Choice>
              <mc:Fallback>
                <p:oleObj name="CS ChemDraw Drawing" r:id="rId5" imgW="5085524" imgH="905018" progId="ChemDraw.Document.6.0">
                  <p:embed/>
                  <p:pic>
                    <p:nvPicPr>
                      <p:cNvPr id="0" name=""/>
                      <p:cNvPicPr/>
                      <p:nvPr/>
                    </p:nvPicPr>
                    <p:blipFill>
                      <a:blip r:embed="rId6"/>
                      <a:stretch>
                        <a:fillRect/>
                      </a:stretch>
                    </p:blipFill>
                    <p:spPr>
                      <a:xfrm>
                        <a:off x="767408" y="4697391"/>
                        <a:ext cx="10081120" cy="1794017"/>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20369212-2B6A-419D-9018-3053B663A2AC}"/>
              </a:ext>
            </a:extLst>
          </p:cNvPr>
          <p:cNvGraphicFramePr>
            <a:graphicFrameLocks noChangeAspect="1"/>
          </p:cNvGraphicFramePr>
          <p:nvPr>
            <p:extLst>
              <p:ext uri="{D42A27DB-BD31-4B8C-83A1-F6EECF244321}">
                <p14:modId xmlns:p14="http://schemas.microsoft.com/office/powerpoint/2010/main" val="135729305"/>
              </p:ext>
            </p:extLst>
          </p:nvPr>
        </p:nvGraphicFramePr>
        <p:xfrm>
          <a:off x="2177703" y="2793316"/>
          <a:ext cx="6419329" cy="1204748"/>
        </p:xfrm>
        <a:graphic>
          <a:graphicData uri="http://schemas.openxmlformats.org/presentationml/2006/ole">
            <mc:AlternateContent xmlns:mc="http://schemas.openxmlformats.org/markup-compatibility/2006">
              <mc:Choice xmlns:v="urn:schemas-microsoft-com:vml" Requires="v">
                <p:oleObj spid="_x0000_s22155" name="CS ChemDraw Drawing" r:id="rId7" imgW="3399950" imgH="638230" progId="ChemDraw.Document.6.0">
                  <p:embed/>
                </p:oleObj>
              </mc:Choice>
              <mc:Fallback>
                <p:oleObj name="CS ChemDraw Drawing" r:id="rId7" imgW="3399950" imgH="638230" progId="ChemDraw.Document.6.0">
                  <p:embed/>
                  <p:pic>
                    <p:nvPicPr>
                      <p:cNvPr id="0" name=""/>
                      <p:cNvPicPr/>
                      <p:nvPr/>
                    </p:nvPicPr>
                    <p:blipFill>
                      <a:blip r:embed="rId8"/>
                      <a:stretch>
                        <a:fillRect/>
                      </a:stretch>
                    </p:blipFill>
                    <p:spPr>
                      <a:xfrm>
                        <a:off x="2177703" y="2793316"/>
                        <a:ext cx="6419329" cy="1204748"/>
                      </a:xfrm>
                      <a:prstGeom prst="rect">
                        <a:avLst/>
                      </a:prstGeom>
                    </p:spPr>
                  </p:pic>
                </p:oleObj>
              </mc:Fallback>
            </mc:AlternateContent>
          </a:graphicData>
        </a:graphic>
      </p:graphicFrame>
      <p:sp>
        <p:nvSpPr>
          <p:cNvPr id="15" name="文本框 14">
            <a:extLst>
              <a:ext uri="{FF2B5EF4-FFF2-40B4-BE49-F238E27FC236}">
                <a16:creationId xmlns:a16="http://schemas.microsoft.com/office/drawing/2014/main" id="{B1BEB877-A49D-493A-ABF6-62640CA54B82}"/>
              </a:ext>
            </a:extLst>
          </p:cNvPr>
          <p:cNvSpPr txBox="1"/>
          <p:nvPr/>
        </p:nvSpPr>
        <p:spPr>
          <a:xfrm>
            <a:off x="5990365" y="2309711"/>
            <a:ext cx="2550698" cy="400110"/>
          </a:xfrm>
          <a:prstGeom prst="rect">
            <a:avLst/>
          </a:prstGeom>
          <a:noFill/>
        </p:spPr>
        <p:txBody>
          <a:bodyPr wrap="none" rtlCol="0">
            <a:spAutoFit/>
          </a:bodyPr>
          <a:lstStyle/>
          <a:p>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Markovnikov product</a:t>
            </a:r>
            <a:endParaRPr lang="zh-CN" altLang="en-US" sz="2000" b="1" dirty="0">
              <a:latin typeface="Microsoft Sans Serif" panose="020B0604020202020204" pitchFamily="34" charset="0"/>
              <a:cs typeface="Microsoft Sans Serif"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7968208" y="6492876"/>
            <a:ext cx="2133600" cy="365125"/>
          </a:xfrm>
        </p:spPr>
        <p:txBody>
          <a:bodyPr/>
          <a:lstStyle/>
          <a:p>
            <a:fld id="{0C913308-F349-4B6D-A68A-DD1791B4A57B}" type="slidenum">
              <a:rPr lang="zh-CN" altLang="en-US" smtClean="0"/>
              <a:pPr/>
              <a:t>10</a:t>
            </a:fld>
            <a:endParaRPr lang="zh-CN" altLang="en-US"/>
          </a:p>
        </p:txBody>
      </p:sp>
      <p:sp>
        <p:nvSpPr>
          <p:cNvPr id="4" name="TextBox 3"/>
          <p:cNvSpPr txBox="1"/>
          <p:nvPr/>
        </p:nvSpPr>
        <p:spPr>
          <a:xfrm>
            <a:off x="268520" y="171578"/>
            <a:ext cx="1851789" cy="400110"/>
          </a:xfrm>
          <a:prstGeom prst="rect">
            <a:avLst/>
          </a:prstGeom>
          <a:noFill/>
        </p:spPr>
        <p:txBody>
          <a:bodyPr wrap="none" rtlCol="0">
            <a:spAutoFit/>
          </a:bodyPr>
          <a:lstStyle/>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Mechanism</a:t>
            </a:r>
            <a:endParaRPr lang="zh-CN" altLang="en-US" sz="2000" b="1" dirty="0">
              <a:latin typeface="Microsoft Sans Serif" panose="020B0604020202020204" pitchFamily="34" charset="0"/>
              <a:cs typeface="Microsoft Sans Serif" panose="020B0604020202020204" pitchFamily="34" charset="0"/>
            </a:endParaRPr>
          </a:p>
        </p:txBody>
      </p:sp>
      <p:sp>
        <p:nvSpPr>
          <p:cNvPr id="6" name="TextBox 5"/>
          <p:cNvSpPr txBox="1"/>
          <p:nvPr/>
        </p:nvSpPr>
        <p:spPr>
          <a:xfrm>
            <a:off x="317392" y="700585"/>
            <a:ext cx="11467240" cy="1015663"/>
          </a:xfrm>
          <a:prstGeom prst="rect">
            <a:avLst/>
          </a:prstGeom>
          <a:noFill/>
        </p:spPr>
        <p:txBody>
          <a:bodyPr wrap="square" rtlCol="0">
            <a:spAutoFit/>
          </a:bodyPr>
          <a:lstStyle/>
          <a:p>
            <a:r>
              <a:rPr lang="en-US" altLang="zh-CN" sz="2000" b="1" i="1" u="sng" dirty="0">
                <a:highlight>
                  <a:srgbClr val="00FFFF"/>
                </a:highlight>
                <a:latin typeface="Microsoft Sans Serif" pitchFamily="34" charset="0"/>
                <a:cs typeface="Microsoft Sans Serif" pitchFamily="34" charset="0"/>
              </a:rPr>
              <a:t>Step 1</a:t>
            </a:r>
            <a:r>
              <a:rPr lang="en-US" altLang="zh-CN" sz="2000" b="1" u="sng" dirty="0">
                <a:highlight>
                  <a:srgbClr val="00FFFF"/>
                </a:highlight>
                <a:latin typeface="Microsoft Sans Serif" pitchFamily="34" charset="0"/>
                <a:cs typeface="Microsoft Sans Serif" pitchFamily="34" charset="0"/>
              </a:rPr>
              <a:t>.</a:t>
            </a:r>
            <a:r>
              <a:rPr lang="en-US" altLang="zh-CN" sz="2000" b="1" dirty="0">
                <a:highlight>
                  <a:srgbClr val="00FFFF"/>
                </a:highlight>
                <a:latin typeface="Microsoft Sans Serif" pitchFamily="34" charset="0"/>
                <a:cs typeface="Microsoft Sans Serif" pitchFamily="34" charset="0"/>
              </a:rPr>
              <a:t> </a:t>
            </a:r>
            <a:r>
              <a:rPr lang="en-US" altLang="zh-CN" sz="2000" b="1" dirty="0">
                <a:solidFill>
                  <a:srgbClr val="0000FF"/>
                </a:solidFill>
                <a:latin typeface="Microsoft Sans Serif" pitchFamily="34" charset="0"/>
                <a:cs typeface="Microsoft Sans Serif" pitchFamily="34" charset="0"/>
              </a:rPr>
              <a:t>Protonation </a:t>
            </a:r>
            <a:r>
              <a:rPr lang="en-US" altLang="zh-CN" sz="2000" b="1" dirty="0">
                <a:latin typeface="Microsoft Sans Serif" pitchFamily="34" charset="0"/>
                <a:cs typeface="Microsoft Sans Serif" pitchFamily="34" charset="0"/>
              </a:rPr>
              <a:t>of one of the double bonds forms a </a:t>
            </a:r>
            <a:r>
              <a:rPr lang="en-US" altLang="zh-CN" sz="2000" b="1" dirty="0">
                <a:solidFill>
                  <a:srgbClr val="0000FF"/>
                </a:solidFill>
                <a:latin typeface="Microsoft Sans Serif" pitchFamily="34" charset="0"/>
                <a:cs typeface="Microsoft Sans Serif" pitchFamily="34" charset="0"/>
              </a:rPr>
              <a:t>resonance-stabilized  </a:t>
            </a:r>
            <a:r>
              <a:rPr lang="en-US" altLang="zh-CN" sz="2000" b="1" dirty="0">
                <a:solidFill>
                  <a:srgbClr val="FF0000"/>
                </a:solidFill>
                <a:latin typeface="Microsoft Sans Serif" pitchFamily="34" charset="0"/>
                <a:cs typeface="Microsoft Sans Serif" pitchFamily="34" charset="0"/>
              </a:rPr>
              <a:t>allylic cation</a:t>
            </a:r>
            <a:r>
              <a:rPr lang="en-US" altLang="zh-CN" sz="2000" b="1" dirty="0">
                <a:latin typeface="Microsoft Sans Serif" pitchFamily="34" charset="0"/>
                <a:cs typeface="Microsoft Sans Serif" pitchFamily="34" charset="0"/>
              </a:rPr>
              <a:t>.</a:t>
            </a:r>
          </a:p>
          <a:p>
            <a:r>
              <a:rPr lang="en-US" altLang="zh-CN" sz="2000" b="1" dirty="0">
                <a:latin typeface="Microsoft Sans Serif" pitchFamily="34" charset="0"/>
                <a:cs typeface="Microsoft Sans Serif" pitchFamily="34" charset="0"/>
              </a:rPr>
              <a:t>In the allylic cation, the positive charge is delocalized (spread) over two carbons (C2 and C4). Therefore, each of these two carbons possesses a  partial positive charge and is electrophilic.</a:t>
            </a:r>
            <a:endParaRPr lang="zh-CN" altLang="en-US" sz="2000" b="1" dirty="0">
              <a:latin typeface="Microsoft Sans Serif" pitchFamily="34" charset="0"/>
              <a:cs typeface="Microsoft Sans Serif" pitchFamily="34" charset="0"/>
            </a:endParaRPr>
          </a:p>
        </p:txBody>
      </p:sp>
      <p:sp>
        <p:nvSpPr>
          <p:cNvPr id="17" name="TextBox 16"/>
          <p:cNvSpPr txBox="1"/>
          <p:nvPr/>
        </p:nvSpPr>
        <p:spPr>
          <a:xfrm>
            <a:off x="268520" y="3579385"/>
            <a:ext cx="11404874" cy="707886"/>
          </a:xfrm>
          <a:prstGeom prst="rect">
            <a:avLst/>
          </a:prstGeom>
          <a:noFill/>
        </p:spPr>
        <p:txBody>
          <a:bodyPr wrap="square" rtlCol="0">
            <a:spAutoFit/>
          </a:bodyPr>
          <a:lstStyle/>
          <a:p>
            <a:r>
              <a:rPr lang="en-US" altLang="zh-CN" sz="2000" b="1" i="1" u="sng" dirty="0">
                <a:highlight>
                  <a:srgbClr val="00FFFF"/>
                </a:highlight>
                <a:latin typeface="Microsoft Sans Serif" pitchFamily="34" charset="0"/>
                <a:cs typeface="Microsoft Sans Serif" pitchFamily="34" charset="0"/>
              </a:rPr>
              <a:t>Step 2.</a:t>
            </a:r>
            <a:r>
              <a:rPr lang="en-US" altLang="zh-CN" sz="2000" b="1" i="1" dirty="0">
                <a:highlight>
                  <a:srgbClr val="00FFFF"/>
                </a:highlight>
                <a:latin typeface="Microsoft Sans Serif" pitchFamily="34" charset="0"/>
                <a:cs typeface="Microsoft Sans Serif" pitchFamily="34" charset="0"/>
              </a:rPr>
              <a:t> </a:t>
            </a:r>
            <a:r>
              <a:rPr lang="en-US" altLang="zh-CN" sz="2000" b="1" dirty="0">
                <a:latin typeface="Microsoft Sans Serif" pitchFamily="34" charset="0"/>
                <a:cs typeface="Microsoft Sans Serif" pitchFamily="34" charset="0"/>
              </a:rPr>
              <a:t>A nucleophile (Br</a:t>
            </a:r>
            <a:r>
              <a:rPr lang="en-US" altLang="zh-CN" sz="2000" b="1" baseline="30000" dirty="0">
                <a:latin typeface="Microsoft Sans Serif" pitchFamily="34" charset="0"/>
                <a:cs typeface="Microsoft Sans Serif" pitchFamily="34" charset="0"/>
              </a:rPr>
              <a:t>-</a:t>
            </a:r>
            <a:r>
              <a:rPr lang="en-US" altLang="zh-CN" sz="2000" b="1" dirty="0">
                <a:latin typeface="Microsoft Sans Serif" pitchFamily="34" charset="0"/>
                <a:cs typeface="Microsoft Sans Serif" pitchFamily="34" charset="0"/>
              </a:rPr>
              <a:t>) attacks at either electrophilic carbon atom to form the 1,2- and 1,4-addition products.</a:t>
            </a:r>
            <a:endParaRPr lang="zh-CN" altLang="en-US" sz="2000" b="1" dirty="0">
              <a:latin typeface="Microsoft Sans Serif" pitchFamily="34" charset="0"/>
              <a:cs typeface="Microsoft Sans Serif" pitchFamily="34" charset="0"/>
            </a:endParaRPr>
          </a:p>
        </p:txBody>
      </p:sp>
      <p:sp>
        <p:nvSpPr>
          <p:cNvPr id="15" name="TextBox 14"/>
          <p:cNvSpPr txBox="1"/>
          <p:nvPr/>
        </p:nvSpPr>
        <p:spPr>
          <a:xfrm>
            <a:off x="135161" y="6160325"/>
            <a:ext cx="11671592" cy="400110"/>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The ratio of the 1,2- versus 1,4-addition can be controlled by changing reaction temperature.</a:t>
            </a:r>
            <a:endParaRPr lang="zh-CN" altLang="en-US" sz="2000" b="1" dirty="0">
              <a:latin typeface="Microsoft Sans Serif" panose="020B0604020202020204" pitchFamily="34" charset="0"/>
              <a:ea typeface="Arial Unicode MS" pitchFamily="34" charset="-122"/>
              <a:cs typeface="Microsoft Sans Serif" panose="020B0604020202020204" pitchFamily="34"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496812586"/>
              </p:ext>
            </p:extLst>
          </p:nvPr>
        </p:nvGraphicFramePr>
        <p:xfrm>
          <a:off x="1317602" y="1716088"/>
          <a:ext cx="8917956" cy="1836650"/>
        </p:xfrm>
        <a:graphic>
          <a:graphicData uri="http://schemas.openxmlformats.org/presentationml/2006/ole">
            <mc:AlternateContent xmlns:mc="http://schemas.openxmlformats.org/markup-compatibility/2006">
              <mc:Choice xmlns:v="urn:schemas-microsoft-com:vml" Requires="v">
                <p:oleObj spid="_x0000_s22964" name="CS ChemDraw Drawing" r:id="rId3" imgW="4856677" imgH="999365" progId="ChemDraw.Document.6.0">
                  <p:embed/>
                </p:oleObj>
              </mc:Choice>
              <mc:Fallback>
                <p:oleObj name="CS ChemDraw Drawing" r:id="rId3" imgW="4856677" imgH="999365" progId="ChemDraw.Document.6.0">
                  <p:embed/>
                  <p:pic>
                    <p:nvPicPr>
                      <p:cNvPr id="0" name=""/>
                      <p:cNvPicPr/>
                      <p:nvPr/>
                    </p:nvPicPr>
                    <p:blipFill>
                      <a:blip r:embed="rId4"/>
                      <a:stretch>
                        <a:fillRect/>
                      </a:stretch>
                    </p:blipFill>
                    <p:spPr>
                      <a:xfrm>
                        <a:off x="1317602" y="1716088"/>
                        <a:ext cx="8917956" cy="1836650"/>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779930265"/>
              </p:ext>
            </p:extLst>
          </p:nvPr>
        </p:nvGraphicFramePr>
        <p:xfrm>
          <a:off x="317392" y="4167686"/>
          <a:ext cx="11671592" cy="1715314"/>
        </p:xfrm>
        <a:graphic>
          <a:graphicData uri="http://schemas.openxmlformats.org/presentationml/2006/ole">
            <mc:AlternateContent xmlns:mc="http://schemas.openxmlformats.org/markup-compatibility/2006">
              <mc:Choice xmlns:v="urn:schemas-microsoft-com:vml" Requires="v">
                <p:oleObj spid="_x0000_s22965" name="CS ChemDraw Drawing" r:id="rId5" imgW="6459787" imgH="949020" progId="ChemDraw.Document.6.0">
                  <p:embed/>
                </p:oleObj>
              </mc:Choice>
              <mc:Fallback>
                <p:oleObj name="CS ChemDraw Drawing" r:id="rId5" imgW="6459787" imgH="949020" progId="ChemDraw.Document.6.0">
                  <p:embed/>
                  <p:pic>
                    <p:nvPicPr>
                      <p:cNvPr id="0" name=""/>
                      <p:cNvPicPr/>
                      <p:nvPr/>
                    </p:nvPicPr>
                    <p:blipFill>
                      <a:blip r:embed="rId6"/>
                      <a:stretch>
                        <a:fillRect/>
                      </a:stretch>
                    </p:blipFill>
                    <p:spPr>
                      <a:xfrm>
                        <a:off x="317392" y="4167686"/>
                        <a:ext cx="11671592" cy="1715314"/>
                      </a:xfrm>
                      <a:prstGeom prst="rect">
                        <a:avLst/>
                      </a:prstGeom>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1745304" y="4420871"/>
            <a:ext cx="3223999" cy="757030"/>
          </a:xfrm>
          <a:prstGeom prst="ellipse">
            <a:avLst/>
          </a:prstGeom>
          <a:solidFill>
            <a:srgbClr val="FFFF00"/>
          </a:solidFill>
          <a:ln>
            <a:solidFill>
              <a:srgbClr val="00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11</a:t>
            </a:fld>
            <a:endParaRPr lang="zh-CN" altLang="en-US"/>
          </a:p>
        </p:txBody>
      </p:sp>
      <p:sp>
        <p:nvSpPr>
          <p:cNvPr id="3" name="TextBox 2"/>
          <p:cNvSpPr txBox="1"/>
          <p:nvPr/>
        </p:nvSpPr>
        <p:spPr>
          <a:xfrm>
            <a:off x="0" y="203145"/>
            <a:ext cx="2927648" cy="461665"/>
          </a:xfrm>
          <a:prstGeom prst="rect">
            <a:avLst/>
          </a:prstGeom>
          <a:solidFill>
            <a:schemeClr val="tx2">
              <a:lumMod val="20000"/>
              <a:lumOff val="80000"/>
            </a:schemeClr>
          </a:solidFill>
        </p:spPr>
        <p:txBody>
          <a:bodyPr wrap="square" rtlCol="0">
            <a:spAutoFit/>
          </a:bodyPr>
          <a:lstStyle/>
          <a:p>
            <a:r>
              <a:rPr lang="en-US" altLang="zh-CN" sz="2400" b="1" dirty="0">
                <a:latin typeface="Microsoft Sans Serif" pitchFamily="34" charset="0"/>
                <a:cs typeface="Microsoft Sans Serif" pitchFamily="34" charset="0"/>
              </a:rPr>
              <a:t>5-6  Allylic Radicals</a:t>
            </a:r>
            <a:endParaRPr lang="zh-CN" altLang="en-US" sz="2400" b="1" dirty="0">
              <a:latin typeface="Microsoft Sans Serif" pitchFamily="34" charset="0"/>
              <a:cs typeface="Microsoft Sans Serif" pitchFamily="34" charset="0"/>
            </a:endParaRPr>
          </a:p>
        </p:txBody>
      </p:sp>
      <p:sp>
        <p:nvSpPr>
          <p:cNvPr id="4" name="TextBox 3"/>
          <p:cNvSpPr txBox="1"/>
          <p:nvPr/>
        </p:nvSpPr>
        <p:spPr>
          <a:xfrm>
            <a:off x="263352" y="3464069"/>
            <a:ext cx="11319048" cy="400110"/>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solidFill>
                  <a:srgbClr val="0000FF"/>
                </a:solidFill>
                <a:latin typeface="Microsoft Sans Serif" pitchFamily="34" charset="0"/>
                <a:cs typeface="Microsoft Sans Serif" pitchFamily="34" charset="0"/>
              </a:rPr>
              <a:t>Like allylic cations</a:t>
            </a:r>
            <a:r>
              <a:rPr lang="en-US" altLang="zh-CN" sz="2000" b="1" dirty="0">
                <a:latin typeface="Microsoft Sans Serif" pitchFamily="34" charset="0"/>
                <a:cs typeface="Microsoft Sans Serif" pitchFamily="34" charset="0"/>
              </a:rPr>
              <a:t>, allylic radicals are stabilized by resonance delocalization.</a:t>
            </a:r>
            <a:endParaRPr lang="zh-CN" altLang="en-US" sz="2000" b="1" dirty="0">
              <a:latin typeface="Microsoft Sans Serif" pitchFamily="34" charset="0"/>
              <a:cs typeface="Microsoft Sans Serif" pitchFamily="34" charset="0"/>
            </a:endParaRPr>
          </a:p>
        </p:txBody>
      </p:sp>
      <p:sp>
        <p:nvSpPr>
          <p:cNvPr id="11" name="TextBox 10"/>
          <p:cNvSpPr txBox="1"/>
          <p:nvPr/>
        </p:nvSpPr>
        <p:spPr>
          <a:xfrm>
            <a:off x="263352" y="1240102"/>
            <a:ext cx="11593288" cy="707886"/>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The allyl cation has its positive charge</a:t>
            </a:r>
            <a:r>
              <a:rPr lang="en-US" altLang="zh-CN" sz="2000" b="1" i="1" dirty="0">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delocalized over two carbon atoms, each possessing a partial positive charge.</a:t>
            </a:r>
            <a:endParaRPr lang="zh-CN" altLang="en-US" sz="2000" b="1" dirty="0">
              <a:latin typeface="Microsoft Sans Serif" panose="020B0604020202020204" pitchFamily="34" charset="0"/>
              <a:cs typeface="Microsoft Sans Serif" panose="020B0604020202020204" pitchFamily="34" charset="0"/>
            </a:endParaRPr>
          </a:p>
        </p:txBody>
      </p:sp>
      <p:sp>
        <p:nvSpPr>
          <p:cNvPr id="5" name="矩形 4"/>
          <p:cNvSpPr/>
          <p:nvPr/>
        </p:nvSpPr>
        <p:spPr>
          <a:xfrm>
            <a:off x="0" y="748701"/>
            <a:ext cx="1893467" cy="400110"/>
          </a:xfrm>
          <a:prstGeom prst="rect">
            <a:avLst/>
          </a:prstGeom>
          <a:solidFill>
            <a:schemeClr val="tx2">
              <a:lumMod val="20000"/>
              <a:lumOff val="80000"/>
            </a:schemeClr>
          </a:solidFill>
        </p:spPr>
        <p:txBody>
          <a:bodyPr wrap="none">
            <a:spAutoFit/>
          </a:bodyPr>
          <a:lstStyle/>
          <a:p>
            <a:r>
              <a:rPr lang="en-US" altLang="zh-CN" sz="2000" b="1" dirty="0">
                <a:latin typeface="Microsoft Sans Serif" pitchFamily="34" charset="0"/>
                <a:cs typeface="Microsoft Sans Serif" pitchFamily="34" charset="0"/>
              </a:rPr>
              <a:t>5-6-1 Structure</a:t>
            </a:r>
          </a:p>
        </p:txBody>
      </p:sp>
      <p:graphicFrame>
        <p:nvGraphicFramePr>
          <p:cNvPr id="12" name="对象 11"/>
          <p:cNvGraphicFramePr>
            <a:graphicFrameLocks noChangeAspect="1"/>
          </p:cNvGraphicFramePr>
          <p:nvPr>
            <p:extLst>
              <p:ext uri="{D42A27DB-BD31-4B8C-83A1-F6EECF244321}">
                <p14:modId xmlns:p14="http://schemas.microsoft.com/office/powerpoint/2010/main" val="2018106251"/>
              </p:ext>
            </p:extLst>
          </p:nvPr>
        </p:nvGraphicFramePr>
        <p:xfrm>
          <a:off x="1213993" y="2322837"/>
          <a:ext cx="4443463" cy="1141232"/>
        </p:xfrm>
        <a:graphic>
          <a:graphicData uri="http://schemas.openxmlformats.org/presentationml/2006/ole">
            <mc:AlternateContent xmlns:mc="http://schemas.openxmlformats.org/markup-compatibility/2006">
              <mc:Choice xmlns:v="urn:schemas-microsoft-com:vml" Requires="v">
                <p:oleObj spid="_x0000_s29527" name="CS ChemDraw Drawing" r:id="rId3" imgW="2788377" imgH="715928" progId="ChemDraw.Document.6.0">
                  <p:embed/>
                </p:oleObj>
              </mc:Choice>
              <mc:Fallback>
                <p:oleObj name="CS ChemDraw Drawing" r:id="rId3" imgW="2788377" imgH="715928" progId="ChemDraw.Document.6.0">
                  <p:embed/>
                  <p:pic>
                    <p:nvPicPr>
                      <p:cNvPr id="4" name="对象 3"/>
                      <p:cNvPicPr/>
                      <p:nvPr/>
                    </p:nvPicPr>
                    <p:blipFill>
                      <a:blip r:embed="rId4"/>
                      <a:stretch>
                        <a:fillRect/>
                      </a:stretch>
                    </p:blipFill>
                    <p:spPr>
                      <a:xfrm>
                        <a:off x="1213993" y="2322837"/>
                        <a:ext cx="4443463" cy="1141232"/>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938198888"/>
              </p:ext>
            </p:extLst>
          </p:nvPr>
        </p:nvGraphicFramePr>
        <p:xfrm>
          <a:off x="6542585" y="2128071"/>
          <a:ext cx="4432618" cy="1358712"/>
        </p:xfrm>
        <a:graphic>
          <a:graphicData uri="http://schemas.openxmlformats.org/presentationml/2006/ole">
            <mc:AlternateContent xmlns:mc="http://schemas.openxmlformats.org/markup-compatibility/2006">
              <mc:Choice xmlns:v="urn:schemas-microsoft-com:vml" Requires="v">
                <p:oleObj spid="_x0000_s29528" name="CS ChemDraw Drawing" r:id="rId5" imgW="3454795" imgH="1058828" progId="ChemDraw.Document.6.0">
                  <p:embed/>
                </p:oleObj>
              </mc:Choice>
              <mc:Fallback>
                <p:oleObj name="CS ChemDraw Drawing" r:id="rId5" imgW="3454795" imgH="1058828" progId="ChemDraw.Document.6.0">
                  <p:embed/>
                  <p:pic>
                    <p:nvPicPr>
                      <p:cNvPr id="5" name="对象 4"/>
                      <p:cNvPicPr/>
                      <p:nvPr/>
                    </p:nvPicPr>
                    <p:blipFill>
                      <a:blip r:embed="rId6"/>
                      <a:stretch>
                        <a:fillRect/>
                      </a:stretch>
                    </p:blipFill>
                    <p:spPr>
                      <a:xfrm>
                        <a:off x="6542585" y="2128071"/>
                        <a:ext cx="4432618" cy="1358712"/>
                      </a:xfrm>
                      <a:prstGeom prst="rect">
                        <a:avLst/>
                      </a:prstGeom>
                    </p:spPr>
                  </p:pic>
                </p:oleObj>
              </mc:Fallback>
            </mc:AlternateContent>
          </a:graphicData>
        </a:graphic>
      </p:graphicFrame>
      <p:sp>
        <p:nvSpPr>
          <p:cNvPr id="14" name="椭圆 13"/>
          <p:cNvSpPr/>
          <p:nvPr/>
        </p:nvSpPr>
        <p:spPr>
          <a:xfrm>
            <a:off x="2470440" y="2380351"/>
            <a:ext cx="216024" cy="216024"/>
          </a:xfrm>
          <a:prstGeom prst="ellipse">
            <a:avLst/>
          </a:prstGeom>
          <a:noFill/>
          <a:ln w="28575">
            <a:solidFill>
              <a:srgbClr val="00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3911325" y="2381166"/>
            <a:ext cx="216024" cy="216024"/>
          </a:xfrm>
          <a:prstGeom prst="ellipse">
            <a:avLst/>
          </a:prstGeom>
          <a:noFill/>
          <a:ln w="28575">
            <a:solidFill>
              <a:srgbClr val="00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2436509" y="5338419"/>
            <a:ext cx="227521" cy="160479"/>
          </a:xfrm>
          <a:prstGeom prst="ellipse">
            <a:avLst/>
          </a:prstGeom>
          <a:noFill/>
          <a:ln w="28575">
            <a:solidFill>
              <a:srgbClr val="00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3893075" y="5348419"/>
            <a:ext cx="211841" cy="151206"/>
          </a:xfrm>
          <a:prstGeom prst="ellipse">
            <a:avLst/>
          </a:prstGeom>
          <a:noFill/>
          <a:ln w="28575">
            <a:solidFill>
              <a:srgbClr val="00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2850640502"/>
              </p:ext>
            </p:extLst>
          </p:nvPr>
        </p:nvGraphicFramePr>
        <p:xfrm>
          <a:off x="6628586" y="4986741"/>
          <a:ext cx="4406514" cy="1219082"/>
        </p:xfrm>
        <a:graphic>
          <a:graphicData uri="http://schemas.openxmlformats.org/presentationml/2006/ole">
            <mc:AlternateContent xmlns:mc="http://schemas.openxmlformats.org/markup-compatibility/2006">
              <mc:Choice xmlns:v="urn:schemas-microsoft-com:vml" Requires="v">
                <p:oleObj spid="_x0000_s29529" name="CS ChemDraw Drawing" r:id="rId7" imgW="3454795" imgH="955363" progId="ChemDraw.Document.6.0">
                  <p:embed/>
                </p:oleObj>
              </mc:Choice>
              <mc:Fallback>
                <p:oleObj name="CS ChemDraw Drawing" r:id="rId7" imgW="3454795" imgH="955363" progId="ChemDraw.Document.6.0">
                  <p:embed/>
                  <p:pic>
                    <p:nvPicPr>
                      <p:cNvPr id="0" name=""/>
                      <p:cNvPicPr/>
                      <p:nvPr/>
                    </p:nvPicPr>
                    <p:blipFill>
                      <a:blip r:embed="rId8"/>
                      <a:stretch>
                        <a:fillRect/>
                      </a:stretch>
                    </p:blipFill>
                    <p:spPr>
                      <a:xfrm>
                        <a:off x="6628586" y="4986741"/>
                        <a:ext cx="4406514" cy="1219082"/>
                      </a:xfrm>
                      <a:prstGeom prst="rect">
                        <a:avLst/>
                      </a:prstGeom>
                    </p:spPr>
                  </p:pic>
                </p:oleObj>
              </mc:Fallback>
            </mc:AlternateContent>
          </a:graphicData>
        </a:graphic>
      </p:graphicFrame>
      <p:sp>
        <p:nvSpPr>
          <p:cNvPr id="8" name="文本框 7"/>
          <p:cNvSpPr txBox="1"/>
          <p:nvPr/>
        </p:nvSpPr>
        <p:spPr>
          <a:xfrm>
            <a:off x="2066252" y="4502673"/>
            <a:ext cx="2729807" cy="584775"/>
          </a:xfrm>
          <a:prstGeom prst="rect">
            <a:avLst/>
          </a:prstGeom>
          <a:noFill/>
        </p:spPr>
        <p:txBody>
          <a:bodyPr wrap="square" rtlCol="0">
            <a:spAutoFit/>
          </a:bodyPr>
          <a:lstStyle/>
          <a:p>
            <a:r>
              <a:rPr lang="en-US" altLang="zh-CN" sz="1600" b="1" dirty="0">
                <a:latin typeface="Consolas" panose="020B0609020204030204" pitchFamily="49" charset="0"/>
              </a:rPr>
              <a:t>Both C1 and C3 have free radical character</a:t>
            </a:r>
            <a:endParaRPr lang="zh-CN" altLang="en-US" sz="1600" b="1" dirty="0">
              <a:latin typeface="Consolas" panose="020B0609020204030204" pitchFamily="49" charset="0"/>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1331030485"/>
              </p:ext>
            </p:extLst>
          </p:nvPr>
        </p:nvGraphicFramePr>
        <p:xfrm>
          <a:off x="1156900" y="5177900"/>
          <a:ext cx="4547611" cy="1219082"/>
        </p:xfrm>
        <a:graphic>
          <a:graphicData uri="http://schemas.openxmlformats.org/presentationml/2006/ole">
            <mc:AlternateContent xmlns:mc="http://schemas.openxmlformats.org/markup-compatibility/2006">
              <mc:Choice xmlns:v="urn:schemas-microsoft-com:vml" Requires="v">
                <p:oleObj spid="_x0000_s29530" name="CS ChemDraw Drawing" r:id="rId9" imgW="2788772" imgH="748037" progId="ChemDraw.Document.6.0">
                  <p:embed/>
                </p:oleObj>
              </mc:Choice>
              <mc:Fallback>
                <p:oleObj name="CS ChemDraw Drawing" r:id="rId9" imgW="2788772" imgH="748037" progId="ChemDraw.Document.6.0">
                  <p:embed/>
                  <p:pic>
                    <p:nvPicPr>
                      <p:cNvPr id="0" name=""/>
                      <p:cNvPicPr/>
                      <p:nvPr/>
                    </p:nvPicPr>
                    <p:blipFill>
                      <a:blip r:embed="rId10"/>
                      <a:stretch>
                        <a:fillRect/>
                      </a:stretch>
                    </p:blipFill>
                    <p:spPr>
                      <a:xfrm>
                        <a:off x="1156900" y="5177900"/>
                        <a:ext cx="4547611" cy="1219082"/>
                      </a:xfrm>
                      <a:prstGeom prst="rect">
                        <a:avLst/>
                      </a:prstGeom>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圆角 8">
            <a:extLst>
              <a:ext uri="{FF2B5EF4-FFF2-40B4-BE49-F238E27FC236}">
                <a16:creationId xmlns:a16="http://schemas.microsoft.com/office/drawing/2014/main" id="{13E36D84-25C8-4C89-BAE4-BDDBA90B6675}"/>
              </a:ext>
            </a:extLst>
          </p:cNvPr>
          <p:cNvSpPr/>
          <p:nvPr/>
        </p:nvSpPr>
        <p:spPr>
          <a:xfrm>
            <a:off x="191344" y="5246391"/>
            <a:ext cx="4464496" cy="1322277"/>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12</a:t>
            </a:fld>
            <a:endParaRPr lang="zh-CN" altLang="en-US"/>
          </a:p>
        </p:txBody>
      </p:sp>
      <p:sp>
        <p:nvSpPr>
          <p:cNvPr id="3" name="TextBox 2"/>
          <p:cNvSpPr txBox="1"/>
          <p:nvPr/>
        </p:nvSpPr>
        <p:spPr>
          <a:xfrm>
            <a:off x="0" y="289331"/>
            <a:ext cx="4570482" cy="400110"/>
          </a:xfrm>
          <a:prstGeom prst="rect">
            <a:avLst/>
          </a:prstGeom>
          <a:solidFill>
            <a:schemeClr val="tx2">
              <a:lumMod val="20000"/>
              <a:lumOff val="80000"/>
            </a:schemeClr>
          </a:solidFill>
        </p:spPr>
        <p:txBody>
          <a:bodyPr wrap="none" rtlCol="0">
            <a:spAutoFit/>
          </a:bodyPr>
          <a:lstStyle/>
          <a:p>
            <a:r>
              <a:rPr lang="en-US" altLang="zh-CN" sz="2000" b="1" dirty="0">
                <a:latin typeface="Microsoft Sans Serif" pitchFamily="34" charset="0"/>
                <a:cs typeface="Microsoft Sans Serif" pitchFamily="34" charset="0"/>
              </a:rPr>
              <a:t>5-6-2  Free-Radical Allylic Bromination</a:t>
            </a:r>
            <a:endParaRPr lang="zh-CN" altLang="en-US" sz="2000" b="1" dirty="0">
              <a:latin typeface="Microsoft Sans Serif" pitchFamily="34" charset="0"/>
              <a:cs typeface="Microsoft Sans Serif" pitchFamily="34" charset="0"/>
            </a:endParaRPr>
          </a:p>
        </p:txBody>
      </p:sp>
      <p:sp>
        <p:nvSpPr>
          <p:cNvPr id="5" name="TextBox 4"/>
          <p:cNvSpPr txBox="1"/>
          <p:nvPr/>
        </p:nvSpPr>
        <p:spPr>
          <a:xfrm>
            <a:off x="333383" y="2665627"/>
            <a:ext cx="8568952" cy="646331"/>
          </a:xfrm>
          <a:prstGeom prst="rect">
            <a:avLst/>
          </a:prstGeom>
          <a:noFill/>
        </p:spPr>
        <p:txBody>
          <a:bodyPr wrap="square" rtlCol="0">
            <a:spAutoFit/>
          </a:bodyPr>
          <a:lstStyle/>
          <a:p>
            <a:pPr marL="342900" indent="-342900">
              <a:buFont typeface="Arial" panose="020B0604020202020204" pitchFamily="34" charset="0"/>
              <a:buChar char="•"/>
            </a:pPr>
            <a:r>
              <a:rPr lang="en-US" altLang="zh-CN" b="1" dirty="0">
                <a:latin typeface="Microsoft Sans Serif" pitchFamily="34" charset="0"/>
                <a:cs typeface="Microsoft Sans Serif" pitchFamily="34" charset="0"/>
              </a:rPr>
              <a:t>Mechanism</a:t>
            </a:r>
          </a:p>
          <a:p>
            <a:r>
              <a:rPr lang="en-US" altLang="zh-CN" b="1" dirty="0">
                <a:highlight>
                  <a:srgbClr val="00FFFF"/>
                </a:highlight>
                <a:latin typeface="Microsoft Sans Serif" pitchFamily="34" charset="0"/>
                <a:cs typeface="Microsoft Sans Serif" pitchFamily="34" charset="0"/>
              </a:rPr>
              <a:t>Step 1</a:t>
            </a:r>
            <a:r>
              <a:rPr lang="en-US" altLang="zh-CN" b="1" dirty="0">
                <a:latin typeface="Microsoft Sans Serif" pitchFamily="34" charset="0"/>
                <a:cs typeface="Microsoft Sans Serif" pitchFamily="34" charset="0"/>
              </a:rPr>
              <a:t>: Initiation: Formation of bromine radicals.</a:t>
            </a:r>
            <a:endParaRPr lang="zh-CN" altLang="en-US" b="1" dirty="0">
              <a:latin typeface="Microsoft Sans Serif" pitchFamily="34" charset="0"/>
              <a:cs typeface="Microsoft Sans Serif" pitchFamily="34" charset="0"/>
            </a:endParaRPr>
          </a:p>
        </p:txBody>
      </p:sp>
      <p:graphicFrame>
        <p:nvGraphicFramePr>
          <p:cNvPr id="29704" name="Object 8"/>
          <p:cNvGraphicFramePr>
            <a:graphicFrameLocks noChangeAspect="1"/>
          </p:cNvGraphicFramePr>
          <p:nvPr>
            <p:extLst>
              <p:ext uri="{D42A27DB-BD31-4B8C-83A1-F6EECF244321}">
                <p14:modId xmlns:p14="http://schemas.microsoft.com/office/powerpoint/2010/main" val="1866688467"/>
              </p:ext>
            </p:extLst>
          </p:nvPr>
        </p:nvGraphicFramePr>
        <p:xfrm>
          <a:off x="6059995" y="2958535"/>
          <a:ext cx="2385879" cy="584775"/>
        </p:xfrm>
        <a:graphic>
          <a:graphicData uri="http://schemas.openxmlformats.org/presentationml/2006/ole">
            <mc:AlternateContent xmlns:mc="http://schemas.openxmlformats.org/markup-compatibility/2006">
              <mc:Choice xmlns:v="urn:schemas-microsoft-com:vml" Requires="v">
                <p:oleObj spid="_x0000_s30333" name="CS ChemDraw Drawing" r:id="rId3" imgW="1133482" imgH="278571" progId="ChemDraw.Document.6.0">
                  <p:embed/>
                </p:oleObj>
              </mc:Choice>
              <mc:Fallback>
                <p:oleObj name="CS ChemDraw Drawing" r:id="rId3" imgW="1133482" imgH="278571" progId="ChemDraw.Document.6.0">
                  <p:embed/>
                  <p:pic>
                    <p:nvPicPr>
                      <p:cNvPr id="0"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59995" y="2958535"/>
                        <a:ext cx="2385879" cy="584775"/>
                      </a:xfrm>
                      <a:prstGeom prst="rect">
                        <a:avLst/>
                      </a:prstGeom>
                      <a:noFill/>
                      <a:ln>
                        <a:noFill/>
                      </a:ln>
                      <a:effectLst/>
                    </p:spPr>
                  </p:pic>
                </p:oleObj>
              </mc:Fallback>
            </mc:AlternateContent>
          </a:graphicData>
        </a:graphic>
      </p:graphicFrame>
      <p:sp>
        <p:nvSpPr>
          <p:cNvPr id="10" name="TextBox 9"/>
          <p:cNvSpPr txBox="1"/>
          <p:nvPr/>
        </p:nvSpPr>
        <p:spPr>
          <a:xfrm>
            <a:off x="333383" y="3647332"/>
            <a:ext cx="11593288" cy="923330"/>
          </a:xfrm>
          <a:prstGeom prst="rect">
            <a:avLst/>
          </a:prstGeom>
          <a:noFill/>
        </p:spPr>
        <p:txBody>
          <a:bodyPr wrap="square" rtlCol="0">
            <a:spAutoFit/>
          </a:bodyPr>
          <a:lstStyle/>
          <a:p>
            <a:r>
              <a:rPr lang="en-US" altLang="zh-CN" b="1" dirty="0">
                <a:highlight>
                  <a:srgbClr val="00FFFF"/>
                </a:highlight>
                <a:latin typeface="Microsoft Sans Serif" pitchFamily="34" charset="0"/>
                <a:cs typeface="Microsoft Sans Serif" pitchFamily="34" charset="0"/>
              </a:rPr>
              <a:t>Step 2</a:t>
            </a:r>
            <a:r>
              <a:rPr lang="en-US" altLang="zh-CN" b="1" dirty="0">
                <a:latin typeface="Microsoft Sans Serif" pitchFamily="34" charset="0"/>
                <a:cs typeface="Microsoft Sans Serif" pitchFamily="34" charset="0"/>
              </a:rPr>
              <a:t>: Propagation: (1) </a:t>
            </a:r>
            <a:r>
              <a:rPr lang="en-US" altLang="zh-CN" b="1" dirty="0">
                <a:solidFill>
                  <a:srgbClr val="0000FF"/>
                </a:solidFill>
                <a:latin typeface="Microsoft Sans Serif" pitchFamily="34" charset="0"/>
                <a:cs typeface="Microsoft Sans Serif" pitchFamily="34" charset="0"/>
              </a:rPr>
              <a:t>the bromine radical abstracts an allylic hydrogen </a:t>
            </a:r>
            <a:r>
              <a:rPr lang="en-US" altLang="zh-CN" b="1" dirty="0">
                <a:latin typeface="Microsoft Sans Serif" pitchFamily="34" charset="0"/>
                <a:cs typeface="Microsoft Sans Serif" pitchFamily="34" charset="0"/>
              </a:rPr>
              <a:t>to produce an</a:t>
            </a:r>
            <a:r>
              <a:rPr lang="en-US" altLang="zh-CN" b="1" dirty="0">
                <a:solidFill>
                  <a:srgbClr val="0000FF"/>
                </a:solidFill>
                <a:latin typeface="Microsoft Sans Serif" pitchFamily="34" charset="0"/>
                <a:cs typeface="Microsoft Sans Serif" pitchFamily="34" charset="0"/>
              </a:rPr>
              <a:t> allylic radical</a:t>
            </a:r>
            <a:r>
              <a:rPr lang="en-US" altLang="zh-CN" b="1" dirty="0">
                <a:latin typeface="Microsoft Sans Serif" pitchFamily="34" charset="0"/>
                <a:cs typeface="Microsoft Sans Serif" pitchFamily="34" charset="0"/>
              </a:rPr>
              <a:t>; (2) the allylic radical in turn reacts with a bromine molecule to form an allyl bromide and a new bromine atom, which continues the chain reaction.</a:t>
            </a:r>
            <a:endParaRPr lang="zh-CN" altLang="en-US" b="1" dirty="0">
              <a:latin typeface="Microsoft Sans Serif" pitchFamily="34" charset="0"/>
              <a:cs typeface="Microsoft Sans Serif" pitchFamily="34" charset="0"/>
            </a:endParaRPr>
          </a:p>
        </p:txBody>
      </p:sp>
      <p:sp>
        <p:nvSpPr>
          <p:cNvPr id="4" name="矩形 3"/>
          <p:cNvSpPr/>
          <p:nvPr/>
        </p:nvSpPr>
        <p:spPr>
          <a:xfrm>
            <a:off x="335360" y="789622"/>
            <a:ext cx="11449272" cy="1938992"/>
          </a:xfrm>
          <a:prstGeom prst="rect">
            <a:avLst/>
          </a:prstGeom>
        </p:spPr>
        <p:txBody>
          <a:bodyPr wrap="square">
            <a:spAutoFit/>
          </a:bodyPr>
          <a:lstStyle/>
          <a:p>
            <a:pPr marL="285750" indent="-285750">
              <a:buFont typeface="Arial" panose="020B0604020202020204" pitchFamily="34" charset="0"/>
              <a:buChar char="•"/>
            </a:pPr>
            <a:r>
              <a:rPr lang="en-US" altLang="zh-CN" sz="2000" b="1" dirty="0">
                <a:latin typeface="Microsoft Sans Serif" pitchFamily="34" charset="0"/>
                <a:cs typeface="Microsoft Sans Serif" pitchFamily="34" charset="0"/>
              </a:rPr>
              <a:t>In a free-radical bromination of prop-1-ene, substitution occurs entirely at the allylic position, producing allyl bromide. </a:t>
            </a:r>
          </a:p>
          <a:p>
            <a:pPr marL="285750" indent="-285750">
              <a:buFont typeface="Arial" panose="020B0604020202020204" pitchFamily="34" charset="0"/>
              <a:buChar char="•"/>
            </a:pPr>
            <a:endParaRPr lang="en-US" altLang="zh-CN" sz="2000" b="1" dirty="0">
              <a:latin typeface="Microsoft Sans Serif" pitchFamily="34" charset="0"/>
              <a:cs typeface="Microsoft Sans Serif" pitchFamily="34" charset="0"/>
            </a:endParaRPr>
          </a:p>
          <a:p>
            <a:pPr marL="285750" indent="-285750">
              <a:buFont typeface="Arial" panose="020B0604020202020204" pitchFamily="34" charset="0"/>
              <a:buChar char="•"/>
            </a:pPr>
            <a:endParaRPr lang="en-US" altLang="zh-CN" sz="2000" b="1" dirty="0">
              <a:latin typeface="Microsoft Sans Serif" pitchFamily="34" charset="0"/>
              <a:cs typeface="Microsoft Sans Serif" pitchFamily="34" charset="0"/>
            </a:endParaRPr>
          </a:p>
          <a:p>
            <a:endParaRPr lang="en-US" altLang="zh-CN" sz="2000" b="1" dirty="0">
              <a:latin typeface="Microsoft Sans Serif" pitchFamily="34" charset="0"/>
              <a:cs typeface="Microsoft Sans Serif" pitchFamily="34" charset="0"/>
            </a:endParaRPr>
          </a:p>
          <a:p>
            <a:pPr marL="285750" indent="-285750">
              <a:buFont typeface="Arial" panose="020B0604020202020204" pitchFamily="34" charset="0"/>
              <a:buChar char="•"/>
            </a:pPr>
            <a:r>
              <a:rPr lang="en-US" altLang="zh-CN" sz="2000" b="1" dirty="0">
                <a:highlight>
                  <a:srgbClr val="FFFF00"/>
                </a:highlight>
                <a:latin typeface="Microsoft Sans Serif" pitchFamily="34" charset="0"/>
                <a:cs typeface="Microsoft Sans Serif" pitchFamily="34" charset="0"/>
              </a:rPr>
              <a:t>Free-radical allylic bromination </a:t>
            </a:r>
            <a:r>
              <a:rPr lang="en-US" altLang="zh-CN" sz="2000" b="1" dirty="0">
                <a:latin typeface="Microsoft Sans Serif" pitchFamily="34" charset="0"/>
                <a:cs typeface="Microsoft Sans Serif" pitchFamily="34" charset="0"/>
              </a:rPr>
              <a:t>involves the formation and reaction of </a:t>
            </a:r>
            <a:r>
              <a:rPr lang="en-US" altLang="zh-CN" sz="2000" b="1" dirty="0">
                <a:highlight>
                  <a:srgbClr val="00FFFF"/>
                </a:highlight>
                <a:latin typeface="Microsoft Sans Serif" pitchFamily="34" charset="0"/>
                <a:cs typeface="Microsoft Sans Serif" pitchFamily="34" charset="0"/>
              </a:rPr>
              <a:t>allylic radicals</a:t>
            </a:r>
            <a:r>
              <a:rPr lang="en-US" altLang="zh-CN" sz="2000" b="1" dirty="0">
                <a:latin typeface="Microsoft Sans Serif" pitchFamily="34" charset="0"/>
                <a:cs typeface="Microsoft Sans Serif" pitchFamily="34" charset="0"/>
              </a:rPr>
              <a:t>.</a:t>
            </a:r>
          </a:p>
        </p:txBody>
      </p:sp>
      <p:graphicFrame>
        <p:nvGraphicFramePr>
          <p:cNvPr id="6" name="对象 5"/>
          <p:cNvGraphicFramePr>
            <a:graphicFrameLocks noChangeAspect="1"/>
          </p:cNvGraphicFramePr>
          <p:nvPr>
            <p:extLst>
              <p:ext uri="{D42A27DB-BD31-4B8C-83A1-F6EECF244321}">
                <p14:modId xmlns:p14="http://schemas.microsoft.com/office/powerpoint/2010/main" val="2966842787"/>
              </p:ext>
            </p:extLst>
          </p:nvPr>
        </p:nvGraphicFramePr>
        <p:xfrm>
          <a:off x="4113994" y="1304521"/>
          <a:ext cx="5442383" cy="1029721"/>
        </p:xfrm>
        <a:graphic>
          <a:graphicData uri="http://schemas.openxmlformats.org/presentationml/2006/ole">
            <mc:AlternateContent xmlns:mc="http://schemas.openxmlformats.org/markup-compatibility/2006">
              <mc:Choice xmlns:v="urn:schemas-microsoft-com:vml" Requires="v">
                <p:oleObj spid="_x0000_s30334" name="CS ChemDraw Drawing" r:id="rId5" imgW="2911876" imgH="551415" progId="ChemDraw.Document.6.0">
                  <p:embed/>
                </p:oleObj>
              </mc:Choice>
              <mc:Fallback>
                <p:oleObj name="CS ChemDraw Drawing" r:id="rId5" imgW="2911876" imgH="551415" progId="ChemDraw.Document.6.0">
                  <p:embed/>
                  <p:pic>
                    <p:nvPicPr>
                      <p:cNvPr id="0" name=""/>
                      <p:cNvPicPr/>
                      <p:nvPr/>
                    </p:nvPicPr>
                    <p:blipFill>
                      <a:blip r:embed="rId6"/>
                      <a:stretch>
                        <a:fillRect/>
                      </a:stretch>
                    </p:blipFill>
                    <p:spPr>
                      <a:xfrm>
                        <a:off x="4113994" y="1304521"/>
                        <a:ext cx="5442383" cy="1029721"/>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176842709"/>
              </p:ext>
            </p:extLst>
          </p:nvPr>
        </p:nvGraphicFramePr>
        <p:xfrm>
          <a:off x="3719736" y="4323062"/>
          <a:ext cx="7046272" cy="2496784"/>
        </p:xfrm>
        <a:graphic>
          <a:graphicData uri="http://schemas.openxmlformats.org/presentationml/2006/ole">
            <mc:AlternateContent xmlns:mc="http://schemas.openxmlformats.org/markup-compatibility/2006">
              <mc:Choice xmlns:v="urn:schemas-microsoft-com:vml" Requires="v">
                <p:oleObj spid="_x0000_s30335" name="CS ChemDraw Drawing" r:id="rId7" imgW="4734757" imgH="1677633" progId="ChemDraw.Document.6.0">
                  <p:embed/>
                </p:oleObj>
              </mc:Choice>
              <mc:Fallback>
                <p:oleObj name="CS ChemDraw Drawing" r:id="rId7" imgW="4734757" imgH="1677633" progId="ChemDraw.Document.6.0">
                  <p:embed/>
                  <p:pic>
                    <p:nvPicPr>
                      <p:cNvPr id="0" name=""/>
                      <p:cNvPicPr/>
                      <p:nvPr/>
                    </p:nvPicPr>
                    <p:blipFill>
                      <a:blip r:embed="rId8"/>
                      <a:stretch>
                        <a:fillRect/>
                      </a:stretch>
                    </p:blipFill>
                    <p:spPr>
                      <a:xfrm>
                        <a:off x="3719736" y="4323062"/>
                        <a:ext cx="7046272" cy="2496784"/>
                      </a:xfrm>
                      <a:prstGeom prst="rect">
                        <a:avLst/>
                      </a:prstGeom>
                    </p:spPr>
                  </p:pic>
                </p:oleObj>
              </mc:Fallback>
            </mc:AlternateContent>
          </a:graphicData>
        </a:graphic>
      </p:graphicFrame>
      <p:sp>
        <p:nvSpPr>
          <p:cNvPr id="12" name="椭圆 11"/>
          <p:cNvSpPr/>
          <p:nvPr/>
        </p:nvSpPr>
        <p:spPr>
          <a:xfrm>
            <a:off x="6835186" y="4631568"/>
            <a:ext cx="227521" cy="160479"/>
          </a:xfrm>
          <a:prstGeom prst="ellipse">
            <a:avLst/>
          </a:prstGeom>
          <a:noFill/>
          <a:ln w="28575">
            <a:solidFill>
              <a:srgbClr val="00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8211850" y="4641568"/>
            <a:ext cx="211841" cy="151206"/>
          </a:xfrm>
          <a:prstGeom prst="ellipse">
            <a:avLst/>
          </a:prstGeom>
          <a:noFill/>
          <a:ln w="28575">
            <a:solidFill>
              <a:srgbClr val="00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TextBox 6"/>
          <p:cNvSpPr txBox="1"/>
          <p:nvPr/>
        </p:nvSpPr>
        <p:spPr>
          <a:xfrm>
            <a:off x="230504" y="5288144"/>
            <a:ext cx="4351808" cy="1200329"/>
          </a:xfrm>
          <a:prstGeom prst="rect">
            <a:avLst/>
          </a:prstGeom>
          <a:noFill/>
        </p:spPr>
        <p:txBody>
          <a:bodyPr wrap="square" rtlCol="0">
            <a:spAutoFit/>
          </a:bodyPr>
          <a:lstStyle/>
          <a:p>
            <a:r>
              <a:rPr lang="en-US" altLang="zh-CN" b="1" dirty="0">
                <a:latin typeface="Consolas" panose="020B0609020204030204" pitchFamily="49" charset="0"/>
                <a:cs typeface="Microsoft Sans Serif" pitchFamily="34" charset="0"/>
              </a:rPr>
              <a:t>Abstraction of the allylic hydrogen is preferred because the resultant allylic free radical is resonance-stabilized (formed fast) </a:t>
            </a:r>
            <a:endParaRPr lang="zh-CN" altLang="en-US" b="1" dirty="0">
              <a:latin typeface="Consolas" panose="020B0609020204030204" pitchFamily="49" charset="0"/>
              <a:cs typeface="Microsoft Sans Serif"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13</a:t>
            </a:fld>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4167252308"/>
              </p:ext>
            </p:extLst>
          </p:nvPr>
        </p:nvGraphicFramePr>
        <p:xfrm>
          <a:off x="1753877" y="352916"/>
          <a:ext cx="8430775" cy="1296144"/>
        </p:xfrm>
        <a:graphic>
          <a:graphicData uri="http://schemas.openxmlformats.org/presentationml/2006/ole">
            <mc:AlternateContent xmlns:mc="http://schemas.openxmlformats.org/markup-compatibility/2006">
              <mc:Choice xmlns:v="urn:schemas-microsoft-com:vml" Requires="v">
                <p:oleObj spid="_x0000_s49648" name="CS ChemDraw Drawing" r:id="rId3" imgW="4584034" imgH="705224" progId="ChemDraw.Document.6.0">
                  <p:embed/>
                </p:oleObj>
              </mc:Choice>
              <mc:Fallback>
                <p:oleObj name="CS ChemDraw Drawing" r:id="rId3" imgW="4584034" imgH="705224" progId="ChemDraw.Document.6.0">
                  <p:embed/>
                  <p:pic>
                    <p:nvPicPr>
                      <p:cNvPr id="0" name=""/>
                      <p:cNvPicPr/>
                      <p:nvPr/>
                    </p:nvPicPr>
                    <p:blipFill>
                      <a:blip r:embed="rId4"/>
                      <a:stretch>
                        <a:fillRect/>
                      </a:stretch>
                    </p:blipFill>
                    <p:spPr>
                      <a:xfrm>
                        <a:off x="1753877" y="352916"/>
                        <a:ext cx="8430775" cy="1296144"/>
                      </a:xfrm>
                      <a:prstGeom prst="rect">
                        <a:avLst/>
                      </a:prstGeom>
                    </p:spPr>
                  </p:pic>
                </p:oleObj>
              </mc:Fallback>
            </mc:AlternateContent>
          </a:graphicData>
        </a:graphic>
      </p:graphicFrame>
      <p:sp>
        <p:nvSpPr>
          <p:cNvPr id="8" name="TextBox 2"/>
          <p:cNvSpPr txBox="1"/>
          <p:nvPr/>
        </p:nvSpPr>
        <p:spPr>
          <a:xfrm>
            <a:off x="229055" y="1772816"/>
            <a:ext cx="11377264" cy="3477875"/>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latin typeface="Microsoft Sans Serif" pitchFamily="34" charset="0"/>
                <a:cs typeface="Microsoft Sans Serif" pitchFamily="34" charset="0"/>
              </a:rPr>
              <a:t>The key to getting substitution is to have </a:t>
            </a:r>
            <a:r>
              <a:rPr lang="en-US" altLang="zh-CN" sz="2000" b="1" dirty="0">
                <a:solidFill>
                  <a:srgbClr val="0000FF"/>
                </a:solidFill>
                <a:latin typeface="Microsoft Sans Serif" pitchFamily="34" charset="0"/>
                <a:cs typeface="Microsoft Sans Serif" pitchFamily="34" charset="0"/>
              </a:rPr>
              <a:t>a low concentration of bromine</a:t>
            </a:r>
            <a:r>
              <a:rPr lang="en-US" altLang="zh-CN" sz="2000" b="1" dirty="0">
                <a:latin typeface="Microsoft Sans Serif" pitchFamily="34" charset="0"/>
                <a:cs typeface="Microsoft Sans Serif" pitchFamily="34" charset="0"/>
              </a:rPr>
              <a:t>, </a:t>
            </a:r>
            <a:r>
              <a:rPr lang="en-US" altLang="zh-CN" sz="2000" b="1" dirty="0">
                <a:solidFill>
                  <a:srgbClr val="0000FF"/>
                </a:solidFill>
                <a:latin typeface="Microsoft Sans Serif" pitchFamily="34" charset="0"/>
                <a:cs typeface="Microsoft Sans Serif" pitchFamily="34" charset="0"/>
              </a:rPr>
              <a:t>together with light or free radicals </a:t>
            </a:r>
            <a:r>
              <a:rPr lang="en-US" altLang="zh-CN" sz="2000" b="1" dirty="0">
                <a:latin typeface="Microsoft Sans Serif" pitchFamily="34" charset="0"/>
                <a:cs typeface="Microsoft Sans Serif" pitchFamily="34" charset="0"/>
              </a:rPr>
              <a:t>to initiate the reaction. At higher concentrations, bromine adds across double bonds via a bromonium ion to give electrophilic addition products.</a:t>
            </a:r>
          </a:p>
          <a:p>
            <a:pPr marL="285750" indent="-285750">
              <a:buFont typeface="Arial" panose="020B0604020202020204" pitchFamily="34" charset="0"/>
              <a:buChar char="•"/>
            </a:pPr>
            <a:endParaRPr lang="en-US" altLang="zh-CN" sz="2000" b="1" dirty="0">
              <a:latin typeface="Microsoft Sans Serif" pitchFamily="34" charset="0"/>
              <a:cs typeface="Microsoft Sans Serif" pitchFamily="34" charset="0"/>
            </a:endParaRPr>
          </a:p>
          <a:p>
            <a:pPr marL="285750" indent="-285750">
              <a:buFont typeface="Arial" panose="020B0604020202020204" pitchFamily="34" charset="0"/>
              <a:buChar char="•"/>
            </a:pPr>
            <a:endParaRPr lang="en-US" altLang="zh-CN" sz="2000" b="1" dirty="0">
              <a:latin typeface="Microsoft Sans Serif" pitchFamily="34" charset="0"/>
              <a:cs typeface="Microsoft Sans Serif" pitchFamily="34" charset="0"/>
            </a:endParaRPr>
          </a:p>
          <a:p>
            <a:pPr marL="285750" indent="-285750">
              <a:buFont typeface="Arial" panose="020B0604020202020204" pitchFamily="34" charset="0"/>
              <a:buChar char="•"/>
            </a:pPr>
            <a:endParaRPr lang="en-US" altLang="zh-CN" sz="2000" b="1" dirty="0">
              <a:latin typeface="Microsoft Sans Serif" pitchFamily="34" charset="0"/>
              <a:cs typeface="Microsoft Sans Serif" pitchFamily="34" charset="0"/>
            </a:endParaRPr>
          </a:p>
          <a:p>
            <a:pPr marL="285750" indent="-285750">
              <a:buFont typeface="Arial" panose="020B0604020202020204" pitchFamily="34" charset="0"/>
              <a:buChar char="•"/>
            </a:pPr>
            <a:endParaRPr lang="en-US" altLang="zh-CN" sz="2000" b="1" dirty="0">
              <a:latin typeface="Microsoft Sans Serif" pitchFamily="34" charset="0"/>
              <a:cs typeface="Microsoft Sans Serif" pitchFamily="34" charset="0"/>
            </a:endParaRPr>
          </a:p>
          <a:p>
            <a:pPr marL="285750" indent="-285750">
              <a:buFont typeface="Arial" panose="020B0604020202020204" pitchFamily="34" charset="0"/>
              <a:buChar char="•"/>
            </a:pPr>
            <a:endParaRPr lang="en-US" altLang="zh-CN" sz="2000" b="1" dirty="0">
              <a:latin typeface="Microsoft Sans Serif" pitchFamily="34" charset="0"/>
              <a:cs typeface="Microsoft Sans Serif" pitchFamily="34" charset="0"/>
            </a:endParaRPr>
          </a:p>
          <a:p>
            <a:pPr marL="285750" indent="-285750">
              <a:buFont typeface="Arial" panose="020B0604020202020204" pitchFamily="34" charset="0"/>
              <a:buChar char="•"/>
            </a:pPr>
            <a:endParaRPr lang="en-US" altLang="zh-CN" sz="2000" b="1" dirty="0">
              <a:latin typeface="Microsoft Sans Serif" pitchFamily="34" charset="0"/>
              <a:cs typeface="Microsoft Sans Serif" pitchFamily="34" charset="0"/>
            </a:endParaRPr>
          </a:p>
          <a:p>
            <a:pPr marL="285750" indent="-285750">
              <a:buFont typeface="Arial" panose="020B0604020202020204" pitchFamily="34" charset="0"/>
              <a:buChar char="•"/>
            </a:pPr>
            <a:r>
              <a:rPr lang="en-US" altLang="zh-CN" sz="2000" b="1" dirty="0">
                <a:latin typeface="Microsoft Sans Serif" pitchFamily="34" charset="0"/>
                <a:cs typeface="Microsoft Sans Serif" pitchFamily="34" charset="0"/>
              </a:rPr>
              <a:t>A convenient bromine source for allylic bromination is </a:t>
            </a:r>
            <a:r>
              <a:rPr lang="en-US" altLang="zh-CN" sz="2000" b="1" i="1" dirty="0">
                <a:latin typeface="Microsoft Sans Serif" pitchFamily="34" charset="0"/>
                <a:cs typeface="Microsoft Sans Serif" pitchFamily="34" charset="0"/>
              </a:rPr>
              <a:t>N</a:t>
            </a:r>
            <a:r>
              <a:rPr lang="en-US" altLang="zh-CN" sz="2000" b="1" dirty="0">
                <a:latin typeface="Microsoft Sans Serif" pitchFamily="34" charset="0"/>
                <a:cs typeface="Microsoft Sans Serif" pitchFamily="34" charset="0"/>
              </a:rPr>
              <a:t>-</a:t>
            </a:r>
            <a:r>
              <a:rPr lang="en-US" altLang="zh-CN" sz="2000" b="1" dirty="0" err="1">
                <a:latin typeface="Microsoft Sans Serif" pitchFamily="34" charset="0"/>
                <a:cs typeface="Microsoft Sans Serif" pitchFamily="34" charset="0"/>
              </a:rPr>
              <a:t>bromosuccinimide</a:t>
            </a:r>
            <a:r>
              <a:rPr lang="en-US" altLang="zh-CN" sz="2000" b="1" dirty="0">
                <a:latin typeface="Microsoft Sans Serif" pitchFamily="34" charset="0"/>
                <a:cs typeface="Microsoft Sans Serif" pitchFamily="34" charset="0"/>
              </a:rPr>
              <a:t> (</a:t>
            </a:r>
            <a:r>
              <a:rPr lang="en-US" altLang="zh-CN" sz="2000" b="1" dirty="0">
                <a:solidFill>
                  <a:srgbClr val="FF0000"/>
                </a:solidFill>
                <a:latin typeface="Microsoft Sans Serif" pitchFamily="34" charset="0"/>
                <a:cs typeface="Microsoft Sans Serif" pitchFamily="34" charset="0"/>
              </a:rPr>
              <a:t>NBS</a:t>
            </a:r>
            <a:r>
              <a:rPr lang="en-US" altLang="zh-CN" sz="2000" b="1" dirty="0">
                <a:latin typeface="Microsoft Sans Serif" pitchFamily="34" charset="0"/>
                <a:cs typeface="Microsoft Sans Serif" pitchFamily="34" charset="0"/>
              </a:rPr>
              <a:t>), because NBS provides </a:t>
            </a:r>
            <a:r>
              <a:rPr lang="en-US" altLang="zh-CN" sz="2000" b="1" dirty="0">
                <a:solidFill>
                  <a:srgbClr val="0000FF"/>
                </a:solidFill>
                <a:latin typeface="Microsoft Sans Serif" pitchFamily="34" charset="0"/>
                <a:cs typeface="Microsoft Sans Serif" pitchFamily="34" charset="0"/>
              </a:rPr>
              <a:t>a fairly constant, low concentration of bromine</a:t>
            </a:r>
            <a:r>
              <a:rPr lang="en-US" altLang="zh-CN" sz="2000" b="1" dirty="0">
                <a:latin typeface="Microsoft Sans Serif" pitchFamily="34" charset="0"/>
                <a:cs typeface="Microsoft Sans Serif" pitchFamily="34" charset="0"/>
              </a:rPr>
              <a:t>, which favors the free-radical substitution.</a:t>
            </a:r>
            <a:endParaRPr lang="zh-CN" altLang="en-US" sz="2000" b="1" dirty="0">
              <a:latin typeface="Microsoft Sans Serif" pitchFamily="34" charset="0"/>
              <a:cs typeface="Microsoft Sans Serif" pitchFamily="34" charset="0"/>
            </a:endParaRPr>
          </a:p>
        </p:txBody>
      </p:sp>
      <p:sp>
        <p:nvSpPr>
          <p:cNvPr id="5" name="文本框 4"/>
          <p:cNvSpPr txBox="1"/>
          <p:nvPr/>
        </p:nvSpPr>
        <p:spPr>
          <a:xfrm>
            <a:off x="6434967" y="4175613"/>
            <a:ext cx="4839786" cy="400110"/>
          </a:xfrm>
          <a:prstGeom prst="rect">
            <a:avLst/>
          </a:prstGeom>
          <a:noFill/>
        </p:spPr>
        <p:txBody>
          <a:bodyPr wrap="none" rtlCol="0">
            <a:spAutoFit/>
          </a:bodyPr>
          <a:lstStyle/>
          <a:p>
            <a:r>
              <a:rPr lang="en-US" altLang="zh-CN" sz="2000" b="1" dirty="0">
                <a:latin typeface="Consolas" panose="020B0609020204030204" pitchFamily="49" charset="0"/>
              </a:rPr>
              <a:t>Free-radical substitution product</a:t>
            </a:r>
            <a:endParaRPr lang="zh-CN" altLang="en-US" sz="2000" b="1" dirty="0">
              <a:latin typeface="Consolas" panose="020B0609020204030204" pitchFamily="49" charset="0"/>
            </a:endParaRPr>
          </a:p>
        </p:txBody>
      </p:sp>
      <p:sp>
        <p:nvSpPr>
          <p:cNvPr id="11" name="文本框 10"/>
          <p:cNvSpPr txBox="1"/>
          <p:nvPr/>
        </p:nvSpPr>
        <p:spPr>
          <a:xfrm>
            <a:off x="1753877" y="4175613"/>
            <a:ext cx="4416594" cy="400110"/>
          </a:xfrm>
          <a:prstGeom prst="rect">
            <a:avLst/>
          </a:prstGeom>
          <a:noFill/>
        </p:spPr>
        <p:txBody>
          <a:bodyPr wrap="none" rtlCol="0">
            <a:spAutoFit/>
          </a:bodyPr>
          <a:lstStyle/>
          <a:p>
            <a:r>
              <a:rPr lang="en-US" altLang="zh-CN" sz="2000" b="1" dirty="0">
                <a:latin typeface="Consolas" panose="020B0609020204030204" pitchFamily="49" charset="0"/>
              </a:rPr>
              <a:t>Electrophilic addition product</a:t>
            </a:r>
            <a:endParaRPr lang="zh-CN" altLang="en-US" sz="2000" b="1" dirty="0">
              <a:latin typeface="Consolas" panose="020B0609020204030204" pitchFamily="49" charset="0"/>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998106968"/>
              </p:ext>
            </p:extLst>
          </p:nvPr>
        </p:nvGraphicFramePr>
        <p:xfrm>
          <a:off x="3071664" y="5134208"/>
          <a:ext cx="5603895" cy="1679168"/>
        </p:xfrm>
        <a:graphic>
          <a:graphicData uri="http://schemas.openxmlformats.org/presentationml/2006/ole">
            <mc:AlternateContent xmlns:mc="http://schemas.openxmlformats.org/markup-compatibility/2006">
              <mc:Choice xmlns:v="urn:schemas-microsoft-com:vml" Requires="v">
                <p:oleObj spid="_x0000_s49649" name="CS ChemDraw Drawing" r:id="rId5" imgW="4445148" imgH="1331958" progId="ChemDraw.Document.6.0">
                  <p:embed/>
                </p:oleObj>
              </mc:Choice>
              <mc:Fallback>
                <p:oleObj name="CS ChemDraw Drawing" r:id="rId5" imgW="4445148" imgH="1331958" progId="ChemDraw.Document.6.0">
                  <p:embed/>
                  <p:pic>
                    <p:nvPicPr>
                      <p:cNvPr id="0" name=""/>
                      <p:cNvPicPr/>
                      <p:nvPr/>
                    </p:nvPicPr>
                    <p:blipFill>
                      <a:blip r:embed="rId6"/>
                      <a:stretch>
                        <a:fillRect/>
                      </a:stretch>
                    </p:blipFill>
                    <p:spPr>
                      <a:xfrm>
                        <a:off x="3071664" y="5134208"/>
                        <a:ext cx="5603895" cy="1679168"/>
                      </a:xfrm>
                      <a:prstGeom prst="rect">
                        <a:avLst/>
                      </a:prstGeom>
                    </p:spPr>
                  </p:pic>
                </p:oleObj>
              </mc:Fallback>
            </mc:AlternateContent>
          </a:graphicData>
        </a:graphic>
      </p:graphicFrame>
      <p:sp>
        <p:nvSpPr>
          <p:cNvPr id="12" name="椭圆 11"/>
          <p:cNvSpPr/>
          <p:nvPr/>
        </p:nvSpPr>
        <p:spPr>
          <a:xfrm>
            <a:off x="8233544" y="5656741"/>
            <a:ext cx="504056" cy="360040"/>
          </a:xfrm>
          <a:prstGeom prst="ellipse">
            <a:avLst/>
          </a:prstGeom>
          <a:noFill/>
          <a:ln>
            <a:solidFill>
              <a:srgbClr val="00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7" name="对象 6">
            <a:extLst>
              <a:ext uri="{FF2B5EF4-FFF2-40B4-BE49-F238E27FC236}">
                <a16:creationId xmlns:a16="http://schemas.microsoft.com/office/drawing/2014/main" id="{E7EEFC3F-4410-4E66-B770-05450F7F8F92}"/>
              </a:ext>
            </a:extLst>
          </p:cNvPr>
          <p:cNvGraphicFramePr>
            <a:graphicFrameLocks noChangeAspect="1"/>
          </p:cNvGraphicFramePr>
          <p:nvPr>
            <p:extLst>
              <p:ext uri="{D42A27DB-BD31-4B8C-83A1-F6EECF244321}">
                <p14:modId xmlns:p14="http://schemas.microsoft.com/office/powerpoint/2010/main" val="4046986652"/>
              </p:ext>
            </p:extLst>
          </p:nvPr>
        </p:nvGraphicFramePr>
        <p:xfrm>
          <a:off x="1918458" y="2838550"/>
          <a:ext cx="8931148" cy="1366448"/>
        </p:xfrm>
        <a:graphic>
          <a:graphicData uri="http://schemas.openxmlformats.org/presentationml/2006/ole">
            <mc:AlternateContent xmlns:mc="http://schemas.openxmlformats.org/markup-compatibility/2006">
              <mc:Choice xmlns:v="urn:schemas-microsoft-com:vml" Requires="v">
                <p:oleObj spid="_x0000_s49650" name="CS ChemDraw Drawing" r:id="rId7" imgW="5903453" imgH="903432" progId="ChemDraw.Document.6.0">
                  <p:embed/>
                </p:oleObj>
              </mc:Choice>
              <mc:Fallback>
                <p:oleObj name="CS ChemDraw Drawing" r:id="rId7" imgW="5903453" imgH="903432" progId="ChemDraw.Document.6.0">
                  <p:embed/>
                  <p:pic>
                    <p:nvPicPr>
                      <p:cNvPr id="0" name=""/>
                      <p:cNvPicPr/>
                      <p:nvPr/>
                    </p:nvPicPr>
                    <p:blipFill>
                      <a:blip r:embed="rId8"/>
                      <a:stretch>
                        <a:fillRect/>
                      </a:stretch>
                    </p:blipFill>
                    <p:spPr>
                      <a:xfrm>
                        <a:off x="1918458" y="2838550"/>
                        <a:ext cx="8931148" cy="1366448"/>
                      </a:xfrm>
                      <a:prstGeom prst="rect">
                        <a:avLst/>
                      </a:prstGeom>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14</a:t>
            </a:fld>
            <a:endParaRPr lang="zh-CN" altLang="en-US"/>
          </a:p>
        </p:txBody>
      </p:sp>
      <p:sp>
        <p:nvSpPr>
          <p:cNvPr id="3" name="TextBox 2"/>
          <p:cNvSpPr txBox="1"/>
          <p:nvPr/>
        </p:nvSpPr>
        <p:spPr>
          <a:xfrm>
            <a:off x="12817" y="232449"/>
            <a:ext cx="4295800" cy="461665"/>
          </a:xfrm>
          <a:prstGeom prst="rect">
            <a:avLst/>
          </a:prstGeom>
          <a:solidFill>
            <a:schemeClr val="tx2">
              <a:lumMod val="20000"/>
              <a:lumOff val="80000"/>
            </a:schemeClr>
          </a:solidFill>
        </p:spPr>
        <p:txBody>
          <a:bodyPr wrap="square" rtlCol="0">
            <a:spAutoFit/>
          </a:bodyPr>
          <a:lstStyle/>
          <a:p>
            <a:r>
              <a:rPr lang="en-US" altLang="zh-CN" sz="2400" b="1" dirty="0">
                <a:latin typeface="Microsoft Sans Serif" pitchFamily="34" charset="0"/>
                <a:cs typeface="Microsoft Sans Serif" pitchFamily="34" charset="0"/>
              </a:rPr>
              <a:t>5-7  The Diels-Alder Reaction</a:t>
            </a:r>
            <a:endParaRPr lang="zh-CN" altLang="en-US" sz="2400" b="1" dirty="0">
              <a:latin typeface="Microsoft Sans Serif" pitchFamily="34" charset="0"/>
              <a:cs typeface="Microsoft Sans Serif" pitchFamily="34" charset="0"/>
            </a:endParaRPr>
          </a:p>
        </p:txBody>
      </p:sp>
      <p:sp>
        <p:nvSpPr>
          <p:cNvPr id="12" name="TextBox 11"/>
          <p:cNvSpPr txBox="1"/>
          <p:nvPr/>
        </p:nvSpPr>
        <p:spPr>
          <a:xfrm>
            <a:off x="264052" y="4282528"/>
            <a:ext cx="11074040" cy="2246769"/>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The </a:t>
            </a:r>
            <a:r>
              <a:rPr lang="en-US" altLang="zh-C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Conjugated Diene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is</a:t>
            </a:r>
            <a:r>
              <a:rPr lang="en-US" altLang="zh-C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electron-rich</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The presence of </a:t>
            </a:r>
            <a:r>
              <a:rPr lang="en-US" altLang="zh-C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electron-donating groups (EDG)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such as R or </a:t>
            </a:r>
            <a:r>
              <a:rPr lang="en-US" altLang="zh-CN" sz="2000" b="1" dirty="0" err="1">
                <a:latin typeface="Microsoft Sans Serif" panose="020B0604020202020204" pitchFamily="34" charset="0"/>
                <a:ea typeface="Microsoft Sans Serif" panose="020B0604020202020204" pitchFamily="34" charset="0"/>
                <a:cs typeface="Microsoft Sans Serif" panose="020B0604020202020204" pitchFamily="34" charset="0"/>
              </a:rPr>
              <a:t>OR</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may further enhance the reactivity of the conjugated diene.</a:t>
            </a:r>
          </a:p>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The </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Alkene containing electron-withdrawing groups (EWG)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such as carbonyl (C=O) or </a:t>
            </a:r>
            <a:r>
              <a:rPr lang="en-US" altLang="zh-CN" sz="2000" b="1" dirty="0" err="1">
                <a:latin typeface="Microsoft Sans Serif" panose="020B0604020202020204" pitchFamily="34" charset="0"/>
                <a:ea typeface="Microsoft Sans Serif" panose="020B0604020202020204" pitchFamily="34" charset="0"/>
                <a:cs typeface="Microsoft Sans Serif" panose="020B0604020202020204" pitchFamily="34" charset="0"/>
              </a:rPr>
              <a:t>cyano</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(CN) is</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 electron-deficient</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It’s also called a dienophile.</a:t>
            </a:r>
          </a:p>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The D-A reaction is a </a:t>
            </a:r>
            <a:r>
              <a:rPr lang="en-US" altLang="zh-C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[4 + 2] </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concerted cycloaddition</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3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a:rPr>
              <a:t> bonds break with 1  bond and 2  bonds forming simultaneously to give a </a:t>
            </a:r>
            <a:r>
              <a:rPr lang="en-US" altLang="zh-C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sym typeface="Symbol"/>
              </a:rPr>
              <a:t>cyclohexene ring</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a:rPr>
              <a:t>.</a:t>
            </a:r>
            <a:endParaRPr lang="zh-CN" altLang="en-US" sz="2000" b="1" dirty="0">
              <a:latin typeface="Microsoft Sans Serif" pitchFamily="34" charset="0"/>
              <a:cs typeface="Microsoft Sans Serif" pitchFamily="34" charset="0"/>
            </a:endParaRPr>
          </a:p>
        </p:txBody>
      </p:sp>
      <p:sp>
        <p:nvSpPr>
          <p:cNvPr id="7" name="TextBox 2"/>
          <p:cNvSpPr txBox="1"/>
          <p:nvPr/>
        </p:nvSpPr>
        <p:spPr>
          <a:xfrm>
            <a:off x="264052" y="760325"/>
            <a:ext cx="11247040" cy="707886"/>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latin typeface="Microsoft Sans Serif" pitchFamily="34" charset="0"/>
                <a:cs typeface="Microsoft Sans Serif" pitchFamily="34" charset="0"/>
              </a:rPr>
              <a:t>German chemists Otto Diels and Kurt Alder discovered that alkynes and alkenes with electron-withdrawing groups add to conjugated dienes to form six-membered rings.</a:t>
            </a:r>
          </a:p>
        </p:txBody>
      </p:sp>
      <p:graphicFrame>
        <p:nvGraphicFramePr>
          <p:cNvPr id="6" name="对象 5"/>
          <p:cNvGraphicFramePr>
            <a:graphicFrameLocks noChangeAspect="1"/>
          </p:cNvGraphicFramePr>
          <p:nvPr>
            <p:extLst>
              <p:ext uri="{D42A27DB-BD31-4B8C-83A1-F6EECF244321}">
                <p14:modId xmlns:p14="http://schemas.microsoft.com/office/powerpoint/2010/main" val="1866687941"/>
              </p:ext>
            </p:extLst>
          </p:nvPr>
        </p:nvGraphicFramePr>
        <p:xfrm>
          <a:off x="2655179" y="1772816"/>
          <a:ext cx="6464785" cy="1881852"/>
        </p:xfrm>
        <a:graphic>
          <a:graphicData uri="http://schemas.openxmlformats.org/presentationml/2006/ole">
            <mc:AlternateContent xmlns:mc="http://schemas.openxmlformats.org/markup-compatibility/2006">
              <mc:Choice xmlns:v="urn:schemas-microsoft-com:vml" Requires="v">
                <p:oleObj spid="_x0000_s33140" name="CS ChemDraw Drawing" r:id="rId3" imgW="3457557" imgH="1005708" progId="ChemDraw.Document.6.0">
                  <p:embed/>
                </p:oleObj>
              </mc:Choice>
              <mc:Fallback>
                <p:oleObj name="CS ChemDraw Drawing" r:id="rId3" imgW="3457557" imgH="1005708" progId="ChemDraw.Document.6.0">
                  <p:embed/>
                  <p:pic>
                    <p:nvPicPr>
                      <p:cNvPr id="0" name=""/>
                      <p:cNvPicPr/>
                      <p:nvPr/>
                    </p:nvPicPr>
                    <p:blipFill>
                      <a:blip r:embed="rId4"/>
                      <a:stretch>
                        <a:fillRect/>
                      </a:stretch>
                    </p:blipFill>
                    <p:spPr>
                      <a:xfrm>
                        <a:off x="2655179" y="1772816"/>
                        <a:ext cx="6464785" cy="1881852"/>
                      </a:xfrm>
                      <a:prstGeom prst="rect">
                        <a:avLst/>
                      </a:prstGeom>
                      <a:ln w="28575">
                        <a:solidFill>
                          <a:schemeClr val="bg1">
                            <a:lumMod val="75000"/>
                          </a:schemeClr>
                        </a:solidFill>
                      </a:ln>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15</a:t>
            </a:fld>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3491505565"/>
              </p:ext>
            </p:extLst>
          </p:nvPr>
        </p:nvGraphicFramePr>
        <p:xfrm>
          <a:off x="2207568" y="548680"/>
          <a:ext cx="8104726" cy="5688632"/>
        </p:xfrm>
        <a:graphic>
          <a:graphicData uri="http://schemas.openxmlformats.org/presentationml/2006/ole">
            <mc:AlternateContent xmlns:mc="http://schemas.openxmlformats.org/markup-compatibility/2006">
              <mc:Choice xmlns:v="urn:schemas-microsoft-com:vml" Requires="v">
                <p:oleObj spid="_x0000_s34013" name="CS ChemDraw Drawing" r:id="rId3" imgW="4701614" imgH="3300958" progId="ChemDraw.Document.6.0">
                  <p:embed/>
                </p:oleObj>
              </mc:Choice>
              <mc:Fallback>
                <p:oleObj name="CS ChemDraw Drawing" r:id="rId3" imgW="4701614" imgH="3300958" progId="ChemDraw.Document.6.0">
                  <p:embed/>
                  <p:pic>
                    <p:nvPicPr>
                      <p:cNvPr id="0" name=""/>
                      <p:cNvPicPr/>
                      <p:nvPr/>
                    </p:nvPicPr>
                    <p:blipFill>
                      <a:blip r:embed="rId4"/>
                      <a:stretch>
                        <a:fillRect/>
                      </a:stretch>
                    </p:blipFill>
                    <p:spPr>
                      <a:xfrm>
                        <a:off x="2207568" y="548680"/>
                        <a:ext cx="8104726" cy="5688632"/>
                      </a:xfrm>
                      <a:prstGeom prst="rect">
                        <a:avLst/>
                      </a:prstGeom>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16</a:t>
            </a:fld>
            <a:endParaRPr lang="zh-CN" altLang="en-US"/>
          </a:p>
        </p:txBody>
      </p:sp>
      <p:sp>
        <p:nvSpPr>
          <p:cNvPr id="3" name="TextBox 2"/>
          <p:cNvSpPr txBox="1"/>
          <p:nvPr/>
        </p:nvSpPr>
        <p:spPr>
          <a:xfrm>
            <a:off x="335360" y="241264"/>
            <a:ext cx="11377264" cy="707886"/>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latin typeface="Microsoft Sans Serif" pitchFamily="34" charset="0"/>
                <a:cs typeface="Microsoft Sans Serif" pitchFamily="34" charset="0"/>
              </a:rPr>
              <a:t>A </a:t>
            </a:r>
            <a:r>
              <a:rPr lang="en-US" altLang="zh-CN" sz="2000" b="1" dirty="0">
                <a:solidFill>
                  <a:srgbClr val="0000FF"/>
                </a:solidFill>
                <a:latin typeface="Microsoft Sans Serif" pitchFamily="34" charset="0"/>
                <a:cs typeface="Microsoft Sans Serif" pitchFamily="34" charset="0"/>
              </a:rPr>
              <a:t>diene</a:t>
            </a:r>
            <a:r>
              <a:rPr lang="en-US" altLang="zh-CN" sz="2000" b="1" dirty="0">
                <a:latin typeface="Microsoft Sans Serif" pitchFamily="34" charset="0"/>
                <a:cs typeface="Microsoft Sans Serif" pitchFamily="34" charset="0"/>
              </a:rPr>
              <a:t> reacts with an electron-deficient </a:t>
            </a:r>
            <a:r>
              <a:rPr lang="en-US" altLang="zh-CN" sz="2000" b="1" dirty="0">
                <a:solidFill>
                  <a:srgbClr val="0000FF"/>
                </a:solidFill>
                <a:latin typeface="Microsoft Sans Serif" pitchFamily="34" charset="0"/>
                <a:cs typeface="Microsoft Sans Serif" pitchFamily="34" charset="0"/>
              </a:rPr>
              <a:t>alkene</a:t>
            </a:r>
            <a:r>
              <a:rPr lang="en-US" altLang="zh-CN" sz="2000" b="1" dirty="0">
                <a:latin typeface="Microsoft Sans Serif" pitchFamily="34" charset="0"/>
                <a:cs typeface="Microsoft Sans Serif" pitchFamily="34" charset="0"/>
              </a:rPr>
              <a:t> to give a </a:t>
            </a:r>
            <a:r>
              <a:rPr lang="en-US" altLang="zh-CN" sz="2000" b="1" dirty="0">
                <a:solidFill>
                  <a:srgbClr val="FF0000"/>
                </a:solidFill>
                <a:latin typeface="Microsoft Sans Serif" pitchFamily="34" charset="0"/>
                <a:cs typeface="Microsoft Sans Serif" pitchFamily="34" charset="0"/>
              </a:rPr>
              <a:t>cyclohexene</a:t>
            </a:r>
            <a:r>
              <a:rPr lang="en-US" altLang="zh-CN" sz="2000" b="1" dirty="0">
                <a:latin typeface="Microsoft Sans Serif" pitchFamily="34" charset="0"/>
                <a:cs typeface="Microsoft Sans Serif" pitchFamily="34" charset="0"/>
              </a:rPr>
              <a:t>. A </a:t>
            </a:r>
            <a:r>
              <a:rPr lang="en-US" altLang="zh-CN" sz="2000" b="1" dirty="0" err="1">
                <a:solidFill>
                  <a:srgbClr val="0000FF"/>
                </a:solidFill>
                <a:latin typeface="Microsoft Sans Serif" pitchFamily="34" charset="0"/>
                <a:cs typeface="Microsoft Sans Serif" pitchFamily="34" charset="0"/>
              </a:rPr>
              <a:t>diene</a:t>
            </a:r>
            <a:r>
              <a:rPr lang="en-US" altLang="zh-CN" sz="2000" b="1" dirty="0">
                <a:latin typeface="Microsoft Sans Serif" pitchFamily="34" charset="0"/>
                <a:cs typeface="Microsoft Sans Serif" pitchFamily="34" charset="0"/>
              </a:rPr>
              <a:t> reacts with an electron-deficient </a:t>
            </a:r>
            <a:r>
              <a:rPr lang="en-US" altLang="zh-CN" sz="2000" b="1" dirty="0" err="1">
                <a:solidFill>
                  <a:srgbClr val="0000FF"/>
                </a:solidFill>
                <a:latin typeface="Microsoft Sans Serif" pitchFamily="34" charset="0"/>
                <a:cs typeface="Microsoft Sans Serif" pitchFamily="34" charset="0"/>
              </a:rPr>
              <a:t>alkyne</a:t>
            </a:r>
            <a:r>
              <a:rPr lang="en-US" altLang="zh-CN" sz="2000" b="1" dirty="0">
                <a:latin typeface="Microsoft Sans Serif" pitchFamily="34" charset="0"/>
                <a:cs typeface="Microsoft Sans Serif" pitchFamily="34" charset="0"/>
              </a:rPr>
              <a:t> to give a </a:t>
            </a:r>
            <a:r>
              <a:rPr lang="en-US" altLang="zh-CN" sz="2000" b="1" dirty="0" err="1">
                <a:solidFill>
                  <a:srgbClr val="FF0000"/>
                </a:solidFill>
                <a:latin typeface="Microsoft Sans Serif" pitchFamily="34" charset="0"/>
                <a:cs typeface="Microsoft Sans Serif" pitchFamily="34" charset="0"/>
              </a:rPr>
              <a:t>cyclohexadiene</a:t>
            </a:r>
            <a:r>
              <a:rPr lang="en-US" altLang="zh-CN" sz="2000" b="1" dirty="0">
                <a:latin typeface="Microsoft Sans Serif" pitchFamily="34" charset="0"/>
                <a:cs typeface="Microsoft Sans Serif" pitchFamily="34" charset="0"/>
              </a:rPr>
              <a:t>.</a:t>
            </a:r>
          </a:p>
        </p:txBody>
      </p:sp>
      <p:graphicFrame>
        <p:nvGraphicFramePr>
          <p:cNvPr id="4" name="对象 3"/>
          <p:cNvGraphicFramePr>
            <a:graphicFrameLocks noChangeAspect="1"/>
          </p:cNvGraphicFramePr>
          <p:nvPr>
            <p:extLst>
              <p:ext uri="{D42A27DB-BD31-4B8C-83A1-F6EECF244321}">
                <p14:modId xmlns:p14="http://schemas.microsoft.com/office/powerpoint/2010/main" val="580947875"/>
              </p:ext>
            </p:extLst>
          </p:nvPr>
        </p:nvGraphicFramePr>
        <p:xfrm>
          <a:off x="2063552" y="1195023"/>
          <a:ext cx="7322317" cy="1756212"/>
        </p:xfrm>
        <a:graphic>
          <a:graphicData uri="http://schemas.openxmlformats.org/presentationml/2006/ole">
            <mc:AlternateContent xmlns:mc="http://schemas.openxmlformats.org/markup-compatibility/2006">
              <mc:Choice xmlns:v="urn:schemas-microsoft-com:vml" Requires="v">
                <p:oleObj spid="_x0000_s35193" name="CS ChemDraw Drawing" r:id="rId3" imgW="4064395" imgH="975184" progId="ChemDraw.Document.6.0">
                  <p:embed/>
                </p:oleObj>
              </mc:Choice>
              <mc:Fallback>
                <p:oleObj name="CS ChemDraw Drawing" r:id="rId3" imgW="4064395" imgH="975184" progId="ChemDraw.Document.6.0">
                  <p:embed/>
                  <p:pic>
                    <p:nvPicPr>
                      <p:cNvPr id="0" name=""/>
                      <p:cNvPicPr/>
                      <p:nvPr/>
                    </p:nvPicPr>
                    <p:blipFill>
                      <a:blip r:embed="rId4"/>
                      <a:stretch>
                        <a:fillRect/>
                      </a:stretch>
                    </p:blipFill>
                    <p:spPr>
                      <a:xfrm>
                        <a:off x="2063552" y="1195023"/>
                        <a:ext cx="7322317" cy="1756212"/>
                      </a:xfrm>
                      <a:prstGeom prst="rect">
                        <a:avLst/>
                      </a:prstGeom>
                    </p:spPr>
                  </p:pic>
                </p:oleObj>
              </mc:Fallback>
            </mc:AlternateContent>
          </a:graphicData>
        </a:graphic>
      </p:graphicFrame>
      <p:sp>
        <p:nvSpPr>
          <p:cNvPr id="7" name="矩形 6"/>
          <p:cNvSpPr/>
          <p:nvPr/>
        </p:nvSpPr>
        <p:spPr>
          <a:xfrm>
            <a:off x="335360" y="3174324"/>
            <a:ext cx="11377264" cy="707886"/>
          </a:xfrm>
          <a:prstGeom prst="rect">
            <a:avLst/>
          </a:prstGeom>
        </p:spPr>
        <p:txBody>
          <a:bodyPr wrap="square">
            <a:spAutoFit/>
          </a:bodyPr>
          <a:lstStyle/>
          <a:p>
            <a:pPr marL="285750" indent="-285750">
              <a:buFont typeface="Arial" panose="020B0604020202020204" pitchFamily="34" charset="0"/>
              <a:buChar char="•"/>
            </a:pPr>
            <a:r>
              <a:rPr lang="en-US" altLang="zh-CN" sz="2000" b="1" dirty="0">
                <a:solidFill>
                  <a:srgbClr val="FF0000"/>
                </a:solidFill>
                <a:latin typeface="Microsoft Sans Serif" pitchFamily="34" charset="0"/>
                <a:cs typeface="Microsoft Sans Serif" pitchFamily="34" charset="0"/>
              </a:rPr>
              <a:t>Synthetic significance</a:t>
            </a:r>
            <a:r>
              <a:rPr lang="en-US" altLang="zh-CN" sz="2000" b="1" dirty="0">
                <a:latin typeface="Microsoft Sans Serif" pitchFamily="34" charset="0"/>
                <a:cs typeface="Microsoft Sans Serif" pitchFamily="34" charset="0"/>
              </a:rPr>
              <a:t> of Diels-Alder Reaction: a useful synthetic tool, providing </a:t>
            </a:r>
            <a:r>
              <a:rPr lang="en-US" altLang="zh-CN" sz="2000" b="1" dirty="0">
                <a:solidFill>
                  <a:srgbClr val="0000FF"/>
                </a:solidFill>
                <a:latin typeface="Microsoft Sans Serif" pitchFamily="34" charset="0"/>
                <a:cs typeface="Microsoft Sans Serif" pitchFamily="34" charset="0"/>
              </a:rPr>
              <a:t>one of the best ways </a:t>
            </a:r>
            <a:r>
              <a:rPr lang="en-US" altLang="zh-CN" sz="2000" b="1" dirty="0">
                <a:latin typeface="Microsoft Sans Serif" pitchFamily="34" charset="0"/>
                <a:cs typeface="Microsoft Sans Serif" pitchFamily="34" charset="0"/>
              </a:rPr>
              <a:t>to make </a:t>
            </a:r>
            <a:r>
              <a:rPr lang="en-US" altLang="zh-CN" sz="2000" b="1" dirty="0">
                <a:solidFill>
                  <a:srgbClr val="0000FF"/>
                </a:solidFill>
                <a:latin typeface="Microsoft Sans Serif" pitchFamily="34" charset="0"/>
                <a:cs typeface="Microsoft Sans Serif" pitchFamily="34" charset="0"/>
              </a:rPr>
              <a:t>six-membered rings </a:t>
            </a:r>
            <a:r>
              <a:rPr lang="en-US" altLang="zh-CN" sz="2000" b="1" dirty="0">
                <a:latin typeface="Microsoft Sans Serif" pitchFamily="34" charset="0"/>
                <a:cs typeface="Microsoft Sans Serif" pitchFamily="34" charset="0"/>
              </a:rPr>
              <a:t>with diverse functionality and controlled stereochemistry.</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4732</TotalTime>
  <Words>1271</Words>
  <Application>Microsoft Office PowerPoint</Application>
  <PresentationFormat>宽屏</PresentationFormat>
  <Paragraphs>109</Paragraphs>
  <Slides>16</Slides>
  <Notes>0</Notes>
  <HiddenSlides>0</HiddenSlides>
  <MMClips>0</MMClips>
  <ScaleCrop>false</ScaleCrop>
  <HeadingPairs>
    <vt:vector size="8" baseType="variant">
      <vt:variant>
        <vt:lpstr>已用的字体</vt:lpstr>
      </vt:variant>
      <vt:variant>
        <vt:i4>4</vt:i4>
      </vt:variant>
      <vt:variant>
        <vt:lpstr>主题</vt:lpstr>
      </vt:variant>
      <vt:variant>
        <vt:i4>1</vt:i4>
      </vt:variant>
      <vt:variant>
        <vt:lpstr>嵌入 OLE 服务器</vt:lpstr>
      </vt:variant>
      <vt:variant>
        <vt:i4>1</vt:i4>
      </vt:variant>
      <vt:variant>
        <vt:lpstr>幻灯片标题</vt:lpstr>
      </vt:variant>
      <vt:variant>
        <vt:i4>16</vt:i4>
      </vt:variant>
    </vt:vector>
  </HeadingPairs>
  <TitlesOfParts>
    <vt:vector size="22" baseType="lpstr">
      <vt:lpstr>Arial</vt:lpstr>
      <vt:lpstr>Calibri</vt:lpstr>
      <vt:lpstr>Consolas</vt:lpstr>
      <vt:lpstr>Microsoft Sans Serif</vt:lpstr>
      <vt:lpstr>Office 主题</vt:lpstr>
      <vt:lpstr>CS ChemDraw Drawing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luo</cp:lastModifiedBy>
  <cp:revision>1165</cp:revision>
  <dcterms:created xsi:type="dcterms:W3CDTF">2013-01-26T06:57:40Z</dcterms:created>
  <dcterms:modified xsi:type="dcterms:W3CDTF">2026-08-11T08:13:58Z</dcterms:modified>
</cp:coreProperties>
</file>