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5.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8.jpg" ContentType="image/jpg"/>
  <Override PartName="/ppt/media/image9.jpg" ContentType="image/jpg"/>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1.jpg" ContentType="image/jp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media/image18.jpg" ContentType="image/jpg"/>
  <Override PartName="/ppt/notesSlides/notesSlide13.xml" ContentType="application/vnd.openxmlformats-officedocument.presentationml.notesSlide+xml"/>
  <Override PartName="/ppt/media/image19.jpg" ContentType="image/jpg"/>
  <Override PartName="/ppt/notesSlides/notesSlide14.xml" ContentType="application/vnd.openxmlformats-officedocument.presentationml.notesSlide+xml"/>
  <Override PartName="/ppt/media/image20.jpg" ContentType="image/jpg"/>
  <Override PartName="/ppt/notesSlides/notesSlide15.xml" ContentType="application/vnd.openxmlformats-officedocument.presentationml.notesSlide+xml"/>
  <Override PartName="/ppt/media/image22.jpg" ContentType="image/jpg"/>
  <Override PartName="/ppt/notesSlides/notesSlide16.xml" ContentType="application/vnd.openxmlformats-officedocument.presentationml.notesSlide+xml"/>
  <Override PartName="/ppt/media/image24.jpg" ContentType="image/jpg"/>
  <Override PartName="/ppt/notesSlides/notesSlide17.xml" ContentType="application/vnd.openxmlformats-officedocument.presentationml.notesSlide+xml"/>
  <Override PartName="/ppt/media/image26.jpg" ContentType="image/jpg"/>
  <Override PartName="/ppt/media/image27.jpg" ContentType="image/jp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media/image33.jpg" ContentType="image/jpg"/>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media/image35.jpg" ContentType="image/jpg"/>
  <Override PartName="/ppt/notesSlides/notesSlide26.xml" ContentType="application/vnd.openxmlformats-officedocument.presentationml.notesSlide+xml"/>
  <Override PartName="/ppt/notesSlides/notesSlide27.xml" ContentType="application/vnd.openxmlformats-officedocument.presentationml.notesSlide+xml"/>
  <Override PartName="/ppt/media/image36.jpg" ContentType="image/jpg"/>
  <Override PartName="/ppt/media/image37.jpg" ContentType="image/jpg"/>
  <Override PartName="/ppt/notesSlides/notesSlide28.xml" ContentType="application/vnd.openxmlformats-officedocument.presentationml.notesSlide+xml"/>
  <Override PartName="/ppt/notesSlides/notesSlide29.xml" ContentType="application/vnd.openxmlformats-officedocument.presentationml.notesSlide+xml"/>
  <Override PartName="/ppt/media/image39.jpg" ContentType="image/jpg"/>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media/image43.jpg" ContentType="image/jpg"/>
  <Override PartName="/ppt/media/image44.jpg" ContentType="image/jpg"/>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media/image50.jpg" ContentType="image/jpg"/>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media/image53.jpg" ContentType="image/jpg"/>
  <Override PartName="/ppt/notesSlides/notesSlide42.xml" ContentType="application/vnd.openxmlformats-officedocument.presentationml.notesSlide+xml"/>
  <Override PartName="/ppt/media/image55.jpg" ContentType="image/jpg"/>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339" r:id="rId2"/>
    <p:sldId id="256" r:id="rId3"/>
    <p:sldId id="257" r:id="rId4"/>
    <p:sldId id="262" r:id="rId5"/>
    <p:sldId id="263" r:id="rId6"/>
    <p:sldId id="264" r:id="rId7"/>
    <p:sldId id="265" r:id="rId8"/>
    <p:sldId id="266" r:id="rId9"/>
    <p:sldId id="260" r:id="rId10"/>
    <p:sldId id="267" r:id="rId11"/>
    <p:sldId id="268" r:id="rId12"/>
    <p:sldId id="269" r:id="rId13"/>
    <p:sldId id="270" r:id="rId14"/>
    <p:sldId id="272" r:id="rId15"/>
    <p:sldId id="274" r:id="rId16"/>
    <p:sldId id="275" r:id="rId17"/>
    <p:sldId id="276" r:id="rId18"/>
    <p:sldId id="279" r:id="rId19"/>
    <p:sldId id="280" r:id="rId20"/>
    <p:sldId id="283" r:id="rId21"/>
    <p:sldId id="284" r:id="rId22"/>
    <p:sldId id="285" r:id="rId23"/>
    <p:sldId id="287" r:id="rId24"/>
    <p:sldId id="288" r:id="rId25"/>
    <p:sldId id="290" r:id="rId26"/>
    <p:sldId id="291" r:id="rId27"/>
    <p:sldId id="292" r:id="rId28"/>
    <p:sldId id="294" r:id="rId29"/>
    <p:sldId id="295" r:id="rId30"/>
    <p:sldId id="297" r:id="rId31"/>
    <p:sldId id="298" r:id="rId32"/>
    <p:sldId id="299" r:id="rId33"/>
    <p:sldId id="300" r:id="rId34"/>
    <p:sldId id="304" r:id="rId35"/>
    <p:sldId id="307" r:id="rId36"/>
    <p:sldId id="308" r:id="rId37"/>
    <p:sldId id="305" r:id="rId38"/>
    <p:sldId id="306" r:id="rId39"/>
    <p:sldId id="310" r:id="rId40"/>
    <p:sldId id="311" r:id="rId41"/>
    <p:sldId id="312" r:id="rId42"/>
    <p:sldId id="313" r:id="rId43"/>
    <p:sldId id="314" r:id="rId44"/>
    <p:sldId id="315" r:id="rId45"/>
    <p:sldId id="316" r:id="rId46"/>
    <p:sldId id="318" r:id="rId47"/>
    <p:sldId id="1368" r:id="rId48"/>
    <p:sldId id="317"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460" autoAdjust="0"/>
  </p:normalViewPr>
  <p:slideViewPr>
    <p:cSldViewPr snapToGrid="0" snapToObjects="1">
      <p:cViewPr varScale="1">
        <p:scale>
          <a:sx n="80" d="100"/>
          <a:sy n="80" d="100"/>
        </p:scale>
        <p:origin x="68"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yang Li (Biomedical Sciences)" userId="4cc1ef1a-8e69-45cc-9e5b-7a6a45faea93" providerId="ADAL" clId="{27ECDC03-E81B-4171-BB27-0BBEC8232E42}"/>
    <pc:docChg chg="undo custSel addSld delSld modSld sldOrd modMainMaster">
      <pc:chgData name="Songyang Li (Biomedical Sciences)" userId="4cc1ef1a-8e69-45cc-9e5b-7a6a45faea93" providerId="ADAL" clId="{27ECDC03-E81B-4171-BB27-0BBEC8232E42}" dt="2026-10-11T09:27:16.868" v="271"/>
      <pc:docMkLst>
        <pc:docMk/>
      </pc:docMkLst>
      <pc:sldChg chg="modNotes">
        <pc:chgData name="Songyang Li (Biomedical Sciences)" userId="4cc1ef1a-8e69-45cc-9e5b-7a6a45faea93" providerId="ADAL" clId="{27ECDC03-E81B-4171-BB27-0BBEC8232E42}" dt="2026-10-11T09:26:30.069" v="171" actId="368"/>
        <pc:sldMkLst>
          <pc:docMk/>
          <pc:sldMk cId="0" sldId="256"/>
        </pc:sldMkLst>
      </pc:sldChg>
      <pc:sldChg chg="modNotes">
        <pc:chgData name="Songyang Li (Biomedical Sciences)" userId="4cc1ef1a-8e69-45cc-9e5b-7a6a45faea93" providerId="ADAL" clId="{27ECDC03-E81B-4171-BB27-0BBEC8232E42}" dt="2026-10-11T09:26:30.078" v="173" actId="368"/>
        <pc:sldMkLst>
          <pc:docMk/>
          <pc:sldMk cId="0" sldId="257"/>
        </pc:sldMkLst>
      </pc:sldChg>
      <pc:sldChg chg="modNotes">
        <pc:chgData name="Songyang Li (Biomedical Sciences)" userId="4cc1ef1a-8e69-45cc-9e5b-7a6a45faea93" providerId="ADAL" clId="{27ECDC03-E81B-4171-BB27-0BBEC8232E42}" dt="2026-10-11T09:26:30.145" v="185" actId="368"/>
        <pc:sldMkLst>
          <pc:docMk/>
          <pc:sldMk cId="0" sldId="260"/>
        </pc:sldMkLst>
      </pc:sldChg>
      <pc:sldChg chg="modNotes">
        <pc:chgData name="Songyang Li (Biomedical Sciences)" userId="4cc1ef1a-8e69-45cc-9e5b-7a6a45faea93" providerId="ADAL" clId="{27ECDC03-E81B-4171-BB27-0BBEC8232E42}" dt="2026-10-11T09:26:30.094" v="175" actId="368"/>
        <pc:sldMkLst>
          <pc:docMk/>
          <pc:sldMk cId="0" sldId="262"/>
        </pc:sldMkLst>
      </pc:sldChg>
      <pc:sldChg chg="modNotes">
        <pc:chgData name="Songyang Li (Biomedical Sciences)" userId="4cc1ef1a-8e69-45cc-9e5b-7a6a45faea93" providerId="ADAL" clId="{27ECDC03-E81B-4171-BB27-0BBEC8232E42}" dt="2026-10-11T09:26:30.105" v="177" actId="368"/>
        <pc:sldMkLst>
          <pc:docMk/>
          <pc:sldMk cId="0" sldId="263"/>
        </pc:sldMkLst>
      </pc:sldChg>
      <pc:sldChg chg="modNotes">
        <pc:chgData name="Songyang Li (Biomedical Sciences)" userId="4cc1ef1a-8e69-45cc-9e5b-7a6a45faea93" providerId="ADAL" clId="{27ECDC03-E81B-4171-BB27-0BBEC8232E42}" dt="2026-10-11T09:26:30.113" v="179" actId="368"/>
        <pc:sldMkLst>
          <pc:docMk/>
          <pc:sldMk cId="0" sldId="264"/>
        </pc:sldMkLst>
      </pc:sldChg>
      <pc:sldChg chg="modNotes">
        <pc:chgData name="Songyang Li (Biomedical Sciences)" userId="4cc1ef1a-8e69-45cc-9e5b-7a6a45faea93" providerId="ADAL" clId="{27ECDC03-E81B-4171-BB27-0BBEC8232E42}" dt="2026-10-11T09:26:30.127" v="181" actId="368"/>
        <pc:sldMkLst>
          <pc:docMk/>
          <pc:sldMk cId="0" sldId="265"/>
        </pc:sldMkLst>
      </pc:sldChg>
      <pc:sldChg chg="modNotes">
        <pc:chgData name="Songyang Li (Biomedical Sciences)" userId="4cc1ef1a-8e69-45cc-9e5b-7a6a45faea93" providerId="ADAL" clId="{27ECDC03-E81B-4171-BB27-0BBEC8232E42}" dt="2026-10-11T09:26:30.136" v="183" actId="368"/>
        <pc:sldMkLst>
          <pc:docMk/>
          <pc:sldMk cId="0" sldId="266"/>
        </pc:sldMkLst>
      </pc:sldChg>
      <pc:sldChg chg="modSp mod modNotes">
        <pc:chgData name="Songyang Li (Biomedical Sciences)" userId="4cc1ef1a-8e69-45cc-9e5b-7a6a45faea93" providerId="ADAL" clId="{27ECDC03-E81B-4171-BB27-0BBEC8232E42}" dt="2026-10-11T09:26:30.158" v="187" actId="368"/>
        <pc:sldMkLst>
          <pc:docMk/>
          <pc:sldMk cId="0" sldId="267"/>
        </pc:sldMkLst>
      </pc:sldChg>
      <pc:sldChg chg="modNotes">
        <pc:chgData name="Songyang Li (Biomedical Sciences)" userId="4cc1ef1a-8e69-45cc-9e5b-7a6a45faea93" providerId="ADAL" clId="{27ECDC03-E81B-4171-BB27-0BBEC8232E42}" dt="2026-10-11T09:26:30.168" v="189" actId="368"/>
        <pc:sldMkLst>
          <pc:docMk/>
          <pc:sldMk cId="0" sldId="268"/>
        </pc:sldMkLst>
      </pc:sldChg>
      <pc:sldChg chg="modNotes">
        <pc:chgData name="Songyang Li (Biomedical Sciences)" userId="4cc1ef1a-8e69-45cc-9e5b-7a6a45faea93" providerId="ADAL" clId="{27ECDC03-E81B-4171-BB27-0BBEC8232E42}" dt="2026-10-11T09:26:30.175" v="191" actId="368"/>
        <pc:sldMkLst>
          <pc:docMk/>
          <pc:sldMk cId="0" sldId="269"/>
        </pc:sldMkLst>
      </pc:sldChg>
      <pc:sldChg chg="modNotes">
        <pc:chgData name="Songyang Li (Biomedical Sciences)" userId="4cc1ef1a-8e69-45cc-9e5b-7a6a45faea93" providerId="ADAL" clId="{27ECDC03-E81B-4171-BB27-0BBEC8232E42}" dt="2026-10-11T09:26:30.186" v="193" actId="368"/>
        <pc:sldMkLst>
          <pc:docMk/>
          <pc:sldMk cId="0" sldId="270"/>
        </pc:sldMkLst>
      </pc:sldChg>
      <pc:sldChg chg="modNotes">
        <pc:chgData name="Songyang Li (Biomedical Sciences)" userId="4cc1ef1a-8e69-45cc-9e5b-7a6a45faea93" providerId="ADAL" clId="{27ECDC03-E81B-4171-BB27-0BBEC8232E42}" dt="2026-10-11T09:26:30.186" v="195" actId="368"/>
        <pc:sldMkLst>
          <pc:docMk/>
          <pc:sldMk cId="0" sldId="272"/>
        </pc:sldMkLst>
      </pc:sldChg>
      <pc:sldChg chg="modNotes">
        <pc:chgData name="Songyang Li (Biomedical Sciences)" userId="4cc1ef1a-8e69-45cc-9e5b-7a6a45faea93" providerId="ADAL" clId="{27ECDC03-E81B-4171-BB27-0BBEC8232E42}" dt="2026-10-11T09:26:30.210" v="197" actId="368"/>
        <pc:sldMkLst>
          <pc:docMk/>
          <pc:sldMk cId="0" sldId="274"/>
        </pc:sldMkLst>
      </pc:sldChg>
      <pc:sldChg chg="modNotes">
        <pc:chgData name="Songyang Li (Biomedical Sciences)" userId="4cc1ef1a-8e69-45cc-9e5b-7a6a45faea93" providerId="ADAL" clId="{27ECDC03-E81B-4171-BB27-0BBEC8232E42}" dt="2026-10-11T09:26:30.219" v="199" actId="368"/>
        <pc:sldMkLst>
          <pc:docMk/>
          <pc:sldMk cId="0" sldId="275"/>
        </pc:sldMkLst>
      </pc:sldChg>
      <pc:sldChg chg="modNotes">
        <pc:chgData name="Songyang Li (Biomedical Sciences)" userId="4cc1ef1a-8e69-45cc-9e5b-7a6a45faea93" providerId="ADAL" clId="{27ECDC03-E81B-4171-BB27-0BBEC8232E42}" dt="2026-10-11T09:26:30.219" v="201" actId="368"/>
        <pc:sldMkLst>
          <pc:docMk/>
          <pc:sldMk cId="0" sldId="276"/>
        </pc:sldMkLst>
      </pc:sldChg>
      <pc:sldChg chg="modNotes">
        <pc:chgData name="Songyang Li (Biomedical Sciences)" userId="4cc1ef1a-8e69-45cc-9e5b-7a6a45faea93" providerId="ADAL" clId="{27ECDC03-E81B-4171-BB27-0BBEC8232E42}" dt="2026-10-11T09:26:30.235" v="203" actId="368"/>
        <pc:sldMkLst>
          <pc:docMk/>
          <pc:sldMk cId="0" sldId="279"/>
        </pc:sldMkLst>
      </pc:sldChg>
      <pc:sldChg chg="modNotes">
        <pc:chgData name="Songyang Li (Biomedical Sciences)" userId="4cc1ef1a-8e69-45cc-9e5b-7a6a45faea93" providerId="ADAL" clId="{27ECDC03-E81B-4171-BB27-0BBEC8232E42}" dt="2026-10-11T09:26:30.250" v="205" actId="368"/>
        <pc:sldMkLst>
          <pc:docMk/>
          <pc:sldMk cId="0" sldId="280"/>
        </pc:sldMkLst>
      </pc:sldChg>
      <pc:sldChg chg="modNotes">
        <pc:chgData name="Songyang Li (Biomedical Sciences)" userId="4cc1ef1a-8e69-45cc-9e5b-7a6a45faea93" providerId="ADAL" clId="{27ECDC03-E81B-4171-BB27-0BBEC8232E42}" dt="2026-10-11T09:26:30.252" v="207" actId="368"/>
        <pc:sldMkLst>
          <pc:docMk/>
          <pc:sldMk cId="0" sldId="283"/>
        </pc:sldMkLst>
      </pc:sldChg>
      <pc:sldChg chg="modNotes">
        <pc:chgData name="Songyang Li (Biomedical Sciences)" userId="4cc1ef1a-8e69-45cc-9e5b-7a6a45faea93" providerId="ADAL" clId="{27ECDC03-E81B-4171-BB27-0BBEC8232E42}" dt="2026-10-11T09:26:30.269" v="209" actId="368"/>
        <pc:sldMkLst>
          <pc:docMk/>
          <pc:sldMk cId="0" sldId="284"/>
        </pc:sldMkLst>
      </pc:sldChg>
      <pc:sldChg chg="modNotes">
        <pc:chgData name="Songyang Li (Biomedical Sciences)" userId="4cc1ef1a-8e69-45cc-9e5b-7a6a45faea93" providerId="ADAL" clId="{27ECDC03-E81B-4171-BB27-0BBEC8232E42}" dt="2026-10-11T09:26:30.279" v="211" actId="368"/>
        <pc:sldMkLst>
          <pc:docMk/>
          <pc:sldMk cId="0" sldId="285"/>
        </pc:sldMkLst>
      </pc:sldChg>
      <pc:sldChg chg="modNotes">
        <pc:chgData name="Songyang Li (Biomedical Sciences)" userId="4cc1ef1a-8e69-45cc-9e5b-7a6a45faea93" providerId="ADAL" clId="{27ECDC03-E81B-4171-BB27-0BBEC8232E42}" dt="2026-10-11T09:26:30.289" v="213" actId="368"/>
        <pc:sldMkLst>
          <pc:docMk/>
          <pc:sldMk cId="0" sldId="287"/>
        </pc:sldMkLst>
      </pc:sldChg>
      <pc:sldChg chg="modNotes">
        <pc:chgData name="Songyang Li (Biomedical Sciences)" userId="4cc1ef1a-8e69-45cc-9e5b-7a6a45faea93" providerId="ADAL" clId="{27ECDC03-E81B-4171-BB27-0BBEC8232E42}" dt="2026-10-11T09:26:30.299" v="215" actId="368"/>
        <pc:sldMkLst>
          <pc:docMk/>
          <pc:sldMk cId="0" sldId="288"/>
        </pc:sldMkLst>
      </pc:sldChg>
      <pc:sldChg chg="del modNotes">
        <pc:chgData name="Songyang Li (Biomedical Sciences)" userId="4cc1ef1a-8e69-45cc-9e5b-7a6a45faea93" providerId="ADAL" clId="{27ECDC03-E81B-4171-BB27-0BBEC8232E42}" dt="2026-10-11T09:26:49.912" v="264" actId="47"/>
        <pc:sldMkLst>
          <pc:docMk/>
          <pc:sldMk cId="0" sldId="289"/>
        </pc:sldMkLst>
      </pc:sldChg>
      <pc:sldChg chg="modNotes">
        <pc:chgData name="Songyang Li (Biomedical Sciences)" userId="4cc1ef1a-8e69-45cc-9e5b-7a6a45faea93" providerId="ADAL" clId="{27ECDC03-E81B-4171-BB27-0BBEC8232E42}" dt="2026-10-11T09:26:30.319" v="219" actId="368"/>
        <pc:sldMkLst>
          <pc:docMk/>
          <pc:sldMk cId="0" sldId="290"/>
        </pc:sldMkLst>
      </pc:sldChg>
      <pc:sldChg chg="modSp mod modNotes">
        <pc:chgData name="Songyang Li (Biomedical Sciences)" userId="4cc1ef1a-8e69-45cc-9e5b-7a6a45faea93" providerId="ADAL" clId="{27ECDC03-E81B-4171-BB27-0BBEC8232E42}" dt="2026-10-11T09:26:30.336" v="221" actId="368"/>
        <pc:sldMkLst>
          <pc:docMk/>
          <pc:sldMk cId="0" sldId="291"/>
        </pc:sldMkLst>
      </pc:sldChg>
      <pc:sldChg chg="modNotes">
        <pc:chgData name="Songyang Li (Biomedical Sciences)" userId="4cc1ef1a-8e69-45cc-9e5b-7a6a45faea93" providerId="ADAL" clId="{27ECDC03-E81B-4171-BB27-0BBEC8232E42}" dt="2026-10-11T09:26:30.350" v="223" actId="368"/>
        <pc:sldMkLst>
          <pc:docMk/>
          <pc:sldMk cId="0" sldId="292"/>
        </pc:sldMkLst>
      </pc:sldChg>
      <pc:sldChg chg="modNotes">
        <pc:chgData name="Songyang Li (Biomedical Sciences)" userId="4cc1ef1a-8e69-45cc-9e5b-7a6a45faea93" providerId="ADAL" clId="{27ECDC03-E81B-4171-BB27-0BBEC8232E42}" dt="2026-10-11T09:26:30.352" v="225" actId="368"/>
        <pc:sldMkLst>
          <pc:docMk/>
          <pc:sldMk cId="0" sldId="294"/>
        </pc:sldMkLst>
      </pc:sldChg>
      <pc:sldChg chg="modNotes">
        <pc:chgData name="Songyang Li (Biomedical Sciences)" userId="4cc1ef1a-8e69-45cc-9e5b-7a6a45faea93" providerId="ADAL" clId="{27ECDC03-E81B-4171-BB27-0BBEC8232E42}" dt="2026-10-11T09:26:30.378" v="227" actId="368"/>
        <pc:sldMkLst>
          <pc:docMk/>
          <pc:sldMk cId="0" sldId="295"/>
        </pc:sldMkLst>
      </pc:sldChg>
      <pc:sldChg chg="modSp mod modNotes">
        <pc:chgData name="Songyang Li (Biomedical Sciences)" userId="4cc1ef1a-8e69-45cc-9e5b-7a6a45faea93" providerId="ADAL" clId="{27ECDC03-E81B-4171-BB27-0BBEC8232E42}" dt="2026-10-11T09:26:30.390" v="229" actId="368"/>
        <pc:sldMkLst>
          <pc:docMk/>
          <pc:sldMk cId="0" sldId="297"/>
        </pc:sldMkLst>
      </pc:sldChg>
      <pc:sldChg chg="modNotes">
        <pc:chgData name="Songyang Li (Biomedical Sciences)" userId="4cc1ef1a-8e69-45cc-9e5b-7a6a45faea93" providerId="ADAL" clId="{27ECDC03-E81B-4171-BB27-0BBEC8232E42}" dt="2026-10-11T09:26:30.403" v="231" actId="368"/>
        <pc:sldMkLst>
          <pc:docMk/>
          <pc:sldMk cId="0" sldId="298"/>
        </pc:sldMkLst>
      </pc:sldChg>
      <pc:sldChg chg="modNotes">
        <pc:chgData name="Songyang Li (Biomedical Sciences)" userId="4cc1ef1a-8e69-45cc-9e5b-7a6a45faea93" providerId="ADAL" clId="{27ECDC03-E81B-4171-BB27-0BBEC8232E42}" dt="2026-10-11T09:26:30.416" v="233" actId="368"/>
        <pc:sldMkLst>
          <pc:docMk/>
          <pc:sldMk cId="0" sldId="299"/>
        </pc:sldMkLst>
      </pc:sldChg>
      <pc:sldChg chg="modNotes">
        <pc:chgData name="Songyang Li (Biomedical Sciences)" userId="4cc1ef1a-8e69-45cc-9e5b-7a6a45faea93" providerId="ADAL" clId="{27ECDC03-E81B-4171-BB27-0BBEC8232E42}" dt="2026-10-11T09:26:30.430" v="235" actId="368"/>
        <pc:sldMkLst>
          <pc:docMk/>
          <pc:sldMk cId="0" sldId="300"/>
        </pc:sldMkLst>
      </pc:sldChg>
      <pc:sldChg chg="modSp mod modNotes">
        <pc:chgData name="Songyang Li (Biomedical Sciences)" userId="4cc1ef1a-8e69-45cc-9e5b-7a6a45faea93" providerId="ADAL" clId="{27ECDC03-E81B-4171-BB27-0BBEC8232E42}" dt="2026-10-11T09:26:30.443" v="237" actId="368"/>
        <pc:sldMkLst>
          <pc:docMk/>
          <pc:sldMk cId="0" sldId="304"/>
        </pc:sldMkLst>
      </pc:sldChg>
      <pc:sldChg chg="modNotes">
        <pc:chgData name="Songyang Li (Biomedical Sciences)" userId="4cc1ef1a-8e69-45cc-9e5b-7a6a45faea93" providerId="ADAL" clId="{27ECDC03-E81B-4171-BB27-0BBEC8232E42}" dt="2026-10-11T09:26:30.484" v="245" actId="368"/>
        <pc:sldMkLst>
          <pc:docMk/>
          <pc:sldMk cId="0" sldId="305"/>
        </pc:sldMkLst>
      </pc:sldChg>
      <pc:sldChg chg="modNotes">
        <pc:chgData name="Songyang Li (Biomedical Sciences)" userId="4cc1ef1a-8e69-45cc-9e5b-7a6a45faea93" providerId="ADAL" clId="{27ECDC03-E81B-4171-BB27-0BBEC8232E42}" dt="2026-10-11T09:26:30.494" v="247" actId="368"/>
        <pc:sldMkLst>
          <pc:docMk/>
          <pc:sldMk cId="0" sldId="306"/>
        </pc:sldMkLst>
      </pc:sldChg>
      <pc:sldChg chg="modNotes">
        <pc:chgData name="Songyang Li (Biomedical Sciences)" userId="4cc1ef1a-8e69-45cc-9e5b-7a6a45faea93" providerId="ADAL" clId="{27ECDC03-E81B-4171-BB27-0BBEC8232E42}" dt="2026-10-11T09:26:30.452" v="239" actId="368"/>
        <pc:sldMkLst>
          <pc:docMk/>
          <pc:sldMk cId="0" sldId="307"/>
        </pc:sldMkLst>
      </pc:sldChg>
      <pc:sldChg chg="modNotes">
        <pc:chgData name="Songyang Li (Biomedical Sciences)" userId="4cc1ef1a-8e69-45cc-9e5b-7a6a45faea93" providerId="ADAL" clId="{27ECDC03-E81B-4171-BB27-0BBEC8232E42}" dt="2026-10-11T09:26:30.461" v="241" actId="368"/>
        <pc:sldMkLst>
          <pc:docMk/>
          <pc:sldMk cId="0" sldId="308"/>
        </pc:sldMkLst>
      </pc:sldChg>
      <pc:sldChg chg="del modNotes">
        <pc:chgData name="Songyang Li (Biomedical Sciences)" userId="4cc1ef1a-8e69-45cc-9e5b-7a6a45faea93" providerId="ADAL" clId="{27ECDC03-E81B-4171-BB27-0BBEC8232E42}" dt="2026-10-11T09:27:06.095" v="265" actId="47"/>
        <pc:sldMkLst>
          <pc:docMk/>
          <pc:sldMk cId="0" sldId="309"/>
        </pc:sldMkLst>
      </pc:sldChg>
      <pc:sldChg chg="modNotes">
        <pc:chgData name="Songyang Li (Biomedical Sciences)" userId="4cc1ef1a-8e69-45cc-9e5b-7a6a45faea93" providerId="ADAL" clId="{27ECDC03-E81B-4171-BB27-0BBEC8232E42}" dt="2026-10-11T09:26:30.502" v="249" actId="368"/>
        <pc:sldMkLst>
          <pc:docMk/>
          <pc:sldMk cId="0" sldId="310"/>
        </pc:sldMkLst>
      </pc:sldChg>
      <pc:sldChg chg="modSp mod modNotes">
        <pc:chgData name="Songyang Li (Biomedical Sciences)" userId="4cc1ef1a-8e69-45cc-9e5b-7a6a45faea93" providerId="ADAL" clId="{27ECDC03-E81B-4171-BB27-0BBEC8232E42}" dt="2026-10-11T09:26:30.519" v="251" actId="368"/>
        <pc:sldMkLst>
          <pc:docMk/>
          <pc:sldMk cId="0" sldId="311"/>
        </pc:sldMkLst>
      </pc:sldChg>
      <pc:sldChg chg="modNotes">
        <pc:chgData name="Songyang Li (Biomedical Sciences)" userId="4cc1ef1a-8e69-45cc-9e5b-7a6a45faea93" providerId="ADAL" clId="{27ECDC03-E81B-4171-BB27-0BBEC8232E42}" dt="2026-10-11T09:26:30.536" v="253" actId="368"/>
        <pc:sldMkLst>
          <pc:docMk/>
          <pc:sldMk cId="0" sldId="312"/>
        </pc:sldMkLst>
      </pc:sldChg>
      <pc:sldChg chg="modNotes">
        <pc:chgData name="Songyang Li (Biomedical Sciences)" userId="4cc1ef1a-8e69-45cc-9e5b-7a6a45faea93" providerId="ADAL" clId="{27ECDC03-E81B-4171-BB27-0BBEC8232E42}" dt="2026-10-11T09:26:30.554" v="255" actId="368"/>
        <pc:sldMkLst>
          <pc:docMk/>
          <pc:sldMk cId="0" sldId="313"/>
        </pc:sldMkLst>
      </pc:sldChg>
      <pc:sldChg chg="modNotes">
        <pc:chgData name="Songyang Li (Biomedical Sciences)" userId="4cc1ef1a-8e69-45cc-9e5b-7a6a45faea93" providerId="ADAL" clId="{27ECDC03-E81B-4171-BB27-0BBEC8232E42}" dt="2026-10-11T09:26:30.570" v="257" actId="368"/>
        <pc:sldMkLst>
          <pc:docMk/>
          <pc:sldMk cId="0" sldId="314"/>
        </pc:sldMkLst>
      </pc:sldChg>
      <pc:sldChg chg="modNotes">
        <pc:chgData name="Songyang Li (Biomedical Sciences)" userId="4cc1ef1a-8e69-45cc-9e5b-7a6a45faea93" providerId="ADAL" clId="{27ECDC03-E81B-4171-BB27-0BBEC8232E42}" dt="2026-10-11T09:26:30.585" v="259" actId="368"/>
        <pc:sldMkLst>
          <pc:docMk/>
          <pc:sldMk cId="0" sldId="315"/>
        </pc:sldMkLst>
      </pc:sldChg>
      <pc:sldChg chg="ord modNotes">
        <pc:chgData name="Songyang Li (Biomedical Sciences)" userId="4cc1ef1a-8e69-45cc-9e5b-7a6a45faea93" providerId="ADAL" clId="{27ECDC03-E81B-4171-BB27-0BBEC8232E42}" dt="2026-10-11T09:27:16.868" v="271"/>
        <pc:sldMkLst>
          <pc:docMk/>
          <pc:sldMk cId="0" sldId="317"/>
        </pc:sldMkLst>
      </pc:sldChg>
      <pc:sldChg chg="ord modNotes">
        <pc:chgData name="Songyang Li (Biomedical Sciences)" userId="4cc1ef1a-8e69-45cc-9e5b-7a6a45faea93" providerId="ADAL" clId="{27ECDC03-E81B-4171-BB27-0BBEC8232E42}" dt="2026-10-11T09:27:16.020" v="269"/>
        <pc:sldMkLst>
          <pc:docMk/>
          <pc:sldMk cId="0" sldId="31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30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5D149E-358D-2440-BDD5-072440F2B74A}" type="slidenum">
              <a:rPr lang="en-US" smtClean="0"/>
              <a:t>1</a:t>
            </a:fld>
            <a:endParaRPr lang="en-US" dirty="0"/>
          </a:p>
        </p:txBody>
      </p:sp>
    </p:spTree>
    <p:extLst>
      <p:ext uri="{BB962C8B-B14F-4D97-AF65-F5344CB8AC3E}">
        <p14:creationId xmlns:p14="http://schemas.microsoft.com/office/powerpoint/2010/main" val="3805944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333F5-85BE-B339-F237-9E0DFCE03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96E25-1FD3-0928-48EB-88AAC768D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20C71-E994-B895-169E-E71EE58E6B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86F5E-AA11-B13C-9E8A-6BBBBBDEFC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D149E-358D-2440-BDD5-072440F2B7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37816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4. Logo">
            <a:extLst>
              <a:ext uri="{FF2B5EF4-FFF2-40B4-BE49-F238E27FC236}">
                <a16:creationId xmlns:a16="http://schemas.microsoft.com/office/drawing/2014/main" id="{D11A06F8-A757-2CE9-47B4-59206AE098F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2076" y="6215804"/>
            <a:ext cx="1954059" cy="56773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Dark Title Slide">
    <p:spTree>
      <p:nvGrpSpPr>
        <p:cNvPr id="1" name=""/>
        <p:cNvGrpSpPr/>
        <p:nvPr/>
      </p:nvGrpSpPr>
      <p:grpSpPr>
        <a:xfrm>
          <a:off x="0" y="0"/>
          <a:ext cx="0" cy="0"/>
          <a:chOff x="0" y="0"/>
          <a:chExt cx="0" cy="0"/>
        </a:xfrm>
      </p:grpSpPr>
      <p:pic>
        <p:nvPicPr>
          <p:cNvPr id="5" name="Picture 4" descr="A black background with white lines&#10;&#10;Description automatically generated">
            <a:extLst>
              <a:ext uri="{FF2B5EF4-FFF2-40B4-BE49-F238E27FC236}">
                <a16:creationId xmlns:a16="http://schemas.microsoft.com/office/drawing/2014/main" id="{AE27EB5B-E9D6-C880-0B18-C1B1EF8AED01}"/>
              </a:ext>
            </a:extLst>
          </p:cNvPr>
          <p:cNvPicPr>
            <a:picLocks noChangeAspect="1"/>
          </p:cNvPicPr>
          <p:nvPr userDrawn="1"/>
        </p:nvPicPr>
        <p:blipFill>
          <a:blip r:embed="rId2"/>
          <a:stretch>
            <a:fillRect/>
          </a:stretch>
        </p:blipFill>
        <p:spPr>
          <a:xfrm>
            <a:off x="3176" y="0"/>
            <a:ext cx="12185651" cy="6858000"/>
          </a:xfrm>
          <a:prstGeom prst="rect">
            <a:avLst/>
          </a:prstGeom>
        </p:spPr>
      </p:pic>
      <p:pic>
        <p:nvPicPr>
          <p:cNvPr id="14" name="4. Logo">
            <a:extLst>
              <a:ext uri="{FF2B5EF4-FFF2-40B4-BE49-F238E27FC236}">
                <a16:creationId xmlns:a16="http://schemas.microsoft.com/office/drawing/2014/main" id="{4504F269-56E3-639E-F1B1-41EEC4813B5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1" y="5787179"/>
            <a:ext cx="1954059" cy="567738"/>
          </a:xfrm>
          <a:prstGeom prst="rect">
            <a:avLst/>
          </a:prstGeom>
        </p:spPr>
      </p:pic>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b="0" i="0">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solidFill>
                  <a:srgbClr val="FFFFFF"/>
                </a:solidFill>
                <a:effectLst/>
                <a:latin typeface="Helvetica" pitchFamily="2" charset="0"/>
              </a:rPr>
              <a:t>Insert sub copy here.</a:t>
            </a:r>
          </a:p>
        </p:txBody>
      </p:sp>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lvl1pPr>
          </a:lstStyle>
          <a:p>
            <a:r>
              <a:rPr lang="en-GB" dirty="0"/>
              <a:t>Insert headline here. </a:t>
            </a:r>
            <a:br>
              <a:rPr lang="en-GB" dirty="0"/>
            </a:br>
            <a:r>
              <a:rPr lang="en-GB" dirty="0"/>
              <a:t>Should be between </a:t>
            </a:r>
            <a:br>
              <a:rPr lang="en-GB" dirty="0"/>
            </a:br>
            <a:r>
              <a:rPr lang="en-GB" dirty="0"/>
              <a:t>1-3 lines max. </a:t>
            </a:r>
            <a:endParaRPr lang="en-US" dirty="0"/>
          </a:p>
        </p:txBody>
      </p:sp>
      <p:sp>
        <p:nvSpPr>
          <p:cNvPr id="16" name="1. Section Title Placeholder">
            <a:extLst>
              <a:ext uri="{FF2B5EF4-FFF2-40B4-BE49-F238E27FC236}">
                <a16:creationId xmlns:a16="http://schemas.microsoft.com/office/drawing/2014/main" id="{7CE02850-963E-BCA7-D70C-3BCCF65A0640}"/>
              </a:ext>
            </a:extLst>
          </p:cNvPr>
          <p:cNvSpPr>
            <a:spLocks noGrp="1"/>
          </p:cNvSpPr>
          <p:nvPr>
            <p:ph type="body" idx="10" hasCustomPrompt="1"/>
          </p:nvPr>
        </p:nvSpPr>
        <p:spPr>
          <a:xfrm>
            <a:off x="406400" y="698183"/>
            <a:ext cx="9154160" cy="244682"/>
          </a:xfrm>
          <a:prstGeom prst="rect">
            <a:avLst/>
          </a:prstGeom>
        </p:spPr>
        <p:txBody>
          <a:bodyPr wrap="square">
            <a:spAutoFit/>
          </a:bodyPr>
          <a:lstStyle>
            <a:lvl1pPr marL="0" indent="0">
              <a:buNone/>
              <a:defRPr sz="11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GB" dirty="0"/>
              <a:t>SECTION TITLE </a:t>
            </a:r>
          </a:p>
        </p:txBody>
      </p:sp>
    </p:spTree>
    <p:extLst>
      <p:ext uri="{BB962C8B-B14F-4D97-AF65-F5344CB8AC3E}">
        <p14:creationId xmlns:p14="http://schemas.microsoft.com/office/powerpoint/2010/main" val="2721643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ght Title Slide_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89600" cy="6856650"/>
          </a:xfrm>
          <a:prstGeom prst="rect">
            <a:avLst/>
          </a:prstGeom>
        </p:spPr>
      </p:pic>
      <p:sp>
        <p:nvSpPr>
          <p:cNvPr id="2" name="Title 1">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lvl1pPr>
          </a:lstStyle>
          <a:p>
            <a:r>
              <a:rPr lang="en-GB"/>
              <a:t>Insert headline here. </a:t>
            </a:r>
            <a:br>
              <a:rPr lang="en-GB"/>
            </a:br>
            <a:r>
              <a:rPr lang="en-GB"/>
              <a:t>Should be between </a:t>
            </a:r>
            <a:br>
              <a:rPr lang="en-GB"/>
            </a:br>
            <a:r>
              <a:rPr lang="en-GB"/>
              <a:t>1-3 lines max. </a:t>
            </a:r>
            <a:endParaRPr lang="en-US"/>
          </a:p>
        </p:txBody>
      </p:sp>
      <p:sp>
        <p:nvSpPr>
          <p:cNvPr id="15" name="Subtitle 2">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10" name="Picture Placeholder 9">
            <a:extLst>
              <a:ext uri="{FF2B5EF4-FFF2-40B4-BE49-F238E27FC236}">
                <a16:creationId xmlns:a16="http://schemas.microsoft.com/office/drawing/2014/main" id="{C992F3AA-2026-24C9-831B-F66B099808AB}"/>
              </a:ext>
            </a:extLst>
          </p:cNvPr>
          <p:cNvSpPr>
            <a:spLocks noGrp="1"/>
          </p:cNvSpPr>
          <p:nvPr>
            <p:ph type="pic" idx="11" hasCustomPrompt="1"/>
          </p:nvPr>
        </p:nvSpPr>
        <p:spPr>
          <a:xfrm>
            <a:off x="7656738" y="0"/>
            <a:ext cx="4542379" cy="6858000"/>
          </a:xfrm>
          <a:custGeom>
            <a:avLst/>
            <a:gdLst>
              <a:gd name="connsiteX0" fmla="*/ 1896887 w 4542379"/>
              <a:gd name="connsiteY0" fmla="*/ 0 h 6858000"/>
              <a:gd name="connsiteX1" fmla="*/ 4542379 w 4542379"/>
              <a:gd name="connsiteY1" fmla="*/ 0 h 6858000"/>
              <a:gd name="connsiteX2" fmla="*/ 4542379 w 4542379"/>
              <a:gd name="connsiteY2" fmla="*/ 6858000 h 6858000"/>
              <a:gd name="connsiteX3" fmla="*/ 2609965 w 4542379"/>
              <a:gd name="connsiteY3" fmla="*/ 6858000 h 6858000"/>
              <a:gd name="connsiteX4" fmla="*/ 0 w 4542379"/>
              <a:gd name="connsiteY4" fmla="*/ 177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379" h="6858000">
                <a:moveTo>
                  <a:pt x="1896887" y="0"/>
                </a:moveTo>
                <a:lnTo>
                  <a:pt x="4542379" y="0"/>
                </a:lnTo>
                <a:lnTo>
                  <a:pt x="4542379" y="6858000"/>
                </a:lnTo>
                <a:lnTo>
                  <a:pt x="2609965" y="6858000"/>
                </a:lnTo>
                <a:lnTo>
                  <a:pt x="0" y="1778000"/>
                </a:lnTo>
                <a:close/>
              </a:path>
            </a:pathLst>
          </a:custGeom>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pic>
        <p:nvPicPr>
          <p:cNvPr id="11" name="Graphic 10">
            <a:extLst>
              <a:ext uri="{FF2B5EF4-FFF2-40B4-BE49-F238E27FC236}">
                <a16:creationId xmlns:a16="http://schemas.microsoft.com/office/drawing/2014/main" id="{57E62669-0C8C-8C81-1274-25D65572689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3" name="Text Placeholder 2">
            <a:extLst>
              <a:ext uri="{FF2B5EF4-FFF2-40B4-BE49-F238E27FC236}">
                <a16:creationId xmlns:a16="http://schemas.microsoft.com/office/drawing/2014/main" id="{9AA4F300-E495-F297-DBF6-81920AD6E66B}"/>
              </a:ext>
            </a:extLst>
          </p:cNvPr>
          <p:cNvSpPr>
            <a:spLocks noGrp="1"/>
          </p:cNvSpPr>
          <p:nvPr>
            <p:ph type="body" idx="10" hasCustomPrompt="1"/>
          </p:nvPr>
        </p:nvSpPr>
        <p:spPr>
          <a:xfrm>
            <a:off x="406400" y="698182"/>
            <a:ext cx="9154160" cy="244682"/>
          </a:xfrm>
          <a:prstGeom prst="rect">
            <a:avLst/>
          </a:prstGeom>
        </p:spPr>
        <p:txBody>
          <a:bodyPr wrap="square">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SECTION TITLE</a:t>
            </a:r>
          </a:p>
        </p:txBody>
      </p:sp>
      <p:sp>
        <p:nvSpPr>
          <p:cNvPr id="4" name="Slide Number Placeholder 3">
            <a:extLst>
              <a:ext uri="{FF2B5EF4-FFF2-40B4-BE49-F238E27FC236}">
                <a16:creationId xmlns:a16="http://schemas.microsoft.com/office/drawing/2014/main" id="{97B6DF37-936F-05A0-C9C7-13E6E092C41D}"/>
              </a:ext>
            </a:extLst>
          </p:cNvPr>
          <p:cNvSpPr>
            <a:spLocks noGrp="1"/>
          </p:cNvSpPr>
          <p:nvPr>
            <p:ph type="sldNum" sz="quarter" idx="12"/>
          </p:nvPr>
        </p:nvSpPr>
        <p:spPr/>
        <p:txBody>
          <a:bodyPr/>
          <a:lstStyle/>
          <a:p>
            <a:fld id="{2ACC6742-E856-4950-8186-1B90227D26FA}" type="slidenum">
              <a:rPr lang="en-GB" smtClean="0"/>
              <a:t>‹#›</a:t>
            </a:fld>
            <a:endParaRPr lang="en-GB"/>
          </a:p>
        </p:txBody>
      </p:sp>
    </p:spTree>
    <p:extLst>
      <p:ext uri="{BB962C8B-B14F-4D97-AF65-F5344CB8AC3E}">
        <p14:creationId xmlns:p14="http://schemas.microsoft.com/office/powerpoint/2010/main" val="14556015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3.png"/><Relationship Id="rId5" Type="http://schemas.openxmlformats.org/officeDocument/2006/relationships/image" Target="../media/image24.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3.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7.jp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Layout" Target="../slideLayouts/slideLayout1.xml"/><Relationship Id="rId7" Type="http://schemas.openxmlformats.org/officeDocument/2006/relationships/image" Target="../media/image45.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5.jp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hyperlink" Target="mailto:s.li.15@bham.ac.uk"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2. Subtitle Placeholder">
            <a:extLst>
              <a:ext uri="{FF2B5EF4-FFF2-40B4-BE49-F238E27FC236}">
                <a16:creationId xmlns:a16="http://schemas.microsoft.com/office/drawing/2014/main" id="{CDC33EBC-F209-63EB-7921-88D652D530A9}"/>
              </a:ext>
            </a:extLst>
          </p:cNvPr>
          <p:cNvSpPr>
            <a:spLocks noGrp="1"/>
          </p:cNvSpPr>
          <p:nvPr>
            <p:ph type="subTitle" idx="1"/>
          </p:nvPr>
        </p:nvSpPr>
        <p:spPr/>
        <p:txBody>
          <a:bodyPr/>
          <a:lstStyle/>
          <a:p>
            <a:r>
              <a:rPr lang="en-US" dirty="0">
                <a:solidFill>
                  <a:schemeClr val="bg1"/>
                </a:solidFill>
              </a:rPr>
              <a:t>Fundamental of Neurosciences (FON) – Lecture 7 </a:t>
            </a:r>
          </a:p>
          <a:p>
            <a:endParaRPr lang="en-US" dirty="0">
              <a:solidFill>
                <a:schemeClr val="bg1"/>
              </a:solidFill>
            </a:endParaRPr>
          </a:p>
          <a:p>
            <a:r>
              <a:rPr lang="en-US" dirty="0">
                <a:solidFill>
                  <a:schemeClr val="bg1"/>
                </a:solidFill>
              </a:rPr>
              <a:t>Dr Songyang Li</a:t>
            </a:r>
          </a:p>
          <a:p>
            <a:r>
              <a:rPr lang="en-US" dirty="0">
                <a:solidFill>
                  <a:schemeClr val="bg1"/>
                </a:solidFill>
              </a:rPr>
              <a:t>s.li.15@bham.ac.uk</a:t>
            </a:r>
          </a:p>
        </p:txBody>
      </p:sp>
      <p:sp>
        <p:nvSpPr>
          <p:cNvPr id="2" name="1. Title Placeholder">
            <a:extLst>
              <a:ext uri="{FF2B5EF4-FFF2-40B4-BE49-F238E27FC236}">
                <a16:creationId xmlns:a16="http://schemas.microsoft.com/office/drawing/2014/main" id="{23C0B845-82DE-704C-C320-2E84FA691C7B}"/>
              </a:ext>
            </a:extLst>
          </p:cNvPr>
          <p:cNvSpPr>
            <a:spLocks noGrp="1"/>
          </p:cNvSpPr>
          <p:nvPr>
            <p:ph type="ctrTitle"/>
          </p:nvPr>
        </p:nvSpPr>
        <p:spPr>
          <a:xfrm>
            <a:off x="1728410" y="-34186"/>
            <a:ext cx="9144000" cy="2387600"/>
          </a:xfrm>
        </p:spPr>
        <p:txBody>
          <a:bodyPr anchor="ctr"/>
          <a:lstStyle/>
          <a:p>
            <a:r>
              <a:rPr lang="en-GB" sz="4800" dirty="0">
                <a:solidFill>
                  <a:schemeClr val="bg1"/>
                </a:solidFill>
              </a:rPr>
              <a:t>N</a:t>
            </a:r>
            <a:r>
              <a:rPr lang="en-US" altLang="zh-CN" sz="4800" dirty="0" err="1">
                <a:solidFill>
                  <a:schemeClr val="bg1"/>
                </a:solidFill>
              </a:rPr>
              <a:t>erve</a:t>
            </a:r>
            <a:r>
              <a:rPr lang="en-US" altLang="zh-CN" sz="4800" dirty="0">
                <a:solidFill>
                  <a:schemeClr val="bg1"/>
                </a:solidFill>
              </a:rPr>
              <a:t> and Muscle:</a:t>
            </a:r>
            <a:br>
              <a:rPr lang="en-US" altLang="zh-CN" sz="4800" dirty="0">
                <a:solidFill>
                  <a:schemeClr val="bg1"/>
                </a:solidFill>
              </a:rPr>
            </a:br>
            <a:r>
              <a:rPr lang="en-US" altLang="zh-CN" sz="4800" dirty="0">
                <a:solidFill>
                  <a:schemeClr val="bg1"/>
                </a:solidFill>
              </a:rPr>
              <a:t>Degeneration and Reinnervation</a:t>
            </a:r>
            <a:endParaRPr lang="en-US" sz="4800" dirty="0">
              <a:solidFill>
                <a:schemeClr val="bg1"/>
              </a:solidFill>
            </a:endParaRPr>
          </a:p>
        </p:txBody>
      </p:sp>
      <p:pic>
        <p:nvPicPr>
          <p:cNvPr id="7" name="object 7">
            <a:extLst>
              <a:ext uri="{FF2B5EF4-FFF2-40B4-BE49-F238E27FC236}">
                <a16:creationId xmlns:a16="http://schemas.microsoft.com/office/drawing/2014/main" id="{BD98358D-37BD-DE86-DC21-C44C5AEE8764}"/>
              </a:ext>
            </a:extLst>
          </p:cNvPr>
          <p:cNvPicPr/>
          <p:nvPr/>
        </p:nvPicPr>
        <p:blipFill>
          <a:blip r:embed="rId3" cstate="print"/>
          <a:stretch>
            <a:fillRect/>
          </a:stretch>
        </p:blipFill>
        <p:spPr>
          <a:xfrm>
            <a:off x="238125" y="227706"/>
            <a:ext cx="1400175" cy="2533659"/>
          </a:xfrm>
          <a:prstGeom prst="rect">
            <a:avLst/>
          </a:prstGeom>
        </p:spPr>
      </p:pic>
    </p:spTree>
    <p:extLst>
      <p:ext uri="{BB962C8B-B14F-4D97-AF65-F5344CB8AC3E}">
        <p14:creationId xmlns:p14="http://schemas.microsoft.com/office/powerpoint/2010/main" val="2063773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Nerve and Muscle: Degeneration and Re-innervation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302726" y="4149970"/>
            <a:ext cx="12196420" cy="2371488"/>
          </a:xfrm>
          <a:prstGeom prst="rect">
            <a:avLst/>
          </a:prstGeom>
          <a:noFill/>
          <a:ln/>
        </p:spPr>
        <p:txBody>
          <a:bodyPr wrap="square" lIns="1016" tIns="1016" rIns="1016" bIns="1016" rtlCol="0" anchor="ctr">
            <a:normAutofit/>
          </a:bodyPr>
          <a:lstStyle/>
          <a:p>
            <a:pPr marL="177800" indent="-177800">
              <a:buSzPct val="100000"/>
              <a:buChar char="•"/>
            </a:pPr>
            <a:r>
              <a:rPr lang="en-US" sz="2000" dirty="0">
                <a:solidFill>
                  <a:srgbClr val="FFFFFF"/>
                </a:solidFill>
              </a:rPr>
              <a:t>One story: normal motor unit → nerve injury → degeneration → regeneration → muscle response.</a:t>
            </a:r>
            <a:endParaRPr lang="en-US" sz="2000" dirty="0"/>
          </a:p>
          <a:p>
            <a:pPr marL="177800" indent="-177800">
              <a:buSzPct val="100000"/>
              <a:buChar char="•"/>
            </a:pPr>
            <a:r>
              <a:rPr lang="en-US" sz="2000" dirty="0">
                <a:solidFill>
                  <a:srgbClr val="FFFFFF"/>
                </a:solidFill>
              </a:rPr>
              <a:t>Focus on lower motor neurones, peripheral nerves, skeletal muscle, and the consequences of trauma.</a:t>
            </a:r>
            <a:endParaRPr lang="en-US" sz="2000" dirty="0"/>
          </a:p>
          <a:p>
            <a:pPr marL="177800" indent="-177800">
              <a:buSzPct val="100000"/>
              <a:buChar char="•"/>
            </a:pPr>
            <a:r>
              <a:rPr lang="en-US" sz="2000" dirty="0">
                <a:solidFill>
                  <a:srgbClr val="FFFFFF"/>
                </a:solidFill>
              </a:rPr>
              <a:t>Keep asking: what structure is still intact, and therefore what can recover?</a:t>
            </a:r>
            <a:endParaRPr lang="en-US" sz="2000" dirty="0"/>
          </a:p>
        </p:txBody>
      </p:sp>
      <p:pic>
        <p:nvPicPr>
          <p:cNvPr id="11" name="Picture 10">
            <a:extLst>
              <a:ext uri="{FF2B5EF4-FFF2-40B4-BE49-F238E27FC236}">
                <a16:creationId xmlns:a16="http://schemas.microsoft.com/office/drawing/2014/main" id="{10CCC1CE-7A3B-94BC-CA54-360859774E2F}"/>
              </a:ext>
            </a:extLst>
          </p:cNvPr>
          <p:cNvPicPr>
            <a:picLocks noChangeAspect="1"/>
          </p:cNvPicPr>
          <p:nvPr/>
        </p:nvPicPr>
        <p:blipFill>
          <a:blip r:embed="rId3"/>
          <a:stretch>
            <a:fillRect/>
          </a:stretch>
        </p:blipFill>
        <p:spPr>
          <a:xfrm>
            <a:off x="502920" y="1380745"/>
            <a:ext cx="7775049" cy="3160589"/>
          </a:xfrm>
          <a:prstGeom prst="rect">
            <a:avLst/>
          </a:prstGeom>
        </p:spPr>
      </p:pic>
      <p:pic>
        <p:nvPicPr>
          <p:cNvPr id="13" name="Picture 12">
            <a:extLst>
              <a:ext uri="{FF2B5EF4-FFF2-40B4-BE49-F238E27FC236}">
                <a16:creationId xmlns:a16="http://schemas.microsoft.com/office/drawing/2014/main" id="{98CD4BDD-8E88-3650-61B7-F1A0460EC25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5279736" y="-1163970"/>
            <a:ext cx="7419604" cy="74196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What you should be able to do by the end</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434340" y="1116049"/>
            <a:ext cx="11384280" cy="4892040"/>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sz="2400" dirty="0">
                <a:solidFill>
                  <a:srgbClr val="FFFFFF"/>
                </a:solidFill>
              </a:rPr>
              <a:t>Define a motor unit and identify its cellular components.</a:t>
            </a:r>
            <a:endParaRPr lang="en-US" sz="2400" dirty="0"/>
          </a:p>
          <a:p>
            <a:pPr marL="177800" indent="-177800">
              <a:lnSpc>
                <a:spcPct val="150000"/>
              </a:lnSpc>
              <a:buSzPct val="100000"/>
              <a:buChar char="•"/>
            </a:pPr>
            <a:r>
              <a:rPr lang="en-US" sz="2400" dirty="0">
                <a:solidFill>
                  <a:srgbClr val="FFFFFF"/>
                </a:solidFill>
              </a:rPr>
              <a:t>Explain how motor neurones supply skeletal muscle, smooth muscle, glands and other neurones.</a:t>
            </a:r>
            <a:endParaRPr lang="en-US" sz="2400" dirty="0"/>
          </a:p>
          <a:p>
            <a:pPr marL="177800" indent="-177800">
              <a:lnSpc>
                <a:spcPct val="150000"/>
              </a:lnSpc>
              <a:buSzPct val="100000"/>
              <a:buChar char="•"/>
            </a:pPr>
            <a:r>
              <a:rPr lang="en-US" sz="2400" dirty="0">
                <a:solidFill>
                  <a:srgbClr val="FFFFFF"/>
                </a:solidFill>
              </a:rPr>
              <a:t>Classify peripheral nerve injuries using Seddon’s system.</a:t>
            </a:r>
            <a:endParaRPr lang="en-US" sz="2400" dirty="0"/>
          </a:p>
          <a:p>
            <a:pPr marL="177800" indent="-177800">
              <a:lnSpc>
                <a:spcPct val="150000"/>
              </a:lnSpc>
              <a:buSzPct val="100000"/>
              <a:buChar char="•"/>
            </a:pPr>
            <a:r>
              <a:rPr lang="en-US" sz="2400" dirty="0">
                <a:solidFill>
                  <a:srgbClr val="FFFFFF"/>
                </a:solidFill>
              </a:rPr>
              <a:t>Describe Wallerian degeneration, chromatolysis and axonal sprouting in sequence.</a:t>
            </a:r>
            <a:endParaRPr lang="en-US" sz="2400" dirty="0"/>
          </a:p>
          <a:p>
            <a:pPr marL="177800" indent="-177800">
              <a:lnSpc>
                <a:spcPct val="150000"/>
              </a:lnSpc>
              <a:buSzPct val="100000"/>
              <a:buChar char="•"/>
            </a:pPr>
            <a:r>
              <a:rPr lang="en-US" sz="2400" dirty="0">
                <a:solidFill>
                  <a:srgbClr val="FFFFFF"/>
                </a:solidFill>
              </a:rPr>
              <a:t>Predict the fate of denervated muscle with or without re-innervation.</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Start with what is normal before we injure it</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a:bodyPr>
          <a:lstStyle/>
          <a:p>
            <a:pPr marL="0" indent="0" algn="ctr">
              <a:buNone/>
            </a:pPr>
            <a:r>
              <a:rPr lang="en-US" sz="3400" b="1" dirty="0">
                <a:solidFill>
                  <a:srgbClr val="F4E300"/>
                </a:solidFill>
              </a:rPr>
              <a:t>Part 1 — Normal motor unit and motor system</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The neurone: basic structure and types</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141172" y="1234440"/>
            <a:ext cx="4151696" cy="4892040"/>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sz="2000" dirty="0">
                <a:solidFill>
                  <a:srgbClr val="FFFFFF"/>
                </a:solidFill>
                <a:highlight>
                  <a:srgbClr val="FFFF00"/>
                </a:highlight>
              </a:rPr>
              <a:t>Cell body </a:t>
            </a:r>
            <a:r>
              <a:rPr lang="en-US" sz="2000" dirty="0">
                <a:solidFill>
                  <a:srgbClr val="FFFFFF"/>
                </a:solidFill>
              </a:rPr>
              <a:t>contains nucleus and protein-synthesis machinery.</a:t>
            </a:r>
            <a:endParaRPr lang="en-US" sz="2000" dirty="0"/>
          </a:p>
          <a:p>
            <a:pPr marL="177800" indent="-177800">
              <a:lnSpc>
                <a:spcPct val="150000"/>
              </a:lnSpc>
              <a:buSzPct val="100000"/>
              <a:buChar char="•"/>
            </a:pPr>
            <a:r>
              <a:rPr lang="en-US" sz="2000" dirty="0">
                <a:solidFill>
                  <a:srgbClr val="FFFFFF"/>
                </a:solidFill>
                <a:highlight>
                  <a:srgbClr val="FFFF00"/>
                </a:highlight>
              </a:rPr>
              <a:t>Dendrites</a:t>
            </a:r>
            <a:r>
              <a:rPr lang="en-US" sz="2000" dirty="0">
                <a:solidFill>
                  <a:srgbClr val="FFFFFF"/>
                </a:solidFill>
              </a:rPr>
              <a:t> receive synaptic inputs.</a:t>
            </a:r>
            <a:endParaRPr lang="en-US" sz="2000" dirty="0"/>
          </a:p>
          <a:p>
            <a:pPr marL="177800" indent="-177800">
              <a:lnSpc>
                <a:spcPct val="150000"/>
              </a:lnSpc>
              <a:buSzPct val="100000"/>
              <a:buChar char="•"/>
            </a:pPr>
            <a:r>
              <a:rPr lang="en-US" sz="2000" dirty="0">
                <a:solidFill>
                  <a:srgbClr val="FFFFFF"/>
                </a:solidFill>
                <a:highlight>
                  <a:srgbClr val="FFFF00"/>
                </a:highlight>
              </a:rPr>
              <a:t>Axon</a:t>
            </a:r>
            <a:r>
              <a:rPr lang="en-US" sz="2000" dirty="0">
                <a:solidFill>
                  <a:srgbClr val="FFFFFF"/>
                </a:solidFill>
              </a:rPr>
              <a:t> conducts action potentials towards terminals.</a:t>
            </a:r>
          </a:p>
          <a:p>
            <a:pPr>
              <a:lnSpc>
                <a:spcPct val="150000"/>
              </a:lnSpc>
              <a:buSzPct val="100000"/>
            </a:pPr>
            <a:endParaRPr lang="en-US" sz="2000" dirty="0"/>
          </a:p>
          <a:p>
            <a:pPr>
              <a:lnSpc>
                <a:spcPct val="150000"/>
              </a:lnSpc>
              <a:buSzPct val="100000"/>
            </a:pPr>
            <a:r>
              <a:rPr lang="en-US" sz="2000" dirty="0">
                <a:solidFill>
                  <a:srgbClr val="FFFFFF"/>
                </a:solidFill>
              </a:rPr>
              <a:t>Multipolar = Motor</a:t>
            </a:r>
          </a:p>
          <a:p>
            <a:pPr>
              <a:lnSpc>
                <a:spcPct val="150000"/>
              </a:lnSpc>
              <a:buSzPct val="100000"/>
            </a:pPr>
            <a:r>
              <a:rPr lang="en-US" sz="2000" dirty="0">
                <a:solidFill>
                  <a:srgbClr val="FFFFFF"/>
                </a:solidFill>
              </a:rPr>
              <a:t>Bipolar = Relay or special sense Pseudo-unipolar = Sensory</a:t>
            </a:r>
          </a:p>
          <a:p>
            <a:pPr>
              <a:lnSpc>
                <a:spcPct val="150000"/>
              </a:lnSpc>
              <a:buSzPct val="100000"/>
            </a:pPr>
            <a:endParaRPr lang="en-US" sz="2000" dirty="0"/>
          </a:p>
        </p:txBody>
      </p:sp>
      <p:pic>
        <p:nvPicPr>
          <p:cNvPr id="11" name="object 5">
            <a:extLst>
              <a:ext uri="{FF2B5EF4-FFF2-40B4-BE49-F238E27FC236}">
                <a16:creationId xmlns:a16="http://schemas.microsoft.com/office/drawing/2014/main" id="{9E39C2D4-5EDE-914A-A78D-45A4C5E07036}"/>
              </a:ext>
            </a:extLst>
          </p:cNvPr>
          <p:cNvPicPr/>
          <p:nvPr/>
        </p:nvPicPr>
        <p:blipFill>
          <a:blip r:embed="rId3" cstate="print"/>
          <a:stretch>
            <a:fillRect/>
          </a:stretch>
        </p:blipFill>
        <p:spPr>
          <a:xfrm>
            <a:off x="4450401" y="1234440"/>
            <a:ext cx="3550599" cy="5312664"/>
          </a:xfrm>
          <a:prstGeom prst="rect">
            <a:avLst/>
          </a:prstGeom>
        </p:spPr>
      </p:pic>
      <p:pic>
        <p:nvPicPr>
          <p:cNvPr id="13" name="object 6">
            <a:extLst>
              <a:ext uri="{FF2B5EF4-FFF2-40B4-BE49-F238E27FC236}">
                <a16:creationId xmlns:a16="http://schemas.microsoft.com/office/drawing/2014/main" id="{2743F495-7296-B198-FC20-30BF0408E539}"/>
              </a:ext>
            </a:extLst>
          </p:cNvPr>
          <p:cNvPicPr/>
          <p:nvPr/>
        </p:nvPicPr>
        <p:blipFill>
          <a:blip r:embed="rId4" cstate="print"/>
          <a:stretch>
            <a:fillRect/>
          </a:stretch>
        </p:blipFill>
        <p:spPr>
          <a:xfrm>
            <a:off x="8235456" y="1234440"/>
            <a:ext cx="3815372" cy="54589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Definition: the motor unit</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269508" y="1033272"/>
            <a:ext cx="5255394" cy="4892040"/>
          </a:xfrm>
          <a:prstGeom prst="rect">
            <a:avLst/>
          </a:prstGeom>
          <a:noFill/>
          <a:ln/>
        </p:spPr>
        <p:txBody>
          <a:bodyPr wrap="square" lIns="1016" tIns="1016" rIns="1016" bIns="1016" rtlCol="0" anchor="ctr">
            <a:normAutofit/>
          </a:bodyPr>
          <a:lstStyle/>
          <a:p>
            <a:pPr>
              <a:buSzPct val="100000"/>
            </a:pPr>
            <a:r>
              <a:rPr lang="en-US" sz="2000" dirty="0">
                <a:solidFill>
                  <a:srgbClr val="FFFFFF"/>
                </a:solidFill>
              </a:rPr>
              <a:t>‘A </a:t>
            </a:r>
            <a:r>
              <a:rPr lang="en-US" sz="2000" u="sng" dirty="0">
                <a:solidFill>
                  <a:srgbClr val="FFFFFF"/>
                </a:solidFill>
              </a:rPr>
              <a:t>motor unit </a:t>
            </a:r>
            <a:r>
              <a:rPr lang="en-US" sz="2000" dirty="0">
                <a:solidFill>
                  <a:srgbClr val="FFFFFF"/>
                </a:solidFill>
              </a:rPr>
              <a:t>= one motor neurone axon plus all the muscle fibres it innervates.’</a:t>
            </a:r>
          </a:p>
          <a:p>
            <a:pPr>
              <a:buSzPct val="100000"/>
            </a:pPr>
            <a:endParaRPr lang="en-US" sz="2000" dirty="0">
              <a:solidFill>
                <a:srgbClr val="FFFFFF"/>
              </a:solidFill>
            </a:endParaRPr>
          </a:p>
          <a:p>
            <a:pPr>
              <a:buSzPct val="100000"/>
            </a:pPr>
            <a:endParaRPr lang="en-US" sz="2000" dirty="0"/>
          </a:p>
          <a:p>
            <a:pPr marL="177800" indent="-177800">
              <a:buSzPct val="100000"/>
              <a:buChar char="•"/>
            </a:pPr>
            <a:r>
              <a:rPr lang="en-US" sz="2000" dirty="0">
                <a:solidFill>
                  <a:srgbClr val="FFFFFF"/>
                </a:solidFill>
              </a:rPr>
              <a:t>Small motor units: fine control and low force.</a:t>
            </a:r>
            <a:endParaRPr lang="en-US" sz="2000" dirty="0"/>
          </a:p>
          <a:p>
            <a:pPr marL="177800" indent="-177800">
              <a:buSzPct val="100000"/>
              <a:buChar char="•"/>
            </a:pPr>
            <a:r>
              <a:rPr lang="en-US" sz="2000" dirty="0">
                <a:solidFill>
                  <a:srgbClr val="FFFFFF"/>
                </a:solidFill>
              </a:rPr>
              <a:t>Large motor units: powerful contraction and less precise control.</a:t>
            </a:r>
          </a:p>
          <a:p>
            <a:pPr marL="177800" indent="-177800">
              <a:buSzPct val="100000"/>
              <a:buChar char="•"/>
            </a:pPr>
            <a:endParaRPr lang="en-US" sz="2000" dirty="0"/>
          </a:p>
          <a:p>
            <a:pPr>
              <a:buSzPct val="100000"/>
            </a:pPr>
            <a:endParaRPr lang="en-US" sz="2000" dirty="0">
              <a:solidFill>
                <a:srgbClr val="FFFFFF"/>
              </a:solidFill>
            </a:endParaRPr>
          </a:p>
          <a:p>
            <a:pPr>
              <a:buSzPct val="100000"/>
            </a:pPr>
            <a:r>
              <a:rPr lang="en-US" sz="2000" dirty="0">
                <a:solidFill>
                  <a:srgbClr val="FFFFFF"/>
                </a:solidFill>
              </a:rPr>
              <a:t>Denervation - Injury to one motor axon denervates every muscle fibre in that motor unit.</a:t>
            </a:r>
            <a:endParaRPr lang="en-US" sz="2000" dirty="0"/>
          </a:p>
        </p:txBody>
      </p:sp>
      <p:pic>
        <p:nvPicPr>
          <p:cNvPr id="11" name="Picture 10">
            <a:extLst>
              <a:ext uri="{FF2B5EF4-FFF2-40B4-BE49-F238E27FC236}">
                <a16:creationId xmlns:a16="http://schemas.microsoft.com/office/drawing/2014/main" id="{90700F26-BDBF-B477-2EFD-AB31A0A3EA41}"/>
              </a:ext>
            </a:extLst>
          </p:cNvPr>
          <p:cNvPicPr>
            <a:picLocks noChangeAspect="1"/>
          </p:cNvPicPr>
          <p:nvPr/>
        </p:nvPicPr>
        <p:blipFill>
          <a:blip r:embed="rId3"/>
          <a:stretch>
            <a:fillRect/>
          </a:stretch>
        </p:blipFill>
        <p:spPr>
          <a:xfrm>
            <a:off x="5903966" y="1969863"/>
            <a:ext cx="6099590" cy="38548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Motor units build the motor system</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372979" y="1234440"/>
            <a:ext cx="5594684" cy="4892040"/>
          </a:xfrm>
          <a:prstGeom prst="rect">
            <a:avLst/>
          </a:prstGeom>
          <a:noFill/>
          <a:ln/>
        </p:spPr>
        <p:txBody>
          <a:bodyPr wrap="square" lIns="1016" tIns="1016" rIns="1016" bIns="1016" rtlCol="0" anchor="ctr">
            <a:normAutofit/>
          </a:bodyPr>
          <a:lstStyle/>
          <a:p>
            <a:pPr marL="177800" indent="-177800">
              <a:buSzPct val="100000"/>
              <a:buChar char="•"/>
            </a:pPr>
            <a:r>
              <a:rPr lang="en-US" sz="2000" dirty="0">
                <a:solidFill>
                  <a:srgbClr val="FFFFFF"/>
                </a:solidFill>
              </a:rPr>
              <a:t>Descending pathways influence lower motor </a:t>
            </a:r>
            <a:r>
              <a:rPr lang="en-US" sz="2000" dirty="0" err="1">
                <a:solidFill>
                  <a:srgbClr val="FFFFFF"/>
                </a:solidFill>
              </a:rPr>
              <a:t>neurones</a:t>
            </a:r>
            <a:r>
              <a:rPr lang="en-US" sz="2000" dirty="0">
                <a:solidFill>
                  <a:srgbClr val="FFFFFF"/>
                </a:solidFill>
              </a:rPr>
              <a:t>.</a:t>
            </a:r>
          </a:p>
          <a:p>
            <a:pPr marL="177800" indent="-177800">
              <a:buSzPct val="100000"/>
              <a:buChar char="•"/>
            </a:pPr>
            <a:endParaRPr lang="en-US" sz="2000" dirty="0"/>
          </a:p>
          <a:p>
            <a:pPr marL="177800" indent="-177800">
              <a:buSzPct val="100000"/>
              <a:buChar char="•"/>
            </a:pPr>
            <a:r>
              <a:rPr lang="en-US" sz="2000" dirty="0">
                <a:solidFill>
                  <a:srgbClr val="FFFFFF"/>
                </a:solidFill>
              </a:rPr>
              <a:t>The corticospinal tract (right figure) is a major pathway controlling voluntary movement.</a:t>
            </a:r>
          </a:p>
          <a:p>
            <a:pPr marL="177800" indent="-177800">
              <a:buSzPct val="100000"/>
              <a:buChar char="•"/>
            </a:pPr>
            <a:endParaRPr lang="en-US" sz="2000" dirty="0"/>
          </a:p>
          <a:p>
            <a:pPr marL="177800" indent="-177800">
              <a:buSzPct val="100000"/>
              <a:buChar char="•"/>
            </a:pPr>
            <a:r>
              <a:rPr lang="en-US" sz="2000" dirty="0">
                <a:solidFill>
                  <a:srgbClr val="FFFFFF"/>
                </a:solidFill>
                <a:highlight>
                  <a:srgbClr val="FFFF00"/>
                </a:highlight>
              </a:rPr>
              <a:t>Upper motor </a:t>
            </a:r>
            <a:r>
              <a:rPr lang="en-US" sz="2000" dirty="0" err="1">
                <a:solidFill>
                  <a:srgbClr val="FFFFFF"/>
                </a:solidFill>
                <a:highlight>
                  <a:srgbClr val="FFFF00"/>
                </a:highlight>
              </a:rPr>
              <a:t>neurone</a:t>
            </a:r>
            <a:r>
              <a:rPr lang="en-US" sz="2000" dirty="0">
                <a:solidFill>
                  <a:srgbClr val="FFFFFF"/>
                </a:solidFill>
                <a:highlight>
                  <a:srgbClr val="FFFF00"/>
                </a:highlight>
              </a:rPr>
              <a:t> = brain → spinal cord</a:t>
            </a:r>
          </a:p>
          <a:p>
            <a:pPr marL="177800" indent="-177800">
              <a:buSzPct val="100000"/>
              <a:buChar char="•"/>
            </a:pPr>
            <a:endParaRPr lang="en-US" sz="2000" dirty="0">
              <a:solidFill>
                <a:srgbClr val="FFFFFF"/>
              </a:solidFill>
            </a:endParaRPr>
          </a:p>
          <a:p>
            <a:pPr marL="177800" indent="-177800">
              <a:buSzPct val="100000"/>
              <a:buChar char="•"/>
            </a:pPr>
            <a:r>
              <a:rPr lang="en-US" sz="2000" dirty="0">
                <a:solidFill>
                  <a:srgbClr val="FFFFFF"/>
                </a:solidFill>
                <a:highlight>
                  <a:srgbClr val="FF0000"/>
                </a:highlight>
              </a:rPr>
              <a:t>lower motor </a:t>
            </a:r>
            <a:r>
              <a:rPr lang="en-US" sz="2000" dirty="0" err="1">
                <a:solidFill>
                  <a:srgbClr val="FFFFFF"/>
                </a:solidFill>
                <a:highlight>
                  <a:srgbClr val="FF0000"/>
                </a:highlight>
              </a:rPr>
              <a:t>neurone</a:t>
            </a:r>
            <a:r>
              <a:rPr lang="en-US" sz="2000" dirty="0">
                <a:solidFill>
                  <a:srgbClr val="FFFFFF"/>
                </a:solidFill>
                <a:highlight>
                  <a:srgbClr val="FF0000"/>
                </a:highlight>
              </a:rPr>
              <a:t> = spinal cord → muscle</a:t>
            </a:r>
          </a:p>
          <a:p>
            <a:pPr marL="177800" indent="-177800">
              <a:buSzPct val="100000"/>
              <a:buChar char="•"/>
            </a:pPr>
            <a:endParaRPr lang="en-US" sz="2000" dirty="0"/>
          </a:p>
          <a:p>
            <a:pPr marL="177800" indent="-177800">
              <a:buSzPct val="100000"/>
              <a:buChar char="•"/>
            </a:pPr>
            <a:r>
              <a:rPr lang="en-US" sz="2000" dirty="0">
                <a:solidFill>
                  <a:srgbClr val="FFFFFF"/>
                </a:solidFill>
              </a:rPr>
              <a:t>Today we focus on lower motor neurone/peripheral axon denervation.</a:t>
            </a:r>
            <a:endParaRPr lang="en-US" sz="2000" dirty="0"/>
          </a:p>
        </p:txBody>
      </p:sp>
      <p:pic>
        <p:nvPicPr>
          <p:cNvPr id="11" name="object 5">
            <a:extLst>
              <a:ext uri="{FF2B5EF4-FFF2-40B4-BE49-F238E27FC236}">
                <a16:creationId xmlns:a16="http://schemas.microsoft.com/office/drawing/2014/main" id="{D1669CF8-1E0D-A3C1-B8EC-0D2779E8C48C}"/>
              </a:ext>
            </a:extLst>
          </p:cNvPr>
          <p:cNvPicPr/>
          <p:nvPr/>
        </p:nvPicPr>
        <p:blipFill>
          <a:blip r:embed="rId3" cstate="print"/>
          <a:stretch>
            <a:fillRect/>
          </a:stretch>
        </p:blipFill>
        <p:spPr>
          <a:xfrm>
            <a:off x="6422457" y="-1"/>
            <a:ext cx="5769543" cy="6857999"/>
          </a:xfrm>
          <a:prstGeom prst="rect">
            <a:avLst/>
          </a:prstGeom>
        </p:spPr>
      </p:pic>
      <p:sp>
        <p:nvSpPr>
          <p:cNvPr id="12" name="Arrow: Down 11">
            <a:extLst>
              <a:ext uri="{FF2B5EF4-FFF2-40B4-BE49-F238E27FC236}">
                <a16:creationId xmlns:a16="http://schemas.microsoft.com/office/drawing/2014/main" id="{F5D71CC4-10DE-CFD2-F493-E7B41CD75A3F}"/>
              </a:ext>
            </a:extLst>
          </p:cNvPr>
          <p:cNvSpPr/>
          <p:nvPr/>
        </p:nvSpPr>
        <p:spPr>
          <a:xfrm rot="15669511">
            <a:off x="7477366" y="5655262"/>
            <a:ext cx="341879" cy="1588885"/>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GB" sz="2500" b="1" dirty="0">
                <a:solidFill>
                  <a:srgbClr val="F4E300"/>
                </a:solidFill>
              </a:rPr>
              <a:t>How the nervous system acts on different targets?</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60" y="1234440"/>
            <a:ext cx="5212080" cy="4892040"/>
          </a:xfrm>
          <a:prstGeom prst="rect">
            <a:avLst/>
          </a:prstGeom>
          <a:noFill/>
          <a:ln/>
        </p:spPr>
        <p:txBody>
          <a:bodyPr wrap="square" lIns="1016" tIns="1016" rIns="1016" bIns="1016" rtlCol="0" anchor="ctr">
            <a:normAutofit/>
          </a:bodyPr>
          <a:lstStyle/>
          <a:p>
            <a:pPr marL="177800" indent="-177800">
              <a:buSzPct val="100000"/>
              <a:buChar char="•"/>
            </a:pPr>
            <a:r>
              <a:rPr lang="en-US" sz="2000" dirty="0">
                <a:solidFill>
                  <a:srgbClr val="FFFFFF"/>
                </a:solidFill>
              </a:rPr>
              <a:t>Motor system output can influence skeletal muscle, smooth muscle, glands and other </a:t>
            </a:r>
            <a:r>
              <a:rPr lang="en-US" sz="2000" dirty="0" err="1">
                <a:solidFill>
                  <a:srgbClr val="FFFFFF"/>
                </a:solidFill>
              </a:rPr>
              <a:t>neurones</a:t>
            </a:r>
            <a:r>
              <a:rPr lang="en-US" sz="2000" dirty="0">
                <a:solidFill>
                  <a:srgbClr val="FFFFFF"/>
                </a:solidFill>
              </a:rPr>
              <a:t>.</a:t>
            </a:r>
          </a:p>
          <a:p>
            <a:pPr marL="177800" indent="-177800">
              <a:buSzPct val="100000"/>
              <a:buChar char="•"/>
            </a:pPr>
            <a:endParaRPr lang="en-US" sz="2000" dirty="0">
              <a:solidFill>
                <a:srgbClr val="FFFFFF"/>
              </a:solidFill>
            </a:endParaRPr>
          </a:p>
          <a:p>
            <a:pPr marL="177800" indent="-177800">
              <a:buSzPct val="100000"/>
              <a:buChar char="•"/>
            </a:pPr>
            <a:endParaRPr lang="en-US" sz="2000" dirty="0"/>
          </a:p>
          <a:p>
            <a:pPr marL="382905" lvl="1" indent="-141605">
              <a:lnSpc>
                <a:spcPct val="100000"/>
              </a:lnSpc>
              <a:spcBef>
                <a:spcPts val="1465"/>
              </a:spcBef>
              <a:buFont typeface="Arial MT"/>
              <a:buChar char="–"/>
              <a:tabLst>
                <a:tab pos="382905" algn="l"/>
              </a:tabLst>
            </a:pPr>
            <a:r>
              <a:rPr lang="en-GB" sz="2000" spc="-10" dirty="0">
                <a:solidFill>
                  <a:srgbClr val="FFFF00"/>
                </a:solidFill>
                <a:cs typeface="Calibri"/>
              </a:rPr>
              <a:t>Somatic motor output → skeletal muscle</a:t>
            </a:r>
          </a:p>
          <a:p>
            <a:pPr marL="382905" lvl="1" indent="-141605">
              <a:lnSpc>
                <a:spcPct val="100000"/>
              </a:lnSpc>
              <a:spcBef>
                <a:spcPts val="1465"/>
              </a:spcBef>
              <a:buFont typeface="Arial MT"/>
              <a:buChar char="–"/>
              <a:tabLst>
                <a:tab pos="382905" algn="l"/>
              </a:tabLst>
            </a:pPr>
            <a:r>
              <a:rPr lang="en-GB" sz="2000" spc="-10" dirty="0">
                <a:solidFill>
                  <a:srgbClr val="FFFF00"/>
                </a:solidFill>
                <a:cs typeface="Calibri"/>
              </a:rPr>
              <a:t>Autonomic output → smooth muscle and glands</a:t>
            </a:r>
          </a:p>
          <a:p>
            <a:pPr marL="382905" lvl="1" indent="-141605">
              <a:lnSpc>
                <a:spcPct val="100000"/>
              </a:lnSpc>
              <a:spcBef>
                <a:spcPts val="1465"/>
              </a:spcBef>
              <a:buFont typeface="Arial MT"/>
              <a:buChar char="–"/>
              <a:tabLst>
                <a:tab pos="382905" algn="l"/>
              </a:tabLst>
            </a:pPr>
            <a:r>
              <a:rPr lang="en-GB" sz="2000" spc="-10" dirty="0">
                <a:solidFill>
                  <a:srgbClr val="FFFF00"/>
                </a:solidFill>
                <a:cs typeface="Calibri"/>
              </a:rPr>
              <a:t>Sensory afferents → carry information back to the CNS</a:t>
            </a:r>
          </a:p>
        </p:txBody>
      </p:sp>
      <p:pic>
        <p:nvPicPr>
          <p:cNvPr id="87" name="Picture 86">
            <a:extLst>
              <a:ext uri="{FF2B5EF4-FFF2-40B4-BE49-F238E27FC236}">
                <a16:creationId xmlns:a16="http://schemas.microsoft.com/office/drawing/2014/main" id="{5341125D-4767-9602-F54C-96ED4BDB2719}"/>
              </a:ext>
            </a:extLst>
          </p:cNvPr>
          <p:cNvPicPr>
            <a:picLocks noChangeAspect="1"/>
          </p:cNvPicPr>
          <p:nvPr/>
        </p:nvPicPr>
        <p:blipFill>
          <a:blip r:embed="rId3"/>
          <a:stretch>
            <a:fillRect/>
          </a:stretch>
        </p:blipFill>
        <p:spPr>
          <a:xfrm>
            <a:off x="6716635" y="1164143"/>
            <a:ext cx="4786517" cy="54195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Neuronal chains and causes of degeneration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413886" y="2119964"/>
            <a:ext cx="5212080" cy="4892040"/>
          </a:xfrm>
          <a:prstGeom prst="rect">
            <a:avLst/>
          </a:prstGeom>
          <a:noFill/>
          <a:ln/>
        </p:spPr>
        <p:txBody>
          <a:bodyPr wrap="square" lIns="1016" tIns="1016" rIns="1016" bIns="1016" rtlCol="0" anchor="ctr">
            <a:normAutofit/>
          </a:bodyPr>
          <a:lstStyle/>
          <a:p>
            <a:pPr marL="177800" indent="-177800">
              <a:buSzPct val="100000"/>
              <a:buChar char="•"/>
            </a:pPr>
            <a:r>
              <a:rPr lang="en-US" dirty="0">
                <a:solidFill>
                  <a:srgbClr val="FFFFFF"/>
                </a:solidFill>
              </a:rPr>
              <a:t>Neuronal communication often occurs through relay chains.</a:t>
            </a:r>
          </a:p>
          <a:p>
            <a:pPr marL="177800" indent="-177800">
              <a:buSzPct val="100000"/>
              <a:buChar char="•"/>
            </a:pPr>
            <a:endParaRPr lang="en-US" dirty="0"/>
          </a:p>
          <a:p>
            <a:pPr marL="177800" indent="-177800">
              <a:buSzPct val="100000"/>
              <a:buChar char="•"/>
            </a:pPr>
            <a:r>
              <a:rPr lang="en-US" dirty="0">
                <a:solidFill>
                  <a:srgbClr val="FFFFFF"/>
                </a:solidFill>
              </a:rPr>
              <a:t>Causes of degeneration include </a:t>
            </a:r>
          </a:p>
          <a:p>
            <a:pPr marL="285750" indent="-285750">
              <a:buSzPct val="100000"/>
              <a:buFontTx/>
              <a:buChar char="-"/>
            </a:pPr>
            <a:r>
              <a:rPr lang="en-US" dirty="0">
                <a:solidFill>
                  <a:srgbClr val="FFFFFF"/>
                </a:solidFill>
              </a:rPr>
              <a:t>genetics</a:t>
            </a:r>
          </a:p>
          <a:p>
            <a:pPr marL="285750" indent="-285750">
              <a:buSzPct val="100000"/>
              <a:buFontTx/>
              <a:buChar char="-"/>
            </a:pPr>
            <a:r>
              <a:rPr lang="en-US" dirty="0">
                <a:solidFill>
                  <a:srgbClr val="FFFFFF"/>
                </a:solidFill>
              </a:rPr>
              <a:t>ageing</a:t>
            </a:r>
          </a:p>
          <a:p>
            <a:pPr marL="285750" indent="-285750">
              <a:buSzPct val="100000"/>
              <a:buFontTx/>
              <a:buChar char="-"/>
            </a:pPr>
            <a:r>
              <a:rPr lang="en-US" dirty="0">
                <a:solidFill>
                  <a:srgbClr val="FFFFFF"/>
                </a:solidFill>
              </a:rPr>
              <a:t>acquired injury (lacerations)</a:t>
            </a:r>
          </a:p>
        </p:txBody>
      </p:sp>
      <p:sp>
        <p:nvSpPr>
          <p:cNvPr id="11" name="Text 3">
            <a:extLst>
              <a:ext uri="{FF2B5EF4-FFF2-40B4-BE49-F238E27FC236}">
                <a16:creationId xmlns:a16="http://schemas.microsoft.com/office/drawing/2014/main" id="{F77C60A9-B0F9-CBEF-B45D-80E125C3CE5C}"/>
              </a:ext>
            </a:extLst>
          </p:cNvPr>
          <p:cNvSpPr/>
          <p:nvPr/>
        </p:nvSpPr>
        <p:spPr>
          <a:xfrm>
            <a:off x="6355080" y="3477126"/>
            <a:ext cx="5423034" cy="3075272"/>
          </a:xfrm>
          <a:prstGeom prst="rect">
            <a:avLst/>
          </a:prstGeom>
          <a:noFill/>
          <a:ln/>
        </p:spPr>
        <p:txBody>
          <a:bodyPr wrap="square" lIns="1016" tIns="1016" rIns="1016" bIns="1016" rtlCol="0" anchor="ctr">
            <a:normAutofit/>
          </a:bodyPr>
          <a:lstStyle/>
          <a:p>
            <a:pPr marL="177800" indent="-177800">
              <a:buSzPct val="100000"/>
              <a:buFontTx/>
              <a:buChar char="•"/>
            </a:pPr>
            <a:r>
              <a:rPr lang="en-GB" dirty="0">
                <a:solidFill>
                  <a:srgbClr val="FFFFFF"/>
                </a:solidFill>
              </a:rPr>
              <a:t>Responses of peripheral nerves to injury depends upon their locations within the </a:t>
            </a:r>
            <a:r>
              <a:rPr lang="en-GB" dirty="0" err="1">
                <a:solidFill>
                  <a:srgbClr val="FFFFFF"/>
                </a:solidFill>
              </a:rPr>
              <a:t>neuraxis</a:t>
            </a:r>
            <a:endParaRPr lang="en-GB" dirty="0">
              <a:solidFill>
                <a:srgbClr val="FFFFFF"/>
              </a:solidFill>
            </a:endParaRPr>
          </a:p>
          <a:p>
            <a:pPr marL="177800" indent="-177800">
              <a:buSzPct val="100000"/>
              <a:buChar char="•"/>
            </a:pPr>
            <a:endParaRPr lang="en-US" dirty="0">
              <a:solidFill>
                <a:srgbClr val="FFFFFF"/>
              </a:solidFill>
            </a:endParaRPr>
          </a:p>
          <a:p>
            <a:pPr marL="177800" indent="-177800">
              <a:buSzPct val="100000"/>
              <a:buChar char="•"/>
            </a:pPr>
            <a:r>
              <a:rPr lang="en-US" dirty="0">
                <a:solidFill>
                  <a:srgbClr val="FFFFFF"/>
                </a:solidFill>
              </a:rPr>
              <a:t>CNS neurones generally do not regenerate effectively after injury.</a:t>
            </a:r>
          </a:p>
          <a:p>
            <a:pPr marL="177800" indent="-177800">
              <a:buSzPct val="100000"/>
              <a:buChar char="•"/>
            </a:pPr>
            <a:endParaRPr lang="en-US" dirty="0"/>
          </a:p>
          <a:p>
            <a:pPr marL="177800" indent="-177800">
              <a:buSzPct val="100000"/>
              <a:buChar char="•"/>
            </a:pPr>
            <a:r>
              <a:rPr lang="en-US" dirty="0">
                <a:solidFill>
                  <a:srgbClr val="FFFFFF"/>
                </a:solidFill>
              </a:rPr>
              <a:t>Injured </a:t>
            </a:r>
            <a:r>
              <a:rPr lang="en-US" u="sng" dirty="0">
                <a:solidFill>
                  <a:srgbClr val="FFFFFF"/>
                </a:solidFill>
              </a:rPr>
              <a:t>peripheral nerves have a capacity </a:t>
            </a:r>
            <a:r>
              <a:rPr lang="en-US" dirty="0">
                <a:solidFill>
                  <a:srgbClr val="FFFFFF"/>
                </a:solidFill>
              </a:rPr>
              <a:t>to regenerate and re-innervate effectors.</a:t>
            </a:r>
            <a:endParaRPr lang="en-US" dirty="0"/>
          </a:p>
        </p:txBody>
      </p:sp>
      <p:pic>
        <p:nvPicPr>
          <p:cNvPr id="23" name="Picture 22">
            <a:extLst>
              <a:ext uri="{FF2B5EF4-FFF2-40B4-BE49-F238E27FC236}">
                <a16:creationId xmlns:a16="http://schemas.microsoft.com/office/drawing/2014/main" id="{C419187C-6742-AAB5-4908-70155220CCA6}"/>
              </a:ext>
            </a:extLst>
          </p:cNvPr>
          <p:cNvPicPr>
            <a:picLocks noChangeAspect="1"/>
          </p:cNvPicPr>
          <p:nvPr/>
        </p:nvPicPr>
        <p:blipFill>
          <a:blip r:embed="rId3"/>
          <a:srcRect r="10561"/>
          <a:stretch>
            <a:fillRect/>
          </a:stretch>
        </p:blipFill>
        <p:spPr>
          <a:xfrm rot="16200000">
            <a:off x="2156981" y="-115123"/>
            <a:ext cx="1414234" cy="4667490"/>
          </a:xfrm>
          <a:prstGeom prst="rect">
            <a:avLst/>
          </a:prstGeom>
        </p:spPr>
      </p:pic>
      <p:pic>
        <p:nvPicPr>
          <p:cNvPr id="25" name="Picture 24">
            <a:extLst>
              <a:ext uri="{FF2B5EF4-FFF2-40B4-BE49-F238E27FC236}">
                <a16:creationId xmlns:a16="http://schemas.microsoft.com/office/drawing/2014/main" id="{D5EA3A90-5915-B13D-8C82-054C97F06193}"/>
              </a:ext>
            </a:extLst>
          </p:cNvPr>
          <p:cNvPicPr>
            <a:picLocks noChangeAspect="1"/>
          </p:cNvPicPr>
          <p:nvPr/>
        </p:nvPicPr>
        <p:blipFill>
          <a:blip r:embed="rId3"/>
          <a:srcRect r="10561"/>
          <a:stretch>
            <a:fillRect/>
          </a:stretch>
        </p:blipFill>
        <p:spPr>
          <a:xfrm rot="16200000">
            <a:off x="8526298" y="-129564"/>
            <a:ext cx="1414234" cy="4667490"/>
          </a:xfrm>
          <a:prstGeom prst="rect">
            <a:avLst/>
          </a:prstGeom>
        </p:spPr>
      </p:pic>
      <p:sp>
        <p:nvSpPr>
          <p:cNvPr id="26" name="TextBox 25">
            <a:extLst>
              <a:ext uri="{FF2B5EF4-FFF2-40B4-BE49-F238E27FC236}">
                <a16:creationId xmlns:a16="http://schemas.microsoft.com/office/drawing/2014/main" id="{00BEEF34-CFF6-01BC-87D2-A34066A8D78E}"/>
              </a:ext>
            </a:extLst>
          </p:cNvPr>
          <p:cNvSpPr txBox="1"/>
          <p:nvPr/>
        </p:nvSpPr>
        <p:spPr>
          <a:xfrm>
            <a:off x="7661710" y="1127732"/>
            <a:ext cx="885524" cy="369332"/>
          </a:xfrm>
          <a:prstGeom prst="rect">
            <a:avLst/>
          </a:prstGeom>
          <a:noFill/>
        </p:spPr>
        <p:txBody>
          <a:bodyPr wrap="square" rtlCol="0">
            <a:spAutoFit/>
          </a:bodyPr>
          <a:lstStyle/>
          <a:p>
            <a:r>
              <a:rPr lang="en-GB" dirty="0">
                <a:solidFill>
                  <a:schemeClr val="bg1"/>
                </a:solidFill>
                <a:highlight>
                  <a:srgbClr val="00FF00"/>
                </a:highlight>
              </a:rPr>
              <a:t>CNS</a:t>
            </a:r>
          </a:p>
        </p:txBody>
      </p:sp>
      <p:sp>
        <p:nvSpPr>
          <p:cNvPr id="28" name="TextBox 27">
            <a:extLst>
              <a:ext uri="{FF2B5EF4-FFF2-40B4-BE49-F238E27FC236}">
                <a16:creationId xmlns:a16="http://schemas.microsoft.com/office/drawing/2014/main" id="{5F73051E-3F4F-2DBF-38B2-4B8B113A0A9A}"/>
              </a:ext>
            </a:extLst>
          </p:cNvPr>
          <p:cNvSpPr txBox="1"/>
          <p:nvPr/>
        </p:nvSpPr>
        <p:spPr>
          <a:xfrm>
            <a:off x="10464427" y="1087722"/>
            <a:ext cx="885524" cy="369332"/>
          </a:xfrm>
          <a:prstGeom prst="rect">
            <a:avLst/>
          </a:prstGeom>
          <a:noFill/>
        </p:spPr>
        <p:txBody>
          <a:bodyPr wrap="square" rtlCol="0">
            <a:spAutoFit/>
          </a:bodyPr>
          <a:lstStyle/>
          <a:p>
            <a:r>
              <a:rPr lang="en-GB" dirty="0">
                <a:solidFill>
                  <a:schemeClr val="bg1"/>
                </a:solidFill>
                <a:highlight>
                  <a:srgbClr val="00FFFF"/>
                </a:highlight>
              </a:rPr>
              <a:t>PNS</a:t>
            </a:r>
          </a:p>
        </p:txBody>
      </p:sp>
      <p:cxnSp>
        <p:nvCxnSpPr>
          <p:cNvPr id="30" name="Straight Connector 29">
            <a:extLst>
              <a:ext uri="{FF2B5EF4-FFF2-40B4-BE49-F238E27FC236}">
                <a16:creationId xmlns:a16="http://schemas.microsoft.com/office/drawing/2014/main" id="{0FC6F671-A0F5-1929-C7A9-9BE6DB95DA63}"/>
              </a:ext>
            </a:extLst>
          </p:cNvPr>
          <p:cNvCxnSpPr/>
          <p:nvPr/>
        </p:nvCxnSpPr>
        <p:spPr>
          <a:xfrm>
            <a:off x="10247217" y="1067987"/>
            <a:ext cx="0" cy="2301268"/>
          </a:xfrm>
          <a:prstGeom prst="line">
            <a:avLst/>
          </a:prstGeom>
          <a:ln>
            <a:solidFill>
              <a:srgbClr val="FFC000"/>
            </a:solidFill>
            <a:prstDash val="lgDash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Classification is anatomy applied to trauma</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fontScale="85000" lnSpcReduction="10000"/>
          </a:bodyPr>
          <a:lstStyle/>
          <a:p>
            <a:pPr marL="0" indent="0" algn="ctr">
              <a:buNone/>
            </a:pPr>
            <a:r>
              <a:rPr lang="en-US" sz="3400" b="1" dirty="0">
                <a:solidFill>
                  <a:srgbClr val="F4E300"/>
                </a:solidFill>
              </a:rPr>
              <a:t>Part 2 — Peripheral nerve structure and injury classification</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12</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Definition of neuronal dysfunction after insult</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6746757" y="1033272"/>
            <a:ext cx="5252185" cy="5020535"/>
          </a:xfrm>
          <a:prstGeom prst="rect">
            <a:avLst/>
          </a:prstGeom>
          <a:noFill/>
          <a:ln/>
        </p:spPr>
        <p:txBody>
          <a:bodyPr wrap="square" lIns="1016" tIns="1016" rIns="1016" bIns="1016" rtlCol="0" anchor="ctr">
            <a:normAutofit/>
          </a:bodyPr>
          <a:lstStyle/>
          <a:p>
            <a:pPr marL="177800" indent="-177800">
              <a:lnSpc>
                <a:spcPct val="160000"/>
              </a:lnSpc>
              <a:buSzPct val="100000"/>
              <a:buChar char="•"/>
            </a:pPr>
            <a:r>
              <a:rPr lang="en-US" sz="2000" dirty="0">
                <a:solidFill>
                  <a:srgbClr val="FFFFFF"/>
                </a:solidFill>
              </a:rPr>
              <a:t>A neurone may dysfunction if the neurone or its immediate environment is disturbed.</a:t>
            </a:r>
            <a:endParaRPr lang="en-US" sz="2000" dirty="0"/>
          </a:p>
          <a:p>
            <a:pPr marL="177800" indent="-177800">
              <a:lnSpc>
                <a:spcPct val="160000"/>
              </a:lnSpc>
              <a:buSzPct val="100000"/>
              <a:buChar char="•"/>
            </a:pPr>
            <a:r>
              <a:rPr lang="en-US" sz="2000" dirty="0">
                <a:solidFill>
                  <a:srgbClr val="FFFFFF"/>
                </a:solidFill>
              </a:rPr>
              <a:t>The extent and severity depend on the insult.</a:t>
            </a:r>
            <a:endParaRPr lang="en-US" sz="2000" dirty="0"/>
          </a:p>
          <a:p>
            <a:pPr marL="177800" indent="-177800">
              <a:lnSpc>
                <a:spcPct val="160000"/>
              </a:lnSpc>
              <a:buSzPct val="100000"/>
              <a:buChar char="•"/>
            </a:pPr>
            <a:r>
              <a:rPr lang="en-US" sz="2000" dirty="0">
                <a:solidFill>
                  <a:srgbClr val="FFFFFF"/>
                </a:solidFill>
              </a:rPr>
              <a:t>In trauma, the key question is how deep the injury reaches.</a:t>
            </a:r>
            <a:endParaRPr lang="en-US" sz="2000" dirty="0"/>
          </a:p>
          <a:p>
            <a:pPr marL="177800" indent="-177800">
              <a:lnSpc>
                <a:spcPct val="160000"/>
              </a:lnSpc>
              <a:buSzPct val="100000"/>
              <a:buChar char="•"/>
            </a:pPr>
            <a:r>
              <a:rPr lang="en-US" sz="2000" dirty="0">
                <a:solidFill>
                  <a:srgbClr val="FFFFFF"/>
                </a:solidFill>
              </a:rPr>
              <a:t>Superficial conduction problems are very different from complete transection.</a:t>
            </a:r>
            <a:endParaRPr lang="en-US" sz="2000" dirty="0"/>
          </a:p>
        </p:txBody>
      </p:sp>
      <p:pic>
        <p:nvPicPr>
          <p:cNvPr id="19" name="Picture 18">
            <a:extLst>
              <a:ext uri="{FF2B5EF4-FFF2-40B4-BE49-F238E27FC236}">
                <a16:creationId xmlns:a16="http://schemas.microsoft.com/office/drawing/2014/main" id="{73A24DAC-8159-AE85-A3E5-C69739FBC4C1}"/>
              </a:ext>
            </a:extLst>
          </p:cNvPr>
          <p:cNvPicPr>
            <a:picLocks noChangeAspect="1"/>
          </p:cNvPicPr>
          <p:nvPr/>
        </p:nvPicPr>
        <p:blipFill>
          <a:blip r:embed="rId3"/>
          <a:stretch>
            <a:fillRect/>
          </a:stretch>
        </p:blipFill>
        <p:spPr>
          <a:xfrm>
            <a:off x="-3807" y="1684160"/>
            <a:ext cx="2994652" cy="4475525"/>
          </a:xfrm>
          <a:prstGeom prst="rect">
            <a:avLst/>
          </a:prstGeom>
        </p:spPr>
      </p:pic>
      <p:pic>
        <p:nvPicPr>
          <p:cNvPr id="21" name="Picture 20">
            <a:extLst>
              <a:ext uri="{FF2B5EF4-FFF2-40B4-BE49-F238E27FC236}">
                <a16:creationId xmlns:a16="http://schemas.microsoft.com/office/drawing/2014/main" id="{5A6AAF16-0C79-866C-81D9-411800646947}"/>
              </a:ext>
            </a:extLst>
          </p:cNvPr>
          <p:cNvPicPr>
            <a:picLocks noChangeAspect="1"/>
          </p:cNvPicPr>
          <p:nvPr/>
        </p:nvPicPr>
        <p:blipFill>
          <a:blip r:embed="rId4"/>
          <a:stretch>
            <a:fillRect/>
          </a:stretch>
        </p:blipFill>
        <p:spPr>
          <a:xfrm>
            <a:off x="2834225" y="1414262"/>
            <a:ext cx="2810577" cy="1580950"/>
          </a:xfrm>
          <a:prstGeom prst="rect">
            <a:avLst/>
          </a:prstGeom>
        </p:spPr>
      </p:pic>
      <p:pic>
        <p:nvPicPr>
          <p:cNvPr id="23" name="Picture 22">
            <a:extLst>
              <a:ext uri="{FF2B5EF4-FFF2-40B4-BE49-F238E27FC236}">
                <a16:creationId xmlns:a16="http://schemas.microsoft.com/office/drawing/2014/main" id="{513BBB44-04E0-0219-7A50-136A9CFA3417}"/>
              </a:ext>
            </a:extLst>
          </p:cNvPr>
          <p:cNvPicPr>
            <a:picLocks noChangeAspect="1"/>
          </p:cNvPicPr>
          <p:nvPr/>
        </p:nvPicPr>
        <p:blipFill>
          <a:blip r:embed="rId5"/>
          <a:stretch>
            <a:fillRect/>
          </a:stretch>
        </p:blipFill>
        <p:spPr>
          <a:xfrm>
            <a:off x="2256710" y="3862789"/>
            <a:ext cx="1603022" cy="2421083"/>
          </a:xfrm>
          <a:prstGeom prst="rect">
            <a:avLst/>
          </a:prstGeom>
        </p:spPr>
      </p:pic>
      <p:pic>
        <p:nvPicPr>
          <p:cNvPr id="25" name="Picture 24">
            <a:extLst>
              <a:ext uri="{FF2B5EF4-FFF2-40B4-BE49-F238E27FC236}">
                <a16:creationId xmlns:a16="http://schemas.microsoft.com/office/drawing/2014/main" id="{B9975099-B6B0-C79B-492F-4F863F2400B6}"/>
              </a:ext>
            </a:extLst>
          </p:cNvPr>
          <p:cNvPicPr>
            <a:picLocks noChangeAspect="1"/>
          </p:cNvPicPr>
          <p:nvPr/>
        </p:nvPicPr>
        <p:blipFill>
          <a:blip r:embed="rId6"/>
          <a:stretch>
            <a:fillRect/>
          </a:stretch>
        </p:blipFill>
        <p:spPr>
          <a:xfrm>
            <a:off x="4154354" y="3793034"/>
            <a:ext cx="2490838" cy="24908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Peripheral nerve anatomy: depth matters</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pic>
        <p:nvPicPr>
          <p:cNvPr id="11" name="object 5">
            <a:extLst>
              <a:ext uri="{FF2B5EF4-FFF2-40B4-BE49-F238E27FC236}">
                <a16:creationId xmlns:a16="http://schemas.microsoft.com/office/drawing/2014/main" id="{8DC9549F-9F50-04AD-F687-E5D513BCEB8D}"/>
              </a:ext>
            </a:extLst>
          </p:cNvPr>
          <p:cNvPicPr/>
          <p:nvPr/>
        </p:nvPicPr>
        <p:blipFill>
          <a:blip r:embed="rId3" cstate="print"/>
          <a:stretch>
            <a:fillRect/>
          </a:stretch>
        </p:blipFill>
        <p:spPr>
          <a:xfrm>
            <a:off x="6454139" y="1033272"/>
            <a:ext cx="5575034" cy="5530036"/>
          </a:xfrm>
          <a:prstGeom prst="rect">
            <a:avLst/>
          </a:prstGeom>
        </p:spPr>
      </p:pic>
      <p:sp>
        <p:nvSpPr>
          <p:cNvPr id="13" name="object 4">
            <a:extLst>
              <a:ext uri="{FF2B5EF4-FFF2-40B4-BE49-F238E27FC236}">
                <a16:creationId xmlns:a16="http://schemas.microsoft.com/office/drawing/2014/main" id="{F7511A0E-8564-324F-99DB-EFBACF21DD0A}"/>
              </a:ext>
            </a:extLst>
          </p:cNvPr>
          <p:cNvSpPr txBox="1"/>
          <p:nvPr/>
        </p:nvSpPr>
        <p:spPr>
          <a:xfrm>
            <a:off x="264147" y="1292007"/>
            <a:ext cx="5252334" cy="4415952"/>
          </a:xfrm>
          <a:prstGeom prst="rect">
            <a:avLst/>
          </a:prstGeom>
        </p:spPr>
        <p:txBody>
          <a:bodyPr vert="horz" wrap="square" lIns="0" tIns="52705" rIns="0" bIns="0" rtlCol="0">
            <a:spAutoFit/>
          </a:bodyPr>
          <a:lstStyle/>
          <a:p>
            <a:pPr marL="186055" indent="-173355">
              <a:lnSpc>
                <a:spcPct val="100000"/>
              </a:lnSpc>
              <a:spcBef>
                <a:spcPts val="415"/>
              </a:spcBef>
              <a:buChar char="•"/>
              <a:tabLst>
                <a:tab pos="186055" algn="l"/>
              </a:tabLst>
            </a:pPr>
            <a:r>
              <a:rPr sz="2400" dirty="0">
                <a:solidFill>
                  <a:srgbClr val="FFFF00"/>
                </a:solidFill>
                <a:latin typeface="+mj-lt"/>
                <a:cs typeface="Calibri"/>
              </a:rPr>
              <a:t>Epineurium</a:t>
            </a:r>
            <a:r>
              <a:rPr sz="2400" spc="225" dirty="0">
                <a:solidFill>
                  <a:srgbClr val="FFFF00"/>
                </a:solidFill>
                <a:latin typeface="+mj-lt"/>
                <a:cs typeface="Calibri"/>
              </a:rPr>
              <a:t> </a:t>
            </a:r>
            <a:r>
              <a:rPr sz="2400" spc="-10" dirty="0">
                <a:solidFill>
                  <a:srgbClr val="3366FF"/>
                </a:solidFill>
                <a:latin typeface="+mj-lt"/>
                <a:cs typeface="Calibri"/>
              </a:rPr>
              <a:t>(superficial)</a:t>
            </a:r>
            <a:endParaRPr sz="2400" dirty="0">
              <a:latin typeface="+mj-lt"/>
              <a:cs typeface="Calibri"/>
            </a:endParaRPr>
          </a:p>
          <a:p>
            <a:pPr marL="184150" indent="-171450">
              <a:lnSpc>
                <a:spcPct val="100000"/>
              </a:lnSpc>
              <a:spcBef>
                <a:spcPts val="250"/>
              </a:spcBef>
              <a:buChar char="•"/>
              <a:tabLst>
                <a:tab pos="184150" algn="l"/>
              </a:tabLst>
            </a:pPr>
            <a:r>
              <a:rPr sz="1600" dirty="0">
                <a:solidFill>
                  <a:srgbClr val="FFFFFF"/>
                </a:solidFill>
                <a:latin typeface="+mj-lt"/>
                <a:cs typeface="Calibri"/>
              </a:rPr>
              <a:t>(ensheaths</a:t>
            </a:r>
            <a:r>
              <a:rPr sz="1600" spc="5" dirty="0">
                <a:solidFill>
                  <a:srgbClr val="FFFFFF"/>
                </a:solidFill>
                <a:latin typeface="+mj-lt"/>
                <a:cs typeface="Calibri"/>
              </a:rPr>
              <a:t> </a:t>
            </a:r>
            <a:r>
              <a:rPr sz="1600" dirty="0">
                <a:solidFill>
                  <a:srgbClr val="FFFFFF"/>
                </a:solidFill>
                <a:latin typeface="+mj-lt"/>
                <a:cs typeface="Calibri"/>
              </a:rPr>
              <a:t>the</a:t>
            </a:r>
            <a:r>
              <a:rPr sz="1600" spc="170" dirty="0">
                <a:solidFill>
                  <a:srgbClr val="FFFFFF"/>
                </a:solidFill>
                <a:latin typeface="+mj-lt"/>
                <a:cs typeface="Calibri"/>
              </a:rPr>
              <a:t> </a:t>
            </a:r>
            <a:r>
              <a:rPr sz="1600" dirty="0">
                <a:solidFill>
                  <a:srgbClr val="FFFFFF"/>
                </a:solidFill>
                <a:latin typeface="+mj-lt"/>
                <a:cs typeface="Calibri"/>
              </a:rPr>
              <a:t>entire</a:t>
            </a:r>
            <a:r>
              <a:rPr sz="1600" spc="-15" dirty="0">
                <a:solidFill>
                  <a:srgbClr val="FFFFFF"/>
                </a:solidFill>
                <a:latin typeface="+mj-lt"/>
                <a:cs typeface="Calibri"/>
              </a:rPr>
              <a:t> </a:t>
            </a:r>
            <a:r>
              <a:rPr sz="1600" spc="-10" dirty="0">
                <a:solidFill>
                  <a:srgbClr val="FFFFFF"/>
                </a:solidFill>
                <a:latin typeface="+mj-lt"/>
                <a:cs typeface="Calibri"/>
              </a:rPr>
              <a:t>nerve)</a:t>
            </a:r>
            <a:endParaRPr sz="1600" dirty="0">
              <a:latin typeface="+mj-lt"/>
              <a:cs typeface="Calibri"/>
            </a:endParaRPr>
          </a:p>
          <a:p>
            <a:pPr marL="380365" marR="15875" lvl="1" indent="-139700">
              <a:lnSpc>
                <a:spcPct val="100000"/>
              </a:lnSpc>
              <a:spcBef>
                <a:spcPts val="200"/>
              </a:spcBef>
              <a:buChar char="–"/>
              <a:tabLst>
                <a:tab pos="384175" algn="l"/>
              </a:tabLst>
            </a:pPr>
            <a:r>
              <a:rPr lang="en-GB" sz="1200" spc="-10" dirty="0">
                <a:solidFill>
                  <a:srgbClr val="FFFFFF"/>
                </a:solidFill>
                <a:latin typeface="+mj-lt"/>
                <a:cs typeface="Calibri"/>
              </a:rPr>
              <a:t>surrounds the whole nerve</a:t>
            </a:r>
          </a:p>
          <a:p>
            <a:pPr marL="380365" marR="15875" lvl="1" indent="-139700">
              <a:lnSpc>
                <a:spcPct val="100000"/>
              </a:lnSpc>
              <a:spcBef>
                <a:spcPts val="200"/>
              </a:spcBef>
              <a:buChar char="–"/>
              <a:tabLst>
                <a:tab pos="384175" algn="l"/>
              </a:tabLst>
            </a:pPr>
            <a:endParaRPr sz="1200" dirty="0">
              <a:latin typeface="+mj-lt"/>
              <a:cs typeface="Calibri"/>
            </a:endParaRPr>
          </a:p>
          <a:p>
            <a:pPr marL="186690" indent="-173990">
              <a:lnSpc>
                <a:spcPct val="100000"/>
              </a:lnSpc>
              <a:buChar char="•"/>
              <a:tabLst>
                <a:tab pos="186690" algn="l"/>
              </a:tabLst>
            </a:pPr>
            <a:r>
              <a:rPr sz="2400" spc="-10" dirty="0">
                <a:solidFill>
                  <a:srgbClr val="FFFF00"/>
                </a:solidFill>
                <a:latin typeface="+mj-lt"/>
                <a:cs typeface="Calibri"/>
              </a:rPr>
              <a:t>Perineurium</a:t>
            </a:r>
            <a:endParaRPr sz="2400" dirty="0">
              <a:latin typeface="+mj-lt"/>
              <a:cs typeface="Calibri"/>
            </a:endParaRPr>
          </a:p>
          <a:p>
            <a:pPr marL="184150" indent="-171450">
              <a:lnSpc>
                <a:spcPct val="100000"/>
              </a:lnSpc>
              <a:spcBef>
                <a:spcPts val="254"/>
              </a:spcBef>
              <a:buChar char="•"/>
              <a:tabLst>
                <a:tab pos="184150" algn="l"/>
              </a:tabLst>
            </a:pPr>
            <a:r>
              <a:rPr sz="1600" dirty="0">
                <a:solidFill>
                  <a:srgbClr val="FFFFFF"/>
                </a:solidFill>
                <a:latin typeface="+mj-lt"/>
                <a:cs typeface="Calibri"/>
              </a:rPr>
              <a:t>(ensheaths</a:t>
            </a:r>
            <a:r>
              <a:rPr sz="1600" spc="-5" dirty="0">
                <a:solidFill>
                  <a:srgbClr val="FFFFFF"/>
                </a:solidFill>
                <a:latin typeface="+mj-lt"/>
                <a:cs typeface="Calibri"/>
              </a:rPr>
              <a:t> </a:t>
            </a:r>
            <a:r>
              <a:rPr sz="1600" dirty="0">
                <a:solidFill>
                  <a:srgbClr val="FFFFFF"/>
                </a:solidFill>
                <a:latin typeface="+mj-lt"/>
                <a:cs typeface="Calibri"/>
              </a:rPr>
              <a:t>a</a:t>
            </a:r>
            <a:r>
              <a:rPr sz="1600" spc="-30" dirty="0">
                <a:solidFill>
                  <a:srgbClr val="FFFFFF"/>
                </a:solidFill>
                <a:latin typeface="+mj-lt"/>
                <a:cs typeface="Calibri"/>
              </a:rPr>
              <a:t> </a:t>
            </a:r>
            <a:r>
              <a:rPr sz="1600" dirty="0">
                <a:solidFill>
                  <a:srgbClr val="FFFFFF"/>
                </a:solidFill>
                <a:latin typeface="+mj-lt"/>
                <a:cs typeface="Calibri"/>
              </a:rPr>
              <a:t>nerve</a:t>
            </a:r>
            <a:r>
              <a:rPr sz="1600" spc="-25" dirty="0">
                <a:solidFill>
                  <a:srgbClr val="FFFFFF"/>
                </a:solidFill>
                <a:latin typeface="+mj-lt"/>
                <a:cs typeface="Calibri"/>
              </a:rPr>
              <a:t> </a:t>
            </a:r>
            <a:r>
              <a:rPr sz="1600" spc="-10" dirty="0">
                <a:solidFill>
                  <a:srgbClr val="FFFFFF"/>
                </a:solidFill>
                <a:latin typeface="+mj-lt"/>
                <a:cs typeface="Calibri"/>
              </a:rPr>
              <a:t>fascicle)</a:t>
            </a:r>
            <a:endParaRPr sz="1600" dirty="0">
              <a:latin typeface="+mj-lt"/>
              <a:cs typeface="Calibri"/>
            </a:endParaRPr>
          </a:p>
          <a:p>
            <a:pPr marL="380365" marR="5080" lvl="1" indent="-139700">
              <a:lnSpc>
                <a:spcPct val="100000"/>
              </a:lnSpc>
              <a:spcBef>
                <a:spcPts val="200"/>
              </a:spcBef>
              <a:buChar char="–"/>
              <a:tabLst>
                <a:tab pos="384175" algn="l"/>
              </a:tabLst>
            </a:pPr>
            <a:r>
              <a:rPr lang="en-GB" sz="1200" dirty="0">
                <a:solidFill>
                  <a:srgbClr val="FFFFFF"/>
                </a:solidFill>
                <a:latin typeface="+mj-lt"/>
                <a:cs typeface="Calibri"/>
              </a:rPr>
              <a:t>a fascicle is a collection of axons with common origins and destinations</a:t>
            </a:r>
          </a:p>
          <a:p>
            <a:pPr marL="240665" marR="5080" lvl="1">
              <a:lnSpc>
                <a:spcPct val="100000"/>
              </a:lnSpc>
              <a:spcBef>
                <a:spcPts val="200"/>
              </a:spcBef>
              <a:tabLst>
                <a:tab pos="384175" algn="l"/>
              </a:tabLst>
            </a:pPr>
            <a:endParaRPr lang="en-GB" sz="1200" dirty="0">
              <a:solidFill>
                <a:srgbClr val="FFFFFF"/>
              </a:solidFill>
              <a:latin typeface="+mj-lt"/>
              <a:cs typeface="Calibri"/>
            </a:endParaRPr>
          </a:p>
          <a:p>
            <a:pPr marL="186055" indent="-173355">
              <a:lnSpc>
                <a:spcPct val="100000"/>
              </a:lnSpc>
              <a:spcBef>
                <a:spcPts val="450"/>
              </a:spcBef>
              <a:buChar char="•"/>
              <a:tabLst>
                <a:tab pos="186055" algn="l"/>
              </a:tabLst>
            </a:pPr>
            <a:r>
              <a:rPr sz="2400" spc="-10" dirty="0">
                <a:solidFill>
                  <a:srgbClr val="FFFF00"/>
                </a:solidFill>
                <a:latin typeface="+mj-lt"/>
                <a:cs typeface="Calibri"/>
              </a:rPr>
              <a:t>Endoneurium</a:t>
            </a:r>
            <a:endParaRPr sz="2400" dirty="0">
              <a:latin typeface="+mj-lt"/>
              <a:cs typeface="Calibri"/>
            </a:endParaRPr>
          </a:p>
          <a:p>
            <a:pPr marL="184150" indent="-171450">
              <a:lnSpc>
                <a:spcPct val="100000"/>
              </a:lnSpc>
              <a:spcBef>
                <a:spcPts val="295"/>
              </a:spcBef>
              <a:buChar char="•"/>
              <a:tabLst>
                <a:tab pos="184150" algn="l"/>
              </a:tabLst>
            </a:pPr>
            <a:r>
              <a:rPr sz="1600" dirty="0">
                <a:solidFill>
                  <a:srgbClr val="FFFFFF"/>
                </a:solidFill>
                <a:latin typeface="+mj-lt"/>
                <a:cs typeface="Calibri"/>
              </a:rPr>
              <a:t>(ensheaths a</a:t>
            </a:r>
            <a:r>
              <a:rPr sz="1600" spc="-25" dirty="0">
                <a:solidFill>
                  <a:srgbClr val="FFFFFF"/>
                </a:solidFill>
                <a:latin typeface="+mj-lt"/>
                <a:cs typeface="Calibri"/>
              </a:rPr>
              <a:t> </a:t>
            </a:r>
            <a:r>
              <a:rPr sz="1600" dirty="0">
                <a:solidFill>
                  <a:srgbClr val="FFFFFF"/>
                </a:solidFill>
                <a:latin typeface="+mj-lt"/>
                <a:cs typeface="Calibri"/>
              </a:rPr>
              <a:t>single</a:t>
            </a:r>
            <a:r>
              <a:rPr sz="1600" spc="-25" dirty="0">
                <a:solidFill>
                  <a:srgbClr val="FFFFFF"/>
                </a:solidFill>
                <a:latin typeface="+mj-lt"/>
                <a:cs typeface="Calibri"/>
              </a:rPr>
              <a:t> </a:t>
            </a:r>
            <a:r>
              <a:rPr sz="1600" dirty="0">
                <a:solidFill>
                  <a:srgbClr val="FFFFFF"/>
                </a:solidFill>
                <a:latin typeface="+mj-lt"/>
                <a:cs typeface="Calibri"/>
              </a:rPr>
              <a:t>cell’s</a:t>
            </a:r>
            <a:r>
              <a:rPr sz="1600" spc="-15" dirty="0">
                <a:solidFill>
                  <a:srgbClr val="FFFFFF"/>
                </a:solidFill>
                <a:latin typeface="+mj-lt"/>
                <a:cs typeface="Calibri"/>
              </a:rPr>
              <a:t> </a:t>
            </a:r>
            <a:r>
              <a:rPr sz="1600" spc="-20" dirty="0">
                <a:solidFill>
                  <a:srgbClr val="FFFFFF"/>
                </a:solidFill>
                <a:latin typeface="+mj-lt"/>
                <a:cs typeface="Calibri"/>
              </a:rPr>
              <a:t>axon)</a:t>
            </a:r>
            <a:endParaRPr sz="1600" dirty="0">
              <a:latin typeface="+mj-lt"/>
              <a:cs typeface="Calibri"/>
            </a:endParaRPr>
          </a:p>
          <a:p>
            <a:pPr>
              <a:lnSpc>
                <a:spcPct val="100000"/>
              </a:lnSpc>
              <a:spcBef>
                <a:spcPts val="509"/>
              </a:spcBef>
              <a:buFont typeface="Calibri"/>
              <a:buChar char="•"/>
            </a:pPr>
            <a:endParaRPr sz="1600" dirty="0">
              <a:latin typeface="+mj-lt"/>
              <a:cs typeface="Calibri"/>
            </a:endParaRPr>
          </a:p>
          <a:p>
            <a:pPr marL="186055" indent="-173355">
              <a:lnSpc>
                <a:spcPct val="100000"/>
              </a:lnSpc>
              <a:buChar char="•"/>
              <a:tabLst>
                <a:tab pos="186055" algn="l"/>
              </a:tabLst>
            </a:pPr>
            <a:r>
              <a:rPr sz="2400" dirty="0">
                <a:solidFill>
                  <a:srgbClr val="FFFF00"/>
                </a:solidFill>
                <a:latin typeface="+mj-lt"/>
                <a:cs typeface="Calibri"/>
              </a:rPr>
              <a:t>Myelin</a:t>
            </a:r>
            <a:r>
              <a:rPr sz="2400" spc="-10" dirty="0">
                <a:solidFill>
                  <a:srgbClr val="FFFF00"/>
                </a:solidFill>
                <a:latin typeface="+mj-lt"/>
                <a:cs typeface="Calibri"/>
              </a:rPr>
              <a:t> Sheath</a:t>
            </a:r>
            <a:endParaRPr sz="2400" dirty="0">
              <a:latin typeface="+mj-lt"/>
              <a:cs typeface="Calibri"/>
            </a:endParaRPr>
          </a:p>
          <a:p>
            <a:pPr>
              <a:lnSpc>
                <a:spcPct val="100000"/>
              </a:lnSpc>
              <a:spcBef>
                <a:spcPts val="575"/>
              </a:spcBef>
              <a:buFont typeface="Calibri"/>
              <a:buChar char="•"/>
            </a:pPr>
            <a:endParaRPr sz="2400" dirty="0">
              <a:latin typeface="+mj-lt"/>
              <a:cs typeface="Calibri"/>
            </a:endParaRPr>
          </a:p>
          <a:p>
            <a:pPr marL="186055" indent="-173355">
              <a:lnSpc>
                <a:spcPct val="100000"/>
              </a:lnSpc>
              <a:buChar char="•"/>
              <a:tabLst>
                <a:tab pos="186055" algn="l"/>
              </a:tabLst>
            </a:pPr>
            <a:r>
              <a:rPr sz="2400" dirty="0">
                <a:solidFill>
                  <a:srgbClr val="FFFF00"/>
                </a:solidFill>
                <a:latin typeface="+mj-lt"/>
                <a:cs typeface="Calibri"/>
              </a:rPr>
              <a:t>Axon</a:t>
            </a:r>
            <a:r>
              <a:rPr sz="2400" spc="-35" dirty="0">
                <a:solidFill>
                  <a:srgbClr val="FFFF00"/>
                </a:solidFill>
                <a:latin typeface="+mj-lt"/>
                <a:cs typeface="Calibri"/>
              </a:rPr>
              <a:t> </a:t>
            </a:r>
            <a:r>
              <a:rPr sz="2400" spc="-10" dirty="0">
                <a:solidFill>
                  <a:srgbClr val="3366FF"/>
                </a:solidFill>
                <a:latin typeface="+mj-lt"/>
                <a:cs typeface="Calibri"/>
              </a:rPr>
              <a:t>(deepest)</a:t>
            </a:r>
            <a:endParaRPr sz="2400" dirty="0">
              <a:latin typeface="+mj-lt"/>
              <a:cs typeface="Calibri"/>
            </a:endParaRPr>
          </a:p>
        </p:txBody>
      </p:sp>
      <p:sp>
        <p:nvSpPr>
          <p:cNvPr id="14" name="Arrow: Down 13">
            <a:extLst>
              <a:ext uri="{FF2B5EF4-FFF2-40B4-BE49-F238E27FC236}">
                <a16:creationId xmlns:a16="http://schemas.microsoft.com/office/drawing/2014/main" id="{A5F01962-5DE9-5CBE-99EB-8117BD09F8A3}"/>
              </a:ext>
            </a:extLst>
          </p:cNvPr>
          <p:cNvSpPr/>
          <p:nvPr/>
        </p:nvSpPr>
        <p:spPr>
          <a:xfrm>
            <a:off x="5432461" y="1292007"/>
            <a:ext cx="827772" cy="50799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N</a:t>
            </a:r>
            <a:r>
              <a:rPr lang="en-US" altLang="zh-CN" sz="2500" b="1" dirty="0">
                <a:solidFill>
                  <a:srgbClr val="F4E300"/>
                </a:solidFill>
              </a:rPr>
              <a:t>erve Injury overview: </a:t>
            </a:r>
            <a:r>
              <a:rPr lang="en-US" sz="2500" b="1" dirty="0">
                <a:solidFill>
                  <a:srgbClr val="F4E300"/>
                </a:solidFill>
              </a:rPr>
              <a:t>Seddon’s classification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487680" y="1057335"/>
            <a:ext cx="4711906" cy="4892040"/>
          </a:xfrm>
          <a:prstGeom prst="rect">
            <a:avLst/>
          </a:prstGeom>
          <a:noFill/>
          <a:ln/>
        </p:spPr>
        <p:txBody>
          <a:bodyPr wrap="square" lIns="1016" tIns="1016" rIns="1016" bIns="1016" rtlCol="0" anchor="ctr">
            <a:normAutofit fontScale="92500" lnSpcReduction="10000"/>
          </a:bodyPr>
          <a:lstStyle/>
          <a:p>
            <a:pPr>
              <a:lnSpc>
                <a:spcPct val="200000"/>
              </a:lnSpc>
              <a:buSzPct val="100000"/>
            </a:pPr>
            <a:r>
              <a:rPr lang="en-US" sz="1600" b="1" i="1" u="sng" dirty="0">
                <a:solidFill>
                  <a:schemeClr val="bg1"/>
                </a:solidFill>
              </a:rPr>
              <a:t>Seddon’s classification </a:t>
            </a:r>
            <a:r>
              <a:rPr lang="en-GB" sz="1600" b="1" i="1" u="sng" dirty="0">
                <a:solidFill>
                  <a:schemeClr val="bg1"/>
                </a:solidFill>
              </a:rPr>
              <a:t>based on the degree to which the insult reaches the depths of the nerve bundle</a:t>
            </a:r>
          </a:p>
          <a:p>
            <a:pPr>
              <a:lnSpc>
                <a:spcPct val="200000"/>
              </a:lnSpc>
              <a:buSzPct val="100000"/>
            </a:pPr>
            <a:endParaRPr lang="en-US" sz="1600" b="1" i="1" u="sng" dirty="0">
              <a:solidFill>
                <a:schemeClr val="bg1"/>
              </a:solidFill>
            </a:endParaRPr>
          </a:p>
          <a:p>
            <a:pPr marL="285750" indent="-285750">
              <a:lnSpc>
                <a:spcPct val="200000"/>
              </a:lnSpc>
              <a:buSzPct val="100000"/>
              <a:buFont typeface="Arial" panose="020B0604020202020204" pitchFamily="34" charset="0"/>
              <a:buChar char="•"/>
            </a:pPr>
            <a:r>
              <a:rPr lang="en-US" sz="1600" dirty="0">
                <a:solidFill>
                  <a:srgbClr val="FFFFFF"/>
                </a:solidFill>
              </a:rPr>
              <a:t>Neuropraxia: conduction block; axon remains intact.</a:t>
            </a:r>
            <a:endParaRPr lang="en-US" sz="1600" dirty="0"/>
          </a:p>
          <a:p>
            <a:pPr marL="285750" indent="-285750">
              <a:lnSpc>
                <a:spcPct val="200000"/>
              </a:lnSpc>
              <a:buSzPct val="100000"/>
              <a:buFont typeface="Arial" panose="020B0604020202020204" pitchFamily="34" charset="0"/>
              <a:buChar char="•"/>
            </a:pPr>
            <a:r>
              <a:rPr lang="en-US" sz="1600" dirty="0">
                <a:solidFill>
                  <a:srgbClr val="FFFFFF"/>
                </a:solidFill>
              </a:rPr>
              <a:t>Axonotmesis: axon and myelin damaged; connective tissue tubes may remain intact.</a:t>
            </a:r>
            <a:endParaRPr lang="en-US" sz="1600" dirty="0"/>
          </a:p>
          <a:p>
            <a:pPr marL="285750" indent="-285750">
              <a:lnSpc>
                <a:spcPct val="200000"/>
              </a:lnSpc>
              <a:buSzPct val="100000"/>
              <a:buFont typeface="Arial" panose="020B0604020202020204" pitchFamily="34" charset="0"/>
              <a:buChar char="•"/>
            </a:pPr>
            <a:r>
              <a:rPr lang="en-US" sz="1600" dirty="0">
                <a:solidFill>
                  <a:srgbClr val="FFFFFF"/>
                </a:solidFill>
              </a:rPr>
              <a:t>Neurotmesis: complete disruption of nerve continuity.</a:t>
            </a:r>
            <a:endParaRPr lang="en-US" sz="1600" dirty="0"/>
          </a:p>
          <a:p>
            <a:pPr marL="285750" indent="-285750">
              <a:lnSpc>
                <a:spcPct val="200000"/>
              </a:lnSpc>
              <a:buSzPct val="100000"/>
              <a:buFont typeface="Arial" panose="020B0604020202020204" pitchFamily="34" charset="0"/>
              <a:buChar char="•"/>
            </a:pPr>
            <a:r>
              <a:rPr lang="en-US" sz="1600" dirty="0">
                <a:solidFill>
                  <a:srgbClr val="FFFFFF"/>
                </a:solidFill>
              </a:rPr>
              <a:t>Prognosis worsens as deeper structure and guidance are lost.</a:t>
            </a:r>
            <a:endParaRPr lang="en-US" sz="1600" dirty="0"/>
          </a:p>
        </p:txBody>
      </p:sp>
      <p:sp>
        <p:nvSpPr>
          <p:cNvPr id="6" name="Shape 4"/>
          <p:cNvSpPr/>
          <p:nvPr/>
        </p:nvSpPr>
        <p:spPr>
          <a:xfrm>
            <a:off x="5199586" y="1188720"/>
            <a:ext cx="6885734" cy="4983480"/>
          </a:xfrm>
          <a:prstGeom prst="roundRect">
            <a:avLst>
              <a:gd name="adj" fmla="val 1468"/>
            </a:avLst>
          </a:prstGeom>
          <a:solidFill>
            <a:srgbClr val="FFFFFF"/>
          </a:solidFill>
          <a:ln w="8890">
            <a:solidFill>
              <a:srgbClr val="4F6380"/>
            </a:solidFill>
            <a:prstDash val="solid"/>
          </a:ln>
        </p:spPr>
        <p:txBody>
          <a:bodyPr/>
          <a:lstStyle/>
          <a:p>
            <a:endParaRPr lang="en-GB"/>
          </a:p>
        </p:txBody>
      </p:sp>
      <p:sp>
        <p:nvSpPr>
          <p:cNvPr id="9" name="Text 6"/>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15</a:t>
            </a:r>
            <a:endParaRPr lang="en-US" sz="700" dirty="0"/>
          </a:p>
        </p:txBody>
      </p:sp>
      <p:grpSp>
        <p:nvGrpSpPr>
          <p:cNvPr id="11" name="object 7">
            <a:extLst>
              <a:ext uri="{FF2B5EF4-FFF2-40B4-BE49-F238E27FC236}">
                <a16:creationId xmlns:a16="http://schemas.microsoft.com/office/drawing/2014/main" id="{C7B86DBD-6C97-F3BE-B1A2-3B8FEDE31563}"/>
              </a:ext>
            </a:extLst>
          </p:cNvPr>
          <p:cNvGrpSpPr/>
          <p:nvPr/>
        </p:nvGrpSpPr>
        <p:grpSpPr>
          <a:xfrm>
            <a:off x="11242174" y="2117786"/>
            <a:ext cx="638175" cy="3198495"/>
            <a:chOff x="7013702" y="1278889"/>
            <a:chExt cx="638175" cy="3198495"/>
          </a:xfrm>
        </p:grpSpPr>
        <p:sp>
          <p:nvSpPr>
            <p:cNvPr id="12" name="object 8">
              <a:extLst>
                <a:ext uri="{FF2B5EF4-FFF2-40B4-BE49-F238E27FC236}">
                  <a16:creationId xmlns:a16="http://schemas.microsoft.com/office/drawing/2014/main" id="{77A1C678-1D4C-0235-5906-13C034BD1295}"/>
                </a:ext>
              </a:extLst>
            </p:cNvPr>
            <p:cNvSpPr/>
            <p:nvPr/>
          </p:nvSpPr>
          <p:spPr>
            <a:xfrm>
              <a:off x="7026402" y="1291589"/>
              <a:ext cx="612775" cy="3173095"/>
            </a:xfrm>
            <a:custGeom>
              <a:avLst/>
              <a:gdLst/>
              <a:ahLst/>
              <a:cxnLst/>
              <a:rect l="l" t="t" r="r" b="b"/>
              <a:pathLst>
                <a:path w="612775" h="3173095">
                  <a:moveTo>
                    <a:pt x="0" y="0"/>
                  </a:moveTo>
                  <a:lnTo>
                    <a:pt x="0" y="3172968"/>
                  </a:lnTo>
                  <a:lnTo>
                    <a:pt x="612648" y="3172968"/>
                  </a:lnTo>
                  <a:lnTo>
                    <a:pt x="0" y="0"/>
                  </a:lnTo>
                  <a:close/>
                </a:path>
              </a:pathLst>
            </a:custGeom>
            <a:solidFill>
              <a:srgbClr val="093B92"/>
            </a:solidFill>
          </p:spPr>
          <p:txBody>
            <a:bodyPr wrap="square" lIns="0" tIns="0" rIns="0" bIns="0" rtlCol="0"/>
            <a:lstStyle/>
            <a:p>
              <a:endParaRPr/>
            </a:p>
          </p:txBody>
        </p:sp>
        <p:sp>
          <p:nvSpPr>
            <p:cNvPr id="13" name="object 9">
              <a:extLst>
                <a:ext uri="{FF2B5EF4-FFF2-40B4-BE49-F238E27FC236}">
                  <a16:creationId xmlns:a16="http://schemas.microsoft.com/office/drawing/2014/main" id="{89431043-2CA4-4697-28DF-988CCE876423}"/>
                </a:ext>
              </a:extLst>
            </p:cNvPr>
            <p:cNvSpPr/>
            <p:nvPr/>
          </p:nvSpPr>
          <p:spPr>
            <a:xfrm>
              <a:off x="7026402" y="1291589"/>
              <a:ext cx="612775" cy="3173095"/>
            </a:xfrm>
            <a:custGeom>
              <a:avLst/>
              <a:gdLst/>
              <a:ahLst/>
              <a:cxnLst/>
              <a:rect l="l" t="t" r="r" b="b"/>
              <a:pathLst>
                <a:path w="612775" h="3173095">
                  <a:moveTo>
                    <a:pt x="0" y="3172968"/>
                  </a:moveTo>
                  <a:lnTo>
                    <a:pt x="0" y="0"/>
                  </a:lnTo>
                  <a:lnTo>
                    <a:pt x="612648" y="3172968"/>
                  </a:lnTo>
                  <a:lnTo>
                    <a:pt x="0" y="3172968"/>
                  </a:lnTo>
                  <a:close/>
                </a:path>
              </a:pathLst>
            </a:custGeom>
            <a:ln w="25400">
              <a:solidFill>
                <a:srgbClr val="2F4046"/>
              </a:solidFill>
            </a:ln>
          </p:spPr>
          <p:txBody>
            <a:bodyPr wrap="square" lIns="0" tIns="0" rIns="0" bIns="0" rtlCol="0"/>
            <a:lstStyle/>
            <a:p>
              <a:endParaRPr/>
            </a:p>
          </p:txBody>
        </p:sp>
      </p:grpSp>
      <p:grpSp>
        <p:nvGrpSpPr>
          <p:cNvPr id="14" name="object 10">
            <a:extLst>
              <a:ext uri="{FF2B5EF4-FFF2-40B4-BE49-F238E27FC236}">
                <a16:creationId xmlns:a16="http://schemas.microsoft.com/office/drawing/2014/main" id="{52E378E8-10F9-386E-72E5-833F42ABC00D}"/>
              </a:ext>
            </a:extLst>
          </p:cNvPr>
          <p:cNvGrpSpPr/>
          <p:nvPr/>
        </p:nvGrpSpPr>
        <p:grpSpPr>
          <a:xfrm>
            <a:off x="11338059" y="2021840"/>
            <a:ext cx="638175" cy="3317240"/>
            <a:chOff x="7960106" y="1219453"/>
            <a:chExt cx="638175" cy="3317240"/>
          </a:xfrm>
        </p:grpSpPr>
        <p:sp>
          <p:nvSpPr>
            <p:cNvPr id="15" name="object 11">
              <a:extLst>
                <a:ext uri="{FF2B5EF4-FFF2-40B4-BE49-F238E27FC236}">
                  <a16:creationId xmlns:a16="http://schemas.microsoft.com/office/drawing/2014/main" id="{6B278421-66C2-7373-145E-BFF07B4B1EB1}"/>
                </a:ext>
              </a:extLst>
            </p:cNvPr>
            <p:cNvSpPr/>
            <p:nvPr/>
          </p:nvSpPr>
          <p:spPr>
            <a:xfrm>
              <a:off x="7972806" y="1232153"/>
              <a:ext cx="612775" cy="3291840"/>
            </a:xfrm>
            <a:custGeom>
              <a:avLst/>
              <a:gdLst/>
              <a:ahLst/>
              <a:cxnLst/>
              <a:rect l="l" t="t" r="r" b="b"/>
              <a:pathLst>
                <a:path w="612775" h="3291840">
                  <a:moveTo>
                    <a:pt x="612648" y="0"/>
                  </a:moveTo>
                  <a:lnTo>
                    <a:pt x="0" y="0"/>
                  </a:lnTo>
                  <a:lnTo>
                    <a:pt x="612648" y="3291840"/>
                  </a:lnTo>
                  <a:lnTo>
                    <a:pt x="612648" y="0"/>
                  </a:lnTo>
                  <a:close/>
                </a:path>
              </a:pathLst>
            </a:custGeom>
            <a:solidFill>
              <a:srgbClr val="00AF50"/>
            </a:solidFill>
          </p:spPr>
          <p:txBody>
            <a:bodyPr wrap="square" lIns="0" tIns="0" rIns="0" bIns="0" rtlCol="0"/>
            <a:lstStyle/>
            <a:p>
              <a:endParaRPr/>
            </a:p>
          </p:txBody>
        </p:sp>
        <p:sp>
          <p:nvSpPr>
            <p:cNvPr id="16" name="object 12">
              <a:extLst>
                <a:ext uri="{FF2B5EF4-FFF2-40B4-BE49-F238E27FC236}">
                  <a16:creationId xmlns:a16="http://schemas.microsoft.com/office/drawing/2014/main" id="{228DF788-E7A0-7729-07DE-36BF5876A69C}"/>
                </a:ext>
              </a:extLst>
            </p:cNvPr>
            <p:cNvSpPr/>
            <p:nvPr/>
          </p:nvSpPr>
          <p:spPr>
            <a:xfrm>
              <a:off x="7972806" y="1232153"/>
              <a:ext cx="612775" cy="3291840"/>
            </a:xfrm>
            <a:custGeom>
              <a:avLst/>
              <a:gdLst/>
              <a:ahLst/>
              <a:cxnLst/>
              <a:rect l="l" t="t" r="r" b="b"/>
              <a:pathLst>
                <a:path w="612775" h="3291840">
                  <a:moveTo>
                    <a:pt x="612648" y="0"/>
                  </a:moveTo>
                  <a:lnTo>
                    <a:pt x="612648" y="3291840"/>
                  </a:lnTo>
                  <a:lnTo>
                    <a:pt x="0" y="0"/>
                  </a:lnTo>
                  <a:lnTo>
                    <a:pt x="612648" y="0"/>
                  </a:lnTo>
                  <a:close/>
                </a:path>
              </a:pathLst>
            </a:custGeom>
            <a:ln w="25400">
              <a:solidFill>
                <a:srgbClr val="00AF50"/>
              </a:solidFill>
            </a:ln>
          </p:spPr>
          <p:txBody>
            <a:bodyPr wrap="square" lIns="0" tIns="0" rIns="0" bIns="0" rtlCol="0"/>
            <a:lstStyle/>
            <a:p>
              <a:endParaRPr/>
            </a:p>
          </p:txBody>
        </p:sp>
      </p:grpSp>
      <p:sp>
        <p:nvSpPr>
          <p:cNvPr id="17" name="object 13">
            <a:extLst>
              <a:ext uri="{FF2B5EF4-FFF2-40B4-BE49-F238E27FC236}">
                <a16:creationId xmlns:a16="http://schemas.microsoft.com/office/drawing/2014/main" id="{2B343F02-8D1C-FADB-D58E-628C516BD30F}"/>
              </a:ext>
            </a:extLst>
          </p:cNvPr>
          <p:cNvSpPr txBox="1"/>
          <p:nvPr/>
        </p:nvSpPr>
        <p:spPr>
          <a:xfrm>
            <a:off x="11199629" y="1503427"/>
            <a:ext cx="668020" cy="45339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0070C0"/>
                </a:solidFill>
                <a:latin typeface="Arial"/>
                <a:cs typeface="Arial"/>
              </a:rPr>
              <a:t>Severity</a:t>
            </a:r>
            <a:endParaRPr sz="1400" dirty="0">
              <a:solidFill>
                <a:srgbClr val="0070C0"/>
              </a:solidFill>
              <a:latin typeface="Arial"/>
              <a:cs typeface="Arial"/>
            </a:endParaRPr>
          </a:p>
          <a:p>
            <a:pPr marL="12700">
              <a:lnSpc>
                <a:spcPct val="100000"/>
              </a:lnSpc>
              <a:spcBef>
                <a:spcPts val="5"/>
              </a:spcBef>
            </a:pPr>
            <a:r>
              <a:rPr sz="1400" dirty="0">
                <a:solidFill>
                  <a:srgbClr val="0070C0"/>
                </a:solidFill>
                <a:latin typeface="Arial"/>
                <a:cs typeface="Arial"/>
              </a:rPr>
              <a:t>of</a:t>
            </a:r>
            <a:r>
              <a:rPr sz="1400" spc="-15" dirty="0">
                <a:solidFill>
                  <a:srgbClr val="0070C0"/>
                </a:solidFill>
                <a:latin typeface="Arial"/>
                <a:cs typeface="Arial"/>
              </a:rPr>
              <a:t> </a:t>
            </a:r>
            <a:r>
              <a:rPr sz="1400" spc="-10" dirty="0">
                <a:solidFill>
                  <a:srgbClr val="0070C0"/>
                </a:solidFill>
                <a:latin typeface="Arial"/>
                <a:cs typeface="Arial"/>
              </a:rPr>
              <a:t>injury</a:t>
            </a:r>
            <a:endParaRPr sz="1400" dirty="0">
              <a:solidFill>
                <a:srgbClr val="0070C0"/>
              </a:solidFill>
              <a:latin typeface="Arial"/>
              <a:cs typeface="Arial"/>
            </a:endParaRPr>
          </a:p>
        </p:txBody>
      </p:sp>
      <p:sp>
        <p:nvSpPr>
          <p:cNvPr id="18" name="object 14">
            <a:extLst>
              <a:ext uri="{FF2B5EF4-FFF2-40B4-BE49-F238E27FC236}">
                <a16:creationId xmlns:a16="http://schemas.microsoft.com/office/drawing/2014/main" id="{0E0B7E4F-3C82-DCB3-2A2B-6D32130E33DC}"/>
              </a:ext>
            </a:extLst>
          </p:cNvPr>
          <p:cNvSpPr txBox="1"/>
          <p:nvPr/>
        </p:nvSpPr>
        <p:spPr>
          <a:xfrm>
            <a:off x="11146290" y="5556288"/>
            <a:ext cx="829944" cy="452755"/>
          </a:xfrm>
          <a:prstGeom prst="rect">
            <a:avLst/>
          </a:prstGeom>
        </p:spPr>
        <p:txBody>
          <a:bodyPr vert="horz" wrap="square" lIns="0" tIns="12700" rIns="0" bIns="0" rtlCol="0">
            <a:spAutoFit/>
          </a:bodyPr>
          <a:lstStyle/>
          <a:p>
            <a:pPr marL="12700" marR="5080">
              <a:lnSpc>
                <a:spcPct val="100000"/>
              </a:lnSpc>
              <a:spcBef>
                <a:spcPts val="100"/>
              </a:spcBef>
            </a:pPr>
            <a:r>
              <a:rPr sz="1400" spc="-10" dirty="0">
                <a:solidFill>
                  <a:srgbClr val="00B050"/>
                </a:solidFill>
                <a:latin typeface="Arial"/>
                <a:cs typeface="Arial"/>
              </a:rPr>
              <a:t>Likelihood </a:t>
            </a:r>
            <a:r>
              <a:rPr sz="1400" dirty="0">
                <a:solidFill>
                  <a:srgbClr val="00B050"/>
                </a:solidFill>
                <a:latin typeface="Arial"/>
                <a:cs typeface="Arial"/>
              </a:rPr>
              <a:t>of</a:t>
            </a:r>
            <a:r>
              <a:rPr sz="1400" spc="-15" dirty="0">
                <a:solidFill>
                  <a:srgbClr val="00B050"/>
                </a:solidFill>
                <a:latin typeface="Arial"/>
                <a:cs typeface="Arial"/>
              </a:rPr>
              <a:t> </a:t>
            </a:r>
            <a:r>
              <a:rPr sz="1400" spc="-10" dirty="0">
                <a:solidFill>
                  <a:srgbClr val="00B050"/>
                </a:solidFill>
                <a:latin typeface="Arial"/>
                <a:cs typeface="Arial"/>
              </a:rPr>
              <a:t>repair</a:t>
            </a:r>
            <a:endParaRPr sz="1400" dirty="0">
              <a:solidFill>
                <a:srgbClr val="00B050"/>
              </a:solidFill>
              <a:latin typeface="Arial"/>
              <a:cs typeface="Arial"/>
            </a:endParaRPr>
          </a:p>
        </p:txBody>
      </p:sp>
      <p:pic>
        <p:nvPicPr>
          <p:cNvPr id="20" name="object 3">
            <a:extLst>
              <a:ext uri="{FF2B5EF4-FFF2-40B4-BE49-F238E27FC236}">
                <a16:creationId xmlns:a16="http://schemas.microsoft.com/office/drawing/2014/main" id="{4FD2E413-1F53-EA2E-2386-2214FED8935F}"/>
              </a:ext>
            </a:extLst>
          </p:cNvPr>
          <p:cNvPicPr/>
          <p:nvPr/>
        </p:nvPicPr>
        <p:blipFill>
          <a:blip r:embed="rId3" cstate="print"/>
          <a:stretch>
            <a:fillRect/>
          </a:stretch>
        </p:blipFill>
        <p:spPr>
          <a:xfrm>
            <a:off x="5308672" y="1612393"/>
            <a:ext cx="5789676" cy="40568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Neuropraxia: “nerve not working”</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298383" y="1234440"/>
            <a:ext cx="5508057" cy="4892040"/>
          </a:xfrm>
          <a:prstGeom prst="rect">
            <a:avLst/>
          </a:prstGeom>
          <a:noFill/>
          <a:ln/>
        </p:spPr>
        <p:txBody>
          <a:bodyPr wrap="square" lIns="1016" tIns="1016" rIns="1016" bIns="1016" rtlCol="0" anchor="ctr">
            <a:normAutofit lnSpcReduction="10000"/>
          </a:bodyPr>
          <a:lstStyle/>
          <a:p>
            <a:pPr>
              <a:lnSpc>
                <a:spcPct val="150000"/>
              </a:lnSpc>
              <a:buSzPct val="100000"/>
            </a:pPr>
            <a:r>
              <a:rPr lang="en-US" sz="2000" dirty="0" err="1">
                <a:solidFill>
                  <a:srgbClr val="FFFFFF"/>
                </a:solidFill>
              </a:rPr>
              <a:t>Neur</a:t>
            </a:r>
            <a:r>
              <a:rPr lang="en-US" sz="2000" dirty="0">
                <a:solidFill>
                  <a:srgbClr val="FFFFFF"/>
                </a:solidFill>
              </a:rPr>
              <a:t>-a-</a:t>
            </a:r>
            <a:r>
              <a:rPr lang="en-US" sz="2000" dirty="0" err="1">
                <a:solidFill>
                  <a:srgbClr val="FFFFFF"/>
                </a:solidFill>
              </a:rPr>
              <a:t>praxia</a:t>
            </a:r>
            <a:r>
              <a:rPr lang="en-US" sz="2000" dirty="0">
                <a:solidFill>
                  <a:srgbClr val="FFFFFF"/>
                </a:solidFill>
              </a:rPr>
              <a:t> = nerve-not-working</a:t>
            </a:r>
          </a:p>
          <a:p>
            <a:pPr>
              <a:lnSpc>
                <a:spcPct val="150000"/>
              </a:lnSpc>
              <a:buSzPct val="100000"/>
            </a:pPr>
            <a:r>
              <a:rPr lang="en-GB" sz="2000" dirty="0">
                <a:solidFill>
                  <a:srgbClr val="FFFFFF"/>
                </a:solidFill>
                <a:latin typeface="Calibri"/>
                <a:cs typeface="Calibri"/>
              </a:rPr>
              <a:t>When</a:t>
            </a:r>
            <a:r>
              <a:rPr lang="en-GB" sz="2000" spc="-25" dirty="0">
                <a:solidFill>
                  <a:srgbClr val="FFFFFF"/>
                </a:solidFill>
                <a:latin typeface="Calibri"/>
                <a:cs typeface="Calibri"/>
              </a:rPr>
              <a:t> </a:t>
            </a:r>
            <a:r>
              <a:rPr lang="en-GB" sz="2000" dirty="0">
                <a:solidFill>
                  <a:srgbClr val="FFFFFF"/>
                </a:solidFill>
                <a:latin typeface="Calibri"/>
                <a:cs typeface="Calibri"/>
              </a:rPr>
              <a:t>a</a:t>
            </a:r>
            <a:r>
              <a:rPr lang="en-GB" sz="2000" spc="-15" dirty="0">
                <a:solidFill>
                  <a:srgbClr val="FFFFFF"/>
                </a:solidFill>
                <a:latin typeface="Calibri"/>
                <a:cs typeface="Calibri"/>
              </a:rPr>
              <a:t> </a:t>
            </a:r>
            <a:r>
              <a:rPr lang="en-GB" sz="2000" spc="-10" dirty="0">
                <a:solidFill>
                  <a:srgbClr val="FFFFFF"/>
                </a:solidFill>
                <a:latin typeface="Calibri"/>
                <a:cs typeface="Calibri"/>
              </a:rPr>
              <a:t>neurone</a:t>
            </a:r>
            <a:r>
              <a:rPr lang="en-GB" sz="2000" spc="-35" dirty="0">
                <a:solidFill>
                  <a:srgbClr val="FFFFFF"/>
                </a:solidFill>
                <a:latin typeface="Calibri"/>
                <a:cs typeface="Calibri"/>
              </a:rPr>
              <a:t> </a:t>
            </a:r>
            <a:r>
              <a:rPr lang="en-GB" sz="2000" i="1" u="sng" spc="-10" dirty="0">
                <a:solidFill>
                  <a:srgbClr val="FFFF00"/>
                </a:solidFill>
                <a:uFill>
                  <a:solidFill>
                    <a:srgbClr val="FFFF00"/>
                  </a:solidFill>
                </a:uFill>
                <a:latin typeface="Calibri"/>
                <a:cs typeface="Calibri"/>
              </a:rPr>
              <a:t>temporarily</a:t>
            </a:r>
            <a:r>
              <a:rPr lang="en-GB" sz="2000" i="1" dirty="0">
                <a:solidFill>
                  <a:srgbClr val="FFFF00"/>
                </a:solidFill>
                <a:latin typeface="Calibri"/>
                <a:cs typeface="Calibri"/>
              </a:rPr>
              <a:t> </a:t>
            </a:r>
            <a:r>
              <a:rPr lang="en-GB" sz="2000" dirty="0">
                <a:solidFill>
                  <a:srgbClr val="FFFFFF"/>
                </a:solidFill>
                <a:latin typeface="Calibri"/>
                <a:cs typeface="Calibri"/>
              </a:rPr>
              <a:t>loses</a:t>
            </a:r>
            <a:r>
              <a:rPr lang="en-GB" sz="2000" spc="-15" dirty="0">
                <a:solidFill>
                  <a:srgbClr val="FFFFFF"/>
                </a:solidFill>
                <a:latin typeface="Calibri"/>
                <a:cs typeface="Calibri"/>
              </a:rPr>
              <a:t> </a:t>
            </a:r>
            <a:r>
              <a:rPr lang="en-GB" sz="2000" dirty="0">
                <a:solidFill>
                  <a:srgbClr val="FFFFFF"/>
                </a:solidFill>
                <a:latin typeface="Calibri"/>
                <a:cs typeface="Calibri"/>
              </a:rPr>
              <a:t>its</a:t>
            </a:r>
            <a:r>
              <a:rPr lang="en-GB" sz="2000" spc="-20" dirty="0">
                <a:solidFill>
                  <a:srgbClr val="FFFFFF"/>
                </a:solidFill>
                <a:latin typeface="Calibri"/>
                <a:cs typeface="Calibri"/>
              </a:rPr>
              <a:t> </a:t>
            </a:r>
            <a:r>
              <a:rPr lang="en-GB" sz="2000" dirty="0">
                <a:solidFill>
                  <a:srgbClr val="FFFFFF"/>
                </a:solidFill>
                <a:latin typeface="Calibri"/>
                <a:cs typeface="Calibri"/>
              </a:rPr>
              <a:t>ability</a:t>
            </a:r>
            <a:r>
              <a:rPr lang="en-GB" sz="2000" spc="-20" dirty="0">
                <a:solidFill>
                  <a:srgbClr val="FFFFFF"/>
                </a:solidFill>
                <a:latin typeface="Calibri"/>
                <a:cs typeface="Calibri"/>
              </a:rPr>
              <a:t> </a:t>
            </a:r>
            <a:r>
              <a:rPr lang="en-GB" sz="2000" dirty="0">
                <a:solidFill>
                  <a:srgbClr val="FFFFFF"/>
                </a:solidFill>
                <a:latin typeface="Calibri"/>
                <a:cs typeface="Calibri"/>
              </a:rPr>
              <a:t>to</a:t>
            </a:r>
            <a:r>
              <a:rPr lang="en-GB" sz="2000" spc="-15" dirty="0">
                <a:solidFill>
                  <a:srgbClr val="FFFFFF"/>
                </a:solidFill>
                <a:latin typeface="Calibri"/>
                <a:cs typeface="Calibri"/>
              </a:rPr>
              <a:t> </a:t>
            </a:r>
            <a:r>
              <a:rPr lang="en-GB" sz="2000" spc="-10" dirty="0">
                <a:solidFill>
                  <a:srgbClr val="FFFFFF"/>
                </a:solidFill>
                <a:latin typeface="Calibri"/>
                <a:cs typeface="Calibri"/>
              </a:rPr>
              <a:t>function normally</a:t>
            </a:r>
            <a:endParaRPr lang="en-US" sz="2000" dirty="0">
              <a:solidFill>
                <a:srgbClr val="FFFFFF"/>
              </a:solidFill>
            </a:endParaRPr>
          </a:p>
          <a:p>
            <a:pPr marL="177800" indent="-177800">
              <a:lnSpc>
                <a:spcPct val="150000"/>
              </a:lnSpc>
              <a:buSzPct val="100000"/>
              <a:buChar char="•"/>
            </a:pPr>
            <a:r>
              <a:rPr lang="en-US" sz="2000" dirty="0">
                <a:solidFill>
                  <a:srgbClr val="FFFFFF"/>
                </a:solidFill>
              </a:rPr>
              <a:t>Usually caused by pressure, traction or transient ischaemia.</a:t>
            </a:r>
            <a:endParaRPr lang="en-US" sz="2000" dirty="0"/>
          </a:p>
          <a:p>
            <a:pPr marL="177800" indent="-177800">
              <a:lnSpc>
                <a:spcPct val="150000"/>
              </a:lnSpc>
              <a:buSzPct val="100000"/>
              <a:buChar char="•"/>
            </a:pPr>
            <a:r>
              <a:rPr lang="en-US" sz="2000" dirty="0">
                <a:solidFill>
                  <a:srgbClr val="FFFFFF"/>
                </a:solidFill>
              </a:rPr>
              <a:t>The axon remains structurally continuous.</a:t>
            </a:r>
            <a:endParaRPr lang="en-US" sz="2000" dirty="0"/>
          </a:p>
          <a:p>
            <a:pPr marL="177800" indent="-177800">
              <a:lnSpc>
                <a:spcPct val="150000"/>
              </a:lnSpc>
              <a:buSzPct val="100000"/>
              <a:buChar char="•"/>
            </a:pPr>
            <a:r>
              <a:rPr lang="en-US" sz="2000" dirty="0">
                <a:solidFill>
                  <a:srgbClr val="FFFFFF"/>
                </a:solidFill>
              </a:rPr>
              <a:t>Motor function may be temporarily lost.</a:t>
            </a:r>
            <a:endParaRPr lang="en-US" sz="2000" dirty="0"/>
          </a:p>
          <a:p>
            <a:pPr marL="177800" indent="-177800">
              <a:lnSpc>
                <a:spcPct val="150000"/>
              </a:lnSpc>
              <a:buSzPct val="100000"/>
              <a:buChar char="•"/>
            </a:pPr>
            <a:r>
              <a:rPr lang="en-US" sz="2000" dirty="0">
                <a:solidFill>
                  <a:srgbClr val="FFFFFF"/>
                </a:solidFill>
              </a:rPr>
              <a:t>Recovery can be complete when conduction returns.</a:t>
            </a:r>
            <a:endParaRPr lang="en-US" sz="2000" dirty="0"/>
          </a:p>
          <a:p>
            <a:pPr>
              <a:lnSpc>
                <a:spcPct val="150000"/>
              </a:lnSpc>
              <a:buSzPct val="100000"/>
            </a:pPr>
            <a:r>
              <a:rPr lang="en-US" sz="2000" i="1" dirty="0">
                <a:solidFill>
                  <a:srgbClr val="FFFFFF"/>
                </a:solidFill>
              </a:rPr>
              <a:t>Key phrase: conduction block, not axonal severance.</a:t>
            </a:r>
            <a:endParaRPr lang="en-US" sz="2000" i="1" dirty="0"/>
          </a:p>
        </p:txBody>
      </p:sp>
      <p:sp>
        <p:nvSpPr>
          <p:cNvPr id="6" name="Shape 4"/>
          <p:cNvSpPr/>
          <p:nvPr/>
        </p:nvSpPr>
        <p:spPr>
          <a:xfrm>
            <a:off x="6080760" y="1188719"/>
            <a:ext cx="5577840" cy="5548961"/>
          </a:xfrm>
          <a:prstGeom prst="roundRect">
            <a:avLst>
              <a:gd name="adj" fmla="val 1468"/>
            </a:avLst>
          </a:prstGeom>
          <a:solidFill>
            <a:srgbClr val="FFFFFF"/>
          </a:solidFill>
          <a:ln w="8890">
            <a:solidFill>
              <a:srgbClr val="4F6380"/>
            </a:solidFill>
            <a:prstDash val="solid"/>
          </a:ln>
        </p:spPr>
        <p:txBody>
          <a:bodyPr/>
          <a:lstStyle/>
          <a:p>
            <a:endParaRPr lang="en-GB"/>
          </a:p>
        </p:txBody>
      </p:sp>
      <p:pic>
        <p:nvPicPr>
          <p:cNvPr id="11" name="object 4">
            <a:extLst>
              <a:ext uri="{FF2B5EF4-FFF2-40B4-BE49-F238E27FC236}">
                <a16:creationId xmlns:a16="http://schemas.microsoft.com/office/drawing/2014/main" id="{130FE15C-19C6-C391-7E68-4765FFA7CDBF}"/>
              </a:ext>
            </a:extLst>
          </p:cNvPr>
          <p:cNvPicPr/>
          <p:nvPr/>
        </p:nvPicPr>
        <p:blipFill>
          <a:blip r:embed="rId3" cstate="print"/>
          <a:stretch>
            <a:fillRect/>
          </a:stretch>
        </p:blipFill>
        <p:spPr>
          <a:xfrm>
            <a:off x="6583239" y="1380745"/>
            <a:ext cx="4572882" cy="2958084"/>
          </a:xfrm>
          <a:prstGeom prst="rect">
            <a:avLst/>
          </a:prstGeom>
        </p:spPr>
      </p:pic>
      <p:pic>
        <p:nvPicPr>
          <p:cNvPr id="13" name="Picture 12">
            <a:extLst>
              <a:ext uri="{FF2B5EF4-FFF2-40B4-BE49-F238E27FC236}">
                <a16:creationId xmlns:a16="http://schemas.microsoft.com/office/drawing/2014/main" id="{32DC47B7-97DD-A4C8-9D99-EEFFE0ACCACE}"/>
              </a:ext>
            </a:extLst>
          </p:cNvPr>
          <p:cNvPicPr>
            <a:picLocks noChangeAspect="1"/>
          </p:cNvPicPr>
          <p:nvPr/>
        </p:nvPicPr>
        <p:blipFill>
          <a:blip r:embed="rId4"/>
          <a:stretch>
            <a:fillRect/>
          </a:stretch>
        </p:blipFill>
        <p:spPr>
          <a:xfrm>
            <a:off x="7144515" y="4530854"/>
            <a:ext cx="3639627" cy="20484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Axonotmesis: axon damaged, pathway retained</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344103" y="1033272"/>
            <a:ext cx="5577840" cy="4892040"/>
          </a:xfrm>
          <a:prstGeom prst="rect">
            <a:avLst/>
          </a:prstGeom>
          <a:noFill/>
          <a:ln/>
        </p:spPr>
        <p:txBody>
          <a:bodyPr wrap="square" lIns="1016" tIns="1016" rIns="1016" bIns="1016" rtlCol="0" anchor="ctr">
            <a:normAutofit fontScale="85000" lnSpcReduction="10000"/>
          </a:bodyPr>
          <a:lstStyle/>
          <a:p>
            <a:pPr marL="177800" indent="-177800">
              <a:lnSpc>
                <a:spcPct val="150000"/>
              </a:lnSpc>
              <a:buSzPct val="100000"/>
              <a:buChar char="•"/>
            </a:pPr>
            <a:r>
              <a:rPr lang="en-US" sz="2000" dirty="0">
                <a:solidFill>
                  <a:srgbClr val="FFFFFF"/>
                </a:solidFill>
              </a:rPr>
              <a:t>Axon and (potentially also myelin) are damaged </a:t>
            </a:r>
            <a:r>
              <a:rPr lang="en-GB" sz="2000" dirty="0">
                <a:solidFill>
                  <a:srgbClr val="FFFFFF"/>
                </a:solidFill>
              </a:rPr>
              <a:t>as a result of a severe crush injury to a peripheral nerve</a:t>
            </a:r>
            <a:r>
              <a:rPr lang="en-US" sz="2000" dirty="0">
                <a:solidFill>
                  <a:srgbClr val="FFFFFF"/>
                </a:solidFill>
              </a:rPr>
              <a:t> .</a:t>
            </a:r>
          </a:p>
          <a:p>
            <a:pPr marL="177800" indent="-177800">
              <a:lnSpc>
                <a:spcPct val="150000"/>
              </a:lnSpc>
              <a:buSzPct val="100000"/>
              <a:buChar char="•"/>
            </a:pPr>
            <a:endParaRPr lang="en-US" sz="2000" dirty="0"/>
          </a:p>
          <a:p>
            <a:pPr marL="177800" indent="-177800">
              <a:lnSpc>
                <a:spcPct val="150000"/>
              </a:lnSpc>
              <a:buSzPct val="100000"/>
              <a:buChar char="•"/>
            </a:pPr>
            <a:r>
              <a:rPr lang="en-US" sz="2000" dirty="0">
                <a:solidFill>
                  <a:srgbClr val="FFFFFF"/>
                </a:solidFill>
              </a:rPr>
              <a:t>The distal segment undergoes Wallerian degeneration.</a:t>
            </a:r>
          </a:p>
          <a:p>
            <a:pPr marL="177800" indent="-177800">
              <a:lnSpc>
                <a:spcPct val="150000"/>
              </a:lnSpc>
              <a:buSzPct val="100000"/>
              <a:buChar char="•"/>
            </a:pPr>
            <a:endParaRPr lang="en-US" sz="2000" dirty="0"/>
          </a:p>
          <a:p>
            <a:pPr marL="177800" indent="-177800">
              <a:lnSpc>
                <a:spcPct val="150000"/>
              </a:lnSpc>
              <a:buSzPct val="100000"/>
              <a:buChar char="•"/>
            </a:pPr>
            <a:r>
              <a:rPr lang="en-US" sz="2000" dirty="0">
                <a:solidFill>
                  <a:srgbClr val="FFFFFF"/>
                </a:solidFill>
              </a:rPr>
              <a:t>Endoneurium, perineurium and epineurium may remain intact.</a:t>
            </a:r>
          </a:p>
          <a:p>
            <a:pPr marL="177800" indent="-177800">
              <a:lnSpc>
                <a:spcPct val="150000"/>
              </a:lnSpc>
              <a:buSzPct val="100000"/>
              <a:buChar char="•"/>
            </a:pPr>
            <a:endParaRPr lang="en-US" sz="2000" dirty="0"/>
          </a:p>
          <a:p>
            <a:pPr marL="177800" indent="-177800">
              <a:lnSpc>
                <a:spcPct val="150000"/>
              </a:lnSpc>
              <a:buSzPct val="100000"/>
              <a:buChar char="•"/>
            </a:pPr>
            <a:r>
              <a:rPr lang="en-US" sz="2000" dirty="0">
                <a:solidFill>
                  <a:srgbClr val="FFFFFF"/>
                </a:solidFill>
              </a:rPr>
              <a:t>These preserved tubes can guide axonal sprouts.</a:t>
            </a:r>
          </a:p>
          <a:p>
            <a:pPr marL="177800" indent="-177800">
              <a:lnSpc>
                <a:spcPct val="150000"/>
              </a:lnSpc>
              <a:buSzPct val="100000"/>
              <a:buChar char="•"/>
            </a:pPr>
            <a:endParaRPr lang="en-US" sz="2000" dirty="0"/>
          </a:p>
          <a:p>
            <a:pPr marL="177800" indent="-177800">
              <a:lnSpc>
                <a:spcPct val="150000"/>
              </a:lnSpc>
              <a:buSzPct val="100000"/>
              <a:buChar char="•"/>
            </a:pPr>
            <a:r>
              <a:rPr lang="en-US" sz="2000" dirty="0">
                <a:solidFill>
                  <a:srgbClr val="FFFFFF"/>
                </a:solidFill>
              </a:rPr>
              <a:t>Motor and sensory fibres can be affected in the same way.</a:t>
            </a:r>
            <a:endParaRPr lang="en-US" sz="2000" dirty="0"/>
          </a:p>
        </p:txBody>
      </p:sp>
      <p:sp>
        <p:nvSpPr>
          <p:cNvPr id="6" name="Shape 4"/>
          <p:cNvSpPr/>
          <p:nvPr/>
        </p:nvSpPr>
        <p:spPr>
          <a:xfrm>
            <a:off x="6377118" y="736171"/>
            <a:ext cx="5577840" cy="3267777"/>
          </a:xfrm>
          <a:prstGeom prst="roundRect">
            <a:avLst>
              <a:gd name="adj" fmla="val 1468"/>
            </a:avLst>
          </a:prstGeom>
          <a:solidFill>
            <a:srgbClr val="FFFFFF"/>
          </a:solidFill>
          <a:ln w="8890">
            <a:solidFill>
              <a:srgbClr val="4F6380"/>
            </a:solidFill>
            <a:prstDash val="solid"/>
          </a:ln>
        </p:spPr>
        <p:txBody>
          <a:bodyPr/>
          <a:lstStyle/>
          <a:p>
            <a:endParaRPr lang="en-GB"/>
          </a:p>
        </p:txBody>
      </p:sp>
      <p:pic>
        <p:nvPicPr>
          <p:cNvPr id="11" name="object 3">
            <a:extLst>
              <a:ext uri="{FF2B5EF4-FFF2-40B4-BE49-F238E27FC236}">
                <a16:creationId xmlns:a16="http://schemas.microsoft.com/office/drawing/2014/main" id="{66EA432D-66A0-B54B-DBE6-45101D52AF8A}"/>
              </a:ext>
            </a:extLst>
          </p:cNvPr>
          <p:cNvPicPr/>
          <p:nvPr/>
        </p:nvPicPr>
        <p:blipFill>
          <a:blip r:embed="rId3" cstate="print"/>
          <a:stretch>
            <a:fillRect/>
          </a:stretch>
        </p:blipFill>
        <p:spPr>
          <a:xfrm>
            <a:off x="6468939" y="964772"/>
            <a:ext cx="5394198" cy="2830148"/>
          </a:xfrm>
          <a:prstGeom prst="rect">
            <a:avLst/>
          </a:prstGeom>
        </p:spPr>
      </p:pic>
      <p:pic>
        <p:nvPicPr>
          <p:cNvPr id="13" name="Picture 12">
            <a:extLst>
              <a:ext uri="{FF2B5EF4-FFF2-40B4-BE49-F238E27FC236}">
                <a16:creationId xmlns:a16="http://schemas.microsoft.com/office/drawing/2014/main" id="{36DE85F3-1B40-500F-BB9B-0ADA528CED58}"/>
              </a:ext>
            </a:extLst>
          </p:cNvPr>
          <p:cNvPicPr>
            <a:picLocks noChangeAspect="1"/>
          </p:cNvPicPr>
          <p:nvPr/>
        </p:nvPicPr>
        <p:blipFill>
          <a:blip r:embed="rId4"/>
          <a:stretch>
            <a:fillRect/>
          </a:stretch>
        </p:blipFill>
        <p:spPr>
          <a:xfrm>
            <a:off x="6096000" y="4603897"/>
            <a:ext cx="6014587" cy="18071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Axonotmesis: why recovery can occur</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02920" y="1188720"/>
            <a:ext cx="5212080" cy="2028524"/>
          </a:xfrm>
          <a:prstGeom prst="rect">
            <a:avLst/>
          </a:prstGeom>
          <a:noFill/>
          <a:ln/>
        </p:spPr>
        <p:txBody>
          <a:bodyPr wrap="square" lIns="1016" tIns="1016" rIns="1016" bIns="1016" rtlCol="0" anchor="ctr">
            <a:normAutofit/>
          </a:bodyPr>
          <a:lstStyle/>
          <a:p>
            <a:pPr marL="177800" indent="-177800">
              <a:buSzPct val="100000"/>
              <a:buChar char="•"/>
            </a:pPr>
            <a:r>
              <a:rPr lang="en-US" dirty="0">
                <a:solidFill>
                  <a:srgbClr val="FFFFFF"/>
                </a:solidFill>
              </a:rPr>
              <a:t>Axon and myelin remnants are damaged.</a:t>
            </a:r>
            <a:endParaRPr lang="en-US" dirty="0"/>
          </a:p>
          <a:p>
            <a:pPr marL="177800" indent="-177800">
              <a:buSzPct val="100000"/>
              <a:buChar char="•"/>
            </a:pPr>
            <a:r>
              <a:rPr lang="en-US" dirty="0">
                <a:solidFill>
                  <a:srgbClr val="FFFFFF"/>
                </a:solidFill>
              </a:rPr>
              <a:t>Epineurium, perineurium and endoneurium remain </a:t>
            </a:r>
            <a:r>
              <a:rPr lang="en-US" dirty="0">
                <a:solidFill>
                  <a:srgbClr val="FFFFFF"/>
                </a:solidFill>
                <a:highlight>
                  <a:srgbClr val="FFFF00"/>
                </a:highlight>
              </a:rPr>
              <a:t>intact</a:t>
            </a:r>
            <a:r>
              <a:rPr lang="en-US" dirty="0">
                <a:solidFill>
                  <a:srgbClr val="FFFFFF"/>
                </a:solidFill>
              </a:rPr>
              <a:t> in the classic description.</a:t>
            </a:r>
            <a:endParaRPr lang="en-US" dirty="0"/>
          </a:p>
          <a:p>
            <a:pPr marL="177800" indent="-177800">
              <a:buSzPct val="100000"/>
              <a:buChar char="•"/>
            </a:pPr>
            <a:r>
              <a:rPr lang="en-US" dirty="0">
                <a:solidFill>
                  <a:srgbClr val="FFFFFF"/>
                </a:solidFill>
              </a:rPr>
              <a:t>New sprouts use the tubes to re-supply the target effector.</a:t>
            </a:r>
            <a:endParaRPr lang="en-US" dirty="0"/>
          </a:p>
          <a:p>
            <a:pPr marL="177800" indent="-177800">
              <a:buSzPct val="100000"/>
              <a:buChar char="•"/>
            </a:pPr>
            <a:r>
              <a:rPr lang="en-US" dirty="0">
                <a:solidFill>
                  <a:srgbClr val="FFFFFF"/>
                </a:solidFill>
              </a:rPr>
              <a:t>Restoration can be good if the target remains viable.</a:t>
            </a:r>
            <a:endParaRPr lang="en-US" dirty="0"/>
          </a:p>
        </p:txBody>
      </p:sp>
      <p:sp>
        <p:nvSpPr>
          <p:cNvPr id="6" name="Shape 4"/>
          <p:cNvSpPr/>
          <p:nvPr/>
        </p:nvSpPr>
        <p:spPr>
          <a:xfrm>
            <a:off x="6035040" y="1188720"/>
            <a:ext cx="5577840" cy="4983480"/>
          </a:xfrm>
          <a:prstGeom prst="roundRect">
            <a:avLst>
              <a:gd name="adj" fmla="val 1468"/>
            </a:avLst>
          </a:prstGeom>
          <a:solidFill>
            <a:srgbClr val="FFFFFF"/>
          </a:solidFill>
          <a:ln w="8890">
            <a:solidFill>
              <a:srgbClr val="4F6380"/>
            </a:solidFill>
            <a:prstDash val="solid"/>
          </a:ln>
        </p:spPr>
        <p:txBody>
          <a:bodyPr/>
          <a:lstStyle/>
          <a:p>
            <a:endParaRPr lang="en-GB"/>
          </a:p>
        </p:txBody>
      </p:sp>
      <p:pic>
        <p:nvPicPr>
          <p:cNvPr id="11" name="object 4">
            <a:extLst>
              <a:ext uri="{FF2B5EF4-FFF2-40B4-BE49-F238E27FC236}">
                <a16:creationId xmlns:a16="http://schemas.microsoft.com/office/drawing/2014/main" id="{CCA8CC1F-BDBD-B2A1-1FBF-3C27244FCE2C}"/>
              </a:ext>
            </a:extLst>
          </p:cNvPr>
          <p:cNvPicPr/>
          <p:nvPr/>
        </p:nvPicPr>
        <p:blipFill>
          <a:blip r:embed="rId5" cstate="print"/>
          <a:stretch>
            <a:fillRect/>
          </a:stretch>
        </p:blipFill>
        <p:spPr>
          <a:xfrm>
            <a:off x="6208454" y="1856953"/>
            <a:ext cx="5358706" cy="3647013"/>
          </a:xfrm>
          <a:prstGeom prst="rect">
            <a:avLst/>
          </a:prstGeom>
        </p:spPr>
      </p:pic>
      <p:pic>
        <p:nvPicPr>
          <p:cNvPr id="13" name="Picture 12">
            <a:extLst>
              <a:ext uri="{FF2B5EF4-FFF2-40B4-BE49-F238E27FC236}">
                <a16:creationId xmlns:a16="http://schemas.microsoft.com/office/drawing/2014/main" id="{EE10C004-36E8-4351-D055-145B4103779C}"/>
              </a:ext>
            </a:extLst>
          </p:cNvPr>
          <p:cNvPicPr>
            <a:picLocks noChangeAspect="1"/>
          </p:cNvPicPr>
          <p:nvPr/>
        </p:nvPicPr>
        <p:blipFill>
          <a:blip r:embed="rId6"/>
          <a:stretch>
            <a:fillRect/>
          </a:stretch>
        </p:blipFill>
        <p:spPr>
          <a:xfrm>
            <a:off x="20453" y="3933364"/>
            <a:ext cx="6014587" cy="1807115"/>
          </a:xfrm>
          <a:prstGeom prst="rect">
            <a:avLst/>
          </a:prstGeom>
        </p:spPr>
      </p:pic>
      <p:pic>
        <p:nvPicPr>
          <p:cNvPr id="14" name="Growth_cone_guidance_by_an_attractive_surface_NGF_mov">
            <a:hlinkClick r:id="" action="ppaction://media"/>
            <a:extLst>
              <a:ext uri="{FF2B5EF4-FFF2-40B4-BE49-F238E27FC236}">
                <a16:creationId xmlns:a16="http://schemas.microsoft.com/office/drawing/2014/main" id="{3974454C-CC59-539C-5CB6-B3913B52D964}"/>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102577" y="1856953"/>
            <a:ext cx="5442766" cy="3552443"/>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Neurotmesis: complete nerve transection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154978" y="1181500"/>
            <a:ext cx="6411855" cy="2995864"/>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dirty="0">
                <a:solidFill>
                  <a:srgbClr val="FFFFFF"/>
                </a:solidFill>
              </a:rPr>
              <a:t>The entire nerve fibre is severed or transected.</a:t>
            </a:r>
            <a:endParaRPr lang="en-US" dirty="0"/>
          </a:p>
          <a:p>
            <a:pPr marL="177800" indent="-177800">
              <a:lnSpc>
                <a:spcPct val="150000"/>
              </a:lnSpc>
              <a:buSzPct val="100000"/>
              <a:buChar char="•"/>
            </a:pPr>
            <a:r>
              <a:rPr lang="en-US" dirty="0">
                <a:solidFill>
                  <a:srgbClr val="FFFFFF"/>
                </a:solidFill>
              </a:rPr>
              <a:t>Axon, myelin and connective tissue envelopes are divided.</a:t>
            </a:r>
            <a:endParaRPr lang="en-US" dirty="0"/>
          </a:p>
          <a:p>
            <a:pPr marL="177800" indent="-177800">
              <a:lnSpc>
                <a:spcPct val="150000"/>
              </a:lnSpc>
              <a:buSzPct val="100000"/>
              <a:buChar char="•"/>
            </a:pPr>
            <a:r>
              <a:rPr lang="en-US" dirty="0">
                <a:solidFill>
                  <a:srgbClr val="FFFFFF"/>
                </a:solidFill>
              </a:rPr>
              <a:t>Function distal to the lesion is lost.</a:t>
            </a:r>
            <a:endParaRPr lang="en-US" dirty="0"/>
          </a:p>
          <a:p>
            <a:pPr marL="177800" indent="-177800">
              <a:lnSpc>
                <a:spcPct val="150000"/>
              </a:lnSpc>
              <a:buSzPct val="100000"/>
              <a:buChar char="•"/>
            </a:pPr>
            <a:r>
              <a:rPr lang="en-US" dirty="0">
                <a:solidFill>
                  <a:srgbClr val="FFFFFF"/>
                </a:solidFill>
              </a:rPr>
              <a:t>Spontaneous recovery is poor because guidance is lost.</a:t>
            </a:r>
            <a:endParaRPr lang="en-US" dirty="0"/>
          </a:p>
          <a:p>
            <a:pPr marL="177800" indent="-177800">
              <a:lnSpc>
                <a:spcPct val="150000"/>
              </a:lnSpc>
              <a:buSzPct val="100000"/>
              <a:buChar char="•"/>
            </a:pPr>
            <a:r>
              <a:rPr lang="en-US" dirty="0">
                <a:solidFill>
                  <a:srgbClr val="FFFFFF"/>
                </a:solidFill>
              </a:rPr>
              <a:t>Surgical intervention may be needed to restore continuity.</a:t>
            </a:r>
            <a:endParaRPr lang="en-US" dirty="0"/>
          </a:p>
        </p:txBody>
      </p:sp>
      <p:sp>
        <p:nvSpPr>
          <p:cNvPr id="6" name="Shape 4"/>
          <p:cNvSpPr/>
          <p:nvPr/>
        </p:nvSpPr>
        <p:spPr>
          <a:xfrm>
            <a:off x="6381549" y="1181500"/>
            <a:ext cx="5577840" cy="5597091"/>
          </a:xfrm>
          <a:prstGeom prst="roundRect">
            <a:avLst>
              <a:gd name="adj" fmla="val 1468"/>
            </a:avLst>
          </a:prstGeom>
          <a:solidFill>
            <a:srgbClr val="FFFFFF"/>
          </a:solidFill>
          <a:ln w="8890">
            <a:solidFill>
              <a:srgbClr val="4F6380"/>
            </a:solidFill>
            <a:prstDash val="solid"/>
          </a:ln>
        </p:spPr>
        <p:txBody>
          <a:bodyPr/>
          <a:lstStyle/>
          <a:p>
            <a:endParaRPr lang="en-GB"/>
          </a:p>
        </p:txBody>
      </p:sp>
      <p:pic>
        <p:nvPicPr>
          <p:cNvPr id="11" name="object 4">
            <a:extLst>
              <a:ext uri="{FF2B5EF4-FFF2-40B4-BE49-F238E27FC236}">
                <a16:creationId xmlns:a16="http://schemas.microsoft.com/office/drawing/2014/main" id="{DB33FC6A-2BA6-6A85-B8E4-1E9A3D2F0425}"/>
              </a:ext>
            </a:extLst>
          </p:cNvPr>
          <p:cNvPicPr/>
          <p:nvPr/>
        </p:nvPicPr>
        <p:blipFill>
          <a:blip r:embed="rId3" cstate="print"/>
          <a:stretch>
            <a:fillRect/>
          </a:stretch>
        </p:blipFill>
        <p:spPr>
          <a:xfrm>
            <a:off x="7288089" y="1364382"/>
            <a:ext cx="3838715" cy="1348065"/>
          </a:xfrm>
          <a:prstGeom prst="rect">
            <a:avLst/>
          </a:prstGeom>
        </p:spPr>
      </p:pic>
      <p:pic>
        <p:nvPicPr>
          <p:cNvPr id="13" name="object 5">
            <a:extLst>
              <a:ext uri="{FF2B5EF4-FFF2-40B4-BE49-F238E27FC236}">
                <a16:creationId xmlns:a16="http://schemas.microsoft.com/office/drawing/2014/main" id="{F7C27C6B-51F5-7BAE-F490-6F538C581B9B}"/>
              </a:ext>
            </a:extLst>
          </p:cNvPr>
          <p:cNvPicPr/>
          <p:nvPr/>
        </p:nvPicPr>
        <p:blipFill>
          <a:blip r:embed="rId4" cstate="print"/>
          <a:stretch>
            <a:fillRect/>
          </a:stretch>
        </p:blipFill>
        <p:spPr>
          <a:xfrm>
            <a:off x="6918157" y="2987729"/>
            <a:ext cx="4689909" cy="3515580"/>
          </a:xfrm>
          <a:prstGeom prst="rect">
            <a:avLst/>
          </a:prstGeom>
        </p:spPr>
      </p:pic>
      <p:pic>
        <p:nvPicPr>
          <p:cNvPr id="15" name="Picture 14">
            <a:extLst>
              <a:ext uri="{FF2B5EF4-FFF2-40B4-BE49-F238E27FC236}">
                <a16:creationId xmlns:a16="http://schemas.microsoft.com/office/drawing/2014/main" id="{765F4EAF-0125-8810-2322-678A3420FC7A}"/>
              </a:ext>
            </a:extLst>
          </p:cNvPr>
          <p:cNvPicPr>
            <a:picLocks noChangeAspect="1"/>
          </p:cNvPicPr>
          <p:nvPr/>
        </p:nvPicPr>
        <p:blipFill>
          <a:blip r:embed="rId5"/>
          <a:stretch>
            <a:fillRect/>
          </a:stretch>
        </p:blipFill>
        <p:spPr>
          <a:xfrm>
            <a:off x="997469" y="4177364"/>
            <a:ext cx="4383404" cy="23044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After axonal injury, divide the axon into proximal and distal segments</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a:bodyPr>
          <a:lstStyle/>
          <a:p>
            <a:pPr marL="0" indent="0" algn="ctr">
              <a:buNone/>
            </a:pPr>
            <a:r>
              <a:rPr lang="en-US" sz="3400" b="1" dirty="0">
                <a:solidFill>
                  <a:srgbClr val="F4E300"/>
                </a:solidFill>
              </a:rPr>
              <a:t>Part 3 — What happens inside the injured neurone?</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24</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Which parts react to axonotmesis or neurotmesis?</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6593207" y="821998"/>
            <a:ext cx="5399870" cy="5650992"/>
          </a:xfrm>
          <a:prstGeom prst="rect">
            <a:avLst/>
          </a:prstGeom>
          <a:noFill/>
          <a:ln/>
        </p:spPr>
        <p:txBody>
          <a:bodyPr wrap="square" lIns="1016" tIns="1016" rIns="1016" bIns="1016" rtlCol="0" anchor="ctr">
            <a:normAutofit/>
          </a:bodyPr>
          <a:lstStyle/>
          <a:p>
            <a:pPr marL="177800" indent="-177800">
              <a:buSzPct val="100000"/>
              <a:buChar char="•"/>
            </a:pPr>
            <a:r>
              <a:rPr lang="en-US" sz="2000" dirty="0">
                <a:solidFill>
                  <a:srgbClr val="FFFFFF"/>
                </a:solidFill>
              </a:rPr>
              <a:t>Cell body: may survive and enter a repair </a:t>
            </a:r>
            <a:r>
              <a:rPr lang="en-US" sz="2000" dirty="0" err="1">
                <a:solidFill>
                  <a:srgbClr val="FFFFFF"/>
                </a:solidFill>
              </a:rPr>
              <a:t>programme</a:t>
            </a:r>
            <a:r>
              <a:rPr lang="en-US" sz="2000" dirty="0">
                <a:solidFill>
                  <a:srgbClr val="FFFFFF"/>
                </a:solidFill>
              </a:rPr>
              <a:t>.</a:t>
            </a:r>
          </a:p>
          <a:p>
            <a:pPr>
              <a:buSzPct val="100000"/>
            </a:pPr>
            <a:endParaRPr lang="en-US" sz="2000" dirty="0"/>
          </a:p>
          <a:p>
            <a:pPr marL="177800" indent="-177800">
              <a:buSzPct val="100000"/>
              <a:buChar char="•"/>
            </a:pPr>
            <a:r>
              <a:rPr lang="en-US" sz="2000" dirty="0">
                <a:solidFill>
                  <a:srgbClr val="FFFFFF"/>
                </a:solidFill>
              </a:rPr>
              <a:t>Axonal terminals: degenerate early after disconnection.</a:t>
            </a:r>
          </a:p>
          <a:p>
            <a:pPr marL="177800" indent="-177800">
              <a:buSzPct val="100000"/>
              <a:buChar char="•"/>
            </a:pPr>
            <a:endParaRPr lang="en-US" sz="2000" dirty="0"/>
          </a:p>
          <a:p>
            <a:pPr marL="177800" indent="-177800">
              <a:buSzPct val="100000"/>
              <a:buChar char="•"/>
            </a:pPr>
            <a:r>
              <a:rPr lang="en-US" sz="2000" dirty="0">
                <a:solidFill>
                  <a:srgbClr val="FFFFFF"/>
                </a:solidFill>
              </a:rPr>
              <a:t>Proximal stump/segment: </a:t>
            </a:r>
          </a:p>
          <a:p>
            <a:pPr>
              <a:buSzPct val="100000"/>
            </a:pPr>
            <a:r>
              <a:rPr lang="en-GB" sz="1600" dirty="0">
                <a:solidFill>
                  <a:srgbClr val="FFFFFF"/>
                </a:solidFill>
              </a:rPr>
              <a:t>- survives the injury</a:t>
            </a:r>
          </a:p>
          <a:p>
            <a:pPr>
              <a:buSzPct val="100000"/>
            </a:pPr>
            <a:r>
              <a:rPr lang="en-GB" sz="1600" dirty="0">
                <a:solidFill>
                  <a:srgbClr val="FFFFFF"/>
                </a:solidFill>
              </a:rPr>
              <a:t>- Likely to continue to receive support of</a:t>
            </a:r>
          </a:p>
          <a:p>
            <a:pPr>
              <a:buSzPct val="100000"/>
            </a:pPr>
            <a:r>
              <a:rPr lang="en-GB" sz="1600" dirty="0">
                <a:solidFill>
                  <a:srgbClr val="FFFFFF"/>
                </a:solidFill>
              </a:rPr>
              <a:t>cell body (</a:t>
            </a:r>
            <a:r>
              <a:rPr lang="en-US" sz="1600" dirty="0">
                <a:solidFill>
                  <a:srgbClr val="FFFFFF"/>
                </a:solidFill>
              </a:rPr>
              <a:t>seals, may form neuroma, and may generate sprouts)</a:t>
            </a:r>
          </a:p>
          <a:p>
            <a:pPr>
              <a:buSzPct val="100000"/>
            </a:pPr>
            <a:endParaRPr lang="en-US" sz="2000" dirty="0">
              <a:solidFill>
                <a:srgbClr val="FFFFFF"/>
              </a:solidFill>
            </a:endParaRPr>
          </a:p>
          <a:p>
            <a:pPr marL="177800" indent="-177800">
              <a:buSzPct val="100000"/>
              <a:buChar char="•"/>
            </a:pPr>
            <a:r>
              <a:rPr lang="en-US" sz="2000" dirty="0">
                <a:solidFill>
                  <a:srgbClr val="FFFFFF"/>
                </a:solidFill>
              </a:rPr>
              <a:t>Distal stump/segment: </a:t>
            </a:r>
          </a:p>
          <a:p>
            <a:pPr>
              <a:buSzPct val="100000"/>
            </a:pPr>
            <a:r>
              <a:rPr lang="en-GB" sz="1600" dirty="0">
                <a:solidFill>
                  <a:srgbClr val="FFFFFF"/>
                </a:solidFill>
              </a:rPr>
              <a:t>- Often cut off from cell body</a:t>
            </a:r>
          </a:p>
          <a:p>
            <a:pPr>
              <a:buSzPct val="100000"/>
            </a:pPr>
            <a:r>
              <a:rPr lang="en-GB" sz="1600" dirty="0">
                <a:solidFill>
                  <a:srgbClr val="FFFFFF"/>
                </a:solidFill>
              </a:rPr>
              <a:t>- Loses potential for repairs</a:t>
            </a:r>
          </a:p>
          <a:p>
            <a:pPr>
              <a:buSzPct val="100000"/>
            </a:pPr>
            <a:r>
              <a:rPr lang="en-GB" sz="1600" dirty="0">
                <a:solidFill>
                  <a:srgbClr val="FFFFFF"/>
                </a:solidFill>
              </a:rPr>
              <a:t>- Loses potential for nutritional support</a:t>
            </a:r>
          </a:p>
          <a:p>
            <a:pPr>
              <a:buSzPct val="100000"/>
            </a:pPr>
            <a:r>
              <a:rPr lang="en-GB" sz="1600" dirty="0">
                <a:solidFill>
                  <a:srgbClr val="FFFFFF"/>
                </a:solidFill>
              </a:rPr>
              <a:t>- Becomes vulnerable to phagocytosis by glia</a:t>
            </a:r>
          </a:p>
          <a:p>
            <a:pPr>
              <a:buSzPct val="100000"/>
            </a:pPr>
            <a:endParaRPr lang="en-US" sz="2000" dirty="0"/>
          </a:p>
        </p:txBody>
      </p:sp>
      <p:pic>
        <p:nvPicPr>
          <p:cNvPr id="21" name="Picture 20">
            <a:extLst>
              <a:ext uri="{FF2B5EF4-FFF2-40B4-BE49-F238E27FC236}">
                <a16:creationId xmlns:a16="http://schemas.microsoft.com/office/drawing/2014/main" id="{925F836D-1179-FAC9-58A6-39D409993619}"/>
              </a:ext>
            </a:extLst>
          </p:cNvPr>
          <p:cNvPicPr>
            <a:picLocks noChangeAspect="1"/>
          </p:cNvPicPr>
          <p:nvPr/>
        </p:nvPicPr>
        <p:blipFill>
          <a:blip r:embed="rId3"/>
          <a:stretch>
            <a:fillRect/>
          </a:stretch>
        </p:blipFill>
        <p:spPr>
          <a:xfrm>
            <a:off x="0" y="1867916"/>
            <a:ext cx="6036105" cy="3801364"/>
          </a:xfrm>
          <a:prstGeom prst="rect">
            <a:avLst/>
          </a:prstGeom>
        </p:spPr>
      </p:pic>
      <p:sp>
        <p:nvSpPr>
          <p:cNvPr id="6" name="TextBox 5">
            <a:extLst>
              <a:ext uri="{FF2B5EF4-FFF2-40B4-BE49-F238E27FC236}">
                <a16:creationId xmlns:a16="http://schemas.microsoft.com/office/drawing/2014/main" id="{B39C9FE4-ECC0-0855-8F18-7DB98828E704}"/>
              </a:ext>
            </a:extLst>
          </p:cNvPr>
          <p:cNvSpPr txBox="1"/>
          <p:nvPr/>
        </p:nvSpPr>
        <p:spPr>
          <a:xfrm>
            <a:off x="2790908" y="5955527"/>
            <a:ext cx="2727298" cy="369332"/>
          </a:xfrm>
          <a:prstGeom prst="rect">
            <a:avLst/>
          </a:prstGeom>
          <a:solidFill>
            <a:schemeClr val="bg1"/>
          </a:solidFill>
        </p:spPr>
        <p:txBody>
          <a:bodyPr wrap="square" rtlCol="0">
            <a:spAutoFit/>
          </a:bodyPr>
          <a:lstStyle/>
          <a:p>
            <a:r>
              <a:rPr lang="en-GB" b="1" dirty="0">
                <a:highlight>
                  <a:srgbClr val="FFFF00"/>
                </a:highlight>
              </a:rPr>
              <a:t>Wallerian degeneration</a:t>
            </a:r>
            <a:endParaRPr lang="en-GB" dirty="0">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8">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Minutes after injury: conduction stops</a:t>
            </a:r>
            <a:endParaRPr lang="en-US" sz="2500" dirty="0"/>
          </a:p>
        </p:txBody>
      </p:sp>
      <p:sp>
        <p:nvSpPr>
          <p:cNvPr id="3" name="Text 1"/>
          <p:cNvSpPr/>
          <p:nvPr/>
        </p:nvSpPr>
        <p:spPr>
          <a:xfrm>
            <a:off x="530352" y="758952"/>
            <a:ext cx="10972800" cy="237744"/>
          </a:xfrm>
          <a:prstGeom prst="rect">
            <a:avLst/>
          </a:prstGeom>
          <a:noFill/>
          <a:ln/>
        </p:spPr>
        <p:txBody>
          <a:bodyPr wrap="square" lIns="0" tIns="0" rIns="0" bIns="0" rtlCol="0" anchor="ctr">
            <a:normAutofit/>
          </a:bodyPr>
          <a:lstStyle/>
          <a:p>
            <a:pPr marL="0" indent="0">
              <a:buNone/>
            </a:pPr>
            <a:r>
              <a:rPr lang="en-US" sz="1050" dirty="0">
                <a:solidFill>
                  <a:srgbClr val="D7E2F3"/>
                </a:solidFill>
              </a:rPr>
              <a:t>The first consequence is functional disconnection beyond the lesion.</a:t>
            </a:r>
            <a:endParaRPr lang="en-US" sz="105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59" y="1234440"/>
            <a:ext cx="6345455" cy="4892040"/>
          </a:xfrm>
          <a:prstGeom prst="rect">
            <a:avLst/>
          </a:prstGeom>
          <a:noFill/>
          <a:ln/>
        </p:spPr>
        <p:txBody>
          <a:bodyPr wrap="square" lIns="1016" tIns="1016" rIns="1016" bIns="1016" rtlCol="0" anchor="ctr">
            <a:normAutofit/>
          </a:bodyPr>
          <a:lstStyle/>
          <a:p>
            <a:pPr marL="12700">
              <a:buSzPct val="100000"/>
            </a:pPr>
            <a:r>
              <a:rPr lang="en-GB" sz="2800" i="1" u="sng" dirty="0">
                <a:solidFill>
                  <a:srgbClr val="FFFFFF"/>
                </a:solidFill>
                <a:uFill>
                  <a:solidFill>
                    <a:srgbClr val="FFFFFF"/>
                  </a:solidFill>
                </a:uFill>
                <a:latin typeface="Calibri"/>
                <a:cs typeface="Calibri"/>
              </a:rPr>
              <a:t>Minutes</a:t>
            </a:r>
            <a:r>
              <a:rPr lang="en-GB" sz="2800" i="1" u="sng" spc="-3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After</a:t>
            </a:r>
            <a:r>
              <a:rPr lang="en-GB" sz="2800" i="1" u="sng" spc="-4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Injury</a:t>
            </a:r>
            <a:r>
              <a:rPr lang="en-GB" sz="2800" i="1" u="sng" spc="-4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is</a:t>
            </a:r>
            <a:r>
              <a:rPr lang="en-GB" sz="2800" i="1" u="sng" spc="-25" dirty="0">
                <a:solidFill>
                  <a:srgbClr val="FFFFFF"/>
                </a:solidFill>
                <a:uFill>
                  <a:solidFill>
                    <a:srgbClr val="FFFFFF"/>
                  </a:solidFill>
                </a:uFill>
                <a:latin typeface="Calibri"/>
                <a:cs typeface="Calibri"/>
              </a:rPr>
              <a:t> </a:t>
            </a:r>
            <a:r>
              <a:rPr lang="en-GB" sz="2800" i="1" u="sng" spc="-10" dirty="0">
                <a:solidFill>
                  <a:srgbClr val="FFFFFF"/>
                </a:solidFill>
                <a:uFill>
                  <a:solidFill>
                    <a:srgbClr val="FFFFFF"/>
                  </a:solidFill>
                </a:uFill>
                <a:latin typeface="Calibri"/>
                <a:cs typeface="Calibri"/>
              </a:rPr>
              <a:t>Sustained</a:t>
            </a:r>
            <a:endParaRPr lang="en-GB" sz="2800" dirty="0">
              <a:latin typeface="Calibri"/>
              <a:cs typeface="Calibri"/>
            </a:endParaRPr>
          </a:p>
          <a:p>
            <a:pPr>
              <a:buSzPct val="100000"/>
            </a:pPr>
            <a:endParaRPr lang="en-US" sz="2400" dirty="0">
              <a:solidFill>
                <a:srgbClr val="FFFFFF"/>
              </a:solidFill>
            </a:endParaRPr>
          </a:p>
          <a:p>
            <a:pPr marL="177800" indent="-177800">
              <a:buSzPct val="100000"/>
              <a:buChar char="•"/>
            </a:pPr>
            <a:r>
              <a:rPr lang="en-US" sz="2400" dirty="0">
                <a:solidFill>
                  <a:srgbClr val="FFFFFF"/>
                </a:solidFill>
              </a:rPr>
              <a:t>Action potentials cannot pass the injury site.</a:t>
            </a:r>
            <a:endParaRPr lang="en-US" sz="2400" dirty="0"/>
          </a:p>
          <a:p>
            <a:pPr marL="177800" indent="-177800">
              <a:buSzPct val="100000"/>
              <a:buChar char="•"/>
            </a:pPr>
            <a:r>
              <a:rPr lang="en-US" sz="2400" dirty="0">
                <a:solidFill>
                  <a:srgbClr val="FFFFFF"/>
                </a:solidFill>
              </a:rPr>
              <a:t>The target effector is no longer receiving normal neural input.</a:t>
            </a:r>
            <a:endParaRPr lang="en-US" sz="2400" dirty="0"/>
          </a:p>
          <a:p>
            <a:pPr marL="177800" indent="-177800">
              <a:buSzPct val="100000"/>
              <a:buChar char="•"/>
            </a:pPr>
            <a:r>
              <a:rPr lang="en-US" sz="2400" dirty="0">
                <a:solidFill>
                  <a:srgbClr val="FFFFFF"/>
                </a:solidFill>
              </a:rPr>
              <a:t>Cut ends leak intracellular fluid, then pull apart, seal and swell.</a:t>
            </a:r>
            <a:endParaRPr lang="en-US" sz="2400" dirty="0"/>
          </a:p>
          <a:p>
            <a:pPr marL="177800" indent="-177800">
              <a:buSzPct val="100000"/>
              <a:buChar char="•"/>
            </a:pPr>
            <a:r>
              <a:rPr lang="en-US" sz="2400" dirty="0">
                <a:solidFill>
                  <a:srgbClr val="FFFFFF"/>
                </a:solidFill>
              </a:rPr>
              <a:t>Axonal transport in both directions is interrupted.</a:t>
            </a:r>
            <a:endParaRPr lang="en-US" sz="2400" dirty="0"/>
          </a:p>
        </p:txBody>
      </p:sp>
      <p:pic>
        <p:nvPicPr>
          <p:cNvPr id="11" name="Picture 10">
            <a:extLst>
              <a:ext uri="{FF2B5EF4-FFF2-40B4-BE49-F238E27FC236}">
                <a16:creationId xmlns:a16="http://schemas.microsoft.com/office/drawing/2014/main" id="{FF88BAD9-6F59-BAE1-2DE8-5D795CCA754E}"/>
              </a:ext>
            </a:extLst>
          </p:cNvPr>
          <p:cNvPicPr>
            <a:picLocks noChangeAspect="1"/>
          </p:cNvPicPr>
          <p:nvPr/>
        </p:nvPicPr>
        <p:blipFill>
          <a:blip r:embed="rId3"/>
          <a:stretch>
            <a:fillRect/>
          </a:stretch>
        </p:blipFill>
        <p:spPr>
          <a:xfrm>
            <a:off x="7808060" y="1344167"/>
            <a:ext cx="3501623" cy="54139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The classic injury sequence diagram</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6" name="Shape 4"/>
          <p:cNvSpPr/>
          <p:nvPr/>
        </p:nvSpPr>
        <p:spPr>
          <a:xfrm>
            <a:off x="502919" y="1188719"/>
            <a:ext cx="11288027" cy="5582575"/>
          </a:xfrm>
          <a:prstGeom prst="roundRect">
            <a:avLst>
              <a:gd name="adj" fmla="val 1468"/>
            </a:avLst>
          </a:prstGeom>
          <a:solidFill>
            <a:srgbClr val="FFFFFF"/>
          </a:solidFill>
          <a:ln w="8890">
            <a:solidFill>
              <a:srgbClr val="4F6380"/>
            </a:solidFill>
            <a:prstDash val="solid"/>
          </a:ln>
        </p:spPr>
        <p:txBody>
          <a:bodyPr/>
          <a:lstStyle/>
          <a:p>
            <a:endParaRPr lang="en-GB"/>
          </a:p>
        </p:txBody>
      </p:sp>
      <p:pic>
        <p:nvPicPr>
          <p:cNvPr id="17" name="Picture 16">
            <a:extLst>
              <a:ext uri="{FF2B5EF4-FFF2-40B4-BE49-F238E27FC236}">
                <a16:creationId xmlns:a16="http://schemas.microsoft.com/office/drawing/2014/main" id="{ABD35EFB-FFD1-52B2-B942-188F7F3DC867}"/>
              </a:ext>
            </a:extLst>
          </p:cNvPr>
          <p:cNvPicPr>
            <a:picLocks noChangeAspect="1"/>
          </p:cNvPicPr>
          <p:nvPr/>
        </p:nvPicPr>
        <p:blipFill>
          <a:blip r:embed="rId3"/>
          <a:stretch>
            <a:fillRect/>
          </a:stretch>
        </p:blipFill>
        <p:spPr>
          <a:xfrm>
            <a:off x="1701073" y="1536193"/>
            <a:ext cx="8434329" cy="523510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0">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5593080" cy="758952"/>
          </a:xfrm>
          <a:prstGeom prst="rect">
            <a:avLst/>
          </a:prstGeom>
          <a:noFill/>
          <a:ln/>
        </p:spPr>
        <p:txBody>
          <a:bodyPr wrap="square" lIns="0" tIns="0" rIns="0" bIns="0" rtlCol="0" anchor="ctr">
            <a:normAutofit/>
          </a:bodyPr>
          <a:lstStyle/>
          <a:p>
            <a:pPr marL="0" indent="0">
              <a:buNone/>
            </a:pPr>
            <a:r>
              <a:rPr lang="en-US" b="1" dirty="0">
                <a:solidFill>
                  <a:srgbClr val="F4E300"/>
                </a:solidFill>
              </a:rPr>
              <a:t>Hours after injury: terminal degeneration begins</a:t>
            </a:r>
            <a:endParaRPr lang="en-US"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147587" y="1234440"/>
            <a:ext cx="5784784" cy="4892040"/>
          </a:xfrm>
          <a:prstGeom prst="rect">
            <a:avLst/>
          </a:prstGeom>
          <a:noFill/>
          <a:ln/>
        </p:spPr>
        <p:txBody>
          <a:bodyPr wrap="square" lIns="1016" tIns="1016" rIns="1016" bIns="1016" rtlCol="0" anchor="ctr">
            <a:normAutofit/>
          </a:bodyPr>
          <a:lstStyle/>
          <a:p>
            <a:pPr marL="12065">
              <a:buSzPct val="100000"/>
            </a:pPr>
            <a:r>
              <a:rPr lang="en-GB" sz="2800" i="1" u="sng" dirty="0">
                <a:solidFill>
                  <a:srgbClr val="FFFFFF"/>
                </a:solidFill>
                <a:uFill>
                  <a:solidFill>
                    <a:srgbClr val="FFFFFF"/>
                  </a:solidFill>
                </a:uFill>
                <a:latin typeface="Calibri"/>
                <a:cs typeface="Calibri"/>
              </a:rPr>
              <a:t>An</a:t>
            </a:r>
            <a:r>
              <a:rPr lang="en-GB" sz="2800" i="1" u="sng" spc="-2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Hour</a:t>
            </a:r>
            <a:r>
              <a:rPr lang="en-GB" sz="2800" i="1" u="sng" spc="-2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or</a:t>
            </a:r>
            <a:r>
              <a:rPr lang="en-GB" sz="2800" i="1" u="sng" spc="-1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So</a:t>
            </a:r>
            <a:r>
              <a:rPr lang="en-GB" sz="2800" i="1" u="sng" spc="25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After</a:t>
            </a:r>
            <a:r>
              <a:rPr lang="en-GB" sz="2800" i="1" u="sng" spc="-20" dirty="0">
                <a:solidFill>
                  <a:srgbClr val="FFFFFF"/>
                </a:solidFill>
                <a:uFill>
                  <a:solidFill>
                    <a:srgbClr val="FFFFFF"/>
                  </a:solidFill>
                </a:uFill>
                <a:latin typeface="Calibri"/>
                <a:cs typeface="Calibri"/>
              </a:rPr>
              <a:t> </a:t>
            </a:r>
            <a:r>
              <a:rPr lang="en-GB" sz="2800" i="1" u="sng" dirty="0">
                <a:solidFill>
                  <a:srgbClr val="FFFFFF"/>
                </a:solidFill>
                <a:uFill>
                  <a:solidFill>
                    <a:srgbClr val="FFFFFF"/>
                  </a:solidFill>
                </a:uFill>
                <a:latin typeface="Calibri"/>
                <a:cs typeface="Calibri"/>
              </a:rPr>
              <a:t>Injury</a:t>
            </a:r>
            <a:r>
              <a:rPr lang="en-GB" sz="2800" i="1" u="sng" spc="-30" dirty="0">
                <a:solidFill>
                  <a:srgbClr val="FFFFFF"/>
                </a:solidFill>
                <a:uFill>
                  <a:solidFill>
                    <a:srgbClr val="FFFFFF"/>
                  </a:solidFill>
                </a:uFill>
                <a:latin typeface="Calibri"/>
                <a:cs typeface="Calibri"/>
              </a:rPr>
              <a:t> </a:t>
            </a:r>
            <a:r>
              <a:rPr lang="en-GB" sz="2800" i="1" u="sng" spc="-25" dirty="0">
                <a:solidFill>
                  <a:srgbClr val="FFFFFF"/>
                </a:solidFill>
                <a:uFill>
                  <a:solidFill>
                    <a:srgbClr val="FFFFFF"/>
                  </a:solidFill>
                </a:uFill>
                <a:latin typeface="Calibri"/>
                <a:cs typeface="Calibri"/>
              </a:rPr>
              <a:t>is </a:t>
            </a:r>
            <a:r>
              <a:rPr lang="en-GB" sz="2800" i="1" u="sng" spc="-10" dirty="0">
                <a:solidFill>
                  <a:srgbClr val="FFFFFF"/>
                </a:solidFill>
                <a:uFill>
                  <a:solidFill>
                    <a:srgbClr val="FFFFFF"/>
                  </a:solidFill>
                </a:uFill>
                <a:latin typeface="Calibri"/>
                <a:cs typeface="Calibri"/>
              </a:rPr>
              <a:t>Sustained</a:t>
            </a:r>
            <a:endParaRPr lang="en-GB" sz="2800" dirty="0">
              <a:latin typeface="Calibri"/>
              <a:cs typeface="Calibri"/>
            </a:endParaRPr>
          </a:p>
          <a:p>
            <a:pPr>
              <a:buSzPct val="100000"/>
            </a:pPr>
            <a:endParaRPr lang="en-US" sz="2400" dirty="0">
              <a:solidFill>
                <a:srgbClr val="FFFFFF"/>
              </a:solidFill>
            </a:endParaRPr>
          </a:p>
          <a:p>
            <a:pPr marL="177800" indent="-177800">
              <a:buSzPct val="100000"/>
              <a:buChar char="•"/>
            </a:pPr>
            <a:endParaRPr lang="en-US" sz="2400" dirty="0">
              <a:solidFill>
                <a:srgbClr val="FFFFFF"/>
              </a:solidFill>
            </a:endParaRPr>
          </a:p>
          <a:p>
            <a:pPr marL="177800" indent="-177800">
              <a:buSzPct val="100000"/>
              <a:buChar char="•"/>
            </a:pPr>
            <a:r>
              <a:rPr lang="en-US" sz="2400" dirty="0">
                <a:solidFill>
                  <a:srgbClr val="FFFFFF"/>
                </a:solidFill>
              </a:rPr>
              <a:t>Synaptic terminal degenerates.</a:t>
            </a:r>
            <a:endParaRPr lang="en-US" sz="2400" dirty="0"/>
          </a:p>
          <a:p>
            <a:pPr marL="177800" indent="-177800">
              <a:buSzPct val="100000"/>
              <a:buChar char="•"/>
            </a:pPr>
            <a:r>
              <a:rPr lang="en-US" sz="2400" dirty="0">
                <a:solidFill>
                  <a:srgbClr val="FFFFFF"/>
                </a:solidFill>
              </a:rPr>
              <a:t>Neurofilaments and vesicles accumulate in the damaged terminal.</a:t>
            </a:r>
            <a:endParaRPr lang="en-US" sz="2400" dirty="0"/>
          </a:p>
          <a:p>
            <a:pPr marL="177800" indent="-177800">
              <a:buSzPct val="100000"/>
              <a:buChar char="•"/>
            </a:pPr>
            <a:r>
              <a:rPr lang="en-US" sz="2400" dirty="0">
                <a:solidFill>
                  <a:srgbClr val="FFFFFF"/>
                </a:solidFill>
              </a:rPr>
              <a:t>Glial cells can surround and modify the terminal environment.</a:t>
            </a:r>
            <a:endParaRPr lang="en-US" sz="2400" dirty="0"/>
          </a:p>
          <a:p>
            <a:pPr marL="177800" indent="-177800">
              <a:buSzPct val="100000"/>
              <a:buChar char="•"/>
            </a:pPr>
            <a:r>
              <a:rPr lang="en-US" sz="2400" dirty="0">
                <a:solidFill>
                  <a:srgbClr val="FFFFFF"/>
                </a:solidFill>
              </a:rPr>
              <a:t>In a motor unit, the neuromuscular junction is being dismantled functionally.</a:t>
            </a:r>
            <a:endParaRPr lang="en-US" sz="2400" dirty="0"/>
          </a:p>
        </p:txBody>
      </p:sp>
      <p:pic>
        <p:nvPicPr>
          <p:cNvPr id="13" name="Picture 12">
            <a:extLst>
              <a:ext uri="{FF2B5EF4-FFF2-40B4-BE49-F238E27FC236}">
                <a16:creationId xmlns:a16="http://schemas.microsoft.com/office/drawing/2014/main" id="{194D2653-B9A1-FE70-BE60-C1A2763988C7}"/>
              </a:ext>
            </a:extLst>
          </p:cNvPr>
          <p:cNvPicPr>
            <a:picLocks noChangeAspect="1"/>
          </p:cNvPicPr>
          <p:nvPr/>
        </p:nvPicPr>
        <p:blipFill>
          <a:blip r:embed="rId3"/>
          <a:stretch>
            <a:fillRect/>
          </a:stretch>
        </p:blipFill>
        <p:spPr>
          <a:xfrm>
            <a:off x="6371388" y="0"/>
            <a:ext cx="5820612" cy="4365459"/>
          </a:xfrm>
          <a:prstGeom prst="rect">
            <a:avLst/>
          </a:prstGeom>
        </p:spPr>
      </p:pic>
      <p:pic>
        <p:nvPicPr>
          <p:cNvPr id="15" name="object 2">
            <a:extLst>
              <a:ext uri="{FF2B5EF4-FFF2-40B4-BE49-F238E27FC236}">
                <a16:creationId xmlns:a16="http://schemas.microsoft.com/office/drawing/2014/main" id="{2191E820-9F18-CCA1-FDB1-99D72A0F9E14}"/>
              </a:ext>
            </a:extLst>
          </p:cNvPr>
          <p:cNvPicPr/>
          <p:nvPr/>
        </p:nvPicPr>
        <p:blipFill>
          <a:blip r:embed="rId4" cstate="print"/>
          <a:stretch>
            <a:fillRect/>
          </a:stretch>
        </p:blipFill>
        <p:spPr>
          <a:xfrm>
            <a:off x="7006791" y="4341716"/>
            <a:ext cx="4457700" cy="2508504"/>
          </a:xfrm>
          <a:prstGeom prst="rect">
            <a:avLst/>
          </a:prstGeom>
        </p:spPr>
      </p:pic>
      <p:sp>
        <p:nvSpPr>
          <p:cNvPr id="17" name="object 5">
            <a:extLst>
              <a:ext uri="{FF2B5EF4-FFF2-40B4-BE49-F238E27FC236}">
                <a16:creationId xmlns:a16="http://schemas.microsoft.com/office/drawing/2014/main" id="{0700D7CA-8CF5-A980-CCAF-1570CFD3DC49}"/>
              </a:ext>
            </a:extLst>
          </p:cNvPr>
          <p:cNvSpPr txBox="1"/>
          <p:nvPr/>
        </p:nvSpPr>
        <p:spPr>
          <a:xfrm>
            <a:off x="7848185" y="4444401"/>
            <a:ext cx="766426" cy="181460"/>
          </a:xfrm>
          <a:prstGeom prst="rect">
            <a:avLst/>
          </a:prstGeom>
        </p:spPr>
        <p:txBody>
          <a:bodyPr vert="horz" wrap="square" lIns="0" tIns="12065" rIns="0" bIns="0" rtlCol="0">
            <a:spAutoFit/>
          </a:bodyPr>
          <a:lstStyle/>
          <a:p>
            <a:pPr marL="12700">
              <a:lnSpc>
                <a:spcPct val="100000"/>
              </a:lnSpc>
              <a:spcBef>
                <a:spcPts val="95"/>
              </a:spcBef>
            </a:pPr>
            <a:r>
              <a:rPr sz="1100" b="1" spc="-10" dirty="0">
                <a:highlight>
                  <a:srgbClr val="FFFF00"/>
                </a:highlight>
                <a:latin typeface="Arial MT"/>
                <a:cs typeface="Arial MT"/>
              </a:rPr>
              <a:t>NORMAL</a:t>
            </a:r>
            <a:endParaRPr sz="1100" b="1" dirty="0">
              <a:highlight>
                <a:srgbClr val="FFFF00"/>
              </a:highlight>
              <a:latin typeface="Arial MT"/>
              <a:cs typeface="Arial MT"/>
            </a:endParaRPr>
          </a:p>
        </p:txBody>
      </p:sp>
      <p:sp>
        <p:nvSpPr>
          <p:cNvPr id="19" name="object 5">
            <a:extLst>
              <a:ext uri="{FF2B5EF4-FFF2-40B4-BE49-F238E27FC236}">
                <a16:creationId xmlns:a16="http://schemas.microsoft.com/office/drawing/2014/main" id="{862E1B35-58DA-60C8-DCC4-890FE664B48B}"/>
              </a:ext>
            </a:extLst>
          </p:cNvPr>
          <p:cNvSpPr txBox="1"/>
          <p:nvPr/>
        </p:nvSpPr>
        <p:spPr>
          <a:xfrm>
            <a:off x="9867485" y="4177661"/>
            <a:ext cx="2324515" cy="714939"/>
          </a:xfrm>
          <a:prstGeom prst="rect">
            <a:avLst/>
          </a:prstGeom>
        </p:spPr>
        <p:txBody>
          <a:bodyPr vert="horz" wrap="square" lIns="0" tIns="12065" rIns="0" bIns="0" rtlCol="0">
            <a:spAutoFit/>
          </a:bodyPr>
          <a:lstStyle/>
          <a:p>
            <a:pPr marL="12700">
              <a:lnSpc>
                <a:spcPct val="100000"/>
              </a:lnSpc>
              <a:spcBef>
                <a:spcPts val="95"/>
              </a:spcBef>
            </a:pPr>
            <a:r>
              <a:rPr lang="en-GB" sz="1100" b="1" spc="-10" dirty="0">
                <a:highlight>
                  <a:srgbClr val="FFFF00"/>
                </a:highlight>
                <a:latin typeface="Arial MT"/>
                <a:cs typeface="Arial MT"/>
              </a:rPr>
              <a:t>INJURIED</a:t>
            </a:r>
          </a:p>
          <a:p>
            <a:pPr marL="12700">
              <a:lnSpc>
                <a:spcPct val="100000"/>
              </a:lnSpc>
              <a:spcBef>
                <a:spcPts val="95"/>
              </a:spcBef>
            </a:pPr>
            <a:r>
              <a:rPr lang="en-GB" sz="1100" b="1" spc="-10" dirty="0">
                <a:highlight>
                  <a:srgbClr val="FFFF00"/>
                </a:highlight>
                <a:latin typeface="Arial MT"/>
                <a:cs typeface="Arial MT"/>
              </a:rPr>
              <a:t>ASTROGLIA SURROUND SYNAPTIC TERMINAL</a:t>
            </a:r>
          </a:p>
          <a:p>
            <a:pPr marL="12700">
              <a:lnSpc>
                <a:spcPct val="100000"/>
              </a:lnSpc>
              <a:spcBef>
                <a:spcPts val="95"/>
              </a:spcBef>
            </a:pPr>
            <a:r>
              <a:rPr lang="en-GB" sz="1100" b="1" spc="-10" dirty="0">
                <a:highlight>
                  <a:srgbClr val="FFFF00"/>
                </a:highlight>
                <a:latin typeface="Arial MT"/>
                <a:cs typeface="Arial MT"/>
              </a:rPr>
              <a:t>  </a:t>
            </a:r>
            <a:endParaRPr sz="1100" b="1" dirty="0">
              <a:highlight>
                <a:srgbClr val="FFFF00"/>
              </a:highlight>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2">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The distal segment is cut off from the cell body and cannot maintain itself</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a:bodyPr>
          <a:lstStyle/>
          <a:p>
            <a:pPr marL="0" indent="0" algn="ctr">
              <a:buNone/>
            </a:pPr>
            <a:r>
              <a:rPr lang="en-US" sz="3400" b="1" dirty="0">
                <a:solidFill>
                  <a:srgbClr val="F4E300"/>
                </a:solidFill>
              </a:rPr>
              <a:t>Part 4 — Distal segment: Wallerian degeneration</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32</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3">
    <p:bg>
      <p:bgPr>
        <a:solidFill>
          <a:srgbClr val="0B1E3A"/>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666563E-87C0-CF09-7AB5-B9BA305B3A19}"/>
              </a:ext>
            </a:extLst>
          </p:cNvPr>
          <p:cNvSpPr/>
          <p:nvPr/>
        </p:nvSpPr>
        <p:spPr>
          <a:xfrm>
            <a:off x="1097280" y="1076594"/>
            <a:ext cx="9942897" cy="578140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0"/>
          <p:cNvSpPr/>
          <p:nvPr/>
        </p:nvSpPr>
        <p:spPr>
          <a:xfrm>
            <a:off x="502920" y="274319"/>
            <a:ext cx="11064240" cy="802275"/>
          </a:xfrm>
          <a:prstGeom prst="rect">
            <a:avLst/>
          </a:prstGeom>
          <a:noFill/>
          <a:ln/>
        </p:spPr>
        <p:txBody>
          <a:bodyPr wrap="square" lIns="0" tIns="0" rIns="0" bIns="0" rtlCol="0" anchor="ctr">
            <a:normAutofit/>
          </a:bodyPr>
          <a:lstStyle/>
          <a:p>
            <a:r>
              <a:rPr lang="en-US" sz="2500" b="1" dirty="0">
                <a:solidFill>
                  <a:srgbClr val="F4E300"/>
                </a:solidFill>
              </a:rPr>
              <a:t>Fate of the distal segment </a:t>
            </a:r>
          </a:p>
          <a:p>
            <a:r>
              <a:rPr lang="en-US" sz="2500" b="1" dirty="0">
                <a:solidFill>
                  <a:srgbClr val="F4E300"/>
                </a:solidFill>
              </a:rPr>
              <a:t>Days to weeks: Wallerian degeneration progresses</a:t>
            </a:r>
            <a:endParaRPr lang="en-US" sz="2500" dirty="0"/>
          </a:p>
          <a:p>
            <a:pPr marL="0" indent="0">
              <a:buNone/>
            </a:pP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pic>
        <p:nvPicPr>
          <p:cNvPr id="15" name="Picture 14">
            <a:extLst>
              <a:ext uri="{FF2B5EF4-FFF2-40B4-BE49-F238E27FC236}">
                <a16:creationId xmlns:a16="http://schemas.microsoft.com/office/drawing/2014/main" id="{B9CB6E9A-CDFD-EB34-562C-41E1601FB1F3}"/>
              </a:ext>
            </a:extLst>
          </p:cNvPr>
          <p:cNvPicPr>
            <a:picLocks noChangeAspect="1"/>
          </p:cNvPicPr>
          <p:nvPr/>
        </p:nvPicPr>
        <p:blipFill>
          <a:blip r:embed="rId3"/>
          <a:srcRect t="11509"/>
          <a:stretch>
            <a:fillRect/>
          </a:stretch>
        </p:blipFill>
        <p:spPr>
          <a:xfrm>
            <a:off x="1897380" y="1166972"/>
            <a:ext cx="8574906" cy="569102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5">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Guidance structures after distal degeneration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199724" y="1018473"/>
            <a:ext cx="4060257" cy="4892040"/>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sz="2000" dirty="0">
                <a:solidFill>
                  <a:srgbClr val="FFFFFF"/>
                </a:solidFill>
              </a:rPr>
              <a:t>Endoneurial tubes and basal lamina can remain as a scaffold.</a:t>
            </a:r>
            <a:endParaRPr lang="en-US" sz="2000" dirty="0"/>
          </a:p>
          <a:p>
            <a:pPr marL="177800" indent="-177800">
              <a:lnSpc>
                <a:spcPct val="150000"/>
              </a:lnSpc>
              <a:buSzPct val="100000"/>
              <a:buChar char="•"/>
            </a:pPr>
            <a:r>
              <a:rPr lang="en-US" sz="2000" dirty="0">
                <a:solidFill>
                  <a:srgbClr val="FFFFFF"/>
                </a:solidFill>
              </a:rPr>
              <a:t>Schwann cells align along the former axonal pathway.</a:t>
            </a:r>
            <a:endParaRPr lang="en-US" sz="2000" dirty="0"/>
          </a:p>
          <a:p>
            <a:pPr marL="177800" indent="-177800">
              <a:lnSpc>
                <a:spcPct val="150000"/>
              </a:lnSpc>
              <a:buSzPct val="100000"/>
              <a:buChar char="•"/>
            </a:pPr>
            <a:r>
              <a:rPr lang="en-US" sz="2000" dirty="0">
                <a:solidFill>
                  <a:srgbClr val="FFFFFF"/>
                </a:solidFill>
              </a:rPr>
              <a:t>New axonal sprouts need to enter the correct tube.</a:t>
            </a:r>
            <a:endParaRPr lang="en-US" sz="2000" dirty="0"/>
          </a:p>
          <a:p>
            <a:pPr marL="177800" indent="-177800">
              <a:lnSpc>
                <a:spcPct val="150000"/>
              </a:lnSpc>
              <a:buSzPct val="100000"/>
              <a:buChar char="•"/>
            </a:pPr>
            <a:r>
              <a:rPr lang="en-US" sz="2000" dirty="0">
                <a:solidFill>
                  <a:srgbClr val="FFFFFF"/>
                </a:solidFill>
              </a:rPr>
              <a:t>Misdirection or failure produces incomplete recovery.</a:t>
            </a:r>
            <a:endParaRPr lang="en-US" sz="2000" dirty="0"/>
          </a:p>
        </p:txBody>
      </p:sp>
      <p:sp>
        <p:nvSpPr>
          <p:cNvPr id="6" name="Shape 4"/>
          <p:cNvSpPr/>
          <p:nvPr/>
        </p:nvSpPr>
        <p:spPr>
          <a:xfrm>
            <a:off x="4427621" y="1211581"/>
            <a:ext cx="7398619" cy="4505824"/>
          </a:xfrm>
          <a:prstGeom prst="roundRect">
            <a:avLst>
              <a:gd name="adj" fmla="val 1468"/>
            </a:avLst>
          </a:prstGeom>
          <a:solidFill>
            <a:srgbClr val="FFFFFF"/>
          </a:solidFill>
          <a:ln w="8890">
            <a:solidFill>
              <a:srgbClr val="4F6380"/>
            </a:solidFill>
            <a:prstDash val="solid"/>
          </a:ln>
        </p:spPr>
        <p:txBody>
          <a:bodyPr/>
          <a:lstStyle/>
          <a:p>
            <a:endParaRPr lang="en-GB"/>
          </a:p>
        </p:txBody>
      </p:sp>
      <p:pic>
        <p:nvPicPr>
          <p:cNvPr id="11" name="object 5">
            <a:extLst>
              <a:ext uri="{FF2B5EF4-FFF2-40B4-BE49-F238E27FC236}">
                <a16:creationId xmlns:a16="http://schemas.microsoft.com/office/drawing/2014/main" id="{7C7012C7-D89D-986B-74A1-27411A3D4A84}"/>
              </a:ext>
            </a:extLst>
          </p:cNvPr>
          <p:cNvPicPr/>
          <p:nvPr/>
        </p:nvPicPr>
        <p:blipFill>
          <a:blip r:embed="rId3" cstate="print"/>
          <a:stretch>
            <a:fillRect/>
          </a:stretch>
        </p:blipFill>
        <p:spPr>
          <a:xfrm>
            <a:off x="4704707" y="1380744"/>
            <a:ext cx="6953893" cy="4006410"/>
          </a:xfrm>
          <a:prstGeom prst="rect">
            <a:avLst/>
          </a:prstGeom>
        </p:spPr>
      </p:pic>
      <p:sp>
        <p:nvSpPr>
          <p:cNvPr id="7" name="Rectangle 6">
            <a:extLst>
              <a:ext uri="{FF2B5EF4-FFF2-40B4-BE49-F238E27FC236}">
                <a16:creationId xmlns:a16="http://schemas.microsoft.com/office/drawing/2014/main" id="{3D230A41-89F2-AAA1-7A58-1CF3801650C3}"/>
              </a:ext>
            </a:extLst>
          </p:cNvPr>
          <p:cNvSpPr/>
          <p:nvPr/>
        </p:nvSpPr>
        <p:spPr>
          <a:xfrm>
            <a:off x="5895855" y="2963379"/>
            <a:ext cx="5930386" cy="199765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6">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The proximal neurone survives only if the cell body remains viable</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fontScale="92500"/>
          </a:bodyPr>
          <a:lstStyle/>
          <a:p>
            <a:pPr marL="0" indent="0" algn="ctr">
              <a:buNone/>
            </a:pPr>
            <a:r>
              <a:rPr lang="en-US" sz="3400" b="1" dirty="0">
                <a:solidFill>
                  <a:srgbClr val="F4E300"/>
                </a:solidFill>
              </a:rPr>
              <a:t>Part 5 — Proximal segment: chromatolysis and sprouting</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36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7">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Fate of the proximal segment: chromatolysis</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dirty="0"/>
          </a:p>
        </p:txBody>
      </p:sp>
      <p:sp>
        <p:nvSpPr>
          <p:cNvPr id="5" name="Text 3"/>
          <p:cNvSpPr/>
          <p:nvPr/>
        </p:nvSpPr>
        <p:spPr>
          <a:xfrm>
            <a:off x="594360" y="1234440"/>
            <a:ext cx="5212080" cy="2981422"/>
          </a:xfrm>
          <a:prstGeom prst="rect">
            <a:avLst/>
          </a:prstGeom>
          <a:noFill/>
          <a:ln/>
        </p:spPr>
        <p:txBody>
          <a:bodyPr wrap="square" lIns="1016" tIns="1016" rIns="1016" bIns="1016" rtlCol="0" anchor="ctr">
            <a:normAutofit fontScale="92500"/>
          </a:bodyPr>
          <a:lstStyle/>
          <a:p>
            <a:pPr marL="177800" indent="-177800">
              <a:lnSpc>
                <a:spcPct val="150000"/>
              </a:lnSpc>
              <a:buSzPct val="100000"/>
              <a:buChar char="•"/>
            </a:pPr>
            <a:r>
              <a:rPr lang="en-US" sz="1600" dirty="0">
                <a:solidFill>
                  <a:srgbClr val="FFFFFF"/>
                </a:solidFill>
                <a:highlight>
                  <a:srgbClr val="FFFF00"/>
                </a:highlight>
              </a:rPr>
              <a:t>Chromatolysis</a:t>
            </a:r>
            <a:r>
              <a:rPr lang="en-US" sz="1600" dirty="0">
                <a:solidFill>
                  <a:srgbClr val="FFFFFF"/>
                </a:solidFill>
              </a:rPr>
              <a:t> occurs days after injury.</a:t>
            </a:r>
          </a:p>
          <a:p>
            <a:pPr>
              <a:lnSpc>
                <a:spcPct val="150000"/>
              </a:lnSpc>
              <a:buSzPct val="100000"/>
            </a:pPr>
            <a:r>
              <a:rPr lang="en-GB" sz="1600" dirty="0">
                <a:solidFill>
                  <a:schemeClr val="bg1"/>
                </a:solidFill>
              </a:rPr>
              <a:t>Chromatolysis is the dissolution, dispersion, or fragmentation of Nissl bodies in the cell body (soma) of a neuron in response to injury or stress.</a:t>
            </a:r>
            <a:endParaRPr lang="en-US" sz="1600" dirty="0">
              <a:solidFill>
                <a:schemeClr val="bg1"/>
              </a:solidFill>
            </a:endParaRPr>
          </a:p>
          <a:p>
            <a:pPr marL="177800" indent="-177800">
              <a:lnSpc>
                <a:spcPct val="150000"/>
              </a:lnSpc>
              <a:buSzPct val="100000"/>
              <a:buChar char="•"/>
            </a:pPr>
            <a:r>
              <a:rPr lang="en-US" sz="1600" dirty="0">
                <a:solidFill>
                  <a:srgbClr val="FFFFFF"/>
                </a:solidFill>
              </a:rPr>
              <a:t>Cell body becomes active and synthesises repair proteins.</a:t>
            </a:r>
            <a:endParaRPr lang="en-US" sz="1600" dirty="0"/>
          </a:p>
          <a:p>
            <a:pPr marL="177800" indent="-177800">
              <a:lnSpc>
                <a:spcPct val="150000"/>
              </a:lnSpc>
              <a:buSzPct val="100000"/>
              <a:buChar char="•"/>
            </a:pPr>
            <a:r>
              <a:rPr lang="en-US" sz="1600" dirty="0">
                <a:solidFill>
                  <a:srgbClr val="FFFFFF"/>
                </a:solidFill>
              </a:rPr>
              <a:t>Soma swells and Nissl substance disperses.</a:t>
            </a:r>
            <a:endParaRPr lang="en-US" sz="1600" dirty="0"/>
          </a:p>
          <a:p>
            <a:pPr marL="177800" indent="-177800">
              <a:lnSpc>
                <a:spcPct val="150000"/>
              </a:lnSpc>
              <a:buSzPct val="100000"/>
              <a:buChar char="•"/>
            </a:pPr>
            <a:r>
              <a:rPr lang="en-US" sz="1600" dirty="0">
                <a:solidFill>
                  <a:srgbClr val="FFFFFF"/>
                </a:solidFill>
              </a:rPr>
              <a:t>Nucleus is displaced towards the periphery.</a:t>
            </a:r>
            <a:endParaRPr lang="en-US" sz="1600" dirty="0"/>
          </a:p>
          <a:p>
            <a:pPr marL="177800" indent="-177800">
              <a:lnSpc>
                <a:spcPct val="150000"/>
              </a:lnSpc>
              <a:buSzPct val="100000"/>
              <a:buChar char="•"/>
            </a:pPr>
            <a:r>
              <a:rPr lang="en-US" sz="1600" dirty="0">
                <a:solidFill>
                  <a:srgbClr val="FFFFFF"/>
                </a:solidFill>
              </a:rPr>
              <a:t>The wounded stump seals and may form a neuroma.</a:t>
            </a:r>
            <a:endParaRPr lang="en-US" sz="1600" dirty="0"/>
          </a:p>
        </p:txBody>
      </p:sp>
      <p:pic>
        <p:nvPicPr>
          <p:cNvPr id="11" name="object 8">
            <a:extLst>
              <a:ext uri="{FF2B5EF4-FFF2-40B4-BE49-F238E27FC236}">
                <a16:creationId xmlns:a16="http://schemas.microsoft.com/office/drawing/2014/main" id="{B13C3AA6-F5F8-7E96-FA64-EE60557401A4}"/>
              </a:ext>
            </a:extLst>
          </p:cNvPr>
          <p:cNvPicPr/>
          <p:nvPr/>
        </p:nvPicPr>
        <p:blipFill>
          <a:blip r:embed="rId3" cstate="print"/>
          <a:stretch>
            <a:fillRect/>
          </a:stretch>
        </p:blipFill>
        <p:spPr>
          <a:xfrm>
            <a:off x="6360132" y="1234440"/>
            <a:ext cx="5328948" cy="5465064"/>
          </a:xfrm>
          <a:prstGeom prst="rect">
            <a:avLst/>
          </a:prstGeom>
        </p:spPr>
      </p:pic>
      <p:pic>
        <p:nvPicPr>
          <p:cNvPr id="13" name="object 3">
            <a:extLst>
              <a:ext uri="{FF2B5EF4-FFF2-40B4-BE49-F238E27FC236}">
                <a16:creationId xmlns:a16="http://schemas.microsoft.com/office/drawing/2014/main" id="{798B86C6-7B36-61C7-CB8A-754E0BA885C2}"/>
              </a:ext>
            </a:extLst>
          </p:cNvPr>
          <p:cNvPicPr/>
          <p:nvPr/>
        </p:nvPicPr>
        <p:blipFill>
          <a:blip r:embed="rId4" cstate="print"/>
          <a:stretch>
            <a:fillRect/>
          </a:stretch>
        </p:blipFill>
        <p:spPr>
          <a:xfrm>
            <a:off x="1114124" y="4411503"/>
            <a:ext cx="3621505" cy="228800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9">
    <p:bg>
      <p:bgPr>
        <a:solidFill>
          <a:srgbClr val="0B1E3A"/>
        </a:solidFill>
        <a:effectLst/>
      </p:bgPr>
    </p:bg>
    <p:spTree>
      <p:nvGrpSpPr>
        <p:cNvPr id="1" name=""/>
        <p:cNvGrpSpPr/>
        <p:nvPr/>
      </p:nvGrpSpPr>
      <p:grpSpPr>
        <a:xfrm>
          <a:off x="0" y="0"/>
          <a:ext cx="0" cy="0"/>
          <a:chOff x="0" y="0"/>
          <a:chExt cx="0" cy="0"/>
        </a:xfrm>
      </p:grpSpPr>
      <p:sp>
        <p:nvSpPr>
          <p:cNvPr id="6" name="Shape 4"/>
          <p:cNvSpPr/>
          <p:nvPr/>
        </p:nvSpPr>
        <p:spPr>
          <a:xfrm>
            <a:off x="267101" y="1219040"/>
            <a:ext cx="11391499" cy="5638960"/>
          </a:xfrm>
          <a:prstGeom prst="roundRect">
            <a:avLst>
              <a:gd name="adj" fmla="val 1468"/>
            </a:avLst>
          </a:prstGeom>
          <a:solidFill>
            <a:srgbClr val="FFFFFF"/>
          </a:solidFill>
          <a:ln w="8890">
            <a:solidFill>
              <a:srgbClr val="4F6380"/>
            </a:solidFill>
            <a:prstDash val="solid"/>
          </a:ln>
        </p:spPr>
        <p:txBody>
          <a:bodyPr/>
          <a:lstStyle/>
          <a:p>
            <a:endParaRPr lang="en-GB"/>
          </a:p>
        </p:txBody>
      </p:sp>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Proximal stump: axonal sprouts search for tubes</a:t>
            </a:r>
            <a:endParaRPr lang="en-US" sz="2500" dirty="0"/>
          </a:p>
        </p:txBody>
      </p:sp>
      <p:sp>
        <p:nvSpPr>
          <p:cNvPr id="3" name="Text 1"/>
          <p:cNvSpPr/>
          <p:nvPr/>
        </p:nvSpPr>
        <p:spPr>
          <a:xfrm>
            <a:off x="530352" y="758952"/>
            <a:ext cx="10972800" cy="237744"/>
          </a:xfrm>
          <a:prstGeom prst="rect">
            <a:avLst/>
          </a:prstGeom>
          <a:noFill/>
          <a:ln/>
        </p:spPr>
        <p:txBody>
          <a:bodyPr wrap="square" lIns="0" tIns="0" rIns="0" bIns="0" rtlCol="0" anchor="ctr">
            <a:normAutofit/>
          </a:bodyPr>
          <a:lstStyle/>
          <a:p>
            <a:pPr marL="0" indent="0">
              <a:buNone/>
            </a:pPr>
            <a:r>
              <a:rPr lang="en-US" sz="1050" dirty="0">
                <a:solidFill>
                  <a:srgbClr val="D7E2F3"/>
                </a:solidFill>
              </a:rPr>
              <a:t>Many sprouts form; only some find useful guidance pathways.</a:t>
            </a:r>
            <a:endParaRPr lang="en-US" sz="105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6357486" y="3970421"/>
            <a:ext cx="5212080" cy="2613259"/>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sz="1620" dirty="0">
                <a:solidFill>
                  <a:schemeClr val="accent2">
                    <a:lumMod val="75000"/>
                  </a:schemeClr>
                </a:solidFill>
              </a:rPr>
              <a:t>Regenerating axons form many sprouts.</a:t>
            </a:r>
          </a:p>
          <a:p>
            <a:pPr marL="177800" indent="-177800">
              <a:lnSpc>
                <a:spcPct val="150000"/>
              </a:lnSpc>
              <a:buSzPct val="100000"/>
              <a:buChar char="•"/>
            </a:pPr>
            <a:r>
              <a:rPr lang="en-US" sz="1620" dirty="0">
                <a:solidFill>
                  <a:schemeClr val="accent2">
                    <a:lumMod val="75000"/>
                  </a:schemeClr>
                </a:solidFill>
              </a:rPr>
              <a:t>Some sprouts find Schwann-cell tubes.</a:t>
            </a:r>
          </a:p>
          <a:p>
            <a:pPr marL="177800" indent="-177800">
              <a:lnSpc>
                <a:spcPct val="150000"/>
              </a:lnSpc>
              <a:buSzPct val="100000"/>
              <a:buChar char="•"/>
            </a:pPr>
            <a:r>
              <a:rPr lang="en-US" sz="1620" dirty="0">
                <a:solidFill>
                  <a:schemeClr val="accent2">
                    <a:lumMod val="75000"/>
                  </a:schemeClr>
                </a:solidFill>
              </a:rPr>
              <a:t>Unsuccessful sprouts may degenerate or form neuroma.</a:t>
            </a:r>
          </a:p>
          <a:p>
            <a:pPr marL="177800" indent="-177800">
              <a:lnSpc>
                <a:spcPct val="150000"/>
              </a:lnSpc>
              <a:buSzPct val="100000"/>
              <a:buChar char="•"/>
            </a:pPr>
            <a:r>
              <a:rPr lang="en-US" sz="1620" dirty="0">
                <a:solidFill>
                  <a:schemeClr val="accent2">
                    <a:lumMod val="75000"/>
                  </a:schemeClr>
                </a:solidFill>
              </a:rPr>
              <a:t>Successful sprouts may reach and re-innervate the target.</a:t>
            </a:r>
          </a:p>
        </p:txBody>
      </p:sp>
      <p:pic>
        <p:nvPicPr>
          <p:cNvPr id="11" name="Picture 10">
            <a:extLst>
              <a:ext uri="{FF2B5EF4-FFF2-40B4-BE49-F238E27FC236}">
                <a16:creationId xmlns:a16="http://schemas.microsoft.com/office/drawing/2014/main" id="{70DE8AD2-3D94-B261-B9A0-47B7358C5594}"/>
              </a:ext>
            </a:extLst>
          </p:cNvPr>
          <p:cNvPicPr>
            <a:picLocks noChangeAspect="1"/>
          </p:cNvPicPr>
          <p:nvPr/>
        </p:nvPicPr>
        <p:blipFill>
          <a:blip r:embed="rId3"/>
          <a:stretch>
            <a:fillRect/>
          </a:stretch>
        </p:blipFill>
        <p:spPr>
          <a:xfrm>
            <a:off x="470916" y="1529936"/>
            <a:ext cx="7470648" cy="5199934"/>
          </a:xfrm>
          <a:prstGeom prst="rect">
            <a:avLst/>
          </a:prstGeom>
        </p:spPr>
      </p:pic>
      <p:pic>
        <p:nvPicPr>
          <p:cNvPr id="13" name="object 3">
            <a:extLst>
              <a:ext uri="{FF2B5EF4-FFF2-40B4-BE49-F238E27FC236}">
                <a16:creationId xmlns:a16="http://schemas.microsoft.com/office/drawing/2014/main" id="{40ECEFB1-EAB2-5FFE-7345-2434186B186B}"/>
              </a:ext>
            </a:extLst>
          </p:cNvPr>
          <p:cNvPicPr/>
          <p:nvPr/>
        </p:nvPicPr>
        <p:blipFill>
          <a:blip r:embed="rId4" cstate="print"/>
          <a:stretch>
            <a:fillRect/>
          </a:stretch>
        </p:blipFill>
        <p:spPr>
          <a:xfrm>
            <a:off x="7888452" y="1219040"/>
            <a:ext cx="4036447" cy="256561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0">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Repair in the PNS: from damage to re-innervation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pic>
        <p:nvPicPr>
          <p:cNvPr id="13" name="object 3">
            <a:extLst>
              <a:ext uri="{FF2B5EF4-FFF2-40B4-BE49-F238E27FC236}">
                <a16:creationId xmlns:a16="http://schemas.microsoft.com/office/drawing/2014/main" id="{1282DC22-A7A7-C183-0463-4455F3D526DF}"/>
              </a:ext>
            </a:extLst>
          </p:cNvPr>
          <p:cNvPicPr/>
          <p:nvPr/>
        </p:nvPicPr>
        <p:blipFill>
          <a:blip r:embed="rId3" cstate="print"/>
          <a:stretch>
            <a:fillRect/>
          </a:stretch>
        </p:blipFill>
        <p:spPr>
          <a:xfrm>
            <a:off x="738738" y="1211019"/>
            <a:ext cx="10493943" cy="514165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2">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The effector changes while waiting for nerve supply to return</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fontScale="92500"/>
          </a:bodyPr>
          <a:lstStyle/>
          <a:p>
            <a:pPr marL="0" indent="0" algn="ctr">
              <a:buNone/>
            </a:pPr>
            <a:r>
              <a:rPr lang="en-US" sz="3400" b="1" dirty="0">
                <a:solidFill>
                  <a:srgbClr val="F4E300"/>
                </a:solidFill>
              </a:rPr>
              <a:t>Part 6 — What happens to denervated skeletal muscle?</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42</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3">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Innervation, denervation and re-innervation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59" y="1234440"/>
            <a:ext cx="6152949" cy="4892040"/>
          </a:xfrm>
          <a:prstGeom prst="rect">
            <a:avLst/>
          </a:prstGeom>
          <a:noFill/>
          <a:ln/>
        </p:spPr>
        <p:txBody>
          <a:bodyPr wrap="square" lIns="1016" tIns="1016" rIns="1016" bIns="1016" rtlCol="0" anchor="ctr">
            <a:normAutofit/>
          </a:bodyPr>
          <a:lstStyle/>
          <a:p>
            <a:pPr marL="177800" indent="-177800">
              <a:buSzPct val="100000"/>
              <a:buChar char="•"/>
            </a:pPr>
            <a:r>
              <a:rPr lang="en-US" sz="2400" dirty="0">
                <a:solidFill>
                  <a:srgbClr val="FFFFFF"/>
                </a:solidFill>
                <a:highlight>
                  <a:srgbClr val="FFFF00"/>
                </a:highlight>
              </a:rPr>
              <a:t>Innervation</a:t>
            </a:r>
            <a:r>
              <a:rPr lang="en-US" sz="2400" dirty="0">
                <a:solidFill>
                  <a:srgbClr val="FFFFFF"/>
                </a:solidFill>
              </a:rPr>
              <a:t>: normal nerve supply to a muscle or other target.</a:t>
            </a:r>
            <a:endParaRPr lang="en-US" sz="2400" dirty="0"/>
          </a:p>
          <a:p>
            <a:pPr>
              <a:buSzPct val="100000"/>
            </a:pPr>
            <a:r>
              <a:rPr lang="en-US" sz="2400" dirty="0">
                <a:solidFill>
                  <a:srgbClr val="FFFFFF"/>
                </a:solidFill>
              </a:rPr>
              <a:t>Alpha </a:t>
            </a:r>
            <a:r>
              <a:rPr lang="el-GR" sz="2800" spc="-260" dirty="0">
                <a:solidFill>
                  <a:srgbClr val="FFFFFF"/>
                </a:solidFill>
                <a:latin typeface="Arial MT"/>
                <a:cs typeface="Arial MT"/>
              </a:rPr>
              <a:t>α-</a:t>
            </a:r>
            <a:r>
              <a:rPr lang="el-GR" sz="2800" spc="-5" dirty="0">
                <a:solidFill>
                  <a:srgbClr val="FFFFFF"/>
                </a:solidFill>
                <a:latin typeface="Arial MT"/>
                <a:cs typeface="Arial MT"/>
              </a:rPr>
              <a:t> </a:t>
            </a:r>
            <a:r>
              <a:rPr lang="en-US" sz="2400" dirty="0">
                <a:solidFill>
                  <a:srgbClr val="FFFFFF"/>
                </a:solidFill>
              </a:rPr>
              <a:t>/lower motor neurones innervate skeletal muscle.</a:t>
            </a:r>
          </a:p>
          <a:p>
            <a:pPr marL="177800" indent="-177800">
              <a:buSzPct val="100000"/>
              <a:buChar char="•"/>
            </a:pPr>
            <a:endParaRPr lang="en-US" sz="2400" dirty="0">
              <a:solidFill>
                <a:srgbClr val="FFFFFF"/>
              </a:solidFill>
            </a:endParaRPr>
          </a:p>
          <a:p>
            <a:pPr marL="177800" indent="-177800">
              <a:buSzPct val="100000"/>
              <a:buChar char="•"/>
            </a:pPr>
            <a:endParaRPr lang="en-US" sz="2400" dirty="0"/>
          </a:p>
          <a:p>
            <a:pPr marL="177800" indent="-177800">
              <a:buSzPct val="100000"/>
              <a:buChar char="•"/>
            </a:pPr>
            <a:r>
              <a:rPr lang="en-US" sz="2400" dirty="0">
                <a:solidFill>
                  <a:srgbClr val="FFFFFF"/>
                </a:solidFill>
                <a:highlight>
                  <a:srgbClr val="FFFF00"/>
                </a:highlight>
              </a:rPr>
              <a:t>Denervation</a:t>
            </a:r>
            <a:r>
              <a:rPr lang="en-US" sz="2400" dirty="0">
                <a:solidFill>
                  <a:srgbClr val="FFFFFF"/>
                </a:solidFill>
              </a:rPr>
              <a:t>: loss of nerve supply.</a:t>
            </a:r>
            <a:r>
              <a:rPr lang="en-GB" sz="2400" dirty="0">
                <a:solidFill>
                  <a:srgbClr val="FFFFFF"/>
                </a:solidFill>
              </a:rPr>
              <a:t> </a:t>
            </a:r>
          </a:p>
          <a:p>
            <a:pPr>
              <a:buSzPct val="100000"/>
            </a:pPr>
            <a:r>
              <a:rPr lang="en-GB" sz="2400" dirty="0">
                <a:solidFill>
                  <a:srgbClr val="FFFFFF"/>
                </a:solidFill>
              </a:rPr>
              <a:t>Depriving The Muscle of Its Nerve Supply</a:t>
            </a:r>
            <a:endParaRPr lang="en-US" sz="2400" dirty="0">
              <a:solidFill>
                <a:srgbClr val="FFFFFF"/>
              </a:solidFill>
            </a:endParaRPr>
          </a:p>
          <a:p>
            <a:pPr marL="177800" indent="-177800">
              <a:buSzPct val="100000"/>
              <a:buChar char="•"/>
            </a:pPr>
            <a:endParaRPr lang="en-US" sz="2400" dirty="0">
              <a:solidFill>
                <a:srgbClr val="FFFFFF"/>
              </a:solidFill>
            </a:endParaRPr>
          </a:p>
          <a:p>
            <a:pPr marL="177800" indent="-177800">
              <a:buSzPct val="100000"/>
              <a:buChar char="•"/>
            </a:pPr>
            <a:endParaRPr lang="en-US" sz="2400" dirty="0"/>
          </a:p>
          <a:p>
            <a:pPr marL="177800" indent="-177800">
              <a:buSzPct val="100000"/>
              <a:buChar char="•"/>
            </a:pPr>
            <a:r>
              <a:rPr lang="en-US" sz="2400" dirty="0">
                <a:solidFill>
                  <a:srgbClr val="FFFFFF"/>
                </a:solidFill>
                <a:highlight>
                  <a:srgbClr val="FFFF00"/>
                </a:highlight>
              </a:rPr>
              <a:t>Re-innervation</a:t>
            </a:r>
            <a:r>
              <a:rPr lang="en-US" sz="2400" dirty="0">
                <a:solidFill>
                  <a:srgbClr val="FFFFFF"/>
                </a:solidFill>
              </a:rPr>
              <a:t>: regrowth/restoration of nerve supply to the target.</a:t>
            </a:r>
            <a:endParaRPr lang="en-US" sz="2400" dirty="0"/>
          </a:p>
        </p:txBody>
      </p:sp>
      <p:pic>
        <p:nvPicPr>
          <p:cNvPr id="13" name="Picture 12">
            <a:extLst>
              <a:ext uri="{FF2B5EF4-FFF2-40B4-BE49-F238E27FC236}">
                <a16:creationId xmlns:a16="http://schemas.microsoft.com/office/drawing/2014/main" id="{5EFE6781-CC48-4AC3-860D-8F1F115ECDC5}"/>
              </a:ext>
            </a:extLst>
          </p:cNvPr>
          <p:cNvPicPr>
            <a:picLocks noChangeAspect="1"/>
          </p:cNvPicPr>
          <p:nvPr/>
        </p:nvPicPr>
        <p:blipFill>
          <a:blip r:embed="rId3"/>
          <a:stretch>
            <a:fillRect/>
          </a:stretch>
        </p:blipFill>
        <p:spPr>
          <a:xfrm>
            <a:off x="8004420" y="-1"/>
            <a:ext cx="4187580" cy="3256825"/>
          </a:xfrm>
          <a:prstGeom prst="rect">
            <a:avLst/>
          </a:prstGeom>
        </p:spPr>
      </p:pic>
      <p:pic>
        <p:nvPicPr>
          <p:cNvPr id="15" name="Picture 14">
            <a:extLst>
              <a:ext uri="{FF2B5EF4-FFF2-40B4-BE49-F238E27FC236}">
                <a16:creationId xmlns:a16="http://schemas.microsoft.com/office/drawing/2014/main" id="{55702347-6D7D-303F-FB21-69D70278A0BB}"/>
              </a:ext>
            </a:extLst>
          </p:cNvPr>
          <p:cNvPicPr>
            <a:picLocks noChangeAspect="1"/>
          </p:cNvPicPr>
          <p:nvPr/>
        </p:nvPicPr>
        <p:blipFill>
          <a:blip r:embed="rId4"/>
          <a:stretch>
            <a:fillRect/>
          </a:stretch>
        </p:blipFill>
        <p:spPr>
          <a:xfrm>
            <a:off x="8392173" y="2878324"/>
            <a:ext cx="2725470" cy="38118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4">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i="1" u="sng" dirty="0">
                <a:solidFill>
                  <a:srgbClr val="F4E300"/>
                </a:solidFill>
                <a:effectLst>
                  <a:outerShdw blurRad="38100" dist="38100" dir="2700000" algn="tl">
                    <a:srgbClr val="000000">
                      <a:alpha val="43137"/>
                    </a:srgbClr>
                  </a:outerShdw>
                </a:effectLst>
              </a:rPr>
              <a:t>Denervation</a:t>
            </a:r>
            <a:r>
              <a:rPr lang="en-US" sz="2500" b="1" dirty="0">
                <a:solidFill>
                  <a:srgbClr val="F4E300"/>
                </a:solidFill>
              </a:rPr>
              <a:t> of motor supply to skeletal muscle</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96252" y="1234440"/>
            <a:ext cx="5139891" cy="4892040"/>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sz="2000" dirty="0">
                <a:solidFill>
                  <a:srgbClr val="FFFFFF"/>
                </a:solidFill>
              </a:rPr>
              <a:t>The neuromuscular junction no longer receives normal motor command.</a:t>
            </a:r>
            <a:endParaRPr lang="en-US" sz="2000" dirty="0"/>
          </a:p>
          <a:p>
            <a:pPr marL="177800" indent="-177800">
              <a:lnSpc>
                <a:spcPct val="150000"/>
              </a:lnSpc>
              <a:buSzPct val="100000"/>
              <a:buChar char="•"/>
            </a:pPr>
            <a:r>
              <a:rPr lang="en-US" sz="2000" dirty="0">
                <a:solidFill>
                  <a:srgbClr val="FFFFFF"/>
                </a:solidFill>
              </a:rPr>
              <a:t>Voluntary contraction is lost or markedly reduced.</a:t>
            </a:r>
            <a:endParaRPr lang="en-US" sz="2000" dirty="0"/>
          </a:p>
          <a:p>
            <a:pPr marL="177800" indent="-177800">
              <a:lnSpc>
                <a:spcPct val="150000"/>
              </a:lnSpc>
              <a:buSzPct val="100000"/>
              <a:buChar char="•"/>
            </a:pPr>
            <a:r>
              <a:rPr lang="en-US" sz="2000" dirty="0">
                <a:solidFill>
                  <a:srgbClr val="FFFFFF"/>
                </a:solidFill>
              </a:rPr>
              <a:t>Reflex arcs involving the motor unit fail.</a:t>
            </a:r>
            <a:endParaRPr lang="en-US" sz="2000" dirty="0"/>
          </a:p>
          <a:p>
            <a:pPr marL="177800" indent="-177800">
              <a:lnSpc>
                <a:spcPct val="150000"/>
              </a:lnSpc>
              <a:buSzPct val="100000"/>
              <a:buChar char="•"/>
            </a:pPr>
            <a:r>
              <a:rPr lang="en-US" sz="2000" dirty="0">
                <a:solidFill>
                  <a:srgbClr val="FFFFFF"/>
                </a:solidFill>
              </a:rPr>
              <a:t>Muscle tone falls because lower motor output is absent.</a:t>
            </a:r>
            <a:endParaRPr lang="en-US" sz="2000" dirty="0"/>
          </a:p>
          <a:p>
            <a:pPr marL="177800" indent="-177800">
              <a:lnSpc>
                <a:spcPct val="150000"/>
              </a:lnSpc>
              <a:buSzPct val="100000"/>
              <a:buChar char="•"/>
            </a:pPr>
            <a:r>
              <a:rPr lang="en-US" sz="2000" dirty="0">
                <a:solidFill>
                  <a:srgbClr val="FFFFFF"/>
                </a:solidFill>
              </a:rPr>
              <a:t>Denervation atrophy develops if supply is not restored.</a:t>
            </a:r>
            <a:endParaRPr lang="en-US" sz="2000" dirty="0"/>
          </a:p>
        </p:txBody>
      </p:sp>
      <p:sp>
        <p:nvSpPr>
          <p:cNvPr id="8" name="Text 5"/>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9" name="Text 6"/>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44</a:t>
            </a:r>
            <a:endParaRPr lang="en-US" sz="700" dirty="0"/>
          </a:p>
        </p:txBody>
      </p:sp>
      <p:pic>
        <p:nvPicPr>
          <p:cNvPr id="11" name="Picture 10">
            <a:extLst>
              <a:ext uri="{FF2B5EF4-FFF2-40B4-BE49-F238E27FC236}">
                <a16:creationId xmlns:a16="http://schemas.microsoft.com/office/drawing/2014/main" id="{8B819C8A-5D98-F1C6-E150-B61A6F432DEA}"/>
              </a:ext>
            </a:extLst>
          </p:cNvPr>
          <p:cNvPicPr>
            <a:picLocks noChangeAspect="1"/>
          </p:cNvPicPr>
          <p:nvPr/>
        </p:nvPicPr>
        <p:blipFill>
          <a:blip r:embed="rId3"/>
          <a:srcRect r="37750"/>
          <a:stretch>
            <a:fillRect/>
          </a:stretch>
        </p:blipFill>
        <p:spPr>
          <a:xfrm>
            <a:off x="5146031" y="1234440"/>
            <a:ext cx="6949717" cy="464211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5">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2043575" y="337006"/>
            <a:ext cx="11064240" cy="411480"/>
          </a:xfrm>
          <a:prstGeom prst="rect">
            <a:avLst/>
          </a:prstGeom>
          <a:noFill/>
          <a:ln/>
        </p:spPr>
        <p:txBody>
          <a:bodyPr wrap="square" lIns="0" tIns="0" rIns="0" bIns="0" rtlCol="0" anchor="ctr">
            <a:normAutofit/>
          </a:bodyPr>
          <a:lstStyle/>
          <a:p>
            <a:r>
              <a:rPr lang="en-GB" sz="2500" b="1" dirty="0">
                <a:solidFill>
                  <a:srgbClr val="F4E300"/>
                </a:solidFill>
              </a:rPr>
              <a:t>The Fate of A Denervated Muscle That is Not Reinnervated</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166035" y="3668148"/>
            <a:ext cx="5907505" cy="2391878"/>
          </a:xfrm>
          <a:prstGeom prst="rect">
            <a:avLst/>
          </a:prstGeom>
          <a:noFill/>
          <a:ln/>
        </p:spPr>
        <p:txBody>
          <a:bodyPr wrap="square" lIns="1016" tIns="1016" rIns="1016" bIns="1016" rtlCol="0" anchor="ctr">
            <a:normAutofit/>
          </a:bodyPr>
          <a:lstStyle/>
          <a:p>
            <a:pPr marL="177800" indent="-177800">
              <a:buSzPct val="100000"/>
              <a:buChar char="•"/>
            </a:pPr>
            <a:r>
              <a:rPr lang="en-US" dirty="0">
                <a:solidFill>
                  <a:srgbClr val="FFFFFF"/>
                </a:solidFill>
              </a:rPr>
              <a:t>Immediate paralysis, usually flaccid.</a:t>
            </a:r>
            <a:endParaRPr lang="en-US" dirty="0"/>
          </a:p>
          <a:p>
            <a:pPr marL="177800" indent="-177800">
              <a:buSzPct val="100000"/>
              <a:buChar char="•"/>
            </a:pPr>
            <a:r>
              <a:rPr lang="en-US" dirty="0">
                <a:solidFill>
                  <a:srgbClr val="FFFFFF"/>
                </a:solidFill>
              </a:rPr>
              <a:t>Areflexia: reflexes requiring that motor unit are lost or reduced.</a:t>
            </a:r>
            <a:endParaRPr lang="en-US" dirty="0"/>
          </a:p>
          <a:p>
            <a:pPr marL="177800" indent="-177800">
              <a:buSzPct val="100000"/>
              <a:buChar char="•"/>
            </a:pPr>
            <a:r>
              <a:rPr lang="en-US" dirty="0">
                <a:solidFill>
                  <a:srgbClr val="FFFFFF"/>
                </a:solidFill>
              </a:rPr>
              <a:t>Atonia: loss of normal muscle tone.</a:t>
            </a:r>
            <a:endParaRPr lang="en-US" dirty="0"/>
          </a:p>
          <a:p>
            <a:pPr marL="177800" indent="-177800">
              <a:buSzPct val="100000"/>
              <a:buChar char="•"/>
            </a:pPr>
            <a:r>
              <a:rPr lang="en-US" dirty="0">
                <a:solidFill>
                  <a:srgbClr val="FFFFFF"/>
                </a:solidFill>
              </a:rPr>
              <a:t>Fasciculations may appear as spontaneous motor-unit activity.</a:t>
            </a:r>
            <a:endParaRPr lang="en-US" dirty="0"/>
          </a:p>
          <a:p>
            <a:pPr marL="177800" indent="-177800">
              <a:buSzPct val="100000"/>
              <a:buChar char="•"/>
            </a:pPr>
            <a:r>
              <a:rPr lang="en-US" dirty="0">
                <a:solidFill>
                  <a:srgbClr val="FFFFFF"/>
                </a:solidFill>
              </a:rPr>
              <a:t>If re-innervation fails, fasciculations may later subside.</a:t>
            </a:r>
            <a:endParaRPr lang="en-US" dirty="0"/>
          </a:p>
        </p:txBody>
      </p:sp>
      <p:sp>
        <p:nvSpPr>
          <p:cNvPr id="11" name="Text 3">
            <a:extLst>
              <a:ext uri="{FF2B5EF4-FFF2-40B4-BE49-F238E27FC236}">
                <a16:creationId xmlns:a16="http://schemas.microsoft.com/office/drawing/2014/main" id="{D8DA3E9F-D5BD-E19F-DD56-479EEF645CF2}"/>
              </a:ext>
            </a:extLst>
          </p:cNvPr>
          <p:cNvSpPr/>
          <p:nvPr/>
        </p:nvSpPr>
        <p:spPr>
          <a:xfrm>
            <a:off x="6355080" y="3914052"/>
            <a:ext cx="5212080" cy="2257124"/>
          </a:xfrm>
          <a:prstGeom prst="rect">
            <a:avLst/>
          </a:prstGeom>
          <a:noFill/>
          <a:ln/>
        </p:spPr>
        <p:txBody>
          <a:bodyPr wrap="square" lIns="1016" tIns="1016" rIns="1016" bIns="1016" rtlCol="0" anchor="ctr">
            <a:normAutofit fontScale="92500" lnSpcReduction="10000"/>
          </a:bodyPr>
          <a:lstStyle/>
          <a:p>
            <a:pPr marL="177800" indent="-177800">
              <a:buSzPct val="100000"/>
              <a:buChar char="•"/>
            </a:pPr>
            <a:r>
              <a:rPr lang="en-US" sz="2000" dirty="0">
                <a:solidFill>
                  <a:srgbClr val="FFFFFF"/>
                </a:solidFill>
              </a:rPr>
              <a:t>Muscle loses bulk due to denervation atrophy.</a:t>
            </a:r>
            <a:endParaRPr lang="en-US" sz="2000" dirty="0"/>
          </a:p>
          <a:p>
            <a:pPr marL="177800" indent="-177800">
              <a:buSzPct val="100000"/>
              <a:buChar char="•"/>
            </a:pPr>
            <a:r>
              <a:rPr lang="en-US" sz="2000" dirty="0">
                <a:solidFill>
                  <a:srgbClr val="FFFFFF"/>
                </a:solidFill>
              </a:rPr>
              <a:t>Do not confuse denervation atrophy with disuse atrophy.</a:t>
            </a:r>
            <a:endParaRPr lang="en-US" sz="2000" dirty="0"/>
          </a:p>
          <a:p>
            <a:pPr marL="177800" indent="-177800">
              <a:buSzPct val="100000"/>
              <a:buChar char="•"/>
            </a:pPr>
            <a:r>
              <a:rPr lang="en-US" sz="2000" dirty="0">
                <a:solidFill>
                  <a:srgbClr val="FFFFFF"/>
                </a:solidFill>
              </a:rPr>
              <a:t>Muscle fibres may die over time.</a:t>
            </a:r>
            <a:endParaRPr lang="en-US" sz="2000" dirty="0"/>
          </a:p>
          <a:p>
            <a:pPr marL="177800" indent="-177800">
              <a:buSzPct val="100000"/>
              <a:buChar char="•"/>
            </a:pPr>
            <a:r>
              <a:rPr lang="en-US" sz="2000" dirty="0">
                <a:solidFill>
                  <a:srgbClr val="FFFFFF"/>
                </a:solidFill>
              </a:rPr>
              <a:t>Connective tissue and fat replace muscle tissue.</a:t>
            </a:r>
            <a:endParaRPr lang="en-US" sz="2000" dirty="0"/>
          </a:p>
          <a:p>
            <a:pPr marL="177800" indent="-177800">
              <a:buSzPct val="100000"/>
              <a:buChar char="•"/>
            </a:pPr>
            <a:r>
              <a:rPr lang="en-US" sz="2000" dirty="0">
                <a:solidFill>
                  <a:srgbClr val="FFFFFF"/>
                </a:solidFill>
              </a:rPr>
              <a:t>Fibrosis makes late functional recovery difficult.</a:t>
            </a:r>
            <a:endParaRPr lang="en-US" sz="2000" dirty="0"/>
          </a:p>
        </p:txBody>
      </p:sp>
      <p:pic>
        <p:nvPicPr>
          <p:cNvPr id="13" name="object 2">
            <a:extLst>
              <a:ext uri="{FF2B5EF4-FFF2-40B4-BE49-F238E27FC236}">
                <a16:creationId xmlns:a16="http://schemas.microsoft.com/office/drawing/2014/main" id="{6D0D1FDD-B8B4-3CF5-45A6-8169ED93FD63}"/>
              </a:ext>
            </a:extLst>
          </p:cNvPr>
          <p:cNvPicPr/>
          <p:nvPr/>
        </p:nvPicPr>
        <p:blipFill>
          <a:blip r:embed="rId5" cstate="print"/>
          <a:stretch>
            <a:fillRect/>
          </a:stretch>
        </p:blipFill>
        <p:spPr>
          <a:xfrm>
            <a:off x="9427608" y="1590936"/>
            <a:ext cx="1708116" cy="2077212"/>
          </a:xfrm>
          <a:prstGeom prst="rect">
            <a:avLst/>
          </a:prstGeom>
        </p:spPr>
      </p:pic>
      <p:pic>
        <p:nvPicPr>
          <p:cNvPr id="15" name="object 6">
            <a:extLst>
              <a:ext uri="{FF2B5EF4-FFF2-40B4-BE49-F238E27FC236}">
                <a16:creationId xmlns:a16="http://schemas.microsoft.com/office/drawing/2014/main" id="{CF45BB28-E09F-9575-3098-7710B3FF5388}"/>
              </a:ext>
            </a:extLst>
          </p:cNvPr>
          <p:cNvPicPr/>
          <p:nvPr/>
        </p:nvPicPr>
        <p:blipFill>
          <a:blip r:embed="rId6" cstate="print"/>
          <a:stretch>
            <a:fillRect/>
          </a:stretch>
        </p:blipFill>
        <p:spPr>
          <a:xfrm>
            <a:off x="6587971" y="1768482"/>
            <a:ext cx="2580132" cy="1722120"/>
          </a:xfrm>
          <a:prstGeom prst="rect">
            <a:avLst/>
          </a:prstGeom>
        </p:spPr>
      </p:pic>
      <p:sp>
        <p:nvSpPr>
          <p:cNvPr id="16" name="TextBox 15">
            <a:extLst>
              <a:ext uri="{FF2B5EF4-FFF2-40B4-BE49-F238E27FC236}">
                <a16:creationId xmlns:a16="http://schemas.microsoft.com/office/drawing/2014/main" id="{180B983F-F86F-2DA7-0538-1DCC1A99BE5C}"/>
              </a:ext>
            </a:extLst>
          </p:cNvPr>
          <p:cNvSpPr txBox="1"/>
          <p:nvPr/>
        </p:nvSpPr>
        <p:spPr>
          <a:xfrm>
            <a:off x="2043575" y="1153246"/>
            <a:ext cx="3176337" cy="369332"/>
          </a:xfrm>
          <a:prstGeom prst="rect">
            <a:avLst/>
          </a:prstGeom>
          <a:noFill/>
        </p:spPr>
        <p:txBody>
          <a:bodyPr wrap="square" rtlCol="0">
            <a:spAutoFit/>
          </a:bodyPr>
          <a:lstStyle/>
          <a:p>
            <a:r>
              <a:rPr lang="en-US" b="1" dirty="0">
                <a:solidFill>
                  <a:srgbClr val="F4E300"/>
                </a:solidFill>
              </a:rPr>
              <a:t>Acute denervation</a:t>
            </a:r>
            <a:endParaRPr lang="en-GB" dirty="0"/>
          </a:p>
        </p:txBody>
      </p:sp>
      <p:sp>
        <p:nvSpPr>
          <p:cNvPr id="18" name="TextBox 17">
            <a:extLst>
              <a:ext uri="{FF2B5EF4-FFF2-40B4-BE49-F238E27FC236}">
                <a16:creationId xmlns:a16="http://schemas.microsoft.com/office/drawing/2014/main" id="{E61CE41D-BDD3-113C-A15C-D0FFB749EB3B}"/>
              </a:ext>
            </a:extLst>
          </p:cNvPr>
          <p:cNvSpPr txBox="1"/>
          <p:nvPr/>
        </p:nvSpPr>
        <p:spPr>
          <a:xfrm>
            <a:off x="7839439" y="1153246"/>
            <a:ext cx="3176337" cy="369332"/>
          </a:xfrm>
          <a:prstGeom prst="rect">
            <a:avLst/>
          </a:prstGeom>
          <a:noFill/>
        </p:spPr>
        <p:txBody>
          <a:bodyPr wrap="square" rtlCol="0">
            <a:spAutoFit/>
          </a:bodyPr>
          <a:lstStyle/>
          <a:p>
            <a:r>
              <a:rPr lang="en-US" b="1" dirty="0">
                <a:solidFill>
                  <a:srgbClr val="F4E300"/>
                </a:solidFill>
              </a:rPr>
              <a:t>Chronic denervation</a:t>
            </a:r>
            <a:endParaRPr lang="en-GB" dirty="0"/>
          </a:p>
        </p:txBody>
      </p:sp>
      <p:pic>
        <p:nvPicPr>
          <p:cNvPr id="20" name="Picture 19">
            <a:extLst>
              <a:ext uri="{FF2B5EF4-FFF2-40B4-BE49-F238E27FC236}">
                <a16:creationId xmlns:a16="http://schemas.microsoft.com/office/drawing/2014/main" id="{B21E1E70-3622-1787-7C69-6A4E4C013A4A}"/>
              </a:ext>
            </a:extLst>
          </p:cNvPr>
          <p:cNvPicPr>
            <a:picLocks noChangeAspect="1"/>
          </p:cNvPicPr>
          <p:nvPr/>
        </p:nvPicPr>
        <p:blipFill>
          <a:blip r:embed="rId7"/>
          <a:stretch>
            <a:fillRect/>
          </a:stretch>
        </p:blipFill>
        <p:spPr>
          <a:xfrm>
            <a:off x="2368490" y="1642549"/>
            <a:ext cx="2044805" cy="1930499"/>
          </a:xfrm>
          <a:prstGeom prst="rect">
            <a:avLst/>
          </a:prstGeom>
        </p:spPr>
      </p:pic>
      <p:sp>
        <p:nvSpPr>
          <p:cNvPr id="21" name="Arrow: Right 20">
            <a:extLst>
              <a:ext uri="{FF2B5EF4-FFF2-40B4-BE49-F238E27FC236}">
                <a16:creationId xmlns:a16="http://schemas.microsoft.com/office/drawing/2014/main" id="{D7E787F5-7A20-9E94-AF3E-6280797064FC}"/>
              </a:ext>
            </a:extLst>
          </p:cNvPr>
          <p:cNvSpPr/>
          <p:nvPr/>
        </p:nvSpPr>
        <p:spPr>
          <a:xfrm>
            <a:off x="4452408" y="1153246"/>
            <a:ext cx="2468340" cy="489303"/>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Fasciculations">
            <a:hlinkClick r:id="" action="ppaction://media"/>
            <a:extLst>
              <a:ext uri="{FF2B5EF4-FFF2-40B4-BE49-F238E27FC236}">
                <a16:creationId xmlns:a16="http://schemas.microsoft.com/office/drawing/2014/main" id="{15923F15-E521-4758-E342-AED02B908142}"/>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68170" y="295411"/>
            <a:ext cx="1843671" cy="3277637"/>
          </a:xfrm>
          <a:prstGeom prst="rect">
            <a:avLst/>
          </a:prstGeom>
        </p:spPr>
      </p:pic>
    </p:spTree>
  </p:cSld>
  <p:clrMapOvr>
    <a:masterClrMapping/>
  </p:clrMapOvr>
  <p:timing>
    <p:tnLst>
      <p:par>
        <p:cTn id="1" dur="indefinite" restart="never" nodeType="tmRoot">
          <p:childTnLst>
            <p:video>
              <p:cMediaNode vol="80000" mute="1">
                <p:cTn id="2" fill="hold" display="0">
                  <p:stCondLst>
                    <p:cond delay="indefinite"/>
                  </p:stCondLst>
                </p:cTn>
                <p:tgtEl>
                  <p:spTgt spid="22"/>
                </p:tgtEl>
              </p:cMediaNode>
            </p:vide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49">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Regrowth can restore function, but it may not recreate the original wiring</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fontScale="77500" lnSpcReduction="20000"/>
          </a:bodyPr>
          <a:lstStyle/>
          <a:p>
            <a:pPr marL="0" indent="0" algn="ctr">
              <a:buNone/>
            </a:pPr>
            <a:r>
              <a:rPr lang="en-US" sz="3400" b="1" dirty="0">
                <a:solidFill>
                  <a:srgbClr val="F4E300"/>
                </a:solidFill>
              </a:rPr>
              <a:t>Part 7 — Re-innervation: recovery, reorganisation and misdirection</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49</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52">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Experimental re-innervation by a different motor type</a:t>
            </a:r>
            <a:endParaRPr lang="en-US" sz="2500" dirty="0"/>
          </a:p>
        </p:txBody>
      </p:sp>
      <p:pic>
        <p:nvPicPr>
          <p:cNvPr id="11" name="Picture 10">
            <a:extLst>
              <a:ext uri="{FF2B5EF4-FFF2-40B4-BE49-F238E27FC236}">
                <a16:creationId xmlns:a16="http://schemas.microsoft.com/office/drawing/2014/main" id="{7B702C9E-BB57-4FEB-D0F4-2201A703E2E9}"/>
              </a:ext>
            </a:extLst>
          </p:cNvPr>
          <p:cNvPicPr>
            <a:picLocks noChangeAspect="1"/>
          </p:cNvPicPr>
          <p:nvPr/>
        </p:nvPicPr>
        <p:blipFill>
          <a:blip r:embed="rId3"/>
          <a:stretch>
            <a:fillRect/>
          </a:stretch>
        </p:blipFill>
        <p:spPr>
          <a:xfrm>
            <a:off x="1553645" y="1019494"/>
            <a:ext cx="8745387" cy="52640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53">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Predict: what happens when nerve supplies are switched?</a:t>
            </a:r>
            <a:endParaRPr lang="en-US" sz="2500" dirty="0"/>
          </a:p>
        </p:txBody>
      </p:sp>
      <p:pic>
        <p:nvPicPr>
          <p:cNvPr id="13" name="Picture 12">
            <a:extLst>
              <a:ext uri="{FF2B5EF4-FFF2-40B4-BE49-F238E27FC236}">
                <a16:creationId xmlns:a16="http://schemas.microsoft.com/office/drawing/2014/main" id="{235DB1EA-31FF-CEF2-EE37-D9AADA79F96B}"/>
              </a:ext>
            </a:extLst>
          </p:cNvPr>
          <p:cNvPicPr>
            <a:picLocks noChangeAspect="1"/>
          </p:cNvPicPr>
          <p:nvPr/>
        </p:nvPicPr>
        <p:blipFill>
          <a:blip r:embed="rId3"/>
          <a:stretch>
            <a:fillRect/>
          </a:stretch>
        </p:blipFill>
        <p:spPr>
          <a:xfrm>
            <a:off x="3392986" y="1041934"/>
            <a:ext cx="8717119" cy="5320365"/>
          </a:xfrm>
          <a:prstGeom prst="rect">
            <a:avLst/>
          </a:prstGeom>
        </p:spPr>
      </p:pic>
      <p:sp>
        <p:nvSpPr>
          <p:cNvPr id="15" name="TextBox 14">
            <a:extLst>
              <a:ext uri="{FF2B5EF4-FFF2-40B4-BE49-F238E27FC236}">
                <a16:creationId xmlns:a16="http://schemas.microsoft.com/office/drawing/2014/main" id="{097F6DF9-A2D4-C43D-AB9F-FCE94F210729}"/>
              </a:ext>
            </a:extLst>
          </p:cNvPr>
          <p:cNvSpPr txBox="1"/>
          <p:nvPr/>
        </p:nvSpPr>
        <p:spPr>
          <a:xfrm>
            <a:off x="223867" y="2107491"/>
            <a:ext cx="3169119" cy="2800767"/>
          </a:xfrm>
          <a:prstGeom prst="rect">
            <a:avLst/>
          </a:prstGeom>
          <a:noFill/>
        </p:spPr>
        <p:txBody>
          <a:bodyPr wrap="square">
            <a:spAutoFit/>
          </a:bodyPr>
          <a:lstStyle/>
          <a:p>
            <a:r>
              <a:rPr lang="en-US" sz="1600" dirty="0">
                <a:solidFill>
                  <a:schemeClr val="bg1"/>
                </a:solidFill>
              </a:rPr>
              <a:t>A, </a:t>
            </a:r>
            <a:r>
              <a:rPr lang="en-US" sz="1600" dirty="0" err="1">
                <a:solidFill>
                  <a:schemeClr val="bg1"/>
                </a:solidFill>
              </a:rPr>
              <a:t>fibre</a:t>
            </a:r>
            <a:r>
              <a:rPr lang="en-US" sz="1600" dirty="0">
                <a:solidFill>
                  <a:schemeClr val="bg1"/>
                </a:solidFill>
              </a:rPr>
              <a:t> type does not change because muscle </a:t>
            </a:r>
            <a:r>
              <a:rPr lang="en-US" sz="1600" dirty="0" err="1">
                <a:solidFill>
                  <a:schemeClr val="bg1"/>
                </a:solidFill>
              </a:rPr>
              <a:t>fibres</a:t>
            </a:r>
            <a:r>
              <a:rPr lang="en-US" sz="1600" dirty="0">
                <a:solidFill>
                  <a:schemeClr val="bg1"/>
                </a:solidFill>
              </a:rPr>
              <a:t> are genetically fixed.</a:t>
            </a:r>
          </a:p>
          <a:p>
            <a:endParaRPr lang="en-US" sz="1600" dirty="0">
              <a:solidFill>
                <a:schemeClr val="bg1"/>
              </a:solidFill>
            </a:endParaRPr>
          </a:p>
          <a:p>
            <a:r>
              <a:rPr lang="en-US" sz="1600" dirty="0">
                <a:solidFill>
                  <a:schemeClr val="bg1"/>
                </a:solidFill>
              </a:rPr>
              <a:t>B, </a:t>
            </a:r>
            <a:r>
              <a:rPr lang="en-US" sz="1600" dirty="0" err="1">
                <a:solidFill>
                  <a:schemeClr val="bg1"/>
                </a:solidFill>
              </a:rPr>
              <a:t>fibre</a:t>
            </a:r>
            <a:r>
              <a:rPr lang="en-US" sz="1600" dirty="0">
                <a:solidFill>
                  <a:schemeClr val="bg1"/>
                </a:solidFill>
              </a:rPr>
              <a:t> type changes partly because both muscle and nerve influence the phenotype. </a:t>
            </a:r>
          </a:p>
          <a:p>
            <a:endParaRPr lang="en-US" sz="1600" dirty="0">
              <a:solidFill>
                <a:schemeClr val="bg1"/>
              </a:solidFill>
            </a:endParaRPr>
          </a:p>
          <a:p>
            <a:r>
              <a:rPr lang="en-US" sz="1600" dirty="0">
                <a:solidFill>
                  <a:schemeClr val="bg1"/>
                </a:solidFill>
              </a:rPr>
              <a:t>C, </a:t>
            </a:r>
            <a:r>
              <a:rPr lang="en-US" sz="1600" dirty="0" err="1">
                <a:solidFill>
                  <a:schemeClr val="bg1"/>
                </a:solidFill>
              </a:rPr>
              <a:t>fibre</a:t>
            </a:r>
            <a:r>
              <a:rPr lang="en-US" sz="1600" dirty="0">
                <a:solidFill>
                  <a:schemeClr val="bg1"/>
                </a:solidFill>
              </a:rPr>
              <a:t> type switches to match the characteristics of the supplying motor nerve.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50">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Re-innervation of the original target may fail</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2375033" y="4838639"/>
            <a:ext cx="8434137" cy="1745041"/>
          </a:xfrm>
          <a:prstGeom prst="rect">
            <a:avLst/>
          </a:prstGeom>
          <a:noFill/>
          <a:ln/>
        </p:spPr>
        <p:txBody>
          <a:bodyPr wrap="square" lIns="1016" tIns="1016" rIns="1016" bIns="1016" rtlCol="0" anchor="ctr">
            <a:normAutofit/>
          </a:bodyPr>
          <a:lstStyle/>
          <a:p>
            <a:pPr marL="177800" indent="-177800">
              <a:buSzPct val="100000"/>
              <a:buChar char="•"/>
            </a:pPr>
            <a:r>
              <a:rPr lang="en-US" sz="2000" dirty="0">
                <a:solidFill>
                  <a:srgbClr val="FFFFFF"/>
                </a:solidFill>
              </a:rPr>
              <a:t>Axons aim to re-supply the original effector organ.</a:t>
            </a:r>
            <a:endParaRPr lang="en-US" sz="2000" dirty="0"/>
          </a:p>
          <a:p>
            <a:pPr marL="177800" indent="-177800">
              <a:buSzPct val="100000"/>
              <a:buChar char="•"/>
            </a:pPr>
            <a:r>
              <a:rPr lang="en-US" sz="2000" dirty="0">
                <a:solidFill>
                  <a:srgbClr val="FFFFFF"/>
                </a:solidFill>
              </a:rPr>
              <a:t>The original target may not be reached successfully.</a:t>
            </a:r>
            <a:endParaRPr lang="en-US" sz="2000" dirty="0"/>
          </a:p>
          <a:p>
            <a:pPr marL="177800" indent="-177800">
              <a:buSzPct val="100000"/>
              <a:buChar char="•"/>
            </a:pPr>
            <a:r>
              <a:rPr lang="en-US" sz="2000" dirty="0">
                <a:solidFill>
                  <a:srgbClr val="FFFFFF"/>
                </a:solidFill>
              </a:rPr>
              <a:t>A regenerated axon may supply a different effector.</a:t>
            </a:r>
            <a:endParaRPr lang="en-US" sz="2000" dirty="0"/>
          </a:p>
          <a:p>
            <a:pPr marL="177800" indent="-177800">
              <a:buSzPct val="100000"/>
              <a:buChar char="•"/>
            </a:pPr>
            <a:r>
              <a:rPr lang="en-US" sz="2000" dirty="0">
                <a:solidFill>
                  <a:srgbClr val="FFFFFF"/>
                </a:solidFill>
              </a:rPr>
              <a:t>This can produce unexpected clinical syndromes.</a:t>
            </a:r>
            <a:endParaRPr lang="en-US" sz="2000" dirty="0"/>
          </a:p>
          <a:p>
            <a:pPr marL="177800" indent="-177800">
              <a:buSzPct val="100000"/>
              <a:buChar char="•"/>
            </a:pPr>
            <a:r>
              <a:rPr lang="en-US" sz="2000" dirty="0">
                <a:solidFill>
                  <a:srgbClr val="FFFFFF"/>
                </a:solidFill>
              </a:rPr>
              <a:t>Correct targeting depends on preserved pathways and alignment.</a:t>
            </a:r>
            <a:endParaRPr lang="en-US" sz="2000" dirty="0"/>
          </a:p>
        </p:txBody>
      </p:sp>
      <p:pic>
        <p:nvPicPr>
          <p:cNvPr id="13" name="Picture 12">
            <a:extLst>
              <a:ext uri="{FF2B5EF4-FFF2-40B4-BE49-F238E27FC236}">
                <a16:creationId xmlns:a16="http://schemas.microsoft.com/office/drawing/2014/main" id="{F0AECE01-ECB6-FBC4-209F-CDC2C448FAED}"/>
              </a:ext>
            </a:extLst>
          </p:cNvPr>
          <p:cNvPicPr>
            <a:picLocks noChangeAspect="1"/>
          </p:cNvPicPr>
          <p:nvPr/>
        </p:nvPicPr>
        <p:blipFill>
          <a:blip r:embed="rId3"/>
          <a:stretch>
            <a:fillRect/>
          </a:stretch>
        </p:blipFill>
        <p:spPr>
          <a:xfrm>
            <a:off x="1631482" y="1197864"/>
            <a:ext cx="8643487" cy="34356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51">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Motor unit potentials after re-innervation</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59" y="1234440"/>
            <a:ext cx="5710187" cy="4892040"/>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dirty="0">
                <a:solidFill>
                  <a:srgbClr val="FFFFFF"/>
                </a:solidFill>
              </a:rPr>
              <a:t>A normal motor unit has a characteristic motor unit potential.</a:t>
            </a:r>
            <a:endParaRPr lang="en-US" dirty="0"/>
          </a:p>
          <a:p>
            <a:pPr marL="177800" indent="-177800">
              <a:lnSpc>
                <a:spcPct val="150000"/>
              </a:lnSpc>
              <a:buSzPct val="100000"/>
              <a:buChar char="•"/>
            </a:pPr>
            <a:r>
              <a:rPr lang="en-US" dirty="0">
                <a:solidFill>
                  <a:srgbClr val="FFFFFF"/>
                </a:solidFill>
              </a:rPr>
              <a:t>Denervation reduces effective motor unit activity.</a:t>
            </a:r>
            <a:endParaRPr lang="en-US" dirty="0"/>
          </a:p>
          <a:p>
            <a:pPr marL="177800" indent="-177800">
              <a:lnSpc>
                <a:spcPct val="150000"/>
              </a:lnSpc>
              <a:buSzPct val="100000"/>
              <a:buChar char="•"/>
            </a:pPr>
            <a:r>
              <a:rPr lang="en-US" dirty="0">
                <a:solidFill>
                  <a:srgbClr val="FFFFFF"/>
                </a:solidFill>
              </a:rPr>
              <a:t>Re-innervation can produce larger or altered potentials.</a:t>
            </a:r>
            <a:endParaRPr lang="en-US" dirty="0"/>
          </a:p>
          <a:p>
            <a:pPr marL="177800" indent="-177800">
              <a:lnSpc>
                <a:spcPct val="150000"/>
              </a:lnSpc>
              <a:buSzPct val="100000"/>
              <a:buChar char="•"/>
            </a:pPr>
            <a:r>
              <a:rPr lang="en-US" dirty="0">
                <a:solidFill>
                  <a:srgbClr val="FFFFFF"/>
                </a:solidFill>
              </a:rPr>
              <a:t>Surviving axons may innervate fibres previously supplied by other motor neurones.</a:t>
            </a:r>
            <a:endParaRPr lang="en-US" dirty="0"/>
          </a:p>
          <a:p>
            <a:pPr marL="177800" indent="-177800">
              <a:lnSpc>
                <a:spcPct val="150000"/>
              </a:lnSpc>
              <a:buSzPct val="100000"/>
              <a:buChar char="•"/>
            </a:pPr>
            <a:r>
              <a:rPr lang="en-US" dirty="0">
                <a:solidFill>
                  <a:srgbClr val="FFFFFF"/>
                </a:solidFill>
              </a:rPr>
              <a:t>Recovered motor units may be functional but not identical to the original.</a:t>
            </a:r>
            <a:endParaRPr lang="en-US" dirty="0"/>
          </a:p>
        </p:txBody>
      </p:sp>
      <p:pic>
        <p:nvPicPr>
          <p:cNvPr id="11" name="object 4">
            <a:extLst>
              <a:ext uri="{FF2B5EF4-FFF2-40B4-BE49-F238E27FC236}">
                <a16:creationId xmlns:a16="http://schemas.microsoft.com/office/drawing/2014/main" id="{3252EF57-10F4-1708-A3F9-AD7669FC9A31}"/>
              </a:ext>
            </a:extLst>
          </p:cNvPr>
          <p:cNvPicPr/>
          <p:nvPr/>
        </p:nvPicPr>
        <p:blipFill>
          <a:blip r:embed="rId3" cstate="print"/>
          <a:stretch>
            <a:fillRect/>
          </a:stretch>
        </p:blipFill>
        <p:spPr>
          <a:xfrm>
            <a:off x="6546181" y="1109592"/>
            <a:ext cx="4555558" cy="5141735"/>
          </a:xfrm>
          <a:prstGeom prst="rect">
            <a:avLst/>
          </a:prstGeom>
        </p:spPr>
      </p:pic>
      <p:sp>
        <p:nvSpPr>
          <p:cNvPr id="7" name="Oval 6">
            <a:extLst>
              <a:ext uri="{FF2B5EF4-FFF2-40B4-BE49-F238E27FC236}">
                <a16:creationId xmlns:a16="http://schemas.microsoft.com/office/drawing/2014/main" id="{D771EF83-A831-E1D7-8F0C-D6BAFCC04CEC}"/>
              </a:ext>
            </a:extLst>
          </p:cNvPr>
          <p:cNvSpPr/>
          <p:nvPr/>
        </p:nvSpPr>
        <p:spPr>
          <a:xfrm>
            <a:off x="9586762" y="895149"/>
            <a:ext cx="1876926" cy="8181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2043EFEF-5802-E220-FD22-5BB870D0410E}"/>
              </a:ext>
            </a:extLst>
          </p:cNvPr>
          <p:cNvSpPr/>
          <p:nvPr/>
        </p:nvSpPr>
        <p:spPr>
          <a:xfrm>
            <a:off x="9405788" y="2677286"/>
            <a:ext cx="1876926" cy="8181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9338BE6B-5BD9-4C98-8B58-F153B9683BA3}"/>
              </a:ext>
            </a:extLst>
          </p:cNvPr>
          <p:cNvSpPr/>
          <p:nvPr/>
        </p:nvSpPr>
        <p:spPr>
          <a:xfrm>
            <a:off x="9315301" y="4369728"/>
            <a:ext cx="1876926" cy="8181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55">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Inappropriate re-innervation: crocodile tears syndrome</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108753" y="877824"/>
            <a:ext cx="4704375" cy="5504687"/>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sz="2000" dirty="0">
                <a:solidFill>
                  <a:srgbClr val="FFFFFF"/>
                </a:solidFill>
              </a:rPr>
              <a:t>Also known as Bogorad’s phenomenon or gustatory </a:t>
            </a:r>
            <a:r>
              <a:rPr lang="en-US" sz="2000" dirty="0" err="1">
                <a:solidFill>
                  <a:srgbClr val="FFFFFF"/>
                </a:solidFill>
              </a:rPr>
              <a:t>hyperlacrimation</a:t>
            </a:r>
            <a:r>
              <a:rPr lang="en-US" sz="2000" dirty="0">
                <a:solidFill>
                  <a:srgbClr val="FFFFFF"/>
                </a:solidFill>
              </a:rPr>
              <a:t>.</a:t>
            </a:r>
          </a:p>
          <a:p>
            <a:pPr marL="177800" indent="-177800">
              <a:lnSpc>
                <a:spcPct val="150000"/>
              </a:lnSpc>
              <a:buSzPct val="100000"/>
              <a:buChar char="•"/>
            </a:pPr>
            <a:endParaRPr lang="en-US" sz="2000" dirty="0"/>
          </a:p>
          <a:p>
            <a:pPr marL="177800" indent="-177800">
              <a:lnSpc>
                <a:spcPct val="150000"/>
              </a:lnSpc>
              <a:buSzPct val="100000"/>
              <a:buChar char="•"/>
            </a:pPr>
            <a:r>
              <a:rPr lang="en-US" sz="2000" dirty="0">
                <a:solidFill>
                  <a:srgbClr val="FFFFFF"/>
                </a:solidFill>
              </a:rPr>
              <a:t>Eating can trigger lacrimation when autonomic fibres are misdirected.</a:t>
            </a:r>
          </a:p>
          <a:p>
            <a:pPr marL="177800" indent="-177800">
              <a:lnSpc>
                <a:spcPct val="150000"/>
              </a:lnSpc>
              <a:buSzPct val="100000"/>
              <a:buChar char="•"/>
            </a:pPr>
            <a:endParaRPr lang="en-US" sz="2000" dirty="0"/>
          </a:p>
          <a:p>
            <a:pPr marL="177800" indent="-177800">
              <a:lnSpc>
                <a:spcPct val="200000"/>
              </a:lnSpc>
              <a:buSzPct val="100000"/>
              <a:buChar char="•"/>
            </a:pPr>
            <a:r>
              <a:rPr lang="en-US" sz="2000" dirty="0">
                <a:solidFill>
                  <a:srgbClr val="FFFFFF"/>
                </a:solidFill>
              </a:rPr>
              <a:t>wrong target and misdirected regeneration.</a:t>
            </a:r>
            <a:endParaRPr lang="en-US" sz="2000" dirty="0"/>
          </a:p>
        </p:txBody>
      </p:sp>
      <p:pic>
        <p:nvPicPr>
          <p:cNvPr id="10" name="1791708114318.publer.com">
            <a:hlinkClick r:id="" action="ppaction://media"/>
            <a:extLst>
              <a:ext uri="{FF2B5EF4-FFF2-40B4-BE49-F238E27FC236}">
                <a16:creationId xmlns:a16="http://schemas.microsoft.com/office/drawing/2014/main" id="{DA344AC6-146C-E905-A9AF-020F366C4FC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801503" y="877824"/>
            <a:ext cx="3296984" cy="5861304"/>
          </a:xfrm>
          <a:prstGeom prst="rect">
            <a:avLst/>
          </a:prstGeom>
        </p:spPr>
      </p:pic>
      <p:pic>
        <p:nvPicPr>
          <p:cNvPr id="12" name="Picture 11">
            <a:extLst>
              <a:ext uri="{FF2B5EF4-FFF2-40B4-BE49-F238E27FC236}">
                <a16:creationId xmlns:a16="http://schemas.microsoft.com/office/drawing/2014/main" id="{E466E656-CCBE-DC92-F7AA-20D183F74B1B}"/>
              </a:ext>
            </a:extLst>
          </p:cNvPr>
          <p:cNvPicPr>
            <a:picLocks noChangeAspect="1"/>
          </p:cNvPicPr>
          <p:nvPr/>
        </p:nvPicPr>
        <p:blipFill>
          <a:blip r:embed="rId6"/>
          <a:stretch>
            <a:fillRect/>
          </a:stretch>
        </p:blipFill>
        <p:spPr>
          <a:xfrm>
            <a:off x="4946279" y="1471173"/>
            <a:ext cx="3706833" cy="4674605"/>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56">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Not every muscle responds to denervation in the same way, and trauma can injure muscle directly</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fontScale="85000" lnSpcReduction="10000"/>
          </a:bodyPr>
          <a:lstStyle/>
          <a:p>
            <a:pPr marL="0" indent="0" algn="ctr">
              <a:buNone/>
            </a:pPr>
            <a:r>
              <a:rPr lang="en-US" sz="3400" b="1" dirty="0">
                <a:solidFill>
                  <a:srgbClr val="F4E300"/>
                </a:solidFill>
              </a:rPr>
              <a:t>Part 8 — Effector type and trauma-related muscle damage</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56</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7">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Does the type of muscle matter?</a:t>
            </a:r>
            <a:endParaRPr lang="en-US" sz="2500" dirty="0"/>
          </a:p>
        </p:txBody>
      </p:sp>
      <p:sp>
        <p:nvSpPr>
          <p:cNvPr id="3" name="Text 1"/>
          <p:cNvSpPr/>
          <p:nvPr/>
        </p:nvSpPr>
        <p:spPr>
          <a:xfrm>
            <a:off x="530352" y="758952"/>
            <a:ext cx="10972800" cy="237744"/>
          </a:xfrm>
          <a:prstGeom prst="rect">
            <a:avLst/>
          </a:prstGeom>
          <a:noFill/>
          <a:ln/>
        </p:spPr>
        <p:txBody>
          <a:bodyPr wrap="square" lIns="0" tIns="0" rIns="0" bIns="0" rtlCol="0" anchor="ctr">
            <a:normAutofit/>
          </a:bodyPr>
          <a:lstStyle/>
          <a:p>
            <a:pPr marL="0" indent="0">
              <a:buNone/>
            </a:pPr>
            <a:r>
              <a:rPr lang="en-US" sz="1050" dirty="0">
                <a:solidFill>
                  <a:srgbClr val="D7E2F3"/>
                </a:solidFill>
              </a:rPr>
              <a:t>Skeletal, smooth and cardiac muscle differ in neural dependence.</a:t>
            </a:r>
            <a:endParaRPr lang="en-US" sz="105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60" y="1234440"/>
            <a:ext cx="5212080" cy="4892040"/>
          </a:xfrm>
          <a:prstGeom prst="rect">
            <a:avLst/>
          </a:prstGeom>
          <a:noFill/>
          <a:ln/>
        </p:spPr>
        <p:txBody>
          <a:bodyPr wrap="square" lIns="1016" tIns="1016" rIns="1016" bIns="1016" rtlCol="0" anchor="ctr">
            <a:normAutofit/>
          </a:bodyPr>
          <a:lstStyle/>
          <a:p>
            <a:pPr marL="177800" indent="-177800">
              <a:buSzPct val="100000"/>
              <a:buChar char="•"/>
            </a:pPr>
            <a:r>
              <a:rPr lang="en-US" sz="2000" dirty="0">
                <a:solidFill>
                  <a:srgbClr val="FFFFFF"/>
                </a:solidFill>
              </a:rPr>
              <a:t>Skeletal muscle contraction depends directly on somatic motor neurone activation.</a:t>
            </a:r>
          </a:p>
          <a:p>
            <a:pPr marL="177800" indent="-177800">
              <a:buSzPct val="100000"/>
              <a:buChar char="•"/>
            </a:pPr>
            <a:endParaRPr lang="en-US" sz="2000" dirty="0"/>
          </a:p>
          <a:p>
            <a:pPr marL="177800" indent="-177800">
              <a:buSzPct val="100000"/>
              <a:buChar char="•"/>
            </a:pPr>
            <a:r>
              <a:rPr lang="en-US" sz="2000" dirty="0">
                <a:solidFill>
                  <a:srgbClr val="FFFFFF"/>
                </a:solidFill>
              </a:rPr>
              <a:t>Smooth and cardiac muscle are myogenic.</a:t>
            </a:r>
          </a:p>
          <a:p>
            <a:pPr marL="177800" indent="-177800">
              <a:buSzPct val="100000"/>
              <a:buChar char="•"/>
            </a:pPr>
            <a:endParaRPr lang="en-US" sz="2000" dirty="0"/>
          </a:p>
          <a:p>
            <a:pPr marL="177800" indent="-177800">
              <a:buSzPct val="100000"/>
              <a:buChar char="•"/>
            </a:pPr>
            <a:r>
              <a:rPr lang="en-US" sz="2000" dirty="0">
                <a:solidFill>
                  <a:srgbClr val="FFFFFF"/>
                </a:solidFill>
              </a:rPr>
              <a:t>Autonomic nerves modulate smooth and cardiac muscle activity.</a:t>
            </a:r>
          </a:p>
          <a:p>
            <a:pPr marL="177800" indent="-177800">
              <a:buSzPct val="100000"/>
              <a:buChar char="•"/>
            </a:pPr>
            <a:endParaRPr lang="en-US" sz="2000" dirty="0"/>
          </a:p>
          <a:p>
            <a:pPr marL="177800" indent="-177800">
              <a:buSzPct val="100000"/>
              <a:buChar char="•"/>
            </a:pPr>
            <a:r>
              <a:rPr lang="en-US" sz="2000" dirty="0">
                <a:solidFill>
                  <a:srgbClr val="FFFFFF"/>
                </a:solidFill>
              </a:rPr>
              <a:t>Therefore, denervation consequences differ by effector type.</a:t>
            </a:r>
            <a:endParaRPr lang="en-US" sz="2000" dirty="0"/>
          </a:p>
        </p:txBody>
      </p:sp>
      <p:sp>
        <p:nvSpPr>
          <p:cNvPr id="6" name="Shape 4"/>
          <p:cNvSpPr/>
          <p:nvPr/>
        </p:nvSpPr>
        <p:spPr>
          <a:xfrm>
            <a:off x="6035040" y="0"/>
            <a:ext cx="5577840" cy="6858000"/>
          </a:xfrm>
          <a:prstGeom prst="roundRect">
            <a:avLst>
              <a:gd name="adj" fmla="val 1468"/>
            </a:avLst>
          </a:prstGeom>
          <a:solidFill>
            <a:srgbClr val="FFFFFF"/>
          </a:solidFill>
          <a:ln w="8890">
            <a:solidFill>
              <a:srgbClr val="4F6380"/>
            </a:solidFill>
            <a:prstDash val="solid"/>
          </a:ln>
        </p:spPr>
        <p:txBody>
          <a:bodyPr/>
          <a:lstStyle/>
          <a:p>
            <a:endParaRPr lang="en-GB"/>
          </a:p>
        </p:txBody>
      </p:sp>
      <p:sp>
        <p:nvSpPr>
          <p:cNvPr id="8" name="Text 5"/>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9" name="Text 6"/>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57</a:t>
            </a:r>
            <a:endParaRPr lang="en-US" sz="700" dirty="0"/>
          </a:p>
        </p:txBody>
      </p:sp>
      <p:pic>
        <p:nvPicPr>
          <p:cNvPr id="11" name="object 6">
            <a:extLst>
              <a:ext uri="{FF2B5EF4-FFF2-40B4-BE49-F238E27FC236}">
                <a16:creationId xmlns:a16="http://schemas.microsoft.com/office/drawing/2014/main" id="{C0B9ABA2-F1CF-342B-ABAA-0DB93B837306}"/>
              </a:ext>
            </a:extLst>
          </p:cNvPr>
          <p:cNvPicPr/>
          <p:nvPr/>
        </p:nvPicPr>
        <p:blipFill>
          <a:blip r:embed="rId3" cstate="print"/>
          <a:stretch>
            <a:fillRect/>
          </a:stretch>
        </p:blipFill>
        <p:spPr>
          <a:xfrm>
            <a:off x="6297649" y="164592"/>
            <a:ext cx="5052622" cy="627964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8">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Rhabdomyolysis: direct muscle destruction after trauma</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251861" y="1234440"/>
            <a:ext cx="6278078" cy="4892040"/>
          </a:xfrm>
          <a:prstGeom prst="rect">
            <a:avLst/>
          </a:prstGeom>
          <a:noFill/>
          <a:ln/>
        </p:spPr>
        <p:txBody>
          <a:bodyPr wrap="square" lIns="1016" tIns="1016" rIns="1016" bIns="1016" rtlCol="0" anchor="ctr">
            <a:normAutofit/>
          </a:bodyPr>
          <a:lstStyle/>
          <a:p>
            <a:pPr marL="177800" indent="-177800">
              <a:lnSpc>
                <a:spcPct val="150000"/>
              </a:lnSpc>
              <a:buSzPct val="100000"/>
              <a:buChar char="•"/>
            </a:pPr>
            <a:r>
              <a:rPr lang="en-US" dirty="0">
                <a:solidFill>
                  <a:srgbClr val="FFFFFF"/>
                </a:solidFill>
              </a:rPr>
              <a:t>Rhabdomyolysis is breakdown of skeletal muscle with release of intracellular contents into circulation.</a:t>
            </a:r>
          </a:p>
          <a:p>
            <a:pPr marL="177800" indent="-177800">
              <a:lnSpc>
                <a:spcPct val="150000"/>
              </a:lnSpc>
              <a:buSzPct val="100000"/>
              <a:buChar char="•"/>
            </a:pPr>
            <a:endParaRPr lang="en-US" dirty="0"/>
          </a:p>
          <a:p>
            <a:pPr marL="177800" indent="-177800">
              <a:lnSpc>
                <a:spcPct val="150000"/>
              </a:lnSpc>
              <a:buSzPct val="100000"/>
              <a:buChar char="•"/>
            </a:pPr>
            <a:r>
              <a:rPr lang="en-US" dirty="0">
                <a:solidFill>
                  <a:srgbClr val="FFFFFF"/>
                </a:solidFill>
              </a:rPr>
              <a:t>It can cause acute renal failure and may be life-threatening.</a:t>
            </a:r>
          </a:p>
          <a:p>
            <a:pPr marL="177800" indent="-177800">
              <a:lnSpc>
                <a:spcPct val="150000"/>
              </a:lnSpc>
              <a:buSzPct val="100000"/>
              <a:buChar char="•"/>
            </a:pPr>
            <a:endParaRPr lang="en-US" dirty="0"/>
          </a:p>
          <a:p>
            <a:pPr marL="177800" indent="-177800">
              <a:lnSpc>
                <a:spcPct val="150000"/>
              </a:lnSpc>
              <a:buSzPct val="100000"/>
              <a:buChar char="•"/>
            </a:pPr>
            <a:r>
              <a:rPr lang="en-US" dirty="0">
                <a:solidFill>
                  <a:srgbClr val="FFFFFF"/>
                </a:solidFill>
              </a:rPr>
              <a:t>Causes include crush syndrome, high-speed accidents, injected substances, extreme exercise and muscle pathology.</a:t>
            </a:r>
          </a:p>
          <a:p>
            <a:pPr marL="177800" indent="-177800">
              <a:lnSpc>
                <a:spcPct val="150000"/>
              </a:lnSpc>
              <a:buSzPct val="100000"/>
              <a:buChar char="•"/>
            </a:pPr>
            <a:endParaRPr lang="en-US" dirty="0"/>
          </a:p>
          <a:p>
            <a:pPr marL="177800" indent="-177800">
              <a:lnSpc>
                <a:spcPct val="150000"/>
              </a:lnSpc>
              <a:buSzPct val="100000"/>
              <a:buChar char="•"/>
            </a:pPr>
            <a:r>
              <a:rPr lang="en-US" dirty="0">
                <a:solidFill>
                  <a:srgbClr val="FFFFFF"/>
                </a:solidFill>
              </a:rPr>
              <a:t>Mechanism differs from gradual denervation atrophy.</a:t>
            </a:r>
            <a:endParaRPr lang="en-US" dirty="0"/>
          </a:p>
        </p:txBody>
      </p:sp>
      <p:pic>
        <p:nvPicPr>
          <p:cNvPr id="11" name="Picture 10">
            <a:extLst>
              <a:ext uri="{FF2B5EF4-FFF2-40B4-BE49-F238E27FC236}">
                <a16:creationId xmlns:a16="http://schemas.microsoft.com/office/drawing/2014/main" id="{163DCFFC-C167-4A48-D567-2EB54BFC1ACE}"/>
              </a:ext>
            </a:extLst>
          </p:cNvPr>
          <p:cNvPicPr>
            <a:picLocks noChangeAspect="1"/>
          </p:cNvPicPr>
          <p:nvPr/>
        </p:nvPicPr>
        <p:blipFill>
          <a:blip r:embed="rId3"/>
          <a:stretch>
            <a:fillRect/>
          </a:stretch>
        </p:blipFill>
        <p:spPr>
          <a:xfrm>
            <a:off x="6771831" y="1234440"/>
            <a:ext cx="5206809" cy="3246120"/>
          </a:xfrm>
          <a:prstGeom prst="rect">
            <a:avLst/>
          </a:prstGeom>
        </p:spPr>
      </p:pic>
      <p:pic>
        <p:nvPicPr>
          <p:cNvPr id="13" name="object 3">
            <a:extLst>
              <a:ext uri="{FF2B5EF4-FFF2-40B4-BE49-F238E27FC236}">
                <a16:creationId xmlns:a16="http://schemas.microsoft.com/office/drawing/2014/main" id="{007F3D9F-3863-7DE1-76AC-C08CF9B91CE1}"/>
              </a:ext>
            </a:extLst>
          </p:cNvPr>
          <p:cNvPicPr/>
          <p:nvPr/>
        </p:nvPicPr>
        <p:blipFill>
          <a:blip r:embed="rId4" cstate="print"/>
          <a:stretch>
            <a:fillRect/>
          </a:stretch>
        </p:blipFill>
        <p:spPr>
          <a:xfrm>
            <a:off x="8300053" y="4480560"/>
            <a:ext cx="2150364" cy="215188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9">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94360" y="2057400"/>
            <a:ext cx="10972800" cy="320040"/>
          </a:xfrm>
          <a:prstGeom prst="rect">
            <a:avLst/>
          </a:prstGeom>
          <a:noFill/>
          <a:ln/>
        </p:spPr>
        <p:txBody>
          <a:bodyPr wrap="square" rtlCol="0" anchor="ctr"/>
          <a:lstStyle/>
          <a:p>
            <a:pPr marL="0" indent="0" algn="ctr">
              <a:buNone/>
            </a:pPr>
            <a:r>
              <a:rPr lang="en-US" sz="1500" b="1" dirty="0">
                <a:solidFill>
                  <a:srgbClr val="D7E2F3"/>
                </a:solidFill>
              </a:rPr>
              <a:t>Now rebuild the whole lecture from first principles</a:t>
            </a:r>
            <a:endParaRPr lang="en-US" sz="1500" dirty="0"/>
          </a:p>
        </p:txBody>
      </p:sp>
      <p:sp>
        <p:nvSpPr>
          <p:cNvPr id="3" name="Text 1"/>
          <p:cNvSpPr/>
          <p:nvPr/>
        </p:nvSpPr>
        <p:spPr>
          <a:xfrm>
            <a:off x="594360" y="2606040"/>
            <a:ext cx="10972800" cy="731520"/>
          </a:xfrm>
          <a:prstGeom prst="rect">
            <a:avLst/>
          </a:prstGeom>
          <a:noFill/>
          <a:ln/>
        </p:spPr>
        <p:txBody>
          <a:bodyPr wrap="square" rtlCol="0" anchor="ctr">
            <a:normAutofit/>
          </a:bodyPr>
          <a:lstStyle/>
          <a:p>
            <a:pPr marL="0" indent="0" algn="ctr">
              <a:buNone/>
            </a:pPr>
            <a:r>
              <a:rPr lang="en-US" sz="3400" b="1" dirty="0">
                <a:solidFill>
                  <a:srgbClr val="F4E300"/>
                </a:solidFill>
              </a:rPr>
              <a:t>Part 9 — Integrated timeline and exam practice</a:t>
            </a:r>
            <a:endParaRPr lang="en-US" sz="3400" dirty="0"/>
          </a:p>
        </p:txBody>
      </p:sp>
      <p:sp>
        <p:nvSpPr>
          <p:cNvPr id="4" name="Shape 2"/>
          <p:cNvSpPr/>
          <p:nvPr/>
        </p:nvSpPr>
        <p:spPr>
          <a:xfrm>
            <a:off x="3108960" y="3703320"/>
            <a:ext cx="5943600" cy="0"/>
          </a:xfrm>
          <a:prstGeom prst="line">
            <a:avLst/>
          </a:prstGeom>
          <a:noFill/>
          <a:ln w="25400">
            <a:solidFill>
              <a:srgbClr val="7193BA"/>
            </a:solidFill>
            <a:prstDash val="solid"/>
          </a:ln>
        </p:spPr>
        <p:txBody>
          <a:bodyPr/>
          <a:lstStyle/>
          <a:p>
            <a:endParaRPr lang="en-GB"/>
          </a:p>
        </p:txBody>
      </p:sp>
      <p:sp>
        <p:nvSpPr>
          <p:cNvPr id="5" name="Text 3"/>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6" name="Text 4"/>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59</a:t>
            </a:r>
            <a:endParaRPr lang="en-US" sz="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60">
    <p:bg>
      <p:bgPr>
        <a:solidFill>
          <a:srgbClr val="0B1E3A"/>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64EF060-1362-71C3-E6D2-12641BA20EC0}"/>
              </a:ext>
            </a:extLst>
          </p:cNvPr>
          <p:cNvPicPr>
            <a:picLocks noChangeAspect="1"/>
          </p:cNvPicPr>
          <p:nvPr/>
        </p:nvPicPr>
        <p:blipFill>
          <a:blip r:embed="rId3"/>
          <a:stretch>
            <a:fillRect/>
          </a:stretch>
        </p:blipFill>
        <p:spPr>
          <a:xfrm>
            <a:off x="1524000" y="0"/>
            <a:ext cx="9144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61">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Check your understanding</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59" y="1234440"/>
            <a:ext cx="11928107" cy="4892040"/>
          </a:xfrm>
          <a:prstGeom prst="rect">
            <a:avLst/>
          </a:prstGeom>
          <a:noFill/>
          <a:ln/>
        </p:spPr>
        <p:txBody>
          <a:bodyPr wrap="square" lIns="1016" tIns="1016" rIns="1016" bIns="1016" rtlCol="0" anchor="ctr">
            <a:normAutofit/>
          </a:bodyPr>
          <a:lstStyle/>
          <a:p>
            <a:pPr marL="514350" indent="-514350">
              <a:lnSpc>
                <a:spcPct val="200000"/>
              </a:lnSpc>
              <a:buSzPct val="100000"/>
              <a:buFont typeface="+mj-lt"/>
              <a:buAutoNum type="arabicPeriod"/>
            </a:pPr>
            <a:r>
              <a:rPr lang="en-US" sz="2800" dirty="0">
                <a:solidFill>
                  <a:srgbClr val="FFFFFF"/>
                </a:solidFill>
              </a:rPr>
              <a:t>Why does neuropraxia usually recover better than axonotmesis?</a:t>
            </a:r>
            <a:endParaRPr lang="en-US" sz="2800" dirty="0"/>
          </a:p>
          <a:p>
            <a:pPr marL="514350" indent="-514350">
              <a:lnSpc>
                <a:spcPct val="200000"/>
              </a:lnSpc>
              <a:buSzPct val="100000"/>
              <a:buFont typeface="+mj-lt"/>
              <a:buAutoNum type="arabicPeriod"/>
            </a:pPr>
            <a:r>
              <a:rPr lang="en-US" sz="2800" dirty="0">
                <a:solidFill>
                  <a:srgbClr val="FFFFFF"/>
                </a:solidFill>
              </a:rPr>
              <a:t>Why does axonotmesis recover better than neurotmesis?</a:t>
            </a:r>
            <a:endParaRPr lang="en-US" sz="2800" dirty="0"/>
          </a:p>
          <a:p>
            <a:pPr marL="514350" indent="-514350">
              <a:lnSpc>
                <a:spcPct val="200000"/>
              </a:lnSpc>
              <a:buSzPct val="100000"/>
              <a:buFont typeface="+mj-lt"/>
              <a:buAutoNum type="arabicPeriod"/>
            </a:pPr>
            <a:r>
              <a:rPr lang="en-US" sz="2800" dirty="0">
                <a:solidFill>
                  <a:srgbClr val="FFFFFF"/>
                </a:solidFill>
              </a:rPr>
              <a:t>Which segment undergoes Wallerian degeneration?</a:t>
            </a:r>
            <a:endParaRPr lang="en-US" sz="2800" dirty="0"/>
          </a:p>
        </p:txBody>
      </p:sp>
      <p:sp>
        <p:nvSpPr>
          <p:cNvPr id="8" name="Text 5"/>
          <p:cNvSpPr/>
          <p:nvPr/>
        </p:nvSpPr>
        <p:spPr>
          <a:xfrm>
            <a:off x="411480" y="6510528"/>
            <a:ext cx="7589520" cy="182880"/>
          </a:xfrm>
          <a:prstGeom prst="rect">
            <a:avLst/>
          </a:prstGeom>
          <a:noFill/>
          <a:ln/>
        </p:spPr>
        <p:txBody>
          <a:bodyPr wrap="square" rtlCol="0" anchor="ctr"/>
          <a:lstStyle/>
          <a:p>
            <a:pPr marL="0" indent="0">
              <a:buNone/>
            </a:pPr>
            <a:r>
              <a:rPr lang="en-US" sz="700" dirty="0">
                <a:solidFill>
                  <a:srgbClr val="D8DEE9"/>
                </a:solidFill>
                <a:latin typeface="Arial" pitchFamily="34" charset="0"/>
                <a:ea typeface="Arial" pitchFamily="34" charset="-122"/>
                <a:cs typeface="Arial" pitchFamily="34" charset="-120"/>
              </a:rPr>
              <a:t>Nerve and Muscle: Degeneration and Re-innervation</a:t>
            </a:r>
            <a:endParaRPr lang="en-US" sz="700" dirty="0"/>
          </a:p>
        </p:txBody>
      </p:sp>
      <p:sp>
        <p:nvSpPr>
          <p:cNvPr id="9" name="Text 6"/>
          <p:cNvSpPr/>
          <p:nvPr/>
        </p:nvSpPr>
        <p:spPr>
          <a:xfrm>
            <a:off x="11658600" y="6510528"/>
            <a:ext cx="320040" cy="182880"/>
          </a:xfrm>
          <a:prstGeom prst="rect">
            <a:avLst/>
          </a:prstGeom>
          <a:noFill/>
          <a:ln/>
        </p:spPr>
        <p:txBody>
          <a:bodyPr wrap="square" rtlCol="0" anchor="ctr"/>
          <a:lstStyle/>
          <a:p>
            <a:pPr marL="0" indent="0" algn="r">
              <a:buNone/>
            </a:pPr>
            <a:r>
              <a:rPr lang="en-US" sz="700" dirty="0">
                <a:solidFill>
                  <a:srgbClr val="D8DEE9"/>
                </a:solidFill>
              </a:rPr>
              <a:t>61</a:t>
            </a:r>
            <a:endParaRPr lang="en-US" sz="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3">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Summary: seven take-home messages</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594360" y="1076586"/>
            <a:ext cx="11384280" cy="4892040"/>
          </a:xfrm>
          <a:prstGeom prst="rect">
            <a:avLst/>
          </a:prstGeom>
          <a:noFill/>
          <a:ln/>
        </p:spPr>
        <p:txBody>
          <a:bodyPr wrap="square" lIns="1016" tIns="1016" rIns="1016" bIns="1016" rtlCol="0" anchor="ctr">
            <a:normAutofit/>
          </a:bodyPr>
          <a:lstStyle/>
          <a:p>
            <a:pPr marL="342900" indent="-342900">
              <a:lnSpc>
                <a:spcPct val="150000"/>
              </a:lnSpc>
              <a:buSzPct val="100000"/>
              <a:buFont typeface="+mj-lt"/>
              <a:buAutoNum type="arabicPeriod"/>
            </a:pPr>
            <a:r>
              <a:rPr lang="en-US" sz="2400" dirty="0">
                <a:solidFill>
                  <a:srgbClr val="FFFFFF"/>
                </a:solidFill>
              </a:rPr>
              <a:t>A motor unit is one motor axon plus the muscle fibres it innervates.</a:t>
            </a:r>
            <a:endParaRPr lang="en-US" sz="2400" dirty="0"/>
          </a:p>
          <a:p>
            <a:pPr marL="342900" indent="-342900">
              <a:lnSpc>
                <a:spcPct val="150000"/>
              </a:lnSpc>
              <a:buSzPct val="100000"/>
              <a:buFont typeface="+mj-lt"/>
              <a:buAutoNum type="arabicPeriod"/>
            </a:pPr>
            <a:r>
              <a:rPr lang="en-US" sz="2400" dirty="0">
                <a:solidFill>
                  <a:srgbClr val="FFFFFF"/>
                </a:solidFill>
              </a:rPr>
              <a:t>Peripheral nerve injury outcome depends on structural preservation.</a:t>
            </a:r>
            <a:endParaRPr lang="en-US" sz="2400" dirty="0"/>
          </a:p>
          <a:p>
            <a:pPr marL="342900" indent="-342900">
              <a:lnSpc>
                <a:spcPct val="150000"/>
              </a:lnSpc>
              <a:buSzPct val="100000"/>
              <a:buFont typeface="+mj-lt"/>
              <a:buAutoNum type="arabicPeriod"/>
            </a:pPr>
            <a:r>
              <a:rPr lang="en-US" sz="2400" dirty="0">
                <a:solidFill>
                  <a:srgbClr val="FFFFFF"/>
                </a:solidFill>
              </a:rPr>
              <a:t>Seddon: neuropraxia, axonotmesis, neurotmesis.</a:t>
            </a:r>
            <a:endParaRPr lang="en-US" sz="2400" dirty="0"/>
          </a:p>
          <a:p>
            <a:pPr marL="342900" indent="-342900">
              <a:lnSpc>
                <a:spcPct val="150000"/>
              </a:lnSpc>
              <a:buSzPct val="100000"/>
              <a:buFont typeface="+mj-lt"/>
              <a:buAutoNum type="arabicPeriod"/>
            </a:pPr>
            <a:r>
              <a:rPr lang="en-US" sz="2400" dirty="0">
                <a:solidFill>
                  <a:srgbClr val="FFFFFF"/>
                </a:solidFill>
              </a:rPr>
              <a:t>Distal axon: Wallerian degeneration; proximal soma: chromatolysis.</a:t>
            </a:r>
            <a:endParaRPr lang="en-US" sz="2400" dirty="0"/>
          </a:p>
          <a:p>
            <a:pPr marL="342900" indent="-342900">
              <a:lnSpc>
                <a:spcPct val="150000"/>
              </a:lnSpc>
              <a:buSzPct val="100000"/>
              <a:buFont typeface="+mj-lt"/>
              <a:buAutoNum type="arabicPeriod"/>
            </a:pPr>
            <a:r>
              <a:rPr lang="en-US" sz="2400" dirty="0">
                <a:solidFill>
                  <a:srgbClr val="FFFFFF"/>
                </a:solidFill>
              </a:rPr>
              <a:t>Schwann cells, macrophages and preserved tubes support regrowth.</a:t>
            </a:r>
            <a:endParaRPr lang="en-US" sz="2400" dirty="0"/>
          </a:p>
          <a:p>
            <a:pPr marL="342900" indent="-342900">
              <a:lnSpc>
                <a:spcPct val="150000"/>
              </a:lnSpc>
              <a:buSzPct val="100000"/>
              <a:buFont typeface="+mj-lt"/>
              <a:buAutoNum type="arabicPeriod"/>
            </a:pPr>
            <a:r>
              <a:rPr lang="en-US" sz="2400" dirty="0">
                <a:solidFill>
                  <a:srgbClr val="FFFFFF"/>
                </a:solidFill>
              </a:rPr>
              <a:t>Denervated skeletal muscle becomes paralysed, loses tone, may fasciculate, wastes and can become fibrotic.</a:t>
            </a:r>
            <a:endParaRPr lang="en-US" sz="2400" dirty="0"/>
          </a:p>
          <a:p>
            <a:pPr marL="342900" indent="-342900">
              <a:lnSpc>
                <a:spcPct val="150000"/>
              </a:lnSpc>
              <a:buSzPct val="100000"/>
              <a:buFont typeface="+mj-lt"/>
              <a:buAutoNum type="arabicPeriod"/>
            </a:pPr>
            <a:r>
              <a:rPr lang="en-US" sz="2400" dirty="0">
                <a:solidFill>
                  <a:srgbClr val="FFFFFF"/>
                </a:solidFill>
              </a:rPr>
              <a:t>Re-innervation can restore function, but may be incomplete or inappropriate.</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09453-1F7C-6CCC-2259-7025E2EE17C6}"/>
            </a:ext>
          </a:extLst>
        </p:cNvPr>
        <p:cNvGrpSpPr/>
        <p:nvPr/>
      </p:nvGrpSpPr>
      <p:grpSpPr>
        <a:xfrm>
          <a:off x="0" y="0"/>
          <a:ext cx="0" cy="0"/>
          <a:chOff x="0" y="0"/>
          <a:chExt cx="0" cy="0"/>
        </a:xfrm>
      </p:grpSpPr>
      <p:pic>
        <p:nvPicPr>
          <p:cNvPr id="3" name="Picture Placeholder 2" descr="A bird flying in the sky&#10;&#10;Description automatically generated">
            <a:extLst>
              <a:ext uri="{FF2B5EF4-FFF2-40B4-BE49-F238E27FC236}">
                <a16:creationId xmlns:a16="http://schemas.microsoft.com/office/drawing/2014/main" id="{A4E3A927-9D76-6E7D-6EA8-6126E632FD03}"/>
              </a:ext>
            </a:extLst>
          </p:cNvPr>
          <p:cNvPicPr>
            <a:picLocks noGrp="1" noChangeAspect="1"/>
          </p:cNvPicPr>
          <p:nvPr>
            <p:ph type="pic" idx="11"/>
          </p:nvPr>
        </p:nvPicPr>
        <p:blipFill rotWithShape="1">
          <a:blip r:embed="rId3" cstate="screen">
            <a:extLst>
              <a:ext uri="{28A0092B-C50C-407E-A947-70E740481C1C}">
                <a14:useLocalDpi xmlns:a14="http://schemas.microsoft.com/office/drawing/2010/main"/>
              </a:ext>
            </a:extLst>
          </a:blip>
          <a:srcRect/>
          <a:stretch/>
        </p:blipFill>
        <p:spPr>
          <a:xfrm>
            <a:off x="7656738" y="0"/>
            <a:ext cx="4542379" cy="6858000"/>
          </a:xfrm>
        </p:spPr>
      </p:pic>
      <p:sp>
        <p:nvSpPr>
          <p:cNvPr id="2" name="Title">
            <a:extLst>
              <a:ext uri="{FF2B5EF4-FFF2-40B4-BE49-F238E27FC236}">
                <a16:creationId xmlns:a16="http://schemas.microsoft.com/office/drawing/2014/main" id="{916099D6-8BF6-D899-4B07-BEE367C217D6}"/>
              </a:ext>
            </a:extLst>
          </p:cNvPr>
          <p:cNvSpPr txBox="1">
            <a:spLocks/>
          </p:cNvSpPr>
          <p:nvPr/>
        </p:nvSpPr>
        <p:spPr>
          <a:xfrm>
            <a:off x="159451" y="218044"/>
            <a:ext cx="3160692" cy="844072"/>
          </a:xfrm>
          <a:prstGeom prst="rect">
            <a:avLst/>
          </a:prstGeom>
        </p:spPr>
        <p:txBody>
          <a:bodyPr vert="horz" lIns="91440" tIns="45720" rIns="91440" bIns="45720" rtlCol="0" anchor="b">
            <a:noAutofit/>
          </a:bodyPr>
          <a:lstStyle>
            <a:lvl1pPr algn="l" defTabSz="914400" rtl="0" eaLnBrk="1" latinLnBrk="0" hangingPunct="1">
              <a:lnSpc>
                <a:spcPts val="54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0" marR="0" lvl="0" indent="0" algn="ctr" defTabSz="914400" rtl="0" eaLnBrk="1" fontAlgn="auto" latinLnBrk="0" hangingPunct="1">
              <a:lnSpc>
                <a:spcPts val="5400"/>
              </a:lnSpc>
              <a:spcBef>
                <a:spcPct val="0"/>
              </a:spcBef>
              <a:spcAft>
                <a:spcPts val="0"/>
              </a:spcAft>
              <a:buClrTx/>
              <a:buSzTx/>
              <a:buFontTx/>
              <a:buNone/>
              <a:tabLst>
                <a:tab pos="1555750" algn="l"/>
              </a:tabLst>
              <a:defRPr/>
            </a:pPr>
            <a:r>
              <a:rPr kumimoji="0" lang="en-US" sz="5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Questions</a:t>
            </a:r>
          </a:p>
        </p:txBody>
      </p:sp>
      <p:sp>
        <p:nvSpPr>
          <p:cNvPr id="5" name="Title 1">
            <a:extLst>
              <a:ext uri="{FF2B5EF4-FFF2-40B4-BE49-F238E27FC236}">
                <a16:creationId xmlns:a16="http://schemas.microsoft.com/office/drawing/2014/main" id="{99C372E2-E1F0-63F8-14A3-44DED5921E64}"/>
              </a:ext>
            </a:extLst>
          </p:cNvPr>
          <p:cNvSpPr txBox="1">
            <a:spLocks/>
          </p:cNvSpPr>
          <p:nvPr/>
        </p:nvSpPr>
        <p:spPr>
          <a:xfrm>
            <a:off x="-185057" y="2162187"/>
            <a:ext cx="7010400" cy="883709"/>
          </a:xfrm>
          <a:prstGeom prst="rect">
            <a:avLst/>
          </a:prstGeom>
        </p:spPr>
        <p:txBody>
          <a:bodyPr vert="horz" lIns="60960" tIns="30480" rIns="60960" bIns="30480" rtlCol="0" anchor="ctr">
            <a:noAutofit/>
          </a:bodyPr>
          <a:lstStyle>
            <a:lvl1pPr algn="l" defTabSz="1371600" rtl="0" eaLnBrk="1" latinLnBrk="0" hangingPunct="1">
              <a:lnSpc>
                <a:spcPct val="900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algn="ctr"/>
            <a:r>
              <a:rPr lang="en-GB" sz="4000" dirty="0">
                <a:latin typeface="Arial" panose="020B0604020202020204" pitchFamily="34" charset="0"/>
                <a:cs typeface="Arial" panose="020B0604020202020204" pitchFamily="34" charset="0"/>
              </a:rPr>
              <a:t>Thank you </a:t>
            </a:r>
          </a:p>
        </p:txBody>
      </p:sp>
      <p:sp>
        <p:nvSpPr>
          <p:cNvPr id="6" name="Content Placeholder 2">
            <a:extLst>
              <a:ext uri="{FF2B5EF4-FFF2-40B4-BE49-F238E27FC236}">
                <a16:creationId xmlns:a16="http://schemas.microsoft.com/office/drawing/2014/main" id="{C7E43087-93FE-A22C-F893-0825601686E4}"/>
              </a:ext>
            </a:extLst>
          </p:cNvPr>
          <p:cNvSpPr txBox="1">
            <a:spLocks/>
          </p:cNvSpPr>
          <p:nvPr/>
        </p:nvSpPr>
        <p:spPr>
          <a:xfrm>
            <a:off x="-185057" y="3648271"/>
            <a:ext cx="7010400" cy="1291994"/>
          </a:xfrm>
          <a:prstGeom prst="rect">
            <a:avLst/>
          </a:prstGeom>
        </p:spPr>
        <p:txBody>
          <a:bodyPr vert="horz" lIns="60960" tIns="30480" rIns="60960" bIns="30480" rtlCol="0">
            <a:normAutofit fontScale="92500" lnSpcReduction="10000"/>
          </a:bodyPr>
          <a:lstStyle>
            <a:lvl1pPr marL="0" indent="0" algn="l" defTabSz="1371600" rtl="0" eaLnBrk="1" latinLnBrk="0" hangingPunct="1">
              <a:lnSpc>
                <a:spcPct val="90000"/>
              </a:lnSpc>
              <a:spcBef>
                <a:spcPts val="1500"/>
              </a:spcBef>
              <a:buFont typeface="Arial" panose="020B0604020202020204" pitchFamily="34" charset="0"/>
              <a:buNone/>
              <a:defRPr sz="3600" kern="1200">
                <a:solidFill>
                  <a:schemeClr val="tx1"/>
                </a:solidFill>
                <a:latin typeface="Arial" panose="020B0604020202020204" pitchFamily="34" charset="0"/>
                <a:ea typeface="+mn-ea"/>
                <a:cs typeface="Arial" panose="020B0604020202020204" pitchFamily="34" charset="0"/>
              </a:defRPr>
            </a:lvl1pPr>
            <a:lvl2pPr marL="685800" indent="0" algn="l" defTabSz="1371600" rtl="0" eaLnBrk="1" latinLnBrk="0" hangingPunct="1">
              <a:lnSpc>
                <a:spcPct val="90000"/>
              </a:lnSpc>
              <a:spcBef>
                <a:spcPts val="750"/>
              </a:spcBef>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2pPr>
            <a:lvl3pPr marL="1371600" indent="0" algn="l" defTabSz="1371600" rtl="0" eaLnBrk="1" latinLnBrk="0" hangingPunct="1">
              <a:lnSpc>
                <a:spcPct val="90000"/>
              </a:lnSpc>
              <a:spcBef>
                <a:spcPts val="750"/>
              </a:spcBef>
              <a:buFont typeface="Arial" panose="020B0604020202020204" pitchFamily="34" charset="0"/>
              <a:buNone/>
              <a:defRPr sz="2700" kern="1200">
                <a:solidFill>
                  <a:schemeClr val="tx1"/>
                </a:solidFill>
                <a:latin typeface="Arial" panose="020B0604020202020204" pitchFamily="34" charset="0"/>
                <a:ea typeface="+mn-ea"/>
                <a:cs typeface="Arial" panose="020B0604020202020204" pitchFamily="34" charset="0"/>
              </a:defRPr>
            </a:lvl3pPr>
            <a:lvl4pPr marL="2057400" indent="0" algn="l" defTabSz="1371600" rtl="0" eaLnBrk="1" latinLnBrk="0" hangingPunct="1">
              <a:lnSpc>
                <a:spcPct val="90000"/>
              </a:lnSpc>
              <a:spcBef>
                <a:spcPts val="75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4pPr>
            <a:lvl5pPr marL="2743200" indent="0" algn="l" defTabSz="1371600" rtl="0" eaLnBrk="1" latinLnBrk="0" hangingPunct="1">
              <a:lnSpc>
                <a:spcPct val="90000"/>
              </a:lnSpc>
              <a:spcBef>
                <a:spcPts val="75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lgn="ctr"/>
            <a:r>
              <a:rPr lang="en-GB" sz="2400" dirty="0"/>
              <a:t>If you have any questions</a:t>
            </a:r>
          </a:p>
          <a:p>
            <a:pPr algn="ctr"/>
            <a:r>
              <a:rPr lang="en-GB" sz="2400" dirty="0"/>
              <a:t>Please email me Dr. Songyang Li</a:t>
            </a:r>
          </a:p>
          <a:p>
            <a:pPr algn="ctr"/>
            <a:r>
              <a:rPr lang="en-US" altLang="zh-CN" sz="2400" dirty="0">
                <a:hlinkClick r:id="rId4"/>
              </a:rPr>
              <a:t>s.li.15@bham.ac.uk</a:t>
            </a:r>
            <a:endParaRPr lang="en-US" altLang="zh-CN" sz="2400" dirty="0"/>
          </a:p>
          <a:p>
            <a:pPr algn="ctr"/>
            <a:endParaRPr lang="en-GB" sz="2400" dirty="0"/>
          </a:p>
          <a:p>
            <a:pPr algn="ctr"/>
            <a:endParaRPr lang="en-GB" sz="2400" dirty="0"/>
          </a:p>
          <a:p>
            <a:pPr algn="ctr"/>
            <a:endParaRPr lang="en-GB" sz="2400" dirty="0"/>
          </a:p>
          <a:p>
            <a:pPr algn="ctr"/>
            <a:endParaRPr lang="en-GB" sz="2400" dirty="0"/>
          </a:p>
          <a:p>
            <a:pPr algn="ctr"/>
            <a:endParaRPr lang="en-GB" sz="2400" dirty="0"/>
          </a:p>
          <a:p>
            <a:pPr algn="ctr"/>
            <a:endParaRPr lang="en-GB" sz="2400" dirty="0"/>
          </a:p>
        </p:txBody>
      </p:sp>
    </p:spTree>
    <p:extLst>
      <p:ext uri="{BB962C8B-B14F-4D97-AF65-F5344CB8AC3E}">
        <p14:creationId xmlns:p14="http://schemas.microsoft.com/office/powerpoint/2010/main" val="4089289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2">
    <p:bg>
      <p:bgPr>
        <a:solidFill>
          <a:srgbClr val="0B1E3A"/>
        </a:solidFill>
        <a:effectLst/>
      </p:bgPr>
    </p:bg>
    <p:spTree>
      <p:nvGrpSpPr>
        <p:cNvPr id="1" name=""/>
        <p:cNvGrpSpPr/>
        <p:nvPr/>
      </p:nvGrpSpPr>
      <p:grpSpPr>
        <a:xfrm>
          <a:off x="0" y="0"/>
          <a:ext cx="0" cy="0"/>
          <a:chOff x="0" y="0"/>
          <a:chExt cx="0" cy="0"/>
        </a:xfrm>
      </p:grpSpPr>
      <p:sp>
        <p:nvSpPr>
          <p:cNvPr id="2" name="Text 0"/>
          <p:cNvSpPr/>
          <p:nvPr/>
        </p:nvSpPr>
        <p:spPr>
          <a:xfrm>
            <a:off x="502920" y="274320"/>
            <a:ext cx="11064240" cy="411480"/>
          </a:xfrm>
          <a:prstGeom prst="rect">
            <a:avLst/>
          </a:prstGeom>
          <a:noFill/>
          <a:ln/>
        </p:spPr>
        <p:txBody>
          <a:bodyPr wrap="square" lIns="0" tIns="0" rIns="0" bIns="0" rtlCol="0" anchor="ctr">
            <a:normAutofit/>
          </a:bodyPr>
          <a:lstStyle/>
          <a:p>
            <a:pPr marL="0" indent="0">
              <a:buNone/>
            </a:pPr>
            <a:r>
              <a:rPr lang="en-US" sz="2500" b="1" dirty="0">
                <a:solidFill>
                  <a:srgbClr val="F4E300"/>
                </a:solidFill>
              </a:rPr>
              <a:t>Model answers: say it in exam language</a:t>
            </a:r>
            <a:endParaRPr lang="en-US" sz="2500" dirty="0"/>
          </a:p>
        </p:txBody>
      </p:sp>
      <p:sp>
        <p:nvSpPr>
          <p:cNvPr id="4" name="Shape 2"/>
          <p:cNvSpPr/>
          <p:nvPr/>
        </p:nvSpPr>
        <p:spPr>
          <a:xfrm>
            <a:off x="502920" y="1033272"/>
            <a:ext cx="11201400" cy="0"/>
          </a:xfrm>
          <a:prstGeom prst="line">
            <a:avLst/>
          </a:prstGeom>
          <a:noFill/>
          <a:ln w="12700">
            <a:solidFill>
              <a:srgbClr val="315A89"/>
            </a:solidFill>
            <a:prstDash val="solid"/>
          </a:ln>
        </p:spPr>
        <p:txBody>
          <a:bodyPr/>
          <a:lstStyle/>
          <a:p>
            <a:endParaRPr lang="en-GB"/>
          </a:p>
        </p:txBody>
      </p:sp>
      <p:sp>
        <p:nvSpPr>
          <p:cNvPr id="5" name="Text 3"/>
          <p:cNvSpPr/>
          <p:nvPr/>
        </p:nvSpPr>
        <p:spPr>
          <a:xfrm>
            <a:off x="411480" y="1234440"/>
            <a:ext cx="11523846" cy="4892040"/>
          </a:xfrm>
          <a:prstGeom prst="rect">
            <a:avLst/>
          </a:prstGeom>
          <a:noFill/>
          <a:ln/>
        </p:spPr>
        <p:txBody>
          <a:bodyPr wrap="square" lIns="1016" tIns="1016" rIns="1016" bIns="1016" rtlCol="0" anchor="ctr">
            <a:normAutofit fontScale="70000" lnSpcReduction="20000"/>
          </a:bodyPr>
          <a:lstStyle/>
          <a:p>
            <a:pPr>
              <a:buSzPct val="100000"/>
            </a:pPr>
            <a:r>
              <a:rPr lang="en-GB" sz="2800" b="1" dirty="0">
                <a:solidFill>
                  <a:srgbClr val="FFFFFF"/>
                </a:solidFill>
              </a:rPr>
              <a:t>1. Why does neuropraxia usually recover better than axonotmesis?</a:t>
            </a:r>
          </a:p>
          <a:p>
            <a:pPr>
              <a:buSzPct val="100000"/>
            </a:pPr>
            <a:br>
              <a:rPr lang="en-GB" sz="2800" dirty="0">
                <a:solidFill>
                  <a:srgbClr val="FFFFFF"/>
                </a:solidFill>
              </a:rPr>
            </a:br>
            <a:r>
              <a:rPr lang="en-GB" sz="2800" dirty="0">
                <a:solidFill>
                  <a:srgbClr val="FFFFFF"/>
                </a:solidFill>
              </a:rPr>
              <a:t>Neuropraxia usually recovers better because the axon remains structurally intact and the problem is mainly a temporary conduction block. There is no distal axonal degeneration, so recovery can occur once normal conduction is restored. In axonotmesis, the axon is disrupted and the distal segment undergoes Wallerian degeneration, so recovery depends on successful axonal regrowth.</a:t>
            </a:r>
          </a:p>
          <a:p>
            <a:pPr marL="514350" indent="-514350">
              <a:buSzPct val="100000"/>
              <a:buFont typeface="+mj-lt"/>
              <a:buAutoNum type="arabicPeriod"/>
            </a:pPr>
            <a:endParaRPr lang="en-GB" sz="2800" b="1" dirty="0">
              <a:solidFill>
                <a:srgbClr val="FFFFFF"/>
              </a:solidFill>
            </a:endParaRPr>
          </a:p>
          <a:p>
            <a:pPr>
              <a:buSzPct val="100000"/>
            </a:pPr>
            <a:r>
              <a:rPr lang="en-GB" sz="2800" b="1" dirty="0">
                <a:solidFill>
                  <a:srgbClr val="FFFFFF"/>
                </a:solidFill>
              </a:rPr>
              <a:t>2. Why does axonotmesis recover better than neurotmesis?</a:t>
            </a:r>
          </a:p>
          <a:p>
            <a:pPr>
              <a:buSzPct val="100000"/>
            </a:pPr>
            <a:br>
              <a:rPr lang="en-GB" sz="2800" dirty="0">
                <a:solidFill>
                  <a:srgbClr val="FFFFFF"/>
                </a:solidFill>
              </a:rPr>
            </a:br>
            <a:r>
              <a:rPr lang="en-GB" sz="2800" dirty="0">
                <a:solidFill>
                  <a:srgbClr val="FFFFFF"/>
                </a:solidFill>
              </a:rPr>
              <a:t>In axonotmesis, although the axon is damaged, the surrounding connective tissue and Schwann-cell pathways may remain intact. These structures can guide regenerating axonal sprouts back towards the original target. In neurotmesis, the nerve and its guiding structures are severely disrupted, so spontaneous regeneration is much less successful and surgical repair may be required.</a:t>
            </a:r>
          </a:p>
          <a:p>
            <a:pPr>
              <a:buSzPct val="100000"/>
            </a:pPr>
            <a:endParaRPr lang="en-GB" sz="2800" dirty="0">
              <a:solidFill>
                <a:srgbClr val="FFFFFF"/>
              </a:solidFill>
            </a:endParaRPr>
          </a:p>
          <a:p>
            <a:pPr>
              <a:buSzPct val="100000"/>
            </a:pPr>
            <a:r>
              <a:rPr lang="en-GB" sz="2800" b="1" dirty="0">
                <a:solidFill>
                  <a:srgbClr val="FFFFFF"/>
                </a:solidFill>
              </a:rPr>
              <a:t>3. Which segment undergoes Wallerian degeneration?</a:t>
            </a:r>
          </a:p>
          <a:p>
            <a:pPr>
              <a:buSzPct val="100000"/>
            </a:pPr>
            <a:br>
              <a:rPr lang="en-GB" sz="2800" dirty="0">
                <a:solidFill>
                  <a:srgbClr val="FFFFFF"/>
                </a:solidFill>
              </a:rPr>
            </a:br>
            <a:r>
              <a:rPr lang="en-GB" sz="2800" dirty="0">
                <a:solidFill>
                  <a:srgbClr val="FFFFFF"/>
                </a:solidFill>
              </a:rPr>
              <a:t>The distal segment, meaning the part of the axon distal to the site of injury, undergoes Wallerian degeneration. This occurs because the distal segment has been disconnected from the neuronal cell body and loses metabolic and trophic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536</TotalTime>
  <Words>2385</Words>
  <Application>Microsoft Office PowerPoint</Application>
  <PresentationFormat>Widescreen</PresentationFormat>
  <Paragraphs>369</Paragraphs>
  <Slides>48</Slides>
  <Notes>48</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 MT</vt:lpstr>
      <vt:lpstr>Arial</vt:lpstr>
      <vt:lpstr>Calibri</vt:lpstr>
      <vt:lpstr>Helvetica</vt:lpstr>
      <vt:lpstr>Office Theme</vt:lpstr>
      <vt:lpstr>Nerve and Muscle: Degeneration and Reinnervation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Birmingham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Nerve and Muscle: Degeneration and Re-innervation</dc:title>
  <dc:subject>Nerve and Muscle: Degeneration and Re-innervation</dc:subject>
  <dc:creator>University of Birmingham</dc:creator>
  <cp:lastModifiedBy>Songyang Li (Biomedical Sciences)</cp:lastModifiedBy>
  <cp:revision>5</cp:revision>
  <dcterms:created xsi:type="dcterms:W3CDTF">2026-08-12T08:28:55Z</dcterms:created>
  <dcterms:modified xsi:type="dcterms:W3CDTF">2026-10-11T09:27:18Z</dcterms:modified>
</cp:coreProperties>
</file>