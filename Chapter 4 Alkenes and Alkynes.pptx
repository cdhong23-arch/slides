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89" r:id="rId4"/>
    <p:sldId id="261" r:id="rId5"/>
    <p:sldId id="258" r:id="rId6"/>
    <p:sldId id="263" r:id="rId7"/>
    <p:sldId id="288" r:id="rId8"/>
    <p:sldId id="264" r:id="rId9"/>
    <p:sldId id="266" r:id="rId10"/>
    <p:sldId id="275" r:id="rId11"/>
    <p:sldId id="291" r:id="rId12"/>
    <p:sldId id="301" r:id="rId13"/>
    <p:sldId id="294" r:id="rId14"/>
    <p:sldId id="303" r:id="rId15"/>
    <p:sldId id="302" r:id="rId16"/>
    <p:sldId id="265" r:id="rId17"/>
    <p:sldId id="296" r:id="rId18"/>
    <p:sldId id="272" r:id="rId19"/>
    <p:sldId id="274" r:id="rId20"/>
    <p:sldId id="298" r:id="rId21"/>
    <p:sldId id="276" r:id="rId22"/>
    <p:sldId id="278" r:id="rId23"/>
    <p:sldId id="279" r:id="rId24"/>
    <p:sldId id="299" r:id="rId25"/>
    <p:sldId id="281" r:id="rId26"/>
    <p:sldId id="282" r:id="rId27"/>
    <p:sldId id="283" r:id="rId28"/>
    <p:sldId id="309" r:id="rId29"/>
    <p:sldId id="292" r:id="rId30"/>
    <p:sldId id="311" r:id="rId31"/>
    <p:sldId id="262" r:id="rId32"/>
    <p:sldId id="312" r:id="rId33"/>
    <p:sldId id="313" r:id="rId34"/>
    <p:sldId id="314" r:id="rId35"/>
    <p:sldId id="315" r:id="rId36"/>
    <p:sldId id="293" r:id="rId37"/>
    <p:sldId id="270" r:id="rId38"/>
    <p:sldId id="277" r:id="rId39"/>
    <p:sldId id="319" r:id="rId40"/>
    <p:sldId id="320" r:id="rId41"/>
    <p:sldId id="280" r:id="rId42"/>
    <p:sldId id="300" r:id="rId43"/>
    <p:sldId id="284" r:id="rId44"/>
    <p:sldId id="285" r:id="rId45"/>
    <p:sldId id="321" r:id="rId46"/>
    <p:sldId id="322" r:id="rId47"/>
    <p:sldId id="290"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FF"/>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89" autoAdjust="0"/>
    <p:restoredTop sz="94660"/>
  </p:normalViewPr>
  <p:slideViewPr>
    <p:cSldViewPr>
      <p:cViewPr varScale="1">
        <p:scale>
          <a:sx n="127" d="100"/>
          <a:sy n="127" d="100"/>
        </p:scale>
        <p:origin x="1112" y="19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8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06B8EA-5E4E-4CFF-8369-F8CF80AB67D2}" type="datetimeFigureOut">
              <a:rPr lang="zh-CN" altLang="en-US" smtClean="0"/>
              <a:pPr/>
              <a:t>2026/9/27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7E519-D92C-48B4-BBC8-15CC9B44E56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001B12-9438-4C16-9E57-7B6FAFCD8139}" type="datetime1">
              <a:rPr lang="zh-CN" altLang="en-US" smtClean="0"/>
              <a:pPr/>
              <a:t>2026/9/27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6F9E6D6-7FC0-4F4D-89B4-5F0EEB2FD86A}" type="datetime1">
              <a:rPr lang="zh-CN" altLang="en-US" smtClean="0"/>
              <a:pPr/>
              <a:t>2026/9/27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ACB8668-A05E-45B7-BD9F-A809CA73142B}" type="datetime1">
              <a:rPr lang="zh-CN" altLang="en-US" smtClean="0"/>
              <a:pPr/>
              <a:t>2026/9/27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DCC7AAE-5C49-4CFA-8C83-9005E6BEF1EC}" type="datetime1">
              <a:rPr lang="zh-CN" altLang="en-US" smtClean="0"/>
              <a:pPr/>
              <a:t>2026/9/27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533BDBB-6B47-416D-A750-7D4AC8320101}" type="datetime1">
              <a:rPr lang="zh-CN" altLang="en-US" smtClean="0"/>
              <a:pPr/>
              <a:t>2026/9/27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E781F08-6AFE-4E65-BA3F-3D78A86B3453}" type="datetime1">
              <a:rPr lang="zh-CN" altLang="en-US" smtClean="0"/>
              <a:pPr/>
              <a:t>2026/9/27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76EFEFB-AF25-4F1B-8E66-73C7374CEEB0}" type="datetime1">
              <a:rPr lang="zh-CN" altLang="en-US" smtClean="0"/>
              <a:pPr/>
              <a:t>2026/9/27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1514125-03F3-4891-A740-BC604F561351}" type="datetime1">
              <a:rPr lang="zh-CN" altLang="en-US" smtClean="0"/>
              <a:pPr/>
              <a:t>2026/9/27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2CD24B9-15BD-4E9B-AD21-9BB14C678560}" type="datetime1">
              <a:rPr lang="zh-CN" altLang="en-US" smtClean="0"/>
              <a:pPr/>
              <a:t>2026/9/27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F35A9BA-B8A8-4A60-AB40-206BD894CC7B}" type="datetime1">
              <a:rPr lang="zh-CN" altLang="en-US" smtClean="0"/>
              <a:pPr/>
              <a:t>2026/9/27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2488DAE-E98C-4CD6-80CB-713766E078C9}" type="datetime1">
              <a:rPr lang="zh-CN" altLang="en-US" smtClean="0"/>
              <a:pPr/>
              <a:t>2026/9/27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DA082-3479-48B9-A518-681DB2313A1D}" type="datetime1">
              <a:rPr lang="zh-CN" altLang="en-US" smtClean="0"/>
              <a:pPr/>
              <a:t>2026/9/27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7.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12.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15.emf"/><Relationship Id="rId4"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5.bin"/><Relationship Id="rId1" Type="http://schemas.openxmlformats.org/officeDocument/2006/relationships/slideLayout" Target="../slideLayouts/slideLayout7.xml"/><Relationship Id="rId5" Type="http://schemas.openxmlformats.org/officeDocument/2006/relationships/image" Target="../media/image18.emf"/><Relationship Id="rId4" Type="http://schemas.openxmlformats.org/officeDocument/2006/relationships/oleObject" Target="../embeddings/oleObject16.bin"/></Relationships>
</file>

<file path=ppt/slides/_rels/slide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20.emf"/><Relationship Id="rId4"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21.emf"/><Relationship Id="rId7" Type="http://schemas.openxmlformats.org/officeDocument/2006/relationships/oleObject" Target="../embeddings/oleObject21.bin"/><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2.bin"/><Relationship Id="rId1" Type="http://schemas.openxmlformats.org/officeDocument/2006/relationships/slideLayout" Target="../slideLayouts/slideLayout7.xml"/><Relationship Id="rId5" Type="http://schemas.openxmlformats.org/officeDocument/2006/relationships/image" Target="../media/image26.emf"/><Relationship Id="rId4" Type="http://schemas.openxmlformats.org/officeDocument/2006/relationships/oleObject" Target="../embeddings/oleObject23.bin"/></Relationships>
</file>

<file path=ppt/slides/_rels/slide1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5" Type="http://schemas.openxmlformats.org/officeDocument/2006/relationships/image" Target="../media/image29.emf"/><Relationship Id="rId4" Type="http://schemas.openxmlformats.org/officeDocument/2006/relationships/oleObject" Target="../embeddings/oleObject26.bin"/></Relationships>
</file>

<file path=ppt/slides/_rels/slide14.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33.emf"/><Relationship Id="rId2"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30.bin"/><Relationship Id="rId5" Type="http://schemas.openxmlformats.org/officeDocument/2006/relationships/image" Target="../media/image32.emf"/><Relationship Id="rId4"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36.emf"/><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33.bin"/><Relationship Id="rId5" Type="http://schemas.openxmlformats.org/officeDocument/2006/relationships/image" Target="../media/image35.emf"/><Relationship Id="rId4" Type="http://schemas.openxmlformats.org/officeDocument/2006/relationships/oleObject" Target="../embeddings/oleObject32.bin"/></Relationships>
</file>

<file path=ppt/slides/_rels/slide16.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39.emf"/><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5" Type="http://schemas.openxmlformats.org/officeDocument/2006/relationships/image" Target="../media/image38.emf"/><Relationship Id="rId4" Type="http://schemas.openxmlformats.org/officeDocument/2006/relationships/oleObject" Target="../embeddings/oleObject35.bin"/></Relationships>
</file>

<file path=ppt/slides/_rels/slide17.xml.rels><?xml version="1.0" encoding="UTF-8" standalone="yes"?>
<Relationships xmlns="http://schemas.openxmlformats.org/package/2006/relationships"><Relationship Id="rId3" Type="http://schemas.openxmlformats.org/officeDocument/2006/relationships/image" Target="../media/image40.emf"/><Relationship Id="rId7" Type="http://schemas.openxmlformats.org/officeDocument/2006/relationships/image" Target="../media/image42.emf"/><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5" Type="http://schemas.openxmlformats.org/officeDocument/2006/relationships/image" Target="../media/image41.emf"/><Relationship Id="rId4" Type="http://schemas.openxmlformats.org/officeDocument/2006/relationships/oleObject" Target="../embeddings/oleObject38.bin"/></Relationships>
</file>

<file path=ppt/slides/_rels/slide1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40.bin"/><Relationship Id="rId1" Type="http://schemas.openxmlformats.org/officeDocument/2006/relationships/slideLayout" Target="../slideLayouts/slideLayout7.xml"/><Relationship Id="rId5" Type="http://schemas.openxmlformats.org/officeDocument/2006/relationships/image" Target="../media/image44.emf"/><Relationship Id="rId4" Type="http://schemas.openxmlformats.org/officeDocument/2006/relationships/oleObject" Target="../embeddings/oleObject41.bin"/></Relationships>
</file>

<file path=ppt/slides/_rels/slide1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42.bin"/><Relationship Id="rId1" Type="http://schemas.openxmlformats.org/officeDocument/2006/relationships/slideLayout" Target="../slideLayouts/slideLayout7.xml"/><Relationship Id="rId5" Type="http://schemas.openxmlformats.org/officeDocument/2006/relationships/image" Target="../media/image46.emf"/><Relationship Id="rId4" Type="http://schemas.openxmlformats.org/officeDocument/2006/relationships/oleObject" Target="../embeddings/oleObject4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emf"/></Relationships>
</file>

<file path=ppt/slides/_rels/slide2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45.bin"/><Relationship Id="rId1" Type="http://schemas.openxmlformats.org/officeDocument/2006/relationships/slideLayout" Target="../slideLayouts/slideLayout7.xml"/><Relationship Id="rId5" Type="http://schemas.openxmlformats.org/officeDocument/2006/relationships/image" Target="../media/image50.emf"/><Relationship Id="rId4"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47.bin"/><Relationship Id="rId1" Type="http://schemas.openxmlformats.org/officeDocument/2006/relationships/slideLayout" Target="../slideLayouts/slideLayout7.xml"/><Relationship Id="rId5" Type="http://schemas.openxmlformats.org/officeDocument/2006/relationships/image" Target="../media/image52.emf"/><Relationship Id="rId4" Type="http://schemas.openxmlformats.org/officeDocument/2006/relationships/oleObject" Target="../embeddings/oleObject48.bin"/></Relationships>
</file>

<file path=ppt/slides/_rels/slide2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49.bin"/><Relationship Id="rId1" Type="http://schemas.openxmlformats.org/officeDocument/2006/relationships/slideLayout" Target="../slideLayouts/slideLayout7.xml"/><Relationship Id="rId5" Type="http://schemas.openxmlformats.org/officeDocument/2006/relationships/image" Target="../media/image54.emf"/><Relationship Id="rId4"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51.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6.emf"/><Relationship Id="rId7" Type="http://schemas.openxmlformats.org/officeDocument/2006/relationships/image" Target="../media/image58.emf"/><Relationship Id="rId2" Type="http://schemas.openxmlformats.org/officeDocument/2006/relationships/oleObject" Target="../embeddings/oleObject52.bin"/><Relationship Id="rId1" Type="http://schemas.openxmlformats.org/officeDocument/2006/relationships/slideLayout" Target="../slideLayouts/slideLayout7.xml"/><Relationship Id="rId6" Type="http://schemas.openxmlformats.org/officeDocument/2006/relationships/oleObject" Target="../embeddings/oleObject54.bin"/><Relationship Id="rId5" Type="http://schemas.openxmlformats.org/officeDocument/2006/relationships/image" Target="../media/image57.emf"/><Relationship Id="rId4" Type="http://schemas.openxmlformats.org/officeDocument/2006/relationships/oleObject" Target="../embeddings/oleObject53.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59.emf"/><Relationship Id="rId7" Type="http://schemas.openxmlformats.org/officeDocument/2006/relationships/image" Target="../media/image61.e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60.emf"/><Relationship Id="rId4" Type="http://schemas.openxmlformats.org/officeDocument/2006/relationships/oleObject" Target="../embeddings/oleObject56.bin"/><Relationship Id="rId9" Type="http://schemas.openxmlformats.org/officeDocument/2006/relationships/image" Target="../media/image62.emf"/></Relationships>
</file>

<file path=ppt/slides/_rels/slide2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59.bin"/><Relationship Id="rId1" Type="http://schemas.openxmlformats.org/officeDocument/2006/relationships/slideLayout" Target="../slideLayouts/slideLayout7.xml"/><Relationship Id="rId5" Type="http://schemas.openxmlformats.org/officeDocument/2006/relationships/image" Target="../media/image64.emf"/><Relationship Id="rId4" Type="http://schemas.openxmlformats.org/officeDocument/2006/relationships/oleObject" Target="../embeddings/oleObject60.bin"/></Relationships>
</file>

<file path=ppt/slides/_rels/slide28.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61.bin"/><Relationship Id="rId1" Type="http://schemas.openxmlformats.org/officeDocument/2006/relationships/slideLayout" Target="../slideLayouts/slideLayout7.xml"/><Relationship Id="rId5" Type="http://schemas.openxmlformats.org/officeDocument/2006/relationships/image" Target="../media/image66.emf"/><Relationship Id="rId4" Type="http://schemas.openxmlformats.org/officeDocument/2006/relationships/oleObject" Target="../embeddings/oleObject62.bin"/></Relationships>
</file>

<file path=ppt/slides/_rels/slide29.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63.bin"/><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66.bin"/><Relationship Id="rId5" Type="http://schemas.openxmlformats.org/officeDocument/2006/relationships/image" Target="../media/image69.emf"/><Relationship Id="rId4" Type="http://schemas.openxmlformats.org/officeDocument/2006/relationships/oleObject" Target="../embeddings/oleObject65.bin"/><Relationship Id="rId9" Type="http://schemas.openxmlformats.org/officeDocument/2006/relationships/image" Target="../media/image71.emf"/></Relationships>
</file>

<file path=ppt/slides/_rels/slide31.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oleObject" Target="../embeddings/oleObject68.bin"/><Relationship Id="rId1" Type="http://schemas.openxmlformats.org/officeDocument/2006/relationships/slideLayout" Target="../slideLayouts/slideLayout7.xml"/><Relationship Id="rId5" Type="http://schemas.openxmlformats.org/officeDocument/2006/relationships/image" Target="../media/image73.emf"/><Relationship Id="rId4" Type="http://schemas.openxmlformats.org/officeDocument/2006/relationships/oleObject" Target="../embeddings/oleObject69.bin"/></Relationships>
</file>

<file path=ppt/slides/_rels/slide32.xml.rels><?xml version="1.0" encoding="UTF-8" standalone="yes"?>
<Relationships xmlns="http://schemas.openxmlformats.org/package/2006/relationships"><Relationship Id="rId3" Type="http://schemas.openxmlformats.org/officeDocument/2006/relationships/image" Target="../media/image74.emf"/><Relationship Id="rId7" Type="http://schemas.openxmlformats.org/officeDocument/2006/relationships/image" Target="../media/image76.emf"/><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5" Type="http://schemas.openxmlformats.org/officeDocument/2006/relationships/image" Target="../media/image75.emf"/><Relationship Id="rId4" Type="http://schemas.openxmlformats.org/officeDocument/2006/relationships/oleObject" Target="../embeddings/oleObject71.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73.bin"/><Relationship Id="rId1" Type="http://schemas.openxmlformats.org/officeDocument/2006/relationships/slideLayout" Target="../slideLayouts/slideLayout7.xml"/><Relationship Id="rId5" Type="http://schemas.openxmlformats.org/officeDocument/2006/relationships/image" Target="../media/image78.emf"/><Relationship Id="rId4" Type="http://schemas.openxmlformats.org/officeDocument/2006/relationships/oleObject" Target="../embeddings/oleObject74.bin"/></Relationships>
</file>

<file path=ppt/slides/_rels/slide35.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oleObject" Target="../embeddings/oleObject75.bin"/><Relationship Id="rId1" Type="http://schemas.openxmlformats.org/officeDocument/2006/relationships/slideLayout" Target="../slideLayouts/slideLayout7.xml"/><Relationship Id="rId5" Type="http://schemas.openxmlformats.org/officeDocument/2006/relationships/image" Target="../media/image80.emf"/><Relationship Id="rId4" Type="http://schemas.openxmlformats.org/officeDocument/2006/relationships/oleObject" Target="../embeddings/oleObject76.bin"/></Relationships>
</file>

<file path=ppt/slides/_rels/slide36.xml.rels><?xml version="1.0" encoding="UTF-8" standalone="yes"?>
<Relationships xmlns="http://schemas.openxmlformats.org/package/2006/relationships"><Relationship Id="rId3" Type="http://schemas.openxmlformats.org/officeDocument/2006/relationships/image" Target="../media/image81.emf"/><Relationship Id="rId7" Type="http://schemas.openxmlformats.org/officeDocument/2006/relationships/image" Target="../media/image83.emf"/><Relationship Id="rId2" Type="http://schemas.openxmlformats.org/officeDocument/2006/relationships/oleObject" Target="../embeddings/oleObject77.bin"/><Relationship Id="rId1" Type="http://schemas.openxmlformats.org/officeDocument/2006/relationships/slideLayout" Target="../slideLayouts/slideLayout7.xml"/><Relationship Id="rId6" Type="http://schemas.openxmlformats.org/officeDocument/2006/relationships/oleObject" Target="../embeddings/oleObject79.bin"/><Relationship Id="rId5" Type="http://schemas.openxmlformats.org/officeDocument/2006/relationships/image" Target="../media/image82.emf"/><Relationship Id="rId4" Type="http://schemas.openxmlformats.org/officeDocument/2006/relationships/oleObject" Target="../embeddings/oleObject78.bin"/></Relationships>
</file>

<file path=ppt/slides/_rels/slide37.xml.rels><?xml version="1.0" encoding="UTF-8" standalone="yes"?>
<Relationships xmlns="http://schemas.openxmlformats.org/package/2006/relationships"><Relationship Id="rId3" Type="http://schemas.openxmlformats.org/officeDocument/2006/relationships/image" Target="../media/image84.emf"/><Relationship Id="rId7" Type="http://schemas.openxmlformats.org/officeDocument/2006/relationships/image" Target="../media/image86.emf"/><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82.bin"/><Relationship Id="rId5" Type="http://schemas.openxmlformats.org/officeDocument/2006/relationships/image" Target="../media/image85.emf"/><Relationship Id="rId4" Type="http://schemas.openxmlformats.org/officeDocument/2006/relationships/oleObject" Target="../embeddings/oleObject81.bin"/></Relationships>
</file>

<file path=ppt/slides/_rels/slide38.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83.bin"/><Relationship Id="rId1" Type="http://schemas.openxmlformats.org/officeDocument/2006/relationships/slideLayout" Target="../slideLayouts/slideLayout7.xml"/><Relationship Id="rId5" Type="http://schemas.openxmlformats.org/officeDocument/2006/relationships/image" Target="../media/image88.emf"/><Relationship Id="rId4" Type="http://schemas.openxmlformats.org/officeDocument/2006/relationships/oleObject" Target="../embeddings/oleObject84.bin"/></Relationships>
</file>

<file path=ppt/slides/_rels/slide39.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85.bin"/><Relationship Id="rId1" Type="http://schemas.openxmlformats.org/officeDocument/2006/relationships/slideLayout" Target="../slideLayouts/slideLayout7.xml"/><Relationship Id="rId5" Type="http://schemas.openxmlformats.org/officeDocument/2006/relationships/image" Target="../media/image90.emf"/><Relationship Id="rId4" Type="http://schemas.openxmlformats.org/officeDocument/2006/relationships/oleObject" Target="../embeddings/oleObject86.bin"/></Relationships>
</file>

<file path=ppt/slides/_rels/slide40.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oleObject" Target="../embeddings/oleObject87.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2.emf"/><Relationship Id="rId7" Type="http://schemas.openxmlformats.org/officeDocument/2006/relationships/image" Target="../media/image94.emf"/><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5" Type="http://schemas.openxmlformats.org/officeDocument/2006/relationships/image" Target="../media/image93.emf"/><Relationship Id="rId4" Type="http://schemas.openxmlformats.org/officeDocument/2006/relationships/oleObject" Target="../embeddings/oleObject89.bin"/></Relationships>
</file>

<file path=ppt/slides/_rels/slide42.xml.rels><?xml version="1.0" encoding="UTF-8" standalone="yes"?>
<Relationships xmlns="http://schemas.openxmlformats.org/package/2006/relationships"><Relationship Id="rId3" Type="http://schemas.openxmlformats.org/officeDocument/2006/relationships/image" Target="../media/image95.emf"/><Relationship Id="rId7" Type="http://schemas.openxmlformats.org/officeDocument/2006/relationships/image" Target="../media/image97.emf"/><Relationship Id="rId2" Type="http://schemas.openxmlformats.org/officeDocument/2006/relationships/oleObject" Target="../embeddings/oleObject91.bin"/><Relationship Id="rId1" Type="http://schemas.openxmlformats.org/officeDocument/2006/relationships/slideLayout" Target="../slideLayouts/slideLayout7.xml"/><Relationship Id="rId6" Type="http://schemas.openxmlformats.org/officeDocument/2006/relationships/oleObject" Target="../embeddings/oleObject93.bin"/><Relationship Id="rId5" Type="http://schemas.openxmlformats.org/officeDocument/2006/relationships/image" Target="../media/image96.emf"/><Relationship Id="rId4" Type="http://schemas.openxmlformats.org/officeDocument/2006/relationships/oleObject" Target="../embeddings/oleObject92.bin"/></Relationships>
</file>

<file path=ppt/slides/_rels/slide43.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oleObject" Target="../embeddings/oleObject94.bin"/><Relationship Id="rId1" Type="http://schemas.openxmlformats.org/officeDocument/2006/relationships/slideLayout" Target="../slideLayouts/slideLayout7.xml"/><Relationship Id="rId5" Type="http://schemas.openxmlformats.org/officeDocument/2006/relationships/image" Target="../media/image99.emf"/><Relationship Id="rId4" Type="http://schemas.openxmlformats.org/officeDocument/2006/relationships/oleObject" Target="../embeddings/oleObject95.bin"/></Relationships>
</file>

<file path=ppt/slides/_rels/slide44.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oleObject" Target="../embeddings/oleObject96.bin"/><Relationship Id="rId1" Type="http://schemas.openxmlformats.org/officeDocument/2006/relationships/slideLayout" Target="../slideLayouts/slideLayout7.xml"/><Relationship Id="rId5" Type="http://schemas.openxmlformats.org/officeDocument/2006/relationships/image" Target="../media/image101.emf"/><Relationship Id="rId4" Type="http://schemas.openxmlformats.org/officeDocument/2006/relationships/oleObject" Target="../embeddings/oleObject97.bin"/></Relationships>
</file>

<file path=ppt/slides/_rels/slide45.xml.rels><?xml version="1.0" encoding="UTF-8" standalone="yes"?>
<Relationships xmlns="http://schemas.openxmlformats.org/package/2006/relationships"><Relationship Id="rId3" Type="http://schemas.openxmlformats.org/officeDocument/2006/relationships/image" Target="../media/image102.emf"/><Relationship Id="rId7" Type="http://schemas.openxmlformats.org/officeDocument/2006/relationships/image" Target="../media/image104.emf"/><Relationship Id="rId2" Type="http://schemas.openxmlformats.org/officeDocument/2006/relationships/oleObject" Target="../embeddings/oleObject98.bin"/><Relationship Id="rId1" Type="http://schemas.openxmlformats.org/officeDocument/2006/relationships/slideLayout" Target="../slideLayouts/slideLayout7.xml"/><Relationship Id="rId6" Type="http://schemas.openxmlformats.org/officeDocument/2006/relationships/oleObject" Target="../embeddings/oleObject100.bin"/><Relationship Id="rId5" Type="http://schemas.openxmlformats.org/officeDocument/2006/relationships/image" Target="../media/image103.emf"/><Relationship Id="rId4" Type="http://schemas.openxmlformats.org/officeDocument/2006/relationships/oleObject" Target="../embeddings/oleObject99.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image" Target="../media/image105.jpeg"/><Relationship Id="rId1" Type="http://schemas.openxmlformats.org/officeDocument/2006/relationships/slideLayout" Target="../slideLayouts/slideLayout7.xml"/><Relationship Id="rId6" Type="http://schemas.openxmlformats.org/officeDocument/2006/relationships/image" Target="../media/image107.emf"/><Relationship Id="rId5" Type="http://schemas.openxmlformats.org/officeDocument/2006/relationships/oleObject" Target="../embeddings/oleObject102.bin"/><Relationship Id="rId4" Type="http://schemas.openxmlformats.org/officeDocument/2006/relationships/image" Target="../media/image106.emf"/></Relationships>
</file>

<file path=ppt/slides/_rels/slide47.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image" Target="../media/image109.emf"/><Relationship Id="rId5" Type="http://schemas.openxmlformats.org/officeDocument/2006/relationships/oleObject" Target="../embeddings/oleObject104.bin"/><Relationship Id="rId4"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a:p>
        </p:txBody>
      </p:sp>
      <p:sp>
        <p:nvSpPr>
          <p:cNvPr id="5" name="TextBox 4"/>
          <p:cNvSpPr txBox="1"/>
          <p:nvPr/>
        </p:nvSpPr>
        <p:spPr>
          <a:xfrm>
            <a:off x="1" y="355636"/>
            <a:ext cx="12192000" cy="523220"/>
          </a:xfrm>
          <a:prstGeom prst="rect">
            <a:avLst/>
          </a:prstGeom>
          <a:solidFill>
            <a:schemeClr val="tx2">
              <a:lumMod val="20000"/>
              <a:lumOff val="80000"/>
            </a:schemeClr>
          </a:solidFill>
        </p:spPr>
        <p:txBody>
          <a:bodyPr wrap="square" rtlCol="0">
            <a:spAutoFit/>
          </a:bodyPr>
          <a:lstStyle/>
          <a:p>
            <a:pPr algn="ctr"/>
            <a:r>
              <a:rPr lang="en-US" altLang="zh-CN" sz="2800" b="1" dirty="0">
                <a:latin typeface="Microsoft Sans Serif" pitchFamily="34" charset="0"/>
                <a:cs typeface="Microsoft Sans Serif" pitchFamily="34" charset="0"/>
              </a:rPr>
              <a:t>Chapter 4  Alkenes and Alkynes</a:t>
            </a:r>
            <a:endParaRPr lang="zh-CN" altLang="en-US" sz="2800" b="1" dirty="0">
              <a:latin typeface="Microsoft Sans Serif" pitchFamily="34" charset="0"/>
              <a:cs typeface="Microsoft Sans Serif" pitchFamily="34" charset="0"/>
            </a:endParaRPr>
          </a:p>
        </p:txBody>
      </p:sp>
      <p:sp>
        <p:nvSpPr>
          <p:cNvPr id="6" name="TextBox 5"/>
          <p:cNvSpPr txBox="1"/>
          <p:nvPr/>
        </p:nvSpPr>
        <p:spPr>
          <a:xfrm>
            <a:off x="335361" y="1573291"/>
            <a:ext cx="11521280" cy="163121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Alkenes are hydrocarbons  with </a:t>
            </a:r>
            <a:r>
              <a:rPr lang="en-US" altLang="zh-CN" sz="2000" b="1" dirty="0">
                <a:highlight>
                  <a:srgbClr val="FFFF00"/>
                </a:highlight>
                <a:latin typeface="Microsoft Sans Serif" pitchFamily="34" charset="0"/>
                <a:cs typeface="Microsoft Sans Serif" pitchFamily="34" charset="0"/>
              </a:rPr>
              <a:t>carbon-carbon double bonds</a:t>
            </a:r>
            <a:r>
              <a:rPr lang="en-US" altLang="zh-CN" sz="2000" b="1" dirty="0">
                <a:latin typeface="Microsoft Sans Serif" pitchFamily="34" charset="0"/>
                <a:cs typeface="Microsoft Sans Serif" pitchFamily="34" charset="0"/>
              </a:rPr>
              <a:t>. The </a:t>
            </a:r>
            <a:r>
              <a:rPr lang="en-US" altLang="zh-CN" sz="2000" b="1" dirty="0">
                <a:highlight>
                  <a:srgbClr val="FFFF00"/>
                </a:highlight>
                <a:latin typeface="Microsoft Sans Serif" pitchFamily="34" charset="0"/>
                <a:cs typeface="Microsoft Sans Serif" pitchFamily="34" charset="0"/>
              </a:rPr>
              <a:t>C=C bond </a:t>
            </a:r>
            <a:r>
              <a:rPr lang="en-US" altLang="zh-CN" sz="2000" b="1" dirty="0">
                <a:latin typeface="Microsoft Sans Serif" pitchFamily="34" charset="0"/>
                <a:cs typeface="Microsoft Sans Serif" pitchFamily="34" charset="0"/>
              </a:rPr>
              <a:t>is the </a:t>
            </a:r>
            <a:r>
              <a:rPr lang="en-US" altLang="zh-CN" sz="2000" b="1" dirty="0">
                <a:highlight>
                  <a:srgbClr val="00FF00"/>
                </a:highlight>
                <a:latin typeface="Microsoft Sans Serif" pitchFamily="34" charset="0"/>
                <a:cs typeface="Microsoft Sans Serif" pitchFamily="34" charset="0"/>
              </a:rPr>
              <a:t>functional group of an alkene</a:t>
            </a:r>
            <a:r>
              <a:rPr lang="en-US" altLang="zh-CN" sz="2000" b="1" dirty="0">
                <a:latin typeface="Microsoft Sans Serif" pitchFamily="34" charset="0"/>
                <a:cs typeface="Microsoft Sans Serif" pitchFamily="34" charset="0"/>
              </a:rPr>
              <a:t>.</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Alkenes are sometimes called olefins.</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Alkenes are among the most important industrial compounds, and many alkenes are also found in plants and animals.</a:t>
            </a:r>
            <a:endParaRPr lang="zh-CN" altLang="en-US" sz="2000" b="1" dirty="0">
              <a:latin typeface="Microsoft Sans Serif" pitchFamily="34" charset="0"/>
              <a:cs typeface="Microsoft Sans Serif" pitchFamily="34" charset="0"/>
            </a:endParaRPr>
          </a:p>
        </p:txBody>
      </p:sp>
      <p:sp>
        <p:nvSpPr>
          <p:cNvPr id="7" name="矩形 6"/>
          <p:cNvSpPr/>
          <p:nvPr/>
        </p:nvSpPr>
        <p:spPr>
          <a:xfrm>
            <a:off x="0" y="995241"/>
            <a:ext cx="2495600" cy="461665"/>
          </a:xfrm>
          <a:prstGeom prst="rect">
            <a:avLst/>
          </a:prstGeom>
          <a:solidFill>
            <a:schemeClr val="tx2">
              <a:lumMod val="20000"/>
              <a:lumOff val="80000"/>
            </a:schemeClr>
          </a:solidFill>
        </p:spPr>
        <p:txBody>
          <a:bodyPr wrap="squar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a:t>
            </a:r>
            <a:r>
              <a:rPr lang="en-US" altLang="zh-CN" sz="24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Introduction</a:t>
            </a:r>
          </a:p>
        </p:txBody>
      </p:sp>
      <p:graphicFrame>
        <p:nvGraphicFramePr>
          <p:cNvPr id="2" name="对象 1">
            <a:extLst>
              <a:ext uri="{FF2B5EF4-FFF2-40B4-BE49-F238E27FC236}">
                <a16:creationId xmlns:a16="http://schemas.microsoft.com/office/drawing/2014/main" id="{6C9BBECA-B97A-46D4-818A-0AE30ADACB88}"/>
              </a:ext>
            </a:extLst>
          </p:cNvPr>
          <p:cNvGraphicFramePr>
            <a:graphicFrameLocks noChangeAspect="1"/>
          </p:cNvGraphicFramePr>
          <p:nvPr>
            <p:extLst>
              <p:ext uri="{D42A27DB-BD31-4B8C-83A1-F6EECF244321}">
                <p14:modId xmlns:p14="http://schemas.microsoft.com/office/powerpoint/2010/main" val="343529463"/>
              </p:ext>
            </p:extLst>
          </p:nvPr>
        </p:nvGraphicFramePr>
        <p:xfrm>
          <a:off x="757249" y="3176876"/>
          <a:ext cx="10677502" cy="3276460"/>
        </p:xfrm>
        <a:graphic>
          <a:graphicData uri="http://schemas.openxmlformats.org/presentationml/2006/ole">
            <mc:AlternateContent xmlns:mc="http://schemas.openxmlformats.org/markup-compatibility/2006">
              <mc:Choice xmlns:v="urn:schemas-microsoft-com:vml" Requires="v">
                <p:oleObj name="CS ChemDraw Drawing" r:id="rId2" imgW="6135456" imgH="1882184" progId="ChemDraw.Document.6.0">
                  <p:embed/>
                </p:oleObj>
              </mc:Choice>
              <mc:Fallback>
                <p:oleObj name="CS ChemDraw Drawing" r:id="rId2" imgW="6135456" imgH="1882184" progId="ChemDraw.Document.6.0">
                  <p:embed/>
                  <p:pic>
                    <p:nvPicPr>
                      <p:cNvPr id="0" name=""/>
                      <p:cNvPicPr/>
                      <p:nvPr/>
                    </p:nvPicPr>
                    <p:blipFill>
                      <a:blip r:embed="rId3"/>
                      <a:stretch>
                        <a:fillRect/>
                      </a:stretch>
                    </p:blipFill>
                    <p:spPr>
                      <a:xfrm>
                        <a:off x="757249" y="3176876"/>
                        <a:ext cx="10677502" cy="3276460"/>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6" name="矩形 5"/>
          <p:cNvSpPr/>
          <p:nvPr/>
        </p:nvSpPr>
        <p:spPr>
          <a:xfrm>
            <a:off x="0" y="188640"/>
            <a:ext cx="5735960" cy="461665"/>
          </a:xfrm>
          <a:prstGeom prst="rect">
            <a:avLst/>
          </a:prstGeom>
          <a:solidFill>
            <a:schemeClr val="tx2">
              <a:lumMod val="20000"/>
              <a:lumOff val="80000"/>
            </a:schemeClr>
          </a:solidFill>
        </p:spPr>
        <p:txBody>
          <a:bodyPr wrap="square">
            <a:spAutoFit/>
          </a:bodyPr>
          <a:lstStyle/>
          <a:p>
            <a:r>
              <a:rPr lang="en-US" altLang="zh-CN" sz="2400" b="1" dirty="0">
                <a:latin typeface="Microsoft Sans Serif" pitchFamily="34" charset="0"/>
                <a:cs typeface="Microsoft Sans Serif" pitchFamily="34" charset="0"/>
              </a:rPr>
              <a:t>4-2 Structure of the Alkene Double Bond</a:t>
            </a:r>
          </a:p>
        </p:txBody>
      </p:sp>
      <p:pic>
        <p:nvPicPr>
          <p:cNvPr id="3" name="图片 2"/>
          <p:cNvPicPr>
            <a:picLocks noChangeAspect="1"/>
          </p:cNvPicPr>
          <p:nvPr/>
        </p:nvPicPr>
        <p:blipFill>
          <a:blip r:embed="rId2"/>
          <a:stretch>
            <a:fillRect/>
          </a:stretch>
        </p:blipFill>
        <p:spPr>
          <a:xfrm>
            <a:off x="1113246" y="874078"/>
            <a:ext cx="1840880" cy="1715285"/>
          </a:xfrm>
          <a:prstGeom prst="rect">
            <a:avLst/>
          </a:prstGeom>
          <a:effectLst>
            <a:softEdge rad="127000"/>
          </a:effectLst>
        </p:spPr>
      </p:pic>
      <p:graphicFrame>
        <p:nvGraphicFramePr>
          <p:cNvPr id="5" name="对象 4"/>
          <p:cNvGraphicFramePr>
            <a:graphicFrameLocks noChangeAspect="1"/>
          </p:cNvGraphicFramePr>
          <p:nvPr>
            <p:extLst>
              <p:ext uri="{D42A27DB-BD31-4B8C-83A1-F6EECF244321}">
                <p14:modId xmlns:p14="http://schemas.microsoft.com/office/powerpoint/2010/main" val="245654587"/>
              </p:ext>
            </p:extLst>
          </p:nvPr>
        </p:nvGraphicFramePr>
        <p:xfrm>
          <a:off x="3654328" y="966554"/>
          <a:ext cx="4324231" cy="1454466"/>
        </p:xfrm>
        <a:graphic>
          <a:graphicData uri="http://schemas.openxmlformats.org/presentationml/2006/ole">
            <mc:AlternateContent xmlns:mc="http://schemas.openxmlformats.org/markup-compatibility/2006">
              <mc:Choice xmlns:v="urn:schemas-microsoft-com:vml" Requires="v">
                <p:oleObj name="CS ChemDraw Drawing" r:id="rId3" imgW="2628974" imgH="884008" progId="ChemDraw.Document.6.0">
                  <p:embed/>
                </p:oleObj>
              </mc:Choice>
              <mc:Fallback>
                <p:oleObj name="CS ChemDraw Drawing" r:id="rId3" imgW="2628974" imgH="884008" progId="ChemDraw.Document.6.0">
                  <p:embed/>
                  <p:pic>
                    <p:nvPicPr>
                      <p:cNvPr id="0" name=""/>
                      <p:cNvPicPr/>
                      <p:nvPr/>
                    </p:nvPicPr>
                    <p:blipFill>
                      <a:blip r:embed="rId4"/>
                      <a:stretch>
                        <a:fillRect/>
                      </a:stretch>
                    </p:blipFill>
                    <p:spPr>
                      <a:xfrm>
                        <a:off x="3654328" y="966554"/>
                        <a:ext cx="4324231" cy="1454466"/>
                      </a:xfrm>
                      <a:prstGeom prst="rect">
                        <a:avLst/>
                      </a:prstGeom>
                    </p:spPr>
                  </p:pic>
                </p:oleObj>
              </mc:Fallback>
            </mc:AlternateContent>
          </a:graphicData>
        </a:graphic>
      </p:graphicFrame>
      <p:pic>
        <p:nvPicPr>
          <p:cNvPr id="9" name="图片 8"/>
          <p:cNvPicPr>
            <a:picLocks noChangeAspect="1"/>
          </p:cNvPicPr>
          <p:nvPr/>
        </p:nvPicPr>
        <p:blipFill>
          <a:blip r:embed="rId5"/>
          <a:stretch>
            <a:fillRect/>
          </a:stretch>
        </p:blipFill>
        <p:spPr>
          <a:xfrm>
            <a:off x="8616279" y="900146"/>
            <a:ext cx="2309623" cy="1664758"/>
          </a:xfrm>
          <a:prstGeom prst="rect">
            <a:avLst/>
          </a:prstGeom>
          <a:effectLst>
            <a:softEdge rad="127000"/>
          </a:effectLst>
        </p:spPr>
      </p:pic>
      <p:sp>
        <p:nvSpPr>
          <p:cNvPr id="8" name="文本框 7">
            <a:extLst>
              <a:ext uri="{FF2B5EF4-FFF2-40B4-BE49-F238E27FC236}">
                <a16:creationId xmlns:a16="http://schemas.microsoft.com/office/drawing/2014/main" id="{D9E0484D-63C4-4160-B25A-2026B4BF1C43}"/>
              </a:ext>
            </a:extLst>
          </p:cNvPr>
          <p:cNvSpPr txBox="1"/>
          <p:nvPr/>
        </p:nvSpPr>
        <p:spPr>
          <a:xfrm>
            <a:off x="335360" y="2668418"/>
            <a:ext cx="11657358" cy="707886"/>
          </a:xfrm>
          <a:prstGeom prst="rect">
            <a:avLst/>
          </a:prstGeom>
          <a:noFill/>
        </p:spPr>
        <p:txBody>
          <a:bodyPr wrap="none" rtlCol="0">
            <a:spAutoFit/>
          </a:bodyPr>
          <a:lstStyle/>
          <a:p>
            <a:pPr marL="342900" indent="-34290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Ethene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has a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planar structure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with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bond angles around 120</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The explanation of hybridization theory:</a:t>
            </a:r>
            <a:r>
              <a:rPr lang="en-US" altLang="zh-CN" sz="2000" b="1" dirty="0">
                <a:solidFill>
                  <a:srgbClr val="0000FF"/>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Each carbon atom of ethene adopts the </a:t>
            </a:r>
            <a:r>
              <a:rPr lang="en-US" altLang="zh-CN" sz="2000" b="1" i="1" dirty="0">
                <a:highlight>
                  <a:srgbClr val="00FF00"/>
                </a:highlight>
                <a:latin typeface="Microsoft Sans Serif" pitchFamily="34" charset="0"/>
                <a:cs typeface="Microsoft Sans Serif" pitchFamily="34" charset="0"/>
              </a:rPr>
              <a:t>sp</a:t>
            </a:r>
            <a:r>
              <a:rPr lang="en-US" altLang="zh-CN" sz="2000" b="1" baseline="30000" dirty="0">
                <a:highlight>
                  <a:srgbClr val="00FF00"/>
                </a:highlight>
                <a:latin typeface="Microsoft Sans Serif" pitchFamily="34" charset="0"/>
                <a:cs typeface="Microsoft Sans Serif" pitchFamily="34" charset="0"/>
              </a:rPr>
              <a:t>2</a:t>
            </a:r>
            <a:r>
              <a:rPr lang="en-US" altLang="zh-CN" sz="2000" b="1" dirty="0">
                <a:highlight>
                  <a:srgbClr val="00FF00"/>
                </a:highlight>
                <a:latin typeface="Microsoft Sans Serif" pitchFamily="34" charset="0"/>
                <a:cs typeface="Microsoft Sans Serif" pitchFamily="34" charset="0"/>
              </a:rPr>
              <a:t> hybridization</a:t>
            </a:r>
            <a:r>
              <a:rPr lang="en-US" altLang="zh-CN" sz="2000" b="1" dirty="0">
                <a:latin typeface="Microsoft Sans Serif" pitchFamily="34" charset="0"/>
                <a:cs typeface="Microsoft Sans Serif" pitchFamily="34" charset="0"/>
              </a:rPr>
              <a:t>. </a:t>
            </a: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p:txBody>
      </p:sp>
      <p:graphicFrame>
        <p:nvGraphicFramePr>
          <p:cNvPr id="19" name="表格 18">
            <a:extLst>
              <a:ext uri="{FF2B5EF4-FFF2-40B4-BE49-F238E27FC236}">
                <a16:creationId xmlns:a16="http://schemas.microsoft.com/office/drawing/2014/main" id="{1F0DC41A-DE77-4C21-B876-3E7BD19FDD44}"/>
              </a:ext>
            </a:extLst>
          </p:cNvPr>
          <p:cNvGraphicFramePr>
            <a:graphicFrameLocks noGrp="1"/>
          </p:cNvGraphicFramePr>
          <p:nvPr>
            <p:extLst>
              <p:ext uri="{D42A27DB-BD31-4B8C-83A1-F6EECF244321}">
                <p14:modId xmlns:p14="http://schemas.microsoft.com/office/powerpoint/2010/main" val="2585880845"/>
              </p:ext>
            </p:extLst>
          </p:nvPr>
        </p:nvGraphicFramePr>
        <p:xfrm>
          <a:off x="3024799" y="3429000"/>
          <a:ext cx="4968552" cy="1381760"/>
        </p:xfrm>
        <a:graphic>
          <a:graphicData uri="http://schemas.openxmlformats.org/drawingml/2006/table">
            <a:tbl>
              <a:tblPr firstRow="1" bandRow="1">
                <a:tableStyleId>{5940675A-B579-460E-94D1-54222C63F5DA}</a:tableStyleId>
              </a:tblPr>
              <a:tblGrid>
                <a:gridCol w="1049693">
                  <a:extLst>
                    <a:ext uri="{9D8B030D-6E8A-4147-A177-3AD203B41FA5}">
                      <a16:colId xmlns:a16="http://schemas.microsoft.com/office/drawing/2014/main" val="20000"/>
                    </a:ext>
                  </a:extLst>
                </a:gridCol>
                <a:gridCol w="2190666">
                  <a:extLst>
                    <a:ext uri="{9D8B030D-6E8A-4147-A177-3AD203B41FA5}">
                      <a16:colId xmlns:a16="http://schemas.microsoft.com/office/drawing/2014/main" val="20001"/>
                    </a:ext>
                  </a:extLst>
                </a:gridCol>
                <a:gridCol w="1728193">
                  <a:extLst>
                    <a:ext uri="{9D8B030D-6E8A-4147-A177-3AD203B41FA5}">
                      <a16:colId xmlns:a16="http://schemas.microsoft.com/office/drawing/2014/main" val="20002"/>
                    </a:ext>
                  </a:extLst>
                </a:gridCol>
              </a:tblGrid>
              <a:tr h="370840">
                <a:tc>
                  <a:txBody>
                    <a:bodyPr/>
                    <a:lstStyle/>
                    <a:p>
                      <a:pPr algn="ctr"/>
                      <a:r>
                        <a:rPr lang="en-US" altLang="zh-CN" sz="1800" b="1" dirty="0">
                          <a:effectLst/>
                        </a:rPr>
                        <a:t>Element</a:t>
                      </a:r>
                      <a:endParaRPr lang="zh-CN" altLang="en-US" sz="1800" b="1" dirty="0">
                        <a:effectLst/>
                      </a:endParaRPr>
                    </a:p>
                  </a:txBody>
                  <a:tcPr>
                    <a:solidFill>
                      <a:schemeClr val="bg1">
                        <a:lumMod val="85000"/>
                      </a:schemeClr>
                    </a:solidFill>
                  </a:tcPr>
                </a:tc>
                <a:tc>
                  <a:txBody>
                    <a:bodyPr/>
                    <a:lstStyle/>
                    <a:p>
                      <a:pPr algn="ctr"/>
                      <a:r>
                        <a:rPr lang="en-US" altLang="zh-CN" sz="1800" b="1" dirty="0">
                          <a:effectLst/>
                        </a:rPr>
                        <a:t>Electronic configuration</a:t>
                      </a:r>
                      <a:endParaRPr lang="zh-CN" altLang="en-US" sz="1800" b="1" dirty="0">
                        <a:effectLst/>
                      </a:endParaRPr>
                    </a:p>
                  </a:txBody>
                  <a:tcPr>
                    <a:solidFill>
                      <a:schemeClr val="bg1">
                        <a:lumMod val="85000"/>
                      </a:schemeClr>
                    </a:solidFill>
                  </a:tcPr>
                </a:tc>
                <a:tc>
                  <a:txBody>
                    <a:bodyPr/>
                    <a:lstStyle/>
                    <a:p>
                      <a:pPr algn="ctr"/>
                      <a:r>
                        <a:rPr lang="en-US" altLang="zh-CN" sz="1800" b="1" dirty="0">
                          <a:effectLst/>
                        </a:rPr>
                        <a:t>Valence Electrons</a:t>
                      </a:r>
                      <a:endParaRPr lang="zh-CN" altLang="en-US" sz="1800" b="1" dirty="0">
                        <a:solidFill>
                          <a:schemeClr val="tx1"/>
                        </a:solidFill>
                        <a:effectLst/>
                      </a:endParaRP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800" b="1" dirty="0">
                          <a:effectLst/>
                        </a:rPr>
                        <a:t>H</a:t>
                      </a:r>
                      <a:endParaRPr lang="zh-CN" altLang="en-US" sz="1800" b="1" dirty="0">
                        <a:effectLst/>
                      </a:endParaRPr>
                    </a:p>
                  </a:txBody>
                  <a:tcPr/>
                </a:tc>
                <a:tc>
                  <a:txBody>
                    <a:bodyPr/>
                    <a:lstStyle/>
                    <a:p>
                      <a:pPr algn="ctr"/>
                      <a:r>
                        <a:rPr lang="en-US" altLang="zh-CN" sz="1800" b="1" dirty="0">
                          <a:effectLst/>
                        </a:rPr>
                        <a:t>1s</a:t>
                      </a:r>
                      <a:r>
                        <a:rPr lang="en-US" altLang="zh-CN" sz="1800" b="1" baseline="30000" dirty="0">
                          <a:effectLst/>
                        </a:rPr>
                        <a:t>1</a:t>
                      </a:r>
                      <a:endParaRPr lang="zh-CN" altLang="en-US" sz="1800" b="1" baseline="30000" dirty="0">
                        <a:effectLst/>
                      </a:endParaRPr>
                    </a:p>
                  </a:txBody>
                  <a:tcPr/>
                </a:tc>
                <a:tc>
                  <a:txBody>
                    <a:bodyPr/>
                    <a:lstStyle/>
                    <a:p>
                      <a:pPr algn="ctr"/>
                      <a:r>
                        <a:rPr lang="en-US" altLang="zh-CN" sz="1800" b="1" dirty="0">
                          <a:effectLst/>
                        </a:rPr>
                        <a:t>1</a:t>
                      </a:r>
                      <a:endParaRPr lang="zh-CN" altLang="en-US" sz="1800" b="1" dirty="0">
                        <a:effectLst/>
                      </a:endParaRPr>
                    </a:p>
                  </a:txBody>
                  <a:tcPr/>
                </a:tc>
                <a:extLst>
                  <a:ext uri="{0D108BD9-81ED-4DB2-BD59-A6C34878D82A}">
                    <a16:rowId xmlns:a16="http://schemas.microsoft.com/office/drawing/2014/main" val="10001"/>
                  </a:ext>
                </a:extLst>
              </a:tr>
              <a:tr h="370840">
                <a:tc>
                  <a:txBody>
                    <a:bodyPr/>
                    <a:lstStyle/>
                    <a:p>
                      <a:pPr algn="ctr"/>
                      <a:r>
                        <a:rPr lang="en-US" altLang="zh-CN" sz="1800" b="1" dirty="0">
                          <a:effectLst/>
                        </a:rPr>
                        <a:t>C</a:t>
                      </a:r>
                      <a:endParaRPr lang="zh-CN" altLang="en-US" sz="1800" b="1" dirty="0">
                        <a:effectLs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effectLst/>
                        </a:rPr>
                        <a:t>1s</a:t>
                      </a:r>
                      <a:r>
                        <a:rPr lang="en-US" altLang="zh-CN" sz="1800" b="1" baseline="30000" dirty="0">
                          <a:effectLst/>
                        </a:rPr>
                        <a:t>2</a:t>
                      </a:r>
                      <a:r>
                        <a:rPr lang="en-US" altLang="zh-CN" sz="1800" b="1" dirty="0">
                          <a:solidFill>
                            <a:srgbClr val="FF0000"/>
                          </a:solidFill>
                          <a:effectLst/>
                        </a:rPr>
                        <a:t>2s</a:t>
                      </a:r>
                      <a:r>
                        <a:rPr lang="en-US" altLang="zh-CN" sz="1800" b="1" baseline="30000" dirty="0">
                          <a:solidFill>
                            <a:srgbClr val="FF0000"/>
                          </a:solidFill>
                          <a:effectLst/>
                        </a:rPr>
                        <a:t>2</a:t>
                      </a:r>
                      <a:r>
                        <a:rPr lang="en-US" altLang="zh-CN" sz="1800" b="1" baseline="0" dirty="0">
                          <a:solidFill>
                            <a:srgbClr val="FF0000"/>
                          </a:solidFill>
                          <a:effectLst/>
                        </a:rPr>
                        <a:t>2p</a:t>
                      </a:r>
                      <a:r>
                        <a:rPr lang="en-US" altLang="zh-CN" sz="1800" b="1" baseline="-25000" dirty="0">
                          <a:solidFill>
                            <a:srgbClr val="FF0000"/>
                          </a:solidFill>
                          <a:effectLst/>
                        </a:rPr>
                        <a:t>x</a:t>
                      </a:r>
                      <a:r>
                        <a:rPr lang="en-US" altLang="zh-CN" sz="1800" b="1" baseline="30000" dirty="0">
                          <a:solidFill>
                            <a:srgbClr val="FF0000"/>
                          </a:solidFill>
                          <a:effectLst/>
                        </a:rPr>
                        <a:t>1</a:t>
                      </a:r>
                      <a:r>
                        <a:rPr lang="en-US" altLang="zh-CN" sz="1800" b="1" baseline="0" dirty="0">
                          <a:solidFill>
                            <a:srgbClr val="FF0000"/>
                          </a:solidFill>
                          <a:effectLst/>
                        </a:rPr>
                        <a:t>2p</a:t>
                      </a:r>
                      <a:r>
                        <a:rPr lang="en-US" altLang="zh-CN" sz="1800" b="1" baseline="-25000" dirty="0">
                          <a:solidFill>
                            <a:srgbClr val="FF0000"/>
                          </a:solidFill>
                          <a:effectLst/>
                        </a:rPr>
                        <a:t>y</a:t>
                      </a:r>
                      <a:r>
                        <a:rPr lang="en-US" altLang="zh-CN" sz="1800" b="1" baseline="30000" dirty="0">
                          <a:solidFill>
                            <a:srgbClr val="FF0000"/>
                          </a:solidFill>
                          <a:effectLst/>
                        </a:rPr>
                        <a:t>1</a:t>
                      </a:r>
                      <a:r>
                        <a:rPr lang="en-US" altLang="zh-CN" sz="1800" b="1" baseline="0" dirty="0">
                          <a:solidFill>
                            <a:srgbClr val="0000FF"/>
                          </a:solidFill>
                          <a:effectLst/>
                        </a:rPr>
                        <a:t>2p</a:t>
                      </a:r>
                      <a:r>
                        <a:rPr lang="en-US" altLang="zh-CN" sz="1800" b="1" baseline="-25000" dirty="0">
                          <a:solidFill>
                            <a:srgbClr val="0000FF"/>
                          </a:solidFill>
                          <a:effectLst/>
                        </a:rPr>
                        <a:t>z</a:t>
                      </a:r>
                      <a:r>
                        <a:rPr lang="en-US" altLang="zh-CN" sz="1800" b="1" baseline="30000" dirty="0">
                          <a:solidFill>
                            <a:srgbClr val="0000FF"/>
                          </a:solidFill>
                          <a:effectLst/>
                        </a:rPr>
                        <a:t>0</a:t>
                      </a:r>
                      <a:endParaRPr lang="zh-CN" altLang="en-US" sz="1800" b="1" baseline="30000" dirty="0">
                        <a:solidFill>
                          <a:srgbClr val="0000FF"/>
                        </a:solidFill>
                        <a:effectLst/>
                      </a:endParaRPr>
                    </a:p>
                  </a:txBody>
                  <a:tcPr/>
                </a:tc>
                <a:tc>
                  <a:txBody>
                    <a:bodyPr/>
                    <a:lstStyle/>
                    <a:p>
                      <a:pPr algn="ctr"/>
                      <a:r>
                        <a:rPr lang="en-US" altLang="zh-CN" sz="1800" b="1" dirty="0">
                          <a:effectLst/>
                        </a:rPr>
                        <a:t>4</a:t>
                      </a:r>
                      <a:endParaRPr lang="zh-CN" altLang="en-US" sz="1800" b="1" dirty="0">
                        <a:solidFill>
                          <a:srgbClr val="FF0000"/>
                        </a:solidFill>
                        <a:effectLst/>
                      </a:endParaRPr>
                    </a:p>
                  </a:txBody>
                  <a:tcPr/>
                </a:tc>
                <a:extLst>
                  <a:ext uri="{0D108BD9-81ED-4DB2-BD59-A6C34878D82A}">
                    <a16:rowId xmlns:a16="http://schemas.microsoft.com/office/drawing/2014/main" val="10002"/>
                  </a:ext>
                </a:extLst>
              </a:tr>
            </a:tbl>
          </a:graphicData>
        </a:graphic>
      </p:graphicFrame>
      <p:graphicFrame>
        <p:nvGraphicFramePr>
          <p:cNvPr id="10" name="对象 9">
            <a:extLst>
              <a:ext uri="{FF2B5EF4-FFF2-40B4-BE49-F238E27FC236}">
                <a16:creationId xmlns:a16="http://schemas.microsoft.com/office/drawing/2014/main" id="{0392436F-A611-4EF4-AB97-EEED3858AA1D}"/>
              </a:ext>
            </a:extLst>
          </p:cNvPr>
          <p:cNvGraphicFramePr>
            <a:graphicFrameLocks noChangeAspect="1"/>
          </p:cNvGraphicFramePr>
          <p:nvPr>
            <p:extLst>
              <p:ext uri="{D42A27DB-BD31-4B8C-83A1-F6EECF244321}">
                <p14:modId xmlns:p14="http://schemas.microsoft.com/office/powerpoint/2010/main" val="3941457073"/>
              </p:ext>
            </p:extLst>
          </p:nvPr>
        </p:nvGraphicFramePr>
        <p:xfrm>
          <a:off x="609600" y="4523200"/>
          <a:ext cx="10658745" cy="2222206"/>
        </p:xfrm>
        <a:graphic>
          <a:graphicData uri="http://schemas.openxmlformats.org/presentationml/2006/ole">
            <mc:AlternateContent xmlns:mc="http://schemas.openxmlformats.org/markup-compatibility/2006">
              <mc:Choice xmlns:v="urn:schemas-microsoft-com:vml" Requires="v">
                <p:oleObj name="CS ChemDraw Drawing" r:id="rId6" imgW="6472413" imgH="1349797" progId="ChemDraw.Document.6.0">
                  <p:embed/>
                </p:oleObj>
              </mc:Choice>
              <mc:Fallback>
                <p:oleObj name="CS ChemDraw Drawing" r:id="rId6" imgW="6472413" imgH="1349797" progId="ChemDraw.Document.6.0">
                  <p:embed/>
                  <p:pic>
                    <p:nvPicPr>
                      <p:cNvPr id="0" name=""/>
                      <p:cNvPicPr/>
                      <p:nvPr/>
                    </p:nvPicPr>
                    <p:blipFill>
                      <a:blip r:embed="rId7"/>
                      <a:stretch>
                        <a:fillRect/>
                      </a:stretch>
                    </p:blipFill>
                    <p:spPr>
                      <a:xfrm>
                        <a:off x="609600" y="4523200"/>
                        <a:ext cx="10658745" cy="2222206"/>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圆角 21">
            <a:extLst>
              <a:ext uri="{FF2B5EF4-FFF2-40B4-BE49-F238E27FC236}">
                <a16:creationId xmlns:a16="http://schemas.microsoft.com/office/drawing/2014/main" id="{C481C076-2026-45AD-8B93-B57CEEA80400}"/>
              </a:ext>
            </a:extLst>
          </p:cNvPr>
          <p:cNvSpPr/>
          <p:nvPr/>
        </p:nvSpPr>
        <p:spPr>
          <a:xfrm>
            <a:off x="3215680" y="3467519"/>
            <a:ext cx="8640960" cy="285558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9ECB37D5-FCB3-4CF5-BD53-A0BAC37AB618}"/>
              </a:ext>
            </a:extLst>
          </p:cNvPr>
          <p:cNvSpPr/>
          <p:nvPr/>
        </p:nvSpPr>
        <p:spPr>
          <a:xfrm>
            <a:off x="5087888" y="932615"/>
            <a:ext cx="6893002" cy="133496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91E9A7C0-85E6-4F60-A030-BBEB6461E0CD}"/>
              </a:ext>
            </a:extLst>
          </p:cNvPr>
          <p:cNvSpPr>
            <a:spLocks noGrp="1"/>
          </p:cNvSpPr>
          <p:nvPr>
            <p:ph type="sldNum" sz="quarter" idx="12"/>
          </p:nvPr>
        </p:nvSpPr>
        <p:spPr/>
        <p:txBody>
          <a:bodyPr/>
          <a:lstStyle/>
          <a:p>
            <a:fld id="{0C913308-F349-4B6D-A68A-DD1791B4A57B}" type="slidenum">
              <a:rPr lang="zh-CN" altLang="en-US" smtClean="0"/>
              <a:pPr/>
              <a:t>3</a:t>
            </a:fld>
            <a:endParaRPr lang="zh-CN" altLang="en-US"/>
          </a:p>
        </p:txBody>
      </p:sp>
      <p:sp>
        <p:nvSpPr>
          <p:cNvPr id="3" name="TextBox 3">
            <a:extLst>
              <a:ext uri="{FF2B5EF4-FFF2-40B4-BE49-F238E27FC236}">
                <a16:creationId xmlns:a16="http://schemas.microsoft.com/office/drawing/2014/main" id="{F4A87EC8-E5C7-455E-BCE0-630D8E8B4E81}"/>
              </a:ext>
            </a:extLst>
          </p:cNvPr>
          <p:cNvSpPr txBox="1"/>
          <p:nvPr/>
        </p:nvSpPr>
        <p:spPr>
          <a:xfrm>
            <a:off x="5087888" y="1241827"/>
            <a:ext cx="6893002" cy="101566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C-C sigma bond of the double bond is formed by </a:t>
            </a:r>
            <a:r>
              <a:rPr lang="en-US" altLang="zh-CN" sz="2000" b="1" i="1" dirty="0">
                <a:latin typeface="Microsoft Sans Serif" pitchFamily="34" charset="0"/>
                <a:cs typeface="Microsoft Sans Serif" pitchFamily="34" charset="0"/>
              </a:rPr>
              <a:t>sp</a:t>
            </a:r>
            <a:r>
              <a:rPr lang="en-US" altLang="zh-CN" sz="2000" b="1" baseline="30000" dirty="0">
                <a:latin typeface="Microsoft Sans Serif" pitchFamily="34" charset="0"/>
                <a:cs typeface="Microsoft Sans Serif" pitchFamily="34" charset="0"/>
              </a:rPr>
              <a:t>2</a:t>
            </a:r>
            <a:r>
              <a:rPr lang="en-US" altLang="zh-CN" sz="2000" b="1" dirty="0">
                <a:latin typeface="Microsoft Sans Serif" pitchFamily="34" charset="0"/>
                <a:cs typeface="Microsoft Sans Serif" pitchFamily="34" charset="0"/>
              </a:rPr>
              <a:t>-</a:t>
            </a:r>
            <a:r>
              <a:rPr lang="en-US" altLang="zh-CN" sz="2000" b="1" i="1" dirty="0">
                <a:latin typeface="Microsoft Sans Serif" pitchFamily="34" charset="0"/>
                <a:cs typeface="Microsoft Sans Serif" pitchFamily="34" charset="0"/>
              </a:rPr>
              <a:t>sp</a:t>
            </a:r>
            <a:r>
              <a:rPr lang="en-US" altLang="zh-CN" sz="2000" b="1" baseline="30000" dirty="0">
                <a:latin typeface="Microsoft Sans Serif" pitchFamily="34" charset="0"/>
                <a:cs typeface="Microsoft Sans Serif" pitchFamily="34" charset="0"/>
              </a:rPr>
              <a:t>2</a:t>
            </a:r>
            <a:r>
              <a:rPr lang="en-US" altLang="zh-CN" sz="2000" b="1" dirty="0">
                <a:latin typeface="Microsoft Sans Serif" pitchFamily="34" charset="0"/>
                <a:cs typeface="Microsoft Sans Serif" pitchFamily="34" charset="0"/>
              </a:rPr>
              <a:t> overlap. The C-H sigma bonds are </a:t>
            </a:r>
            <a:r>
              <a:rPr lang="en-US" altLang="zh-CN" sz="2000" b="1" i="1" dirty="0">
                <a:latin typeface="Microsoft Sans Serif" pitchFamily="34" charset="0"/>
                <a:cs typeface="Microsoft Sans Serif" pitchFamily="34" charset="0"/>
              </a:rPr>
              <a:t>sp</a:t>
            </a:r>
            <a:r>
              <a:rPr lang="en-US" altLang="zh-CN" sz="2000" b="1" baseline="30000" dirty="0">
                <a:latin typeface="Microsoft Sans Serif" pitchFamily="34" charset="0"/>
                <a:cs typeface="Microsoft Sans Serif" pitchFamily="34" charset="0"/>
              </a:rPr>
              <a:t>2</a:t>
            </a:r>
            <a:r>
              <a:rPr lang="en-US" altLang="zh-CN" sz="2000" b="1" dirty="0">
                <a:latin typeface="Microsoft Sans Serif" pitchFamily="34" charset="0"/>
                <a:cs typeface="Microsoft Sans Serif" pitchFamily="34" charset="0"/>
              </a:rPr>
              <a:t>-</a:t>
            </a:r>
            <a:r>
              <a:rPr lang="en-US" altLang="zh-CN" sz="2000" b="1" i="1" dirty="0">
                <a:latin typeface="Microsoft Sans Serif" pitchFamily="34" charset="0"/>
                <a:cs typeface="Microsoft Sans Serif" pitchFamily="34" charset="0"/>
              </a:rPr>
              <a:t>s</a:t>
            </a:r>
            <a:r>
              <a:rPr lang="en-US" altLang="zh-CN" sz="2000" b="1" dirty="0">
                <a:latin typeface="Microsoft Sans Serif" pitchFamily="34" charset="0"/>
                <a:cs typeface="Microsoft Sans Serif" pitchFamily="34" charset="0"/>
              </a:rPr>
              <a:t> overlap.</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bond angles are around 120</a:t>
            </a:r>
            <a:r>
              <a:rPr lang="en-US" altLang="zh-CN" sz="2000" b="1" baseline="30000" dirty="0">
                <a:latin typeface="Microsoft Sans Serif" pitchFamily="34" charset="0"/>
                <a:cs typeface="Microsoft Sans Serif" pitchFamily="34" charset="0"/>
              </a:rPr>
              <a:t>o</a:t>
            </a:r>
            <a:r>
              <a:rPr lang="en-US" altLang="zh-CN" sz="2000" b="1" dirty="0">
                <a:latin typeface="Microsoft Sans Serif" pitchFamily="34" charset="0"/>
                <a:cs typeface="Microsoft Sans Serif" pitchFamily="34" charset="0"/>
              </a:rPr>
              <a:t>.</a:t>
            </a:r>
          </a:p>
        </p:txBody>
      </p:sp>
      <p:graphicFrame>
        <p:nvGraphicFramePr>
          <p:cNvPr id="13" name="对象 12">
            <a:extLst>
              <a:ext uri="{FF2B5EF4-FFF2-40B4-BE49-F238E27FC236}">
                <a16:creationId xmlns:a16="http://schemas.microsoft.com/office/drawing/2014/main" id="{84C55BF2-941C-4771-A69E-6CAC7B118E82}"/>
              </a:ext>
            </a:extLst>
          </p:cNvPr>
          <p:cNvGraphicFramePr>
            <a:graphicFrameLocks noChangeAspect="1"/>
          </p:cNvGraphicFramePr>
          <p:nvPr>
            <p:extLst>
              <p:ext uri="{D42A27DB-BD31-4B8C-83A1-F6EECF244321}">
                <p14:modId xmlns:p14="http://schemas.microsoft.com/office/powerpoint/2010/main" val="49228666"/>
              </p:ext>
            </p:extLst>
          </p:nvPr>
        </p:nvGraphicFramePr>
        <p:xfrm>
          <a:off x="2961348" y="932615"/>
          <a:ext cx="1800200" cy="1634088"/>
        </p:xfrm>
        <a:graphic>
          <a:graphicData uri="http://schemas.openxmlformats.org/presentationml/2006/ole">
            <mc:AlternateContent xmlns:mc="http://schemas.openxmlformats.org/markup-compatibility/2006">
              <mc:Choice xmlns:v="urn:schemas-microsoft-com:vml" Requires="v">
                <p:oleObj name="CS ChemDraw Drawing" r:id="rId2" imgW="739017" imgH="671925" progId="ChemDraw.Document.6.0">
                  <p:embed/>
                </p:oleObj>
              </mc:Choice>
              <mc:Fallback>
                <p:oleObj name="CS ChemDraw Drawing" r:id="rId2" imgW="739017" imgH="671925" progId="ChemDraw.Document.6.0">
                  <p:embed/>
                  <p:pic>
                    <p:nvPicPr>
                      <p:cNvPr id="29" name="对象 28"/>
                      <p:cNvPicPr/>
                      <p:nvPr/>
                    </p:nvPicPr>
                    <p:blipFill>
                      <a:blip r:embed="rId3"/>
                      <a:stretch>
                        <a:fillRect/>
                      </a:stretch>
                    </p:blipFill>
                    <p:spPr>
                      <a:xfrm>
                        <a:off x="2961348" y="932615"/>
                        <a:ext cx="1800200" cy="163408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AFE2CCFF-B4BB-476D-806F-50536718EF2C}"/>
              </a:ext>
            </a:extLst>
          </p:cNvPr>
          <p:cNvGraphicFramePr>
            <a:graphicFrameLocks noChangeAspect="1"/>
          </p:cNvGraphicFramePr>
          <p:nvPr>
            <p:extLst>
              <p:ext uri="{D42A27DB-BD31-4B8C-83A1-F6EECF244321}">
                <p14:modId xmlns:p14="http://schemas.microsoft.com/office/powerpoint/2010/main" val="2448821216"/>
              </p:ext>
            </p:extLst>
          </p:nvPr>
        </p:nvGraphicFramePr>
        <p:xfrm>
          <a:off x="297052" y="642716"/>
          <a:ext cx="2177475" cy="1994900"/>
        </p:xfrm>
        <a:graphic>
          <a:graphicData uri="http://schemas.openxmlformats.org/presentationml/2006/ole">
            <mc:AlternateContent xmlns:mc="http://schemas.openxmlformats.org/markup-compatibility/2006">
              <mc:Choice xmlns:v="urn:schemas-microsoft-com:vml" Requires="v">
                <p:oleObj name="CS ChemDraw Drawing" r:id="rId4" imgW="1287459" imgH="1179338" progId="ChemDraw.Document.6.0">
                  <p:embed/>
                </p:oleObj>
              </mc:Choice>
              <mc:Fallback>
                <p:oleObj name="CS ChemDraw Drawing" r:id="rId4" imgW="1287459" imgH="1179338" progId="ChemDraw.Document.6.0">
                  <p:embed/>
                  <p:pic>
                    <p:nvPicPr>
                      <p:cNvPr id="0" name=""/>
                      <p:cNvPicPr/>
                      <p:nvPr/>
                    </p:nvPicPr>
                    <p:blipFill>
                      <a:blip r:embed="rId5"/>
                      <a:stretch>
                        <a:fillRect/>
                      </a:stretch>
                    </p:blipFill>
                    <p:spPr>
                      <a:xfrm>
                        <a:off x="297052" y="642716"/>
                        <a:ext cx="2177475" cy="1994900"/>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EEB13EF7-6532-4632-B573-5B933670835C}"/>
              </a:ext>
            </a:extLst>
          </p:cNvPr>
          <p:cNvSpPr txBox="1"/>
          <p:nvPr/>
        </p:nvSpPr>
        <p:spPr>
          <a:xfrm>
            <a:off x="5337612" y="919867"/>
            <a:ext cx="3417923" cy="400110"/>
          </a:xfrm>
          <a:prstGeom prst="rect">
            <a:avLst/>
          </a:prstGeom>
          <a:noFill/>
        </p:spPr>
        <p:txBody>
          <a:bodyPr wrap="none" rtlCol="0">
            <a:spAutoFit/>
          </a:bodyPr>
          <a:lstStyle/>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a:t>
            </a:r>
            <a:r>
              <a:rPr lang="zh-CN" altLang="en-US" sz="2000" b="1" dirty="0">
                <a:solidFill>
                  <a:srgbClr val="0000FF"/>
                </a:solidFill>
                <a:latin typeface="Microsoft Sans Serif" panose="020B0604020202020204" pitchFamily="34" charset="0"/>
                <a:cs typeface="Microsoft Sans Serif" panose="020B0604020202020204" pitchFamily="34" charset="0"/>
              </a:rPr>
              <a:t> </a:t>
            </a:r>
            <a:r>
              <a:rPr lang="zh-CN" altLang="en-US" sz="2000" b="1" dirty="0">
                <a:solidFill>
                  <a:srgbClr val="0000FF"/>
                </a:solidFill>
                <a:latin typeface="Microsoft Sans Serif" panose="020B0604020202020204" pitchFamily="34" charset="0"/>
                <a:cs typeface="Microsoft Sans Serif" panose="020B0604020202020204" pitchFamily="34" charset="0"/>
                <a:sym typeface="Symbol" panose="05050102010706020507" pitchFamily="18" charset="2"/>
              </a:rPr>
              <a:t>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framework of ethene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endParaRPr lang="zh-CN" altLang="en-US" sz="2000" b="1" dirty="0">
              <a:latin typeface="Microsoft Sans Serif" panose="020B0604020202020204" pitchFamily="34" charset="0"/>
              <a:cs typeface="Microsoft Sans Serif" panose="020B0604020202020204" pitchFamily="34" charset="0"/>
            </a:endParaRPr>
          </a:p>
        </p:txBody>
      </p:sp>
      <p:sp>
        <p:nvSpPr>
          <p:cNvPr id="17" name="矩形 16">
            <a:extLst>
              <a:ext uri="{FF2B5EF4-FFF2-40B4-BE49-F238E27FC236}">
                <a16:creationId xmlns:a16="http://schemas.microsoft.com/office/drawing/2014/main" id="{E5D6545E-7E7C-44C2-8A46-308D22C4A47B}"/>
              </a:ext>
            </a:extLst>
          </p:cNvPr>
          <p:cNvSpPr/>
          <p:nvPr/>
        </p:nvSpPr>
        <p:spPr>
          <a:xfrm>
            <a:off x="3215680" y="3768558"/>
            <a:ext cx="8568952" cy="2554545"/>
          </a:xfrm>
          <a:prstGeom prst="rect">
            <a:avLst/>
          </a:prstGeom>
        </p:spPr>
        <p:txBody>
          <a:bodyPr wrap="square">
            <a:spAutoFit/>
          </a:bodyPr>
          <a:lstStyle/>
          <a:p>
            <a:pPr marL="342900" indent="-342900" algn="just">
              <a:buFont typeface="Arial" pitchFamily="34" charset="0"/>
              <a:buChar char="•"/>
            </a:pPr>
            <a:r>
              <a:rPr lang="en-US" altLang="zh-CN" sz="2000" b="1" dirty="0">
                <a:solidFill>
                  <a:srgbClr val="0000FF"/>
                </a:solidFill>
                <a:latin typeface="Microsoft Sans Serif" pitchFamily="34" charset="0"/>
                <a:cs typeface="Microsoft Sans Serif" pitchFamily="34" charset="0"/>
              </a:rPr>
              <a:t>Each </a:t>
            </a:r>
            <a:r>
              <a:rPr lang="en-US" altLang="zh-CN" sz="2000" b="1" i="1" dirty="0">
                <a:solidFill>
                  <a:srgbClr val="0000FF"/>
                </a:solidFill>
                <a:latin typeface="Microsoft Sans Serif" pitchFamily="34" charset="0"/>
                <a:cs typeface="Microsoft Sans Serif" pitchFamily="34" charset="0"/>
              </a:rPr>
              <a:t>sp</a:t>
            </a:r>
            <a:r>
              <a:rPr lang="en-US" altLang="zh-CN" sz="2000" b="1" baseline="30000" dirty="0">
                <a:solidFill>
                  <a:srgbClr val="0000FF"/>
                </a:solidFill>
                <a:latin typeface="Microsoft Sans Serif" pitchFamily="34" charset="0"/>
                <a:cs typeface="Microsoft Sans Serif" pitchFamily="34" charset="0"/>
              </a:rPr>
              <a:t>2</a:t>
            </a:r>
            <a:r>
              <a:rPr lang="en-US" altLang="zh-CN" sz="2000" b="1" dirty="0">
                <a:solidFill>
                  <a:srgbClr val="0000FF"/>
                </a:solidFill>
                <a:latin typeface="Microsoft Sans Serif" pitchFamily="34" charset="0"/>
                <a:cs typeface="Microsoft Sans Serif" pitchFamily="34" charset="0"/>
              </a:rPr>
              <a:t>-hybrid carbon atom still has an unhybridized </a:t>
            </a:r>
            <a:r>
              <a:rPr lang="en-US" altLang="zh-CN" sz="2000" b="1" i="1" dirty="0">
                <a:solidFill>
                  <a:srgbClr val="0000FF"/>
                </a:solidFill>
                <a:latin typeface="Microsoft Sans Serif" pitchFamily="34" charset="0"/>
                <a:cs typeface="Microsoft Sans Serif" pitchFamily="34" charset="0"/>
              </a:rPr>
              <a:t>p</a:t>
            </a:r>
            <a:r>
              <a:rPr lang="en-US" altLang="zh-CN" sz="2000" b="1" dirty="0">
                <a:solidFill>
                  <a:srgbClr val="0000FF"/>
                </a:solidFill>
                <a:latin typeface="Microsoft Sans Serif" pitchFamily="34" charset="0"/>
                <a:cs typeface="Microsoft Sans Serif" pitchFamily="34" charset="0"/>
              </a:rPr>
              <a:t> orbital</a:t>
            </a:r>
            <a:r>
              <a:rPr lang="en-US" altLang="zh-CN" sz="2000" b="1" dirty="0">
                <a:latin typeface="Microsoft Sans Serif" pitchFamily="34" charset="0"/>
                <a:cs typeface="Microsoft Sans Serif" pitchFamily="34" charset="0"/>
              </a:rPr>
              <a:t>. The two electrons in these orbitals form the second bond between the double-bonded carbon atoms.</a:t>
            </a:r>
          </a:p>
          <a:p>
            <a:pPr marL="342900" indent="-342900" algn="just">
              <a:buFont typeface="Arial" pitchFamily="34" charset="0"/>
              <a:buChar char="•"/>
            </a:pPr>
            <a:r>
              <a:rPr lang="en-US" altLang="zh-CN" sz="2000" b="1" dirty="0">
                <a:solidFill>
                  <a:srgbClr val="0000FF"/>
                </a:solidFill>
                <a:latin typeface="Microsoft Sans Serif" pitchFamily="34" charset="0"/>
                <a:cs typeface="Microsoft Sans Serif" pitchFamily="34" charset="0"/>
              </a:rPr>
              <a:t>For pi overlap to occur, these </a:t>
            </a:r>
            <a:r>
              <a:rPr lang="en-US" altLang="zh-CN" sz="2000" b="1" i="1" dirty="0">
                <a:solidFill>
                  <a:srgbClr val="0000FF"/>
                </a:solidFill>
                <a:latin typeface="Microsoft Sans Serif" pitchFamily="34" charset="0"/>
                <a:cs typeface="Microsoft Sans Serif" pitchFamily="34" charset="0"/>
              </a:rPr>
              <a:t>p</a:t>
            </a:r>
            <a:r>
              <a:rPr lang="en-US" altLang="zh-CN" sz="2000" b="1" dirty="0">
                <a:solidFill>
                  <a:srgbClr val="0000FF"/>
                </a:solidFill>
                <a:latin typeface="Microsoft Sans Serif" pitchFamily="34" charset="0"/>
                <a:cs typeface="Microsoft Sans Serif" pitchFamily="34" charset="0"/>
              </a:rPr>
              <a:t> orbitals must  be parallel</a:t>
            </a:r>
            <a:r>
              <a:rPr lang="en-US" altLang="zh-CN" sz="2000" b="1" dirty="0">
                <a:latin typeface="Microsoft Sans Serif" pitchFamily="34" charset="0"/>
                <a:cs typeface="Microsoft Sans Serif" pitchFamily="34" charset="0"/>
              </a:rPr>
              <a:t>, which requires that </a:t>
            </a:r>
            <a:r>
              <a:rPr lang="en-US" altLang="zh-CN" sz="2000" b="1" dirty="0">
                <a:solidFill>
                  <a:srgbClr val="0000FF"/>
                </a:solidFill>
                <a:latin typeface="Microsoft Sans Serif" pitchFamily="34" charset="0"/>
                <a:cs typeface="Microsoft Sans Serif" pitchFamily="34" charset="0"/>
              </a:rPr>
              <a:t>the two carbon atoms be oriented with all their C-H bonds in a single plane</a:t>
            </a:r>
            <a:r>
              <a:rPr lang="en-US" altLang="zh-CN" sz="2000" b="1" dirty="0">
                <a:latin typeface="Microsoft Sans Serif" pitchFamily="34" charset="0"/>
                <a:cs typeface="Microsoft Sans Serif" pitchFamily="34" charset="0"/>
              </a:rPr>
              <a:t>.</a:t>
            </a:r>
          </a:p>
          <a:p>
            <a:pPr marL="342900" indent="-342900" algn="just">
              <a:buFont typeface="Arial" pitchFamily="34" charset="0"/>
              <a:buChar char="•"/>
            </a:pPr>
            <a:r>
              <a:rPr lang="en-US" altLang="zh-CN" sz="2000" b="1" dirty="0">
                <a:latin typeface="Microsoft Sans Serif" pitchFamily="34" charset="0"/>
                <a:cs typeface="Microsoft Sans Serif" pitchFamily="34" charset="0"/>
              </a:rPr>
              <a:t>Half of the pi-bonding orbital is above the C-C sigma bond, and the other half is below the sigma bond.</a:t>
            </a:r>
            <a:endParaRPr lang="zh-CN" altLang="en-US" sz="2000" b="1" dirty="0">
              <a:latin typeface="Microsoft Sans Serif" pitchFamily="34" charset="0"/>
              <a:cs typeface="Microsoft Sans Serif" pitchFamily="34" charset="0"/>
            </a:endParaRPr>
          </a:p>
        </p:txBody>
      </p:sp>
      <p:graphicFrame>
        <p:nvGraphicFramePr>
          <p:cNvPr id="18" name="对象 17">
            <a:extLst>
              <a:ext uri="{FF2B5EF4-FFF2-40B4-BE49-F238E27FC236}">
                <a16:creationId xmlns:a16="http://schemas.microsoft.com/office/drawing/2014/main" id="{27DE1AF5-1634-43D4-B092-4B8B9B0245AD}"/>
              </a:ext>
            </a:extLst>
          </p:cNvPr>
          <p:cNvGraphicFramePr>
            <a:graphicFrameLocks noChangeAspect="1"/>
          </p:cNvGraphicFramePr>
          <p:nvPr>
            <p:extLst>
              <p:ext uri="{D42A27DB-BD31-4B8C-83A1-F6EECF244321}">
                <p14:modId xmlns:p14="http://schemas.microsoft.com/office/powerpoint/2010/main" val="3199859127"/>
              </p:ext>
            </p:extLst>
          </p:nvPr>
        </p:nvGraphicFramePr>
        <p:xfrm>
          <a:off x="415038" y="3736122"/>
          <a:ext cx="2547289" cy="1149935"/>
        </p:xfrm>
        <a:graphic>
          <a:graphicData uri="http://schemas.openxmlformats.org/presentationml/2006/ole">
            <mc:AlternateContent xmlns:mc="http://schemas.openxmlformats.org/markup-compatibility/2006">
              <mc:Choice xmlns:v="urn:schemas-microsoft-com:vml" Requires="v">
                <p:oleObj name="CS ChemDraw Drawing" r:id="rId6" imgW="1438577" imgH="648933" progId="ChemDraw.Document.6.0">
                  <p:embed/>
                </p:oleObj>
              </mc:Choice>
              <mc:Fallback>
                <p:oleObj name="CS ChemDraw Drawing" r:id="rId6" imgW="1438577" imgH="648933" progId="ChemDraw.Document.6.0">
                  <p:embed/>
                  <p:pic>
                    <p:nvPicPr>
                      <p:cNvPr id="4" name="对象 3"/>
                      <p:cNvPicPr/>
                      <p:nvPr/>
                    </p:nvPicPr>
                    <p:blipFill>
                      <a:blip r:embed="rId7"/>
                      <a:stretch>
                        <a:fillRect/>
                      </a:stretch>
                    </p:blipFill>
                    <p:spPr>
                      <a:xfrm>
                        <a:off x="415038" y="3736122"/>
                        <a:ext cx="2547289" cy="114993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BD7CEFF0-55A7-4725-87FE-F39DC38ADC3B}"/>
              </a:ext>
            </a:extLst>
          </p:cNvPr>
          <p:cNvSpPr txBox="1"/>
          <p:nvPr/>
        </p:nvSpPr>
        <p:spPr>
          <a:xfrm flipH="1">
            <a:off x="911424" y="3415546"/>
            <a:ext cx="1718477" cy="369332"/>
          </a:xfrm>
          <a:prstGeom prst="rect">
            <a:avLst/>
          </a:prstGeom>
          <a:noFill/>
        </p:spPr>
        <p:txBody>
          <a:bodyPr wrap="square" rtlCol="0">
            <a:spAutoFit/>
          </a:bodyPr>
          <a:lstStyle/>
          <a:p>
            <a:r>
              <a:rPr lang="en-US" altLang="zh-CN" dirty="0">
                <a:solidFill>
                  <a:srgbClr val="FF0000"/>
                </a:solidFill>
                <a:latin typeface="Consolas" panose="020B0609020204030204" pitchFamily="49" charset="0"/>
              </a:rPr>
              <a:t>p-p overlap</a:t>
            </a:r>
            <a:endParaRPr lang="zh-CN" altLang="en-US" dirty="0">
              <a:solidFill>
                <a:srgbClr val="FF0000"/>
              </a:solidFill>
              <a:latin typeface="Consolas" panose="020B0609020204030204" pitchFamily="49" charset="0"/>
            </a:endParaRPr>
          </a:p>
        </p:txBody>
      </p:sp>
      <p:sp>
        <p:nvSpPr>
          <p:cNvPr id="21" name="文本框 20">
            <a:extLst>
              <a:ext uri="{FF2B5EF4-FFF2-40B4-BE49-F238E27FC236}">
                <a16:creationId xmlns:a16="http://schemas.microsoft.com/office/drawing/2014/main" id="{516CEDAB-044D-456F-A87C-6B7F4F284957}"/>
              </a:ext>
            </a:extLst>
          </p:cNvPr>
          <p:cNvSpPr txBox="1"/>
          <p:nvPr/>
        </p:nvSpPr>
        <p:spPr>
          <a:xfrm>
            <a:off x="3548106" y="3467519"/>
            <a:ext cx="3400290" cy="400110"/>
          </a:xfrm>
          <a:prstGeom prst="rect">
            <a:avLst/>
          </a:prstGeom>
          <a:noFill/>
        </p:spPr>
        <p:txBody>
          <a:bodyPr wrap="none" rtlCol="0">
            <a:spAutoFit/>
          </a:bodyPr>
          <a:lstStyle/>
          <a:p>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The</a:t>
            </a:r>
            <a:r>
              <a:rPr lang="zh-CN" altLang="en-US" sz="2000" b="1" dirty="0">
                <a:solidFill>
                  <a:srgbClr val="FF0000"/>
                </a:solidFill>
                <a:latin typeface="Microsoft Sans Serif" panose="020B0604020202020204" pitchFamily="34" charset="0"/>
                <a:cs typeface="Microsoft Sans Serif" panose="020B0604020202020204" pitchFamily="34" charset="0"/>
              </a:rPr>
              <a:t> </a:t>
            </a:r>
            <a:r>
              <a:rPr lang="en-US" altLang="zh-CN" sz="2000" b="1" dirty="0">
                <a:solidFill>
                  <a:srgbClr val="FF0000"/>
                </a:solidFill>
                <a:latin typeface="Microsoft Sans Serif" panose="020B0604020202020204" pitchFamily="34" charset="0"/>
                <a:cs typeface="Microsoft Sans Serif" panose="020B0604020202020204" pitchFamily="34" charset="0"/>
              </a:rPr>
              <a:t>formation of the </a:t>
            </a:r>
            <a:r>
              <a:rPr lang="en-US" altLang="zh-CN" sz="2000" b="1" dirty="0">
                <a:solidFill>
                  <a:srgbClr val="FF0000"/>
                </a:solidFill>
                <a:latin typeface="Microsoft Sans Serif" panose="020B0604020202020204" pitchFamily="34" charset="0"/>
                <a:cs typeface="Microsoft Sans Serif" panose="020B0604020202020204" pitchFamily="34" charset="0"/>
                <a:sym typeface="Symbol" panose="05050102010706020507" pitchFamily="18" charset="2"/>
              </a:rPr>
              <a:t>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endParaRPr lang="zh-CN" altLang="en-US" sz="2000" b="1" dirty="0">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60256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8" name="文本框 7"/>
          <p:cNvSpPr txBox="1"/>
          <p:nvPr/>
        </p:nvSpPr>
        <p:spPr>
          <a:xfrm>
            <a:off x="3503712" y="692696"/>
            <a:ext cx="8136904" cy="132343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C-C sigma bond is a good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baseline="30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baseline="30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overlap in a head-to-head manner. C-C sigma bond is strong. </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C-C pi bond is a relatively poor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p-p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overlap in a side-by-side manner. C-C pi bond is relatively weak.</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088101294"/>
              </p:ext>
            </p:extLst>
          </p:nvPr>
        </p:nvGraphicFramePr>
        <p:xfrm>
          <a:off x="911424" y="404664"/>
          <a:ext cx="1800200" cy="2110713"/>
        </p:xfrm>
        <a:graphic>
          <a:graphicData uri="http://schemas.openxmlformats.org/presentationml/2006/ole">
            <mc:AlternateContent xmlns:mc="http://schemas.openxmlformats.org/markup-compatibility/2006">
              <mc:Choice xmlns:v="urn:schemas-microsoft-com:vml" Requires="v">
                <p:oleObj name="CS ChemDraw Drawing" r:id="rId2" imgW="726785" imgH="853088" progId="ChemDraw.Document.6.0">
                  <p:embed/>
                </p:oleObj>
              </mc:Choice>
              <mc:Fallback>
                <p:oleObj name="CS ChemDraw Drawing" r:id="rId2" imgW="726785" imgH="853088" progId="ChemDraw.Document.6.0">
                  <p:embed/>
                  <p:pic>
                    <p:nvPicPr>
                      <p:cNvPr id="0" name=""/>
                      <p:cNvPicPr/>
                      <p:nvPr/>
                    </p:nvPicPr>
                    <p:blipFill>
                      <a:blip r:embed="rId3"/>
                      <a:stretch>
                        <a:fillRect/>
                      </a:stretch>
                    </p:blipFill>
                    <p:spPr>
                      <a:xfrm>
                        <a:off x="911424" y="404664"/>
                        <a:ext cx="1800200" cy="2110713"/>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4FA62792-3AA1-49B4-80E3-E716851B5ADD}"/>
              </a:ext>
            </a:extLst>
          </p:cNvPr>
          <p:cNvSpPr/>
          <p:nvPr/>
        </p:nvSpPr>
        <p:spPr>
          <a:xfrm>
            <a:off x="407368" y="2711408"/>
            <a:ext cx="10959008" cy="1631216"/>
          </a:xfrm>
          <a:prstGeom prst="rect">
            <a:avLst/>
          </a:prstGeom>
        </p:spPr>
        <p:txBody>
          <a:bodyPr wrap="square">
            <a:spAutoFit/>
          </a:bodyPr>
          <a:lstStyle/>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Unlike single bonds, </a:t>
            </a:r>
            <a:r>
              <a:rPr lang="en-US" altLang="zh-CN" sz="2000" b="1" dirty="0">
                <a:highlight>
                  <a:srgbClr val="FFFF00"/>
                </a:highlight>
                <a:latin typeface="Microsoft Sans Serif" pitchFamily="34" charset="0"/>
                <a:cs typeface="Microsoft Sans Serif" pitchFamily="34" charset="0"/>
              </a:rPr>
              <a:t>a carbon-carbon double bond does not permit rotation</a:t>
            </a:r>
            <a:r>
              <a:rPr lang="en-US" altLang="zh-CN" sz="2000" b="1" dirty="0">
                <a:latin typeface="Microsoft Sans Serif" pitchFamily="34" charset="0"/>
                <a:cs typeface="Microsoft Sans Serif" pitchFamily="34" charset="0"/>
              </a:rPr>
              <a:t>. This is the origin of </a:t>
            </a:r>
            <a:r>
              <a:rPr lang="en-US" altLang="zh-CN" sz="2000" b="1" i="1" dirty="0">
                <a:highlight>
                  <a:srgbClr val="00FF00"/>
                </a:highlight>
                <a:latin typeface="Microsoft Sans Serif" pitchFamily="34" charset="0"/>
                <a:cs typeface="Microsoft Sans Serif" pitchFamily="34" charset="0"/>
              </a:rPr>
              <a:t>cis-trans  </a:t>
            </a:r>
            <a:r>
              <a:rPr lang="en-US" altLang="zh-CN" sz="2000" b="1" dirty="0">
                <a:highlight>
                  <a:srgbClr val="00FF00"/>
                </a:highlight>
                <a:latin typeface="Microsoft Sans Serif" pitchFamily="34" charset="0"/>
                <a:cs typeface="Microsoft Sans Serif" pitchFamily="34" charset="0"/>
              </a:rPr>
              <a:t>isomerism in alkenes</a:t>
            </a:r>
            <a:r>
              <a:rPr lang="en-US" altLang="zh-CN" sz="2000" b="1" dirty="0">
                <a:latin typeface="Microsoft Sans Serif" pitchFamily="34" charset="0"/>
                <a:cs typeface="Microsoft Sans Serif" pitchFamily="34" charset="0"/>
              </a:rPr>
              <a:t>.</a:t>
            </a:r>
          </a:p>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If </a:t>
            </a:r>
            <a:r>
              <a:rPr lang="en-US" altLang="zh-CN" sz="2000" b="1" dirty="0">
                <a:highlight>
                  <a:srgbClr val="00FFFF"/>
                </a:highlight>
                <a:latin typeface="Microsoft Sans Serif" pitchFamily="34" charset="0"/>
                <a:cs typeface="Microsoft Sans Serif" pitchFamily="34" charset="0"/>
              </a:rPr>
              <a:t>two groups are on the same side of a double bond (</a:t>
            </a:r>
            <a:r>
              <a:rPr lang="en-US" altLang="zh-CN" sz="2000" b="1" i="1" dirty="0">
                <a:highlight>
                  <a:srgbClr val="00FFFF"/>
                </a:highlight>
                <a:latin typeface="Microsoft Sans Serif" pitchFamily="34" charset="0"/>
                <a:cs typeface="Microsoft Sans Serif" pitchFamily="34" charset="0"/>
              </a:rPr>
              <a:t>cis-</a:t>
            </a:r>
            <a:r>
              <a:rPr lang="en-US" altLang="zh-CN" sz="2000" b="1" dirty="0">
                <a:highlight>
                  <a:srgbClr val="00FFFF"/>
                </a:highlight>
                <a:latin typeface="Microsoft Sans Serif" pitchFamily="34" charset="0"/>
                <a:cs typeface="Microsoft Sans Serif" pitchFamily="34" charset="0"/>
              </a:rPr>
              <a:t>isomer)</a:t>
            </a:r>
            <a:r>
              <a:rPr lang="en-US" altLang="zh-CN" sz="2000" b="1" dirty="0">
                <a:latin typeface="Microsoft Sans Serif" pitchFamily="34" charset="0"/>
                <a:cs typeface="Microsoft Sans Serif" pitchFamily="34" charset="0"/>
              </a:rPr>
              <a:t>, they cannot rotate to </a:t>
            </a:r>
            <a:r>
              <a:rPr lang="en-US" altLang="zh-CN" sz="2000" b="1" dirty="0">
                <a:highlight>
                  <a:srgbClr val="00FF00"/>
                </a:highlight>
                <a:latin typeface="Microsoft Sans Serif" pitchFamily="34" charset="0"/>
                <a:cs typeface="Microsoft Sans Serif" pitchFamily="34" charset="0"/>
              </a:rPr>
              <a:t>opposite sides (</a:t>
            </a:r>
            <a:r>
              <a:rPr lang="en-US" altLang="zh-CN" sz="2000" b="1" i="1" dirty="0">
                <a:highlight>
                  <a:srgbClr val="00FF00"/>
                </a:highlight>
                <a:latin typeface="Microsoft Sans Serif" pitchFamily="34" charset="0"/>
                <a:cs typeface="Microsoft Sans Serif" pitchFamily="34" charset="0"/>
              </a:rPr>
              <a:t>trans-</a:t>
            </a:r>
            <a:r>
              <a:rPr lang="en-US" altLang="zh-CN" sz="2000" b="1" dirty="0">
                <a:highlight>
                  <a:srgbClr val="00FF00"/>
                </a:highlight>
                <a:latin typeface="Microsoft Sans Serif" pitchFamily="34" charset="0"/>
                <a:cs typeface="Microsoft Sans Serif" pitchFamily="34" charset="0"/>
              </a:rPr>
              <a:t>isomer) </a:t>
            </a:r>
            <a:r>
              <a:rPr lang="en-US" altLang="zh-CN" sz="2000" b="1" dirty="0">
                <a:latin typeface="Microsoft Sans Serif" pitchFamily="34" charset="0"/>
                <a:cs typeface="Microsoft Sans Serif" pitchFamily="34" charset="0"/>
              </a:rPr>
              <a:t>without breaking the pi bond.</a:t>
            </a:r>
          </a:p>
          <a:p>
            <a:pPr marL="342900" indent="-342900" algn="just">
              <a:buFont typeface="Arial" panose="020B0604020202020204" pitchFamily="34" charset="0"/>
              <a:buChar char="•"/>
            </a:pPr>
            <a:r>
              <a:rPr lang="en-US" altLang="zh-CN" sz="2000" b="1" i="1" dirty="0">
                <a:latin typeface="Microsoft Sans Serif" pitchFamily="34" charset="0"/>
                <a:cs typeface="Microsoft Sans Serif" pitchFamily="34" charset="0"/>
              </a:rPr>
              <a:t>cis</a:t>
            </a:r>
            <a:r>
              <a:rPr lang="en-US" altLang="zh-CN" sz="2000" b="1" dirty="0">
                <a:latin typeface="Microsoft Sans Serif" pitchFamily="34" charset="0"/>
                <a:cs typeface="Microsoft Sans Serif" pitchFamily="34" charset="0"/>
              </a:rPr>
              <a:t>- and </a:t>
            </a:r>
            <a:r>
              <a:rPr lang="en-US" altLang="zh-CN" sz="2000" b="1" i="1" dirty="0">
                <a:latin typeface="Microsoft Sans Serif" pitchFamily="34" charset="0"/>
                <a:cs typeface="Microsoft Sans Serif" pitchFamily="34" charset="0"/>
              </a:rPr>
              <a:t>trans</a:t>
            </a:r>
            <a:r>
              <a:rPr lang="en-US" altLang="zh-CN" sz="2000" b="1" dirty="0">
                <a:latin typeface="Microsoft Sans Serif" pitchFamily="34" charset="0"/>
                <a:cs typeface="Microsoft Sans Serif" pitchFamily="34" charset="0"/>
              </a:rPr>
              <a:t>-isomers are two distinct isomers, which belong to diastereomers.</a:t>
            </a:r>
          </a:p>
        </p:txBody>
      </p:sp>
      <p:graphicFrame>
        <p:nvGraphicFramePr>
          <p:cNvPr id="11" name="对象 10">
            <a:extLst>
              <a:ext uri="{FF2B5EF4-FFF2-40B4-BE49-F238E27FC236}">
                <a16:creationId xmlns:a16="http://schemas.microsoft.com/office/drawing/2014/main" id="{23A00B45-3CAB-407C-B5F2-1EE8D3583C74}"/>
              </a:ext>
            </a:extLst>
          </p:cNvPr>
          <p:cNvGraphicFramePr>
            <a:graphicFrameLocks noChangeAspect="1"/>
          </p:cNvGraphicFramePr>
          <p:nvPr>
            <p:extLst>
              <p:ext uri="{D42A27DB-BD31-4B8C-83A1-F6EECF244321}">
                <p14:modId xmlns:p14="http://schemas.microsoft.com/office/powerpoint/2010/main" val="461855727"/>
              </p:ext>
            </p:extLst>
          </p:nvPr>
        </p:nvGraphicFramePr>
        <p:xfrm>
          <a:off x="2855639" y="4362336"/>
          <a:ext cx="5475067" cy="2495663"/>
        </p:xfrm>
        <a:graphic>
          <a:graphicData uri="http://schemas.openxmlformats.org/presentationml/2006/ole">
            <mc:AlternateContent xmlns:mc="http://schemas.openxmlformats.org/markup-compatibility/2006">
              <mc:Choice xmlns:v="urn:schemas-microsoft-com:vml" Requires="v">
                <p:oleObj name="CS ChemDraw Drawing" r:id="rId4" imgW="3162029" imgH="1441766" progId="ChemDraw.Document.6.0">
                  <p:embed/>
                </p:oleObj>
              </mc:Choice>
              <mc:Fallback>
                <p:oleObj name="CS ChemDraw Drawing" r:id="rId4" imgW="3162029" imgH="1441766" progId="ChemDraw.Document.6.0">
                  <p:embed/>
                  <p:pic>
                    <p:nvPicPr>
                      <p:cNvPr id="4" name="对象 3"/>
                      <p:cNvPicPr/>
                      <p:nvPr/>
                    </p:nvPicPr>
                    <p:blipFill>
                      <a:blip r:embed="rId5"/>
                      <a:stretch>
                        <a:fillRect/>
                      </a:stretch>
                    </p:blipFill>
                    <p:spPr>
                      <a:xfrm>
                        <a:off x="2855639" y="4362336"/>
                        <a:ext cx="5475067" cy="2495663"/>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3" name="TextBox 2"/>
          <p:cNvSpPr txBox="1"/>
          <p:nvPr/>
        </p:nvSpPr>
        <p:spPr>
          <a:xfrm>
            <a:off x="263352" y="1183443"/>
            <a:ext cx="11521280"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Simple alkenes are named much like alkanes, using </a:t>
            </a:r>
            <a:r>
              <a:rPr lang="en-US" altLang="zh-CN" sz="2000" b="1" dirty="0">
                <a:highlight>
                  <a:srgbClr val="FFFF00"/>
                </a:highlight>
                <a:latin typeface="Microsoft Sans Serif" pitchFamily="34" charset="0"/>
                <a:cs typeface="Microsoft Sans Serif" pitchFamily="34" charset="0"/>
              </a:rPr>
              <a:t>the root name of the longest carbon chain</a:t>
            </a:r>
            <a:r>
              <a:rPr lang="en-US" altLang="zh-CN" sz="2000" b="1" dirty="0">
                <a:solidFill>
                  <a:srgbClr val="0000FF"/>
                </a:solidFill>
                <a:latin typeface="Microsoft Sans Serif" pitchFamily="34" charset="0"/>
                <a:cs typeface="Microsoft Sans Serif" pitchFamily="34" charset="0"/>
              </a:rPr>
              <a:t>. </a:t>
            </a:r>
            <a:r>
              <a:rPr lang="en-US" altLang="zh-CN" sz="2000" b="1" dirty="0">
                <a:highlight>
                  <a:srgbClr val="00FFFF"/>
                </a:highlight>
                <a:latin typeface="Microsoft Sans Serif" pitchFamily="34" charset="0"/>
                <a:cs typeface="Microsoft Sans Serif" pitchFamily="34" charset="0"/>
              </a:rPr>
              <a:t>If the main chain contains the double bond, the ending is changed from –</a:t>
            </a:r>
            <a:r>
              <a:rPr lang="en-US" altLang="zh-CN" sz="2000" b="1" dirty="0" err="1">
                <a:highlight>
                  <a:srgbClr val="00FFFF"/>
                </a:highlight>
                <a:latin typeface="Microsoft Sans Serif" pitchFamily="34" charset="0"/>
                <a:cs typeface="Microsoft Sans Serif" pitchFamily="34" charset="0"/>
              </a:rPr>
              <a:t>ane</a:t>
            </a:r>
            <a:r>
              <a:rPr lang="en-US" altLang="zh-CN" sz="2000" b="1" dirty="0">
                <a:highlight>
                  <a:srgbClr val="00FFFF"/>
                </a:highlight>
                <a:latin typeface="Microsoft Sans Serif" pitchFamily="34" charset="0"/>
                <a:cs typeface="Microsoft Sans Serif" pitchFamily="34" charset="0"/>
              </a:rPr>
              <a:t> to –</a:t>
            </a:r>
            <a:r>
              <a:rPr lang="en-US" altLang="zh-CN" sz="2000" b="1" dirty="0" err="1">
                <a:highlight>
                  <a:srgbClr val="00FFFF"/>
                </a:highlight>
                <a:latin typeface="Microsoft Sans Serif" pitchFamily="34" charset="0"/>
                <a:cs typeface="Microsoft Sans Serif" pitchFamily="34" charset="0"/>
              </a:rPr>
              <a:t>ene</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sp>
        <p:nvSpPr>
          <p:cNvPr id="5" name="TextBox 4"/>
          <p:cNvSpPr txBox="1"/>
          <p:nvPr/>
        </p:nvSpPr>
        <p:spPr>
          <a:xfrm>
            <a:off x="263352" y="3259165"/>
            <a:ext cx="11516532" cy="1938992"/>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When the chain contains more than three carbon atoms, </a:t>
            </a:r>
            <a:r>
              <a:rPr lang="en-US" altLang="zh-CN" sz="2000" b="1" dirty="0">
                <a:highlight>
                  <a:srgbClr val="FFFF00"/>
                </a:highlight>
                <a:latin typeface="Microsoft Sans Serif" pitchFamily="34" charset="0"/>
                <a:cs typeface="Microsoft Sans Serif" pitchFamily="34" charset="0"/>
              </a:rPr>
              <a:t>a number is used to give the location of the double bond</a:t>
            </a:r>
            <a:r>
              <a:rPr lang="en-US" altLang="zh-CN" sz="2000" b="1" dirty="0">
                <a:latin typeface="Microsoft Sans Serif" pitchFamily="34" charset="0"/>
                <a:cs typeface="Microsoft Sans Serif" pitchFamily="34" charset="0"/>
              </a:rPr>
              <a:t>. </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The chain is numbered </a:t>
            </a:r>
            <a:r>
              <a:rPr lang="en-US" altLang="zh-CN" sz="2000" b="1" dirty="0">
                <a:highlight>
                  <a:srgbClr val="FFFF00"/>
                </a:highlight>
                <a:latin typeface="Microsoft Sans Serif" pitchFamily="34" charset="0"/>
                <a:cs typeface="Microsoft Sans Serif" pitchFamily="34" charset="0"/>
              </a:rPr>
              <a:t>starting from the end closest to the double bond</a:t>
            </a:r>
            <a:r>
              <a:rPr lang="en-US" altLang="zh-CN" sz="2000" b="1" dirty="0">
                <a:latin typeface="Microsoft Sans Serif" pitchFamily="34" charset="0"/>
                <a:cs typeface="Microsoft Sans Serif" pitchFamily="34" charset="0"/>
              </a:rPr>
              <a:t>, and </a:t>
            </a:r>
            <a:r>
              <a:rPr lang="en-US" altLang="zh-CN" sz="2000" b="1" dirty="0">
                <a:highlight>
                  <a:srgbClr val="00FFFF"/>
                </a:highlight>
                <a:latin typeface="Microsoft Sans Serif" pitchFamily="34" charset="0"/>
                <a:cs typeface="Microsoft Sans Serif" pitchFamily="34" charset="0"/>
              </a:rPr>
              <a:t>the double bond is given the lower number of its two double-bonded carbon atoms</a:t>
            </a:r>
            <a:r>
              <a:rPr lang="en-US" altLang="zh-CN" sz="2000" b="1" dirty="0">
                <a:latin typeface="Microsoft Sans Serif" pitchFamily="34" charset="0"/>
                <a:cs typeface="Microsoft Sans Serif" pitchFamily="34" charset="0"/>
              </a:rPr>
              <a:t>.</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In the case of substituted alkenes, each alkyl group attached to the main chain is listed with a number to give its location. The double bond is still given preference in numbering.</a:t>
            </a:r>
            <a:endParaRPr lang="zh-CN" altLang="en-US" sz="2000" b="1" dirty="0">
              <a:latin typeface="Microsoft Sans Serif" pitchFamily="34" charset="0"/>
              <a:cs typeface="Microsoft Sans Serif" pitchFamily="34" charset="0"/>
            </a:endParaRPr>
          </a:p>
        </p:txBody>
      </p:sp>
      <p:sp>
        <p:nvSpPr>
          <p:cNvPr id="7" name="矩形 6"/>
          <p:cNvSpPr/>
          <p:nvPr/>
        </p:nvSpPr>
        <p:spPr>
          <a:xfrm>
            <a:off x="3843" y="231190"/>
            <a:ext cx="2714205"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4-3  Nomenclature</a:t>
            </a:r>
            <a:endParaRPr lang="zh-CN" altLang="en-US" sz="2400" dirty="0">
              <a:latin typeface="Microsoft Sans Serif" pitchFamily="34" charset="0"/>
              <a:cs typeface="Microsoft Sans Serif" pitchFamily="34" charset="0"/>
            </a:endParaRPr>
          </a:p>
        </p:txBody>
      </p:sp>
      <p:sp>
        <p:nvSpPr>
          <p:cNvPr id="8" name="矩形 7"/>
          <p:cNvSpPr/>
          <p:nvPr/>
        </p:nvSpPr>
        <p:spPr>
          <a:xfrm>
            <a:off x="0" y="755369"/>
            <a:ext cx="5463355"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4-3-1  IUPAC and Common Names of Alkenes</a:t>
            </a:r>
            <a:endParaRPr lang="zh-CN" altLang="en-US" sz="2000" dirty="0">
              <a:latin typeface="Microsoft Sans Serif" pitchFamily="34" charset="0"/>
              <a:cs typeface="Microsoft Sans Serif"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47690842"/>
              </p:ext>
            </p:extLst>
          </p:nvPr>
        </p:nvGraphicFramePr>
        <p:xfrm>
          <a:off x="1991544" y="1945414"/>
          <a:ext cx="7397838" cy="1363703"/>
        </p:xfrm>
        <a:graphic>
          <a:graphicData uri="http://schemas.openxmlformats.org/presentationml/2006/ole">
            <mc:AlternateContent xmlns:mc="http://schemas.openxmlformats.org/markup-compatibility/2006">
              <mc:Choice xmlns:v="urn:schemas-microsoft-com:vml" Requires="v">
                <p:oleObj name="CS ChemDraw Drawing" r:id="rId2" imgW="3608674" imgH="665583" progId="ChemDraw.Document.6.0">
                  <p:embed/>
                </p:oleObj>
              </mc:Choice>
              <mc:Fallback>
                <p:oleObj name="CS ChemDraw Drawing" r:id="rId2" imgW="3608674" imgH="665583" progId="ChemDraw.Document.6.0">
                  <p:embed/>
                  <p:pic>
                    <p:nvPicPr>
                      <p:cNvPr id="0" name=""/>
                      <p:cNvPicPr/>
                      <p:nvPr/>
                    </p:nvPicPr>
                    <p:blipFill>
                      <a:blip r:embed="rId3"/>
                      <a:stretch>
                        <a:fillRect/>
                      </a:stretch>
                    </p:blipFill>
                    <p:spPr>
                      <a:xfrm>
                        <a:off x="1991544" y="1945414"/>
                        <a:ext cx="7397838" cy="136370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38958349"/>
              </p:ext>
            </p:extLst>
          </p:nvPr>
        </p:nvGraphicFramePr>
        <p:xfrm>
          <a:off x="407368" y="5371324"/>
          <a:ext cx="5542577" cy="1140584"/>
        </p:xfrm>
        <a:graphic>
          <a:graphicData uri="http://schemas.openxmlformats.org/presentationml/2006/ole">
            <mc:AlternateContent xmlns:mc="http://schemas.openxmlformats.org/markup-compatibility/2006">
              <mc:Choice xmlns:v="urn:schemas-microsoft-com:vml" Requires="v">
                <p:oleObj name="CS ChemDraw Drawing" r:id="rId4" imgW="2908719" imgH="598588" progId="ChemDraw.Document.6.0">
                  <p:embed/>
                </p:oleObj>
              </mc:Choice>
              <mc:Fallback>
                <p:oleObj name="CS ChemDraw Drawing" r:id="rId4" imgW="2908719" imgH="598588" progId="ChemDraw.Document.6.0">
                  <p:embed/>
                  <p:pic>
                    <p:nvPicPr>
                      <p:cNvPr id="0" name=""/>
                      <p:cNvPicPr/>
                      <p:nvPr/>
                    </p:nvPicPr>
                    <p:blipFill>
                      <a:blip r:embed="rId5"/>
                      <a:stretch>
                        <a:fillRect/>
                      </a:stretch>
                    </p:blipFill>
                    <p:spPr>
                      <a:xfrm>
                        <a:off x="407368" y="5371324"/>
                        <a:ext cx="5542577" cy="1140584"/>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151422086"/>
              </p:ext>
            </p:extLst>
          </p:nvPr>
        </p:nvGraphicFramePr>
        <p:xfrm>
          <a:off x="6523316" y="5222105"/>
          <a:ext cx="5256585" cy="1450711"/>
        </p:xfrm>
        <a:graphic>
          <a:graphicData uri="http://schemas.openxmlformats.org/presentationml/2006/ole">
            <mc:AlternateContent xmlns:mc="http://schemas.openxmlformats.org/markup-compatibility/2006">
              <mc:Choice xmlns:v="urn:schemas-microsoft-com:vml" Requires="v">
                <p:oleObj name="CS ChemDraw Drawing" r:id="rId6" imgW="2796269" imgH="772219" progId="ChemDraw.Document.6.0">
                  <p:embed/>
                </p:oleObj>
              </mc:Choice>
              <mc:Fallback>
                <p:oleObj name="CS ChemDraw Drawing" r:id="rId6" imgW="2796269" imgH="772219" progId="ChemDraw.Document.6.0">
                  <p:embed/>
                  <p:pic>
                    <p:nvPicPr>
                      <p:cNvPr id="0" name=""/>
                      <p:cNvPicPr/>
                      <p:nvPr/>
                    </p:nvPicPr>
                    <p:blipFill>
                      <a:blip r:embed="rId7"/>
                      <a:stretch>
                        <a:fillRect/>
                      </a:stretch>
                    </p:blipFill>
                    <p:spPr>
                      <a:xfrm>
                        <a:off x="6523316" y="5222105"/>
                        <a:ext cx="5256585" cy="1450711"/>
                      </a:xfrm>
                      <a:prstGeom prst="rect">
                        <a:avLst/>
                      </a:prstGeom>
                    </p:spPr>
                  </p:pic>
                </p:oleObj>
              </mc:Fallback>
            </mc:AlternateContent>
          </a:graphicData>
        </a:graphic>
      </p:graphicFrame>
      <p:sp>
        <p:nvSpPr>
          <p:cNvPr id="9" name="椭圆 8"/>
          <p:cNvSpPr/>
          <p:nvPr/>
        </p:nvSpPr>
        <p:spPr>
          <a:xfrm>
            <a:off x="7608168" y="5877272"/>
            <a:ext cx="648072" cy="2880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0160000" y="5877272"/>
            <a:ext cx="648072" cy="2880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6</a:t>
            </a:fld>
            <a:endParaRPr lang="zh-CN" altLang="en-US"/>
          </a:p>
        </p:txBody>
      </p:sp>
      <p:sp>
        <p:nvSpPr>
          <p:cNvPr id="4" name="TextBox 3"/>
          <p:cNvSpPr txBox="1"/>
          <p:nvPr/>
        </p:nvSpPr>
        <p:spPr>
          <a:xfrm>
            <a:off x="430735" y="325363"/>
            <a:ext cx="10441160"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err="1">
                <a:highlight>
                  <a:srgbClr val="00FFFF"/>
                </a:highlight>
                <a:latin typeface="Microsoft Sans Serif" pitchFamily="34" charset="0"/>
                <a:cs typeface="Microsoft Sans Serif" pitchFamily="34" charset="0"/>
              </a:rPr>
              <a:t>Cycloalkenes</a:t>
            </a:r>
            <a:r>
              <a:rPr lang="en-US" altLang="zh-CN" sz="2000" b="1" dirty="0">
                <a:latin typeface="Microsoft Sans Serif" pitchFamily="34" charset="0"/>
                <a:cs typeface="Microsoft Sans Serif" pitchFamily="34" charset="0"/>
              </a:rPr>
              <a:t> are assumed to have the double bond in the number 1 position.</a:t>
            </a:r>
          </a:p>
        </p:txBody>
      </p:sp>
      <p:graphicFrame>
        <p:nvGraphicFramePr>
          <p:cNvPr id="3" name="对象 2"/>
          <p:cNvGraphicFramePr>
            <a:graphicFrameLocks noChangeAspect="1"/>
          </p:cNvGraphicFramePr>
          <p:nvPr>
            <p:extLst>
              <p:ext uri="{D42A27DB-BD31-4B8C-83A1-F6EECF244321}">
                <p14:modId xmlns:p14="http://schemas.microsoft.com/office/powerpoint/2010/main" val="2875471155"/>
              </p:ext>
            </p:extLst>
          </p:nvPr>
        </p:nvGraphicFramePr>
        <p:xfrm>
          <a:off x="430735" y="890554"/>
          <a:ext cx="11442396" cy="1713284"/>
        </p:xfrm>
        <a:graphic>
          <a:graphicData uri="http://schemas.openxmlformats.org/presentationml/2006/ole">
            <mc:AlternateContent xmlns:mc="http://schemas.openxmlformats.org/markup-compatibility/2006">
              <mc:Choice xmlns:v="urn:schemas-microsoft-com:vml" Requires="v">
                <p:oleObj name="CS ChemDraw Drawing" r:id="rId2" imgW="6499638" imgH="973598" progId="ChemDraw.Document.6.0">
                  <p:embed/>
                </p:oleObj>
              </mc:Choice>
              <mc:Fallback>
                <p:oleObj name="CS ChemDraw Drawing" r:id="rId2" imgW="6499638" imgH="973598" progId="ChemDraw.Document.6.0">
                  <p:embed/>
                  <p:pic>
                    <p:nvPicPr>
                      <p:cNvPr id="0" name=""/>
                      <p:cNvPicPr/>
                      <p:nvPr/>
                    </p:nvPicPr>
                    <p:blipFill>
                      <a:blip r:embed="rId3"/>
                      <a:stretch>
                        <a:fillRect/>
                      </a:stretch>
                    </p:blipFill>
                    <p:spPr>
                      <a:xfrm>
                        <a:off x="430735" y="890554"/>
                        <a:ext cx="11442396" cy="1713284"/>
                      </a:xfrm>
                      <a:prstGeom prst="rect">
                        <a:avLst/>
                      </a:prstGeom>
                    </p:spPr>
                  </p:pic>
                </p:oleObj>
              </mc:Fallback>
            </mc:AlternateContent>
          </a:graphicData>
        </a:graphic>
      </p:graphicFrame>
      <p:sp>
        <p:nvSpPr>
          <p:cNvPr id="5" name="文本框 4"/>
          <p:cNvSpPr txBox="1"/>
          <p:nvPr/>
        </p:nvSpPr>
        <p:spPr>
          <a:xfrm>
            <a:off x="430735" y="2847425"/>
            <a:ext cx="11281889"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If the C=C bond is not a part of the longest carbon chain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it is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treated as a substituent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nomenclature.</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66700322"/>
              </p:ext>
            </p:extLst>
          </p:nvPr>
        </p:nvGraphicFramePr>
        <p:xfrm>
          <a:off x="623392" y="4365104"/>
          <a:ext cx="2490139" cy="1486698"/>
        </p:xfrm>
        <a:graphic>
          <a:graphicData uri="http://schemas.openxmlformats.org/presentationml/2006/ole">
            <mc:AlternateContent xmlns:mc="http://schemas.openxmlformats.org/markup-compatibility/2006">
              <mc:Choice xmlns:v="urn:schemas-microsoft-com:vml" Requires="v">
                <p:oleObj name="CS ChemDraw Drawing" r:id="rId4" imgW="1284303" imgH="766272" progId="ChemDraw.Document.6.0">
                  <p:embed/>
                </p:oleObj>
              </mc:Choice>
              <mc:Fallback>
                <p:oleObj name="CS ChemDraw Drawing" r:id="rId4" imgW="1284303" imgH="766272" progId="ChemDraw.Document.6.0">
                  <p:embed/>
                  <p:pic>
                    <p:nvPicPr>
                      <p:cNvPr id="0" name=""/>
                      <p:cNvPicPr/>
                      <p:nvPr/>
                    </p:nvPicPr>
                    <p:blipFill>
                      <a:blip r:embed="rId5"/>
                      <a:stretch>
                        <a:fillRect/>
                      </a:stretch>
                    </p:blipFill>
                    <p:spPr>
                      <a:xfrm>
                        <a:off x="623392" y="4365104"/>
                        <a:ext cx="2490139" cy="1486698"/>
                      </a:xfrm>
                      <a:prstGeom prst="rect">
                        <a:avLst/>
                      </a:prstGeom>
                    </p:spPr>
                  </p:pic>
                </p:oleObj>
              </mc:Fallback>
            </mc:AlternateContent>
          </a:graphicData>
        </a:graphic>
      </p:graphicFrame>
      <p:sp>
        <p:nvSpPr>
          <p:cNvPr id="7" name="文本框 6"/>
          <p:cNvSpPr txBox="1"/>
          <p:nvPr/>
        </p:nvSpPr>
        <p:spPr>
          <a:xfrm>
            <a:off x="4727848" y="3798898"/>
            <a:ext cx="5521593" cy="707886"/>
          </a:xfrm>
          <a:prstGeom prst="rect">
            <a:avLst/>
          </a:prstGeom>
          <a:noFill/>
        </p:spPr>
        <p:txBody>
          <a:bodyPr wrap="square" rtlCol="0">
            <a:spAutoFit/>
          </a:bodyPr>
          <a:lstStyle/>
          <a:p>
            <a:r>
              <a:rPr lang="en-US" altLang="zh-CN" sz="2000" b="1" dirty="0">
                <a:latin typeface="Consolas" panose="020B0609020204030204" pitchFamily="49" charset="0"/>
              </a:rPr>
              <a:t>C=C bonds named as substituents are called </a:t>
            </a:r>
            <a:r>
              <a:rPr lang="en-US" altLang="zh-CN" sz="2000" b="1" dirty="0">
                <a:highlight>
                  <a:srgbClr val="00FFFF"/>
                </a:highlight>
                <a:latin typeface="Consolas" panose="020B0609020204030204" pitchFamily="49" charset="0"/>
              </a:rPr>
              <a:t>alkenyl groups</a:t>
            </a:r>
            <a:r>
              <a:rPr lang="en-US" altLang="zh-CN" sz="2000" b="1" dirty="0">
                <a:latin typeface="Consolas" panose="020B0609020204030204" pitchFamily="49" charset="0"/>
              </a:rPr>
              <a:t>:</a:t>
            </a:r>
            <a:endParaRPr lang="zh-CN" altLang="en-US" sz="2000" b="1" dirty="0">
              <a:latin typeface="Consolas" panose="020B0609020204030204" pitchFamily="49"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4008734277"/>
              </p:ext>
            </p:extLst>
          </p:nvPr>
        </p:nvGraphicFramePr>
        <p:xfrm>
          <a:off x="3719736" y="4848961"/>
          <a:ext cx="7258746" cy="1341224"/>
        </p:xfrm>
        <a:graphic>
          <a:graphicData uri="http://schemas.openxmlformats.org/presentationml/2006/ole">
            <mc:AlternateContent xmlns:mc="http://schemas.openxmlformats.org/markup-compatibility/2006">
              <mc:Choice xmlns:v="urn:schemas-microsoft-com:vml" Requires="v">
                <p:oleObj name="CS ChemDraw Drawing" r:id="rId6" imgW="3856854" imgH="713153" progId="ChemDraw.Document.6.0">
                  <p:embed/>
                </p:oleObj>
              </mc:Choice>
              <mc:Fallback>
                <p:oleObj name="CS ChemDraw Drawing" r:id="rId6" imgW="3856854" imgH="713153" progId="ChemDraw.Document.6.0">
                  <p:embed/>
                  <p:pic>
                    <p:nvPicPr>
                      <p:cNvPr id="0" name=""/>
                      <p:cNvPicPr/>
                      <p:nvPr/>
                    </p:nvPicPr>
                    <p:blipFill>
                      <a:blip r:embed="rId7"/>
                      <a:stretch>
                        <a:fillRect/>
                      </a:stretch>
                    </p:blipFill>
                    <p:spPr>
                      <a:xfrm>
                        <a:off x="3719736" y="4848961"/>
                        <a:ext cx="7258746" cy="1341224"/>
                      </a:xfrm>
                      <a:prstGeom prst="rect">
                        <a:avLst/>
                      </a:prstGeom>
                      <a:ln>
                        <a:solidFill>
                          <a:srgbClr val="0000FF"/>
                        </a:solid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7</a:t>
            </a:fld>
            <a:endParaRPr lang="zh-CN" altLang="en-US"/>
          </a:p>
        </p:txBody>
      </p:sp>
      <p:sp>
        <p:nvSpPr>
          <p:cNvPr id="3" name="TextBox 7"/>
          <p:cNvSpPr txBox="1"/>
          <p:nvPr/>
        </p:nvSpPr>
        <p:spPr>
          <a:xfrm>
            <a:off x="407368" y="260648"/>
            <a:ext cx="11305256"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compound with </a:t>
            </a:r>
            <a:r>
              <a:rPr lang="en-US" altLang="zh-CN" sz="2000" b="1" dirty="0">
                <a:highlight>
                  <a:srgbClr val="FFFF00"/>
                </a:highlight>
                <a:latin typeface="Microsoft Sans Serif" pitchFamily="34" charset="0"/>
                <a:cs typeface="Microsoft Sans Serif" pitchFamily="34" charset="0"/>
              </a:rPr>
              <a:t>two double bonds </a:t>
            </a:r>
            <a:r>
              <a:rPr lang="en-US" altLang="zh-CN" sz="2000" b="1" dirty="0">
                <a:latin typeface="Microsoft Sans Serif" pitchFamily="34" charset="0"/>
                <a:cs typeface="Microsoft Sans Serif" pitchFamily="34" charset="0"/>
              </a:rPr>
              <a:t>is a </a:t>
            </a:r>
            <a:r>
              <a:rPr lang="en-US" altLang="zh-CN" sz="2000" b="1" dirty="0">
                <a:highlight>
                  <a:srgbClr val="00FFFF"/>
                </a:highlight>
                <a:latin typeface="Microsoft Sans Serif" pitchFamily="34" charset="0"/>
                <a:cs typeface="Microsoft Sans Serif" pitchFamily="34" charset="0"/>
              </a:rPr>
              <a:t>diene</a:t>
            </a:r>
            <a:r>
              <a:rPr lang="en-US" altLang="zh-CN" sz="2000" b="1" dirty="0">
                <a:latin typeface="Microsoft Sans Serif" pitchFamily="34" charset="0"/>
                <a:cs typeface="Microsoft Sans Serif" pitchFamily="34" charset="0"/>
              </a:rPr>
              <a:t>. Numbers are used to specify the locations of the double bonds. </a:t>
            </a:r>
            <a:endParaRPr lang="zh-CN" altLang="en-US" sz="2000" b="1" dirty="0">
              <a:latin typeface="Microsoft Sans Serif" pitchFamily="34" charset="0"/>
              <a:cs typeface="Microsoft Sans Serif" pitchFamily="34" charset="0"/>
            </a:endParaRPr>
          </a:p>
        </p:txBody>
      </p:sp>
      <p:sp>
        <p:nvSpPr>
          <p:cNvPr id="6" name="文本框 5"/>
          <p:cNvSpPr txBox="1"/>
          <p:nvPr/>
        </p:nvSpPr>
        <p:spPr>
          <a:xfrm>
            <a:off x="411389" y="2852936"/>
            <a:ext cx="7564891"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Common names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are sometimes used for the simplest alkenes.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170487567"/>
              </p:ext>
            </p:extLst>
          </p:nvPr>
        </p:nvGraphicFramePr>
        <p:xfrm>
          <a:off x="811843" y="3428420"/>
          <a:ext cx="10568313" cy="1368152"/>
        </p:xfrm>
        <a:graphic>
          <a:graphicData uri="http://schemas.openxmlformats.org/presentationml/2006/ole">
            <mc:AlternateContent xmlns:mc="http://schemas.openxmlformats.org/markup-compatibility/2006">
              <mc:Choice xmlns:v="urn:schemas-microsoft-com:vml" Requires="v">
                <p:oleObj name="CS ChemDraw Drawing" r:id="rId2" imgW="5653695" imgH="732577" progId="ChemDraw.Document.6.0">
                  <p:embed/>
                </p:oleObj>
              </mc:Choice>
              <mc:Fallback>
                <p:oleObj name="CS ChemDraw Drawing" r:id="rId2" imgW="5653695" imgH="732577" progId="ChemDraw.Document.6.0">
                  <p:embed/>
                  <p:pic>
                    <p:nvPicPr>
                      <p:cNvPr id="0" name=""/>
                      <p:cNvPicPr/>
                      <p:nvPr/>
                    </p:nvPicPr>
                    <p:blipFill>
                      <a:blip r:embed="rId3"/>
                      <a:stretch>
                        <a:fillRect/>
                      </a:stretch>
                    </p:blipFill>
                    <p:spPr>
                      <a:xfrm>
                        <a:off x="811843" y="3428420"/>
                        <a:ext cx="10568313" cy="136815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08566284"/>
              </p:ext>
            </p:extLst>
          </p:nvPr>
        </p:nvGraphicFramePr>
        <p:xfrm>
          <a:off x="1343472" y="1099285"/>
          <a:ext cx="9651107" cy="1578277"/>
        </p:xfrm>
        <a:graphic>
          <a:graphicData uri="http://schemas.openxmlformats.org/presentationml/2006/ole">
            <mc:AlternateContent xmlns:mc="http://schemas.openxmlformats.org/markup-compatibility/2006">
              <mc:Choice xmlns:v="urn:schemas-microsoft-com:vml" Requires="v">
                <p:oleObj name="CS ChemDraw Drawing" r:id="rId4" imgW="5320289" imgH="870134" progId="ChemDraw.Document.6.0">
                  <p:embed/>
                </p:oleObj>
              </mc:Choice>
              <mc:Fallback>
                <p:oleObj name="CS ChemDraw Drawing" r:id="rId4" imgW="5320289" imgH="870134" progId="ChemDraw.Document.6.0">
                  <p:embed/>
                  <p:pic>
                    <p:nvPicPr>
                      <p:cNvPr id="0" name=""/>
                      <p:cNvPicPr/>
                      <p:nvPr/>
                    </p:nvPicPr>
                    <p:blipFill>
                      <a:blip r:embed="rId5"/>
                      <a:stretch>
                        <a:fillRect/>
                      </a:stretch>
                    </p:blipFill>
                    <p:spPr>
                      <a:xfrm>
                        <a:off x="1343472" y="1099285"/>
                        <a:ext cx="9651107" cy="1578277"/>
                      </a:xfrm>
                      <a:prstGeom prst="rect">
                        <a:avLst/>
                      </a:prstGeom>
                    </p:spPr>
                  </p:pic>
                </p:oleObj>
              </mc:Fallback>
            </mc:AlternateContent>
          </a:graphicData>
        </a:graphic>
      </p:graphicFrame>
    </p:spTree>
    <p:extLst>
      <p:ext uri="{BB962C8B-B14F-4D97-AF65-F5344CB8AC3E}">
        <p14:creationId xmlns:p14="http://schemas.microsoft.com/office/powerpoint/2010/main" val="305709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a:xfrm>
            <a:off x="7968208" y="5296638"/>
            <a:ext cx="443611" cy="360040"/>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68208" y="4797152"/>
            <a:ext cx="480104" cy="360040"/>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354578" y="4533258"/>
            <a:ext cx="486505" cy="360040"/>
          </a:xfrm>
          <a:prstGeom prst="ellipse">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417661" y="4028569"/>
            <a:ext cx="936104" cy="360040"/>
          </a:xfrm>
          <a:prstGeom prst="ellipse">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48201" y="4533258"/>
            <a:ext cx="407118" cy="360040"/>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631199" y="4029202"/>
            <a:ext cx="624120" cy="360040"/>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5" name="TextBox 4"/>
          <p:cNvSpPr txBox="1"/>
          <p:nvPr/>
        </p:nvSpPr>
        <p:spPr>
          <a:xfrm>
            <a:off x="407368" y="764704"/>
            <a:ext cx="11377264" cy="2246769"/>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The rigidity and lack of rotation of C=C bonds </a:t>
            </a:r>
            <a:r>
              <a:rPr lang="en-US" altLang="zh-CN" sz="2000" b="1" dirty="0">
                <a:latin typeface="Microsoft Sans Serif" pitchFamily="34" charset="0"/>
                <a:cs typeface="Microsoft Sans Serif" pitchFamily="34" charset="0"/>
              </a:rPr>
              <a:t>give rise to </a:t>
            </a:r>
            <a:r>
              <a:rPr lang="en-US" altLang="zh-CN" sz="2000" b="1" i="1" dirty="0">
                <a:highlight>
                  <a:srgbClr val="00FFFF"/>
                </a:highlight>
                <a:latin typeface="Microsoft Sans Serif" pitchFamily="34" charset="0"/>
                <a:cs typeface="Microsoft Sans Serif" pitchFamily="34" charset="0"/>
              </a:rPr>
              <a:t>cis-trans</a:t>
            </a:r>
            <a:r>
              <a:rPr lang="en-US" altLang="zh-CN" sz="2000" b="1" dirty="0">
                <a:highlight>
                  <a:srgbClr val="00FFFF"/>
                </a:highlight>
                <a:latin typeface="Microsoft Sans Serif" pitchFamily="34" charset="0"/>
                <a:cs typeface="Microsoft Sans Serif" pitchFamily="34" charset="0"/>
              </a:rPr>
              <a:t> isomerism</a:t>
            </a:r>
            <a:r>
              <a:rPr lang="en-US" altLang="zh-CN" sz="2000" b="1" dirty="0">
                <a:latin typeface="Microsoft Sans Serif" pitchFamily="34" charset="0"/>
                <a:cs typeface="Microsoft Sans Serif" pitchFamily="34" charset="0"/>
              </a:rPr>
              <a:t>. </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To have possible cis-trans isomers, the alkenes must have </a:t>
            </a:r>
            <a:r>
              <a:rPr lang="en-US" altLang="zh-CN" sz="2000" b="1" dirty="0">
                <a:highlight>
                  <a:srgbClr val="FFFF00"/>
                </a:highlight>
                <a:latin typeface="Microsoft Sans Serif" pitchFamily="34" charset="0"/>
                <a:cs typeface="Microsoft Sans Serif" pitchFamily="34" charset="0"/>
              </a:rPr>
              <a:t>each double bonded carbon bonded to two different groups</a:t>
            </a:r>
            <a:r>
              <a:rPr lang="en-US" altLang="zh-CN" sz="2000" b="1" dirty="0">
                <a:latin typeface="Microsoft Sans Serif" pitchFamily="34" charset="0"/>
                <a:cs typeface="Microsoft Sans Serif" pitchFamily="34" charset="0"/>
              </a:rPr>
              <a:t>.</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If </a:t>
            </a:r>
            <a:r>
              <a:rPr lang="en-US" altLang="zh-CN" sz="2000" b="1" dirty="0">
                <a:highlight>
                  <a:srgbClr val="FFFF00"/>
                </a:highlight>
                <a:latin typeface="Microsoft Sans Serif" pitchFamily="34" charset="0"/>
                <a:cs typeface="Microsoft Sans Serif" pitchFamily="34" charset="0"/>
              </a:rPr>
              <a:t>two similar groups</a:t>
            </a:r>
            <a:r>
              <a:rPr lang="en-US" altLang="zh-CN" sz="2000" b="1" dirty="0">
                <a:latin typeface="Microsoft Sans Serif" pitchFamily="34" charset="0"/>
                <a:cs typeface="Microsoft Sans Serif" pitchFamily="34" charset="0"/>
              </a:rPr>
              <a:t> bonded to the carbons of the double bond are </a:t>
            </a:r>
            <a:r>
              <a:rPr lang="en-US" altLang="zh-CN" sz="2000" b="1" dirty="0">
                <a:highlight>
                  <a:srgbClr val="FFFF00"/>
                </a:highlight>
                <a:latin typeface="Microsoft Sans Serif" pitchFamily="34" charset="0"/>
                <a:cs typeface="Microsoft Sans Serif" pitchFamily="34" charset="0"/>
              </a:rPr>
              <a:t>on the same side of the bond</a:t>
            </a:r>
            <a:r>
              <a:rPr lang="en-US" altLang="zh-CN" sz="2000" b="1" dirty="0">
                <a:latin typeface="Microsoft Sans Serif" pitchFamily="34" charset="0"/>
                <a:cs typeface="Microsoft Sans Serif" pitchFamily="34" charset="0"/>
              </a:rPr>
              <a:t>, the alkene is the </a:t>
            </a:r>
            <a:r>
              <a:rPr lang="en-US" altLang="zh-CN" sz="2000" b="1" i="1" dirty="0">
                <a:highlight>
                  <a:srgbClr val="00FFFF"/>
                </a:highlight>
                <a:latin typeface="Microsoft Sans Serif" pitchFamily="34" charset="0"/>
                <a:cs typeface="Microsoft Sans Serif" pitchFamily="34" charset="0"/>
              </a:rPr>
              <a:t>cis</a:t>
            </a:r>
            <a:r>
              <a:rPr lang="en-US" altLang="zh-CN" sz="2000" b="1" dirty="0">
                <a:highlight>
                  <a:srgbClr val="00FFFF"/>
                </a:highlight>
                <a:latin typeface="Microsoft Sans Serif" pitchFamily="34" charset="0"/>
                <a:cs typeface="Microsoft Sans Serif" pitchFamily="34" charset="0"/>
              </a:rPr>
              <a:t>  isomer</a:t>
            </a:r>
            <a:r>
              <a:rPr lang="en-US" altLang="zh-CN" sz="2000" b="1" dirty="0">
                <a:latin typeface="Microsoft Sans Serif" pitchFamily="34" charset="0"/>
                <a:cs typeface="Microsoft Sans Serif" pitchFamily="34" charset="0"/>
              </a:rPr>
              <a:t>.</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If </a:t>
            </a:r>
            <a:r>
              <a:rPr lang="en-US" altLang="zh-CN" sz="2000" b="1" dirty="0">
                <a:highlight>
                  <a:srgbClr val="FFFF00"/>
                </a:highlight>
                <a:latin typeface="Microsoft Sans Serif" pitchFamily="34" charset="0"/>
                <a:cs typeface="Microsoft Sans Serif" pitchFamily="34" charset="0"/>
              </a:rPr>
              <a:t>two similar groups</a:t>
            </a:r>
            <a:r>
              <a:rPr lang="en-US" altLang="zh-CN" sz="2000" b="1" dirty="0">
                <a:latin typeface="Microsoft Sans Serif" pitchFamily="34" charset="0"/>
                <a:cs typeface="Microsoft Sans Serif" pitchFamily="34" charset="0"/>
              </a:rPr>
              <a:t> bonded to the carbons of the double bond are </a:t>
            </a:r>
            <a:r>
              <a:rPr lang="en-US" altLang="zh-CN" sz="2000" b="1" dirty="0">
                <a:highlight>
                  <a:srgbClr val="FFFF00"/>
                </a:highlight>
                <a:latin typeface="Microsoft Sans Serif" pitchFamily="34" charset="0"/>
                <a:cs typeface="Microsoft Sans Serif" pitchFamily="34" charset="0"/>
              </a:rPr>
              <a:t>on the opposite sides </a:t>
            </a:r>
            <a:r>
              <a:rPr lang="en-US" altLang="zh-CN" sz="2000" b="1" dirty="0">
                <a:latin typeface="Microsoft Sans Serif" pitchFamily="34" charset="0"/>
                <a:cs typeface="Microsoft Sans Serif" pitchFamily="34" charset="0"/>
              </a:rPr>
              <a:t>of the bond, the alkene is the </a:t>
            </a:r>
            <a:r>
              <a:rPr lang="en-US" altLang="zh-CN" sz="2000" b="1" i="1" dirty="0">
                <a:highlight>
                  <a:srgbClr val="00FFFF"/>
                </a:highlight>
                <a:latin typeface="Microsoft Sans Serif" pitchFamily="34" charset="0"/>
                <a:cs typeface="Microsoft Sans Serif" pitchFamily="34" charset="0"/>
              </a:rPr>
              <a:t>trans</a:t>
            </a:r>
            <a:r>
              <a:rPr lang="en-US" altLang="zh-CN" sz="2000" b="1" dirty="0">
                <a:highlight>
                  <a:srgbClr val="00FFFF"/>
                </a:highlight>
                <a:latin typeface="Microsoft Sans Serif" pitchFamily="34" charset="0"/>
                <a:cs typeface="Microsoft Sans Serif" pitchFamily="34" charset="0"/>
              </a:rPr>
              <a:t>  isomer</a:t>
            </a:r>
            <a:r>
              <a:rPr lang="en-US" altLang="zh-CN" sz="2000" b="1" dirty="0">
                <a:latin typeface="Microsoft Sans Serif" pitchFamily="34" charset="0"/>
                <a:cs typeface="Microsoft Sans Serif" pitchFamily="34" charset="0"/>
              </a:rPr>
              <a:t>.</a:t>
            </a:r>
          </a:p>
        </p:txBody>
      </p:sp>
      <p:sp>
        <p:nvSpPr>
          <p:cNvPr id="7" name="矩形 6"/>
          <p:cNvSpPr/>
          <p:nvPr/>
        </p:nvSpPr>
        <p:spPr>
          <a:xfrm>
            <a:off x="0" y="260648"/>
            <a:ext cx="3634328"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4-3-2 Cis-Trans Nomenclature</a:t>
            </a:r>
          </a:p>
        </p:txBody>
      </p:sp>
      <p:sp>
        <p:nvSpPr>
          <p:cNvPr id="9" name="左大括号 8"/>
          <p:cNvSpPr/>
          <p:nvPr/>
        </p:nvSpPr>
        <p:spPr>
          <a:xfrm>
            <a:off x="1343167" y="4173218"/>
            <a:ext cx="189735" cy="57606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p:cNvSpPr txBox="1"/>
          <p:nvPr/>
        </p:nvSpPr>
        <p:spPr>
          <a:xfrm>
            <a:off x="264025" y="4307361"/>
            <a:ext cx="1079142" cy="307777"/>
          </a:xfrm>
          <a:prstGeom prst="rect">
            <a:avLst/>
          </a:prstGeom>
          <a:noFill/>
        </p:spPr>
        <p:txBody>
          <a:bodyPr wrap="none" rtlCol="0">
            <a:spAutoFit/>
          </a:bodyPr>
          <a:lstStyle/>
          <a:p>
            <a:r>
              <a:rPr lang="en-US" altLang="zh-CN" sz="1400" b="1" dirty="0">
                <a:latin typeface="Consolas" panose="020B0609020204030204" pitchFamily="49" charset="0"/>
              </a:rPr>
              <a:t>different</a:t>
            </a:r>
            <a:endParaRPr lang="zh-CN" altLang="en-US" sz="1400" b="1" dirty="0">
              <a:latin typeface="Consolas" panose="020B0609020204030204" pitchFamily="49" charset="0"/>
            </a:endParaRPr>
          </a:p>
        </p:txBody>
      </p:sp>
      <p:sp>
        <p:nvSpPr>
          <p:cNvPr id="15" name="左大括号 14"/>
          <p:cNvSpPr/>
          <p:nvPr/>
        </p:nvSpPr>
        <p:spPr>
          <a:xfrm flipH="1">
            <a:off x="3619619" y="4173217"/>
            <a:ext cx="226180" cy="57606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p:cNvSpPr txBox="1"/>
          <p:nvPr/>
        </p:nvSpPr>
        <p:spPr>
          <a:xfrm>
            <a:off x="3948891" y="4317234"/>
            <a:ext cx="1079142" cy="307777"/>
          </a:xfrm>
          <a:prstGeom prst="rect">
            <a:avLst/>
          </a:prstGeom>
          <a:noFill/>
        </p:spPr>
        <p:txBody>
          <a:bodyPr wrap="none" rtlCol="0">
            <a:spAutoFit/>
          </a:bodyPr>
          <a:lstStyle/>
          <a:p>
            <a:r>
              <a:rPr lang="en-US" altLang="zh-CN" sz="1400" b="1" dirty="0">
                <a:latin typeface="Consolas" panose="020B0609020204030204" pitchFamily="49" charset="0"/>
              </a:rPr>
              <a:t>different</a:t>
            </a:r>
            <a:endParaRPr lang="zh-CN" altLang="en-US" sz="1400" b="1" dirty="0">
              <a:latin typeface="Consolas" panose="020B0609020204030204" pitchFamily="49"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062785460"/>
              </p:ext>
            </p:extLst>
          </p:nvPr>
        </p:nvGraphicFramePr>
        <p:xfrm>
          <a:off x="1687650" y="4066135"/>
          <a:ext cx="5400600" cy="1157099"/>
        </p:xfrm>
        <a:graphic>
          <a:graphicData uri="http://schemas.openxmlformats.org/presentationml/2006/ole">
            <mc:AlternateContent xmlns:mc="http://schemas.openxmlformats.org/markup-compatibility/2006">
              <mc:Choice xmlns:v="urn:schemas-microsoft-com:vml" Requires="v">
                <p:oleObj name="CS ChemDraw Drawing" r:id="rId2" imgW="3564089" imgH="763101" progId="ChemDraw.Document.6.0">
                  <p:embed/>
                </p:oleObj>
              </mc:Choice>
              <mc:Fallback>
                <p:oleObj name="CS ChemDraw Drawing" r:id="rId2" imgW="3564089" imgH="763101" progId="ChemDraw.Document.6.0">
                  <p:embed/>
                  <p:pic>
                    <p:nvPicPr>
                      <p:cNvPr id="0" name=""/>
                      <p:cNvPicPr/>
                      <p:nvPr/>
                    </p:nvPicPr>
                    <p:blipFill>
                      <a:blip r:embed="rId3"/>
                      <a:stretch>
                        <a:fillRect/>
                      </a:stretch>
                    </p:blipFill>
                    <p:spPr>
                      <a:xfrm>
                        <a:off x="1687650" y="4066135"/>
                        <a:ext cx="5400600" cy="1157099"/>
                      </a:xfrm>
                      <a:prstGeom prst="rect">
                        <a:avLst/>
                      </a:prstGeom>
                    </p:spPr>
                  </p:pic>
                </p:oleObj>
              </mc:Fallback>
            </mc:AlternateContent>
          </a:graphicData>
        </a:graphic>
      </p:graphicFrame>
      <p:sp>
        <p:nvSpPr>
          <p:cNvPr id="22" name="左大括号 21"/>
          <p:cNvSpPr/>
          <p:nvPr/>
        </p:nvSpPr>
        <p:spPr>
          <a:xfrm>
            <a:off x="7670461" y="4977172"/>
            <a:ext cx="189735" cy="57606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p:cNvSpPr txBox="1"/>
          <p:nvPr/>
        </p:nvSpPr>
        <p:spPr>
          <a:xfrm>
            <a:off x="7088250" y="5111315"/>
            <a:ext cx="582211" cy="307777"/>
          </a:xfrm>
          <a:prstGeom prst="rect">
            <a:avLst/>
          </a:prstGeom>
          <a:noFill/>
        </p:spPr>
        <p:txBody>
          <a:bodyPr wrap="none" rtlCol="0">
            <a:spAutoFit/>
          </a:bodyPr>
          <a:lstStyle/>
          <a:p>
            <a:r>
              <a:rPr lang="en-US" altLang="zh-CN" sz="1400" b="1" dirty="0">
                <a:latin typeface="Consolas" panose="020B0609020204030204" pitchFamily="49" charset="0"/>
              </a:rPr>
              <a:t>same</a:t>
            </a:r>
            <a:endParaRPr lang="zh-CN" altLang="en-US" sz="1400" b="1" dirty="0">
              <a:latin typeface="Consolas" panose="020B0609020204030204" pitchFamily="49" charset="0"/>
            </a:endParaRPr>
          </a:p>
        </p:txBody>
      </p:sp>
      <p:cxnSp>
        <p:nvCxnSpPr>
          <p:cNvPr id="4" name="直接连接符 3"/>
          <p:cNvCxnSpPr/>
          <p:nvPr/>
        </p:nvCxnSpPr>
        <p:spPr>
          <a:xfrm flipH="1">
            <a:off x="6449427" y="4066135"/>
            <a:ext cx="1476164" cy="1866457"/>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 name="对象 5"/>
          <p:cNvGraphicFramePr>
            <a:graphicFrameLocks noChangeAspect="1"/>
          </p:cNvGraphicFramePr>
          <p:nvPr>
            <p:extLst>
              <p:ext uri="{D42A27DB-BD31-4B8C-83A1-F6EECF244321}">
                <p14:modId xmlns:p14="http://schemas.microsoft.com/office/powerpoint/2010/main" val="180092336"/>
              </p:ext>
            </p:extLst>
          </p:nvPr>
        </p:nvGraphicFramePr>
        <p:xfrm>
          <a:off x="7800953" y="4843955"/>
          <a:ext cx="4176825" cy="1696602"/>
        </p:xfrm>
        <a:graphic>
          <a:graphicData uri="http://schemas.openxmlformats.org/presentationml/2006/ole">
            <mc:AlternateContent xmlns:mc="http://schemas.openxmlformats.org/markup-compatibility/2006">
              <mc:Choice xmlns:v="urn:schemas-microsoft-com:vml" Requires="v">
                <p:oleObj name="CS ChemDraw Drawing" r:id="rId4" imgW="2664879" imgH="1083405" progId="ChemDraw.Document.6.0">
                  <p:embed/>
                </p:oleObj>
              </mc:Choice>
              <mc:Fallback>
                <p:oleObj name="CS ChemDraw Drawing" r:id="rId4" imgW="2664879" imgH="1083405" progId="ChemDraw.Document.6.0">
                  <p:embed/>
                  <p:pic>
                    <p:nvPicPr>
                      <p:cNvPr id="0" name=""/>
                      <p:cNvPicPr/>
                      <p:nvPr/>
                    </p:nvPicPr>
                    <p:blipFill>
                      <a:blip r:embed="rId5"/>
                      <a:stretch>
                        <a:fillRect/>
                      </a:stretch>
                    </p:blipFill>
                    <p:spPr>
                      <a:xfrm>
                        <a:off x="7800953" y="4843955"/>
                        <a:ext cx="4176825" cy="1696602"/>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9</a:t>
            </a:fld>
            <a:endParaRPr lang="zh-CN" altLang="en-US"/>
          </a:p>
        </p:txBody>
      </p:sp>
      <p:sp>
        <p:nvSpPr>
          <p:cNvPr id="5" name="TextBox 4"/>
          <p:cNvSpPr txBox="1"/>
          <p:nvPr/>
        </p:nvSpPr>
        <p:spPr>
          <a:xfrm>
            <a:off x="383790" y="799544"/>
            <a:ext cx="11400842" cy="707886"/>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The </a:t>
            </a:r>
            <a:r>
              <a:rPr lang="en-US" altLang="zh-CN" sz="2000" b="1" i="1" dirty="0">
                <a:latin typeface="Microsoft Sans Serif" pitchFamily="34" charset="0"/>
                <a:cs typeface="Microsoft Sans Serif" pitchFamily="34" charset="0"/>
              </a:rPr>
              <a:t>cis-trans</a:t>
            </a:r>
            <a:r>
              <a:rPr lang="en-US" altLang="zh-CN" sz="2000" b="1" dirty="0">
                <a:latin typeface="Microsoft Sans Serif" pitchFamily="34" charset="0"/>
                <a:cs typeface="Microsoft Sans Serif" pitchFamily="34" charset="0"/>
              </a:rPr>
              <a:t>  nomenclature sometimes fails to give an unambiguous name.</a:t>
            </a:r>
          </a:p>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To deal with this problem, we use </a:t>
            </a:r>
            <a:r>
              <a:rPr lang="en-US" altLang="zh-CN" sz="2000" b="1" dirty="0">
                <a:highlight>
                  <a:srgbClr val="00FFFF"/>
                </a:highlight>
                <a:latin typeface="Microsoft Sans Serif" pitchFamily="34" charset="0"/>
                <a:cs typeface="Microsoft Sans Serif" pitchFamily="34" charset="0"/>
              </a:rPr>
              <a:t>the E-Z system of nomenclature for </a:t>
            </a:r>
            <a:r>
              <a:rPr lang="en-US" altLang="zh-CN" sz="2000" b="1" i="1" dirty="0">
                <a:highlight>
                  <a:srgbClr val="00FFFF"/>
                </a:highlight>
                <a:latin typeface="Microsoft Sans Serif" pitchFamily="34" charset="0"/>
                <a:cs typeface="Microsoft Sans Serif" pitchFamily="34" charset="0"/>
              </a:rPr>
              <a:t>cis-trans</a:t>
            </a:r>
            <a:r>
              <a:rPr lang="en-US" altLang="zh-CN" sz="2000" b="1" dirty="0">
                <a:highlight>
                  <a:srgbClr val="00FFFF"/>
                </a:highlight>
                <a:latin typeface="Microsoft Sans Serif" pitchFamily="34" charset="0"/>
                <a:cs typeface="Microsoft Sans Serif" pitchFamily="34" charset="0"/>
              </a:rPr>
              <a:t>  isomers</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sp>
        <p:nvSpPr>
          <p:cNvPr id="7" name="TextBox 6"/>
          <p:cNvSpPr txBox="1"/>
          <p:nvPr/>
        </p:nvSpPr>
        <p:spPr>
          <a:xfrm>
            <a:off x="252030" y="2942605"/>
            <a:ext cx="11548374" cy="1938992"/>
          </a:xfrm>
          <a:prstGeom prst="rect">
            <a:avLst/>
          </a:prstGeom>
          <a:noFill/>
        </p:spPr>
        <p:txBody>
          <a:bodyPr wrap="square" rtlCol="0">
            <a:spAutoFit/>
          </a:bodyPr>
          <a:lstStyle/>
          <a:p>
            <a:pPr>
              <a:buFont typeface="Arial" pitchFamily="34" charset="0"/>
              <a:buChar char="•"/>
            </a:pPr>
            <a:r>
              <a:rPr lang="en-US" altLang="zh-CN" sz="2000" b="1" dirty="0">
                <a:latin typeface="Microsoft Sans Serif" pitchFamily="34" charset="0"/>
                <a:cs typeface="Microsoft Sans Serif" pitchFamily="34" charset="0"/>
              </a:rPr>
              <a:t>To name an alkene by the </a:t>
            </a:r>
            <a:r>
              <a:rPr lang="en-US" altLang="zh-CN" sz="2000" b="1" i="1" dirty="0">
                <a:latin typeface="Microsoft Sans Serif" pitchFamily="34" charset="0"/>
                <a:cs typeface="Microsoft Sans Serif" pitchFamily="34" charset="0"/>
              </a:rPr>
              <a:t>E-Z</a:t>
            </a:r>
            <a:r>
              <a:rPr lang="en-US" altLang="zh-CN" sz="2000" b="1" dirty="0">
                <a:latin typeface="Microsoft Sans Serif" pitchFamily="34" charset="0"/>
                <a:cs typeface="Microsoft Sans Serif" pitchFamily="34" charset="0"/>
              </a:rPr>
              <a:t> system:</a:t>
            </a:r>
          </a:p>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Mentally separate the double bond into its two ends.</a:t>
            </a:r>
          </a:p>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Use the CIP rules to assign first and second priorities to the two substituents on each end.</a:t>
            </a:r>
            <a:endParaRPr lang="zh-CN" altLang="en-US" sz="2000" b="1" dirty="0">
              <a:latin typeface="Microsoft Sans Serif" pitchFamily="34" charset="0"/>
              <a:cs typeface="Microsoft Sans Serif" pitchFamily="34" charset="0"/>
            </a:endParaRPr>
          </a:p>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If </a:t>
            </a:r>
            <a:r>
              <a:rPr lang="en-US" altLang="zh-CN" sz="2000" b="1" dirty="0">
                <a:highlight>
                  <a:srgbClr val="FFFF00"/>
                </a:highlight>
                <a:latin typeface="Microsoft Sans Serif" pitchFamily="34" charset="0"/>
                <a:cs typeface="Microsoft Sans Serif" pitchFamily="34" charset="0"/>
              </a:rPr>
              <a:t>the two first-priority groups are together on the same side of the double bond</a:t>
            </a:r>
            <a:r>
              <a:rPr lang="en-US" altLang="zh-CN" sz="2000" b="1" dirty="0">
                <a:latin typeface="Microsoft Sans Serif" pitchFamily="34" charset="0"/>
                <a:cs typeface="Microsoft Sans Serif" pitchFamily="34" charset="0"/>
              </a:rPr>
              <a:t>, we have the </a:t>
            </a:r>
            <a:r>
              <a:rPr lang="en-US" altLang="zh-CN" sz="2000" b="1" i="1" dirty="0">
                <a:highlight>
                  <a:srgbClr val="00FFFF"/>
                </a:highlight>
                <a:latin typeface="Microsoft Sans Serif" pitchFamily="34" charset="0"/>
                <a:cs typeface="Microsoft Sans Serif" pitchFamily="34" charset="0"/>
              </a:rPr>
              <a:t>Z</a:t>
            </a:r>
            <a:r>
              <a:rPr lang="en-US" altLang="zh-CN" sz="2000" b="1" dirty="0">
                <a:highlight>
                  <a:srgbClr val="00FFFF"/>
                </a:highlight>
                <a:latin typeface="Microsoft Sans Serif" pitchFamily="34" charset="0"/>
                <a:cs typeface="Microsoft Sans Serif" pitchFamily="34" charset="0"/>
              </a:rPr>
              <a:t>  isomer</a:t>
            </a:r>
            <a:r>
              <a:rPr lang="en-US" altLang="zh-CN" sz="2000" b="1" dirty="0">
                <a:latin typeface="Microsoft Sans Serif" pitchFamily="34" charset="0"/>
                <a:cs typeface="Microsoft Sans Serif" pitchFamily="34" charset="0"/>
              </a:rPr>
              <a:t>.</a:t>
            </a:r>
          </a:p>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If </a:t>
            </a:r>
            <a:r>
              <a:rPr lang="en-US" altLang="zh-CN" sz="2000" b="1" dirty="0">
                <a:highlight>
                  <a:srgbClr val="FFFF00"/>
                </a:highlight>
                <a:latin typeface="Microsoft Sans Serif" pitchFamily="34" charset="0"/>
                <a:cs typeface="Microsoft Sans Serif" pitchFamily="34" charset="0"/>
              </a:rPr>
              <a:t>the two first-priority groups are on opposite sides of the double bond</a:t>
            </a:r>
            <a:r>
              <a:rPr lang="en-US" altLang="zh-CN" sz="2000" b="1" dirty="0">
                <a:latin typeface="Microsoft Sans Serif" pitchFamily="34" charset="0"/>
                <a:cs typeface="Microsoft Sans Serif" pitchFamily="34" charset="0"/>
              </a:rPr>
              <a:t>, we have the </a:t>
            </a:r>
            <a:r>
              <a:rPr lang="en-US" altLang="zh-CN" sz="2000" b="1" i="1" dirty="0">
                <a:highlight>
                  <a:srgbClr val="00FFFF"/>
                </a:highlight>
                <a:latin typeface="Microsoft Sans Serif" pitchFamily="34" charset="0"/>
                <a:cs typeface="Microsoft Sans Serif" pitchFamily="34" charset="0"/>
              </a:rPr>
              <a:t>E </a:t>
            </a:r>
            <a:r>
              <a:rPr lang="en-US" altLang="zh-CN" sz="2000" b="1" dirty="0">
                <a:highlight>
                  <a:srgbClr val="00FFFF"/>
                </a:highlight>
                <a:latin typeface="Microsoft Sans Serif" pitchFamily="34" charset="0"/>
                <a:cs typeface="Microsoft Sans Serif" pitchFamily="34" charset="0"/>
              </a:rPr>
              <a:t> isomer</a:t>
            </a:r>
            <a:r>
              <a:rPr lang="en-US" altLang="zh-CN" sz="2000" b="1" dirty="0">
                <a:latin typeface="Microsoft Sans Serif" pitchFamily="34" charset="0"/>
                <a:cs typeface="Microsoft Sans Serif" pitchFamily="34" charset="0"/>
              </a:rPr>
              <a:t>.</a:t>
            </a:r>
            <a:endParaRPr lang="zh-CN" altLang="en-US" sz="2000" dirty="0">
              <a:latin typeface="Microsoft Sans Serif" pitchFamily="34" charset="0"/>
              <a:cs typeface="Microsoft Sans Serif" pitchFamily="34" charset="0"/>
            </a:endParaRPr>
          </a:p>
        </p:txBody>
      </p:sp>
      <p:sp>
        <p:nvSpPr>
          <p:cNvPr id="11" name="矩形 10"/>
          <p:cNvSpPr/>
          <p:nvPr/>
        </p:nvSpPr>
        <p:spPr>
          <a:xfrm>
            <a:off x="0" y="286632"/>
            <a:ext cx="3002745"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4-3-3 E-Z  Nomenclature</a:t>
            </a:r>
          </a:p>
        </p:txBody>
      </p:sp>
      <p:graphicFrame>
        <p:nvGraphicFramePr>
          <p:cNvPr id="3" name="对象 2"/>
          <p:cNvGraphicFramePr>
            <a:graphicFrameLocks noChangeAspect="1"/>
          </p:cNvGraphicFramePr>
          <p:nvPr>
            <p:extLst>
              <p:ext uri="{D42A27DB-BD31-4B8C-83A1-F6EECF244321}">
                <p14:modId xmlns:p14="http://schemas.microsoft.com/office/powerpoint/2010/main" val="945193049"/>
              </p:ext>
            </p:extLst>
          </p:nvPr>
        </p:nvGraphicFramePr>
        <p:xfrm>
          <a:off x="7205056" y="1662304"/>
          <a:ext cx="3569143" cy="1878497"/>
        </p:xfrm>
        <a:graphic>
          <a:graphicData uri="http://schemas.openxmlformats.org/presentationml/2006/ole">
            <mc:AlternateContent xmlns:mc="http://schemas.openxmlformats.org/markup-compatibility/2006">
              <mc:Choice xmlns:v="urn:schemas-microsoft-com:vml" Requires="v">
                <p:oleObj name="CS ChemDraw Drawing" r:id="rId2" imgW="2140899" imgH="1127804" progId="ChemDraw.Document.6.0">
                  <p:embed/>
                </p:oleObj>
              </mc:Choice>
              <mc:Fallback>
                <p:oleObj name="CS ChemDraw Drawing" r:id="rId2" imgW="2140899" imgH="1127804" progId="ChemDraw.Document.6.0">
                  <p:embed/>
                  <p:pic>
                    <p:nvPicPr>
                      <p:cNvPr id="0" name=""/>
                      <p:cNvPicPr/>
                      <p:nvPr/>
                    </p:nvPicPr>
                    <p:blipFill>
                      <a:blip r:embed="rId3"/>
                      <a:stretch>
                        <a:fillRect/>
                      </a:stretch>
                    </p:blipFill>
                    <p:spPr>
                      <a:xfrm>
                        <a:off x="7205056" y="1662304"/>
                        <a:ext cx="3569143" cy="1878497"/>
                      </a:xfrm>
                      <a:prstGeom prst="rect">
                        <a:avLst/>
                      </a:prstGeom>
                    </p:spPr>
                  </p:pic>
                </p:oleObj>
              </mc:Fallback>
            </mc:AlternateContent>
          </a:graphicData>
        </a:graphic>
      </p:graphicFrame>
      <p:sp>
        <p:nvSpPr>
          <p:cNvPr id="4" name="矩形 3"/>
          <p:cNvSpPr/>
          <p:nvPr/>
        </p:nvSpPr>
        <p:spPr>
          <a:xfrm>
            <a:off x="3700589" y="5115767"/>
            <a:ext cx="1248194" cy="10987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869885" y="5115767"/>
            <a:ext cx="811846" cy="100341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85109" y="5115767"/>
            <a:ext cx="632526" cy="100341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Object 5"/>
          <p:cNvGraphicFramePr>
            <a:graphicFrameLocks noChangeAspect="1"/>
          </p:cNvGraphicFramePr>
          <p:nvPr>
            <p:extLst>
              <p:ext uri="{D42A27DB-BD31-4B8C-83A1-F6EECF244321}">
                <p14:modId xmlns:p14="http://schemas.microsoft.com/office/powerpoint/2010/main" val="1850852915"/>
              </p:ext>
            </p:extLst>
          </p:nvPr>
        </p:nvGraphicFramePr>
        <p:xfrm>
          <a:off x="773788" y="5164961"/>
          <a:ext cx="3529370" cy="1037252"/>
        </p:xfrm>
        <a:graphic>
          <a:graphicData uri="http://schemas.openxmlformats.org/presentationml/2006/ole">
            <mc:AlternateContent xmlns:mc="http://schemas.openxmlformats.org/markup-compatibility/2006">
              <mc:Choice xmlns:v="urn:schemas-microsoft-com:vml" Requires="v">
                <p:oleObj name="CS ChemDraw Drawing" r:id="rId4" imgW="1728419" imgH="507600" progId="ChemDraw.Document.6.0">
                  <p:embed/>
                </p:oleObj>
              </mc:Choice>
              <mc:Fallback>
                <p:oleObj name="CS ChemDraw Drawing" r:id="rId4" imgW="1728419" imgH="507600" progId="ChemDraw.Document.6.0">
                  <p:embed/>
                  <p:pic>
                    <p:nvPicPr>
                      <p:cNvPr id="2560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788" y="5164961"/>
                        <a:ext cx="3529370" cy="1037252"/>
                      </a:xfrm>
                      <a:prstGeom prst="rect">
                        <a:avLst/>
                      </a:prstGeom>
                      <a:noFill/>
                      <a:ln>
                        <a:noFill/>
                      </a:ln>
                      <a:effectLst/>
                    </p:spPr>
                  </p:pic>
                </p:oleObj>
              </mc:Fallback>
            </mc:AlternateContent>
          </a:graphicData>
        </a:graphic>
      </p:graphicFrame>
      <p:pic>
        <p:nvPicPr>
          <p:cNvPr id="14" name="图片 13"/>
          <p:cNvPicPr>
            <a:picLocks noChangeAspect="1"/>
          </p:cNvPicPr>
          <p:nvPr/>
        </p:nvPicPr>
        <p:blipFill>
          <a:blip r:embed="rId6"/>
          <a:stretch>
            <a:fillRect/>
          </a:stretch>
        </p:blipFill>
        <p:spPr>
          <a:xfrm>
            <a:off x="609600" y="6316772"/>
            <a:ext cx="4158285" cy="427235"/>
          </a:xfrm>
          <a:prstGeom prst="rect">
            <a:avLst/>
          </a:prstGeom>
        </p:spPr>
      </p:pic>
      <p:graphicFrame>
        <p:nvGraphicFramePr>
          <p:cNvPr id="15" name="对象 14"/>
          <p:cNvGraphicFramePr>
            <a:graphicFrameLocks noChangeAspect="1"/>
          </p:cNvGraphicFramePr>
          <p:nvPr>
            <p:extLst>
              <p:ext uri="{D42A27DB-BD31-4B8C-83A1-F6EECF244321}">
                <p14:modId xmlns:p14="http://schemas.microsoft.com/office/powerpoint/2010/main" val="1026774644"/>
              </p:ext>
            </p:extLst>
          </p:nvPr>
        </p:nvGraphicFramePr>
        <p:xfrm>
          <a:off x="5786743" y="5164961"/>
          <a:ext cx="4219737" cy="1525780"/>
        </p:xfrm>
        <a:graphic>
          <a:graphicData uri="http://schemas.openxmlformats.org/presentationml/2006/ole">
            <mc:AlternateContent xmlns:mc="http://schemas.openxmlformats.org/markup-compatibility/2006">
              <mc:Choice xmlns:v="urn:schemas-microsoft-com:vml" Requires="v">
                <p:oleObj name="CS ChemDraw Drawing" r:id="rId7" imgW="1967292" imgH="711567" progId="ChemDraw.Document.6.0">
                  <p:embed/>
                </p:oleObj>
              </mc:Choice>
              <mc:Fallback>
                <p:oleObj name="CS ChemDraw Drawing" r:id="rId7" imgW="1967292" imgH="711567" progId="ChemDraw.Document.6.0">
                  <p:embed/>
                  <p:pic>
                    <p:nvPicPr>
                      <p:cNvPr id="0" name=""/>
                      <p:cNvPicPr/>
                      <p:nvPr/>
                    </p:nvPicPr>
                    <p:blipFill>
                      <a:blip r:embed="rId8"/>
                      <a:stretch>
                        <a:fillRect/>
                      </a:stretch>
                    </p:blipFill>
                    <p:spPr>
                      <a:xfrm>
                        <a:off x="5786743" y="5164961"/>
                        <a:ext cx="4219737" cy="1525780"/>
                      </a:xfrm>
                      <a:prstGeom prst="rect">
                        <a:avLst/>
                      </a:prstGeom>
                    </p:spPr>
                  </p:pic>
                </p:oleObj>
              </mc:Fallback>
            </mc:AlternateContent>
          </a:graphicData>
        </a:graphic>
      </p:graphicFrame>
      <p:sp>
        <p:nvSpPr>
          <p:cNvPr id="12" name="椭圆 11"/>
          <p:cNvSpPr/>
          <p:nvPr/>
        </p:nvSpPr>
        <p:spPr>
          <a:xfrm>
            <a:off x="6977930" y="5849941"/>
            <a:ext cx="630237" cy="35227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960819" y="5195696"/>
            <a:ext cx="706772" cy="36512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10</a:t>
            </a:fld>
            <a:endParaRPr lang="zh-CN" altLang="en-US"/>
          </a:p>
        </p:txBody>
      </p:sp>
      <p:sp>
        <p:nvSpPr>
          <p:cNvPr id="5" name="矩形 4"/>
          <p:cNvSpPr/>
          <p:nvPr/>
        </p:nvSpPr>
        <p:spPr>
          <a:xfrm>
            <a:off x="0" y="238186"/>
            <a:ext cx="4868640"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4-4 Physical Properties of Alkenes</a:t>
            </a:r>
          </a:p>
        </p:txBody>
      </p:sp>
      <p:sp>
        <p:nvSpPr>
          <p:cNvPr id="3" name="矩形 2"/>
          <p:cNvSpPr/>
          <p:nvPr/>
        </p:nvSpPr>
        <p:spPr>
          <a:xfrm>
            <a:off x="587388" y="1716286"/>
            <a:ext cx="11017224" cy="2246769"/>
          </a:xfrm>
          <a:prstGeom prst="rect">
            <a:avLst/>
          </a:prstGeom>
        </p:spPr>
        <p:txBody>
          <a:bodyPr wrap="square">
            <a:spAutoFit/>
          </a:bodyPr>
          <a:lstStyle/>
          <a:p>
            <a:pPr marL="285750" indent="-285750">
              <a:buFont typeface="Arial" panose="020B0604020202020204" pitchFamily="34" charset="0"/>
              <a:buChar char="•"/>
            </a:pPr>
            <a:r>
              <a:rPr lang="en-US" altLang="zh-CN" sz="2000" b="1" dirty="0">
                <a:highlight>
                  <a:srgbClr val="00FF00"/>
                </a:highlight>
                <a:latin typeface="Microsoft Sans Serif" pitchFamily="34" charset="0"/>
                <a:cs typeface="Microsoft Sans Serif" pitchFamily="34" charset="0"/>
              </a:rPr>
              <a:t>Solubility</a:t>
            </a:r>
            <a:r>
              <a:rPr lang="en-US" altLang="zh-CN" sz="2000" b="1" dirty="0">
                <a:latin typeface="Microsoft Sans Serif" pitchFamily="34" charset="0"/>
                <a:cs typeface="Microsoft Sans Serif" pitchFamily="34" charset="0"/>
              </a:rPr>
              <a:t>: They are </a:t>
            </a:r>
            <a:r>
              <a:rPr lang="en-US" altLang="zh-CN" sz="2000" b="1" dirty="0">
                <a:highlight>
                  <a:srgbClr val="FFFF00"/>
                </a:highlight>
                <a:latin typeface="Microsoft Sans Serif" pitchFamily="34" charset="0"/>
                <a:cs typeface="Microsoft Sans Serif" pitchFamily="34" charset="0"/>
              </a:rPr>
              <a:t>insoluble in water </a:t>
            </a:r>
            <a:r>
              <a:rPr lang="en-US" altLang="zh-CN" sz="2000" b="1" dirty="0">
                <a:latin typeface="Microsoft Sans Serif" pitchFamily="34" charset="0"/>
                <a:cs typeface="Microsoft Sans Serif" pitchFamily="34" charset="0"/>
              </a:rPr>
              <a:t>but </a:t>
            </a:r>
            <a:r>
              <a:rPr lang="en-US" altLang="zh-CN" sz="2000" b="1" dirty="0">
                <a:highlight>
                  <a:srgbClr val="00FFFF"/>
                </a:highlight>
                <a:latin typeface="Microsoft Sans Serif" pitchFamily="34" charset="0"/>
                <a:cs typeface="Microsoft Sans Serif" pitchFamily="34" charset="0"/>
              </a:rPr>
              <a:t>soluble in nonpolar solvents</a:t>
            </a:r>
            <a:r>
              <a:rPr lang="en-US" altLang="zh-CN" sz="2000" b="1" dirty="0">
                <a:solidFill>
                  <a:srgbClr val="0000FF"/>
                </a:solidFill>
                <a:highlight>
                  <a:srgbClr val="00FFFF"/>
                </a:highlight>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such as hexane, gasoline, halogenated solvents, and ethers.</a:t>
            </a: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highlight>
                  <a:srgbClr val="00FF00"/>
                </a:highlight>
                <a:latin typeface="Microsoft Sans Serif" pitchFamily="34" charset="0"/>
                <a:cs typeface="Microsoft Sans Serif" pitchFamily="34" charset="0"/>
              </a:rPr>
              <a:t>Boiling points</a:t>
            </a:r>
            <a:r>
              <a:rPr lang="en-US" altLang="zh-CN" sz="2000" b="1" dirty="0">
                <a:latin typeface="Microsoft Sans Serif" pitchFamily="34" charset="0"/>
                <a:cs typeface="Microsoft Sans Serif" pitchFamily="34" charset="0"/>
              </a:rPr>
              <a:t>: increase smoothly with molecular weight; increased branching leads to lower boiling points.</a:t>
            </a:r>
          </a:p>
          <a:p>
            <a:pPr marL="285750" indent="-285750" algn="just">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highlight>
                  <a:srgbClr val="00FF00"/>
                </a:highlight>
                <a:latin typeface="Microsoft Sans Serif" pitchFamily="34" charset="0"/>
                <a:cs typeface="Microsoft Sans Serif" pitchFamily="34" charset="0"/>
              </a:rPr>
              <a:t>Densities</a:t>
            </a:r>
            <a:r>
              <a:rPr lang="en-US" altLang="zh-CN" sz="2000" b="1" dirty="0">
                <a:latin typeface="Microsoft Sans Serif" pitchFamily="34" charset="0"/>
                <a:cs typeface="Microsoft Sans Serif" pitchFamily="34" charset="0"/>
              </a:rPr>
              <a:t>: around 0.6-0.7 g/cm</a:t>
            </a:r>
            <a:r>
              <a:rPr lang="en-US" altLang="zh-CN" sz="2000" b="1" baseline="30000" dirty="0">
                <a:latin typeface="Microsoft Sans Serif" pitchFamily="34" charset="0"/>
                <a:cs typeface="Microsoft Sans Serif" pitchFamily="34" charset="0"/>
              </a:rPr>
              <a:t>3</a:t>
            </a:r>
            <a:r>
              <a:rPr lang="en-US" altLang="zh-CN" sz="2000" b="1" dirty="0">
                <a:latin typeface="Microsoft Sans Serif" pitchFamily="34" charset="0"/>
                <a:cs typeface="Microsoft Sans Serif" pitchFamily="34" charset="0"/>
              </a:rPr>
              <a:t>.</a:t>
            </a:r>
          </a:p>
        </p:txBody>
      </p:sp>
      <p:sp>
        <p:nvSpPr>
          <p:cNvPr id="11" name="文本框 10">
            <a:extLst>
              <a:ext uri="{FF2B5EF4-FFF2-40B4-BE49-F238E27FC236}">
                <a16:creationId xmlns:a16="http://schemas.microsoft.com/office/drawing/2014/main" id="{F64BFB02-675D-4202-8E46-B68641DB392D}"/>
              </a:ext>
            </a:extLst>
          </p:cNvPr>
          <p:cNvSpPr txBox="1"/>
          <p:nvPr/>
        </p:nvSpPr>
        <p:spPr>
          <a:xfrm>
            <a:off x="286895" y="803540"/>
            <a:ext cx="11103024" cy="707886"/>
          </a:xfrm>
          <a:prstGeom prst="rect">
            <a:avLst/>
          </a:prstGeom>
          <a:noFill/>
        </p:spPr>
        <p:txBody>
          <a:bodyPr wrap="square">
            <a:spAutoFit/>
          </a:bodyPr>
          <a:lstStyle/>
          <a:p>
            <a:pPr marL="342900" indent="-34290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Like alkanes</a:t>
            </a:r>
            <a:r>
              <a:rPr lang="en-US" altLang="zh-CN" sz="2000" b="1" dirty="0">
                <a:latin typeface="Microsoft Sans Serif" pitchFamily="34" charset="0"/>
                <a:cs typeface="Microsoft Sans Serif" pitchFamily="34" charset="0"/>
              </a:rPr>
              <a:t>, </a:t>
            </a:r>
            <a:r>
              <a:rPr lang="en-US" altLang="zh-CN" sz="2000" b="1" dirty="0">
                <a:highlight>
                  <a:srgbClr val="00FFFF"/>
                </a:highlight>
                <a:latin typeface="Microsoft Sans Serif" pitchFamily="34" charset="0"/>
                <a:cs typeface="Microsoft Sans Serif" pitchFamily="34" charset="0"/>
              </a:rPr>
              <a:t>alkenes</a:t>
            </a:r>
            <a:r>
              <a:rPr lang="en-US" altLang="zh-CN" sz="2000" b="1" dirty="0">
                <a:latin typeface="Microsoft Sans Serif" pitchFamily="34" charset="0"/>
                <a:cs typeface="Microsoft Sans Serif" pitchFamily="34" charset="0"/>
              </a:rPr>
              <a:t> are </a:t>
            </a:r>
            <a:r>
              <a:rPr lang="en-US" altLang="zh-CN" sz="2000" b="1" dirty="0">
                <a:highlight>
                  <a:srgbClr val="00FFFF"/>
                </a:highlight>
                <a:latin typeface="Microsoft Sans Serif" pitchFamily="34" charset="0"/>
                <a:cs typeface="Microsoft Sans Serif" pitchFamily="34" charset="0"/>
              </a:rPr>
              <a:t>relatively nonpolar</a:t>
            </a:r>
            <a:r>
              <a:rPr lang="en-US" altLang="zh-CN" sz="2000" b="1" dirty="0">
                <a:latin typeface="Microsoft Sans Serif" pitchFamily="34" charset="0"/>
                <a:cs typeface="Microsoft Sans Serif"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Most physical properties of alkenes are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similar to those of the corresponding alkanes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11</a:t>
            </a:fld>
            <a:endParaRPr lang="zh-CN" altLang="en-US"/>
          </a:p>
        </p:txBody>
      </p:sp>
      <p:sp>
        <p:nvSpPr>
          <p:cNvPr id="6" name="TextBox 5"/>
          <p:cNvSpPr txBox="1"/>
          <p:nvPr/>
        </p:nvSpPr>
        <p:spPr>
          <a:xfrm>
            <a:off x="333839" y="709322"/>
            <a:ext cx="11156218"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reactions of alkenes arise from the reactivity of the carbon-carbon double bond C=C.</a:t>
            </a:r>
            <a:endParaRPr lang="en-US" altLang="zh-CN" sz="2000" b="1" u="sng"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矩形 1"/>
          <p:cNvSpPr/>
          <p:nvPr/>
        </p:nvSpPr>
        <p:spPr>
          <a:xfrm>
            <a:off x="0" y="198409"/>
            <a:ext cx="4373313"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 Reactivity of the C=C bond</a:t>
            </a:r>
          </a:p>
        </p:txBody>
      </p:sp>
      <p:sp>
        <p:nvSpPr>
          <p:cNvPr id="3" name="文本框 2"/>
          <p:cNvSpPr txBox="1"/>
          <p:nvPr/>
        </p:nvSpPr>
        <p:spPr>
          <a:xfrm>
            <a:off x="781642" y="1073645"/>
            <a:ext cx="10827402" cy="163121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C=C double bond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consists of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a strong sigma bond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and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a relatively weak pi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Under mild conditions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the relatively weak pi bond breaks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to give new products, the strong sigma bond remains.</a:t>
            </a:r>
          </a:p>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Under harsh conditions</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 both the sigma bond and the pi bond break</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the alkene is cleaved into smaller molecules.</a:t>
            </a:r>
          </a:p>
        </p:txBody>
      </p:sp>
      <p:sp>
        <p:nvSpPr>
          <p:cNvPr id="9" name="文本框 8">
            <a:extLst>
              <a:ext uri="{FF2B5EF4-FFF2-40B4-BE49-F238E27FC236}">
                <a16:creationId xmlns:a16="http://schemas.microsoft.com/office/drawing/2014/main" id="{991D8F8A-A34A-48E8-9F9A-CF4576F74361}"/>
              </a:ext>
            </a:extLst>
          </p:cNvPr>
          <p:cNvSpPr txBox="1"/>
          <p:nvPr/>
        </p:nvSpPr>
        <p:spPr>
          <a:xfrm>
            <a:off x="333839" y="4785834"/>
            <a:ext cx="9030602" cy="400110"/>
          </a:xfrm>
          <a:prstGeom prst="rect">
            <a:avLst/>
          </a:prstGeom>
          <a:noFill/>
        </p:spPr>
        <p:txBody>
          <a:bodyPr wrap="square">
            <a:spAutoFit/>
          </a:bodyPr>
          <a:lstStyle/>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Addition reaction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is the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most common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reaction of alkenes.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8" name="对象 7">
            <a:extLst>
              <a:ext uri="{FF2B5EF4-FFF2-40B4-BE49-F238E27FC236}">
                <a16:creationId xmlns:a16="http://schemas.microsoft.com/office/drawing/2014/main" id="{E7F67518-1F31-4720-A38B-FE100030C9D2}"/>
              </a:ext>
            </a:extLst>
          </p:cNvPr>
          <p:cNvGraphicFramePr>
            <a:graphicFrameLocks noChangeAspect="1"/>
          </p:cNvGraphicFramePr>
          <p:nvPr>
            <p:extLst>
              <p:ext uri="{D42A27DB-BD31-4B8C-83A1-F6EECF244321}">
                <p14:modId xmlns:p14="http://schemas.microsoft.com/office/powerpoint/2010/main" val="897406510"/>
              </p:ext>
            </p:extLst>
          </p:nvPr>
        </p:nvGraphicFramePr>
        <p:xfrm>
          <a:off x="4007768" y="2522365"/>
          <a:ext cx="5230552" cy="2238557"/>
        </p:xfrm>
        <a:graphic>
          <a:graphicData uri="http://schemas.openxmlformats.org/presentationml/2006/ole">
            <mc:AlternateContent xmlns:mc="http://schemas.openxmlformats.org/markup-compatibility/2006">
              <mc:Choice xmlns:v="urn:schemas-microsoft-com:vml" Requires="v">
                <p:oleObj name="CS ChemDraw Drawing" r:id="rId2" imgW="3053524" imgH="1305795" progId="ChemDraw.Document.6.0">
                  <p:embed/>
                </p:oleObj>
              </mc:Choice>
              <mc:Fallback>
                <p:oleObj name="CS ChemDraw Drawing" r:id="rId2" imgW="3053524" imgH="1305795" progId="ChemDraw.Document.6.0">
                  <p:embed/>
                  <p:pic>
                    <p:nvPicPr>
                      <p:cNvPr id="0" name=""/>
                      <p:cNvPicPr/>
                      <p:nvPr/>
                    </p:nvPicPr>
                    <p:blipFill>
                      <a:blip r:embed="rId3"/>
                      <a:stretch>
                        <a:fillRect/>
                      </a:stretch>
                    </p:blipFill>
                    <p:spPr>
                      <a:xfrm>
                        <a:off x="4007768" y="2522365"/>
                        <a:ext cx="5230552" cy="223855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04954C83-5A6D-4810-8724-F719CC686623}"/>
              </a:ext>
            </a:extLst>
          </p:cNvPr>
          <p:cNvGraphicFramePr>
            <a:graphicFrameLocks noChangeAspect="1"/>
          </p:cNvGraphicFramePr>
          <p:nvPr>
            <p:extLst>
              <p:ext uri="{D42A27DB-BD31-4B8C-83A1-F6EECF244321}">
                <p14:modId xmlns:p14="http://schemas.microsoft.com/office/powerpoint/2010/main" val="4004494404"/>
              </p:ext>
            </p:extLst>
          </p:nvPr>
        </p:nvGraphicFramePr>
        <p:xfrm>
          <a:off x="2685335" y="5268528"/>
          <a:ext cx="6571734" cy="1325602"/>
        </p:xfrm>
        <a:graphic>
          <a:graphicData uri="http://schemas.openxmlformats.org/presentationml/2006/ole">
            <mc:AlternateContent xmlns:mc="http://schemas.openxmlformats.org/markup-compatibility/2006">
              <mc:Choice xmlns:v="urn:schemas-microsoft-com:vml" Requires="v">
                <p:oleObj name="CS ChemDraw Drawing" r:id="rId4" imgW="3337609" imgH="673511" progId="ChemDraw.Document.6.0">
                  <p:embed/>
                </p:oleObj>
              </mc:Choice>
              <mc:Fallback>
                <p:oleObj name="CS ChemDraw Drawing" r:id="rId4" imgW="3337609" imgH="673511" progId="ChemDraw.Document.6.0">
                  <p:embed/>
                  <p:pic>
                    <p:nvPicPr>
                      <p:cNvPr id="0" name=""/>
                      <p:cNvPicPr/>
                      <p:nvPr/>
                    </p:nvPicPr>
                    <p:blipFill>
                      <a:blip r:embed="rId5"/>
                      <a:stretch>
                        <a:fillRect/>
                      </a:stretch>
                    </p:blipFill>
                    <p:spPr>
                      <a:xfrm>
                        <a:off x="2685335" y="5268528"/>
                        <a:ext cx="6571734" cy="1325602"/>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EE6D041E-D120-4716-8189-F06289268665}"/>
              </a:ext>
            </a:extLst>
          </p:cNvPr>
          <p:cNvSpPr/>
          <p:nvPr/>
        </p:nvSpPr>
        <p:spPr>
          <a:xfrm>
            <a:off x="2917279" y="3808000"/>
            <a:ext cx="1296144" cy="122413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1DBD1CB5-0A99-4C5B-AD17-61EB4DCB4771}"/>
              </a:ext>
            </a:extLst>
          </p:cNvPr>
          <p:cNvSpPr/>
          <p:nvPr/>
        </p:nvSpPr>
        <p:spPr>
          <a:xfrm>
            <a:off x="6831380" y="3949041"/>
            <a:ext cx="4824536" cy="102567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111DBFA8-802C-4238-A1EB-7DFC8E68D00E}"/>
              </a:ext>
            </a:extLst>
          </p:cNvPr>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3" name="矩形 2">
            <a:extLst>
              <a:ext uri="{FF2B5EF4-FFF2-40B4-BE49-F238E27FC236}">
                <a16:creationId xmlns:a16="http://schemas.microsoft.com/office/drawing/2014/main" id="{40C04BD0-7CC2-4729-BE3C-FBB9DC2E850C}"/>
              </a:ext>
            </a:extLst>
          </p:cNvPr>
          <p:cNvSpPr/>
          <p:nvPr/>
        </p:nvSpPr>
        <p:spPr>
          <a:xfrm>
            <a:off x="0" y="260648"/>
            <a:ext cx="5371983"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4-5-1 Electrophilic Addition to Alkenes</a:t>
            </a:r>
          </a:p>
        </p:txBody>
      </p:sp>
      <p:sp>
        <p:nvSpPr>
          <p:cNvPr id="5" name="文本框 4">
            <a:extLst>
              <a:ext uri="{FF2B5EF4-FFF2-40B4-BE49-F238E27FC236}">
                <a16:creationId xmlns:a16="http://schemas.microsoft.com/office/drawing/2014/main" id="{50ED95E9-EAE8-486B-B803-E5FA3A9B76D6}"/>
              </a:ext>
            </a:extLst>
          </p:cNvPr>
          <p:cNvSpPr txBox="1"/>
          <p:nvPr/>
        </p:nvSpPr>
        <p:spPr>
          <a:xfrm>
            <a:off x="-96688" y="836712"/>
            <a:ext cx="4065537" cy="400110"/>
          </a:xfrm>
          <a:prstGeom prst="rect">
            <a:avLst/>
          </a:prstGeom>
          <a:noFill/>
        </p:spPr>
        <p:txBody>
          <a:bodyPr wrap="none" rtlCol="0">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1&gt;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Electrophiles and Nucleophiles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表格 5">
            <a:extLst>
              <a:ext uri="{FF2B5EF4-FFF2-40B4-BE49-F238E27FC236}">
                <a16:creationId xmlns:a16="http://schemas.microsoft.com/office/drawing/2014/main" id="{83DFBE47-B83C-4EE2-AFE3-17CEE6C242F1}"/>
              </a:ext>
            </a:extLst>
          </p:cNvPr>
          <p:cNvGraphicFramePr>
            <a:graphicFrameLocks noGrp="1"/>
          </p:cNvGraphicFramePr>
          <p:nvPr>
            <p:extLst>
              <p:ext uri="{D42A27DB-BD31-4B8C-83A1-F6EECF244321}">
                <p14:modId xmlns:p14="http://schemas.microsoft.com/office/powerpoint/2010/main" val="1380691702"/>
              </p:ext>
            </p:extLst>
          </p:nvPr>
        </p:nvGraphicFramePr>
        <p:xfrm>
          <a:off x="597722" y="1278173"/>
          <a:ext cx="11017225" cy="1554480"/>
        </p:xfrm>
        <a:graphic>
          <a:graphicData uri="http://schemas.openxmlformats.org/drawingml/2006/table">
            <a:tbl>
              <a:tblPr firstRow="1" bandRow="1">
                <a:tableStyleId>{5940675A-B579-460E-94D1-54222C63F5DA}</a:tableStyleId>
              </a:tblPr>
              <a:tblGrid>
                <a:gridCol w="1692188">
                  <a:extLst>
                    <a:ext uri="{9D8B030D-6E8A-4147-A177-3AD203B41FA5}">
                      <a16:colId xmlns:a16="http://schemas.microsoft.com/office/drawing/2014/main" val="619911919"/>
                    </a:ext>
                  </a:extLst>
                </a:gridCol>
                <a:gridCol w="1800200">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gridCol w="2052229">
                  <a:extLst>
                    <a:ext uri="{9D8B030D-6E8A-4147-A177-3AD203B41FA5}">
                      <a16:colId xmlns:a16="http://schemas.microsoft.com/office/drawing/2014/main" val="20002"/>
                    </a:ext>
                  </a:extLst>
                </a:gridCol>
              </a:tblGrid>
              <a:tr h="370840">
                <a:tc>
                  <a:txBody>
                    <a:bodyPr/>
                    <a:lstStyle/>
                    <a:p>
                      <a:pPr>
                        <a:buFont typeface="Arial" pitchFamily="34" charset="0"/>
                        <a:buNone/>
                      </a:pPr>
                      <a:r>
                        <a:rPr lang="en-US" altLang="zh-CN" sz="1800" b="1" dirty="0">
                          <a:solidFill>
                            <a:schemeClr val="tx1"/>
                          </a:solidFill>
                          <a:effectLst/>
                          <a:latin typeface="Microsoft Sans Serif" pitchFamily="34" charset="0"/>
                          <a:cs typeface="Microsoft Sans Serif" pitchFamily="34" charset="0"/>
                        </a:rPr>
                        <a:t>Electrophiles</a:t>
                      </a:r>
                      <a:endParaRPr lang="zh-CN" altLang="en-US" sz="1800" b="1" dirty="0">
                        <a:solidFill>
                          <a:schemeClr val="tx1"/>
                        </a:solidFill>
                        <a:effectLst/>
                        <a:latin typeface="Microsoft Sans Serif" pitchFamily="34" charset="0"/>
                        <a:cs typeface="Microsoft Sans Serif" pitchFamily="34" charset="0"/>
                      </a:endParaRPr>
                    </a:p>
                  </a:txBody>
                  <a:tcPr anchor="ctr">
                    <a:noFill/>
                  </a:tcPr>
                </a:tc>
                <a:tc>
                  <a:txBody>
                    <a:bodyPr/>
                    <a:lstStyle/>
                    <a:p>
                      <a:pPr>
                        <a:buFont typeface="Arial" pitchFamily="34" charset="0"/>
                        <a:buNone/>
                      </a:pPr>
                      <a:r>
                        <a:rPr lang="en-US" altLang="zh-CN" sz="1800" b="1" dirty="0">
                          <a:solidFill>
                            <a:schemeClr val="tx1"/>
                          </a:solidFill>
                          <a:effectLst/>
                          <a:latin typeface="Microsoft Sans Serif" pitchFamily="34" charset="0"/>
                          <a:cs typeface="Microsoft Sans Serif" pitchFamily="34" charset="0"/>
                        </a:rPr>
                        <a:t> Lewis</a:t>
                      </a:r>
                      <a:r>
                        <a:rPr lang="en-US" altLang="zh-CN" sz="1800" b="1" baseline="0" dirty="0">
                          <a:solidFill>
                            <a:schemeClr val="tx1"/>
                          </a:solidFill>
                          <a:effectLst/>
                          <a:latin typeface="Microsoft Sans Serif" pitchFamily="34" charset="0"/>
                          <a:cs typeface="Microsoft Sans Serif" pitchFamily="34" charset="0"/>
                        </a:rPr>
                        <a:t> Acids</a:t>
                      </a:r>
                      <a:endParaRPr lang="zh-CN" altLang="en-US" sz="1800" b="1" dirty="0">
                        <a:solidFill>
                          <a:schemeClr val="tx1"/>
                        </a:solidFill>
                        <a:effectLst/>
                        <a:latin typeface="Microsoft Sans Serif" pitchFamily="34" charset="0"/>
                        <a:cs typeface="Microsoft Sans Serif" pitchFamily="34" charset="0"/>
                      </a:endParaRPr>
                    </a:p>
                  </a:txBody>
                  <a:tcPr anchor="ctr">
                    <a:noFill/>
                  </a:tcPr>
                </a:tc>
                <a:tc>
                  <a:txBody>
                    <a:bodyPr/>
                    <a:lstStyle/>
                    <a:p>
                      <a:r>
                        <a:rPr lang="en-US" altLang="zh-CN" sz="1800" b="1" i="0" dirty="0">
                          <a:solidFill>
                            <a:schemeClr val="tx1"/>
                          </a:solidFill>
                          <a:effectLst/>
                          <a:latin typeface="Microsoft Sans Serif" pitchFamily="34" charset="0"/>
                          <a:cs typeface="Microsoft Sans Serif" pitchFamily="34" charset="0"/>
                        </a:rPr>
                        <a:t>Species that can </a:t>
                      </a:r>
                      <a:r>
                        <a:rPr lang="en-US" altLang="zh-CN" sz="1800" b="1" i="0" dirty="0">
                          <a:solidFill>
                            <a:schemeClr val="tx1"/>
                          </a:solidFill>
                          <a:effectLst/>
                          <a:highlight>
                            <a:srgbClr val="00FFFF"/>
                          </a:highlight>
                          <a:latin typeface="Microsoft Sans Serif" pitchFamily="34" charset="0"/>
                          <a:cs typeface="Microsoft Sans Serif" pitchFamily="34" charset="0"/>
                        </a:rPr>
                        <a:t>accept electron pairs</a:t>
                      </a:r>
                      <a:r>
                        <a:rPr lang="en-US" altLang="zh-CN" sz="1800" b="1" i="0" dirty="0">
                          <a:solidFill>
                            <a:schemeClr val="tx1"/>
                          </a:solidFill>
                          <a:effectLst/>
                          <a:latin typeface="Microsoft Sans Serif" pitchFamily="34" charset="0"/>
                          <a:cs typeface="Microsoft Sans Serif" pitchFamily="34" charset="0"/>
                        </a:rPr>
                        <a:t>  </a:t>
                      </a:r>
                      <a:r>
                        <a:rPr lang="en-US" altLang="zh-CN" sz="1800" b="1" i="0" dirty="0">
                          <a:solidFill>
                            <a:schemeClr val="tx1"/>
                          </a:solidFill>
                          <a:effectLst/>
                          <a:highlight>
                            <a:srgbClr val="FFFF00"/>
                          </a:highlight>
                          <a:latin typeface="Microsoft Sans Serif" pitchFamily="34" charset="0"/>
                          <a:cs typeface="Microsoft Sans Serif" pitchFamily="34" charset="0"/>
                        </a:rPr>
                        <a:t>to form new bonds</a:t>
                      </a:r>
                      <a:endParaRPr lang="zh-CN" altLang="en-US" sz="1800" b="1" i="0" dirty="0">
                        <a:solidFill>
                          <a:schemeClr val="tx1"/>
                        </a:solidFill>
                        <a:effectLst/>
                        <a:highlight>
                          <a:srgbClr val="FFFF00"/>
                        </a:highlight>
                        <a:latin typeface="Microsoft Sans Serif" pitchFamily="34" charset="0"/>
                        <a:cs typeface="Microsoft Sans Serif" pitchFamily="34" charset="0"/>
                      </a:endParaRPr>
                    </a:p>
                  </a:txBody>
                  <a:tcPr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latin typeface="Microsoft Sans Serif" pitchFamily="34" charset="0"/>
                          <a:cs typeface="Microsoft Sans Serif" pitchFamily="34" charset="0"/>
                        </a:rPr>
                        <a:t>H</a:t>
                      </a:r>
                      <a:r>
                        <a:rPr lang="en-US" altLang="zh-CN" sz="1800" b="1" baseline="30000" dirty="0">
                          <a:solidFill>
                            <a:schemeClr val="tx1"/>
                          </a:solidFill>
                          <a:effectLst/>
                          <a:latin typeface="Microsoft Sans Serif" pitchFamily="34" charset="0"/>
                          <a:cs typeface="Microsoft Sans Serif" pitchFamily="34" charset="0"/>
                        </a:rPr>
                        <a:t>+</a:t>
                      </a:r>
                      <a:r>
                        <a:rPr lang="en-US" altLang="zh-CN" sz="1800" b="1" dirty="0">
                          <a:solidFill>
                            <a:schemeClr val="tx1"/>
                          </a:solidFill>
                          <a:effectLst/>
                          <a:latin typeface="Microsoft Sans Serif" pitchFamily="34" charset="0"/>
                          <a:cs typeface="Microsoft Sans Serif" pitchFamily="34" charset="0"/>
                        </a:rPr>
                        <a:t>, AlCl</a:t>
                      </a:r>
                      <a:r>
                        <a:rPr lang="en-US" altLang="zh-CN" sz="1800" b="1" baseline="-25000" dirty="0">
                          <a:solidFill>
                            <a:schemeClr val="tx1"/>
                          </a:solidFill>
                          <a:effectLst/>
                          <a:latin typeface="Microsoft Sans Serif" pitchFamily="34" charset="0"/>
                          <a:cs typeface="Microsoft Sans Serif" pitchFamily="34" charset="0"/>
                        </a:rPr>
                        <a:t>3</a:t>
                      </a:r>
                      <a:r>
                        <a:rPr lang="en-US" altLang="zh-CN" sz="1800" b="1" dirty="0">
                          <a:solidFill>
                            <a:schemeClr val="tx1"/>
                          </a:solidFill>
                          <a:effectLst/>
                          <a:latin typeface="Microsoft Sans Serif" pitchFamily="34" charset="0"/>
                          <a:cs typeface="Microsoft Sans Serif" pitchFamily="34" charset="0"/>
                        </a:rPr>
                        <a:t>, etc.</a:t>
                      </a:r>
                      <a:endParaRPr lang="zh-CN" altLang="en-US" sz="1800" b="1" baseline="-25000" dirty="0">
                        <a:solidFill>
                          <a:schemeClr val="tx1"/>
                        </a:solidFill>
                        <a:effectLst/>
                        <a:latin typeface="Microsoft Sans Serif" pitchFamily="34" charset="0"/>
                        <a:cs typeface="Microsoft Sans Serif" pitchFamily="34" charset="0"/>
                      </a:endParaRPr>
                    </a:p>
                  </a:txBody>
                  <a:tcPr anchor="ctr">
                    <a:noFill/>
                  </a:tcPr>
                </a:tc>
                <a:extLst>
                  <a:ext uri="{0D108BD9-81ED-4DB2-BD59-A6C34878D82A}">
                    <a16:rowId xmlns:a16="http://schemas.microsoft.com/office/drawing/2014/main" val="10000"/>
                  </a:ext>
                </a:extLst>
              </a:tr>
              <a:tr h="370840">
                <a:tc>
                  <a:txBody>
                    <a:bodyPr/>
                    <a:lstStyle/>
                    <a:p>
                      <a:pPr>
                        <a:buFont typeface="Arial" pitchFamily="34" charset="0"/>
                        <a:buNone/>
                      </a:pPr>
                      <a:r>
                        <a:rPr lang="en-US" altLang="zh-CN" sz="1800" b="1" dirty="0">
                          <a:solidFill>
                            <a:schemeClr val="tx1"/>
                          </a:solidFill>
                          <a:effectLst/>
                          <a:latin typeface="Microsoft Sans Serif" pitchFamily="34" charset="0"/>
                          <a:cs typeface="Microsoft Sans Serif" pitchFamily="34" charset="0"/>
                        </a:rPr>
                        <a:t>Nucleophiles</a:t>
                      </a:r>
                      <a:endParaRPr lang="zh-CN" altLang="en-US" sz="1800" b="1" dirty="0">
                        <a:solidFill>
                          <a:schemeClr val="tx1"/>
                        </a:solidFill>
                        <a:effectLst/>
                        <a:latin typeface="Microsoft Sans Serif" pitchFamily="34" charset="0"/>
                        <a:cs typeface="Microsoft Sans Serif" pitchFamily="34" charset="0"/>
                      </a:endParaRPr>
                    </a:p>
                  </a:txBody>
                  <a:tcPr anchor="ctr">
                    <a:noFill/>
                  </a:tcPr>
                </a:tc>
                <a:tc>
                  <a:txBody>
                    <a:bodyPr/>
                    <a:lstStyle/>
                    <a:p>
                      <a:pPr>
                        <a:buFont typeface="Arial" pitchFamily="34" charset="0"/>
                        <a:buNone/>
                      </a:pPr>
                      <a:r>
                        <a:rPr lang="en-US" altLang="zh-CN" sz="1800" b="1" dirty="0">
                          <a:solidFill>
                            <a:schemeClr val="tx1"/>
                          </a:solidFill>
                          <a:effectLst/>
                          <a:latin typeface="Microsoft Sans Serif" pitchFamily="34" charset="0"/>
                          <a:cs typeface="Microsoft Sans Serif" pitchFamily="34" charset="0"/>
                        </a:rPr>
                        <a:t> Lewis Bases</a:t>
                      </a:r>
                      <a:endParaRPr lang="zh-CN" altLang="en-US" sz="1800" b="1" dirty="0">
                        <a:solidFill>
                          <a:schemeClr val="tx1"/>
                        </a:solidFill>
                        <a:effectLst/>
                        <a:latin typeface="Microsoft Sans Serif" pitchFamily="34" charset="0"/>
                        <a:cs typeface="Microsoft Sans Serif" pitchFamily="34" charset="0"/>
                      </a:endParaRPr>
                    </a:p>
                  </a:txBody>
                  <a:tcPr anchor="ctr">
                    <a:noFill/>
                  </a:tcPr>
                </a:tc>
                <a:tc>
                  <a:txBody>
                    <a:bodyPr/>
                    <a:lstStyle/>
                    <a:p>
                      <a:r>
                        <a:rPr lang="en-US" altLang="zh-CN" sz="1800" b="1" i="0" dirty="0">
                          <a:solidFill>
                            <a:schemeClr val="tx1"/>
                          </a:solidFill>
                          <a:effectLst/>
                          <a:latin typeface="Microsoft Sans Serif" pitchFamily="34" charset="0"/>
                          <a:cs typeface="Microsoft Sans Serif" pitchFamily="34" charset="0"/>
                        </a:rPr>
                        <a:t>Species with </a:t>
                      </a:r>
                      <a:r>
                        <a:rPr lang="en-US" altLang="zh-CN" sz="1800" b="1" i="0" dirty="0">
                          <a:solidFill>
                            <a:schemeClr val="tx1"/>
                          </a:solidFill>
                          <a:effectLst/>
                          <a:highlight>
                            <a:srgbClr val="00FFFF"/>
                          </a:highlight>
                          <a:latin typeface="Microsoft Sans Serif" pitchFamily="34" charset="0"/>
                          <a:cs typeface="Microsoft Sans Serif" pitchFamily="34" charset="0"/>
                        </a:rPr>
                        <a:t>nonbonding electrons or weakly held bonding electrons that can be donated </a:t>
                      </a:r>
                      <a:r>
                        <a:rPr lang="en-US" altLang="zh-CN" sz="1800" b="1" i="0" dirty="0">
                          <a:solidFill>
                            <a:schemeClr val="tx1"/>
                          </a:solidFill>
                          <a:effectLst/>
                          <a:highlight>
                            <a:srgbClr val="FFFF00"/>
                          </a:highlight>
                          <a:latin typeface="Microsoft Sans Serif" pitchFamily="34" charset="0"/>
                          <a:cs typeface="Microsoft Sans Serif" pitchFamily="34" charset="0"/>
                        </a:rPr>
                        <a:t>to form new bonds</a:t>
                      </a:r>
                      <a:endParaRPr lang="zh-CN" altLang="en-US" sz="1800" b="1" i="0" dirty="0">
                        <a:solidFill>
                          <a:schemeClr val="tx1"/>
                        </a:solidFill>
                        <a:effectLst/>
                        <a:highlight>
                          <a:srgbClr val="FFFF00"/>
                        </a:highlight>
                        <a:latin typeface="Microsoft Sans Serif" pitchFamily="34" charset="0"/>
                        <a:cs typeface="Microsoft Sans Serif" pitchFamily="34" charset="0"/>
                      </a:endParaRPr>
                    </a:p>
                  </a:txBody>
                  <a:tcPr anchor="ctr">
                    <a:noFill/>
                  </a:tcPr>
                </a:tc>
                <a:tc>
                  <a:txBody>
                    <a:bodyPr/>
                    <a:lstStyle/>
                    <a:p>
                      <a:r>
                        <a:rPr lang="en-US" altLang="zh-CN" sz="1800" b="1" dirty="0">
                          <a:solidFill>
                            <a:schemeClr val="tx1"/>
                          </a:solidFill>
                          <a:effectLst/>
                          <a:latin typeface="Microsoft Sans Serif" pitchFamily="34" charset="0"/>
                          <a:cs typeface="Microsoft Sans Serif" pitchFamily="34" charset="0"/>
                        </a:rPr>
                        <a:t>C=C, HO</a:t>
                      </a:r>
                      <a:r>
                        <a:rPr lang="en-US" altLang="zh-CN" sz="1800" b="1" baseline="30000" dirty="0">
                          <a:solidFill>
                            <a:schemeClr val="tx1"/>
                          </a:solidFill>
                          <a:effectLst/>
                          <a:latin typeface="Microsoft Sans Serif" pitchFamily="34" charset="0"/>
                          <a:cs typeface="Microsoft Sans Serif" pitchFamily="34" charset="0"/>
                        </a:rPr>
                        <a:t>-</a:t>
                      </a:r>
                      <a:r>
                        <a:rPr lang="en-US" altLang="zh-CN" sz="1800" b="1" dirty="0">
                          <a:solidFill>
                            <a:schemeClr val="tx1"/>
                          </a:solidFill>
                          <a:effectLst/>
                          <a:latin typeface="Microsoft Sans Serif" pitchFamily="34" charset="0"/>
                          <a:cs typeface="Microsoft Sans Serif" pitchFamily="34" charset="0"/>
                        </a:rPr>
                        <a:t>, etc.</a:t>
                      </a:r>
                      <a:endParaRPr lang="zh-CN" altLang="en-US" sz="1800" b="0" baseline="-25000" dirty="0">
                        <a:solidFill>
                          <a:schemeClr val="tx1"/>
                        </a:solidFill>
                        <a:effectLst/>
                        <a:latin typeface="Microsoft Sans Serif" pitchFamily="34" charset="0"/>
                        <a:cs typeface="Microsoft Sans Serif" pitchFamily="34" charset="0"/>
                      </a:endParaRPr>
                    </a:p>
                  </a:txBody>
                  <a:tcPr anchor="ctr">
                    <a:noFill/>
                  </a:tcPr>
                </a:tc>
                <a:extLst>
                  <a:ext uri="{0D108BD9-81ED-4DB2-BD59-A6C34878D82A}">
                    <a16:rowId xmlns:a16="http://schemas.microsoft.com/office/drawing/2014/main" val="10001"/>
                  </a:ext>
                </a:extLst>
              </a:tr>
            </a:tbl>
          </a:graphicData>
        </a:graphic>
      </p:graphicFrame>
      <p:sp>
        <p:nvSpPr>
          <p:cNvPr id="7" name="文本框 6">
            <a:extLst>
              <a:ext uri="{FF2B5EF4-FFF2-40B4-BE49-F238E27FC236}">
                <a16:creationId xmlns:a16="http://schemas.microsoft.com/office/drawing/2014/main" id="{C6434D46-5B9B-4011-8BC5-DDC1032DC976}"/>
              </a:ext>
            </a:extLst>
          </p:cNvPr>
          <p:cNvSpPr txBox="1"/>
          <p:nvPr/>
        </p:nvSpPr>
        <p:spPr>
          <a:xfrm>
            <a:off x="-96688" y="2928178"/>
            <a:ext cx="3013967" cy="400110"/>
          </a:xfrm>
          <a:prstGeom prst="rect">
            <a:avLst/>
          </a:prstGeom>
          <a:noFill/>
        </p:spPr>
        <p:txBody>
          <a:bodyPr wrap="none" rtlCol="0">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2&gt;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Electrophilic Addition</a:t>
            </a:r>
            <a:endParaRPr lang="zh-CN" altLang="en-US" sz="2000" b="1" dirty="0">
              <a:latin typeface="Microsoft Sans Serif" panose="020B0604020202020204" pitchFamily="34" charset="0"/>
              <a:cs typeface="Microsoft Sans Serif" panose="020B0604020202020204" pitchFamily="34" charset="0"/>
            </a:endParaRPr>
          </a:p>
        </p:txBody>
      </p:sp>
      <p:sp>
        <p:nvSpPr>
          <p:cNvPr id="8" name="文本框 7">
            <a:extLst>
              <a:ext uri="{FF2B5EF4-FFF2-40B4-BE49-F238E27FC236}">
                <a16:creationId xmlns:a16="http://schemas.microsoft.com/office/drawing/2014/main" id="{5596BEED-F015-43FC-A4B1-00B12E58C1C4}"/>
              </a:ext>
            </a:extLst>
          </p:cNvPr>
          <p:cNvSpPr txBox="1"/>
          <p:nvPr/>
        </p:nvSpPr>
        <p:spPr>
          <a:xfrm>
            <a:off x="597722" y="3312365"/>
            <a:ext cx="10959008" cy="400110"/>
          </a:xfrm>
          <a:prstGeom prst="rect">
            <a:avLst/>
          </a:prstGeom>
          <a:noFill/>
        </p:spPr>
        <p:txBody>
          <a:bodyPr wrap="square" rtlCol="0">
            <a:spAutoFit/>
          </a:bodyPr>
          <a:lstStyle/>
          <a:p>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The alkene as a nucleophile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combines with a strong electrophile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to form one product molecule.</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12" name="对象 11">
            <a:extLst>
              <a:ext uri="{FF2B5EF4-FFF2-40B4-BE49-F238E27FC236}">
                <a16:creationId xmlns:a16="http://schemas.microsoft.com/office/drawing/2014/main" id="{2B16576A-AC01-4C3B-8A73-010AB280EC6E}"/>
              </a:ext>
            </a:extLst>
          </p:cNvPr>
          <p:cNvGraphicFramePr>
            <a:graphicFrameLocks noChangeAspect="1"/>
          </p:cNvGraphicFramePr>
          <p:nvPr>
            <p:extLst>
              <p:ext uri="{D42A27DB-BD31-4B8C-83A1-F6EECF244321}">
                <p14:modId xmlns:p14="http://schemas.microsoft.com/office/powerpoint/2010/main" val="4279600589"/>
              </p:ext>
            </p:extLst>
          </p:nvPr>
        </p:nvGraphicFramePr>
        <p:xfrm>
          <a:off x="839416" y="3750328"/>
          <a:ext cx="5703932" cy="1408573"/>
        </p:xfrm>
        <a:graphic>
          <a:graphicData uri="http://schemas.openxmlformats.org/presentationml/2006/ole">
            <mc:AlternateContent xmlns:mc="http://schemas.openxmlformats.org/markup-compatibility/2006">
              <mc:Choice xmlns:v="urn:schemas-microsoft-com:vml" Requires="v">
                <p:oleObj name="CS ChemDraw Drawing" r:id="rId2" imgW="2860188" imgH="707206" progId="ChemDraw.Document.6.0">
                  <p:embed/>
                </p:oleObj>
              </mc:Choice>
              <mc:Fallback>
                <p:oleObj name="CS ChemDraw Drawing" r:id="rId2" imgW="2860188" imgH="707206" progId="ChemDraw.Document.6.0">
                  <p:embed/>
                  <p:pic>
                    <p:nvPicPr>
                      <p:cNvPr id="5" name="对象 4"/>
                      <p:cNvPicPr/>
                      <p:nvPr/>
                    </p:nvPicPr>
                    <p:blipFill>
                      <a:blip r:embed="rId3"/>
                      <a:stretch>
                        <a:fillRect/>
                      </a:stretch>
                    </p:blipFill>
                    <p:spPr>
                      <a:xfrm>
                        <a:off x="839416" y="3750328"/>
                        <a:ext cx="5703932" cy="1408573"/>
                      </a:xfrm>
                      <a:prstGeom prst="rect">
                        <a:avLst/>
                      </a:prstGeom>
                    </p:spPr>
                  </p:pic>
                </p:oleObj>
              </mc:Fallback>
            </mc:AlternateContent>
          </a:graphicData>
        </a:graphic>
      </p:graphicFrame>
      <p:sp>
        <p:nvSpPr>
          <p:cNvPr id="13" name="矩形 12">
            <a:extLst>
              <a:ext uri="{FF2B5EF4-FFF2-40B4-BE49-F238E27FC236}">
                <a16:creationId xmlns:a16="http://schemas.microsoft.com/office/drawing/2014/main" id="{ED562A39-5C45-4002-BBA3-3E6F96B1F517}"/>
              </a:ext>
            </a:extLst>
          </p:cNvPr>
          <p:cNvSpPr/>
          <p:nvPr/>
        </p:nvSpPr>
        <p:spPr>
          <a:xfrm>
            <a:off x="354571" y="5195578"/>
            <a:ext cx="4996184" cy="923330"/>
          </a:xfrm>
          <a:prstGeom prst="rect">
            <a:avLst/>
          </a:prstGeom>
          <a:solidFill>
            <a:schemeClr val="accent6">
              <a:lumMod val="20000"/>
              <a:lumOff val="80000"/>
            </a:schemeClr>
          </a:solidFill>
          <a:ln>
            <a:solidFill>
              <a:schemeClr val="bg1">
                <a:lumMod val="75000"/>
              </a:schemeClr>
            </a:solidFill>
          </a:ln>
        </p:spPr>
        <p:txBody>
          <a:bodyPr wrap="square">
            <a:spAutoFit/>
          </a:bodyPr>
          <a:lstStyle/>
          <a:p>
            <a:pPr>
              <a:buSzPct val="100000"/>
            </a:pPr>
            <a:r>
              <a:rPr lang="en-US" altLang="zh-CN" b="1" u="sng" dirty="0">
                <a:solidFill>
                  <a:srgbClr val="0000FF"/>
                </a:solidFill>
                <a:latin typeface="Consolas" panose="020B0609020204030204" pitchFamily="49" charset="0"/>
              </a:rPr>
              <a:t>Step 1</a:t>
            </a:r>
            <a:r>
              <a:rPr lang="en-US" altLang="zh-CN" b="1" dirty="0">
                <a:latin typeface="Consolas" panose="020B0609020204030204" pitchFamily="49" charset="0"/>
              </a:rPr>
              <a:t>: A strong electrophile attacks the pi bond to form a carbocation (</a:t>
            </a:r>
            <a:r>
              <a:rPr lang="en-US" altLang="zh-CN" b="1" dirty="0">
                <a:solidFill>
                  <a:srgbClr val="FF0000"/>
                </a:solidFill>
                <a:latin typeface="Consolas" panose="020B0609020204030204" pitchFamily="49" charset="0"/>
              </a:rPr>
              <a:t>rate-limiting step</a:t>
            </a:r>
            <a:r>
              <a:rPr lang="en-US" altLang="zh-CN" b="1" dirty="0">
                <a:latin typeface="Consolas" panose="020B0609020204030204" pitchFamily="49" charset="0"/>
              </a:rPr>
              <a:t>, </a:t>
            </a:r>
            <a:r>
              <a:rPr lang="en-US" altLang="zh-CN" b="1" dirty="0">
                <a:solidFill>
                  <a:srgbClr val="FF0000"/>
                </a:solidFill>
                <a:latin typeface="Consolas" panose="020B0609020204030204" pitchFamily="49" charset="0"/>
              </a:rPr>
              <a:t>key step</a:t>
            </a:r>
            <a:r>
              <a:rPr lang="en-US" altLang="zh-CN" b="1" dirty="0">
                <a:latin typeface="Consolas" panose="020B0609020204030204" pitchFamily="49" charset="0"/>
              </a:rPr>
              <a:t>).</a:t>
            </a:r>
          </a:p>
        </p:txBody>
      </p:sp>
      <p:sp>
        <p:nvSpPr>
          <p:cNvPr id="14" name="矩形 13">
            <a:extLst>
              <a:ext uri="{FF2B5EF4-FFF2-40B4-BE49-F238E27FC236}">
                <a16:creationId xmlns:a16="http://schemas.microsoft.com/office/drawing/2014/main" id="{79598309-0A4E-4FF8-A560-E49614A44438}"/>
              </a:ext>
            </a:extLst>
          </p:cNvPr>
          <p:cNvSpPr/>
          <p:nvPr/>
        </p:nvSpPr>
        <p:spPr>
          <a:xfrm>
            <a:off x="5462473" y="5195578"/>
            <a:ext cx="6298960" cy="923330"/>
          </a:xfrm>
          <a:prstGeom prst="rect">
            <a:avLst/>
          </a:prstGeom>
          <a:solidFill>
            <a:schemeClr val="accent6">
              <a:lumMod val="20000"/>
              <a:lumOff val="80000"/>
            </a:schemeClr>
          </a:solidFill>
          <a:ln>
            <a:solidFill>
              <a:schemeClr val="bg1">
                <a:lumMod val="75000"/>
              </a:schemeClr>
            </a:solidFill>
          </a:ln>
        </p:spPr>
        <p:txBody>
          <a:bodyPr wrap="square">
            <a:spAutoFit/>
          </a:bodyPr>
          <a:lstStyle/>
          <a:p>
            <a:pPr>
              <a:buSzPct val="100000"/>
            </a:pPr>
            <a:r>
              <a:rPr lang="en-US" altLang="zh-CN" b="1" u="sng" dirty="0">
                <a:solidFill>
                  <a:srgbClr val="0000FF"/>
                </a:solidFill>
                <a:latin typeface="Consolas" panose="020B0609020204030204" pitchFamily="49" charset="0"/>
              </a:rPr>
              <a:t>Step 2</a:t>
            </a:r>
            <a:r>
              <a:rPr lang="en-US" altLang="zh-CN" b="1" dirty="0">
                <a:latin typeface="Consolas" panose="020B0609020204030204" pitchFamily="49" charset="0"/>
              </a:rPr>
              <a:t>: The carbocation (as a strong electrophile) reacts with a nucleophile (often a weak one) to form the addition product (</a:t>
            </a:r>
            <a:r>
              <a:rPr lang="en-US" altLang="zh-CN" b="1" dirty="0">
                <a:solidFill>
                  <a:srgbClr val="FF0000"/>
                </a:solidFill>
                <a:latin typeface="Consolas" panose="020B0609020204030204" pitchFamily="49" charset="0"/>
              </a:rPr>
              <a:t>fast</a:t>
            </a:r>
            <a:r>
              <a:rPr lang="en-US" altLang="zh-CN" b="1" dirty="0">
                <a:latin typeface="Consolas" panose="020B0609020204030204" pitchFamily="49" charset="0"/>
              </a:rPr>
              <a:t>).</a:t>
            </a:r>
            <a:endParaRPr lang="zh-CN" altLang="en-US" b="1" dirty="0">
              <a:latin typeface="Consolas" panose="020B0609020204030204" pitchFamily="49" charset="0"/>
            </a:endParaRPr>
          </a:p>
        </p:txBody>
      </p:sp>
      <p:sp>
        <p:nvSpPr>
          <p:cNvPr id="16" name="文本框 15">
            <a:extLst>
              <a:ext uri="{FF2B5EF4-FFF2-40B4-BE49-F238E27FC236}">
                <a16:creationId xmlns:a16="http://schemas.microsoft.com/office/drawing/2014/main" id="{CC7CE955-3C9D-4FF6-8C8C-7E778B2DECA0}"/>
              </a:ext>
            </a:extLst>
          </p:cNvPr>
          <p:cNvSpPr txBox="1"/>
          <p:nvPr/>
        </p:nvSpPr>
        <p:spPr>
          <a:xfrm>
            <a:off x="6903388" y="4006968"/>
            <a:ext cx="4680520" cy="923330"/>
          </a:xfrm>
          <a:prstGeom prst="rect">
            <a:avLst/>
          </a:prstGeom>
          <a:noFill/>
        </p:spPr>
        <p:txBody>
          <a:bodyPr wrap="square">
            <a:spAutoFit/>
          </a:bodyPr>
          <a:lstStyle/>
          <a:p>
            <a:r>
              <a:rPr lang="en-US" altLang="zh-CN" sz="1800" b="1" dirty="0">
                <a:latin typeface="Microsoft Sans Serif" panose="020B0604020202020204" pitchFamily="34" charset="0"/>
                <a:ea typeface="Microsoft Sans Serif" panose="020B0604020202020204" pitchFamily="34" charset="0"/>
                <a:cs typeface="Microsoft Sans Serif" panose="020B0604020202020204" pitchFamily="34" charset="0"/>
              </a:rPr>
              <a:t>A carbocation has a carbon </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atom </a:t>
            </a:r>
            <a:r>
              <a:rPr lang="en-US" altLang="zh-CN" sz="1800" b="1" dirty="0">
                <a:latin typeface="Microsoft Sans Serif" panose="020B0604020202020204" pitchFamily="34" charset="0"/>
                <a:ea typeface="Microsoft Sans Serif" panose="020B0604020202020204" pitchFamily="34" charset="0"/>
                <a:cs typeface="Microsoft Sans Serif" panose="020B0604020202020204" pitchFamily="34" charset="0"/>
              </a:rPr>
              <a:t>with only 3 bonds and a positive charge. Carbocations are highly reactive organic intermediates.</a:t>
            </a:r>
            <a:endParaRPr lang="zh-CN" altLang="en-US" dirty="0"/>
          </a:p>
        </p:txBody>
      </p:sp>
      <p:sp>
        <p:nvSpPr>
          <p:cNvPr id="19" name="文本框 18">
            <a:extLst>
              <a:ext uri="{FF2B5EF4-FFF2-40B4-BE49-F238E27FC236}">
                <a16:creationId xmlns:a16="http://schemas.microsoft.com/office/drawing/2014/main" id="{AC7304E6-2787-484D-A215-4D6667F8E9E3}"/>
              </a:ext>
            </a:extLst>
          </p:cNvPr>
          <p:cNvSpPr txBox="1"/>
          <p:nvPr/>
        </p:nvSpPr>
        <p:spPr>
          <a:xfrm>
            <a:off x="229501" y="6118908"/>
            <a:ext cx="11477952"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By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varying the species of strong electrophiles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 wide variety of electrophilic addition products can be formed with alkenes.</a:t>
            </a:r>
            <a:endParaRPr lang="zh-CN" altLang="en-US" sz="2000" b="1" dirty="0">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86012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13</a:t>
            </a:fld>
            <a:endParaRPr lang="zh-CN" altLang="en-US"/>
          </a:p>
        </p:txBody>
      </p:sp>
      <p:sp>
        <p:nvSpPr>
          <p:cNvPr id="4" name="矩形 3"/>
          <p:cNvSpPr/>
          <p:nvPr/>
        </p:nvSpPr>
        <p:spPr>
          <a:xfrm>
            <a:off x="0" y="260648"/>
            <a:ext cx="9624392" cy="461665"/>
          </a:xfrm>
          <a:prstGeom prst="rect">
            <a:avLst/>
          </a:prstGeom>
          <a:solidFill>
            <a:schemeClr val="tx2">
              <a:lumMod val="20000"/>
              <a:lumOff val="80000"/>
            </a:schemeClr>
          </a:solidFill>
        </p:spPr>
        <p:txBody>
          <a:bodyPr wrap="squar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4-5-2 Addition of </a:t>
            </a:r>
            <a:r>
              <a:rPr lang="en-US" altLang="zh-CN" sz="24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Hydrogen Halides</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 to Alkenes to form </a:t>
            </a:r>
            <a:r>
              <a:rPr lang="en-US" altLang="zh-C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Alkyl Halides</a:t>
            </a:r>
          </a:p>
        </p:txBody>
      </p:sp>
      <p:graphicFrame>
        <p:nvGraphicFramePr>
          <p:cNvPr id="5" name="对象 4"/>
          <p:cNvGraphicFramePr>
            <a:graphicFrameLocks noChangeAspect="1"/>
          </p:cNvGraphicFramePr>
          <p:nvPr>
            <p:extLst>
              <p:ext uri="{D42A27DB-BD31-4B8C-83A1-F6EECF244321}">
                <p14:modId xmlns:p14="http://schemas.microsoft.com/office/powerpoint/2010/main" val="1224743081"/>
              </p:ext>
            </p:extLst>
          </p:nvPr>
        </p:nvGraphicFramePr>
        <p:xfrm>
          <a:off x="3176307" y="1052736"/>
          <a:ext cx="5839386" cy="1564406"/>
        </p:xfrm>
        <a:graphic>
          <a:graphicData uri="http://schemas.openxmlformats.org/presentationml/2006/ole">
            <mc:AlternateContent xmlns:mc="http://schemas.openxmlformats.org/markup-compatibility/2006">
              <mc:Choice xmlns:v="urn:schemas-microsoft-com:vml" Requires="v">
                <p:oleObj name="CS ChemDraw Drawing" r:id="rId2" imgW="2902801" imgH="778561" progId="ChemDraw.Document.6.0">
                  <p:embed/>
                </p:oleObj>
              </mc:Choice>
              <mc:Fallback>
                <p:oleObj name="CS ChemDraw Drawing" r:id="rId2" imgW="2902801" imgH="778561" progId="ChemDraw.Document.6.0">
                  <p:embed/>
                  <p:pic>
                    <p:nvPicPr>
                      <p:cNvPr id="5" name="对象 4"/>
                      <p:cNvPicPr/>
                      <p:nvPr/>
                    </p:nvPicPr>
                    <p:blipFill>
                      <a:blip r:embed="rId3"/>
                      <a:stretch>
                        <a:fillRect/>
                      </a:stretch>
                    </p:blipFill>
                    <p:spPr>
                      <a:xfrm>
                        <a:off x="3176307" y="1052736"/>
                        <a:ext cx="5839386" cy="1564406"/>
                      </a:xfrm>
                      <a:prstGeom prst="rect">
                        <a:avLst/>
                      </a:prstGeom>
                      <a:ln w="38100">
                        <a:solidFill>
                          <a:schemeClr val="bg1">
                            <a:lumMod val="75000"/>
                          </a:schemeClr>
                        </a:solidFill>
                      </a:ln>
                    </p:spPr>
                  </p:pic>
                </p:oleObj>
              </mc:Fallback>
            </mc:AlternateContent>
          </a:graphicData>
        </a:graphic>
      </p:graphicFrame>
      <p:graphicFrame>
        <p:nvGraphicFramePr>
          <p:cNvPr id="9" name="对象 8">
            <a:extLst>
              <a:ext uri="{FF2B5EF4-FFF2-40B4-BE49-F238E27FC236}">
                <a16:creationId xmlns:a16="http://schemas.microsoft.com/office/drawing/2014/main" id="{D30F861E-3E17-448E-8E08-AF09FB26EC63}"/>
              </a:ext>
            </a:extLst>
          </p:cNvPr>
          <p:cNvGraphicFramePr>
            <a:graphicFrameLocks noChangeAspect="1"/>
          </p:cNvGraphicFramePr>
          <p:nvPr>
            <p:extLst>
              <p:ext uri="{D42A27DB-BD31-4B8C-83A1-F6EECF244321}">
                <p14:modId xmlns:p14="http://schemas.microsoft.com/office/powerpoint/2010/main" val="3293187958"/>
              </p:ext>
            </p:extLst>
          </p:nvPr>
        </p:nvGraphicFramePr>
        <p:xfrm>
          <a:off x="3161516" y="2912170"/>
          <a:ext cx="5636538" cy="1656184"/>
        </p:xfrm>
        <a:graphic>
          <a:graphicData uri="http://schemas.openxmlformats.org/presentationml/2006/ole">
            <mc:AlternateContent xmlns:mc="http://schemas.openxmlformats.org/markup-compatibility/2006">
              <mc:Choice xmlns:v="urn:schemas-microsoft-com:vml" Requires="v">
                <p:oleObj name="CS ChemDraw Drawing" r:id="rId4" imgW="2599382" imgH="763498" progId="ChemDraw.Document.6.0">
                  <p:embed/>
                </p:oleObj>
              </mc:Choice>
              <mc:Fallback>
                <p:oleObj name="CS ChemDraw Drawing" r:id="rId4" imgW="2599382" imgH="763498" progId="ChemDraw.Document.6.0">
                  <p:embed/>
                  <p:pic>
                    <p:nvPicPr>
                      <p:cNvPr id="3" name="对象 2">
                        <a:extLst>
                          <a:ext uri="{FF2B5EF4-FFF2-40B4-BE49-F238E27FC236}">
                            <a16:creationId xmlns:a16="http://schemas.microsoft.com/office/drawing/2014/main" id="{6B0279EB-0902-4F9B-9FD5-0A3029D9BC68}"/>
                          </a:ext>
                        </a:extLst>
                      </p:cNvPr>
                      <p:cNvPicPr/>
                      <p:nvPr/>
                    </p:nvPicPr>
                    <p:blipFill>
                      <a:blip r:embed="rId5"/>
                      <a:stretch>
                        <a:fillRect/>
                      </a:stretch>
                    </p:blipFill>
                    <p:spPr>
                      <a:xfrm>
                        <a:off x="3161516" y="2912170"/>
                        <a:ext cx="5636538" cy="1656184"/>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80E3CE43-DA83-4999-96E0-C55D7169462D}"/>
              </a:ext>
            </a:extLst>
          </p:cNvPr>
          <p:cNvSpPr txBox="1"/>
          <p:nvPr/>
        </p:nvSpPr>
        <p:spPr>
          <a:xfrm>
            <a:off x="335360" y="1634884"/>
            <a:ext cx="2286203"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General Pattern</a:t>
            </a:r>
            <a:endParaRPr lang="zh-CN" altLang="en-US" sz="2000" b="1" dirty="0">
              <a:latin typeface="Microsoft Sans Serif" panose="020B0604020202020204" pitchFamily="34" charset="0"/>
              <a:cs typeface="Microsoft Sans Serif" panose="020B0604020202020204" pitchFamily="34" charset="0"/>
            </a:endParaRPr>
          </a:p>
        </p:txBody>
      </p:sp>
      <p:sp>
        <p:nvSpPr>
          <p:cNvPr id="10" name="文本框 9">
            <a:extLst>
              <a:ext uri="{FF2B5EF4-FFF2-40B4-BE49-F238E27FC236}">
                <a16:creationId xmlns:a16="http://schemas.microsoft.com/office/drawing/2014/main" id="{06F87359-D761-4C27-A71D-5E3E13A49454}"/>
              </a:ext>
            </a:extLst>
          </p:cNvPr>
          <p:cNvSpPr txBox="1"/>
          <p:nvPr/>
        </p:nvSpPr>
        <p:spPr>
          <a:xfrm>
            <a:off x="335360" y="3444037"/>
            <a:ext cx="1473480"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Example</a:t>
            </a:r>
            <a:endParaRPr lang="zh-CN" altLang="en-US" sz="2000" b="1" dirty="0">
              <a:latin typeface="Microsoft Sans Serif" panose="020B0604020202020204" pitchFamily="34" charset="0"/>
              <a:cs typeface="Microsoft Sans Serif" panose="020B0604020202020204" pitchFamily="34" charset="0"/>
            </a:endParaRPr>
          </a:p>
        </p:txBody>
      </p:sp>
      <p:sp>
        <p:nvSpPr>
          <p:cNvPr id="11" name="文本框 10">
            <a:extLst>
              <a:ext uri="{FF2B5EF4-FFF2-40B4-BE49-F238E27FC236}">
                <a16:creationId xmlns:a16="http://schemas.microsoft.com/office/drawing/2014/main" id="{AF6E3F3D-0C3A-49A8-A5D2-9795F8496D30}"/>
              </a:ext>
            </a:extLst>
          </p:cNvPr>
          <p:cNvSpPr txBox="1"/>
          <p:nvPr/>
        </p:nvSpPr>
        <p:spPr>
          <a:xfrm>
            <a:off x="335360" y="4902154"/>
            <a:ext cx="1786066"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Mechanism</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3" name="对象 2">
            <a:extLst>
              <a:ext uri="{FF2B5EF4-FFF2-40B4-BE49-F238E27FC236}">
                <a16:creationId xmlns:a16="http://schemas.microsoft.com/office/drawing/2014/main" id="{A0A5E86F-1170-4FDF-B0C6-56597909D4F3}"/>
              </a:ext>
            </a:extLst>
          </p:cNvPr>
          <p:cNvGraphicFramePr>
            <a:graphicFrameLocks noChangeAspect="1"/>
          </p:cNvGraphicFramePr>
          <p:nvPr>
            <p:extLst>
              <p:ext uri="{D42A27DB-BD31-4B8C-83A1-F6EECF244321}">
                <p14:modId xmlns:p14="http://schemas.microsoft.com/office/powerpoint/2010/main" val="129313182"/>
              </p:ext>
            </p:extLst>
          </p:nvPr>
        </p:nvGraphicFramePr>
        <p:xfrm>
          <a:off x="1919536" y="5034270"/>
          <a:ext cx="9305302" cy="1322081"/>
        </p:xfrm>
        <a:graphic>
          <a:graphicData uri="http://schemas.openxmlformats.org/presentationml/2006/ole">
            <mc:AlternateContent xmlns:mc="http://schemas.openxmlformats.org/markup-compatibility/2006">
              <mc:Choice xmlns:v="urn:schemas-microsoft-com:vml" Requires="v">
                <p:oleObj name="CS ChemDraw Drawing" r:id="rId6" imgW="4658607" imgH="661222" progId="ChemDraw.Document.6.0">
                  <p:embed/>
                </p:oleObj>
              </mc:Choice>
              <mc:Fallback>
                <p:oleObj name="CS ChemDraw Drawing" r:id="rId6" imgW="4658607" imgH="661222" progId="ChemDraw.Document.6.0">
                  <p:embed/>
                  <p:pic>
                    <p:nvPicPr>
                      <p:cNvPr id="0" name=""/>
                      <p:cNvPicPr/>
                      <p:nvPr/>
                    </p:nvPicPr>
                    <p:blipFill>
                      <a:blip r:embed="rId7"/>
                      <a:stretch>
                        <a:fillRect/>
                      </a:stretch>
                    </p:blipFill>
                    <p:spPr>
                      <a:xfrm>
                        <a:off x="1919536" y="5034270"/>
                        <a:ext cx="9305302" cy="1322081"/>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3C81528-6CF7-4544-8A23-C0DD83F03FB3}"/>
              </a:ext>
            </a:extLst>
          </p:cNvPr>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4" name="TextBox 2">
            <a:extLst>
              <a:ext uri="{FF2B5EF4-FFF2-40B4-BE49-F238E27FC236}">
                <a16:creationId xmlns:a16="http://schemas.microsoft.com/office/drawing/2014/main" id="{4B0F3E5F-3985-4AB0-8DE0-82CB57A265EA}"/>
              </a:ext>
            </a:extLst>
          </p:cNvPr>
          <p:cNvSpPr txBox="1"/>
          <p:nvPr/>
        </p:nvSpPr>
        <p:spPr>
          <a:xfrm>
            <a:off x="695400" y="581076"/>
            <a:ext cx="11089232"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addition of HBr to 2-methylbut-2-ene could lead to two products in principle, yet only one is observed.</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5" name="对象 4">
            <a:extLst>
              <a:ext uri="{FF2B5EF4-FFF2-40B4-BE49-F238E27FC236}">
                <a16:creationId xmlns:a16="http://schemas.microsoft.com/office/drawing/2014/main" id="{B0BB6673-C7EC-4B19-99D3-E071DE4C98F5}"/>
              </a:ext>
            </a:extLst>
          </p:cNvPr>
          <p:cNvGraphicFramePr>
            <a:graphicFrameLocks noChangeAspect="1"/>
          </p:cNvGraphicFramePr>
          <p:nvPr>
            <p:extLst>
              <p:ext uri="{D42A27DB-BD31-4B8C-83A1-F6EECF244321}">
                <p14:modId xmlns:p14="http://schemas.microsoft.com/office/powerpoint/2010/main" val="185368532"/>
              </p:ext>
            </p:extLst>
          </p:nvPr>
        </p:nvGraphicFramePr>
        <p:xfrm>
          <a:off x="1745414" y="1080197"/>
          <a:ext cx="5638163" cy="1283701"/>
        </p:xfrm>
        <a:graphic>
          <a:graphicData uri="http://schemas.openxmlformats.org/presentationml/2006/ole">
            <mc:AlternateContent xmlns:mc="http://schemas.openxmlformats.org/markup-compatibility/2006">
              <mc:Choice xmlns:v="urn:schemas-microsoft-com:vml" Requires="v">
                <p:oleObj name="CS ChemDraw Drawing" r:id="rId2" imgW="3360099" imgH="764687" progId="ChemDraw.Document.6.0">
                  <p:embed/>
                </p:oleObj>
              </mc:Choice>
              <mc:Fallback>
                <p:oleObj name="CS ChemDraw Drawing" r:id="rId2" imgW="3360099" imgH="764687" progId="ChemDraw.Document.6.0">
                  <p:embed/>
                  <p:pic>
                    <p:nvPicPr>
                      <p:cNvPr id="7" name="对象 6"/>
                      <p:cNvPicPr/>
                      <p:nvPr/>
                    </p:nvPicPr>
                    <p:blipFill>
                      <a:blip r:embed="rId3"/>
                      <a:stretch>
                        <a:fillRect/>
                      </a:stretch>
                    </p:blipFill>
                    <p:spPr>
                      <a:xfrm>
                        <a:off x="1745414" y="1080197"/>
                        <a:ext cx="5638163" cy="128370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C4CBFF79-A965-4A11-979C-EF69F316FA1E}"/>
              </a:ext>
            </a:extLst>
          </p:cNvPr>
          <p:cNvGraphicFramePr>
            <a:graphicFrameLocks noChangeAspect="1"/>
          </p:cNvGraphicFramePr>
          <p:nvPr>
            <p:extLst>
              <p:ext uri="{D42A27DB-BD31-4B8C-83A1-F6EECF244321}">
                <p14:modId xmlns:p14="http://schemas.microsoft.com/office/powerpoint/2010/main" val="467591462"/>
              </p:ext>
            </p:extLst>
          </p:nvPr>
        </p:nvGraphicFramePr>
        <p:xfrm>
          <a:off x="7968208" y="981186"/>
          <a:ext cx="2664297" cy="1595056"/>
        </p:xfrm>
        <a:graphic>
          <a:graphicData uri="http://schemas.openxmlformats.org/presentationml/2006/ole">
            <mc:AlternateContent xmlns:mc="http://schemas.openxmlformats.org/markup-compatibility/2006">
              <mc:Choice xmlns:v="urn:schemas-microsoft-com:vml" Requires="v">
                <p:oleObj name="CS ChemDraw Drawing" r:id="rId4" imgW="1680444" imgH="1005708" progId="ChemDraw.Document.6.0">
                  <p:embed/>
                </p:oleObj>
              </mc:Choice>
              <mc:Fallback>
                <p:oleObj name="CS ChemDraw Drawing" r:id="rId4" imgW="1680444" imgH="1005708" progId="ChemDraw.Document.6.0">
                  <p:embed/>
                  <p:pic>
                    <p:nvPicPr>
                      <p:cNvPr id="8" name="对象 7"/>
                      <p:cNvPicPr/>
                      <p:nvPr/>
                    </p:nvPicPr>
                    <p:blipFill>
                      <a:blip r:embed="rId5"/>
                      <a:stretch>
                        <a:fillRect/>
                      </a:stretch>
                    </p:blipFill>
                    <p:spPr>
                      <a:xfrm>
                        <a:off x="7968208" y="981186"/>
                        <a:ext cx="2664297" cy="1595056"/>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27FB5D8D-B694-45CF-9065-E7F6CC54A5A5}"/>
              </a:ext>
            </a:extLst>
          </p:cNvPr>
          <p:cNvSpPr txBox="1"/>
          <p:nvPr/>
        </p:nvSpPr>
        <p:spPr>
          <a:xfrm>
            <a:off x="191344" y="204609"/>
            <a:ext cx="4958409"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Regioselectivity</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Markovnikov’s rule</a:t>
            </a:r>
            <a:endParaRPr lang="zh-CN" altLang="en-US" sz="2000" b="1" dirty="0">
              <a:highlight>
                <a:srgbClr val="00FF00"/>
              </a:highlight>
              <a:latin typeface="Microsoft Sans Serif" panose="020B0604020202020204" pitchFamily="34" charset="0"/>
              <a:cs typeface="Microsoft Sans Serif" panose="020B0604020202020204" pitchFamily="34" charset="0"/>
            </a:endParaRPr>
          </a:p>
        </p:txBody>
      </p:sp>
      <p:sp>
        <p:nvSpPr>
          <p:cNvPr id="11" name="TextBox 2">
            <a:extLst>
              <a:ext uri="{FF2B5EF4-FFF2-40B4-BE49-F238E27FC236}">
                <a16:creationId xmlns:a16="http://schemas.microsoft.com/office/drawing/2014/main" id="{8A2D9277-6008-4D25-B24B-C518F692F3F2}"/>
              </a:ext>
            </a:extLst>
          </p:cNvPr>
          <p:cNvSpPr txBox="1"/>
          <p:nvPr/>
        </p:nvSpPr>
        <p:spPr>
          <a:xfrm>
            <a:off x="191344" y="2390000"/>
            <a:ext cx="11809312" cy="132343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addition of HBr (and other HX) is said to be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regioselective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because in each case,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one of the two possible orientations of addition results preferentially over the other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Markovnikov’s rule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In an electrophilic addition to an alkene,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the proton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adds to the end of the double bond that is less substituted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to give the more substituted carbocation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more stable carbocation).</a:t>
            </a:r>
          </a:p>
        </p:txBody>
      </p:sp>
      <p:graphicFrame>
        <p:nvGraphicFramePr>
          <p:cNvPr id="3" name="对象 2">
            <a:extLst>
              <a:ext uri="{FF2B5EF4-FFF2-40B4-BE49-F238E27FC236}">
                <a16:creationId xmlns:a16="http://schemas.microsoft.com/office/drawing/2014/main" id="{C76C87F2-9DB1-47D5-BB11-584543E5F07C}"/>
              </a:ext>
            </a:extLst>
          </p:cNvPr>
          <p:cNvGraphicFramePr>
            <a:graphicFrameLocks noChangeAspect="1"/>
          </p:cNvGraphicFramePr>
          <p:nvPr>
            <p:extLst>
              <p:ext uri="{D42A27DB-BD31-4B8C-83A1-F6EECF244321}">
                <p14:modId xmlns:p14="http://schemas.microsoft.com/office/powerpoint/2010/main" val="3027968431"/>
              </p:ext>
            </p:extLst>
          </p:nvPr>
        </p:nvGraphicFramePr>
        <p:xfrm>
          <a:off x="1919536" y="3677280"/>
          <a:ext cx="8090673" cy="3180720"/>
        </p:xfrm>
        <a:graphic>
          <a:graphicData uri="http://schemas.openxmlformats.org/presentationml/2006/ole">
            <mc:AlternateContent xmlns:mc="http://schemas.openxmlformats.org/markup-compatibility/2006">
              <mc:Choice xmlns:v="urn:schemas-microsoft-com:vml" Requires="v">
                <p:oleObj name="CS ChemDraw Drawing" r:id="rId6" imgW="5318711" imgH="2090699" progId="ChemDraw.Document.6.0">
                  <p:embed/>
                </p:oleObj>
              </mc:Choice>
              <mc:Fallback>
                <p:oleObj name="CS ChemDraw Drawing" r:id="rId6" imgW="5318711" imgH="2090699" progId="ChemDraw.Document.6.0">
                  <p:embed/>
                  <p:pic>
                    <p:nvPicPr>
                      <p:cNvPr id="0" name=""/>
                      <p:cNvPicPr/>
                      <p:nvPr/>
                    </p:nvPicPr>
                    <p:blipFill>
                      <a:blip r:embed="rId7"/>
                      <a:stretch>
                        <a:fillRect/>
                      </a:stretch>
                    </p:blipFill>
                    <p:spPr>
                      <a:xfrm>
                        <a:off x="1919536" y="3677280"/>
                        <a:ext cx="8090673" cy="3180720"/>
                      </a:xfrm>
                      <a:prstGeom prst="rect">
                        <a:avLst/>
                      </a:prstGeom>
                    </p:spPr>
                  </p:pic>
                </p:oleObj>
              </mc:Fallback>
            </mc:AlternateContent>
          </a:graphicData>
        </a:graphic>
      </p:graphicFrame>
    </p:spTree>
    <p:extLst>
      <p:ext uri="{BB962C8B-B14F-4D97-AF65-F5344CB8AC3E}">
        <p14:creationId xmlns:p14="http://schemas.microsoft.com/office/powerpoint/2010/main" val="311647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0D2F918A-8A70-419F-A7F1-EDDFF522C90E}"/>
              </a:ext>
            </a:extLst>
          </p:cNvPr>
          <p:cNvSpPr/>
          <p:nvPr/>
        </p:nvSpPr>
        <p:spPr>
          <a:xfrm>
            <a:off x="4462513" y="5477242"/>
            <a:ext cx="2844800" cy="10481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EAECEA9D-4A9B-47EB-87AF-EC0708EE20C0}"/>
              </a:ext>
            </a:extLst>
          </p:cNvPr>
          <p:cNvSpPr>
            <a:spLocks noGrp="1"/>
          </p:cNvSpPr>
          <p:nvPr>
            <p:ph type="sldNum" sz="quarter" idx="12"/>
          </p:nvPr>
        </p:nvSpPr>
        <p:spPr/>
        <p:txBody>
          <a:bodyPr/>
          <a:lstStyle/>
          <a:p>
            <a:fld id="{0C913308-F349-4B6D-A68A-DD1791B4A57B}" type="slidenum">
              <a:rPr lang="zh-CN" altLang="en-US" smtClean="0"/>
              <a:pPr/>
              <a:t>15</a:t>
            </a:fld>
            <a:endParaRPr lang="zh-CN" altLang="en-US"/>
          </a:p>
        </p:txBody>
      </p:sp>
      <p:sp>
        <p:nvSpPr>
          <p:cNvPr id="3" name="TextBox 2">
            <a:extLst>
              <a:ext uri="{FF2B5EF4-FFF2-40B4-BE49-F238E27FC236}">
                <a16:creationId xmlns:a16="http://schemas.microsoft.com/office/drawing/2014/main" id="{EA4F58E5-2379-4C4D-8880-714B8E690EA8}"/>
              </a:ext>
            </a:extLst>
          </p:cNvPr>
          <p:cNvSpPr txBox="1"/>
          <p:nvPr/>
        </p:nvSpPr>
        <p:spPr>
          <a:xfrm>
            <a:off x="587388" y="624589"/>
            <a:ext cx="11449272"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Carbocations have </a:t>
            </a:r>
            <a:r>
              <a:rPr lang="en-US" altLang="zh-CN" sz="2000" b="1" dirty="0">
                <a:highlight>
                  <a:srgbClr val="00FF00"/>
                </a:highlight>
                <a:latin typeface="Microsoft Sans Serif" pitchFamily="34" charset="0"/>
                <a:cs typeface="Microsoft Sans Serif" pitchFamily="34" charset="0"/>
              </a:rPr>
              <a:t>planar or nearly planar </a:t>
            </a:r>
            <a:r>
              <a:rPr lang="en-US" altLang="zh-CN" sz="2000" b="1" dirty="0">
                <a:latin typeface="Microsoft Sans Serif" pitchFamily="34" charset="0"/>
                <a:cs typeface="Microsoft Sans Serif" pitchFamily="34" charset="0"/>
              </a:rPr>
              <a:t>structures.</a:t>
            </a:r>
          </a:p>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In a carbocation</a:t>
            </a:r>
            <a:r>
              <a:rPr lang="en-US" altLang="zh-CN" sz="2000" b="1" dirty="0">
                <a:highlight>
                  <a:srgbClr val="FFFF00"/>
                </a:highlight>
                <a:latin typeface="Microsoft Sans Serif" pitchFamily="34" charset="0"/>
                <a:cs typeface="Microsoft Sans Serif" pitchFamily="34" charset="0"/>
              </a:rPr>
              <a:t>, the positively charged carbon</a:t>
            </a:r>
            <a:r>
              <a:rPr lang="en-US" altLang="zh-CN" sz="2000" b="1" dirty="0">
                <a:latin typeface="Microsoft Sans Serif" pitchFamily="34" charset="0"/>
                <a:cs typeface="Microsoft Sans Serif" pitchFamily="34" charset="0"/>
              </a:rPr>
              <a:t> is an </a:t>
            </a:r>
            <a:r>
              <a:rPr lang="en-US" altLang="zh-CN" sz="2000" b="1" i="1" dirty="0">
                <a:highlight>
                  <a:srgbClr val="00FF00"/>
                </a:highlight>
                <a:latin typeface="Microsoft Sans Serif" pitchFamily="34" charset="0"/>
                <a:cs typeface="Microsoft Sans Serif" pitchFamily="34" charset="0"/>
              </a:rPr>
              <a:t>sp</a:t>
            </a:r>
            <a:r>
              <a:rPr lang="en-US" altLang="zh-CN" sz="2000" b="1" baseline="30000" dirty="0">
                <a:highlight>
                  <a:srgbClr val="00FF00"/>
                </a:highlight>
                <a:latin typeface="Microsoft Sans Serif" pitchFamily="34" charset="0"/>
                <a:cs typeface="Microsoft Sans Serif" pitchFamily="34" charset="0"/>
              </a:rPr>
              <a:t>2</a:t>
            </a:r>
            <a:r>
              <a:rPr lang="en-US" altLang="zh-CN" sz="2000" b="1" dirty="0">
                <a:highlight>
                  <a:srgbClr val="00FF00"/>
                </a:highlight>
                <a:latin typeface="Microsoft Sans Serif" pitchFamily="34" charset="0"/>
                <a:cs typeface="Microsoft Sans Serif" pitchFamily="34" charset="0"/>
              </a:rPr>
              <a:t> hybrid</a:t>
            </a:r>
            <a:r>
              <a:rPr lang="en-US" altLang="zh-CN" sz="2000" b="1" dirty="0">
                <a:latin typeface="Microsoft Sans Serif" pitchFamily="34" charset="0"/>
                <a:cs typeface="Microsoft Sans Serif" pitchFamily="34" charset="0"/>
              </a:rPr>
              <a:t> carbon.</a:t>
            </a:r>
          </a:p>
        </p:txBody>
      </p:sp>
      <p:sp>
        <p:nvSpPr>
          <p:cNvPr id="4" name="TextBox 9">
            <a:extLst>
              <a:ext uri="{FF2B5EF4-FFF2-40B4-BE49-F238E27FC236}">
                <a16:creationId xmlns:a16="http://schemas.microsoft.com/office/drawing/2014/main" id="{3B2A45AD-CA87-4E67-832E-59DF8B3D9412}"/>
              </a:ext>
            </a:extLst>
          </p:cNvPr>
          <p:cNvSpPr txBox="1"/>
          <p:nvPr/>
        </p:nvSpPr>
        <p:spPr>
          <a:xfrm>
            <a:off x="4599744" y="5493653"/>
            <a:ext cx="3401863" cy="1015663"/>
          </a:xfrm>
          <a:prstGeom prst="rect">
            <a:avLst/>
          </a:prstGeom>
          <a:noFill/>
        </p:spPr>
        <p:txBody>
          <a:bodyPr wrap="square" rtlCol="0">
            <a:spAutoFit/>
          </a:bodyPr>
          <a:lstStyle/>
          <a:p>
            <a:r>
              <a:rPr lang="en-US" altLang="zh-CN" sz="2000" b="1" dirty="0">
                <a:latin typeface="Consolas" panose="020B0609020204030204" pitchFamily="49" charset="0"/>
                <a:cs typeface="Microsoft Sans Serif" pitchFamily="34" charset="0"/>
              </a:rPr>
              <a:t>Alkyl groups are electron-donating groups (EDG)</a:t>
            </a:r>
            <a:endParaRPr lang="zh-CN" altLang="en-US" sz="2000" b="1" dirty="0">
              <a:latin typeface="Consolas" panose="020B0609020204030204" pitchFamily="49" charset="0"/>
              <a:cs typeface="Microsoft Sans Serif" pitchFamily="34" charset="0"/>
            </a:endParaRPr>
          </a:p>
        </p:txBody>
      </p:sp>
      <p:sp>
        <p:nvSpPr>
          <p:cNvPr id="12" name="文本框 11">
            <a:extLst>
              <a:ext uri="{FF2B5EF4-FFF2-40B4-BE49-F238E27FC236}">
                <a16:creationId xmlns:a16="http://schemas.microsoft.com/office/drawing/2014/main" id="{70A903CB-433D-4199-AD0A-C639F0F5BF76}"/>
              </a:ext>
            </a:extLst>
          </p:cNvPr>
          <p:cNvSpPr txBox="1"/>
          <p:nvPr/>
        </p:nvSpPr>
        <p:spPr>
          <a:xfrm>
            <a:off x="295322" y="172702"/>
            <a:ext cx="7024814" cy="400110"/>
          </a:xfrm>
          <a:prstGeom prst="rect">
            <a:avLst/>
          </a:prstGeom>
          <a:noFill/>
        </p:spPr>
        <p:txBody>
          <a:bodyPr wrap="square">
            <a:spAutoFit/>
          </a:bodyPr>
          <a:lstStyle/>
          <a:p>
            <a:pPr marL="342900" indent="-342900">
              <a:buFont typeface="Arial" panose="020B0604020202020204" pitchFamily="34" charset="0"/>
              <a:buChar char="•"/>
            </a:pP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The structure of carbocations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and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their relative stabilities</a:t>
            </a:r>
            <a:endParaRPr lang="zh-CN" altLang="en-US" sz="2000" dirty="0">
              <a:highlight>
                <a:srgbClr val="00FFFF"/>
              </a:highlight>
            </a:endParaRPr>
          </a:p>
        </p:txBody>
      </p:sp>
      <p:graphicFrame>
        <p:nvGraphicFramePr>
          <p:cNvPr id="13" name="对象 12">
            <a:extLst>
              <a:ext uri="{FF2B5EF4-FFF2-40B4-BE49-F238E27FC236}">
                <a16:creationId xmlns:a16="http://schemas.microsoft.com/office/drawing/2014/main" id="{339F00A4-E04D-428F-B0A3-DAE2BC2190C0}"/>
              </a:ext>
            </a:extLst>
          </p:cNvPr>
          <p:cNvGraphicFramePr>
            <a:graphicFrameLocks noChangeAspect="1"/>
          </p:cNvGraphicFramePr>
          <p:nvPr>
            <p:extLst>
              <p:ext uri="{D42A27DB-BD31-4B8C-83A1-F6EECF244321}">
                <p14:modId xmlns:p14="http://schemas.microsoft.com/office/powerpoint/2010/main" val="2229407472"/>
              </p:ext>
            </p:extLst>
          </p:nvPr>
        </p:nvGraphicFramePr>
        <p:xfrm>
          <a:off x="4462513" y="1380758"/>
          <a:ext cx="4009751" cy="1711766"/>
        </p:xfrm>
        <a:graphic>
          <a:graphicData uri="http://schemas.openxmlformats.org/presentationml/2006/ole">
            <mc:AlternateContent xmlns:mc="http://schemas.openxmlformats.org/markup-compatibility/2006">
              <mc:Choice xmlns:v="urn:schemas-microsoft-com:vml" Requires="v">
                <p:oleObj name="CS ChemDraw Drawing" r:id="rId2" imgW="1900216" imgH="810671" progId="ChemDraw.Document.6.0">
                  <p:embed/>
                </p:oleObj>
              </mc:Choice>
              <mc:Fallback>
                <p:oleObj name="CS ChemDraw Drawing" r:id="rId2" imgW="1900216" imgH="810671" progId="ChemDraw.Document.6.0">
                  <p:embed/>
                  <p:pic>
                    <p:nvPicPr>
                      <p:cNvPr id="0" name=""/>
                      <p:cNvPicPr/>
                      <p:nvPr/>
                    </p:nvPicPr>
                    <p:blipFill>
                      <a:blip r:embed="rId3"/>
                      <a:stretch>
                        <a:fillRect/>
                      </a:stretch>
                    </p:blipFill>
                    <p:spPr>
                      <a:xfrm>
                        <a:off x="4462513" y="1380758"/>
                        <a:ext cx="4009751" cy="1711766"/>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D751F898-10F5-4FA6-A5B7-5EE0ADDAE05C}"/>
              </a:ext>
            </a:extLst>
          </p:cNvPr>
          <p:cNvSpPr txBox="1"/>
          <p:nvPr/>
        </p:nvSpPr>
        <p:spPr>
          <a:xfrm>
            <a:off x="582976" y="3028890"/>
            <a:ext cx="4315043" cy="400110"/>
          </a:xfrm>
          <a:prstGeom prst="rect">
            <a:avLst/>
          </a:prstGeom>
          <a:noFill/>
        </p:spPr>
        <p:txBody>
          <a:bodyPr wrap="square">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Relative stability of carbocations: </a:t>
            </a:r>
          </a:p>
        </p:txBody>
      </p:sp>
      <p:graphicFrame>
        <p:nvGraphicFramePr>
          <p:cNvPr id="16" name="对象 15">
            <a:extLst>
              <a:ext uri="{FF2B5EF4-FFF2-40B4-BE49-F238E27FC236}">
                <a16:creationId xmlns:a16="http://schemas.microsoft.com/office/drawing/2014/main" id="{30987FAA-8E58-4E22-BF59-A223A6BC836D}"/>
              </a:ext>
            </a:extLst>
          </p:cNvPr>
          <p:cNvGraphicFramePr>
            <a:graphicFrameLocks noChangeAspect="1"/>
          </p:cNvGraphicFramePr>
          <p:nvPr>
            <p:extLst>
              <p:ext uri="{D42A27DB-BD31-4B8C-83A1-F6EECF244321}">
                <p14:modId xmlns:p14="http://schemas.microsoft.com/office/powerpoint/2010/main" val="2484947644"/>
              </p:ext>
            </p:extLst>
          </p:nvPr>
        </p:nvGraphicFramePr>
        <p:xfrm>
          <a:off x="961755" y="3449075"/>
          <a:ext cx="7872528" cy="1446686"/>
        </p:xfrm>
        <a:graphic>
          <a:graphicData uri="http://schemas.openxmlformats.org/presentationml/2006/ole">
            <mc:AlternateContent xmlns:mc="http://schemas.openxmlformats.org/markup-compatibility/2006">
              <mc:Choice xmlns:v="urn:schemas-microsoft-com:vml" Requires="v">
                <p:oleObj name="CS ChemDraw Drawing" r:id="rId4" imgW="4301922" imgH="790850" progId="ChemDraw.Document.6.0">
                  <p:embed/>
                </p:oleObj>
              </mc:Choice>
              <mc:Fallback>
                <p:oleObj name="CS ChemDraw Drawing" r:id="rId4" imgW="4301922" imgH="790850" progId="ChemDraw.Document.6.0">
                  <p:embed/>
                  <p:pic>
                    <p:nvPicPr>
                      <p:cNvPr id="0" name=""/>
                      <p:cNvPicPr/>
                      <p:nvPr/>
                    </p:nvPicPr>
                    <p:blipFill>
                      <a:blip r:embed="rId5"/>
                      <a:stretch>
                        <a:fillRect/>
                      </a:stretch>
                    </p:blipFill>
                    <p:spPr>
                      <a:xfrm>
                        <a:off x="961755" y="3449075"/>
                        <a:ext cx="7872528" cy="1446686"/>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28787CB5-2B37-44A8-BB81-6C32E0960464}"/>
              </a:ext>
            </a:extLst>
          </p:cNvPr>
          <p:cNvGraphicFramePr>
            <a:graphicFrameLocks noChangeAspect="1"/>
          </p:cNvGraphicFramePr>
          <p:nvPr>
            <p:extLst>
              <p:ext uri="{D42A27DB-BD31-4B8C-83A1-F6EECF244321}">
                <p14:modId xmlns:p14="http://schemas.microsoft.com/office/powerpoint/2010/main" val="3535242303"/>
              </p:ext>
            </p:extLst>
          </p:nvPr>
        </p:nvGraphicFramePr>
        <p:xfrm>
          <a:off x="1631504" y="4915835"/>
          <a:ext cx="2232248" cy="1839511"/>
        </p:xfrm>
        <a:graphic>
          <a:graphicData uri="http://schemas.openxmlformats.org/presentationml/2006/ole">
            <mc:AlternateContent xmlns:mc="http://schemas.openxmlformats.org/markup-compatibility/2006">
              <mc:Choice xmlns:v="urn:schemas-microsoft-com:vml" Requires="v">
                <p:oleObj name="CS ChemDraw Drawing" r:id="rId6" imgW="1227880" imgH="1011654" progId="ChemDraw.Document.6.0">
                  <p:embed/>
                </p:oleObj>
              </mc:Choice>
              <mc:Fallback>
                <p:oleObj name="CS ChemDraw Drawing" r:id="rId6" imgW="1227880" imgH="1011654" progId="ChemDraw.Document.6.0">
                  <p:embed/>
                  <p:pic>
                    <p:nvPicPr>
                      <p:cNvPr id="0" name=""/>
                      <p:cNvPicPr/>
                      <p:nvPr/>
                    </p:nvPicPr>
                    <p:blipFill>
                      <a:blip r:embed="rId7"/>
                      <a:stretch>
                        <a:fillRect/>
                      </a:stretch>
                    </p:blipFill>
                    <p:spPr>
                      <a:xfrm>
                        <a:off x="1631504" y="4915835"/>
                        <a:ext cx="2232248" cy="1839511"/>
                      </a:xfrm>
                      <a:prstGeom prst="rect">
                        <a:avLst/>
                      </a:prstGeom>
                    </p:spPr>
                  </p:pic>
                </p:oleObj>
              </mc:Fallback>
            </mc:AlternateContent>
          </a:graphicData>
        </a:graphic>
      </p:graphicFrame>
    </p:spTree>
    <p:extLst>
      <p:ext uri="{BB962C8B-B14F-4D97-AF65-F5344CB8AC3E}">
        <p14:creationId xmlns:p14="http://schemas.microsoft.com/office/powerpoint/2010/main" val="1944687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10"/>
          <p:cNvSpPr txBox="1"/>
          <p:nvPr/>
        </p:nvSpPr>
        <p:spPr>
          <a:xfrm>
            <a:off x="5683144" y="5733026"/>
            <a:ext cx="1703249" cy="646331"/>
          </a:xfrm>
          <a:prstGeom prst="rect">
            <a:avLst/>
          </a:prstGeom>
          <a:solidFill>
            <a:srgbClr val="FFFF00"/>
          </a:solidFill>
          <a:ln w="12700">
            <a:noFill/>
          </a:ln>
        </p:spPr>
        <p:txBody>
          <a:bodyPr wrap="square" rtlCol="0">
            <a:spAutoFit/>
          </a:bodyPr>
          <a:lstStyle/>
          <a:p>
            <a:pPr algn="ctr"/>
            <a:r>
              <a:rPr lang="en-US" altLang="zh-CN" b="1" dirty="0" err="1">
                <a:latin typeface="Consolas" panose="020B0609020204030204" pitchFamily="49" charset="0"/>
              </a:rPr>
              <a:t>nucleophilic</a:t>
            </a:r>
            <a:r>
              <a:rPr lang="en-US" altLang="zh-CN" b="1" dirty="0">
                <a:latin typeface="Consolas" panose="020B0609020204030204" pitchFamily="49" charset="0"/>
              </a:rPr>
              <a:t> attack</a:t>
            </a:r>
            <a:endParaRPr lang="zh-CN" altLang="en-US" b="1" dirty="0">
              <a:latin typeface="Consolas" panose="020B0609020204030204" pitchFamily="49" charset="0"/>
            </a:endParaRPr>
          </a:p>
        </p:txBody>
      </p:sp>
      <p:graphicFrame>
        <p:nvGraphicFramePr>
          <p:cNvPr id="6" name="对象 5">
            <a:extLst>
              <a:ext uri="{FF2B5EF4-FFF2-40B4-BE49-F238E27FC236}">
                <a16:creationId xmlns:a16="http://schemas.microsoft.com/office/drawing/2014/main" id="{2092B9D0-14FD-45DE-811A-E3D3ABF64E65}"/>
              </a:ext>
            </a:extLst>
          </p:cNvPr>
          <p:cNvGraphicFramePr>
            <a:graphicFrameLocks noChangeAspect="1"/>
          </p:cNvGraphicFramePr>
          <p:nvPr>
            <p:extLst>
              <p:ext uri="{D42A27DB-BD31-4B8C-83A1-F6EECF244321}">
                <p14:modId xmlns:p14="http://schemas.microsoft.com/office/powerpoint/2010/main" val="3056627619"/>
              </p:ext>
            </p:extLst>
          </p:nvPr>
        </p:nvGraphicFramePr>
        <p:xfrm>
          <a:off x="2398836" y="5105888"/>
          <a:ext cx="8271863" cy="1767264"/>
        </p:xfrm>
        <a:graphic>
          <a:graphicData uri="http://schemas.openxmlformats.org/presentationml/2006/ole">
            <mc:AlternateContent xmlns:mc="http://schemas.openxmlformats.org/markup-compatibility/2006">
              <mc:Choice xmlns:v="urn:schemas-microsoft-com:vml" Requires="v">
                <p:oleObj name="CS ChemDraw Drawing" r:id="rId2" imgW="4443570" imgH="949417" progId="ChemDraw.Document.6.0">
                  <p:embed/>
                </p:oleObj>
              </mc:Choice>
              <mc:Fallback>
                <p:oleObj name="CS ChemDraw Drawing" r:id="rId2" imgW="4443570" imgH="949417" progId="ChemDraw.Document.6.0">
                  <p:embed/>
                  <p:pic>
                    <p:nvPicPr>
                      <p:cNvPr id="0" name=""/>
                      <p:cNvPicPr/>
                      <p:nvPr/>
                    </p:nvPicPr>
                    <p:blipFill>
                      <a:blip r:embed="rId3"/>
                      <a:stretch>
                        <a:fillRect/>
                      </a:stretch>
                    </p:blipFill>
                    <p:spPr>
                      <a:xfrm>
                        <a:off x="2398836" y="5105888"/>
                        <a:ext cx="8271863" cy="1767264"/>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pPr/>
              <a:t>16</a:t>
            </a:fld>
            <a:endParaRPr lang="zh-CN" altLang="en-US"/>
          </a:p>
        </p:txBody>
      </p:sp>
      <p:sp>
        <p:nvSpPr>
          <p:cNvPr id="4" name="TextBox 3"/>
          <p:cNvSpPr txBox="1"/>
          <p:nvPr/>
        </p:nvSpPr>
        <p:spPr>
          <a:xfrm>
            <a:off x="293943" y="715124"/>
            <a:ext cx="11413752" cy="317009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 alkene may react with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water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in the presence of a strongly acidic catalyst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to form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an alcohol</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Formally, this reaction is a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hydration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the addition of water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with a hydrogen atom adding to one carbon and a hydroxyl group adding to the other.</a:t>
            </a: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Like the addition of HX,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hydration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is regioselective: it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follows Markovnikov’s rule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giving a product in which the new hydrogen has added to the less substituted end of the double bond.</a:t>
            </a:r>
          </a:p>
        </p:txBody>
      </p:sp>
      <p:sp>
        <p:nvSpPr>
          <p:cNvPr id="3" name="矩形 2"/>
          <p:cNvSpPr/>
          <p:nvPr/>
        </p:nvSpPr>
        <p:spPr>
          <a:xfrm>
            <a:off x="1030" y="238560"/>
            <a:ext cx="8055410"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4-5-3 Addition of Acidic Water to Alkenes to form Alcohols</a:t>
            </a:r>
          </a:p>
        </p:txBody>
      </p:sp>
      <p:graphicFrame>
        <p:nvGraphicFramePr>
          <p:cNvPr id="5" name="对象 4"/>
          <p:cNvGraphicFramePr>
            <a:graphicFrameLocks noChangeAspect="1"/>
          </p:cNvGraphicFramePr>
          <p:nvPr>
            <p:extLst>
              <p:ext uri="{D42A27DB-BD31-4B8C-83A1-F6EECF244321}">
                <p14:modId xmlns:p14="http://schemas.microsoft.com/office/powerpoint/2010/main" val="338746068"/>
              </p:ext>
            </p:extLst>
          </p:nvPr>
        </p:nvGraphicFramePr>
        <p:xfrm>
          <a:off x="3215680" y="1773075"/>
          <a:ext cx="4354750" cy="1365618"/>
        </p:xfrm>
        <a:graphic>
          <a:graphicData uri="http://schemas.openxmlformats.org/presentationml/2006/ole">
            <mc:AlternateContent xmlns:mc="http://schemas.openxmlformats.org/markup-compatibility/2006">
              <mc:Choice xmlns:v="urn:schemas-microsoft-com:vml" Requires="v">
                <p:oleObj name="CS ChemDraw Drawing" r:id="rId4" imgW="2814419" imgH="882026" progId="ChemDraw.Document.6.0">
                  <p:embed/>
                </p:oleObj>
              </mc:Choice>
              <mc:Fallback>
                <p:oleObj name="CS ChemDraw Drawing" r:id="rId4" imgW="2814419" imgH="882026" progId="ChemDraw.Document.6.0">
                  <p:embed/>
                  <p:pic>
                    <p:nvPicPr>
                      <p:cNvPr id="5" name="对象 4"/>
                      <p:cNvPicPr/>
                      <p:nvPr/>
                    </p:nvPicPr>
                    <p:blipFill>
                      <a:blip r:embed="rId5"/>
                      <a:stretch>
                        <a:fillRect/>
                      </a:stretch>
                    </p:blipFill>
                    <p:spPr>
                      <a:xfrm>
                        <a:off x="3215680" y="1773075"/>
                        <a:ext cx="4354750" cy="1365618"/>
                      </a:xfrm>
                      <a:prstGeom prst="rect">
                        <a:avLst/>
                      </a:prstGeom>
                      <a:ln w="38100">
                        <a:solidFill>
                          <a:schemeClr val="bg1">
                            <a:lumMod val="75000"/>
                          </a:schemeClr>
                        </a:solid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82985997"/>
              </p:ext>
            </p:extLst>
          </p:nvPr>
        </p:nvGraphicFramePr>
        <p:xfrm>
          <a:off x="2999656" y="3783282"/>
          <a:ext cx="5817271" cy="1322606"/>
        </p:xfrm>
        <a:graphic>
          <a:graphicData uri="http://schemas.openxmlformats.org/presentationml/2006/ole">
            <mc:AlternateContent xmlns:mc="http://schemas.openxmlformats.org/markup-compatibility/2006">
              <mc:Choice xmlns:v="urn:schemas-microsoft-com:vml" Requires="v">
                <p:oleObj name="CS ChemDraw Drawing" r:id="rId6" imgW="3364834" imgH="764687" progId="ChemDraw.Document.6.0">
                  <p:embed/>
                </p:oleObj>
              </mc:Choice>
              <mc:Fallback>
                <p:oleObj name="CS ChemDraw Drawing" r:id="rId6" imgW="3364834" imgH="764687" progId="ChemDraw.Document.6.0">
                  <p:embed/>
                  <p:pic>
                    <p:nvPicPr>
                      <p:cNvPr id="7" name="对象 6"/>
                      <p:cNvPicPr/>
                      <p:nvPr/>
                    </p:nvPicPr>
                    <p:blipFill>
                      <a:blip r:embed="rId7"/>
                      <a:stretch>
                        <a:fillRect/>
                      </a:stretch>
                    </p:blipFill>
                    <p:spPr>
                      <a:xfrm>
                        <a:off x="2999656" y="3783282"/>
                        <a:ext cx="5817271" cy="1322606"/>
                      </a:xfrm>
                      <a:prstGeom prst="rect">
                        <a:avLst/>
                      </a:prstGeom>
                    </p:spPr>
                  </p:pic>
                </p:oleObj>
              </mc:Fallback>
            </mc:AlternateContent>
          </a:graphicData>
        </a:graphic>
      </p:graphicFrame>
      <p:sp>
        <p:nvSpPr>
          <p:cNvPr id="15" name="文本框 14"/>
          <p:cNvSpPr txBox="1"/>
          <p:nvPr/>
        </p:nvSpPr>
        <p:spPr>
          <a:xfrm>
            <a:off x="263352" y="5709339"/>
            <a:ext cx="1612942" cy="369332"/>
          </a:xfrm>
          <a:prstGeom prst="rect">
            <a:avLst/>
          </a:prstGeom>
          <a:noFill/>
        </p:spPr>
        <p:txBody>
          <a:bodyPr wrap="none" rtlCol="0">
            <a:spAutoFit/>
          </a:bodyPr>
          <a:lstStyle/>
          <a:p>
            <a:pPr marL="285750" indent="-285750">
              <a:buFont typeface="Arial" panose="020B0604020202020204" pitchFamily="34" charset="0"/>
              <a:buChar char="•"/>
            </a:pPr>
            <a:r>
              <a:rPr lang="en-US" altLang="zh-CN" b="1" dirty="0">
                <a:latin typeface="Consolas" panose="020B0609020204030204" pitchFamily="49" charset="0"/>
              </a:rPr>
              <a:t>mechanism</a:t>
            </a:r>
            <a:endParaRPr lang="zh-CN" altLang="en-US" b="1" dirty="0">
              <a:latin typeface="Consolas" panose="020B0609020204030204" pitchFamily="49" charset="0"/>
            </a:endParaRPr>
          </a:p>
        </p:txBody>
      </p:sp>
      <p:sp>
        <p:nvSpPr>
          <p:cNvPr id="20" name="TextBox 8"/>
          <p:cNvSpPr txBox="1"/>
          <p:nvPr/>
        </p:nvSpPr>
        <p:spPr>
          <a:xfrm>
            <a:off x="3201857" y="5819710"/>
            <a:ext cx="1587969" cy="369332"/>
          </a:xfrm>
          <a:prstGeom prst="rect">
            <a:avLst/>
          </a:prstGeom>
          <a:solidFill>
            <a:srgbClr val="FFFF00"/>
          </a:solidFill>
          <a:ln>
            <a:noFill/>
          </a:ln>
        </p:spPr>
        <p:txBody>
          <a:bodyPr wrap="square" rtlCol="0">
            <a:spAutoFit/>
          </a:bodyPr>
          <a:lstStyle/>
          <a:p>
            <a:r>
              <a:rPr lang="en-US" altLang="zh-CN" b="1" dirty="0" err="1">
                <a:latin typeface="Consolas" panose="020B0609020204030204" pitchFamily="49" charset="0"/>
              </a:rPr>
              <a:t>protonation</a:t>
            </a:r>
            <a:endParaRPr lang="zh-CN" altLang="en-US" b="1" dirty="0">
              <a:latin typeface="Consolas" panose="020B0609020204030204" pitchFamily="49" charset="0"/>
            </a:endParaRPr>
          </a:p>
        </p:txBody>
      </p:sp>
      <p:sp>
        <p:nvSpPr>
          <p:cNvPr id="24" name="TextBox 12"/>
          <p:cNvSpPr txBox="1"/>
          <p:nvPr/>
        </p:nvSpPr>
        <p:spPr>
          <a:xfrm>
            <a:off x="7968208" y="6372036"/>
            <a:ext cx="1843983" cy="369332"/>
          </a:xfrm>
          <a:prstGeom prst="rect">
            <a:avLst/>
          </a:prstGeom>
          <a:solidFill>
            <a:srgbClr val="FFFF00"/>
          </a:solidFill>
        </p:spPr>
        <p:txBody>
          <a:bodyPr wrap="square" rtlCol="0">
            <a:spAutoFit/>
          </a:bodyPr>
          <a:lstStyle/>
          <a:p>
            <a:r>
              <a:rPr lang="en-US" altLang="zh-CN" b="1" dirty="0" err="1">
                <a:latin typeface="Consolas" panose="020B0609020204030204" pitchFamily="49" charset="0"/>
              </a:rPr>
              <a:t>deprotonation</a:t>
            </a:r>
            <a:endParaRPr lang="zh-CN" altLang="en-US" b="1" dirty="0">
              <a:latin typeface="Consolas" panose="020B06090202040302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F175BEF7-0D54-4815-B330-A9D0CDC4B4B7}"/>
              </a:ext>
            </a:extLst>
          </p:cNvPr>
          <p:cNvSpPr/>
          <p:nvPr/>
        </p:nvSpPr>
        <p:spPr>
          <a:xfrm>
            <a:off x="686592" y="5990283"/>
            <a:ext cx="10449968" cy="70788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17</a:t>
            </a:fld>
            <a:endParaRPr lang="zh-CN" altLang="en-US"/>
          </a:p>
        </p:txBody>
      </p:sp>
      <p:sp>
        <p:nvSpPr>
          <p:cNvPr id="14" name="TextBox 13"/>
          <p:cNvSpPr txBox="1"/>
          <p:nvPr/>
        </p:nvSpPr>
        <p:spPr>
          <a:xfrm>
            <a:off x="277144" y="159831"/>
            <a:ext cx="11305256"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Like other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reactions that involve carbocation intermediates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hydration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may take place with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rearrangement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对象 5">
            <a:extLst>
              <a:ext uri="{FF2B5EF4-FFF2-40B4-BE49-F238E27FC236}">
                <a16:creationId xmlns:a16="http://schemas.microsoft.com/office/drawing/2014/main" id="{F37989A1-8DE0-4D83-862D-A1E7FA476598}"/>
              </a:ext>
            </a:extLst>
          </p:cNvPr>
          <p:cNvGraphicFramePr>
            <a:graphicFrameLocks noChangeAspect="1"/>
          </p:cNvGraphicFramePr>
          <p:nvPr>
            <p:extLst>
              <p:ext uri="{D42A27DB-BD31-4B8C-83A1-F6EECF244321}">
                <p14:modId xmlns:p14="http://schemas.microsoft.com/office/powerpoint/2010/main" val="3027270578"/>
              </p:ext>
            </p:extLst>
          </p:nvPr>
        </p:nvGraphicFramePr>
        <p:xfrm>
          <a:off x="1487488" y="867717"/>
          <a:ext cx="9332231" cy="1728192"/>
        </p:xfrm>
        <a:graphic>
          <a:graphicData uri="http://schemas.openxmlformats.org/presentationml/2006/ole">
            <mc:AlternateContent xmlns:mc="http://schemas.openxmlformats.org/markup-compatibility/2006">
              <mc:Choice xmlns:v="urn:schemas-microsoft-com:vml" Requires="v">
                <p:oleObj name="CS ChemDraw Drawing" r:id="rId2" imgW="5615422" imgH="1039403" progId="ChemDraw.Document.6.0">
                  <p:embed/>
                </p:oleObj>
              </mc:Choice>
              <mc:Fallback>
                <p:oleObj name="CS ChemDraw Drawing" r:id="rId2" imgW="5615422" imgH="1039403" progId="ChemDraw.Document.6.0">
                  <p:embed/>
                  <p:pic>
                    <p:nvPicPr>
                      <p:cNvPr id="0" name=""/>
                      <p:cNvPicPr/>
                      <p:nvPr/>
                    </p:nvPicPr>
                    <p:blipFill>
                      <a:blip r:embed="rId3"/>
                      <a:stretch>
                        <a:fillRect/>
                      </a:stretch>
                    </p:blipFill>
                    <p:spPr>
                      <a:xfrm>
                        <a:off x="1487488" y="867717"/>
                        <a:ext cx="9332231" cy="1728192"/>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44D50450-AE93-4C98-ABAF-C4132F22471A}"/>
              </a:ext>
            </a:extLst>
          </p:cNvPr>
          <p:cNvSpPr txBox="1"/>
          <p:nvPr/>
        </p:nvSpPr>
        <p:spPr>
          <a:xfrm>
            <a:off x="724807" y="2492896"/>
            <a:ext cx="1786066"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mechanism</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8" name="对象 7">
            <a:extLst>
              <a:ext uri="{FF2B5EF4-FFF2-40B4-BE49-F238E27FC236}">
                <a16:creationId xmlns:a16="http://schemas.microsoft.com/office/drawing/2014/main" id="{47B59C54-AAE4-4283-8B57-70E417BC9E17}"/>
              </a:ext>
            </a:extLst>
          </p:cNvPr>
          <p:cNvGraphicFramePr>
            <a:graphicFrameLocks noChangeAspect="1"/>
          </p:cNvGraphicFramePr>
          <p:nvPr>
            <p:extLst>
              <p:ext uri="{D42A27DB-BD31-4B8C-83A1-F6EECF244321}">
                <p14:modId xmlns:p14="http://schemas.microsoft.com/office/powerpoint/2010/main" val="4079307919"/>
              </p:ext>
            </p:extLst>
          </p:nvPr>
        </p:nvGraphicFramePr>
        <p:xfrm>
          <a:off x="2360783" y="2795172"/>
          <a:ext cx="7470433" cy="1728192"/>
        </p:xfrm>
        <a:graphic>
          <a:graphicData uri="http://schemas.openxmlformats.org/presentationml/2006/ole">
            <mc:AlternateContent xmlns:mc="http://schemas.openxmlformats.org/markup-compatibility/2006">
              <mc:Choice xmlns:v="urn:schemas-microsoft-com:vml" Requires="v">
                <p:oleObj name="CS ChemDraw Drawing" r:id="rId4" imgW="4082544" imgH="944660" progId="ChemDraw.Document.6.0">
                  <p:embed/>
                </p:oleObj>
              </mc:Choice>
              <mc:Fallback>
                <p:oleObj name="CS ChemDraw Drawing" r:id="rId4" imgW="4082544" imgH="944660" progId="ChemDraw.Document.6.0">
                  <p:embed/>
                  <p:pic>
                    <p:nvPicPr>
                      <p:cNvPr id="0" name=""/>
                      <p:cNvPicPr/>
                      <p:nvPr/>
                    </p:nvPicPr>
                    <p:blipFill>
                      <a:blip r:embed="rId5"/>
                      <a:stretch>
                        <a:fillRect/>
                      </a:stretch>
                    </p:blipFill>
                    <p:spPr>
                      <a:xfrm>
                        <a:off x="2360783" y="2795172"/>
                        <a:ext cx="7470433" cy="1728192"/>
                      </a:xfrm>
                      <a:prstGeom prst="rect">
                        <a:avLst/>
                      </a:prstGeom>
                    </p:spPr>
                  </p:pic>
                </p:oleObj>
              </mc:Fallback>
            </mc:AlternateContent>
          </a:graphicData>
        </a:graphic>
      </p:graphicFrame>
      <p:sp>
        <p:nvSpPr>
          <p:cNvPr id="9" name="椭圆 8">
            <a:extLst>
              <a:ext uri="{FF2B5EF4-FFF2-40B4-BE49-F238E27FC236}">
                <a16:creationId xmlns:a16="http://schemas.microsoft.com/office/drawing/2014/main" id="{9F336899-24C4-40A7-80B1-C0596F365651}"/>
              </a:ext>
            </a:extLst>
          </p:cNvPr>
          <p:cNvSpPr/>
          <p:nvPr/>
        </p:nvSpPr>
        <p:spPr>
          <a:xfrm>
            <a:off x="4892093" y="3035970"/>
            <a:ext cx="576064"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94C4D13B-CEB5-4F06-A53A-CCBF1E8E80E5}"/>
              </a:ext>
            </a:extLst>
          </p:cNvPr>
          <p:cNvSpPr txBox="1"/>
          <p:nvPr/>
        </p:nvSpPr>
        <p:spPr>
          <a:xfrm>
            <a:off x="686592" y="5990283"/>
            <a:ext cx="10818816"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driving force of carbocation rearrangement: </a:t>
            </a:r>
            <a:r>
              <a:rPr lang="en-US" altLang="zh-CN" sz="2000" b="1" dirty="0">
                <a:latin typeface="Microsoft Sans Serif" panose="020B0604020202020204" pitchFamily="34" charset="0"/>
                <a:cs typeface="Microsoft Sans Serif" panose="020B0604020202020204" pitchFamily="34" charset="0"/>
              </a:rPr>
              <a:t>formation of a more stable carbocation.</a:t>
            </a:r>
          </a:p>
          <a:p>
            <a:pPr marL="342900" indent="-342900">
              <a:buFont typeface="Arial" panose="020B0604020202020204" pitchFamily="34" charset="0"/>
              <a:buChar char="•"/>
            </a:pPr>
            <a:r>
              <a:rPr lang="en-US" altLang="zh-CN" sz="2000" b="1" dirty="0">
                <a:latin typeface="Microsoft Sans Serif" panose="020B0604020202020204" pitchFamily="34" charset="0"/>
                <a:cs typeface="Microsoft Sans Serif" panose="020B0604020202020204" pitchFamily="34" charset="0"/>
              </a:rPr>
              <a:t>The shifting group can be an alkyl group or a H.</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4" name="对象 3">
            <a:extLst>
              <a:ext uri="{FF2B5EF4-FFF2-40B4-BE49-F238E27FC236}">
                <a16:creationId xmlns:a16="http://schemas.microsoft.com/office/drawing/2014/main" id="{22E520A4-DD17-4819-8DD4-A67461D8C968}"/>
              </a:ext>
            </a:extLst>
          </p:cNvPr>
          <p:cNvGraphicFramePr>
            <a:graphicFrameLocks noChangeAspect="1"/>
          </p:cNvGraphicFramePr>
          <p:nvPr>
            <p:extLst>
              <p:ext uri="{D42A27DB-BD31-4B8C-83A1-F6EECF244321}">
                <p14:modId xmlns:p14="http://schemas.microsoft.com/office/powerpoint/2010/main" val="1697437693"/>
              </p:ext>
            </p:extLst>
          </p:nvPr>
        </p:nvGraphicFramePr>
        <p:xfrm>
          <a:off x="2279576" y="4532846"/>
          <a:ext cx="7189042" cy="1403086"/>
        </p:xfrm>
        <a:graphic>
          <a:graphicData uri="http://schemas.openxmlformats.org/presentationml/2006/ole">
            <mc:AlternateContent xmlns:mc="http://schemas.openxmlformats.org/markup-compatibility/2006">
              <mc:Choice xmlns:v="urn:schemas-microsoft-com:vml" Requires="v">
                <p:oleObj name="CS ChemDraw Drawing" r:id="rId6" imgW="4010734" imgH="782922" progId="ChemDraw.Document.6.0">
                  <p:embed/>
                </p:oleObj>
              </mc:Choice>
              <mc:Fallback>
                <p:oleObj name="CS ChemDraw Drawing" r:id="rId6" imgW="4010734" imgH="782922" progId="ChemDraw.Document.6.0">
                  <p:embed/>
                  <p:pic>
                    <p:nvPicPr>
                      <p:cNvPr id="0" name=""/>
                      <p:cNvPicPr/>
                      <p:nvPr/>
                    </p:nvPicPr>
                    <p:blipFill>
                      <a:blip r:embed="rId7"/>
                      <a:stretch>
                        <a:fillRect/>
                      </a:stretch>
                    </p:blipFill>
                    <p:spPr>
                      <a:xfrm>
                        <a:off x="2279576" y="4532846"/>
                        <a:ext cx="7189042" cy="1403086"/>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8D675490-9224-4A0A-A8AF-634FAA3F8AD0}"/>
              </a:ext>
            </a:extLst>
          </p:cNvPr>
          <p:cNvSpPr/>
          <p:nvPr/>
        </p:nvSpPr>
        <p:spPr>
          <a:xfrm>
            <a:off x="8604729" y="891137"/>
            <a:ext cx="3371274" cy="102408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18</a:t>
            </a:fld>
            <a:endParaRPr lang="zh-CN" altLang="en-US"/>
          </a:p>
        </p:txBody>
      </p:sp>
      <p:sp>
        <p:nvSpPr>
          <p:cNvPr id="4" name="矩形 3"/>
          <p:cNvSpPr/>
          <p:nvPr/>
        </p:nvSpPr>
        <p:spPr>
          <a:xfrm>
            <a:off x="0" y="250444"/>
            <a:ext cx="8733481"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4-5-4 Addition of Halogens to Alkenes to form Vicinal Dihalides</a:t>
            </a:r>
          </a:p>
        </p:txBody>
      </p:sp>
      <p:graphicFrame>
        <p:nvGraphicFramePr>
          <p:cNvPr id="7" name="对象 6"/>
          <p:cNvGraphicFramePr>
            <a:graphicFrameLocks noChangeAspect="1"/>
          </p:cNvGraphicFramePr>
          <p:nvPr>
            <p:extLst>
              <p:ext uri="{D42A27DB-BD31-4B8C-83A1-F6EECF244321}">
                <p14:modId xmlns:p14="http://schemas.microsoft.com/office/powerpoint/2010/main" val="1465765829"/>
              </p:ext>
            </p:extLst>
          </p:nvPr>
        </p:nvGraphicFramePr>
        <p:xfrm>
          <a:off x="645402" y="1612066"/>
          <a:ext cx="4171475" cy="1363811"/>
        </p:xfrm>
        <a:graphic>
          <a:graphicData uri="http://schemas.openxmlformats.org/presentationml/2006/ole">
            <mc:AlternateContent xmlns:mc="http://schemas.openxmlformats.org/markup-compatibility/2006">
              <mc:Choice xmlns:v="urn:schemas-microsoft-com:vml" Requires="v">
                <p:oleObj name="CS ChemDraw Drawing" r:id="rId2" imgW="2151553" imgH="704035" progId="ChemDraw.Document.6.0">
                  <p:embed/>
                </p:oleObj>
              </mc:Choice>
              <mc:Fallback>
                <p:oleObj name="CS ChemDraw Drawing" r:id="rId2" imgW="2151553" imgH="704035" progId="ChemDraw.Document.6.0">
                  <p:embed/>
                  <p:pic>
                    <p:nvPicPr>
                      <p:cNvPr id="7" name="对象 6"/>
                      <p:cNvPicPr/>
                      <p:nvPr/>
                    </p:nvPicPr>
                    <p:blipFill>
                      <a:blip r:embed="rId3"/>
                      <a:stretch>
                        <a:fillRect/>
                      </a:stretch>
                    </p:blipFill>
                    <p:spPr>
                      <a:xfrm>
                        <a:off x="645402" y="1612066"/>
                        <a:ext cx="4171475" cy="1363811"/>
                      </a:xfrm>
                      <a:prstGeom prst="rect">
                        <a:avLst/>
                      </a:prstGeom>
                      <a:ln w="19050">
                        <a:solidFill>
                          <a:schemeClr val="bg1">
                            <a:lumMod val="75000"/>
                          </a:schemeClr>
                        </a:solidFill>
                      </a:ln>
                    </p:spPr>
                  </p:pic>
                </p:oleObj>
              </mc:Fallback>
            </mc:AlternateContent>
          </a:graphicData>
        </a:graphic>
      </p:graphicFrame>
      <p:sp>
        <p:nvSpPr>
          <p:cNvPr id="8" name="文本框 7"/>
          <p:cNvSpPr txBox="1"/>
          <p:nvPr/>
        </p:nvSpPr>
        <p:spPr>
          <a:xfrm>
            <a:off x="191344" y="737948"/>
            <a:ext cx="6869188"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this reaction, the halogen molecule is the electrophile.</a:t>
            </a:r>
            <a:endParaRPr lang="zh-CN" altLang="en-US" sz="2000" b="1" dirty="0">
              <a:latin typeface="Microsoft Sans Serif" panose="020B0604020202020204" pitchFamily="34" charset="0"/>
              <a:cs typeface="Microsoft Sans Serif" panose="020B0604020202020204" pitchFamily="34" charset="0"/>
            </a:endParaRPr>
          </a:p>
        </p:txBody>
      </p:sp>
      <p:sp>
        <p:nvSpPr>
          <p:cNvPr id="11" name="矩形 10">
            <a:extLst>
              <a:ext uri="{FF2B5EF4-FFF2-40B4-BE49-F238E27FC236}">
                <a16:creationId xmlns:a16="http://schemas.microsoft.com/office/drawing/2014/main" id="{3A0ADEA3-0F3C-428A-A76B-DF5F8B435E98}"/>
              </a:ext>
            </a:extLst>
          </p:cNvPr>
          <p:cNvSpPr/>
          <p:nvPr/>
        </p:nvSpPr>
        <p:spPr>
          <a:xfrm>
            <a:off x="5087888" y="1163897"/>
            <a:ext cx="1859805"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2&gt;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Mechanism</a:t>
            </a:r>
          </a:p>
        </p:txBody>
      </p:sp>
      <p:sp>
        <p:nvSpPr>
          <p:cNvPr id="13" name="文本框 12">
            <a:extLst>
              <a:ext uri="{FF2B5EF4-FFF2-40B4-BE49-F238E27FC236}">
                <a16:creationId xmlns:a16="http://schemas.microsoft.com/office/drawing/2014/main" id="{A1E829A4-801E-4DA1-A6A0-378C5B5B831B}"/>
              </a:ext>
            </a:extLst>
          </p:cNvPr>
          <p:cNvSpPr txBox="1"/>
          <p:nvPr/>
        </p:nvSpPr>
        <p:spPr>
          <a:xfrm>
            <a:off x="6629468" y="2293972"/>
            <a:ext cx="857927" cy="338554"/>
          </a:xfrm>
          <a:prstGeom prst="rect">
            <a:avLst/>
          </a:prstGeom>
          <a:noFill/>
        </p:spPr>
        <p:txBody>
          <a:bodyPr wrap="none" rtlCol="0">
            <a:spAutoFit/>
          </a:bodyPr>
          <a:lstStyle/>
          <a:p>
            <a:r>
              <a:rPr lang="en-US" altLang="zh-CN" sz="1600" b="1" dirty="0">
                <a:latin typeface="Consolas" panose="020B0609020204030204" pitchFamily="49" charset="0"/>
              </a:rPr>
              <a:t>Step 1</a:t>
            </a:r>
            <a:endParaRPr lang="zh-CN" altLang="en-US" sz="1600" b="1" dirty="0">
              <a:latin typeface="Consolas" panose="020B0609020204030204" pitchFamily="49" charset="0"/>
            </a:endParaRPr>
          </a:p>
        </p:txBody>
      </p:sp>
      <p:sp>
        <p:nvSpPr>
          <p:cNvPr id="14" name="文本框 13">
            <a:extLst>
              <a:ext uri="{FF2B5EF4-FFF2-40B4-BE49-F238E27FC236}">
                <a16:creationId xmlns:a16="http://schemas.microsoft.com/office/drawing/2014/main" id="{D094E92F-EF46-4EC5-8AFD-201A3A6B1CB2}"/>
              </a:ext>
            </a:extLst>
          </p:cNvPr>
          <p:cNvSpPr txBox="1"/>
          <p:nvPr/>
        </p:nvSpPr>
        <p:spPr>
          <a:xfrm>
            <a:off x="9134424" y="2293972"/>
            <a:ext cx="857927" cy="338554"/>
          </a:xfrm>
          <a:prstGeom prst="rect">
            <a:avLst/>
          </a:prstGeom>
          <a:noFill/>
        </p:spPr>
        <p:txBody>
          <a:bodyPr wrap="none" rtlCol="0">
            <a:spAutoFit/>
          </a:bodyPr>
          <a:lstStyle/>
          <a:p>
            <a:r>
              <a:rPr lang="en-US" altLang="zh-CN" sz="1600" b="1" dirty="0">
                <a:latin typeface="Consolas" panose="020B0609020204030204" pitchFamily="49" charset="0"/>
              </a:rPr>
              <a:t>Step 2</a:t>
            </a:r>
            <a:endParaRPr lang="zh-CN" altLang="en-US" sz="1600" b="1" dirty="0">
              <a:latin typeface="Consolas" panose="020B0609020204030204" pitchFamily="49" charset="0"/>
            </a:endParaRPr>
          </a:p>
        </p:txBody>
      </p:sp>
      <p:sp>
        <p:nvSpPr>
          <p:cNvPr id="15" name="椭圆 14">
            <a:extLst>
              <a:ext uri="{FF2B5EF4-FFF2-40B4-BE49-F238E27FC236}">
                <a16:creationId xmlns:a16="http://schemas.microsoft.com/office/drawing/2014/main" id="{004E74FC-2D06-4B3C-B861-AE300C02156D}"/>
              </a:ext>
            </a:extLst>
          </p:cNvPr>
          <p:cNvSpPr/>
          <p:nvPr/>
        </p:nvSpPr>
        <p:spPr>
          <a:xfrm>
            <a:off x="7834842" y="2586397"/>
            <a:ext cx="360040" cy="36004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2F7BC42E-5DBC-4329-8D11-002473C5C8E1}"/>
              </a:ext>
            </a:extLst>
          </p:cNvPr>
          <p:cNvSpPr/>
          <p:nvPr/>
        </p:nvSpPr>
        <p:spPr>
          <a:xfrm>
            <a:off x="8304613" y="2591715"/>
            <a:ext cx="360040" cy="36004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407573A-9608-4A15-BBA4-142162DD081F}"/>
              </a:ext>
            </a:extLst>
          </p:cNvPr>
          <p:cNvSpPr txBox="1"/>
          <p:nvPr/>
        </p:nvSpPr>
        <p:spPr>
          <a:xfrm>
            <a:off x="8670186" y="980409"/>
            <a:ext cx="3240360" cy="923330"/>
          </a:xfrm>
          <a:prstGeom prst="rect">
            <a:avLst/>
          </a:prstGeom>
          <a:noFill/>
        </p:spPr>
        <p:txBody>
          <a:bodyPr wrap="square" rtlCol="0">
            <a:spAutoFit/>
          </a:bodyPr>
          <a:lstStyle/>
          <a:p>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Cl</a:t>
            </a:r>
            <a:r>
              <a:rPr lang="en-US" altLang="zh-CN" b="1" baseline="-25000" dirty="0">
                <a:latin typeface="Consolas" panose="020B0609020204030204" pitchFamily="49" charset="0"/>
                <a:ea typeface="Microsoft Sans Serif" panose="020B0604020202020204" pitchFamily="34" charset="0"/>
                <a:cs typeface="Microsoft Sans Serif" panose="020B0604020202020204" pitchFamily="34" charset="0"/>
              </a:rPr>
              <a:t>2</a:t>
            </a:r>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 Br</a:t>
            </a:r>
            <a:r>
              <a:rPr lang="en-US" altLang="zh-CN" b="1" baseline="-25000" dirty="0">
                <a:latin typeface="Consolas" panose="020B0609020204030204" pitchFamily="49" charset="0"/>
                <a:ea typeface="Microsoft Sans Serif" panose="020B0604020202020204" pitchFamily="34" charset="0"/>
                <a:cs typeface="Microsoft Sans Serif" panose="020B0604020202020204" pitchFamily="34" charset="0"/>
              </a:rPr>
              <a:t>2</a:t>
            </a:r>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 and I</a:t>
            </a:r>
            <a:r>
              <a:rPr lang="en-US" altLang="zh-CN" b="1" baseline="-25000" dirty="0">
                <a:latin typeface="Consolas" panose="020B0609020204030204" pitchFamily="49" charset="0"/>
                <a:ea typeface="Microsoft Sans Serif" panose="020B0604020202020204" pitchFamily="34" charset="0"/>
                <a:cs typeface="Microsoft Sans Serif" panose="020B0604020202020204" pitchFamily="34" charset="0"/>
              </a:rPr>
              <a:t>2</a:t>
            </a:r>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 commonly add to alkenes by such a halonium ion mechanism.</a:t>
            </a:r>
            <a:endParaRPr lang="zh-CN" altLang="en-US" b="1" dirty="0">
              <a:latin typeface="Consolas" panose="020B0609020204030204" pitchFamily="49" charset="0"/>
              <a:cs typeface="Microsoft Sans Serif" panose="020B0604020202020204" pitchFamily="34" charset="0"/>
            </a:endParaRPr>
          </a:p>
        </p:txBody>
      </p:sp>
      <p:sp>
        <p:nvSpPr>
          <p:cNvPr id="18" name="矩形 17">
            <a:extLst>
              <a:ext uri="{FF2B5EF4-FFF2-40B4-BE49-F238E27FC236}">
                <a16:creationId xmlns:a16="http://schemas.microsoft.com/office/drawing/2014/main" id="{653610C1-61A7-407B-A383-64540DF22E64}"/>
              </a:ext>
            </a:extLst>
          </p:cNvPr>
          <p:cNvSpPr/>
          <p:nvPr/>
        </p:nvSpPr>
        <p:spPr>
          <a:xfrm>
            <a:off x="6214095" y="4102200"/>
            <a:ext cx="5584198" cy="2308324"/>
          </a:xfrm>
          <a:prstGeom prst="rect">
            <a:avLst/>
          </a:prstGeom>
        </p:spPr>
        <p:txBody>
          <a:bodyPr wrap="square">
            <a:spAutoFit/>
          </a:bodyPr>
          <a:lstStyle/>
          <a:p>
            <a:r>
              <a:rPr lang="en-US" altLang="zh-CN" b="1" u="sng"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Step 1</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The pi electrons of an alkene (nucleophile) attack the bromine molecule (electrophile) , expelling bromide ion (leaving group) to give a </a:t>
            </a:r>
            <a:r>
              <a:rPr lang="en-US" altLang="zh-CN"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bromonium ion </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reactive intermediate</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b="1" u="sng" dirty="0">
                <a:latin typeface="Microsoft Sans Serif" panose="020B0604020202020204" pitchFamily="34" charset="0"/>
                <a:ea typeface="Microsoft Sans Serif" panose="020B0604020202020204" pitchFamily="34" charset="0"/>
                <a:cs typeface="Microsoft Sans Serif" panose="020B0604020202020204" pitchFamily="34" charset="0"/>
              </a:rPr>
              <a:t> </a:t>
            </a:r>
          </a:p>
          <a:p>
            <a:endParaRPr lang="en-US" altLang="zh-CN" b="1" u="sng"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US" altLang="zh-CN" b="1" u="sng"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Step 2</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The electrophilic carbons of the bromonium ion are attacked by bromide (nucleophile) to </a:t>
            </a:r>
            <a:r>
              <a:rPr lang="en-US" altLang="zh-CN"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open the bromonium ion</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give a stable product</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20" name="矩形 19">
            <a:extLst>
              <a:ext uri="{FF2B5EF4-FFF2-40B4-BE49-F238E27FC236}">
                <a16:creationId xmlns:a16="http://schemas.microsoft.com/office/drawing/2014/main" id="{47A2BA2C-75CF-45B5-94C9-AA20C1F6AE6A}"/>
              </a:ext>
            </a:extLst>
          </p:cNvPr>
          <p:cNvSpPr/>
          <p:nvPr/>
        </p:nvSpPr>
        <p:spPr>
          <a:xfrm>
            <a:off x="215994" y="3517700"/>
            <a:ext cx="5818431" cy="2862322"/>
          </a:xfrm>
          <a:prstGeom prst="rect">
            <a:avLst/>
          </a:prstGeom>
          <a:ln w="38100">
            <a:solidFill>
              <a:schemeClr val="bg1">
                <a:lumMod val="65000"/>
              </a:schemeClr>
            </a:solidFill>
          </a:ln>
        </p:spPr>
        <p:txBody>
          <a:bodyPr wrap="square">
            <a:spAutoFit/>
          </a:bodyPr>
          <a:lstStyle/>
          <a:p>
            <a:pPr marL="285750" indent="-285750" algn="just">
              <a:buFont typeface="Arial" panose="020B0604020202020204" pitchFamily="34" charset="0"/>
              <a:buChar char="•"/>
            </a:pP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 </a:t>
            </a:r>
            <a:r>
              <a:rPr lang="en-US" altLang="zh-CN"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bromonium ion </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contains </a:t>
            </a:r>
            <a:r>
              <a:rPr lang="en-US" altLang="zh-CN"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a three-membered ring with a positive charge on the bromine atom</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buFont typeface="Arial" panose="020B0604020202020204" pitchFamily="34" charset="0"/>
              <a:buChar char="•"/>
            </a:pP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Unlike a normal carbocation, all the atoms in a bromonium ion have filled octets, resulting in greater stability.</a:t>
            </a:r>
          </a:p>
          <a:p>
            <a:pPr marL="285750" indent="-285750" algn="just">
              <a:buFont typeface="Arial" panose="020B0604020202020204" pitchFamily="34" charset="0"/>
              <a:buChar char="•"/>
            </a:pP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However, the three-membered ring has considerable </a:t>
            </a:r>
            <a:r>
              <a:rPr lang="en-US" altLang="zh-CN"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ring strain</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which combined with a positive charge on the electronegative bromine atom, makes </a:t>
            </a:r>
            <a:r>
              <a:rPr lang="en-US" altLang="zh-CN"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the bromonium ion–bearing carbon atoms strongly electrophilic</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graphicFrame>
        <p:nvGraphicFramePr>
          <p:cNvPr id="6" name="对象 5">
            <a:extLst>
              <a:ext uri="{FF2B5EF4-FFF2-40B4-BE49-F238E27FC236}">
                <a16:creationId xmlns:a16="http://schemas.microsoft.com/office/drawing/2014/main" id="{5915AAFE-3E13-42F6-9E27-9C36F9A42DC7}"/>
              </a:ext>
            </a:extLst>
          </p:cNvPr>
          <p:cNvGraphicFramePr>
            <a:graphicFrameLocks noChangeAspect="1"/>
          </p:cNvGraphicFramePr>
          <p:nvPr>
            <p:extLst>
              <p:ext uri="{D42A27DB-BD31-4B8C-83A1-F6EECF244321}">
                <p14:modId xmlns:p14="http://schemas.microsoft.com/office/powerpoint/2010/main" val="640448629"/>
              </p:ext>
            </p:extLst>
          </p:nvPr>
        </p:nvGraphicFramePr>
        <p:xfrm>
          <a:off x="5756419" y="1589846"/>
          <a:ext cx="5954124" cy="2103690"/>
        </p:xfrm>
        <a:graphic>
          <a:graphicData uri="http://schemas.openxmlformats.org/presentationml/2006/ole">
            <mc:AlternateContent xmlns:mc="http://schemas.openxmlformats.org/markup-compatibility/2006">
              <mc:Choice xmlns:v="urn:schemas-microsoft-com:vml" Requires="v">
                <p:oleObj name="CS ChemDraw Drawing" r:id="rId4" imgW="3733356" imgH="1319273" progId="ChemDraw.Document.6.0">
                  <p:embed/>
                </p:oleObj>
              </mc:Choice>
              <mc:Fallback>
                <p:oleObj name="CS ChemDraw Drawing" r:id="rId4" imgW="3733356" imgH="1319273" progId="ChemDraw.Document.6.0">
                  <p:embed/>
                  <p:pic>
                    <p:nvPicPr>
                      <p:cNvPr id="0" name=""/>
                      <p:cNvPicPr/>
                      <p:nvPr/>
                    </p:nvPicPr>
                    <p:blipFill>
                      <a:blip r:embed="rId5"/>
                      <a:stretch>
                        <a:fillRect/>
                      </a:stretch>
                    </p:blipFill>
                    <p:spPr>
                      <a:xfrm>
                        <a:off x="5756419" y="1589846"/>
                        <a:ext cx="5954124" cy="2103690"/>
                      </a:xfrm>
                      <a:prstGeom prst="rect">
                        <a:avLst/>
                      </a:prstGeom>
                    </p:spPr>
                  </p:pic>
                </p:oleObj>
              </mc:Fallback>
            </mc:AlternateContent>
          </a:graphicData>
        </a:graphic>
      </p:graphicFrame>
      <p:sp>
        <p:nvSpPr>
          <p:cNvPr id="22" name="矩形 21">
            <a:extLst>
              <a:ext uri="{FF2B5EF4-FFF2-40B4-BE49-F238E27FC236}">
                <a16:creationId xmlns:a16="http://schemas.microsoft.com/office/drawing/2014/main" id="{50905CFF-0813-40B5-953E-B0A0700E9EC0}"/>
              </a:ext>
            </a:extLst>
          </p:cNvPr>
          <p:cNvSpPr/>
          <p:nvPr/>
        </p:nvSpPr>
        <p:spPr>
          <a:xfrm>
            <a:off x="479376" y="1138058"/>
            <a:ext cx="1375698"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1&gt;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Pattern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32B3CAE7-0CD6-45D3-99BC-DE2A08CC9903}"/>
              </a:ext>
            </a:extLst>
          </p:cNvPr>
          <p:cNvSpPr/>
          <p:nvPr/>
        </p:nvSpPr>
        <p:spPr>
          <a:xfrm>
            <a:off x="2567608" y="4797152"/>
            <a:ext cx="1944216" cy="54393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19</a:t>
            </a:fld>
            <a:endParaRPr lang="zh-CN" altLang="en-US"/>
          </a:p>
        </p:txBody>
      </p:sp>
      <p:sp>
        <p:nvSpPr>
          <p:cNvPr id="3" name="TextBox 2"/>
          <p:cNvSpPr txBox="1"/>
          <p:nvPr/>
        </p:nvSpPr>
        <p:spPr>
          <a:xfrm>
            <a:off x="275622" y="761606"/>
            <a:ext cx="11305256"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addition of bromine to an alkene is an anti addition.</a:t>
            </a:r>
          </a:p>
        </p:txBody>
      </p:sp>
      <p:sp>
        <p:nvSpPr>
          <p:cNvPr id="4" name="矩形 3"/>
          <p:cNvSpPr/>
          <p:nvPr/>
        </p:nvSpPr>
        <p:spPr>
          <a:xfrm>
            <a:off x="0" y="311202"/>
            <a:ext cx="6247223"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3&gt;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Stereochemistry</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Halogen Addition: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anti addition</a:t>
            </a:r>
          </a:p>
        </p:txBody>
      </p:sp>
      <p:sp>
        <p:nvSpPr>
          <p:cNvPr id="5" name="矩形 4"/>
          <p:cNvSpPr/>
          <p:nvPr/>
        </p:nvSpPr>
        <p:spPr>
          <a:xfrm>
            <a:off x="275622" y="3105098"/>
            <a:ext cx="8424936" cy="40011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Anti stereochemistry results from the bromonium ion mechanism. </a:t>
            </a:r>
          </a:p>
        </p:txBody>
      </p:sp>
      <p:graphicFrame>
        <p:nvGraphicFramePr>
          <p:cNvPr id="6" name="对象 5"/>
          <p:cNvGraphicFramePr>
            <a:graphicFrameLocks noChangeAspect="1"/>
          </p:cNvGraphicFramePr>
          <p:nvPr>
            <p:extLst>
              <p:ext uri="{D42A27DB-BD31-4B8C-83A1-F6EECF244321}">
                <p14:modId xmlns:p14="http://schemas.microsoft.com/office/powerpoint/2010/main" val="2074351361"/>
              </p:ext>
            </p:extLst>
          </p:nvPr>
        </p:nvGraphicFramePr>
        <p:xfrm>
          <a:off x="2995526" y="1182673"/>
          <a:ext cx="5865448" cy="1962789"/>
        </p:xfrm>
        <a:graphic>
          <a:graphicData uri="http://schemas.openxmlformats.org/presentationml/2006/ole">
            <mc:AlternateContent xmlns:mc="http://schemas.openxmlformats.org/markup-compatibility/2006">
              <mc:Choice xmlns:v="urn:schemas-microsoft-com:vml" Requires="v">
                <p:oleObj name="CS ChemDraw Drawing" r:id="rId2" imgW="3249227" imgH="1087766" progId="ChemDraw.Document.6.0">
                  <p:embed/>
                </p:oleObj>
              </mc:Choice>
              <mc:Fallback>
                <p:oleObj name="CS ChemDraw Drawing" r:id="rId2" imgW="3249227" imgH="1087766" progId="ChemDraw.Document.6.0">
                  <p:embed/>
                  <p:pic>
                    <p:nvPicPr>
                      <p:cNvPr id="6" name="对象 5"/>
                      <p:cNvPicPr/>
                      <p:nvPr/>
                    </p:nvPicPr>
                    <p:blipFill>
                      <a:blip r:embed="rId3"/>
                      <a:stretch>
                        <a:fillRect/>
                      </a:stretch>
                    </p:blipFill>
                    <p:spPr>
                      <a:xfrm>
                        <a:off x="2995526" y="1182673"/>
                        <a:ext cx="5865448" cy="1962789"/>
                      </a:xfrm>
                      <a:prstGeom prst="rect">
                        <a:avLst/>
                      </a:prstGeom>
                    </p:spPr>
                  </p:pic>
                </p:oleObj>
              </mc:Fallback>
            </mc:AlternateContent>
          </a:graphicData>
        </a:graphic>
      </p:graphicFrame>
      <p:sp>
        <p:nvSpPr>
          <p:cNvPr id="8" name="文本框 7"/>
          <p:cNvSpPr txBox="1"/>
          <p:nvPr/>
        </p:nvSpPr>
        <p:spPr>
          <a:xfrm>
            <a:off x="7310257" y="4109582"/>
            <a:ext cx="4680520" cy="224676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nucleophile (Br</a:t>
            </a:r>
            <a:r>
              <a:rPr lang="en-US" altLang="zh-CN" sz="2000" b="1" baseline="30000"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attacks the bromonium ion from the back side, in a manner similar to the S</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2 displacement.</a:t>
            </a: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This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back-side attack</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assures anti addition.</a:t>
            </a:r>
            <a:endParaRPr lang="zh-CN" altLang="en-US" sz="2000" b="1" dirty="0">
              <a:latin typeface="Microsoft Sans Serif" panose="020B0604020202020204" pitchFamily="34" charset="0"/>
              <a:cs typeface="Microsoft Sans Serif" panose="020B0604020202020204" pitchFamily="34" charset="0"/>
            </a:endParaRPr>
          </a:p>
        </p:txBody>
      </p:sp>
      <p:sp>
        <p:nvSpPr>
          <p:cNvPr id="9" name="文本框 8"/>
          <p:cNvSpPr txBox="1"/>
          <p:nvPr/>
        </p:nvSpPr>
        <p:spPr>
          <a:xfrm>
            <a:off x="2639616" y="4772193"/>
            <a:ext cx="1944216" cy="584775"/>
          </a:xfrm>
          <a:prstGeom prst="rect">
            <a:avLst/>
          </a:prstGeom>
          <a:noFill/>
        </p:spPr>
        <p:txBody>
          <a:bodyPr wrap="square" rtlCol="0">
            <a:spAutoFit/>
          </a:bodyPr>
          <a:lstStyle/>
          <a:p>
            <a:r>
              <a:rPr lang="en-US" altLang="zh-CN" sz="1600" b="1" dirty="0">
                <a:solidFill>
                  <a:srgbClr val="FF0000"/>
                </a:solidFill>
                <a:latin typeface="Consolas" panose="020B0609020204030204" pitchFamily="49" charset="0"/>
              </a:rPr>
              <a:t>backside attack in equal odds</a:t>
            </a:r>
            <a:endParaRPr lang="zh-CN" altLang="en-US" sz="1600" b="1" dirty="0">
              <a:solidFill>
                <a:srgbClr val="FF0000"/>
              </a:solidFill>
              <a:latin typeface="Consolas" panose="020B0609020204030204" pitchFamily="49"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805382121"/>
              </p:ext>
            </p:extLst>
          </p:nvPr>
        </p:nvGraphicFramePr>
        <p:xfrm>
          <a:off x="767408" y="3500745"/>
          <a:ext cx="6530018" cy="3357255"/>
        </p:xfrm>
        <a:graphic>
          <a:graphicData uri="http://schemas.openxmlformats.org/presentationml/2006/ole">
            <mc:AlternateContent xmlns:mc="http://schemas.openxmlformats.org/markup-compatibility/2006">
              <mc:Choice xmlns:v="urn:schemas-microsoft-com:vml" Requires="v">
                <p:oleObj name="CS ChemDraw Drawing" r:id="rId4" imgW="4269962" imgH="2195749" progId="ChemDraw.Document.6.0">
                  <p:embed/>
                </p:oleObj>
              </mc:Choice>
              <mc:Fallback>
                <p:oleObj name="CS ChemDraw Drawing" r:id="rId4" imgW="4269962" imgH="2195749" progId="ChemDraw.Document.6.0">
                  <p:embed/>
                  <p:pic>
                    <p:nvPicPr>
                      <p:cNvPr id="10" name="对象 9"/>
                      <p:cNvPicPr/>
                      <p:nvPr/>
                    </p:nvPicPr>
                    <p:blipFill>
                      <a:blip r:embed="rId5"/>
                      <a:stretch>
                        <a:fillRect/>
                      </a:stretch>
                    </p:blipFill>
                    <p:spPr>
                      <a:xfrm>
                        <a:off x="767408" y="3500745"/>
                        <a:ext cx="6530018" cy="3357255"/>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4" name="文本框 3"/>
          <p:cNvSpPr txBox="1"/>
          <p:nvPr/>
        </p:nvSpPr>
        <p:spPr>
          <a:xfrm flipH="1">
            <a:off x="407368" y="286961"/>
            <a:ext cx="7560841"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Additional examples of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anti</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addition of halogens to alkene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pic>
        <p:nvPicPr>
          <p:cNvPr id="7" name="图片 6"/>
          <p:cNvPicPr>
            <a:picLocks noChangeAspect="1"/>
          </p:cNvPicPr>
          <p:nvPr/>
        </p:nvPicPr>
        <p:blipFill>
          <a:blip r:embed="rId2"/>
          <a:stretch>
            <a:fillRect/>
          </a:stretch>
        </p:blipFill>
        <p:spPr>
          <a:xfrm>
            <a:off x="1226265" y="3504258"/>
            <a:ext cx="1394721" cy="3073552"/>
          </a:xfrm>
          <a:prstGeom prst="rect">
            <a:avLst/>
          </a:prstGeom>
          <a:effectLst>
            <a:softEdge rad="127000"/>
          </a:effectLst>
        </p:spPr>
      </p:pic>
      <p:cxnSp>
        <p:nvCxnSpPr>
          <p:cNvPr id="8" name="直接箭头连接符 7"/>
          <p:cNvCxnSpPr>
            <a:stCxn id="12" idx="2"/>
          </p:cNvCxnSpPr>
          <p:nvPr/>
        </p:nvCxnSpPr>
        <p:spPr>
          <a:xfrm flipH="1">
            <a:off x="2112726" y="3908523"/>
            <a:ext cx="575738" cy="1514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927648" y="3645024"/>
            <a:ext cx="3240097" cy="523220"/>
          </a:xfrm>
          <a:prstGeom prst="rect">
            <a:avLst/>
          </a:prstGeom>
          <a:noFill/>
        </p:spPr>
        <p:txBody>
          <a:bodyPr wrap="square" rtlCol="0">
            <a:spAutoFit/>
          </a:bodyPr>
          <a:lstStyle/>
          <a:p>
            <a:r>
              <a:rPr lang="en-US" altLang="zh-CN" sz="1400" b="1" dirty="0">
                <a:solidFill>
                  <a:srgbClr val="FF0000"/>
                </a:solidFill>
                <a:latin typeface="Consolas" panose="020B0609020204030204" pitchFamily="49" charset="0"/>
              </a:rPr>
              <a:t>A solution of bromine in CCl</a:t>
            </a:r>
            <a:r>
              <a:rPr lang="en-US" altLang="zh-CN" sz="1400" b="1" baseline="-25000" dirty="0">
                <a:solidFill>
                  <a:srgbClr val="FF0000"/>
                </a:solidFill>
                <a:latin typeface="Consolas" panose="020B0609020204030204" pitchFamily="49" charset="0"/>
              </a:rPr>
              <a:t>4</a:t>
            </a:r>
            <a:r>
              <a:rPr lang="en-US" altLang="zh-CN" sz="1400" b="1" dirty="0">
                <a:solidFill>
                  <a:srgbClr val="FF0000"/>
                </a:solidFill>
                <a:latin typeface="Consolas" panose="020B0609020204030204" pitchFamily="49" charset="0"/>
              </a:rPr>
              <a:t> is a clear, deep red color.</a:t>
            </a:r>
            <a:endParaRPr lang="zh-CN" altLang="en-US" sz="1400" b="1" dirty="0">
              <a:solidFill>
                <a:srgbClr val="FF0000"/>
              </a:solidFill>
              <a:latin typeface="Consolas" panose="020B0609020204030204" pitchFamily="49" charset="0"/>
            </a:endParaRPr>
          </a:p>
        </p:txBody>
      </p:sp>
      <p:sp>
        <p:nvSpPr>
          <p:cNvPr id="10" name="文本框 9"/>
          <p:cNvSpPr txBox="1"/>
          <p:nvPr/>
        </p:nvSpPr>
        <p:spPr>
          <a:xfrm>
            <a:off x="2600979" y="5923814"/>
            <a:ext cx="2073003" cy="307777"/>
          </a:xfrm>
          <a:prstGeom prst="rect">
            <a:avLst/>
          </a:prstGeom>
          <a:noFill/>
        </p:spPr>
        <p:txBody>
          <a:bodyPr wrap="none" rtlCol="0">
            <a:spAutoFit/>
          </a:bodyPr>
          <a:lstStyle/>
          <a:p>
            <a:r>
              <a:rPr lang="en-US" altLang="zh-CN" sz="1400" b="1" dirty="0">
                <a:latin typeface="Consolas" panose="020B0609020204030204" pitchFamily="49" charset="0"/>
              </a:rPr>
              <a:t>An colorless alkene</a:t>
            </a:r>
            <a:endParaRPr lang="zh-CN" altLang="en-US" sz="1400" b="1" dirty="0">
              <a:latin typeface="Consolas" panose="020B0609020204030204" pitchFamily="49" charset="0"/>
            </a:endParaRPr>
          </a:p>
        </p:txBody>
      </p:sp>
      <p:cxnSp>
        <p:nvCxnSpPr>
          <p:cNvPr id="11" name="直接箭头连接符 10"/>
          <p:cNvCxnSpPr/>
          <p:nvPr/>
        </p:nvCxnSpPr>
        <p:spPr>
          <a:xfrm flipH="1" flipV="1">
            <a:off x="1872113" y="5953548"/>
            <a:ext cx="691256" cy="1096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2688464" y="3569328"/>
            <a:ext cx="3479282" cy="678389"/>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576864" y="5738507"/>
            <a:ext cx="2097118" cy="678389"/>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flipV="1">
            <a:off x="2069533" y="5086865"/>
            <a:ext cx="1008112" cy="264644"/>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对象 5"/>
          <p:cNvGraphicFramePr>
            <a:graphicFrameLocks noChangeAspect="1"/>
          </p:cNvGraphicFramePr>
          <p:nvPr>
            <p:extLst>
              <p:ext uri="{D42A27DB-BD31-4B8C-83A1-F6EECF244321}">
                <p14:modId xmlns:p14="http://schemas.microsoft.com/office/powerpoint/2010/main" val="3151117967"/>
              </p:ext>
            </p:extLst>
          </p:nvPr>
        </p:nvGraphicFramePr>
        <p:xfrm>
          <a:off x="831084" y="883453"/>
          <a:ext cx="11006186" cy="1593907"/>
        </p:xfrm>
        <a:graphic>
          <a:graphicData uri="http://schemas.openxmlformats.org/presentationml/2006/ole">
            <mc:AlternateContent xmlns:mc="http://schemas.openxmlformats.org/markup-compatibility/2006">
              <mc:Choice xmlns:v="urn:schemas-microsoft-com:vml" Requires="v">
                <p:oleObj name="CS ChemDraw Drawing" r:id="rId3" imgW="6588020" imgH="953777" progId="ChemDraw.Document.6.0">
                  <p:embed/>
                </p:oleObj>
              </mc:Choice>
              <mc:Fallback>
                <p:oleObj name="CS ChemDraw Drawing" r:id="rId3" imgW="6588020" imgH="953777" progId="ChemDraw.Document.6.0">
                  <p:embed/>
                  <p:pic>
                    <p:nvPicPr>
                      <p:cNvPr id="6" name="对象 5"/>
                      <p:cNvPicPr/>
                      <p:nvPr/>
                    </p:nvPicPr>
                    <p:blipFill>
                      <a:blip r:embed="rId4"/>
                      <a:stretch>
                        <a:fillRect/>
                      </a:stretch>
                    </p:blipFill>
                    <p:spPr>
                      <a:xfrm>
                        <a:off x="831084" y="883453"/>
                        <a:ext cx="11006186" cy="1593907"/>
                      </a:xfrm>
                      <a:prstGeom prst="rect">
                        <a:avLst/>
                      </a:prstGeom>
                    </p:spPr>
                  </p:pic>
                </p:oleObj>
              </mc:Fallback>
            </mc:AlternateContent>
          </a:graphicData>
        </a:graphic>
      </p:graphicFrame>
      <p:cxnSp>
        <p:nvCxnSpPr>
          <p:cNvPr id="16" name="直接连接符 15"/>
          <p:cNvCxnSpPr/>
          <p:nvPr/>
        </p:nvCxnSpPr>
        <p:spPr>
          <a:xfrm>
            <a:off x="6456040" y="764704"/>
            <a:ext cx="0" cy="1593907"/>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2566" y="2731465"/>
            <a:ext cx="6769802"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4&gt;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Bromination as a Simple Chemical Test for C=C bonds</a:t>
            </a:r>
          </a:p>
        </p:txBody>
      </p:sp>
      <p:sp>
        <p:nvSpPr>
          <p:cNvPr id="17" name="文本框 16"/>
          <p:cNvSpPr txBox="1"/>
          <p:nvPr/>
        </p:nvSpPr>
        <p:spPr>
          <a:xfrm>
            <a:off x="3215680" y="4837415"/>
            <a:ext cx="5630067" cy="369332"/>
          </a:xfrm>
          <a:prstGeom prst="rect">
            <a:avLst/>
          </a:prstGeom>
          <a:noFill/>
        </p:spPr>
        <p:txBody>
          <a:bodyPr wrap="none" rtlCol="0">
            <a:spAutoFit/>
          </a:bodyPr>
          <a:lstStyle/>
          <a:p>
            <a:r>
              <a:rPr lang="en-US" altLang="zh-CN" b="1" dirty="0">
                <a:solidFill>
                  <a:srgbClr val="0000FF"/>
                </a:solidFill>
                <a:latin typeface="Consolas" panose="020B0609020204030204" pitchFamily="49" charset="0"/>
              </a:rPr>
              <a:t>The addition product dihalide is colorless.</a:t>
            </a:r>
            <a:endParaRPr lang="zh-CN" altLang="en-US" b="1" dirty="0">
              <a:solidFill>
                <a:srgbClr val="0000FF"/>
              </a:solidFill>
              <a:latin typeface="Consolas" panose="020B0609020204030204" pitchFamily="49" charset="0"/>
            </a:endParaRPr>
          </a:p>
        </p:txBody>
      </p:sp>
      <p:sp>
        <p:nvSpPr>
          <p:cNvPr id="20" name="文本框 19"/>
          <p:cNvSpPr txBox="1"/>
          <p:nvPr/>
        </p:nvSpPr>
        <p:spPr>
          <a:xfrm>
            <a:off x="4547696" y="5343603"/>
            <a:ext cx="7320136"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The addition of bromine has been used as a simple test for the presence of C=C bonds</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when the red solution of Br</a:t>
            </a:r>
            <a:r>
              <a:rPr lang="en-US" altLang="zh-CN"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is added to an alkene, the red bromine color quickly disappears because bromine adds across the C=C double bond. </a:t>
            </a:r>
            <a:endParaRPr lang="zh-CN" altLang="en-US" b="1"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标注 10"/>
          <p:cNvSpPr/>
          <p:nvPr/>
        </p:nvSpPr>
        <p:spPr>
          <a:xfrm>
            <a:off x="2495600" y="5451783"/>
            <a:ext cx="4176464" cy="646331"/>
          </a:xfrm>
          <a:prstGeom prst="wedgeRoundRectCallout">
            <a:avLst>
              <a:gd name="adj1" fmla="val -12030"/>
              <a:gd name="adj2" fmla="val -41865"/>
              <a:gd name="adj3" fmla="val 16667"/>
            </a:avLst>
          </a:prstGeom>
          <a:solidFill>
            <a:schemeClr val="accent6">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21</a:t>
            </a:fld>
            <a:endParaRPr lang="zh-CN" altLang="en-US"/>
          </a:p>
        </p:txBody>
      </p:sp>
      <p:sp>
        <p:nvSpPr>
          <p:cNvPr id="3" name="TextBox 2"/>
          <p:cNvSpPr txBox="1"/>
          <p:nvPr/>
        </p:nvSpPr>
        <p:spPr>
          <a:xfrm>
            <a:off x="315624" y="776183"/>
            <a:ext cx="11247040"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 halohydrin is an alcohol with a halogen on the adjacent carbon.</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the presence of 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O, halogens add to alkenes to form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halohydrins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5" name="TextBox 4"/>
          <p:cNvSpPr txBox="1"/>
          <p:nvPr/>
        </p:nvSpPr>
        <p:spPr>
          <a:xfrm>
            <a:off x="2558600" y="5451783"/>
            <a:ext cx="4113464" cy="646331"/>
          </a:xfrm>
          <a:prstGeom prst="rect">
            <a:avLst/>
          </a:prstGeom>
          <a:noFill/>
        </p:spPr>
        <p:txBody>
          <a:bodyPr wrap="square" rtlCol="0">
            <a:spAutoFit/>
          </a:bodyPr>
          <a:lstStyle/>
          <a:p>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H</a:t>
            </a:r>
            <a:r>
              <a:rPr lang="en-US" altLang="zh-CN"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O (exists in a large amount) as a nucleophile attacks from the back side</a:t>
            </a:r>
            <a:endParaRPr lang="zh-CN" altLang="en-US" b="1" dirty="0">
              <a:latin typeface="Microsoft Sans Serif" panose="020B0604020202020204" pitchFamily="34" charset="0"/>
              <a:cs typeface="Microsoft Sans Serif" panose="020B0604020202020204" pitchFamily="34" charset="0"/>
            </a:endParaRPr>
          </a:p>
        </p:txBody>
      </p:sp>
      <p:sp>
        <p:nvSpPr>
          <p:cNvPr id="4" name="矩形 3"/>
          <p:cNvSpPr/>
          <p:nvPr/>
        </p:nvSpPr>
        <p:spPr>
          <a:xfrm>
            <a:off x="-2534" y="217599"/>
            <a:ext cx="8755923"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4-5-5 Addition of Halogens/H</a:t>
            </a:r>
            <a:r>
              <a:rPr lang="en-US" altLang="zh-CN" sz="24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O to Alkenes to form Halohydrins</a:t>
            </a:r>
          </a:p>
        </p:txBody>
      </p:sp>
      <p:graphicFrame>
        <p:nvGraphicFramePr>
          <p:cNvPr id="6" name="对象 5"/>
          <p:cNvGraphicFramePr>
            <a:graphicFrameLocks noChangeAspect="1"/>
          </p:cNvGraphicFramePr>
          <p:nvPr>
            <p:extLst>
              <p:ext uri="{D42A27DB-BD31-4B8C-83A1-F6EECF244321}">
                <p14:modId xmlns:p14="http://schemas.microsoft.com/office/powerpoint/2010/main" val="1015666489"/>
              </p:ext>
            </p:extLst>
          </p:nvPr>
        </p:nvGraphicFramePr>
        <p:xfrm>
          <a:off x="2154309" y="1689995"/>
          <a:ext cx="6966669" cy="2185404"/>
        </p:xfrm>
        <a:graphic>
          <a:graphicData uri="http://schemas.openxmlformats.org/presentationml/2006/ole">
            <mc:AlternateContent xmlns:mc="http://schemas.openxmlformats.org/markup-compatibility/2006">
              <mc:Choice xmlns:v="urn:schemas-microsoft-com:vml" Requires="v">
                <p:oleObj name="CS ChemDraw Drawing" r:id="rId2" imgW="3987849" imgH="1251089" progId="ChemDraw.Document.6.0">
                  <p:embed/>
                </p:oleObj>
              </mc:Choice>
              <mc:Fallback>
                <p:oleObj name="CS ChemDraw Drawing" r:id="rId2" imgW="3987849" imgH="1251089" progId="ChemDraw.Document.6.0">
                  <p:embed/>
                  <p:pic>
                    <p:nvPicPr>
                      <p:cNvPr id="6" name="对象 5"/>
                      <p:cNvPicPr/>
                      <p:nvPr/>
                    </p:nvPicPr>
                    <p:blipFill>
                      <a:blip r:embed="rId3"/>
                      <a:stretch>
                        <a:fillRect/>
                      </a:stretch>
                    </p:blipFill>
                    <p:spPr>
                      <a:xfrm>
                        <a:off x="2154309" y="1689995"/>
                        <a:ext cx="6966669" cy="2185404"/>
                      </a:xfrm>
                      <a:prstGeom prst="rect">
                        <a:avLst/>
                      </a:prstGeom>
                    </p:spPr>
                  </p:pic>
                </p:oleObj>
              </mc:Fallback>
            </mc:AlternateContent>
          </a:graphicData>
        </a:graphic>
      </p:graphicFrame>
      <p:sp>
        <p:nvSpPr>
          <p:cNvPr id="14" name="TextBox 6"/>
          <p:cNvSpPr txBox="1"/>
          <p:nvPr/>
        </p:nvSpPr>
        <p:spPr>
          <a:xfrm>
            <a:off x="334122" y="6309320"/>
            <a:ext cx="6599884" cy="400110"/>
          </a:xfrm>
          <a:prstGeom prst="rect">
            <a:avLst/>
          </a:prstGeom>
          <a:noFill/>
        </p:spPr>
        <p:txBody>
          <a:bodyPr wrap="none" rtlCol="0">
            <a:spAutoFit/>
          </a:bodyPr>
          <a:lstStyle/>
          <a:p>
            <a:pPr marL="342900" indent="-34290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Stereochemistry</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halohydrin formation: </a:t>
            </a:r>
            <a:r>
              <a:rPr lang="en-US" altLang="zh-CN" sz="2000" b="1" i="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anti</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addition</a:t>
            </a:r>
          </a:p>
        </p:txBody>
      </p:sp>
      <p:graphicFrame>
        <p:nvGraphicFramePr>
          <p:cNvPr id="7" name="对象 6"/>
          <p:cNvGraphicFramePr>
            <a:graphicFrameLocks noChangeAspect="1"/>
          </p:cNvGraphicFramePr>
          <p:nvPr>
            <p:extLst>
              <p:ext uri="{D42A27DB-BD31-4B8C-83A1-F6EECF244321}">
                <p14:modId xmlns:p14="http://schemas.microsoft.com/office/powerpoint/2010/main" val="1889766599"/>
              </p:ext>
            </p:extLst>
          </p:nvPr>
        </p:nvGraphicFramePr>
        <p:xfrm>
          <a:off x="1512984" y="3824063"/>
          <a:ext cx="8183416" cy="1657953"/>
        </p:xfrm>
        <a:graphic>
          <a:graphicData uri="http://schemas.openxmlformats.org/presentationml/2006/ole">
            <mc:AlternateContent xmlns:mc="http://schemas.openxmlformats.org/markup-compatibility/2006">
              <mc:Choice xmlns:v="urn:schemas-microsoft-com:vml" Requires="v">
                <p:oleObj name="CS ChemDraw Drawing" r:id="rId4" imgW="4763955" imgH="964481" progId="ChemDraw.Document.6.0">
                  <p:embed/>
                </p:oleObj>
              </mc:Choice>
              <mc:Fallback>
                <p:oleObj name="CS ChemDraw Drawing" r:id="rId4" imgW="4763955" imgH="964481" progId="ChemDraw.Document.6.0">
                  <p:embed/>
                  <p:pic>
                    <p:nvPicPr>
                      <p:cNvPr id="7" name="对象 6"/>
                      <p:cNvPicPr/>
                      <p:nvPr/>
                    </p:nvPicPr>
                    <p:blipFill>
                      <a:blip r:embed="rId5"/>
                      <a:stretch>
                        <a:fillRect/>
                      </a:stretch>
                    </p:blipFill>
                    <p:spPr>
                      <a:xfrm>
                        <a:off x="1512984" y="3824063"/>
                        <a:ext cx="8183416" cy="1657953"/>
                      </a:xfrm>
                      <a:prstGeom prst="rect">
                        <a:avLst/>
                      </a:prstGeom>
                    </p:spPr>
                  </p:pic>
                </p:oleObj>
              </mc:Fallback>
            </mc:AlternateContent>
          </a:graphicData>
        </a:graphic>
      </p:graphicFrame>
      <p:sp>
        <p:nvSpPr>
          <p:cNvPr id="8" name="椭圆 7"/>
          <p:cNvSpPr/>
          <p:nvPr/>
        </p:nvSpPr>
        <p:spPr>
          <a:xfrm>
            <a:off x="4664224" y="4581128"/>
            <a:ext cx="207640" cy="20764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016152" y="4581128"/>
            <a:ext cx="207640" cy="20764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811619" y="4659975"/>
            <a:ext cx="344966" cy="276999"/>
          </a:xfrm>
          <a:prstGeom prst="rect">
            <a:avLst/>
          </a:prstGeom>
          <a:noFill/>
        </p:spPr>
        <p:txBody>
          <a:bodyPr wrap="none" rtlCol="0">
            <a:spAutoFit/>
          </a:bodyPr>
          <a:lstStyle/>
          <a:p>
            <a:r>
              <a:rPr lang="en-US" altLang="zh-CN" sz="1200" b="1" dirty="0">
                <a:latin typeface="Symbol" panose="05050102010706020507" pitchFamily="18" charset="2"/>
              </a:rPr>
              <a:t>d+</a:t>
            </a:r>
            <a:endParaRPr lang="zh-CN" altLang="en-US" sz="1200" b="1" dirty="0">
              <a:latin typeface="Symbol" panose="05050102010706020507" pitchFamily="18" charset="2"/>
            </a:endParaRPr>
          </a:p>
        </p:txBody>
      </p:sp>
      <p:sp>
        <p:nvSpPr>
          <p:cNvPr id="18" name="文本框 17"/>
          <p:cNvSpPr txBox="1"/>
          <p:nvPr/>
        </p:nvSpPr>
        <p:spPr>
          <a:xfrm>
            <a:off x="4814930" y="4653136"/>
            <a:ext cx="344966" cy="276999"/>
          </a:xfrm>
          <a:prstGeom prst="rect">
            <a:avLst/>
          </a:prstGeom>
          <a:noFill/>
        </p:spPr>
        <p:txBody>
          <a:bodyPr wrap="none" rtlCol="0">
            <a:spAutoFit/>
          </a:bodyPr>
          <a:lstStyle/>
          <a:p>
            <a:r>
              <a:rPr lang="en-US" altLang="zh-CN" sz="1200" b="1" dirty="0">
                <a:latin typeface="Symbol" panose="05050102010706020507" pitchFamily="18" charset="2"/>
              </a:rPr>
              <a:t>d+</a:t>
            </a:r>
            <a:endParaRPr lang="zh-CN" altLang="en-US" sz="1200" b="1" dirty="0">
              <a:latin typeface="Symbol" panose="05050102010706020507"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3" name="TextBox 2"/>
          <p:cNvSpPr txBox="1"/>
          <p:nvPr/>
        </p:nvSpPr>
        <p:spPr>
          <a:xfrm>
            <a:off x="270248" y="743939"/>
            <a:ext cx="11651504" cy="4093428"/>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Hydrogenation of an alkene is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formally a reduction, with H</a:t>
            </a:r>
            <a:r>
              <a:rPr lang="en-US" altLang="zh-CN" sz="2000" b="1" baseline="-25000"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adding across the double bond to give an alkane.</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Alkenes are said to be </a:t>
            </a:r>
            <a:r>
              <a:rPr lang="en-US" altLang="zh-CN" sz="2000" b="1" dirty="0">
                <a:highlight>
                  <a:srgbClr val="00FF00"/>
                </a:highlight>
                <a:latin typeface="Microsoft Sans Serif" pitchFamily="34" charset="0"/>
                <a:cs typeface="Microsoft Sans Serif" pitchFamily="34" charset="0"/>
              </a:rPr>
              <a:t>unsaturated</a:t>
            </a:r>
            <a:r>
              <a:rPr lang="en-US" altLang="zh-CN" sz="2000" b="1" dirty="0">
                <a:latin typeface="Microsoft Sans Serif" pitchFamily="34" charset="0"/>
                <a:cs typeface="Microsoft Sans Serif" pitchFamily="34" charset="0"/>
              </a:rPr>
              <a:t>  because they are capable of adding hydrogen in the presence of a catalyst to produce alkanes.</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process usually requires a catalyst containing Pt </a:t>
            </a:r>
            <a:r>
              <a:rPr lang="zh-CN" altLang="en-US"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(platinum), Pd (palladium) or Ni (nickel), which is used to weaken the H-H bond.</a:t>
            </a:r>
          </a:p>
          <a:p>
            <a:pPr>
              <a:buFont typeface="Arial"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buFont typeface="Arial"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Hydrogenation actually takes place at the surface of the metal catalyst, where the liquid solution (alcohol, acetic acid) of the alkene comes into contact with 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the catalyst.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Because the two hydrogen atoms add from a solid surface, they add with </a:t>
            </a:r>
            <a:r>
              <a:rPr lang="en-US" altLang="zh-CN" sz="2000" b="1" i="1" dirty="0">
                <a:solidFill>
                  <a:srgbClr val="FF0000"/>
                </a:solidFill>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syn</a:t>
            </a:r>
            <a:r>
              <a:rPr lang="en-US" altLang="zh-CN" sz="2000" b="1" dirty="0">
                <a:solidFill>
                  <a:srgbClr val="FF0000"/>
                </a:solidFill>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 stereochemistry</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dirty="0">
              <a:latin typeface="Microsoft Sans Serif" panose="020B0604020202020204" pitchFamily="34" charset="0"/>
              <a:cs typeface="Microsoft Sans Serif" panose="020B0604020202020204" pitchFamily="34" charset="0"/>
            </a:endParaRPr>
          </a:p>
        </p:txBody>
      </p:sp>
      <p:sp>
        <p:nvSpPr>
          <p:cNvPr id="4" name="矩形 3"/>
          <p:cNvSpPr/>
          <p:nvPr/>
        </p:nvSpPr>
        <p:spPr>
          <a:xfrm>
            <a:off x="0" y="282274"/>
            <a:ext cx="10575331"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4-6 </a:t>
            </a:r>
            <a:r>
              <a:rPr lang="en-US" altLang="zh-CN" sz="24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Reduction Reaction</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Catalytic Hydrogenation </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of Alkenes to form Alkanes</a:t>
            </a:r>
          </a:p>
        </p:txBody>
      </p:sp>
      <p:graphicFrame>
        <p:nvGraphicFramePr>
          <p:cNvPr id="5" name="对象 4"/>
          <p:cNvGraphicFramePr>
            <a:graphicFrameLocks noChangeAspect="1"/>
          </p:cNvGraphicFramePr>
          <p:nvPr>
            <p:extLst>
              <p:ext uri="{D42A27DB-BD31-4B8C-83A1-F6EECF244321}">
                <p14:modId xmlns:p14="http://schemas.microsoft.com/office/powerpoint/2010/main" val="926074829"/>
              </p:ext>
            </p:extLst>
          </p:nvPr>
        </p:nvGraphicFramePr>
        <p:xfrm>
          <a:off x="2639616" y="2467372"/>
          <a:ext cx="6349538" cy="1296144"/>
        </p:xfrm>
        <a:graphic>
          <a:graphicData uri="http://schemas.openxmlformats.org/presentationml/2006/ole">
            <mc:AlternateContent xmlns:mc="http://schemas.openxmlformats.org/markup-compatibility/2006">
              <mc:Choice xmlns:v="urn:schemas-microsoft-com:vml" Requires="v">
                <p:oleObj name="CS ChemDraw Drawing" r:id="rId2" imgW="3227526" imgH="658051" progId="ChemDraw.Document.6.0">
                  <p:embed/>
                </p:oleObj>
              </mc:Choice>
              <mc:Fallback>
                <p:oleObj name="CS ChemDraw Drawing" r:id="rId2" imgW="3227526" imgH="658051" progId="ChemDraw.Document.6.0">
                  <p:embed/>
                  <p:pic>
                    <p:nvPicPr>
                      <p:cNvPr id="5" name="对象 4"/>
                      <p:cNvPicPr/>
                      <p:nvPr/>
                    </p:nvPicPr>
                    <p:blipFill>
                      <a:blip r:embed="rId3"/>
                      <a:stretch>
                        <a:fillRect/>
                      </a:stretch>
                    </p:blipFill>
                    <p:spPr>
                      <a:xfrm>
                        <a:off x="2639616" y="2467372"/>
                        <a:ext cx="6349538" cy="129614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E2219E0F-17B3-463B-BE8B-39D84ABF66F5}"/>
              </a:ext>
            </a:extLst>
          </p:cNvPr>
          <p:cNvGraphicFramePr>
            <a:graphicFrameLocks noChangeAspect="1"/>
          </p:cNvGraphicFramePr>
          <p:nvPr>
            <p:extLst>
              <p:ext uri="{D42A27DB-BD31-4B8C-83A1-F6EECF244321}">
                <p14:modId xmlns:p14="http://schemas.microsoft.com/office/powerpoint/2010/main" val="3401243349"/>
              </p:ext>
            </p:extLst>
          </p:nvPr>
        </p:nvGraphicFramePr>
        <p:xfrm>
          <a:off x="2256906" y="4961039"/>
          <a:ext cx="6696744" cy="1731150"/>
        </p:xfrm>
        <a:graphic>
          <a:graphicData uri="http://schemas.openxmlformats.org/presentationml/2006/ole">
            <mc:AlternateContent xmlns:mc="http://schemas.openxmlformats.org/markup-compatibility/2006">
              <mc:Choice xmlns:v="urn:schemas-microsoft-com:vml" Requires="v">
                <p:oleObj name="CS ChemDraw Drawing" r:id="rId4" imgW="3592103" imgH="928010" progId="ChemDraw.Document.6.0">
                  <p:embed/>
                </p:oleObj>
              </mc:Choice>
              <mc:Fallback>
                <p:oleObj name="CS ChemDraw Drawing" r:id="rId4" imgW="3592103" imgH="928010" progId="ChemDraw.Document.6.0">
                  <p:embed/>
                  <p:pic>
                    <p:nvPicPr>
                      <p:cNvPr id="0" name=""/>
                      <p:cNvPicPr/>
                      <p:nvPr/>
                    </p:nvPicPr>
                    <p:blipFill>
                      <a:blip r:embed="rId5"/>
                      <a:stretch>
                        <a:fillRect/>
                      </a:stretch>
                    </p:blipFill>
                    <p:spPr>
                      <a:xfrm>
                        <a:off x="2256906" y="4961039"/>
                        <a:ext cx="6696744" cy="173115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2DC8D72-E66C-4E43-8AC0-9B372115C7B8}"/>
              </a:ext>
            </a:extLst>
          </p:cNvPr>
          <p:cNvSpPr/>
          <p:nvPr/>
        </p:nvSpPr>
        <p:spPr>
          <a:xfrm>
            <a:off x="8467812" y="3499022"/>
            <a:ext cx="3316820" cy="1323439"/>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3" name="TextBox 2"/>
          <p:cNvSpPr txBox="1"/>
          <p:nvPr/>
        </p:nvSpPr>
        <p:spPr>
          <a:xfrm>
            <a:off x="266692" y="1436853"/>
            <a:ext cx="11658616" cy="1938992"/>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Some of the most important reactions of alkenes involve oxidation. When we speak of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oxidation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in organic chemistry, we usually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mean reactions that form C-O bonds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Oxidations are particularly important because many common functional groups contain oxygen, and alkene oxidations (epoxidation, hydroxylation, and oxidative cleavage) are some of the best methods for introducing oxygen into organic molecules.</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epoxidation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an alkene is converted to an epoxide by a peroxyacid. </a:t>
            </a:r>
          </a:p>
        </p:txBody>
      </p:sp>
      <p:sp>
        <p:nvSpPr>
          <p:cNvPr id="4" name="矩形 3"/>
          <p:cNvSpPr/>
          <p:nvPr/>
        </p:nvSpPr>
        <p:spPr>
          <a:xfrm>
            <a:off x="0" y="260648"/>
            <a:ext cx="3316934"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4-7 Oxidation Reaction</a:t>
            </a:r>
          </a:p>
        </p:txBody>
      </p:sp>
      <p:graphicFrame>
        <p:nvGraphicFramePr>
          <p:cNvPr id="5" name="对象 4"/>
          <p:cNvGraphicFramePr>
            <a:graphicFrameLocks noChangeAspect="1"/>
          </p:cNvGraphicFramePr>
          <p:nvPr>
            <p:extLst>
              <p:ext uri="{D42A27DB-BD31-4B8C-83A1-F6EECF244321}">
                <p14:modId xmlns:p14="http://schemas.microsoft.com/office/powerpoint/2010/main" val="2897107829"/>
              </p:ext>
            </p:extLst>
          </p:nvPr>
        </p:nvGraphicFramePr>
        <p:xfrm>
          <a:off x="1055440" y="3572652"/>
          <a:ext cx="7056784" cy="1346342"/>
        </p:xfrm>
        <a:graphic>
          <a:graphicData uri="http://schemas.openxmlformats.org/presentationml/2006/ole">
            <mc:AlternateContent xmlns:mc="http://schemas.openxmlformats.org/markup-compatibility/2006">
              <mc:Choice xmlns:v="urn:schemas-microsoft-com:vml" Requires="v">
                <p:oleObj name="CS ChemDraw Drawing" r:id="rId2" imgW="4135810" imgH="789265" progId="ChemDraw.Document.6.0">
                  <p:embed/>
                </p:oleObj>
              </mc:Choice>
              <mc:Fallback>
                <p:oleObj name="CS ChemDraw Drawing" r:id="rId2" imgW="4135810" imgH="789265" progId="ChemDraw.Document.6.0">
                  <p:embed/>
                  <p:pic>
                    <p:nvPicPr>
                      <p:cNvPr id="5" name="对象 4"/>
                      <p:cNvPicPr/>
                      <p:nvPr/>
                    </p:nvPicPr>
                    <p:blipFill>
                      <a:blip r:embed="rId3"/>
                      <a:stretch>
                        <a:fillRect/>
                      </a:stretch>
                    </p:blipFill>
                    <p:spPr>
                      <a:xfrm>
                        <a:off x="1055440" y="3572652"/>
                        <a:ext cx="7056784" cy="1346342"/>
                      </a:xfrm>
                      <a:prstGeom prst="rect">
                        <a:avLst/>
                      </a:prstGeom>
                      <a:ln w="28575">
                        <a:solidFill>
                          <a:schemeClr val="bg1">
                            <a:lumMod val="75000"/>
                          </a:schemeClr>
                        </a:solidFill>
                      </a:ln>
                    </p:spPr>
                  </p:pic>
                </p:oleObj>
              </mc:Fallback>
            </mc:AlternateContent>
          </a:graphicData>
        </a:graphic>
      </p:graphicFrame>
      <p:sp>
        <p:nvSpPr>
          <p:cNvPr id="6" name="文本框 5"/>
          <p:cNvSpPr txBox="1"/>
          <p:nvPr/>
        </p:nvSpPr>
        <p:spPr>
          <a:xfrm>
            <a:off x="278757" y="4989917"/>
            <a:ext cx="11658616"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Peroxyacetic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acid and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m</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chloroperoxybenzoic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acid (MCPBA) are common epoxidizing reagents.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150547713"/>
              </p:ext>
            </p:extLst>
          </p:nvPr>
        </p:nvGraphicFramePr>
        <p:xfrm>
          <a:off x="3327790" y="5397577"/>
          <a:ext cx="4365358" cy="1410270"/>
        </p:xfrm>
        <a:graphic>
          <a:graphicData uri="http://schemas.openxmlformats.org/presentationml/2006/ole">
            <mc:AlternateContent xmlns:mc="http://schemas.openxmlformats.org/markup-compatibility/2006">
              <mc:Choice xmlns:v="urn:schemas-microsoft-com:vml" Requires="v">
                <p:oleObj name="CS ChemDraw Drawing" r:id="rId4" imgW="2780881" imgH="899072" progId="ChemDraw.Document.6.0">
                  <p:embed/>
                </p:oleObj>
              </mc:Choice>
              <mc:Fallback>
                <p:oleObj name="CS ChemDraw Drawing" r:id="rId4" imgW="2780881" imgH="899072" progId="ChemDraw.Document.6.0">
                  <p:embed/>
                  <p:pic>
                    <p:nvPicPr>
                      <p:cNvPr id="7" name="对象 6"/>
                      <p:cNvPicPr/>
                      <p:nvPr/>
                    </p:nvPicPr>
                    <p:blipFill>
                      <a:blip r:embed="rId5"/>
                      <a:stretch>
                        <a:fillRect/>
                      </a:stretch>
                    </p:blipFill>
                    <p:spPr>
                      <a:xfrm>
                        <a:off x="3327790" y="5397577"/>
                        <a:ext cx="4365358" cy="1410270"/>
                      </a:xfrm>
                      <a:prstGeom prst="rect">
                        <a:avLst/>
                      </a:prstGeom>
                    </p:spPr>
                  </p:pic>
                </p:oleObj>
              </mc:Fallback>
            </mc:AlternateContent>
          </a:graphicData>
        </a:graphic>
      </p:graphicFrame>
      <p:sp>
        <p:nvSpPr>
          <p:cNvPr id="8" name="矩形 7"/>
          <p:cNvSpPr/>
          <p:nvPr/>
        </p:nvSpPr>
        <p:spPr>
          <a:xfrm>
            <a:off x="8467812" y="3499022"/>
            <a:ext cx="3384376" cy="1323439"/>
          </a:xfrm>
          <a:prstGeom prst="rect">
            <a:avLst/>
          </a:prstGeom>
        </p:spPr>
        <p:txBody>
          <a:bodyPr wrap="square">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 peroxyacid is a carboxylic acid that has an extra oxygen atom in a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OO (peroxy) linkage</a:t>
            </a: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0" name="文本框 9">
            <a:extLst>
              <a:ext uri="{FF2B5EF4-FFF2-40B4-BE49-F238E27FC236}">
                <a16:creationId xmlns:a16="http://schemas.microsoft.com/office/drawing/2014/main" id="{B5FB4B4F-CB3C-45CB-9692-3756F9890D36}"/>
              </a:ext>
            </a:extLst>
          </p:cNvPr>
          <p:cNvSpPr txBox="1"/>
          <p:nvPr/>
        </p:nvSpPr>
        <p:spPr>
          <a:xfrm>
            <a:off x="0" y="858510"/>
            <a:ext cx="6543842" cy="461665"/>
          </a:xfrm>
          <a:prstGeom prst="rect">
            <a:avLst/>
          </a:prstGeom>
          <a:solidFill>
            <a:schemeClr val="tx2">
              <a:lumMod val="20000"/>
              <a:lumOff val="80000"/>
            </a:schemeClr>
          </a:solidFill>
        </p:spPr>
        <p:txBody>
          <a:bodyPr wrap="squar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4-7-1 Epoxidation of Alkenes to form epoxides</a:t>
            </a:r>
            <a:endParaRPr lang="zh-CN" altLang="en-US" sz="2400"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24</a:t>
            </a:fld>
            <a:endParaRPr lang="zh-CN" altLang="en-US"/>
          </a:p>
        </p:txBody>
      </p:sp>
      <p:sp>
        <p:nvSpPr>
          <p:cNvPr id="3" name="文本框 2"/>
          <p:cNvSpPr txBox="1"/>
          <p:nvPr/>
        </p:nvSpPr>
        <p:spPr>
          <a:xfrm>
            <a:off x="176520" y="317849"/>
            <a:ext cx="11377264" cy="1323439"/>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epoxidation is a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concerted electrophilic addition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where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several bonds are broken and several are formed at the same time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Because the epoxidation takes place in one step, there is no opportunity for the alkene molecule to rotate and change its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cis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or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trans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geometry, therefore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it retains whatever stereochemistry is present in the alkene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834569678"/>
              </p:ext>
            </p:extLst>
          </p:nvPr>
        </p:nvGraphicFramePr>
        <p:xfrm>
          <a:off x="1991544" y="2132856"/>
          <a:ext cx="8003603" cy="4094667"/>
        </p:xfrm>
        <a:graphic>
          <a:graphicData uri="http://schemas.openxmlformats.org/presentationml/2006/ole">
            <mc:AlternateContent xmlns:mc="http://schemas.openxmlformats.org/markup-compatibility/2006">
              <mc:Choice xmlns:v="urn:schemas-microsoft-com:vml" Requires="v">
                <p:oleObj name="CS ChemDraw Drawing" r:id="rId2" imgW="4446726" imgH="2275032" progId="ChemDraw.Document.6.0">
                  <p:embed/>
                </p:oleObj>
              </mc:Choice>
              <mc:Fallback>
                <p:oleObj name="CS ChemDraw Drawing" r:id="rId2" imgW="4446726" imgH="2275032" progId="ChemDraw.Document.6.0">
                  <p:embed/>
                  <p:pic>
                    <p:nvPicPr>
                      <p:cNvPr id="4" name="对象 3"/>
                      <p:cNvPicPr/>
                      <p:nvPr/>
                    </p:nvPicPr>
                    <p:blipFill>
                      <a:blip r:embed="rId3"/>
                      <a:stretch>
                        <a:fillRect/>
                      </a:stretch>
                    </p:blipFill>
                    <p:spPr>
                      <a:xfrm>
                        <a:off x="1991544" y="2132856"/>
                        <a:ext cx="8003603" cy="4094667"/>
                      </a:xfrm>
                      <a:prstGeom prst="rect">
                        <a:avLst/>
                      </a:prstGeom>
                    </p:spPr>
                  </p:pic>
                </p:oleObj>
              </mc:Fallback>
            </mc:AlternateContent>
          </a:graphicData>
        </a:graphic>
      </p:graphicFrame>
    </p:spTree>
    <p:extLst>
      <p:ext uri="{BB962C8B-B14F-4D97-AF65-F5344CB8AC3E}">
        <p14:creationId xmlns:p14="http://schemas.microsoft.com/office/powerpoint/2010/main" val="1553446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3" name="TextBox 2"/>
          <p:cNvSpPr txBox="1"/>
          <p:nvPr/>
        </p:nvSpPr>
        <p:spPr>
          <a:xfrm>
            <a:off x="236654" y="742279"/>
            <a:ext cx="11836010" cy="132343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Converting an alkene to a glycol requires adding a hydroxyl group to each end of the double bond. This addition is called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hydroxylation of the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product is a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vicinal diol</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also called a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glycol</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two most common reagents for this purpose are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osmium tetroxide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potassium permanganate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4" name="矩形 3"/>
          <p:cNvSpPr/>
          <p:nvPr/>
        </p:nvSpPr>
        <p:spPr>
          <a:xfrm>
            <a:off x="0" y="260648"/>
            <a:ext cx="7117654"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4-7-2 Syn Hydroxylation of Alkenes to form Glycols</a:t>
            </a:r>
          </a:p>
        </p:txBody>
      </p:sp>
      <p:graphicFrame>
        <p:nvGraphicFramePr>
          <p:cNvPr id="5" name="对象 4"/>
          <p:cNvGraphicFramePr>
            <a:graphicFrameLocks noChangeAspect="1"/>
          </p:cNvGraphicFramePr>
          <p:nvPr>
            <p:extLst>
              <p:ext uri="{D42A27DB-BD31-4B8C-83A1-F6EECF244321}">
                <p14:modId xmlns:p14="http://schemas.microsoft.com/office/powerpoint/2010/main" val="3608039667"/>
              </p:ext>
            </p:extLst>
          </p:nvPr>
        </p:nvGraphicFramePr>
        <p:xfrm>
          <a:off x="2639616" y="2272326"/>
          <a:ext cx="6448340" cy="1391796"/>
        </p:xfrm>
        <a:graphic>
          <a:graphicData uri="http://schemas.openxmlformats.org/presentationml/2006/ole">
            <mc:AlternateContent xmlns:mc="http://schemas.openxmlformats.org/markup-compatibility/2006">
              <mc:Choice xmlns:v="urn:schemas-microsoft-com:vml" Requires="v">
                <p:oleObj name="CS ChemDraw Drawing" r:id="rId2" imgW="3288289" imgH="709981" progId="ChemDraw.Document.6.0">
                  <p:embed/>
                </p:oleObj>
              </mc:Choice>
              <mc:Fallback>
                <p:oleObj name="CS ChemDraw Drawing" r:id="rId2" imgW="3288289" imgH="709981" progId="ChemDraw.Document.6.0">
                  <p:embed/>
                  <p:pic>
                    <p:nvPicPr>
                      <p:cNvPr id="5" name="对象 4"/>
                      <p:cNvPicPr/>
                      <p:nvPr/>
                    </p:nvPicPr>
                    <p:blipFill>
                      <a:blip r:embed="rId3"/>
                      <a:stretch>
                        <a:fillRect/>
                      </a:stretch>
                    </p:blipFill>
                    <p:spPr>
                      <a:xfrm>
                        <a:off x="2639616" y="2272326"/>
                        <a:ext cx="6448340" cy="1391796"/>
                      </a:xfrm>
                      <a:prstGeom prst="rect">
                        <a:avLst/>
                      </a:prstGeom>
                      <a:ln w="28575">
                        <a:solidFill>
                          <a:schemeClr val="bg1">
                            <a:lumMod val="75000"/>
                          </a:schemeClr>
                        </a:solidFill>
                      </a:ln>
                    </p:spPr>
                  </p:pic>
                </p:oleObj>
              </mc:Fallback>
            </mc:AlternateContent>
          </a:graphicData>
        </a:graphic>
      </p:graphicFrame>
      <p:sp>
        <p:nvSpPr>
          <p:cNvPr id="7" name="文本框 6"/>
          <p:cNvSpPr txBox="1"/>
          <p:nvPr/>
        </p:nvSpPr>
        <p:spPr>
          <a:xfrm>
            <a:off x="236654" y="4027136"/>
            <a:ext cx="5253361"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Hydroxylation of alkenes is a </a:t>
            </a:r>
            <a:r>
              <a:rPr lang="en-US" altLang="zh-CN" sz="2000" b="1" i="1" dirty="0" err="1">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syn</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addition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845950112"/>
              </p:ext>
            </p:extLst>
          </p:nvPr>
        </p:nvGraphicFramePr>
        <p:xfrm>
          <a:off x="449539" y="4759959"/>
          <a:ext cx="5341899" cy="1643456"/>
        </p:xfrm>
        <a:graphic>
          <a:graphicData uri="http://schemas.openxmlformats.org/presentationml/2006/ole">
            <mc:AlternateContent xmlns:mc="http://schemas.openxmlformats.org/markup-compatibility/2006">
              <mc:Choice xmlns:v="urn:schemas-microsoft-com:vml" Requires="v">
                <p:oleObj name="CS ChemDraw Drawing" r:id="rId4" imgW="3172682" imgH="976769" progId="ChemDraw.Document.6.0">
                  <p:embed/>
                </p:oleObj>
              </mc:Choice>
              <mc:Fallback>
                <p:oleObj name="CS ChemDraw Drawing" r:id="rId4" imgW="3172682" imgH="976769" progId="ChemDraw.Document.6.0">
                  <p:embed/>
                  <p:pic>
                    <p:nvPicPr>
                      <p:cNvPr id="8" name="对象 7"/>
                      <p:cNvPicPr/>
                      <p:nvPr/>
                    </p:nvPicPr>
                    <p:blipFill>
                      <a:blip r:embed="rId5"/>
                      <a:stretch>
                        <a:fillRect/>
                      </a:stretch>
                    </p:blipFill>
                    <p:spPr>
                      <a:xfrm>
                        <a:off x="449539" y="4759959"/>
                        <a:ext cx="5341899" cy="1643456"/>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9E7521E3-BE2C-453D-A268-7E325554708D}"/>
              </a:ext>
            </a:extLst>
          </p:cNvPr>
          <p:cNvGraphicFramePr>
            <a:graphicFrameLocks noChangeAspect="1"/>
          </p:cNvGraphicFramePr>
          <p:nvPr>
            <p:extLst>
              <p:ext uri="{D42A27DB-BD31-4B8C-83A1-F6EECF244321}">
                <p14:modId xmlns:p14="http://schemas.microsoft.com/office/powerpoint/2010/main" val="3761861221"/>
              </p:ext>
            </p:extLst>
          </p:nvPr>
        </p:nvGraphicFramePr>
        <p:xfrm>
          <a:off x="6294853" y="4653136"/>
          <a:ext cx="5478195" cy="1516636"/>
        </p:xfrm>
        <a:graphic>
          <a:graphicData uri="http://schemas.openxmlformats.org/presentationml/2006/ole">
            <mc:AlternateContent xmlns:mc="http://schemas.openxmlformats.org/markup-compatibility/2006">
              <mc:Choice xmlns:v="urn:schemas-microsoft-com:vml" Requires="v">
                <p:oleObj name="CS ChemDraw Drawing" r:id="rId6" imgW="3326562" imgH="920478" progId="ChemDraw.Document.6.0">
                  <p:embed/>
                </p:oleObj>
              </mc:Choice>
              <mc:Fallback>
                <p:oleObj name="CS ChemDraw Drawing" r:id="rId6" imgW="3326562" imgH="920478" progId="ChemDraw.Document.6.0">
                  <p:embed/>
                  <p:pic>
                    <p:nvPicPr>
                      <p:cNvPr id="0" name=""/>
                      <p:cNvPicPr/>
                      <p:nvPr/>
                    </p:nvPicPr>
                    <p:blipFill>
                      <a:blip r:embed="rId7"/>
                      <a:stretch>
                        <a:fillRect/>
                      </a:stretch>
                    </p:blipFill>
                    <p:spPr>
                      <a:xfrm>
                        <a:off x="6294853" y="4653136"/>
                        <a:ext cx="5478195" cy="1516636"/>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3" name="TextBox 2"/>
          <p:cNvSpPr txBox="1"/>
          <p:nvPr/>
        </p:nvSpPr>
        <p:spPr>
          <a:xfrm>
            <a:off x="191344" y="1175378"/>
            <a:ext cx="11593288" cy="101566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a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KMnO</a:t>
            </a:r>
            <a:r>
              <a:rPr lang="en-US" altLang="zh-CN" sz="2000" b="1" baseline="-25000"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4</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hydroxylation, if the solution is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warm or acidic or too concentrated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oxidative cleavage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the alkene may occur, in which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the C=C double bond breaks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products of oxidative cleavage by KMnO</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4</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are mixtures of ketones and carboxylic acids. </a:t>
            </a:r>
          </a:p>
        </p:txBody>
      </p:sp>
      <p:sp>
        <p:nvSpPr>
          <p:cNvPr id="4" name="矩形 3"/>
          <p:cNvSpPr/>
          <p:nvPr/>
        </p:nvSpPr>
        <p:spPr>
          <a:xfrm>
            <a:off x="0" y="188640"/>
            <a:ext cx="5178021"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4-7-3 Oxidative Cleavage of Alkenes</a:t>
            </a:r>
          </a:p>
        </p:txBody>
      </p:sp>
      <p:sp>
        <p:nvSpPr>
          <p:cNvPr id="5" name="矩形 4"/>
          <p:cNvSpPr/>
          <p:nvPr/>
        </p:nvSpPr>
        <p:spPr>
          <a:xfrm>
            <a:off x="-28660" y="746414"/>
            <a:ext cx="3725700"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1&gt;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Cleavage by Permanganate</a:t>
            </a:r>
          </a:p>
        </p:txBody>
      </p:sp>
      <p:graphicFrame>
        <p:nvGraphicFramePr>
          <p:cNvPr id="10" name="对象 9"/>
          <p:cNvGraphicFramePr>
            <a:graphicFrameLocks noChangeAspect="1"/>
          </p:cNvGraphicFramePr>
          <p:nvPr>
            <p:extLst>
              <p:ext uri="{D42A27DB-BD31-4B8C-83A1-F6EECF244321}">
                <p14:modId xmlns:p14="http://schemas.microsoft.com/office/powerpoint/2010/main" val="1383373974"/>
              </p:ext>
            </p:extLst>
          </p:nvPr>
        </p:nvGraphicFramePr>
        <p:xfrm>
          <a:off x="414252" y="4008817"/>
          <a:ext cx="7335101" cy="1341440"/>
        </p:xfrm>
        <a:graphic>
          <a:graphicData uri="http://schemas.openxmlformats.org/presentationml/2006/ole">
            <mc:AlternateContent xmlns:mc="http://schemas.openxmlformats.org/markup-compatibility/2006">
              <mc:Choice xmlns:v="urn:schemas-microsoft-com:vml" Requires="v">
                <p:oleObj name="CS ChemDraw Drawing" r:id="rId2" imgW="5304506" imgH="970427" progId="ChemDraw.Document.6.0">
                  <p:embed/>
                </p:oleObj>
              </mc:Choice>
              <mc:Fallback>
                <p:oleObj name="CS ChemDraw Drawing" r:id="rId2" imgW="5304506" imgH="970427" progId="ChemDraw.Document.6.0">
                  <p:embed/>
                  <p:pic>
                    <p:nvPicPr>
                      <p:cNvPr id="10" name="对象 9"/>
                      <p:cNvPicPr/>
                      <p:nvPr/>
                    </p:nvPicPr>
                    <p:blipFill>
                      <a:blip r:embed="rId3"/>
                      <a:stretch>
                        <a:fillRect/>
                      </a:stretch>
                    </p:blipFill>
                    <p:spPr>
                      <a:xfrm>
                        <a:off x="414252" y="4008817"/>
                        <a:ext cx="7335101" cy="1341440"/>
                      </a:xfrm>
                      <a:prstGeom prst="rect">
                        <a:avLst/>
                      </a:prstGeom>
                      <a:ln w="28575">
                        <a:solidFill>
                          <a:schemeClr val="bg1">
                            <a:lumMod val="75000"/>
                          </a:schemeClr>
                        </a:solid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963740241"/>
              </p:ext>
            </p:extLst>
          </p:nvPr>
        </p:nvGraphicFramePr>
        <p:xfrm>
          <a:off x="438917" y="2362474"/>
          <a:ext cx="7310436" cy="1570581"/>
        </p:xfrm>
        <a:graphic>
          <a:graphicData uri="http://schemas.openxmlformats.org/presentationml/2006/ole">
            <mc:AlternateContent xmlns:mc="http://schemas.openxmlformats.org/markup-compatibility/2006">
              <mc:Choice xmlns:v="urn:schemas-microsoft-com:vml" Requires="v">
                <p:oleObj name="CS ChemDraw Drawing" r:id="rId4" imgW="4492496" imgH="964481" progId="ChemDraw.Document.6.0">
                  <p:embed/>
                </p:oleObj>
              </mc:Choice>
              <mc:Fallback>
                <p:oleObj name="CS ChemDraw Drawing" r:id="rId4" imgW="4492496" imgH="964481" progId="ChemDraw.Document.6.0">
                  <p:embed/>
                  <p:pic>
                    <p:nvPicPr>
                      <p:cNvPr id="11" name="对象 10"/>
                      <p:cNvPicPr/>
                      <p:nvPr/>
                    </p:nvPicPr>
                    <p:blipFill>
                      <a:blip r:embed="rId5"/>
                      <a:stretch>
                        <a:fillRect/>
                      </a:stretch>
                    </p:blipFill>
                    <p:spPr>
                      <a:xfrm>
                        <a:off x="438917" y="2362474"/>
                        <a:ext cx="7310436" cy="1570581"/>
                      </a:xfrm>
                      <a:prstGeom prst="rect">
                        <a:avLst/>
                      </a:prstGeom>
                      <a:ln w="28575">
                        <a:solidFill>
                          <a:schemeClr val="bg1">
                            <a:lumMod val="75000"/>
                          </a:schemeClr>
                        </a:solidFill>
                      </a:ln>
                    </p:spPr>
                  </p:pic>
                </p:oleObj>
              </mc:Fallback>
            </mc:AlternateContent>
          </a:graphicData>
        </a:graphic>
      </p:graphicFrame>
      <p:sp>
        <p:nvSpPr>
          <p:cNvPr id="6" name="矩形 5"/>
          <p:cNvSpPr/>
          <p:nvPr/>
        </p:nvSpPr>
        <p:spPr>
          <a:xfrm>
            <a:off x="8110885" y="4313017"/>
            <a:ext cx="3312368" cy="707886"/>
          </a:xfrm>
          <a:prstGeom prst="rect">
            <a:avLst/>
          </a:prstGeom>
        </p:spPr>
        <p:txBody>
          <a:bodyPr wrap="square">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 terminal =CH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group is oxidized to CO</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O</a:t>
            </a:r>
            <a:endParaRPr lang="zh-CN" altLang="en-US" sz="2000" dirty="0">
              <a:latin typeface="Microsoft Sans Serif" panose="020B0604020202020204" pitchFamily="34" charset="0"/>
              <a:cs typeface="Microsoft Sans Serif"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983802216"/>
              </p:ext>
            </p:extLst>
          </p:nvPr>
        </p:nvGraphicFramePr>
        <p:xfrm>
          <a:off x="414252" y="5767410"/>
          <a:ext cx="5255254" cy="688351"/>
        </p:xfrm>
        <a:graphic>
          <a:graphicData uri="http://schemas.openxmlformats.org/presentationml/2006/ole">
            <mc:AlternateContent xmlns:mc="http://schemas.openxmlformats.org/markup-compatibility/2006">
              <mc:Choice xmlns:v="urn:schemas-microsoft-com:vml" Requires="v">
                <p:oleObj name="CS ChemDraw Drawing" r:id="rId6" imgW="3648130" imgH="478078" progId="ChemDraw.Document.6.0">
                  <p:embed/>
                </p:oleObj>
              </mc:Choice>
              <mc:Fallback>
                <p:oleObj name="CS ChemDraw Drawing" r:id="rId6" imgW="3648130" imgH="478078" progId="ChemDraw.Document.6.0">
                  <p:embed/>
                  <p:pic>
                    <p:nvPicPr>
                      <p:cNvPr id="7" name="对象 6"/>
                      <p:cNvPicPr/>
                      <p:nvPr/>
                    </p:nvPicPr>
                    <p:blipFill>
                      <a:blip r:embed="rId7"/>
                      <a:stretch>
                        <a:fillRect/>
                      </a:stretch>
                    </p:blipFill>
                    <p:spPr>
                      <a:xfrm>
                        <a:off x="414252" y="5767410"/>
                        <a:ext cx="5255254" cy="688351"/>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71921396"/>
              </p:ext>
            </p:extLst>
          </p:nvPr>
        </p:nvGraphicFramePr>
        <p:xfrm>
          <a:off x="6456040" y="5682622"/>
          <a:ext cx="5073732" cy="870025"/>
        </p:xfrm>
        <a:graphic>
          <a:graphicData uri="http://schemas.openxmlformats.org/presentationml/2006/ole">
            <mc:AlternateContent xmlns:mc="http://schemas.openxmlformats.org/markup-compatibility/2006">
              <mc:Choice xmlns:v="urn:schemas-microsoft-com:vml" Requires="v">
                <p:oleObj name="CS ChemDraw Drawing" r:id="rId8" imgW="3796092" imgH="650519" progId="ChemDraw.Document.6.0">
                  <p:embed/>
                </p:oleObj>
              </mc:Choice>
              <mc:Fallback>
                <p:oleObj name="CS ChemDraw Drawing" r:id="rId8" imgW="3796092" imgH="650519" progId="ChemDraw.Document.6.0">
                  <p:embed/>
                  <p:pic>
                    <p:nvPicPr>
                      <p:cNvPr id="8" name="对象 7"/>
                      <p:cNvPicPr/>
                      <p:nvPr/>
                    </p:nvPicPr>
                    <p:blipFill>
                      <a:blip r:embed="rId9"/>
                      <a:stretch>
                        <a:fillRect/>
                      </a:stretch>
                    </p:blipFill>
                    <p:spPr>
                      <a:xfrm>
                        <a:off x="6456040" y="5682622"/>
                        <a:ext cx="5073732" cy="870025"/>
                      </a:xfrm>
                      <a:prstGeom prst="rect">
                        <a:avLst/>
                      </a:prstGeom>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27</a:t>
            </a:fld>
            <a:endParaRPr lang="zh-CN" altLang="en-US"/>
          </a:p>
        </p:txBody>
      </p:sp>
      <p:sp>
        <p:nvSpPr>
          <p:cNvPr id="4" name="TextBox 3"/>
          <p:cNvSpPr txBox="1"/>
          <p:nvPr/>
        </p:nvSpPr>
        <p:spPr>
          <a:xfrm>
            <a:off x="119336" y="612542"/>
            <a:ext cx="11305256"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Like warm,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concd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KMnO</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4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soludtion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ozone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cleaves double bonds. However,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ozonolysis is milder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both ketones and aldehydes can be recovered without further oxidation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
        <p:nvSpPr>
          <p:cNvPr id="3" name="矩形 2"/>
          <p:cNvSpPr/>
          <p:nvPr/>
        </p:nvSpPr>
        <p:spPr>
          <a:xfrm>
            <a:off x="0" y="188640"/>
            <a:ext cx="1806905" cy="400110"/>
          </a:xfrm>
          <a:prstGeom prst="rect">
            <a:avLst/>
          </a:prstGeom>
          <a:noFill/>
        </p:spPr>
        <p:txBody>
          <a:bodyPr wrap="none">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2&gt;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Ozonolysis</a:t>
            </a:r>
          </a:p>
        </p:txBody>
      </p:sp>
      <p:graphicFrame>
        <p:nvGraphicFramePr>
          <p:cNvPr id="5" name="对象 4"/>
          <p:cNvGraphicFramePr>
            <a:graphicFrameLocks noChangeAspect="1"/>
          </p:cNvGraphicFramePr>
          <p:nvPr>
            <p:extLst>
              <p:ext uri="{D42A27DB-BD31-4B8C-83A1-F6EECF244321}">
                <p14:modId xmlns:p14="http://schemas.microsoft.com/office/powerpoint/2010/main" val="3824701631"/>
              </p:ext>
            </p:extLst>
          </p:nvPr>
        </p:nvGraphicFramePr>
        <p:xfrm>
          <a:off x="3287688" y="1719192"/>
          <a:ext cx="5194796" cy="1368152"/>
        </p:xfrm>
        <a:graphic>
          <a:graphicData uri="http://schemas.openxmlformats.org/presentationml/2006/ole">
            <mc:AlternateContent xmlns:mc="http://schemas.openxmlformats.org/markup-compatibility/2006">
              <mc:Choice xmlns:v="urn:schemas-microsoft-com:vml" Requires="v">
                <p:oleObj name="CS ChemDraw Drawing" r:id="rId2" imgW="2761153" imgH="726631" progId="ChemDraw.Document.6.0">
                  <p:embed/>
                </p:oleObj>
              </mc:Choice>
              <mc:Fallback>
                <p:oleObj name="CS ChemDraw Drawing" r:id="rId2" imgW="2761153" imgH="726631" progId="ChemDraw.Document.6.0">
                  <p:embed/>
                  <p:pic>
                    <p:nvPicPr>
                      <p:cNvPr id="5" name="对象 4"/>
                      <p:cNvPicPr/>
                      <p:nvPr/>
                    </p:nvPicPr>
                    <p:blipFill>
                      <a:blip r:embed="rId3"/>
                      <a:stretch>
                        <a:fillRect/>
                      </a:stretch>
                    </p:blipFill>
                    <p:spPr>
                      <a:xfrm>
                        <a:off x="3287688" y="1719192"/>
                        <a:ext cx="5194796" cy="1368152"/>
                      </a:xfrm>
                      <a:prstGeom prst="rect">
                        <a:avLst/>
                      </a:prstGeom>
                      <a:ln w="28575">
                        <a:solidFill>
                          <a:schemeClr val="bg1">
                            <a:lumMod val="75000"/>
                          </a:schemeClr>
                        </a:solid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28000007"/>
              </p:ext>
            </p:extLst>
          </p:nvPr>
        </p:nvGraphicFramePr>
        <p:xfrm>
          <a:off x="2099925" y="3804437"/>
          <a:ext cx="7992150" cy="2441021"/>
        </p:xfrm>
        <a:graphic>
          <a:graphicData uri="http://schemas.openxmlformats.org/presentationml/2006/ole">
            <mc:AlternateContent xmlns:mc="http://schemas.openxmlformats.org/markup-compatibility/2006">
              <mc:Choice xmlns:v="urn:schemas-microsoft-com:vml" Requires="v">
                <p:oleObj name="CS ChemDraw Drawing" r:id="rId4" imgW="4475529" imgH="1366843" progId="ChemDraw.Document.6.0">
                  <p:embed/>
                </p:oleObj>
              </mc:Choice>
              <mc:Fallback>
                <p:oleObj name="CS ChemDraw Drawing" r:id="rId4" imgW="4475529" imgH="1366843" progId="ChemDraw.Document.6.0">
                  <p:embed/>
                  <p:pic>
                    <p:nvPicPr>
                      <p:cNvPr id="8" name="对象 7"/>
                      <p:cNvPicPr/>
                      <p:nvPr/>
                    </p:nvPicPr>
                    <p:blipFill>
                      <a:blip r:embed="rId5"/>
                      <a:stretch>
                        <a:fillRect/>
                      </a:stretch>
                    </p:blipFill>
                    <p:spPr>
                      <a:xfrm>
                        <a:off x="2099925" y="3804437"/>
                        <a:ext cx="7992150" cy="2441021"/>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28</a:t>
            </a:fld>
            <a:endParaRPr lang="zh-CN" altLang="en-US"/>
          </a:p>
        </p:txBody>
      </p:sp>
      <p:sp>
        <p:nvSpPr>
          <p:cNvPr id="5" name="TextBox 5"/>
          <p:cNvSpPr txBox="1"/>
          <p:nvPr/>
        </p:nvSpPr>
        <p:spPr>
          <a:xfrm>
            <a:off x="0" y="192697"/>
            <a:ext cx="3570208"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4-8 Alkynes: Introduction</a:t>
            </a:r>
            <a:endParaRPr lang="zh-CN" altLang="en-US" sz="2400" b="1" dirty="0">
              <a:latin typeface="Microsoft Sans Serif" panose="020B0604020202020204" pitchFamily="34" charset="0"/>
              <a:cs typeface="Microsoft Sans Serif" panose="020B0604020202020204" pitchFamily="34" charset="0"/>
            </a:endParaRPr>
          </a:p>
        </p:txBody>
      </p:sp>
      <p:sp>
        <p:nvSpPr>
          <p:cNvPr id="6" name="TextBox 6"/>
          <p:cNvSpPr txBox="1"/>
          <p:nvPr/>
        </p:nvSpPr>
        <p:spPr>
          <a:xfrm>
            <a:off x="288032" y="654362"/>
            <a:ext cx="11377264" cy="4093428"/>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Alkynes are hydrocarbons that contain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carbon-carbon triple bonds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C bond is the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functional group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of an alkyne.</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 triple bond makes an </a:t>
            </a:r>
            <a:r>
              <a:rPr lang="en-US" altLang="zh-CN" sz="2000" b="1" u="sng"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two fewer hydrogens than corresponding </a:t>
            </a:r>
            <a:r>
              <a:rPr lang="en-US" altLang="zh-CN" sz="2000" b="1" u="sng"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alkene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four fewer hydrogens than corresponding </a:t>
            </a:r>
            <a:r>
              <a:rPr lang="en-US" altLang="zh-CN" sz="2000" b="1" u="sng"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alkane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molecular formula of alkynes: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altLang="zh-CN" sz="2000" b="1" baseline="-250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H</a:t>
            </a:r>
            <a:r>
              <a:rPr lang="en-US" altLang="zh-CN" sz="2000" b="1" baseline="-250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2n-2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3198329169"/>
              </p:ext>
            </p:extLst>
          </p:nvPr>
        </p:nvGraphicFramePr>
        <p:xfrm>
          <a:off x="3359696" y="2132856"/>
          <a:ext cx="5848763" cy="2016224"/>
        </p:xfrm>
        <a:graphic>
          <a:graphicData uri="http://schemas.openxmlformats.org/presentationml/2006/ole">
            <mc:AlternateContent xmlns:mc="http://schemas.openxmlformats.org/markup-compatibility/2006">
              <mc:Choice xmlns:v="urn:schemas-microsoft-com:vml" Requires="v">
                <p:oleObj name="CS ChemDraw Drawing" r:id="rId2" imgW="3250411" imgH="1121461" progId="ChemDraw.Document.6.0">
                  <p:embed/>
                </p:oleObj>
              </mc:Choice>
              <mc:Fallback>
                <p:oleObj name="CS ChemDraw Drawing" r:id="rId2" imgW="3250411" imgH="1121461" progId="ChemDraw.Document.6.0">
                  <p:embed/>
                  <p:pic>
                    <p:nvPicPr>
                      <p:cNvPr id="4" name="对象 3"/>
                      <p:cNvPicPr/>
                      <p:nvPr/>
                    </p:nvPicPr>
                    <p:blipFill>
                      <a:blip r:embed="rId3"/>
                      <a:stretch>
                        <a:fillRect/>
                      </a:stretch>
                    </p:blipFill>
                    <p:spPr>
                      <a:xfrm>
                        <a:off x="3359696" y="2132856"/>
                        <a:ext cx="5848763" cy="2016224"/>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A2503B0A-4D3D-4C3C-87FC-7681726CB726}"/>
              </a:ext>
            </a:extLst>
          </p:cNvPr>
          <p:cNvSpPr txBox="1"/>
          <p:nvPr/>
        </p:nvSpPr>
        <p:spPr>
          <a:xfrm>
            <a:off x="263352" y="4652768"/>
            <a:ext cx="5235729"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C bonds are not common in drugs.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7" name="对象 6">
            <a:extLst>
              <a:ext uri="{FF2B5EF4-FFF2-40B4-BE49-F238E27FC236}">
                <a16:creationId xmlns:a16="http://schemas.microsoft.com/office/drawing/2014/main" id="{85548C04-8690-43AD-A43E-677D2C002A8D}"/>
              </a:ext>
            </a:extLst>
          </p:cNvPr>
          <p:cNvGraphicFramePr>
            <a:graphicFrameLocks noChangeAspect="1"/>
          </p:cNvGraphicFramePr>
          <p:nvPr>
            <p:extLst>
              <p:ext uri="{D42A27DB-BD31-4B8C-83A1-F6EECF244321}">
                <p14:modId xmlns:p14="http://schemas.microsoft.com/office/powerpoint/2010/main" val="2808095691"/>
              </p:ext>
            </p:extLst>
          </p:nvPr>
        </p:nvGraphicFramePr>
        <p:xfrm>
          <a:off x="4921096" y="4530153"/>
          <a:ext cx="6982872" cy="2194841"/>
        </p:xfrm>
        <a:graphic>
          <a:graphicData uri="http://schemas.openxmlformats.org/presentationml/2006/ole">
            <mc:AlternateContent xmlns:mc="http://schemas.openxmlformats.org/markup-compatibility/2006">
              <mc:Choice xmlns:v="urn:schemas-microsoft-com:vml" Requires="v">
                <p:oleObj name="CS ChemDraw Drawing" r:id="rId4" imgW="4257730" imgH="1337508" progId="ChemDraw.Document.6.0">
                  <p:embed/>
                </p:oleObj>
              </mc:Choice>
              <mc:Fallback>
                <p:oleObj name="CS ChemDraw Drawing" r:id="rId4" imgW="4257730" imgH="1337508" progId="ChemDraw.Document.6.0">
                  <p:embed/>
                  <p:pic>
                    <p:nvPicPr>
                      <p:cNvPr id="0" name=""/>
                      <p:cNvPicPr/>
                      <p:nvPr/>
                    </p:nvPicPr>
                    <p:blipFill>
                      <a:blip r:embed="rId5"/>
                      <a:stretch>
                        <a:fillRect/>
                      </a:stretch>
                    </p:blipFill>
                    <p:spPr>
                      <a:xfrm>
                        <a:off x="4921096" y="4530153"/>
                        <a:ext cx="6982872" cy="2194841"/>
                      </a:xfrm>
                      <a:prstGeom prst="rect">
                        <a:avLst/>
                      </a:prstGeom>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29</a:t>
            </a:fld>
            <a:endParaRPr lang="zh-CN" altLang="en-US"/>
          </a:p>
        </p:txBody>
      </p:sp>
      <p:sp>
        <p:nvSpPr>
          <p:cNvPr id="3" name="TextBox 2"/>
          <p:cNvSpPr txBox="1"/>
          <p:nvPr/>
        </p:nvSpPr>
        <p:spPr>
          <a:xfrm>
            <a:off x="0" y="233186"/>
            <a:ext cx="4132863"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4-9 Nomenclature of Alkynes</a:t>
            </a:r>
            <a:endParaRPr lang="zh-CN" altLang="en-US" sz="2400" b="1" dirty="0">
              <a:latin typeface="Microsoft Sans Serif" panose="020B0604020202020204" pitchFamily="34" charset="0"/>
              <a:cs typeface="Microsoft Sans Serif" panose="020B0604020202020204" pitchFamily="34" charset="0"/>
            </a:endParaRPr>
          </a:p>
        </p:txBody>
      </p:sp>
      <p:sp>
        <p:nvSpPr>
          <p:cNvPr id="4" name="TextBox 3"/>
          <p:cNvSpPr txBox="1"/>
          <p:nvPr/>
        </p:nvSpPr>
        <p:spPr>
          <a:xfrm>
            <a:off x="119336" y="777975"/>
            <a:ext cx="5544616" cy="707886"/>
          </a:xfrm>
          <a:prstGeom prst="rect">
            <a:avLst/>
          </a:prstGeom>
          <a:noFill/>
        </p:spPr>
        <p:txBody>
          <a:bodyPr wrap="square" rtlCol="0">
            <a:spAutoFit/>
          </a:bodyPr>
          <a:lstStyle/>
          <a:p>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1&gt;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Common Names</a:t>
            </a:r>
            <a:r>
              <a:rPr lang="en-US" altLang="zh-CN" sz="2000" dirty="0">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View the alkynes as derivatives of </a:t>
            </a:r>
            <a:r>
              <a:rPr lang="en-US" altLang="zh-CN" sz="2000" b="1" dirty="0">
                <a:highlight>
                  <a:srgbClr val="00FF00"/>
                </a:highlight>
                <a:latin typeface="Microsoft Sans Serif" panose="020B0604020202020204" pitchFamily="34" charset="0"/>
                <a:ea typeface="Microsoft Sans Serif" panose="020B0604020202020204" pitchFamily="34" charset="0"/>
                <a:cs typeface="Microsoft Sans Serif" panose="020B0604020202020204" pitchFamily="34" charset="0"/>
              </a:rPr>
              <a:t>acetylene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70608618"/>
              </p:ext>
            </p:extLst>
          </p:nvPr>
        </p:nvGraphicFramePr>
        <p:xfrm>
          <a:off x="371930" y="2276872"/>
          <a:ext cx="11210470" cy="3456384"/>
        </p:xfrm>
        <a:graphic>
          <a:graphicData uri="http://schemas.openxmlformats.org/presentationml/2006/ole">
            <mc:AlternateContent xmlns:mc="http://schemas.openxmlformats.org/markup-compatibility/2006">
              <mc:Choice xmlns:v="urn:schemas-microsoft-com:vml" Requires="v">
                <p:oleObj name="CS ChemDraw Drawing" r:id="rId2" imgW="5859657" imgH="1807261" progId="ChemDraw.Document.6.0">
                  <p:embed/>
                </p:oleObj>
              </mc:Choice>
              <mc:Fallback>
                <p:oleObj name="CS ChemDraw Drawing" r:id="rId2" imgW="5859657" imgH="1807261" progId="ChemDraw.Document.6.0">
                  <p:embed/>
                  <p:pic>
                    <p:nvPicPr>
                      <p:cNvPr id="5" name="对象 4"/>
                      <p:cNvPicPr/>
                      <p:nvPr/>
                    </p:nvPicPr>
                    <p:blipFill>
                      <a:blip r:embed="rId3"/>
                      <a:stretch>
                        <a:fillRect/>
                      </a:stretch>
                    </p:blipFill>
                    <p:spPr>
                      <a:xfrm>
                        <a:off x="371930" y="2276872"/>
                        <a:ext cx="11210470" cy="3456384"/>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30</a:t>
            </a:fld>
            <a:endParaRPr lang="zh-CN" altLang="en-US"/>
          </a:p>
        </p:txBody>
      </p:sp>
      <p:sp>
        <p:nvSpPr>
          <p:cNvPr id="3" name="TextBox 2"/>
          <p:cNvSpPr txBox="1"/>
          <p:nvPr/>
        </p:nvSpPr>
        <p:spPr>
          <a:xfrm>
            <a:off x="335360" y="248217"/>
            <a:ext cx="6786610" cy="461665"/>
          </a:xfrm>
          <a:prstGeom prst="rect">
            <a:avLst/>
          </a:prstGeom>
          <a:noFill/>
        </p:spPr>
        <p:txBody>
          <a:bodyPr wrap="square" rtlCol="0">
            <a:spAutoFit/>
          </a:bodyPr>
          <a:lstStyle/>
          <a:p>
            <a:r>
              <a:rPr lang="en-US" altLang="zh-CN" sz="2400" b="1" dirty="0"/>
              <a:t> </a:t>
            </a:r>
            <a:r>
              <a:rPr lang="en-US" altLang="zh-CN" sz="2400" b="1" dirty="0">
                <a:highlight>
                  <a:srgbClr val="00FFFF"/>
                </a:highlight>
              </a:rPr>
              <a:t>2&gt;</a:t>
            </a:r>
            <a:r>
              <a:rPr lang="en-US" altLang="zh-CN" sz="2400" b="1" dirty="0"/>
              <a:t> IUPAC Names: </a:t>
            </a:r>
            <a:r>
              <a:rPr lang="en-US" altLang="zh-CN" sz="2400" b="1" i="1" dirty="0">
                <a:highlight>
                  <a:srgbClr val="FFFF00"/>
                </a:highlight>
              </a:rPr>
              <a:t>similar to that for alkenes</a:t>
            </a:r>
            <a:r>
              <a:rPr lang="en-US" altLang="zh-CN" sz="2400" b="1" i="1" dirty="0"/>
              <a:t>.</a:t>
            </a:r>
            <a:endParaRPr lang="zh-CN" altLang="en-US" sz="2400" b="1" i="1" dirty="0"/>
          </a:p>
        </p:txBody>
      </p:sp>
      <p:sp>
        <p:nvSpPr>
          <p:cNvPr id="5" name="TextBox 4"/>
          <p:cNvSpPr txBox="1"/>
          <p:nvPr/>
        </p:nvSpPr>
        <p:spPr>
          <a:xfrm>
            <a:off x="422229" y="862160"/>
            <a:ext cx="11275293" cy="2000548"/>
          </a:xfrm>
          <a:prstGeom prst="rect">
            <a:avLst/>
          </a:prstGeom>
          <a:noFill/>
        </p:spPr>
        <p:txBody>
          <a:bodyPr wrap="square" rtlCol="0">
            <a:spAutoFit/>
          </a:bodyPr>
          <a:lstStyle/>
          <a:p>
            <a:r>
              <a:rPr lang="en-US" altLang="zh-CN" sz="2400" b="1" dirty="0">
                <a:highlight>
                  <a:srgbClr val="C0C0C0"/>
                </a:highlight>
                <a:latin typeface="Microsoft Sans Serif" panose="020B0604020202020204" pitchFamily="34" charset="0"/>
                <a:ea typeface="Microsoft Sans Serif" panose="020B0604020202020204" pitchFamily="34" charset="0"/>
                <a:cs typeface="Microsoft Sans Serif" panose="020B0604020202020204" pitchFamily="34" charset="0"/>
              </a:rPr>
              <a:t>(1) Alkynes and </a:t>
            </a:r>
            <a:r>
              <a:rPr lang="en-US" altLang="zh-CN" sz="2400" b="1" dirty="0" err="1">
                <a:highlight>
                  <a:srgbClr val="C0C0C0"/>
                </a:highlight>
                <a:latin typeface="Microsoft Sans Serif" panose="020B0604020202020204" pitchFamily="34" charset="0"/>
                <a:ea typeface="Microsoft Sans Serif" panose="020B0604020202020204" pitchFamily="34" charset="0"/>
                <a:cs typeface="Microsoft Sans Serif" panose="020B0604020202020204" pitchFamily="34" charset="0"/>
              </a:rPr>
              <a:t>Diynes</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Find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longest continuous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chain of carbon atoms as the main chain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Change the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ane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ending of the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parent alkane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to -</a:t>
            </a:r>
            <a:r>
              <a:rPr lang="en-US" altLang="zh-CN" sz="20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Number the main chain from the end closest to the triple bond.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position of the triple bond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is designated by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its </a:t>
            </a:r>
            <a:r>
              <a:rPr lang="en-US" altLang="zh-CN" sz="20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lower-numbered</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carbon atom</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Substituents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are given numbers to indicate their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locations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563481502"/>
              </p:ext>
            </p:extLst>
          </p:nvPr>
        </p:nvGraphicFramePr>
        <p:xfrm>
          <a:off x="623392" y="2930376"/>
          <a:ext cx="11448166" cy="1398842"/>
        </p:xfrm>
        <a:graphic>
          <a:graphicData uri="http://schemas.openxmlformats.org/presentationml/2006/ole">
            <mc:AlternateContent xmlns:mc="http://schemas.openxmlformats.org/markup-compatibility/2006">
              <mc:Choice xmlns:v="urn:schemas-microsoft-com:vml" Requires="v">
                <p:oleObj name="CS ChemDraw Drawing" r:id="rId2" imgW="5859657" imgH="716324" progId="ChemDraw.Document.6.0">
                  <p:embed/>
                </p:oleObj>
              </mc:Choice>
              <mc:Fallback>
                <p:oleObj name="CS ChemDraw Drawing" r:id="rId2" imgW="5859657" imgH="716324" progId="ChemDraw.Document.6.0">
                  <p:embed/>
                  <p:pic>
                    <p:nvPicPr>
                      <p:cNvPr id="4" name="对象 3"/>
                      <p:cNvPicPr/>
                      <p:nvPr/>
                    </p:nvPicPr>
                    <p:blipFill>
                      <a:blip r:embed="rId3"/>
                      <a:stretch>
                        <a:fillRect/>
                      </a:stretch>
                    </p:blipFill>
                    <p:spPr>
                      <a:xfrm>
                        <a:off x="623392" y="2930376"/>
                        <a:ext cx="11448166" cy="139884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193081405"/>
              </p:ext>
            </p:extLst>
          </p:nvPr>
        </p:nvGraphicFramePr>
        <p:xfrm>
          <a:off x="5159896" y="4928395"/>
          <a:ext cx="1602034" cy="1579194"/>
        </p:xfrm>
        <a:graphic>
          <a:graphicData uri="http://schemas.openxmlformats.org/presentationml/2006/ole">
            <mc:AlternateContent xmlns:mc="http://schemas.openxmlformats.org/markup-compatibility/2006">
              <mc:Choice xmlns:v="urn:schemas-microsoft-com:vml" Requires="v">
                <p:oleObj name="CS ChemDraw Drawing" r:id="rId4" imgW="780051" imgH="767858" progId="ChemDraw.Document.6.0">
                  <p:embed/>
                </p:oleObj>
              </mc:Choice>
              <mc:Fallback>
                <p:oleObj name="CS ChemDraw Drawing" r:id="rId4" imgW="780051" imgH="767858" progId="ChemDraw.Document.6.0">
                  <p:embed/>
                  <p:pic>
                    <p:nvPicPr>
                      <p:cNvPr id="14" name="对象 13"/>
                      <p:cNvPicPr/>
                      <p:nvPr/>
                    </p:nvPicPr>
                    <p:blipFill>
                      <a:blip r:embed="rId5"/>
                      <a:stretch>
                        <a:fillRect/>
                      </a:stretch>
                    </p:blipFill>
                    <p:spPr>
                      <a:xfrm>
                        <a:off x="5159896" y="4928395"/>
                        <a:ext cx="1602034" cy="1579194"/>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99578430"/>
              </p:ext>
            </p:extLst>
          </p:nvPr>
        </p:nvGraphicFramePr>
        <p:xfrm>
          <a:off x="7678658" y="5104069"/>
          <a:ext cx="2488260" cy="1398841"/>
        </p:xfrm>
        <a:graphic>
          <a:graphicData uri="http://schemas.openxmlformats.org/presentationml/2006/ole">
            <mc:AlternateContent xmlns:mc="http://schemas.openxmlformats.org/markup-compatibility/2006">
              <mc:Choice xmlns:v="urn:schemas-microsoft-com:vml" Requires="v">
                <p:oleObj name="CS ChemDraw Drawing" r:id="rId6" imgW="1226302" imgH="688575" progId="ChemDraw.Document.6.0">
                  <p:embed/>
                </p:oleObj>
              </mc:Choice>
              <mc:Fallback>
                <p:oleObj name="CS ChemDraw Drawing" r:id="rId6" imgW="1226302" imgH="688575" progId="ChemDraw.Document.6.0">
                  <p:embed/>
                  <p:pic>
                    <p:nvPicPr>
                      <p:cNvPr id="7" name="对象 6"/>
                      <p:cNvPicPr/>
                      <p:nvPr/>
                    </p:nvPicPr>
                    <p:blipFill>
                      <a:blip r:embed="rId7"/>
                      <a:stretch>
                        <a:fillRect/>
                      </a:stretch>
                    </p:blipFill>
                    <p:spPr>
                      <a:xfrm>
                        <a:off x="7678658" y="5104069"/>
                        <a:ext cx="2488260" cy="1398841"/>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27424767"/>
              </p:ext>
            </p:extLst>
          </p:nvPr>
        </p:nvGraphicFramePr>
        <p:xfrm>
          <a:off x="623392" y="5297799"/>
          <a:ext cx="3877054" cy="1248271"/>
        </p:xfrm>
        <a:graphic>
          <a:graphicData uri="http://schemas.openxmlformats.org/presentationml/2006/ole">
            <mc:AlternateContent xmlns:mc="http://schemas.openxmlformats.org/markup-compatibility/2006">
              <mc:Choice xmlns:v="urn:schemas-microsoft-com:vml" Requires="v">
                <p:oleObj name="CS ChemDraw Drawing" r:id="rId8" imgW="1907713" imgH="614049" progId="ChemDraw.Document.6.0">
                  <p:embed/>
                </p:oleObj>
              </mc:Choice>
              <mc:Fallback>
                <p:oleObj name="CS ChemDraw Drawing" r:id="rId8" imgW="1907713" imgH="614049" progId="ChemDraw.Document.6.0">
                  <p:embed/>
                  <p:pic>
                    <p:nvPicPr>
                      <p:cNvPr id="8" name="对象 7"/>
                      <p:cNvPicPr/>
                      <p:nvPr/>
                    </p:nvPicPr>
                    <p:blipFill>
                      <a:blip r:embed="rId9"/>
                      <a:stretch>
                        <a:fillRect/>
                      </a:stretch>
                    </p:blipFill>
                    <p:spPr>
                      <a:xfrm>
                        <a:off x="623392" y="5297799"/>
                        <a:ext cx="3877054" cy="1248271"/>
                      </a:xfrm>
                      <a:prstGeom prst="rect">
                        <a:avLst/>
                      </a:prstGeom>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31</a:t>
            </a:fld>
            <a:endParaRPr lang="zh-CN" altLang="en-US"/>
          </a:p>
        </p:txBody>
      </p:sp>
      <p:sp>
        <p:nvSpPr>
          <p:cNvPr id="3" name="TextBox 2"/>
          <p:cNvSpPr txBox="1"/>
          <p:nvPr/>
        </p:nvSpPr>
        <p:spPr>
          <a:xfrm>
            <a:off x="346962" y="2429966"/>
            <a:ext cx="11518008" cy="2308324"/>
          </a:xfrm>
          <a:prstGeom prst="rect">
            <a:avLst/>
          </a:prstGeom>
          <a:noFill/>
        </p:spPr>
        <p:txBody>
          <a:bodyPr wrap="square" rtlCol="0">
            <a:spAutoFit/>
          </a:bodyPr>
          <a:lstStyle/>
          <a:p>
            <a:r>
              <a:rPr lang="en-US" altLang="zh-CN" sz="2400" b="1" dirty="0">
                <a:highlight>
                  <a:srgbClr val="C0C0C0"/>
                </a:highlight>
                <a:latin typeface="Microsoft Sans Serif" panose="020B0604020202020204" pitchFamily="34" charset="0"/>
                <a:ea typeface="Microsoft Sans Serif" panose="020B0604020202020204" pitchFamily="34" charset="0"/>
                <a:cs typeface="Microsoft Sans Serif" panose="020B0604020202020204" pitchFamily="34" charset="0"/>
              </a:rPr>
              <a:t>(2) </a:t>
            </a:r>
            <a:r>
              <a:rPr lang="en-US" altLang="zh-CN" sz="2400" b="1" dirty="0" err="1">
                <a:highlight>
                  <a:srgbClr val="C0C0C0"/>
                </a:highlight>
                <a:latin typeface="Microsoft Sans Serif" panose="020B0604020202020204" pitchFamily="34" charset="0"/>
                <a:ea typeface="Microsoft Sans Serif" panose="020B0604020202020204" pitchFamily="34" charset="0"/>
                <a:cs typeface="Microsoft Sans Serif" panose="020B0604020202020204" pitchFamily="34" charset="0"/>
              </a:rPr>
              <a:t>Alkenynes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p>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compounds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simultaneously contain a triple bond and a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Choose the longest continuous chain as the main chain.</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Number the main chain from the end closest to an unsaturated bond (a double bond or a triple bond).</a:t>
            </a:r>
          </a:p>
          <a:p>
            <a:pPr marL="342900" indent="-342900">
              <a:buFont typeface="Arial" panose="020B0604020202020204" pitchFamily="34" charset="0"/>
              <a:buChar char="•"/>
            </a:pP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In case of a tie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the numbering begins at the end </a:t>
            </a:r>
            <a:r>
              <a:rPr lang="en-US" altLang="zh-CN" sz="2000" b="1" i="1" u="sng" dirty="0">
                <a:latin typeface="Microsoft Sans Serif" panose="020B0604020202020204" pitchFamily="34" charset="0"/>
                <a:ea typeface="Microsoft Sans Serif" panose="020B0604020202020204" pitchFamily="34" charset="0"/>
                <a:cs typeface="Microsoft Sans Serif" panose="020B0604020202020204" pitchFamily="34" charset="0"/>
              </a:rPr>
              <a:t>closer to the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which is given higher priority than the triple bond.</a:t>
            </a:r>
            <a:endParaRPr lang="zh-CN" altLang="en-US" sz="2000" b="1" dirty="0">
              <a:latin typeface="Microsoft Sans Serif" panose="020B0604020202020204" pitchFamily="34" charset="0"/>
              <a:cs typeface="Microsoft Sans Serif" panose="020B0604020202020204" pitchFamily="34" charset="0"/>
            </a:endParaRPr>
          </a:p>
        </p:txBody>
      </p:sp>
      <p:sp>
        <p:nvSpPr>
          <p:cNvPr id="6" name="文本框 5"/>
          <p:cNvSpPr txBox="1"/>
          <p:nvPr/>
        </p:nvSpPr>
        <p:spPr>
          <a:xfrm>
            <a:off x="346962" y="307375"/>
            <a:ext cx="9302547"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Sometimes, the part containing the 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C is regarded as a group: </a:t>
            </a:r>
            <a:r>
              <a:rPr lang="en-US" altLang="zh-CN" sz="20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alkynyl</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group</a:t>
            </a:r>
            <a:endParaRPr lang="zh-CN" altLang="en-US" sz="2000" b="1" dirty="0">
              <a:solidFill>
                <a:srgbClr val="FF0000"/>
              </a:solidFill>
              <a:latin typeface="Microsoft Sans Serif" panose="020B0604020202020204" pitchFamily="34" charset="0"/>
              <a:cs typeface="Microsoft Sans Serif" panose="020B0604020202020204" pitchFamily="34" charset="0"/>
            </a:endParaRPr>
          </a:p>
        </p:txBody>
      </p:sp>
      <p:graphicFrame>
        <p:nvGraphicFramePr>
          <p:cNvPr id="7" name="对象 6"/>
          <p:cNvGraphicFramePr>
            <a:graphicFrameLocks noChangeAspect="1"/>
          </p:cNvGraphicFramePr>
          <p:nvPr/>
        </p:nvGraphicFramePr>
        <p:xfrm>
          <a:off x="3071664" y="937276"/>
          <a:ext cx="5406530" cy="1274819"/>
        </p:xfrm>
        <a:graphic>
          <a:graphicData uri="http://schemas.openxmlformats.org/presentationml/2006/ole">
            <mc:AlternateContent xmlns:mc="http://schemas.openxmlformats.org/markup-compatibility/2006">
              <mc:Choice xmlns:v="urn:schemas-microsoft-com:vml" Requires="v">
                <p:oleObj name="CS ChemDraw Drawing" r:id="rId2" imgW="3184913" imgH="751209" progId="ChemDraw.Document.6.0">
                  <p:embed/>
                </p:oleObj>
              </mc:Choice>
              <mc:Fallback>
                <p:oleObj name="CS ChemDraw Drawing" r:id="rId2" imgW="3184913" imgH="751209" progId="ChemDraw.Document.6.0">
                  <p:embed/>
                  <p:pic>
                    <p:nvPicPr>
                      <p:cNvPr id="7" name="对象 6"/>
                      <p:cNvPicPr/>
                      <p:nvPr/>
                    </p:nvPicPr>
                    <p:blipFill>
                      <a:blip r:embed="rId3"/>
                      <a:stretch>
                        <a:fillRect/>
                      </a:stretch>
                    </p:blipFill>
                    <p:spPr>
                      <a:xfrm>
                        <a:off x="3071664" y="937276"/>
                        <a:ext cx="5406530" cy="1274819"/>
                      </a:xfrm>
                      <a:prstGeom prst="rect">
                        <a:avLst/>
                      </a:prstGeom>
                    </p:spPr>
                  </p:pic>
                </p:oleObj>
              </mc:Fallback>
            </mc:AlternateContent>
          </a:graphicData>
        </a:graphic>
      </p:graphicFrame>
      <p:sp>
        <p:nvSpPr>
          <p:cNvPr id="8" name="椭圆 7"/>
          <p:cNvSpPr/>
          <p:nvPr/>
        </p:nvSpPr>
        <p:spPr>
          <a:xfrm>
            <a:off x="3575720" y="822041"/>
            <a:ext cx="864096" cy="57606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640968">
            <a:off x="6879592" y="1015516"/>
            <a:ext cx="1231296" cy="57606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7032104" y="876849"/>
            <a:ext cx="263214" cy="276999"/>
          </a:xfrm>
          <a:prstGeom prst="rect">
            <a:avLst/>
          </a:prstGeom>
          <a:noFill/>
        </p:spPr>
        <p:txBody>
          <a:bodyPr wrap="none" rtlCol="0">
            <a:spAutoFit/>
          </a:bodyPr>
          <a:lstStyle/>
          <a:p>
            <a:r>
              <a:rPr lang="en-US" altLang="zh-CN" sz="1200" b="1" dirty="0">
                <a:solidFill>
                  <a:srgbClr val="0000FF"/>
                </a:solidFill>
              </a:rPr>
              <a:t>1</a:t>
            </a:r>
            <a:endParaRPr lang="zh-CN" altLang="en-US" sz="1200" b="1" dirty="0">
              <a:solidFill>
                <a:srgbClr val="0000FF"/>
              </a:solidFill>
            </a:endParaRPr>
          </a:p>
        </p:txBody>
      </p:sp>
      <p:sp>
        <p:nvSpPr>
          <p:cNvPr id="5" name="文本框 4"/>
          <p:cNvSpPr txBox="1"/>
          <p:nvPr/>
        </p:nvSpPr>
        <p:spPr>
          <a:xfrm>
            <a:off x="7275378" y="988825"/>
            <a:ext cx="263214" cy="276999"/>
          </a:xfrm>
          <a:prstGeom prst="rect">
            <a:avLst/>
          </a:prstGeom>
          <a:noFill/>
        </p:spPr>
        <p:txBody>
          <a:bodyPr wrap="none" rtlCol="0">
            <a:spAutoFit/>
          </a:bodyPr>
          <a:lstStyle/>
          <a:p>
            <a:r>
              <a:rPr lang="en-US" altLang="zh-CN" sz="1200" b="1" dirty="0">
                <a:solidFill>
                  <a:srgbClr val="0000FF"/>
                </a:solidFill>
              </a:rPr>
              <a:t>2</a:t>
            </a:r>
            <a:endParaRPr lang="zh-CN" altLang="en-US" sz="1200" b="1" dirty="0">
              <a:solidFill>
                <a:srgbClr val="0000FF"/>
              </a:solidFill>
            </a:endParaRPr>
          </a:p>
        </p:txBody>
      </p:sp>
      <p:sp>
        <p:nvSpPr>
          <p:cNvPr id="10" name="文本框 9"/>
          <p:cNvSpPr txBox="1"/>
          <p:nvPr/>
        </p:nvSpPr>
        <p:spPr>
          <a:xfrm>
            <a:off x="7623008" y="1165048"/>
            <a:ext cx="263214" cy="276999"/>
          </a:xfrm>
          <a:prstGeom prst="rect">
            <a:avLst/>
          </a:prstGeom>
          <a:noFill/>
        </p:spPr>
        <p:txBody>
          <a:bodyPr wrap="none" rtlCol="0">
            <a:spAutoFit/>
          </a:bodyPr>
          <a:lstStyle/>
          <a:p>
            <a:r>
              <a:rPr lang="en-US" altLang="zh-CN" sz="1200" b="1" dirty="0">
                <a:solidFill>
                  <a:srgbClr val="0000FF"/>
                </a:solidFill>
              </a:rPr>
              <a:t>3</a:t>
            </a:r>
            <a:endParaRPr lang="zh-CN" altLang="en-US" sz="1200" b="1" dirty="0">
              <a:solidFill>
                <a:srgbClr val="0000FF"/>
              </a:solidFill>
            </a:endParaRPr>
          </a:p>
        </p:txBody>
      </p:sp>
      <p:sp>
        <p:nvSpPr>
          <p:cNvPr id="11" name="文本框 10"/>
          <p:cNvSpPr txBox="1"/>
          <p:nvPr/>
        </p:nvSpPr>
        <p:spPr>
          <a:xfrm>
            <a:off x="7856841" y="1377637"/>
            <a:ext cx="263214" cy="276999"/>
          </a:xfrm>
          <a:prstGeom prst="rect">
            <a:avLst/>
          </a:prstGeom>
          <a:noFill/>
        </p:spPr>
        <p:txBody>
          <a:bodyPr wrap="none" rtlCol="0">
            <a:spAutoFit/>
          </a:bodyPr>
          <a:lstStyle/>
          <a:p>
            <a:r>
              <a:rPr lang="en-US" altLang="zh-CN" sz="1200" b="1" dirty="0">
                <a:solidFill>
                  <a:srgbClr val="0000FF"/>
                </a:solidFill>
              </a:rPr>
              <a:t>4</a:t>
            </a:r>
            <a:endParaRPr lang="zh-CN" altLang="en-US" sz="1200" b="1" dirty="0">
              <a:solidFill>
                <a:srgbClr val="0000FF"/>
              </a:solidFill>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187795796"/>
              </p:ext>
            </p:extLst>
          </p:nvPr>
        </p:nvGraphicFramePr>
        <p:xfrm>
          <a:off x="445866" y="4854658"/>
          <a:ext cx="11300267" cy="1676588"/>
        </p:xfrm>
        <a:graphic>
          <a:graphicData uri="http://schemas.openxmlformats.org/presentationml/2006/ole">
            <mc:AlternateContent xmlns:mc="http://schemas.openxmlformats.org/markup-compatibility/2006">
              <mc:Choice xmlns:v="urn:schemas-microsoft-com:vml" Requires="v">
                <p:oleObj name="CS ChemDraw Drawing" r:id="rId4" imgW="6173334" imgH="915721" progId="ChemDraw.Document.6.0">
                  <p:embed/>
                </p:oleObj>
              </mc:Choice>
              <mc:Fallback>
                <p:oleObj name="CS ChemDraw Drawing" r:id="rId4" imgW="6173334" imgH="915721" progId="ChemDraw.Document.6.0">
                  <p:embed/>
                  <p:pic>
                    <p:nvPicPr>
                      <p:cNvPr id="16" name="对象 15"/>
                      <p:cNvPicPr/>
                      <p:nvPr/>
                    </p:nvPicPr>
                    <p:blipFill>
                      <a:blip r:embed="rId5"/>
                      <a:stretch>
                        <a:fillRect/>
                      </a:stretch>
                    </p:blipFill>
                    <p:spPr>
                      <a:xfrm>
                        <a:off x="445866" y="4854658"/>
                        <a:ext cx="11300267" cy="1676588"/>
                      </a:xfrm>
                      <a:prstGeom prst="rect">
                        <a:avLst/>
                      </a:prstGeom>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nvSpPr>
        <p:spPr>
          <a:xfrm>
            <a:off x="8501534" y="5076192"/>
            <a:ext cx="910827" cy="324588"/>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71945" y="3297623"/>
            <a:ext cx="910827" cy="324588"/>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564672" y="4555164"/>
            <a:ext cx="1584176" cy="576064"/>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8832304" y="6378546"/>
            <a:ext cx="2844800" cy="365125"/>
          </a:xfrm>
        </p:spPr>
        <p:txBody>
          <a:bodyPr/>
          <a:lstStyle/>
          <a:p>
            <a:fld id="{0C913308-F349-4B6D-A68A-DD1791B4A57B}" type="slidenum">
              <a:rPr lang="zh-CN" altLang="en-US" smtClean="0"/>
              <a:pPr/>
              <a:t>32</a:t>
            </a:fld>
            <a:endParaRPr lang="zh-CN" altLang="en-US"/>
          </a:p>
        </p:txBody>
      </p:sp>
      <p:sp>
        <p:nvSpPr>
          <p:cNvPr id="3" name="TextBox 2"/>
          <p:cNvSpPr txBox="1"/>
          <p:nvPr/>
        </p:nvSpPr>
        <p:spPr>
          <a:xfrm>
            <a:off x="0" y="309988"/>
            <a:ext cx="5498236" cy="523220"/>
          </a:xfrm>
          <a:prstGeom prst="rect">
            <a:avLst/>
          </a:prstGeom>
          <a:solidFill>
            <a:schemeClr val="tx2">
              <a:lumMod val="20000"/>
              <a:lumOff val="80000"/>
            </a:schemeClr>
          </a:solidFill>
        </p:spPr>
        <p:txBody>
          <a:bodyPr wrap="none" rtlCol="0">
            <a:spAutoFit/>
          </a:bodyPr>
          <a:lstStyle/>
          <a:p>
            <a:r>
              <a:rPr lang="en-US" altLang="zh-CN" sz="2800" b="1" dirty="0"/>
              <a:t>4-10 Electronic Structure of Alkynes</a:t>
            </a:r>
            <a:endParaRPr lang="zh-CN" altLang="en-US" sz="2800" b="1" dirty="0"/>
          </a:p>
        </p:txBody>
      </p:sp>
      <p:sp>
        <p:nvSpPr>
          <p:cNvPr id="12" name="TextBox 11"/>
          <p:cNvSpPr txBox="1"/>
          <p:nvPr/>
        </p:nvSpPr>
        <p:spPr>
          <a:xfrm>
            <a:off x="365108" y="1484198"/>
            <a:ext cx="8173245" cy="101566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Acetylene has a</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linear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structure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two triple bond carbon atoms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adopt </a:t>
            </a:r>
            <a:r>
              <a:rPr lang="en-US" altLang="zh-CN" sz="20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sp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hybridization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C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sigma bond of the triple bond is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overlap.</a:t>
            </a:r>
          </a:p>
        </p:txBody>
      </p:sp>
      <p:graphicFrame>
        <p:nvGraphicFramePr>
          <p:cNvPr id="22541" name="Object 13"/>
          <p:cNvGraphicFramePr>
            <a:graphicFrameLocks noChangeAspect="1"/>
          </p:cNvGraphicFramePr>
          <p:nvPr>
            <p:extLst>
              <p:ext uri="{D42A27DB-BD31-4B8C-83A1-F6EECF244321}">
                <p14:modId xmlns:p14="http://schemas.microsoft.com/office/powerpoint/2010/main" val="673163737"/>
              </p:ext>
            </p:extLst>
          </p:nvPr>
        </p:nvGraphicFramePr>
        <p:xfrm>
          <a:off x="4943872" y="1091438"/>
          <a:ext cx="1857388" cy="321120"/>
        </p:xfrm>
        <a:graphic>
          <a:graphicData uri="http://schemas.openxmlformats.org/presentationml/2006/ole">
            <mc:AlternateContent xmlns:mc="http://schemas.openxmlformats.org/markup-compatibility/2006">
              <mc:Choice xmlns:v="urn:schemas-microsoft-com:vml" Requires="v">
                <p:oleObj name="CS ChemDraw Drawing" r:id="rId2" imgW="807612" imgH="140179" progId="ChemDraw.Document.6.0">
                  <p:embed/>
                </p:oleObj>
              </mc:Choice>
              <mc:Fallback>
                <p:oleObj name="CS ChemDraw Drawing" r:id="rId2" imgW="807612" imgH="140179" progId="ChemDraw.Document.6.0">
                  <p:embed/>
                  <p:pic>
                    <p:nvPicPr>
                      <p:cNvPr id="22541"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872" y="1091438"/>
                        <a:ext cx="1857388" cy="32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矩形 5"/>
          <p:cNvSpPr/>
          <p:nvPr/>
        </p:nvSpPr>
        <p:spPr>
          <a:xfrm>
            <a:off x="365108" y="5574508"/>
            <a:ext cx="7992888" cy="1015663"/>
          </a:xfrm>
          <a:prstGeom prst="rect">
            <a:avLst/>
          </a:prstGeom>
        </p:spPr>
        <p:txBody>
          <a:bodyPr wrap="square">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two pi bonds are two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overlap.</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two pairs of unhybridized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orbitals overlap at 90</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itchFamily="18" charset="2"/>
              </a:rPr>
              <a:t>.</a:t>
            </a:r>
          </a:p>
          <a:p>
            <a:pPr marL="342900" indent="-342900">
              <a:buFont typeface="Arial" panose="020B0604020202020204" pitchFamily="34" charset="0"/>
              <a:buChar char="•"/>
            </a:pP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1 Triple bond = 1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+ 2 </a:t>
            </a:r>
            <a:endParaRPr lang="zh-CN" altLang="en-US" sz="2000" b="1" dirty="0">
              <a:solidFill>
                <a:srgbClr val="FF0000"/>
              </a:solidFill>
              <a:latin typeface="Microsoft Sans Serif" panose="020B0604020202020204" pitchFamily="34" charset="0"/>
              <a:cs typeface="Microsoft Sans Serif" panose="020B0604020202020204" pitchFamily="34"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800920968"/>
              </p:ext>
            </p:extLst>
          </p:nvPr>
        </p:nvGraphicFramePr>
        <p:xfrm>
          <a:off x="7896200" y="2898996"/>
          <a:ext cx="3249777" cy="2276377"/>
        </p:xfrm>
        <a:graphic>
          <a:graphicData uri="http://schemas.openxmlformats.org/presentationml/2006/ole">
            <mc:AlternateContent xmlns:mc="http://schemas.openxmlformats.org/markup-compatibility/2006">
              <mc:Choice xmlns:v="urn:schemas-microsoft-com:vml" Requires="v">
                <p:oleObj name="CS ChemDraw Drawing" r:id="rId4" imgW="2018979" imgH="1414017" progId="ChemDraw.Document.6.0">
                  <p:embed/>
                </p:oleObj>
              </mc:Choice>
              <mc:Fallback>
                <p:oleObj name="CS ChemDraw Drawing" r:id="rId4" imgW="2018979" imgH="1414017" progId="ChemDraw.Document.6.0">
                  <p:embed/>
                  <p:pic>
                    <p:nvPicPr>
                      <p:cNvPr id="8" name="对象 7"/>
                      <p:cNvPicPr/>
                      <p:nvPr/>
                    </p:nvPicPr>
                    <p:blipFill>
                      <a:blip r:embed="rId5"/>
                      <a:stretch>
                        <a:fillRect/>
                      </a:stretch>
                    </p:blipFill>
                    <p:spPr>
                      <a:xfrm>
                        <a:off x="7896200" y="2898996"/>
                        <a:ext cx="3249777" cy="2276377"/>
                      </a:xfrm>
                      <a:prstGeom prst="rect">
                        <a:avLst/>
                      </a:prstGeom>
                    </p:spPr>
                  </p:pic>
                </p:oleObj>
              </mc:Fallback>
            </mc:AlternateContent>
          </a:graphicData>
        </a:graphic>
      </p:graphicFrame>
      <p:sp>
        <p:nvSpPr>
          <p:cNvPr id="11" name="文本框 10"/>
          <p:cNvSpPr txBox="1"/>
          <p:nvPr/>
        </p:nvSpPr>
        <p:spPr>
          <a:xfrm>
            <a:off x="4726831" y="4555164"/>
            <a:ext cx="1289135" cy="369332"/>
          </a:xfrm>
          <a:prstGeom prst="rect">
            <a:avLst/>
          </a:prstGeom>
          <a:noFill/>
        </p:spPr>
        <p:txBody>
          <a:bodyPr wrap="none" rtlCol="0">
            <a:spAutoFit/>
          </a:bodyPr>
          <a:lstStyle/>
          <a:p>
            <a:r>
              <a:rPr lang="en-US" altLang="zh-CN" b="1" dirty="0"/>
              <a:t>sigma bond</a:t>
            </a:r>
            <a:endParaRPr lang="zh-CN" altLang="en-US" b="1" dirty="0"/>
          </a:p>
        </p:txBody>
      </p:sp>
      <p:sp>
        <p:nvSpPr>
          <p:cNvPr id="14" name="文本框 13"/>
          <p:cNvSpPr txBox="1"/>
          <p:nvPr/>
        </p:nvSpPr>
        <p:spPr>
          <a:xfrm>
            <a:off x="8971945" y="3252879"/>
            <a:ext cx="910827" cy="369332"/>
          </a:xfrm>
          <a:prstGeom prst="rect">
            <a:avLst/>
          </a:prstGeom>
          <a:noFill/>
        </p:spPr>
        <p:txBody>
          <a:bodyPr wrap="none" rtlCol="0">
            <a:spAutoFit/>
          </a:bodyPr>
          <a:lstStyle/>
          <a:p>
            <a:r>
              <a:rPr lang="en-US" altLang="zh-CN" b="1" dirty="0"/>
              <a:t>pi bond</a:t>
            </a:r>
            <a:endParaRPr lang="zh-CN" altLang="en-US" b="1" dirty="0"/>
          </a:p>
        </p:txBody>
      </p:sp>
      <p:sp>
        <p:nvSpPr>
          <p:cNvPr id="16" name="文本框 15"/>
          <p:cNvSpPr txBox="1"/>
          <p:nvPr/>
        </p:nvSpPr>
        <p:spPr>
          <a:xfrm>
            <a:off x="8501535" y="5044426"/>
            <a:ext cx="910827" cy="369332"/>
          </a:xfrm>
          <a:prstGeom prst="rect">
            <a:avLst/>
          </a:prstGeom>
          <a:noFill/>
        </p:spPr>
        <p:txBody>
          <a:bodyPr wrap="none" rtlCol="0">
            <a:spAutoFit/>
          </a:bodyPr>
          <a:lstStyle/>
          <a:p>
            <a:r>
              <a:rPr lang="en-US" altLang="zh-CN" b="1" dirty="0"/>
              <a:t>pi bond</a:t>
            </a:r>
            <a:endParaRPr lang="zh-CN" altLang="en-US" b="1" dirty="0"/>
          </a:p>
        </p:txBody>
      </p:sp>
      <p:graphicFrame>
        <p:nvGraphicFramePr>
          <p:cNvPr id="4" name="对象 3"/>
          <p:cNvGraphicFramePr>
            <a:graphicFrameLocks noChangeAspect="1"/>
          </p:cNvGraphicFramePr>
          <p:nvPr>
            <p:extLst>
              <p:ext uri="{D42A27DB-BD31-4B8C-83A1-F6EECF244321}">
                <p14:modId xmlns:p14="http://schemas.microsoft.com/office/powerpoint/2010/main" val="842804238"/>
              </p:ext>
            </p:extLst>
          </p:nvPr>
        </p:nvGraphicFramePr>
        <p:xfrm>
          <a:off x="911424" y="2685735"/>
          <a:ext cx="6184787" cy="2703111"/>
        </p:xfrm>
        <a:graphic>
          <a:graphicData uri="http://schemas.openxmlformats.org/presentationml/2006/ole">
            <mc:AlternateContent xmlns:mc="http://schemas.openxmlformats.org/markup-compatibility/2006">
              <mc:Choice xmlns:v="urn:schemas-microsoft-com:vml" Requires="v">
                <p:oleObj name="CS ChemDraw Drawing" r:id="rId6" imgW="4489339" imgH="1962657" progId="ChemDraw.Document.6.0">
                  <p:embed/>
                </p:oleObj>
              </mc:Choice>
              <mc:Fallback>
                <p:oleObj name="CS ChemDraw Drawing" r:id="rId6" imgW="4489339" imgH="1962657" progId="ChemDraw.Document.6.0">
                  <p:embed/>
                  <p:pic>
                    <p:nvPicPr>
                      <p:cNvPr id="4" name="对象 3"/>
                      <p:cNvPicPr/>
                      <p:nvPr/>
                    </p:nvPicPr>
                    <p:blipFill>
                      <a:blip r:embed="rId7"/>
                      <a:stretch>
                        <a:fillRect/>
                      </a:stretch>
                    </p:blipFill>
                    <p:spPr>
                      <a:xfrm>
                        <a:off x="911424" y="2685735"/>
                        <a:ext cx="6184787" cy="2703111"/>
                      </a:xfrm>
                      <a:prstGeom prst="rect">
                        <a:avLst/>
                      </a:prstGeom>
                      <a:ln w="28575">
                        <a:solidFill>
                          <a:schemeClr val="bg1">
                            <a:lumMod val="85000"/>
                          </a:schemeClr>
                        </a:solid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3" name="TextBox 2"/>
          <p:cNvSpPr txBox="1"/>
          <p:nvPr/>
        </p:nvSpPr>
        <p:spPr>
          <a:xfrm>
            <a:off x="0" y="309988"/>
            <a:ext cx="5377562" cy="523220"/>
          </a:xfrm>
          <a:prstGeom prst="rect">
            <a:avLst/>
          </a:prstGeom>
          <a:solidFill>
            <a:schemeClr val="tx2">
              <a:lumMod val="20000"/>
              <a:lumOff val="80000"/>
            </a:schemeClr>
          </a:solidFill>
        </p:spPr>
        <p:txBody>
          <a:bodyPr wrap="none" rtlCol="0">
            <a:spAutoFit/>
          </a:bodyPr>
          <a:lstStyle/>
          <a:p>
            <a:r>
              <a:rPr lang="en-US" altLang="zh-CN" sz="2800" b="1" dirty="0"/>
              <a:t>4-11 Physical Properties of Alkynes</a:t>
            </a:r>
            <a:endParaRPr lang="zh-CN" altLang="en-US" sz="2800" b="1" dirty="0"/>
          </a:p>
        </p:txBody>
      </p:sp>
      <p:sp>
        <p:nvSpPr>
          <p:cNvPr id="4" name="文本框 3"/>
          <p:cNvSpPr txBox="1"/>
          <p:nvPr/>
        </p:nvSpPr>
        <p:spPr>
          <a:xfrm>
            <a:off x="407368" y="980728"/>
            <a:ext cx="11377264" cy="2677656"/>
          </a:xfrm>
          <a:prstGeom prst="rect">
            <a:avLst/>
          </a:prstGeom>
          <a:noFill/>
        </p:spPr>
        <p:txBody>
          <a:bodyPr wrap="square" rtlCol="0">
            <a:spAutoFit/>
          </a:bodyPr>
          <a:lstStyle/>
          <a:p>
            <a:pPr marL="285750" indent="-285750">
              <a:buFont typeface="Arial" panose="020B0604020202020204" pitchFamily="34" charset="0"/>
              <a:buChar char="•"/>
            </a:pPr>
            <a:r>
              <a:rPr lang="en-US" altLang="zh-CN" sz="2400" b="1" dirty="0"/>
              <a:t>Alkynes are </a:t>
            </a:r>
            <a:r>
              <a:rPr lang="en-US" altLang="zh-CN" sz="2400" b="1" dirty="0">
                <a:highlight>
                  <a:srgbClr val="00FFFF"/>
                </a:highlight>
              </a:rPr>
              <a:t>relatively nonpolar molecules</a:t>
            </a:r>
            <a:r>
              <a:rPr lang="en-US" altLang="zh-CN" sz="2400" b="1" dirty="0"/>
              <a:t>. The </a:t>
            </a:r>
            <a:r>
              <a:rPr lang="en-US" altLang="zh-CN" sz="2400" b="1" dirty="0">
                <a:highlight>
                  <a:srgbClr val="FFFF00"/>
                </a:highlight>
              </a:rPr>
              <a:t>physical properties of alkynes </a:t>
            </a:r>
            <a:r>
              <a:rPr lang="en-US" altLang="zh-CN" sz="2400" b="1" dirty="0"/>
              <a:t>are </a:t>
            </a:r>
            <a:r>
              <a:rPr lang="en-US" altLang="zh-CN" sz="2400" b="1" dirty="0">
                <a:highlight>
                  <a:srgbClr val="FFFF00"/>
                </a:highlight>
              </a:rPr>
              <a:t>similar to those of alkanes and alkenes of similar molecular weights</a:t>
            </a:r>
            <a:r>
              <a:rPr lang="en-US" altLang="zh-CN" sz="2400" b="1" dirty="0"/>
              <a:t>.</a:t>
            </a:r>
          </a:p>
          <a:p>
            <a:pPr marL="285750" indent="-285750">
              <a:buFont typeface="Arial" panose="020B0604020202020204" pitchFamily="34" charset="0"/>
              <a:buChar char="•"/>
            </a:pPr>
            <a:r>
              <a:rPr lang="en-US" altLang="zh-CN" sz="2400" b="1" dirty="0">
                <a:solidFill>
                  <a:srgbClr val="0000FF"/>
                </a:solidFill>
              </a:rPr>
              <a:t>Solubility</a:t>
            </a:r>
            <a:r>
              <a:rPr lang="en-US" altLang="zh-CN" sz="2400" b="1" dirty="0"/>
              <a:t>: nearly insoluble in water; quite soluble in most organic solvents.</a:t>
            </a:r>
          </a:p>
          <a:p>
            <a:pPr marL="285750" indent="-285750">
              <a:buFont typeface="Arial" panose="020B0604020202020204" pitchFamily="34" charset="0"/>
              <a:buChar char="•"/>
            </a:pPr>
            <a:r>
              <a:rPr lang="en-US" altLang="zh-CN" sz="2400" b="1" dirty="0">
                <a:solidFill>
                  <a:srgbClr val="0000FF"/>
                </a:solidFill>
              </a:rPr>
              <a:t>Boiling points</a:t>
            </a:r>
            <a:r>
              <a:rPr lang="en-US" altLang="zh-CN" sz="2400" b="1" dirty="0"/>
              <a:t>: nearly the same as those of alkanes and alkenes with similar carbon skeletons.</a:t>
            </a:r>
          </a:p>
          <a:p>
            <a:pPr marL="285750" indent="-285750">
              <a:buFont typeface="Arial" panose="020B0604020202020204" pitchFamily="34" charset="0"/>
              <a:buChar char="•"/>
            </a:pPr>
            <a:r>
              <a:rPr lang="en-US" altLang="zh-CN" sz="2400" b="1" dirty="0">
                <a:solidFill>
                  <a:srgbClr val="0000FF"/>
                </a:solidFill>
              </a:rPr>
              <a:t>Density</a:t>
            </a:r>
            <a:r>
              <a:rPr lang="en-US" altLang="zh-CN" sz="2400" b="1" dirty="0"/>
              <a:t>: less dense than water, 0.6-0.8 g/cm</a:t>
            </a:r>
            <a:r>
              <a:rPr lang="en-US" altLang="zh-CN" sz="2400" b="1" baseline="30000" dirty="0"/>
              <a:t>3</a:t>
            </a:r>
            <a:r>
              <a:rPr lang="en-US" altLang="zh-CN" sz="2400" b="1" dirty="0"/>
              <a:t>.</a:t>
            </a:r>
          </a:p>
          <a:p>
            <a:pPr marL="285750" indent="-285750">
              <a:buFont typeface="Arial" panose="020B0604020202020204" pitchFamily="34" charset="0"/>
              <a:buChar char="•"/>
            </a:pPr>
            <a:r>
              <a:rPr lang="en-US" altLang="zh-CN" sz="2400" b="1" dirty="0">
                <a:solidFill>
                  <a:srgbClr val="0000FF"/>
                </a:solidFill>
              </a:rPr>
              <a:t>Odors</a:t>
            </a:r>
            <a:r>
              <a:rPr lang="en-US" altLang="zh-CN" sz="2400" b="1" dirty="0"/>
              <a:t>: many alkynes have characteristic, mildly offensive odors.</a:t>
            </a:r>
            <a:endParaRPr lang="zh-CN" altLang="en-US" sz="2400" b="1" dirty="0"/>
          </a:p>
        </p:txBody>
      </p:sp>
    </p:spTree>
    <p:extLst>
      <p:ext uri="{BB962C8B-B14F-4D97-AF65-F5344CB8AC3E}">
        <p14:creationId xmlns:p14="http://schemas.microsoft.com/office/powerpoint/2010/main" val="3062094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3480478" y="2240964"/>
            <a:ext cx="360040" cy="432048"/>
          </a:xfrm>
          <a:prstGeom prst="ellipse">
            <a:avLst/>
          </a:prstGeom>
          <a:solidFill>
            <a:srgbClr val="FFFF00"/>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0" y="209427"/>
            <a:ext cx="9696400" cy="523220"/>
          </a:xfrm>
          <a:prstGeom prst="rect">
            <a:avLst/>
          </a:prstGeom>
          <a:solidFill>
            <a:schemeClr val="tx2">
              <a:lumMod val="20000"/>
              <a:lumOff val="80000"/>
            </a:schemeClr>
          </a:solidFill>
        </p:spPr>
        <p:txBody>
          <a:bodyPr wrap="square" rtlCol="0">
            <a:spAutoFit/>
          </a:bodyPr>
          <a:lstStyle/>
          <a:p>
            <a:r>
              <a:rPr lang="en-US" altLang="zh-CN" sz="2800" b="1" dirty="0">
                <a:latin typeface="Microsoft Sans Serif" panose="020B0604020202020204" pitchFamily="34" charset="0"/>
                <a:ea typeface="Microsoft Sans Serif" panose="020B0604020202020204" pitchFamily="34" charset="0"/>
                <a:cs typeface="Microsoft Sans Serif" panose="020B0604020202020204" pitchFamily="34" charset="0"/>
              </a:rPr>
              <a:t>4-11 Acidity of Terminal Alkynes: formation of Alkynide Ions</a:t>
            </a:r>
            <a:endParaRPr lang="zh-CN" altLang="en-US" sz="2800" b="1" dirty="0">
              <a:latin typeface="Microsoft Sans Serif" panose="020B0604020202020204" pitchFamily="34" charset="0"/>
              <a:cs typeface="Microsoft Sans Serif" panose="020B0604020202020204" pitchFamily="34" charset="0"/>
            </a:endParaRPr>
          </a:p>
        </p:txBody>
      </p:sp>
      <p:sp>
        <p:nvSpPr>
          <p:cNvPr id="4" name="TextBox 3"/>
          <p:cNvSpPr txBox="1"/>
          <p:nvPr/>
        </p:nvSpPr>
        <p:spPr>
          <a:xfrm>
            <a:off x="322214" y="798581"/>
            <a:ext cx="11354890" cy="3170099"/>
          </a:xfrm>
          <a:prstGeom prst="rect">
            <a:avLst/>
          </a:prstGeom>
          <a:solidFill>
            <a:schemeClr val="bg1"/>
          </a:solid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 alkyne with the triple bond coming at the end of the carbon chain is called a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terminal 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a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terminal 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there is an</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acetylenic hydrogen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H</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CC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An alkyne with the triple bond located somewhere other than the end of the carbon chain is called an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internal 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There is no acetylenic hydrogen in an internal alkyne.</a:t>
            </a: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Many of an alkyne’s chemical properties depend on</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whether it is a terminal 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endParaRPr>
          </a:p>
        </p:txBody>
      </p:sp>
      <p:sp>
        <p:nvSpPr>
          <p:cNvPr id="9" name="TextBox 8"/>
          <p:cNvSpPr txBox="1"/>
          <p:nvPr/>
        </p:nvSpPr>
        <p:spPr>
          <a:xfrm>
            <a:off x="2688390" y="2147715"/>
            <a:ext cx="2304256" cy="707886"/>
          </a:xfrm>
          <a:prstGeom prst="rect">
            <a:avLst/>
          </a:prstGeom>
          <a:noFill/>
        </p:spPr>
        <p:txBody>
          <a:bodyPr wrap="square" rtlCol="0">
            <a:spAutoFit/>
          </a:bodyPr>
          <a:lstStyle/>
          <a:p>
            <a:r>
              <a:rPr lang="en-US" altLang="zh-CN" sz="2000" b="1" i="1" dirty="0">
                <a:solidFill>
                  <a:srgbClr val="FF0000"/>
                </a:solidFill>
                <a:latin typeface="Consolas" panose="020B0609020204030204" pitchFamily="49" charset="0"/>
              </a:rPr>
              <a:t>acetylenic hydrogen</a:t>
            </a:r>
            <a:endParaRPr lang="zh-CN" altLang="en-US" sz="2000" b="1" i="1" dirty="0">
              <a:solidFill>
                <a:srgbClr val="FF0000"/>
              </a:solidFill>
              <a:latin typeface="Consolas" panose="020B0609020204030204" pitchFamily="49" charset="0"/>
            </a:endParaRPr>
          </a:p>
        </p:txBody>
      </p:sp>
      <p:sp>
        <p:nvSpPr>
          <p:cNvPr id="10" name="TextBox 9"/>
          <p:cNvSpPr txBox="1"/>
          <p:nvPr/>
        </p:nvSpPr>
        <p:spPr>
          <a:xfrm>
            <a:off x="322214" y="4678379"/>
            <a:ext cx="10513168"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Terminal akynes RC</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H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are</a:t>
            </a:r>
            <a:r>
              <a:rPr lang="en-US" altLang="zh-CN" sz="2000" b="1" dirty="0">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much</a:t>
            </a:r>
            <a:r>
              <a:rPr lang="en-US" altLang="zh-CN" sz="2000" b="1" dirty="0">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more </a:t>
            </a:r>
            <a:r>
              <a:rPr lang="en-US" altLang="zh-CN" sz="20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acidic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than corresponding alkenes and alkanes.</a:t>
            </a:r>
          </a:p>
        </p:txBody>
      </p:sp>
      <p:sp>
        <p:nvSpPr>
          <p:cNvPr id="11" name="灯片编号占位符 10"/>
          <p:cNvSpPr>
            <a:spLocks noGrp="1"/>
          </p:cNvSpPr>
          <p:nvPr>
            <p:ph type="sldNum" sz="quarter" idx="12"/>
          </p:nvPr>
        </p:nvSpPr>
        <p:spPr>
          <a:xfrm>
            <a:off x="8832304" y="6356351"/>
            <a:ext cx="2844800" cy="365125"/>
          </a:xfrm>
        </p:spPr>
        <p:txBody>
          <a:bodyPr/>
          <a:lstStyle/>
          <a:p>
            <a:fld id="{0C913308-F349-4B6D-A68A-DD1791B4A57B}" type="slidenum">
              <a:rPr lang="zh-CN" altLang="en-US" smtClean="0"/>
              <a:pPr/>
              <a:t>34</a:t>
            </a:fld>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3824503154"/>
              </p:ext>
            </p:extLst>
          </p:nvPr>
        </p:nvGraphicFramePr>
        <p:xfrm>
          <a:off x="4439816" y="2179737"/>
          <a:ext cx="5907843" cy="1347119"/>
        </p:xfrm>
        <a:graphic>
          <a:graphicData uri="http://schemas.openxmlformats.org/presentationml/2006/ole">
            <mc:AlternateContent xmlns:mc="http://schemas.openxmlformats.org/markup-compatibility/2006">
              <mc:Choice xmlns:v="urn:schemas-microsoft-com:vml" Requires="v">
                <p:oleObj name="CS ChemDraw Drawing" r:id="rId2" imgW="2889386" imgH="658447" progId="ChemDraw.Document.6.0">
                  <p:embed/>
                </p:oleObj>
              </mc:Choice>
              <mc:Fallback>
                <p:oleObj name="CS ChemDraw Drawing" r:id="rId2" imgW="2889386" imgH="658447" progId="ChemDraw.Document.6.0">
                  <p:embed/>
                  <p:pic>
                    <p:nvPicPr>
                      <p:cNvPr id="2" name="对象 1"/>
                      <p:cNvPicPr/>
                      <p:nvPr/>
                    </p:nvPicPr>
                    <p:blipFill>
                      <a:blip r:embed="rId3"/>
                      <a:stretch>
                        <a:fillRect/>
                      </a:stretch>
                    </p:blipFill>
                    <p:spPr>
                      <a:xfrm>
                        <a:off x="4439816" y="2179737"/>
                        <a:ext cx="5907843" cy="1347119"/>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50712840"/>
              </p:ext>
            </p:extLst>
          </p:nvPr>
        </p:nvGraphicFramePr>
        <p:xfrm>
          <a:off x="3485880" y="5181906"/>
          <a:ext cx="5387072" cy="1539569"/>
        </p:xfrm>
        <a:graphic>
          <a:graphicData uri="http://schemas.openxmlformats.org/presentationml/2006/ole">
            <mc:AlternateContent xmlns:mc="http://schemas.openxmlformats.org/markup-compatibility/2006">
              <mc:Choice xmlns:v="urn:schemas-microsoft-com:vml" Requires="v">
                <p:oleObj name="CS ChemDraw Drawing" r:id="rId4" imgW="3015646" imgH="862205" progId="ChemDraw.Document.6.0">
                  <p:embed/>
                </p:oleObj>
              </mc:Choice>
              <mc:Fallback>
                <p:oleObj name="CS ChemDraw Drawing" r:id="rId4" imgW="3015646" imgH="862205" progId="ChemDraw.Document.6.0">
                  <p:embed/>
                  <p:pic>
                    <p:nvPicPr>
                      <p:cNvPr id="6" name="对象 5"/>
                      <p:cNvPicPr/>
                      <p:nvPr/>
                    </p:nvPicPr>
                    <p:blipFill>
                      <a:blip r:embed="rId5"/>
                      <a:stretch>
                        <a:fillRect/>
                      </a:stretch>
                    </p:blipFill>
                    <p:spPr>
                      <a:xfrm>
                        <a:off x="3485880" y="5181906"/>
                        <a:ext cx="5387072" cy="1539569"/>
                      </a:xfrm>
                      <a:prstGeom prst="rect">
                        <a:avLst/>
                      </a:prstGeom>
                    </p:spPr>
                  </p:pic>
                </p:oleObj>
              </mc:Fallback>
            </mc:AlternateContent>
          </a:graphicData>
        </a:graphic>
      </p:graphicFrame>
      <p:sp>
        <p:nvSpPr>
          <p:cNvPr id="8" name="矩形 7"/>
          <p:cNvSpPr/>
          <p:nvPr/>
        </p:nvSpPr>
        <p:spPr>
          <a:xfrm>
            <a:off x="0" y="4092697"/>
            <a:ext cx="4852610" cy="461665"/>
          </a:xfrm>
          <a:prstGeom prst="rect">
            <a:avLst/>
          </a:prstGeom>
          <a:solidFill>
            <a:schemeClr val="tx2">
              <a:lumMod val="20000"/>
              <a:lumOff val="80000"/>
            </a:schemeClr>
          </a:solidFill>
          <a:ln>
            <a:noFill/>
          </a:ln>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4-11-1 Acidity of Terminal Alkynes</a:t>
            </a:r>
            <a:endParaRPr lang="zh-CN" altLang="en-US" sz="2400"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E50A3EEA-5D01-42DC-A742-D68999E43D3E}"/>
              </a:ext>
            </a:extLst>
          </p:cNvPr>
          <p:cNvSpPr/>
          <p:nvPr/>
        </p:nvSpPr>
        <p:spPr>
          <a:xfrm>
            <a:off x="6384032" y="3936694"/>
            <a:ext cx="5198368" cy="258865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35</a:t>
            </a:fld>
            <a:endParaRPr lang="zh-CN" altLang="en-US"/>
          </a:p>
        </p:txBody>
      </p:sp>
      <p:sp>
        <p:nvSpPr>
          <p:cNvPr id="3" name="矩形 2"/>
          <p:cNvSpPr/>
          <p:nvPr/>
        </p:nvSpPr>
        <p:spPr>
          <a:xfrm>
            <a:off x="205136" y="185762"/>
            <a:ext cx="11377264" cy="707886"/>
          </a:xfrm>
          <a:prstGeom prst="rect">
            <a:avLst/>
          </a:prstGeom>
        </p:spPr>
        <p:txBody>
          <a:bodyPr wrap="square">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acidity of an acetylenic hydrogen stems from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nature of the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hybridization of the carbon atom</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zh-CN" altLang="en-US" sz="2000" dirty="0">
              <a:latin typeface="Microsoft Sans Serif" panose="020B0604020202020204" pitchFamily="34" charset="0"/>
              <a:cs typeface="Microsoft Sans Serif" panose="020B0604020202020204" pitchFamily="34" charset="0"/>
            </a:endParaRPr>
          </a:p>
        </p:txBody>
      </p:sp>
      <p:sp>
        <p:nvSpPr>
          <p:cNvPr id="4" name="矩形 3"/>
          <p:cNvSpPr/>
          <p:nvPr/>
        </p:nvSpPr>
        <p:spPr>
          <a:xfrm>
            <a:off x="170613" y="5657134"/>
            <a:ext cx="6659886" cy="1015663"/>
          </a:xfrm>
          <a:prstGeom prst="rect">
            <a:avLst/>
          </a:prstGeom>
        </p:spPr>
        <p:txBody>
          <a:bodyPr wrap="square">
            <a:spAutoFit/>
          </a:bodyPr>
          <a:lstStyle/>
          <a:p>
            <a:pPr marL="285750" indent="-285750">
              <a:buFont typeface="Arial" panose="020B0604020202020204" pitchFamily="34" charset="0"/>
              <a:buChar char="•"/>
            </a:pPr>
            <a:r>
              <a:rPr lang="en-US" altLang="zh-CN" sz="2000" b="1" dirty="0">
                <a:solidFill>
                  <a:srgbClr val="FF3300"/>
                </a:solidFill>
                <a:latin typeface="Microsoft Sans Serif" panose="020B0604020202020204" pitchFamily="34" charset="0"/>
                <a:ea typeface="Microsoft Sans Serif" panose="020B0604020202020204" pitchFamily="34" charset="0"/>
                <a:cs typeface="Microsoft Sans Serif" panose="020B0604020202020204" pitchFamily="34" charset="0"/>
              </a:rPr>
              <a:t>The acidity of a C</a:t>
            </a:r>
            <a:r>
              <a:rPr lang="en-US" altLang="zh-CN" sz="2000" b="1" dirty="0">
                <a:solidFill>
                  <a:srgbClr val="FF33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H bond increases with the increasing </a:t>
            </a:r>
            <a:r>
              <a:rPr lang="en-US" altLang="zh-CN" sz="2000" b="1" i="1" dirty="0">
                <a:solidFill>
                  <a:srgbClr val="FF33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s</a:t>
            </a:r>
            <a:r>
              <a:rPr lang="en-US" altLang="zh-CN" sz="2000" b="1" dirty="0">
                <a:solidFill>
                  <a:srgbClr val="FF33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character of the orbitals of the carbon atoms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t>
            </a:r>
            <a:r>
              <a:rPr lang="en-US" altLang="zh-CN" sz="2000" b="1" i="1" dirty="0" err="1">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sp</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&gt;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sp</a:t>
            </a:r>
            <a:r>
              <a:rPr lang="en-US" altLang="zh-CN" sz="2000" b="1" baseline="30000"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2</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&gt; </a:t>
            </a:r>
            <a:r>
              <a:rPr lang="en-US" altLang="zh-CN" sz="2000" b="1" i="1" dirty="0" err="1">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sp</a:t>
            </a:r>
            <a:endParaRPr lang="zh-CN" altLang="en-US" sz="2000" b="1" i="1" dirty="0">
              <a:solidFill>
                <a:srgbClr val="0000FF"/>
              </a:solidFill>
              <a:latin typeface="Microsoft Sans Serif" panose="020B0604020202020204" pitchFamily="34" charset="0"/>
              <a:cs typeface="Microsoft Sans Serif"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197079591"/>
              </p:ext>
            </p:extLst>
          </p:nvPr>
        </p:nvGraphicFramePr>
        <p:xfrm>
          <a:off x="1990753" y="742318"/>
          <a:ext cx="8141887" cy="1430683"/>
        </p:xfrm>
        <a:graphic>
          <a:graphicData uri="http://schemas.openxmlformats.org/presentationml/2006/ole">
            <mc:AlternateContent xmlns:mc="http://schemas.openxmlformats.org/markup-compatibility/2006">
              <mc:Choice xmlns:v="urn:schemas-microsoft-com:vml" Requires="v">
                <p:oleObj name="CS ChemDraw Drawing" r:id="rId2" imgW="3974434" imgH="699278" progId="ChemDraw.Document.6.0">
                  <p:embed/>
                </p:oleObj>
              </mc:Choice>
              <mc:Fallback>
                <p:oleObj name="CS ChemDraw Drawing" r:id="rId2" imgW="3974434" imgH="699278" progId="ChemDraw.Document.6.0">
                  <p:embed/>
                  <p:pic>
                    <p:nvPicPr>
                      <p:cNvPr id="5" name="对象 4"/>
                      <p:cNvPicPr/>
                      <p:nvPr/>
                    </p:nvPicPr>
                    <p:blipFill>
                      <a:blip r:embed="rId3"/>
                      <a:stretch>
                        <a:fillRect/>
                      </a:stretch>
                    </p:blipFill>
                    <p:spPr>
                      <a:xfrm>
                        <a:off x="1990753" y="742318"/>
                        <a:ext cx="8141887" cy="1430683"/>
                      </a:xfrm>
                      <a:prstGeom prst="rect">
                        <a:avLst/>
                      </a:prstGeom>
                    </p:spPr>
                  </p:pic>
                </p:oleObj>
              </mc:Fallback>
            </mc:AlternateContent>
          </a:graphicData>
        </a:graphic>
      </p:graphicFrame>
      <p:sp>
        <p:nvSpPr>
          <p:cNvPr id="6" name="文本框 5"/>
          <p:cNvSpPr txBox="1"/>
          <p:nvPr/>
        </p:nvSpPr>
        <p:spPr>
          <a:xfrm>
            <a:off x="300210" y="3385132"/>
            <a:ext cx="11008142"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 </a:t>
            </a:r>
            <a:r>
              <a:rPr lang="en-US" altLang="zh-CN" sz="2000" b="1" i="1" dirty="0" err="1">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hybrid orbital has more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character than an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baseline="30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hybrid orbital and an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baseline="30000" dirty="0">
                <a:latin typeface="Microsoft Sans Serif" panose="020B0604020202020204" pitchFamily="34" charset="0"/>
                <a:ea typeface="Microsoft Sans Serif" panose="020B0604020202020204" pitchFamily="34" charset="0"/>
                <a:cs typeface="Microsoft Sans Serif" panose="020B0604020202020204" pitchFamily="34" charset="0"/>
              </a:rPr>
              <a:t>3</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hybrid orbital. </a:t>
            </a:r>
            <a:endParaRPr lang="zh-CN" altLang="en-US" sz="2000" b="1" dirty="0">
              <a:latin typeface="Microsoft Sans Serif" panose="020B0604020202020204" pitchFamily="34" charset="0"/>
              <a:cs typeface="Microsoft Sans Serif" panose="020B0604020202020204" pitchFamily="34" charset="0"/>
            </a:endParaRPr>
          </a:p>
        </p:txBody>
      </p:sp>
      <p:sp>
        <p:nvSpPr>
          <p:cNvPr id="8" name="文本框 7"/>
          <p:cNvSpPr txBox="1"/>
          <p:nvPr/>
        </p:nvSpPr>
        <p:spPr>
          <a:xfrm>
            <a:off x="3287688" y="2310350"/>
            <a:ext cx="4575291" cy="923330"/>
          </a:xfrm>
          <a:prstGeom prst="rect">
            <a:avLst/>
          </a:prstGeom>
          <a:noFill/>
          <a:ln w="38100">
            <a:solidFill>
              <a:srgbClr val="00CC00"/>
            </a:solidFill>
          </a:ln>
        </p:spPr>
        <p:txBody>
          <a:bodyPr wrap="none" rtlCol="0">
            <a:spAutoFit/>
          </a:bodyPr>
          <a:lstStyle/>
          <a:p>
            <a:r>
              <a:rPr lang="en-US" altLang="zh-CN" b="1" i="1" dirty="0" err="1">
                <a:latin typeface="Consolas" panose="020B0609020204030204" pitchFamily="49" charset="0"/>
              </a:rPr>
              <a:t>sp</a:t>
            </a:r>
            <a:r>
              <a:rPr lang="en-US" altLang="zh-CN" b="1" dirty="0">
                <a:latin typeface="Consolas" panose="020B0609020204030204" pitchFamily="49" charset="0"/>
              </a:rPr>
              <a:t> hybrid orbital: 1/2 </a:t>
            </a:r>
            <a:r>
              <a:rPr lang="en-US" altLang="zh-CN" b="1" i="1" dirty="0">
                <a:latin typeface="Consolas" panose="020B0609020204030204" pitchFamily="49" charset="0"/>
              </a:rPr>
              <a:t>s</a:t>
            </a:r>
            <a:r>
              <a:rPr lang="en-US" altLang="zh-CN" b="1" dirty="0">
                <a:latin typeface="Consolas" panose="020B0609020204030204" pitchFamily="49" charset="0"/>
              </a:rPr>
              <a:t> character</a:t>
            </a:r>
          </a:p>
          <a:p>
            <a:r>
              <a:rPr lang="en-US" altLang="zh-CN" b="1" i="1" dirty="0">
                <a:latin typeface="Consolas" panose="020B0609020204030204" pitchFamily="49" charset="0"/>
              </a:rPr>
              <a:t>sp</a:t>
            </a:r>
            <a:r>
              <a:rPr lang="en-US" altLang="zh-CN" b="1" baseline="30000" dirty="0">
                <a:latin typeface="Consolas" panose="020B0609020204030204" pitchFamily="49" charset="0"/>
              </a:rPr>
              <a:t>2</a:t>
            </a:r>
            <a:r>
              <a:rPr lang="en-US" altLang="zh-CN" b="1" dirty="0">
                <a:latin typeface="Consolas" panose="020B0609020204030204" pitchFamily="49" charset="0"/>
              </a:rPr>
              <a:t> hybrid orbital: 1/3 </a:t>
            </a:r>
            <a:r>
              <a:rPr lang="en-US" altLang="zh-CN" b="1" i="1" dirty="0">
                <a:latin typeface="Consolas" panose="020B0609020204030204" pitchFamily="49" charset="0"/>
              </a:rPr>
              <a:t>s</a:t>
            </a:r>
            <a:r>
              <a:rPr lang="en-US" altLang="zh-CN" b="1" dirty="0">
                <a:latin typeface="Consolas" panose="020B0609020204030204" pitchFamily="49" charset="0"/>
              </a:rPr>
              <a:t> character</a:t>
            </a:r>
          </a:p>
          <a:p>
            <a:r>
              <a:rPr lang="en-US" altLang="zh-CN" b="1" i="1" dirty="0">
                <a:latin typeface="Consolas" panose="020B0609020204030204" pitchFamily="49" charset="0"/>
              </a:rPr>
              <a:t>sp</a:t>
            </a:r>
            <a:r>
              <a:rPr lang="en-US" altLang="zh-CN" b="1" baseline="30000" dirty="0">
                <a:latin typeface="Consolas" panose="020B0609020204030204" pitchFamily="49" charset="0"/>
              </a:rPr>
              <a:t>3</a:t>
            </a:r>
            <a:r>
              <a:rPr lang="en-US" altLang="zh-CN" b="1" dirty="0">
                <a:latin typeface="Consolas" panose="020B0609020204030204" pitchFamily="49" charset="0"/>
              </a:rPr>
              <a:t> hybrid orbital: 1/4 </a:t>
            </a:r>
            <a:r>
              <a:rPr lang="en-US" altLang="zh-CN" b="1" i="1" dirty="0">
                <a:latin typeface="Consolas" panose="020B0609020204030204" pitchFamily="49" charset="0"/>
              </a:rPr>
              <a:t>s</a:t>
            </a:r>
            <a:r>
              <a:rPr lang="en-US" altLang="zh-CN" b="1" dirty="0">
                <a:latin typeface="Consolas" panose="020B0609020204030204" pitchFamily="49" charset="0"/>
              </a:rPr>
              <a:t> character</a:t>
            </a:r>
            <a:endParaRPr lang="zh-CN" altLang="en-US" b="1" dirty="0">
              <a:latin typeface="Consolas" panose="020B0609020204030204" pitchFamily="49" charset="0"/>
            </a:endParaRPr>
          </a:p>
        </p:txBody>
      </p:sp>
      <p:sp>
        <p:nvSpPr>
          <p:cNvPr id="7" name="文本框 6"/>
          <p:cNvSpPr txBox="1"/>
          <p:nvPr/>
        </p:nvSpPr>
        <p:spPr>
          <a:xfrm>
            <a:off x="6384032" y="3936694"/>
            <a:ext cx="5099751" cy="2554545"/>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Electron in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orbital is closer, tightly held by the nucleus:</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More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character of the orbital, closer the bonding electrons to the carbon atom.</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C-H is more polar, increasing the tendency of transferring the bonding electrons to the direction of carbon atom.</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048412276"/>
              </p:ext>
            </p:extLst>
          </p:nvPr>
        </p:nvGraphicFramePr>
        <p:xfrm>
          <a:off x="433234" y="3836393"/>
          <a:ext cx="5528595" cy="1769590"/>
        </p:xfrm>
        <a:graphic>
          <a:graphicData uri="http://schemas.openxmlformats.org/presentationml/2006/ole">
            <mc:AlternateContent xmlns:mc="http://schemas.openxmlformats.org/markup-compatibility/2006">
              <mc:Choice xmlns:v="urn:schemas-microsoft-com:vml" Requires="v">
                <p:oleObj name="CS ChemDraw Drawing" r:id="rId4" imgW="3193988" imgH="1022357" progId="ChemDraw.Document.6.0">
                  <p:embed/>
                </p:oleObj>
              </mc:Choice>
              <mc:Fallback>
                <p:oleObj name="CS ChemDraw Drawing" r:id="rId4" imgW="3193988" imgH="1022357" progId="ChemDraw.Document.6.0">
                  <p:embed/>
                  <p:pic>
                    <p:nvPicPr>
                      <p:cNvPr id="9" name="对象 8"/>
                      <p:cNvPicPr/>
                      <p:nvPr/>
                    </p:nvPicPr>
                    <p:blipFill>
                      <a:blip r:embed="rId5"/>
                      <a:stretch>
                        <a:fillRect/>
                      </a:stretch>
                    </p:blipFill>
                    <p:spPr>
                      <a:xfrm>
                        <a:off x="433234" y="3836393"/>
                        <a:ext cx="5528595" cy="1769590"/>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83F0C6AE-EACD-4609-8AD6-017B555E9949}"/>
              </a:ext>
            </a:extLst>
          </p:cNvPr>
          <p:cNvSpPr/>
          <p:nvPr/>
        </p:nvSpPr>
        <p:spPr>
          <a:xfrm>
            <a:off x="2639616" y="4390125"/>
            <a:ext cx="5976664" cy="66321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云形标注 13"/>
          <p:cNvSpPr/>
          <p:nvPr/>
        </p:nvSpPr>
        <p:spPr>
          <a:xfrm>
            <a:off x="767408" y="5881345"/>
            <a:ext cx="2844661" cy="792088"/>
          </a:xfrm>
          <a:prstGeom prst="cloudCallout">
            <a:avLst>
              <a:gd name="adj1" fmla="val 58922"/>
              <a:gd name="adj2" fmla="val 9135"/>
            </a:avLst>
          </a:prstGeom>
          <a:solidFill>
            <a:schemeClr val="accent6">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36</a:t>
            </a:fld>
            <a:endParaRPr lang="zh-CN" altLang="en-US"/>
          </a:p>
        </p:txBody>
      </p:sp>
      <p:sp>
        <p:nvSpPr>
          <p:cNvPr id="3" name="矩形 2"/>
          <p:cNvSpPr/>
          <p:nvPr/>
        </p:nvSpPr>
        <p:spPr>
          <a:xfrm>
            <a:off x="2656925" y="4391553"/>
            <a:ext cx="6080675" cy="646331"/>
          </a:xfrm>
          <a:prstGeom prst="rect">
            <a:avLst/>
          </a:prstGeom>
        </p:spPr>
        <p:txBody>
          <a:bodyPr wrap="square">
            <a:spAutoFit/>
          </a:bodyPr>
          <a:lstStyle/>
          <a:p>
            <a:r>
              <a:rPr lang="en-US" altLang="zh-CN" b="1" dirty="0">
                <a:latin typeface="Consolas" panose="020B0609020204030204" pitchFamily="49" charset="0"/>
                <a:sym typeface="Symbol"/>
              </a:rPr>
              <a:t>Alkynide ions are strong carbon nucleophiles which play a central role in alkyne chemistry.</a:t>
            </a:r>
            <a:endParaRPr lang="zh-CN" altLang="en-US" b="1" dirty="0">
              <a:latin typeface="Consolas" panose="020B0609020204030204" pitchFamily="49" charset="0"/>
            </a:endParaRPr>
          </a:p>
        </p:txBody>
      </p:sp>
      <p:sp>
        <p:nvSpPr>
          <p:cNvPr id="8" name="矩形 7"/>
          <p:cNvSpPr/>
          <p:nvPr/>
        </p:nvSpPr>
        <p:spPr>
          <a:xfrm>
            <a:off x="0" y="242464"/>
            <a:ext cx="4798108" cy="461665"/>
          </a:xfrm>
          <a:prstGeom prst="rect">
            <a:avLst/>
          </a:prstGeom>
          <a:solidFill>
            <a:schemeClr val="tx2">
              <a:lumMod val="20000"/>
              <a:lumOff val="80000"/>
            </a:schemeClr>
          </a:solidFill>
          <a:ln>
            <a:noFill/>
          </a:ln>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4-11-2 Formation of Alkynide Ions</a:t>
            </a:r>
            <a:endParaRPr lang="zh-CN" altLang="en-US" sz="2400" dirty="0">
              <a:latin typeface="Microsoft Sans Serif" panose="020B0604020202020204" pitchFamily="34" charset="0"/>
              <a:cs typeface="Microsoft Sans Serif" panose="020B0604020202020204"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6666758"/>
              </p:ext>
            </p:extLst>
          </p:nvPr>
        </p:nvGraphicFramePr>
        <p:xfrm>
          <a:off x="2045059" y="1183519"/>
          <a:ext cx="8542165" cy="1232890"/>
        </p:xfrm>
        <a:graphic>
          <a:graphicData uri="http://schemas.openxmlformats.org/presentationml/2006/ole">
            <mc:AlternateContent xmlns:mc="http://schemas.openxmlformats.org/markup-compatibility/2006">
              <mc:Choice xmlns:v="urn:schemas-microsoft-com:vml" Requires="v">
                <p:oleObj name="CS ChemDraw Drawing" r:id="rId2" imgW="4465271" imgH="644573" progId="ChemDraw.Document.6.0">
                  <p:embed/>
                </p:oleObj>
              </mc:Choice>
              <mc:Fallback>
                <p:oleObj name="CS ChemDraw Drawing" r:id="rId2" imgW="4465271" imgH="644573" progId="ChemDraw.Document.6.0">
                  <p:embed/>
                  <p:pic>
                    <p:nvPicPr>
                      <p:cNvPr id="4" name="对象 3"/>
                      <p:cNvPicPr/>
                      <p:nvPr/>
                    </p:nvPicPr>
                    <p:blipFill>
                      <a:blip r:embed="rId3"/>
                      <a:stretch>
                        <a:fillRect/>
                      </a:stretch>
                    </p:blipFill>
                    <p:spPr>
                      <a:xfrm>
                        <a:off x="2045059" y="1183519"/>
                        <a:ext cx="8542165" cy="1232890"/>
                      </a:xfrm>
                      <a:prstGeom prst="rect">
                        <a:avLst/>
                      </a:prstGeom>
                      <a:ln w="28575">
                        <a:solidFill>
                          <a:schemeClr val="bg1">
                            <a:lumMod val="75000"/>
                          </a:schemeClr>
                        </a:solidFill>
                      </a:ln>
                    </p:spPr>
                  </p:pic>
                </p:oleObj>
              </mc:Fallback>
            </mc:AlternateContent>
          </a:graphicData>
        </a:graphic>
      </p:graphicFrame>
      <p:sp>
        <p:nvSpPr>
          <p:cNvPr id="5" name="文本框 4"/>
          <p:cNvSpPr txBox="1"/>
          <p:nvPr/>
        </p:nvSpPr>
        <p:spPr>
          <a:xfrm>
            <a:off x="303095" y="728785"/>
            <a:ext cx="11769569"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presence of a very strong base helps remove the acidic acetylenic H, providing an alkynide ion.</a:t>
            </a:r>
            <a:endParaRPr lang="zh-CN" altLang="en-US" sz="2000" b="1" dirty="0">
              <a:latin typeface="Microsoft Sans Serif" panose="020B0604020202020204" pitchFamily="34" charset="0"/>
              <a:cs typeface="Microsoft Sans Serif" panose="020B0604020202020204" pitchFamily="34" charset="0"/>
            </a:endParaRPr>
          </a:p>
        </p:txBody>
      </p:sp>
      <p:sp>
        <p:nvSpPr>
          <p:cNvPr id="11" name="矩形 10"/>
          <p:cNvSpPr/>
          <p:nvPr/>
        </p:nvSpPr>
        <p:spPr>
          <a:xfrm>
            <a:off x="338594" y="2471033"/>
            <a:ext cx="11518046" cy="707886"/>
          </a:xfrm>
          <a:prstGeom prst="rect">
            <a:avLst/>
          </a:prstGeom>
        </p:spPr>
        <p:txBody>
          <a:bodyPr wrap="square">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Very strong base such as sodium amide (NaNH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is needed to deprotonate a terminal alkyne, because acetylenic H is only slightly acidic.</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372491554"/>
              </p:ext>
            </p:extLst>
          </p:nvPr>
        </p:nvGraphicFramePr>
        <p:xfrm>
          <a:off x="1345455" y="3233543"/>
          <a:ext cx="8015250" cy="1206990"/>
        </p:xfrm>
        <a:graphic>
          <a:graphicData uri="http://schemas.openxmlformats.org/presentationml/2006/ole">
            <mc:AlternateContent xmlns:mc="http://schemas.openxmlformats.org/markup-compatibility/2006">
              <mc:Choice xmlns:v="urn:schemas-microsoft-com:vml" Requires="v">
                <p:oleObj name="CS ChemDraw Drawing" r:id="rId4" imgW="4870487" imgH="734163" progId="ChemDraw.Document.6.0">
                  <p:embed/>
                </p:oleObj>
              </mc:Choice>
              <mc:Fallback>
                <p:oleObj name="CS ChemDraw Drawing" r:id="rId4" imgW="4870487" imgH="734163" progId="ChemDraw.Document.6.0">
                  <p:embed/>
                  <p:pic>
                    <p:nvPicPr>
                      <p:cNvPr id="6" name="对象 5"/>
                      <p:cNvPicPr/>
                      <p:nvPr/>
                    </p:nvPicPr>
                    <p:blipFill>
                      <a:blip r:embed="rId5"/>
                      <a:stretch>
                        <a:fillRect/>
                      </a:stretch>
                    </p:blipFill>
                    <p:spPr>
                      <a:xfrm>
                        <a:off x="1345455" y="3233543"/>
                        <a:ext cx="8015250" cy="1206990"/>
                      </a:xfrm>
                      <a:prstGeom prst="rect">
                        <a:avLst/>
                      </a:prstGeom>
                    </p:spPr>
                  </p:pic>
                </p:oleObj>
              </mc:Fallback>
            </mc:AlternateContent>
          </a:graphicData>
        </a:graphic>
      </p:graphicFrame>
      <p:sp>
        <p:nvSpPr>
          <p:cNvPr id="7" name="椭圆 6"/>
          <p:cNvSpPr/>
          <p:nvPr/>
        </p:nvSpPr>
        <p:spPr>
          <a:xfrm>
            <a:off x="2831295" y="3233543"/>
            <a:ext cx="576064" cy="4272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03095" y="5158906"/>
            <a:ext cx="9671237"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Internal alkynes do not have acetylenic protons, so they do not react with NaNH</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sp>
        <p:nvSpPr>
          <p:cNvPr id="12" name="矩形 11"/>
          <p:cNvSpPr/>
          <p:nvPr/>
        </p:nvSpPr>
        <p:spPr>
          <a:xfrm>
            <a:off x="1078438" y="6014392"/>
            <a:ext cx="2533631" cy="584775"/>
          </a:xfrm>
          <a:prstGeom prst="rect">
            <a:avLst/>
          </a:prstGeom>
        </p:spPr>
        <p:txBody>
          <a:bodyPr wrap="square">
            <a:spAutoFit/>
          </a:bodyPr>
          <a:lstStyle/>
          <a:p>
            <a:r>
              <a:rPr lang="pt-BR" altLang="zh-CN" sz="1600" b="1" dirty="0">
                <a:latin typeface="Consolas" panose="020B0609020204030204" pitchFamily="49" charset="0"/>
              </a:rPr>
              <a:t>(an internal alkyne, no acetylenic H)</a:t>
            </a:r>
            <a:endParaRPr lang="zh-CN" altLang="en-US" sz="1600" b="1" dirty="0">
              <a:latin typeface="Consolas" panose="020B0609020204030204" pitchFamily="49"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427820706"/>
              </p:ext>
            </p:extLst>
          </p:nvPr>
        </p:nvGraphicFramePr>
        <p:xfrm>
          <a:off x="3772940" y="5617440"/>
          <a:ext cx="5189593" cy="1104036"/>
        </p:xfrm>
        <a:graphic>
          <a:graphicData uri="http://schemas.openxmlformats.org/presentationml/2006/ole">
            <mc:AlternateContent xmlns:mc="http://schemas.openxmlformats.org/markup-compatibility/2006">
              <mc:Choice xmlns:v="urn:schemas-microsoft-com:vml" Requires="v">
                <p:oleObj name="CS ChemDraw Drawing" r:id="rId6" imgW="2642389" imgH="561722" progId="ChemDraw.Document.6.0">
                  <p:embed/>
                </p:oleObj>
              </mc:Choice>
              <mc:Fallback>
                <p:oleObj name="CS ChemDraw Drawing" r:id="rId6" imgW="2642389" imgH="561722" progId="ChemDraw.Document.6.0">
                  <p:embed/>
                  <p:pic>
                    <p:nvPicPr>
                      <p:cNvPr id="13" name="对象 12"/>
                      <p:cNvPicPr/>
                      <p:nvPr/>
                    </p:nvPicPr>
                    <p:blipFill>
                      <a:blip r:embed="rId7"/>
                      <a:stretch>
                        <a:fillRect/>
                      </a:stretch>
                    </p:blipFill>
                    <p:spPr>
                      <a:xfrm>
                        <a:off x="3772940" y="5617440"/>
                        <a:ext cx="5189593" cy="1104036"/>
                      </a:xfrm>
                      <a:prstGeom prst="rect">
                        <a:avLst/>
                      </a:prstGeom>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91344" y="759499"/>
            <a:ext cx="11555574" cy="3170099"/>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 alkynide ion is a strong carbon nucleophile. It can displace a halide ion from a methyl halide or an unhindered 1</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RX to form a substituted alkyne.</a:t>
            </a: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342900" indent="-34290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By such a reaction,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an alkyl group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(Me, or 1)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is bonded to a triple bond carbon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forming </a:t>
            </a:r>
            <a:r>
              <a:rPr lang="en-US" altLang="zh-CN" sz="2000" b="1" dirty="0">
                <a:solidFill>
                  <a:srgbClr val="FF33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 new and elongated alkyne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t>
            </a:r>
            <a:endParaRPr lang="zh-CN" altLang="en-US" sz="2000" b="1" dirty="0">
              <a:latin typeface="Microsoft Sans Serif" panose="020B0604020202020204" pitchFamily="34" charset="0"/>
              <a:cs typeface="Microsoft Sans Serif" panose="020B0604020202020204" pitchFamily="34"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37</a:t>
            </a:fld>
            <a:endParaRPr lang="zh-CN" altLang="en-US"/>
          </a:p>
        </p:txBody>
      </p:sp>
      <p:sp>
        <p:nvSpPr>
          <p:cNvPr id="9" name="TextBox 8"/>
          <p:cNvSpPr txBox="1"/>
          <p:nvPr/>
        </p:nvSpPr>
        <p:spPr>
          <a:xfrm>
            <a:off x="-72902" y="150142"/>
            <a:ext cx="9499716"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4-11-3  Alkylation of Alkynide Ions</a:t>
            </a:r>
            <a:r>
              <a:rPr lang="zh-CN" altLang="en-US" sz="24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Synthesis of substituted alkynes</a:t>
            </a:r>
            <a:endParaRPr lang="zh-CN" altLang="en-US" sz="2400" b="1" dirty="0">
              <a:latin typeface="Microsoft Sans Serif" panose="020B0604020202020204" pitchFamily="34" charset="0"/>
              <a:cs typeface="Microsoft Sans Serif" panose="020B0604020202020204" pitchFamily="34" charset="0"/>
            </a:endParaRPr>
          </a:p>
        </p:txBody>
      </p:sp>
      <p:graphicFrame>
        <p:nvGraphicFramePr>
          <p:cNvPr id="3" name="对象 2">
            <a:extLst>
              <a:ext uri="{FF2B5EF4-FFF2-40B4-BE49-F238E27FC236}">
                <a16:creationId xmlns:a16="http://schemas.microsoft.com/office/drawing/2014/main" id="{B9FD1656-3F48-46B0-A7CD-99612635473A}"/>
              </a:ext>
            </a:extLst>
          </p:cNvPr>
          <p:cNvGraphicFramePr>
            <a:graphicFrameLocks noChangeAspect="1"/>
          </p:cNvGraphicFramePr>
          <p:nvPr>
            <p:extLst>
              <p:ext uri="{D42A27DB-BD31-4B8C-83A1-F6EECF244321}">
                <p14:modId xmlns:p14="http://schemas.microsoft.com/office/powerpoint/2010/main" val="657656999"/>
              </p:ext>
            </p:extLst>
          </p:nvPr>
        </p:nvGraphicFramePr>
        <p:xfrm>
          <a:off x="2618263" y="1470252"/>
          <a:ext cx="6955473" cy="1568308"/>
        </p:xfrm>
        <a:graphic>
          <a:graphicData uri="http://schemas.openxmlformats.org/presentationml/2006/ole">
            <mc:AlternateContent xmlns:mc="http://schemas.openxmlformats.org/markup-compatibility/2006">
              <mc:Choice xmlns:v="urn:schemas-microsoft-com:vml" Requires="v">
                <p:oleObj name="CS ChemDraw Drawing" r:id="rId2" imgW="3899862" imgH="879251" progId="ChemDraw.Document.6.0">
                  <p:embed/>
                </p:oleObj>
              </mc:Choice>
              <mc:Fallback>
                <p:oleObj name="CS ChemDraw Drawing" r:id="rId2" imgW="3899862" imgH="879251" progId="ChemDraw.Document.6.0">
                  <p:embed/>
                  <p:pic>
                    <p:nvPicPr>
                      <p:cNvPr id="0" name=""/>
                      <p:cNvPicPr/>
                      <p:nvPr/>
                    </p:nvPicPr>
                    <p:blipFill>
                      <a:blip r:embed="rId3"/>
                      <a:stretch>
                        <a:fillRect/>
                      </a:stretch>
                    </p:blipFill>
                    <p:spPr>
                      <a:xfrm>
                        <a:off x="2618263" y="1470252"/>
                        <a:ext cx="6955473" cy="1568308"/>
                      </a:xfrm>
                      <a:prstGeom prst="rect">
                        <a:avLst/>
                      </a:prstGeom>
                      <a:ln>
                        <a:solidFill>
                          <a:schemeClr val="accent1"/>
                        </a:solidFill>
                      </a:ln>
                    </p:spPr>
                  </p:pic>
                </p:oleObj>
              </mc:Fallback>
            </mc:AlternateContent>
          </a:graphicData>
        </a:graphic>
      </p:graphicFrame>
      <p:graphicFrame>
        <p:nvGraphicFramePr>
          <p:cNvPr id="15" name="对象 14">
            <a:extLst>
              <a:ext uri="{FF2B5EF4-FFF2-40B4-BE49-F238E27FC236}">
                <a16:creationId xmlns:a16="http://schemas.microsoft.com/office/drawing/2014/main" id="{F579852E-A402-458D-A000-EB5B3C5DE73E}"/>
              </a:ext>
            </a:extLst>
          </p:cNvPr>
          <p:cNvGraphicFramePr>
            <a:graphicFrameLocks noChangeAspect="1"/>
          </p:cNvGraphicFramePr>
          <p:nvPr>
            <p:extLst>
              <p:ext uri="{D42A27DB-BD31-4B8C-83A1-F6EECF244321}">
                <p14:modId xmlns:p14="http://schemas.microsoft.com/office/powerpoint/2010/main" val="1474593440"/>
              </p:ext>
            </p:extLst>
          </p:nvPr>
        </p:nvGraphicFramePr>
        <p:xfrm>
          <a:off x="1127448" y="4067478"/>
          <a:ext cx="10218662" cy="1235837"/>
        </p:xfrm>
        <a:graphic>
          <a:graphicData uri="http://schemas.openxmlformats.org/presentationml/2006/ole">
            <mc:AlternateContent xmlns:mc="http://schemas.openxmlformats.org/markup-compatibility/2006">
              <mc:Choice xmlns:v="urn:schemas-microsoft-com:vml" Requires="v">
                <p:oleObj name="CS ChemDraw Drawing" r:id="rId4" imgW="4935984" imgH="597003" progId="ChemDraw.Document.6.0">
                  <p:embed/>
                </p:oleObj>
              </mc:Choice>
              <mc:Fallback>
                <p:oleObj name="CS ChemDraw Drawing" r:id="rId4" imgW="4935984" imgH="597003" progId="ChemDraw.Document.6.0">
                  <p:embed/>
                  <p:pic>
                    <p:nvPicPr>
                      <p:cNvPr id="3" name="对象 2"/>
                      <p:cNvPicPr/>
                      <p:nvPr/>
                    </p:nvPicPr>
                    <p:blipFill>
                      <a:blip r:embed="rId5"/>
                      <a:stretch>
                        <a:fillRect/>
                      </a:stretch>
                    </p:blipFill>
                    <p:spPr>
                      <a:xfrm>
                        <a:off x="1127448" y="4067478"/>
                        <a:ext cx="10218662" cy="1235837"/>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AEC473EA-2924-4B08-9E6C-1E5F6F71B21F}"/>
              </a:ext>
            </a:extLst>
          </p:cNvPr>
          <p:cNvGraphicFramePr>
            <a:graphicFrameLocks noChangeAspect="1"/>
          </p:cNvGraphicFramePr>
          <p:nvPr>
            <p:extLst>
              <p:ext uri="{D42A27DB-BD31-4B8C-83A1-F6EECF244321}">
                <p14:modId xmlns:p14="http://schemas.microsoft.com/office/powerpoint/2010/main" val="1203610295"/>
              </p:ext>
            </p:extLst>
          </p:nvPr>
        </p:nvGraphicFramePr>
        <p:xfrm>
          <a:off x="983432" y="5387748"/>
          <a:ext cx="5295109" cy="1235836"/>
        </p:xfrm>
        <a:graphic>
          <a:graphicData uri="http://schemas.openxmlformats.org/presentationml/2006/ole">
            <mc:AlternateContent xmlns:mc="http://schemas.openxmlformats.org/markup-compatibility/2006">
              <mc:Choice xmlns:v="urn:schemas-microsoft-com:vml" Requires="v">
                <p:oleObj name="CS ChemDraw Drawing" r:id="rId6" imgW="2699995" imgH="630698" progId="ChemDraw.Document.6.0">
                  <p:embed/>
                </p:oleObj>
              </mc:Choice>
              <mc:Fallback>
                <p:oleObj name="CS ChemDraw Drawing" r:id="rId6" imgW="2699995" imgH="630698" progId="ChemDraw.Document.6.0">
                  <p:embed/>
                  <p:pic>
                    <p:nvPicPr>
                      <p:cNvPr id="4" name="对象 3"/>
                      <p:cNvPicPr/>
                      <p:nvPr/>
                    </p:nvPicPr>
                    <p:blipFill>
                      <a:blip r:embed="rId7"/>
                      <a:stretch>
                        <a:fillRect/>
                      </a:stretch>
                    </p:blipFill>
                    <p:spPr>
                      <a:xfrm>
                        <a:off x="983432" y="5387748"/>
                        <a:ext cx="5295109" cy="1235836"/>
                      </a:xfrm>
                      <a:prstGeom prst="rect">
                        <a:avLst/>
                      </a:prstGeom>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51384" y="2780928"/>
            <a:ext cx="2117115" cy="2329237"/>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38</a:t>
            </a:fld>
            <a:endParaRPr lang="zh-CN" altLang="en-US"/>
          </a:p>
        </p:txBody>
      </p:sp>
      <p:sp>
        <p:nvSpPr>
          <p:cNvPr id="3" name="TextBox 2"/>
          <p:cNvSpPr txBox="1"/>
          <p:nvPr/>
        </p:nvSpPr>
        <p:spPr>
          <a:xfrm>
            <a:off x="21" y="255734"/>
            <a:ext cx="4955203"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4-12 Addition Reactions of Alkynes</a:t>
            </a:r>
            <a:endParaRPr lang="zh-CN" altLang="en-US" sz="2400" b="1" dirty="0">
              <a:latin typeface="Microsoft Sans Serif" panose="020B0604020202020204" pitchFamily="34" charset="0"/>
              <a:cs typeface="Microsoft Sans Serif" panose="020B0604020202020204" pitchFamily="34" charset="0"/>
            </a:endParaRPr>
          </a:p>
        </p:txBody>
      </p:sp>
      <p:sp>
        <p:nvSpPr>
          <p:cNvPr id="6" name="TextBox 5"/>
          <p:cNvSpPr txBox="1"/>
          <p:nvPr/>
        </p:nvSpPr>
        <p:spPr>
          <a:xfrm>
            <a:off x="1617124" y="3021934"/>
            <a:ext cx="941283" cy="369332"/>
          </a:xfrm>
          <a:prstGeom prst="rect">
            <a:avLst/>
          </a:prstGeom>
          <a:noFill/>
        </p:spPr>
        <p:txBody>
          <a:bodyPr wrap="none" rtlCol="0">
            <a:spAutoFit/>
          </a:bodyPr>
          <a:lstStyle/>
          <a:p>
            <a:r>
              <a:rPr lang="en-US" altLang="zh-CN" b="1" dirty="0"/>
              <a:t>(1</a:t>
            </a:r>
            <a:r>
              <a:rPr lang="en-US" altLang="zh-CN" b="1" dirty="0">
                <a:sym typeface="Symbol"/>
              </a:rPr>
              <a:t>, </a:t>
            </a:r>
            <a:r>
              <a:rPr lang="en-US" altLang="zh-CN" b="1" dirty="0">
                <a:solidFill>
                  <a:srgbClr val="FF0000"/>
                </a:solidFill>
                <a:sym typeface="Symbol"/>
              </a:rPr>
              <a:t>1</a:t>
            </a:r>
            <a:r>
              <a:rPr lang="en-US" altLang="zh-CN" b="1" dirty="0">
                <a:sym typeface="Symbol"/>
              </a:rPr>
              <a:t>)</a:t>
            </a:r>
            <a:endParaRPr lang="zh-CN" altLang="en-US" b="1" dirty="0"/>
          </a:p>
        </p:txBody>
      </p:sp>
      <p:sp>
        <p:nvSpPr>
          <p:cNvPr id="7" name="TextBox 6"/>
          <p:cNvSpPr txBox="1"/>
          <p:nvPr/>
        </p:nvSpPr>
        <p:spPr>
          <a:xfrm>
            <a:off x="1626411" y="4174062"/>
            <a:ext cx="941283" cy="369332"/>
          </a:xfrm>
          <a:prstGeom prst="rect">
            <a:avLst/>
          </a:prstGeom>
          <a:noFill/>
        </p:spPr>
        <p:txBody>
          <a:bodyPr wrap="none" rtlCol="0">
            <a:spAutoFit/>
          </a:bodyPr>
          <a:lstStyle/>
          <a:p>
            <a:r>
              <a:rPr lang="en-US" altLang="zh-CN" b="1" dirty="0"/>
              <a:t>(1</a:t>
            </a:r>
            <a:r>
              <a:rPr lang="en-US" altLang="zh-CN" b="1" dirty="0">
                <a:sym typeface="Symbol"/>
              </a:rPr>
              <a:t>, </a:t>
            </a:r>
            <a:r>
              <a:rPr lang="en-US" altLang="zh-CN" b="1" dirty="0">
                <a:solidFill>
                  <a:srgbClr val="FF0000"/>
                </a:solidFill>
                <a:sym typeface="Symbol"/>
              </a:rPr>
              <a:t>2</a:t>
            </a:r>
            <a:r>
              <a:rPr lang="en-US" altLang="zh-CN" b="1" dirty="0">
                <a:sym typeface="Symbol"/>
              </a:rPr>
              <a:t>)</a:t>
            </a:r>
            <a:endParaRPr lang="zh-CN" altLang="en-US" b="1" dirty="0"/>
          </a:p>
        </p:txBody>
      </p:sp>
      <p:sp>
        <p:nvSpPr>
          <p:cNvPr id="5" name="文本框 4"/>
          <p:cNvSpPr txBox="1"/>
          <p:nvPr/>
        </p:nvSpPr>
        <p:spPr>
          <a:xfrm>
            <a:off x="335360" y="844586"/>
            <a:ext cx="11449272"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Many of the reactions of alkynes are similar to the corresponding reactions of alkenes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because both involve pi bonds between two carbon atoms.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11" name="对象 10"/>
          <p:cNvGraphicFramePr>
            <a:graphicFrameLocks noChangeAspect="1"/>
          </p:cNvGraphicFramePr>
          <p:nvPr/>
        </p:nvGraphicFramePr>
        <p:xfrm>
          <a:off x="652275" y="2918007"/>
          <a:ext cx="1049834" cy="2120152"/>
        </p:xfrm>
        <a:graphic>
          <a:graphicData uri="http://schemas.openxmlformats.org/presentationml/2006/ole">
            <mc:AlternateContent xmlns:mc="http://schemas.openxmlformats.org/markup-compatibility/2006">
              <mc:Choice xmlns:v="urn:schemas-microsoft-com:vml" Requires="v">
                <p:oleObj name="CS ChemDraw Drawing" r:id="rId2" imgW="650635" imgH="1313723" progId="ChemDraw.Document.6.0">
                  <p:embed/>
                </p:oleObj>
              </mc:Choice>
              <mc:Fallback>
                <p:oleObj name="CS ChemDraw Drawing" r:id="rId2" imgW="650635" imgH="1313723" progId="ChemDraw.Document.6.0">
                  <p:embed/>
                  <p:pic>
                    <p:nvPicPr>
                      <p:cNvPr id="11" name="对象 10"/>
                      <p:cNvPicPr/>
                      <p:nvPr/>
                    </p:nvPicPr>
                    <p:blipFill>
                      <a:blip r:embed="rId3"/>
                      <a:stretch>
                        <a:fillRect/>
                      </a:stretch>
                    </p:blipFill>
                    <p:spPr>
                      <a:xfrm>
                        <a:off x="652275" y="2918007"/>
                        <a:ext cx="1049834" cy="2120152"/>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56649F0A-5130-4AC0-85CC-5880D2B4F0A1}"/>
              </a:ext>
            </a:extLst>
          </p:cNvPr>
          <p:cNvGraphicFramePr>
            <a:graphicFrameLocks noChangeAspect="1"/>
          </p:cNvGraphicFramePr>
          <p:nvPr>
            <p:extLst>
              <p:ext uri="{D42A27DB-BD31-4B8C-83A1-F6EECF244321}">
                <p14:modId xmlns:p14="http://schemas.microsoft.com/office/powerpoint/2010/main" val="2457669624"/>
              </p:ext>
            </p:extLst>
          </p:nvPr>
        </p:nvGraphicFramePr>
        <p:xfrm>
          <a:off x="2961160" y="1566069"/>
          <a:ext cx="8967488" cy="5222031"/>
        </p:xfrm>
        <a:graphic>
          <a:graphicData uri="http://schemas.openxmlformats.org/presentationml/2006/ole">
            <mc:AlternateContent xmlns:mc="http://schemas.openxmlformats.org/markup-compatibility/2006">
              <mc:Choice xmlns:v="urn:schemas-microsoft-com:vml" Requires="v">
                <p:oleObj name="CS ChemDraw Drawing" r:id="rId4" imgW="5929494" imgH="3453181" progId="ChemDraw.Document.6.0">
                  <p:embed/>
                </p:oleObj>
              </mc:Choice>
              <mc:Fallback>
                <p:oleObj name="CS ChemDraw Drawing" r:id="rId4" imgW="5929494" imgH="3453181" progId="ChemDraw.Document.6.0">
                  <p:embed/>
                  <p:pic>
                    <p:nvPicPr>
                      <p:cNvPr id="0" name=""/>
                      <p:cNvPicPr/>
                      <p:nvPr/>
                    </p:nvPicPr>
                    <p:blipFill>
                      <a:blip r:embed="rId5"/>
                      <a:stretch>
                        <a:fillRect/>
                      </a:stretch>
                    </p:blipFill>
                    <p:spPr>
                      <a:xfrm>
                        <a:off x="2961160" y="1566069"/>
                        <a:ext cx="8967488" cy="5222031"/>
                      </a:xfrm>
                      <a:prstGeom prst="rect">
                        <a:avLst/>
                      </a:prstGeom>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39</a:t>
            </a:fld>
            <a:endParaRPr lang="zh-CN" altLang="en-US"/>
          </a:p>
        </p:txBody>
      </p:sp>
      <p:sp>
        <p:nvSpPr>
          <p:cNvPr id="6" name="矩形 5"/>
          <p:cNvSpPr/>
          <p:nvPr/>
        </p:nvSpPr>
        <p:spPr>
          <a:xfrm>
            <a:off x="0" y="260648"/>
            <a:ext cx="7178568"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4-12-1 Catalytic Hydrogenation to Produce Alkanes</a:t>
            </a:r>
          </a:p>
        </p:txBody>
      </p:sp>
      <p:graphicFrame>
        <p:nvGraphicFramePr>
          <p:cNvPr id="7" name="对象 6"/>
          <p:cNvGraphicFramePr>
            <a:graphicFrameLocks noChangeAspect="1"/>
          </p:cNvGraphicFramePr>
          <p:nvPr>
            <p:extLst>
              <p:ext uri="{D42A27DB-BD31-4B8C-83A1-F6EECF244321}">
                <p14:modId xmlns:p14="http://schemas.microsoft.com/office/powerpoint/2010/main" val="3489367758"/>
              </p:ext>
            </p:extLst>
          </p:nvPr>
        </p:nvGraphicFramePr>
        <p:xfrm>
          <a:off x="1343471" y="2310658"/>
          <a:ext cx="9402509" cy="1478382"/>
        </p:xfrm>
        <a:graphic>
          <a:graphicData uri="http://schemas.openxmlformats.org/presentationml/2006/ole">
            <mc:AlternateContent xmlns:mc="http://schemas.openxmlformats.org/markup-compatibility/2006">
              <mc:Choice xmlns:v="urn:schemas-microsoft-com:vml" Requires="v">
                <p:oleObj name="CS ChemDraw Drawing" r:id="rId2" imgW="5048830" imgH="794022" progId="ChemDraw.Document.6.0">
                  <p:embed/>
                </p:oleObj>
              </mc:Choice>
              <mc:Fallback>
                <p:oleObj name="CS ChemDraw Drawing" r:id="rId2" imgW="5048830" imgH="794022" progId="ChemDraw.Document.6.0">
                  <p:embed/>
                  <p:pic>
                    <p:nvPicPr>
                      <p:cNvPr id="7" name="对象 6"/>
                      <p:cNvPicPr/>
                      <p:nvPr/>
                    </p:nvPicPr>
                    <p:blipFill>
                      <a:blip r:embed="rId3"/>
                      <a:stretch>
                        <a:fillRect/>
                      </a:stretch>
                    </p:blipFill>
                    <p:spPr>
                      <a:xfrm>
                        <a:off x="1343471" y="2310658"/>
                        <a:ext cx="9402509" cy="1478382"/>
                      </a:xfrm>
                      <a:prstGeom prst="rect">
                        <a:avLst/>
                      </a:prstGeom>
                      <a:ln w="28575">
                        <a:solidFill>
                          <a:schemeClr val="bg1">
                            <a:lumMod val="75000"/>
                          </a:schemeClr>
                        </a:solidFill>
                      </a:ln>
                    </p:spPr>
                  </p:pic>
                </p:oleObj>
              </mc:Fallback>
            </mc:AlternateContent>
          </a:graphicData>
        </a:graphic>
      </p:graphicFrame>
      <p:sp>
        <p:nvSpPr>
          <p:cNvPr id="8" name="文本框 7"/>
          <p:cNvSpPr txBox="1"/>
          <p:nvPr/>
        </p:nvSpPr>
        <p:spPr>
          <a:xfrm>
            <a:off x="245861" y="864976"/>
            <a:ext cx="10865173" cy="132343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the presence of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Pt,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Pd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or Ni, hydrogen adds to an alkyne, reducing it to an alkane.</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Catalytic hydrogenation takes place in two stages, with an alkene intermediate. With efficient catalysts such as Pt,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Pd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or Ni, it is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usually impossible to stop the reaction at the alkene stage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817603119"/>
              </p:ext>
            </p:extLst>
          </p:nvPr>
        </p:nvGraphicFramePr>
        <p:xfrm>
          <a:off x="2999656" y="4076279"/>
          <a:ext cx="5910477" cy="1157855"/>
        </p:xfrm>
        <a:graphic>
          <a:graphicData uri="http://schemas.openxmlformats.org/presentationml/2006/ole">
            <mc:AlternateContent xmlns:mc="http://schemas.openxmlformats.org/markup-compatibility/2006">
              <mc:Choice xmlns:v="urn:schemas-microsoft-com:vml" Requires="v">
                <p:oleObj name="CS ChemDraw Drawing" r:id="rId4" imgW="2941073" imgH="575993" progId="ChemDraw.Document.6.0">
                  <p:embed/>
                </p:oleObj>
              </mc:Choice>
              <mc:Fallback>
                <p:oleObj name="CS ChemDraw Drawing" r:id="rId4" imgW="2941073" imgH="575993" progId="ChemDraw.Document.6.0">
                  <p:embed/>
                  <p:pic>
                    <p:nvPicPr>
                      <p:cNvPr id="9" name="对象 8"/>
                      <p:cNvPicPr/>
                      <p:nvPr/>
                    </p:nvPicPr>
                    <p:blipFill>
                      <a:blip r:embed="rId5"/>
                      <a:stretch>
                        <a:fillRect/>
                      </a:stretch>
                    </p:blipFill>
                    <p:spPr>
                      <a:xfrm>
                        <a:off x="2999656" y="4076279"/>
                        <a:ext cx="5910477" cy="1157855"/>
                      </a:xfrm>
                      <a:prstGeom prst="rect">
                        <a:avLst/>
                      </a:prstGeom>
                    </p:spPr>
                  </p:pic>
                </p:oleObj>
              </mc:Fallback>
            </mc:AlternateContent>
          </a:graphicData>
        </a:graphic>
      </p:graphicFrame>
      <p:sp>
        <p:nvSpPr>
          <p:cNvPr id="10" name="文本框 9"/>
          <p:cNvSpPr txBox="1"/>
          <p:nvPr/>
        </p:nvSpPr>
        <p:spPr>
          <a:xfrm>
            <a:off x="407367" y="5521373"/>
            <a:ext cx="11377265" cy="101566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However, hydrogenation of an alkyne can be stopped at the alkene stage by using a “poisoned” (partially deactivated) catalyst made by treating a good catalyst with a compound that makes the catalyst less effective.</a:t>
            </a:r>
            <a:endParaRPr lang="zh-CN" altLang="en-US" sz="2000" b="1" dirty="0">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200907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40</a:t>
            </a:fld>
            <a:endParaRPr lang="zh-CN" altLang="en-US"/>
          </a:p>
        </p:txBody>
      </p:sp>
      <p:sp>
        <p:nvSpPr>
          <p:cNvPr id="12" name="TextBox 11"/>
          <p:cNvSpPr txBox="1"/>
          <p:nvPr/>
        </p:nvSpPr>
        <p:spPr>
          <a:xfrm>
            <a:off x="250216" y="923470"/>
            <a:ext cx="11377264" cy="707886"/>
          </a:xfrm>
          <a:prstGeom prst="rect">
            <a:avLst/>
          </a:prstGeom>
          <a:noFill/>
          <a:ln w="38100">
            <a:noFill/>
          </a:ln>
        </p:spPr>
        <p:txBody>
          <a:bodyPr wrap="square" rtlCol="0">
            <a:spAutoFit/>
          </a:bodyPr>
          <a:lstStyle/>
          <a:p>
            <a:pPr marL="342900" indent="-342900">
              <a:buFont typeface="Arial" panose="020B0604020202020204" pitchFamily="34" charset="0"/>
              <a:buChar char="•"/>
            </a:pP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Lindlar’s catalyst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is a poisoned Pd catalyst, composed of powdered BaSO</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4</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(barium sulfate) coated with Pd, poisoned with quinoline.</a:t>
            </a:r>
            <a:endParaRPr lang="zh-CN" altLang="en-US" sz="2000" b="1" dirty="0">
              <a:latin typeface="Microsoft Sans Serif" panose="020B0604020202020204" pitchFamily="34" charset="0"/>
              <a:cs typeface="Microsoft Sans Serif" panose="020B0604020202020204" pitchFamily="34" charset="0"/>
            </a:endParaRPr>
          </a:p>
        </p:txBody>
      </p:sp>
      <p:sp>
        <p:nvSpPr>
          <p:cNvPr id="14" name="TextBox 13"/>
          <p:cNvSpPr txBox="1"/>
          <p:nvPr/>
        </p:nvSpPr>
        <p:spPr>
          <a:xfrm>
            <a:off x="4367807" y="4193570"/>
            <a:ext cx="2723823" cy="400110"/>
          </a:xfrm>
          <a:prstGeom prst="rect">
            <a:avLst/>
          </a:prstGeom>
          <a:noFill/>
        </p:spPr>
        <p:txBody>
          <a:bodyPr wrap="none" rtlCol="0">
            <a:spAutoFit/>
          </a:bodyPr>
          <a:lstStyle/>
          <a:p>
            <a:r>
              <a:rPr lang="en-US" altLang="zh-CN" sz="2000" b="1" dirty="0" err="1">
                <a:latin typeface="Consolas" panose="020B0609020204030204" pitchFamily="49" charset="0"/>
              </a:rPr>
              <a:t>Lindlar’s</a:t>
            </a:r>
            <a:r>
              <a:rPr lang="en-US" altLang="zh-CN" sz="2000" b="1" dirty="0">
                <a:latin typeface="Consolas" panose="020B0609020204030204" pitchFamily="49" charset="0"/>
              </a:rPr>
              <a:t> catalyst</a:t>
            </a:r>
            <a:endParaRPr lang="zh-CN" altLang="en-US" sz="2000" b="1" dirty="0">
              <a:latin typeface="Consolas" panose="020B0609020204030204" pitchFamily="49" charset="0"/>
            </a:endParaRPr>
          </a:p>
        </p:txBody>
      </p:sp>
      <p:sp>
        <p:nvSpPr>
          <p:cNvPr id="15" name="TextBox 14"/>
          <p:cNvSpPr txBox="1"/>
          <p:nvPr/>
        </p:nvSpPr>
        <p:spPr>
          <a:xfrm>
            <a:off x="250215" y="5445224"/>
            <a:ext cx="10959008"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Catalytic hydrogenation proceed with </a:t>
            </a:r>
            <a:r>
              <a:rPr lang="en-US" altLang="zh-CN" sz="2000" b="1" i="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syn</a:t>
            </a:r>
            <a:r>
              <a:rPr lang="en-US" altLang="zh-CN" sz="20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addition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two H atoms adding to the same side of the 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 triple bond to produce the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cis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-alkene from an internal alkyne.</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45102582"/>
              </p:ext>
            </p:extLst>
          </p:nvPr>
        </p:nvGraphicFramePr>
        <p:xfrm>
          <a:off x="1991544" y="2244699"/>
          <a:ext cx="6903005" cy="1879296"/>
        </p:xfrm>
        <a:graphic>
          <a:graphicData uri="http://schemas.openxmlformats.org/presentationml/2006/ole">
            <mc:AlternateContent xmlns:mc="http://schemas.openxmlformats.org/markup-compatibility/2006">
              <mc:Choice xmlns:v="urn:schemas-microsoft-com:vml" Requires="v">
                <p:oleObj name="CS ChemDraw Drawing" r:id="rId2" imgW="2978951" imgH="810671" progId="ChemDraw.Document.6.0">
                  <p:embed/>
                </p:oleObj>
              </mc:Choice>
              <mc:Fallback>
                <p:oleObj name="CS ChemDraw Drawing" r:id="rId2" imgW="2978951" imgH="810671" progId="ChemDraw.Document.6.0">
                  <p:embed/>
                  <p:pic>
                    <p:nvPicPr>
                      <p:cNvPr id="4" name="对象 3"/>
                      <p:cNvPicPr/>
                      <p:nvPr/>
                    </p:nvPicPr>
                    <p:blipFill>
                      <a:blip r:embed="rId3"/>
                      <a:stretch>
                        <a:fillRect/>
                      </a:stretch>
                    </p:blipFill>
                    <p:spPr>
                      <a:xfrm>
                        <a:off x="1991544" y="2244699"/>
                        <a:ext cx="6903005" cy="1879296"/>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41</a:t>
            </a:fld>
            <a:endParaRPr lang="zh-CN" altLang="en-US"/>
          </a:p>
        </p:txBody>
      </p:sp>
      <p:sp>
        <p:nvSpPr>
          <p:cNvPr id="11" name="TextBox 10"/>
          <p:cNvSpPr txBox="1"/>
          <p:nvPr/>
        </p:nvSpPr>
        <p:spPr>
          <a:xfrm>
            <a:off x="0" y="225161"/>
            <a:ext cx="7154523"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4-12-2 Addition of Halogens (Electrophilic Addition)</a:t>
            </a:r>
            <a:endParaRPr lang="zh-CN" altLang="en-US" sz="2400" b="1" dirty="0">
              <a:latin typeface="Microsoft Sans Serif" panose="020B0604020202020204" pitchFamily="34" charset="0"/>
              <a:cs typeface="Microsoft Sans Serif" panose="020B0604020202020204" pitchFamily="34" charset="0"/>
            </a:endParaRPr>
          </a:p>
        </p:txBody>
      </p:sp>
      <p:sp>
        <p:nvSpPr>
          <p:cNvPr id="12" name="TextBox 11"/>
          <p:cNvSpPr txBox="1"/>
          <p:nvPr/>
        </p:nvSpPr>
        <p:spPr>
          <a:xfrm>
            <a:off x="263352" y="768534"/>
            <a:ext cx="11593288" cy="101566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Bromine and chlorine add to alkynes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just as they add to alkenes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stereochemistry of addition may be either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syn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or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anti</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often giving mixtures of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cis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trans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products.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38922" name="Object 10"/>
          <p:cNvGraphicFramePr>
            <a:graphicFrameLocks noChangeAspect="1"/>
          </p:cNvGraphicFramePr>
          <p:nvPr>
            <p:extLst>
              <p:ext uri="{D42A27DB-BD31-4B8C-83A1-F6EECF244321}">
                <p14:modId xmlns:p14="http://schemas.microsoft.com/office/powerpoint/2010/main" val="121037918"/>
              </p:ext>
            </p:extLst>
          </p:nvPr>
        </p:nvGraphicFramePr>
        <p:xfrm>
          <a:off x="1826476" y="3502221"/>
          <a:ext cx="7786310" cy="1350779"/>
        </p:xfrm>
        <a:graphic>
          <a:graphicData uri="http://schemas.openxmlformats.org/presentationml/2006/ole">
            <mc:AlternateContent xmlns:mc="http://schemas.openxmlformats.org/markup-compatibility/2006">
              <mc:Choice xmlns:v="urn:schemas-microsoft-com:vml" Requires="v">
                <p:oleObj name="CS ChemDraw Drawing" r:id="rId2" imgW="4177065" imgH="723422" progId="ChemDraw.Document.6.0">
                  <p:embed/>
                </p:oleObj>
              </mc:Choice>
              <mc:Fallback>
                <p:oleObj name="CS ChemDraw Drawing" r:id="rId2" imgW="4177065" imgH="723422" progId="ChemDraw.Document.6.0">
                  <p:embed/>
                  <p:pic>
                    <p:nvPicPr>
                      <p:cNvPr id="3892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476" y="3502221"/>
                        <a:ext cx="7786310" cy="1350779"/>
                      </a:xfrm>
                      <a:prstGeom prst="rect">
                        <a:avLst/>
                      </a:prstGeom>
                      <a:noFill/>
                      <a:ln>
                        <a:noFill/>
                      </a:ln>
                      <a:effectLst/>
                    </p:spPr>
                  </p:pic>
                </p:oleObj>
              </mc:Fallback>
            </mc:AlternateContent>
          </a:graphicData>
        </a:graphic>
      </p:graphicFrame>
      <p:sp>
        <p:nvSpPr>
          <p:cNvPr id="8" name="TextBox 7"/>
          <p:cNvSpPr txBox="1"/>
          <p:nvPr/>
        </p:nvSpPr>
        <p:spPr>
          <a:xfrm>
            <a:off x="263352" y="4948286"/>
            <a:ext cx="7072362"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If 2 mol of halogens add to an alkyne, a </a:t>
            </a:r>
            <a:r>
              <a:rPr lang="en-US" altLang="zh-CN" sz="2000" b="1" i="1" dirty="0" err="1">
                <a:latin typeface="Microsoft Sans Serif" panose="020B0604020202020204" pitchFamily="34" charset="0"/>
                <a:ea typeface="Microsoft Sans Serif" panose="020B0604020202020204" pitchFamily="34" charset="0"/>
                <a:cs typeface="Microsoft Sans Serif" panose="020B0604020202020204" pitchFamily="34" charset="0"/>
              </a:rPr>
              <a:t>tetrahalide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results.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3329714"/>
              </p:ext>
            </p:extLst>
          </p:nvPr>
        </p:nvGraphicFramePr>
        <p:xfrm>
          <a:off x="2479294" y="1589020"/>
          <a:ext cx="7233411" cy="1648631"/>
        </p:xfrm>
        <a:graphic>
          <a:graphicData uri="http://schemas.openxmlformats.org/presentationml/2006/ole">
            <mc:AlternateContent xmlns:mc="http://schemas.openxmlformats.org/markup-compatibility/2006">
              <mc:Choice xmlns:v="urn:schemas-microsoft-com:vml" Requires="v">
                <p:oleObj name="CS ChemDraw Drawing" r:id="rId4" imgW="3684825" imgH="839609" progId="ChemDraw.Document.6.0">
                  <p:embed/>
                </p:oleObj>
              </mc:Choice>
              <mc:Fallback>
                <p:oleObj name="CS ChemDraw Drawing" r:id="rId4" imgW="3684825" imgH="839609" progId="ChemDraw.Document.6.0">
                  <p:embed/>
                  <p:pic>
                    <p:nvPicPr>
                      <p:cNvPr id="3" name="对象 2"/>
                      <p:cNvPicPr/>
                      <p:nvPr/>
                    </p:nvPicPr>
                    <p:blipFill>
                      <a:blip r:embed="rId5"/>
                      <a:stretch>
                        <a:fillRect/>
                      </a:stretch>
                    </p:blipFill>
                    <p:spPr>
                      <a:xfrm>
                        <a:off x="2479294" y="1589020"/>
                        <a:ext cx="7233411" cy="1648631"/>
                      </a:xfrm>
                      <a:prstGeom prst="rect">
                        <a:avLst/>
                      </a:prstGeom>
                      <a:ln w="28575">
                        <a:solidFill>
                          <a:schemeClr val="bg1">
                            <a:lumMod val="75000"/>
                          </a:schemeClr>
                        </a:solid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63675797"/>
              </p:ext>
            </p:extLst>
          </p:nvPr>
        </p:nvGraphicFramePr>
        <p:xfrm>
          <a:off x="3359696" y="5435744"/>
          <a:ext cx="5730080" cy="1189157"/>
        </p:xfrm>
        <a:graphic>
          <a:graphicData uri="http://schemas.openxmlformats.org/presentationml/2006/ole">
            <mc:AlternateContent xmlns:mc="http://schemas.openxmlformats.org/markup-compatibility/2006">
              <mc:Choice xmlns:v="urn:schemas-microsoft-com:vml" Requires="v">
                <p:oleObj name="CS ChemDraw Drawing" r:id="rId6" imgW="3288683" imgH="682629" progId="ChemDraw.Document.6.0">
                  <p:embed/>
                </p:oleObj>
              </mc:Choice>
              <mc:Fallback>
                <p:oleObj name="CS ChemDraw Drawing" r:id="rId6" imgW="3288683" imgH="682629" progId="ChemDraw.Document.6.0">
                  <p:embed/>
                  <p:pic>
                    <p:nvPicPr>
                      <p:cNvPr id="4" name="对象 3"/>
                      <p:cNvPicPr/>
                      <p:nvPr/>
                    </p:nvPicPr>
                    <p:blipFill>
                      <a:blip r:embed="rId7"/>
                      <a:stretch>
                        <a:fillRect/>
                      </a:stretch>
                    </p:blipFill>
                    <p:spPr>
                      <a:xfrm>
                        <a:off x="3359696" y="5435744"/>
                        <a:ext cx="5730080" cy="1189157"/>
                      </a:xfrm>
                      <a:prstGeom prst="rect">
                        <a:avLst/>
                      </a:prstGeom>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2AE6004B-BFBC-4D0D-A93F-83F6D5DF18FB}"/>
              </a:ext>
            </a:extLst>
          </p:cNvPr>
          <p:cNvSpPr/>
          <p:nvPr/>
        </p:nvSpPr>
        <p:spPr>
          <a:xfrm>
            <a:off x="7536160" y="3467322"/>
            <a:ext cx="3888432" cy="12714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544272" y="5437959"/>
            <a:ext cx="360040" cy="1015377"/>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42</a:t>
            </a:fld>
            <a:endParaRPr lang="zh-CN" altLang="en-US"/>
          </a:p>
        </p:txBody>
      </p:sp>
      <p:sp>
        <p:nvSpPr>
          <p:cNvPr id="5" name="TextBox 4"/>
          <p:cNvSpPr txBox="1"/>
          <p:nvPr/>
        </p:nvSpPr>
        <p:spPr>
          <a:xfrm>
            <a:off x="0" y="214291"/>
            <a:ext cx="6277681"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4-12-3 Addition of HX (Electrophilic Addition)</a:t>
            </a:r>
            <a:endParaRPr lang="zh-CN" altLang="en-US" sz="2400" b="1" dirty="0">
              <a:latin typeface="Microsoft Sans Serif" panose="020B0604020202020204" pitchFamily="34" charset="0"/>
              <a:cs typeface="Microsoft Sans Serif" panose="020B0604020202020204" pitchFamily="34" charset="0"/>
            </a:endParaRPr>
          </a:p>
        </p:txBody>
      </p:sp>
      <p:sp>
        <p:nvSpPr>
          <p:cNvPr id="6" name="TextBox 5"/>
          <p:cNvSpPr txBox="1"/>
          <p:nvPr/>
        </p:nvSpPr>
        <p:spPr>
          <a:xfrm>
            <a:off x="312560" y="720851"/>
            <a:ext cx="11400064"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Hydrogen halides add across the triple bond of an alkyne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in much the same way they add across the alkene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sp>
        <p:nvSpPr>
          <p:cNvPr id="8" name="TextBox 7"/>
          <p:cNvSpPr txBox="1"/>
          <p:nvPr/>
        </p:nvSpPr>
        <p:spPr>
          <a:xfrm>
            <a:off x="312560" y="2794793"/>
            <a:ext cx="11338806" cy="2862322"/>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When a hydrogen halide adds to a terminal alkyne, the product has the orientation predicted by Markovnikov’s rule.</a:t>
            </a:r>
          </a:p>
          <a:p>
            <a:pPr>
              <a:buFont typeface="Arial"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buFont typeface="Arial"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buFont typeface="Arial"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When 2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mol</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HX add to an alkyne, the second addition occurs usually with the same orientation as the first, leading to a geminal dihalide.</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99563658"/>
              </p:ext>
            </p:extLst>
          </p:nvPr>
        </p:nvGraphicFramePr>
        <p:xfrm>
          <a:off x="2179842" y="1399805"/>
          <a:ext cx="7192636" cy="1288917"/>
        </p:xfrm>
        <a:graphic>
          <a:graphicData uri="http://schemas.openxmlformats.org/presentationml/2006/ole">
            <mc:AlternateContent xmlns:mc="http://schemas.openxmlformats.org/markup-compatibility/2006">
              <mc:Choice xmlns:v="urn:schemas-microsoft-com:vml" Requires="v">
                <p:oleObj name="CS ChemDraw Drawing" r:id="rId2" imgW="4242737" imgH="760326" progId="ChemDraw.Document.6.0">
                  <p:embed/>
                </p:oleObj>
              </mc:Choice>
              <mc:Fallback>
                <p:oleObj name="CS ChemDraw Drawing" r:id="rId2" imgW="4242737" imgH="760326" progId="ChemDraw.Document.6.0">
                  <p:embed/>
                  <p:pic>
                    <p:nvPicPr>
                      <p:cNvPr id="3" name="对象 2"/>
                      <p:cNvPicPr/>
                      <p:nvPr/>
                    </p:nvPicPr>
                    <p:blipFill>
                      <a:blip r:embed="rId3"/>
                      <a:stretch>
                        <a:fillRect/>
                      </a:stretch>
                    </p:blipFill>
                    <p:spPr>
                      <a:xfrm>
                        <a:off x="2179842" y="1399805"/>
                        <a:ext cx="7192636" cy="1288917"/>
                      </a:xfrm>
                      <a:prstGeom prst="rect">
                        <a:avLst/>
                      </a:prstGeom>
                      <a:ln w="28575">
                        <a:solidFill>
                          <a:schemeClr val="bg1">
                            <a:lumMod val="75000"/>
                          </a:schemeClr>
                        </a:solid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31588740"/>
              </p:ext>
            </p:extLst>
          </p:nvPr>
        </p:nvGraphicFramePr>
        <p:xfrm>
          <a:off x="1003881" y="3503101"/>
          <a:ext cx="6180572" cy="1438067"/>
        </p:xfrm>
        <a:graphic>
          <a:graphicData uri="http://schemas.openxmlformats.org/presentationml/2006/ole">
            <mc:AlternateContent xmlns:mc="http://schemas.openxmlformats.org/markup-compatibility/2006">
              <mc:Choice xmlns:v="urn:schemas-microsoft-com:vml" Requires="v">
                <p:oleObj name="CS ChemDraw Drawing" r:id="rId4" imgW="3779125" imgH="879251" progId="ChemDraw.Document.6.0">
                  <p:embed/>
                </p:oleObj>
              </mc:Choice>
              <mc:Fallback>
                <p:oleObj name="CS ChemDraw Drawing" r:id="rId4" imgW="3779125" imgH="879251" progId="ChemDraw.Document.6.0">
                  <p:embed/>
                  <p:pic>
                    <p:nvPicPr>
                      <p:cNvPr id="4" name="对象 3"/>
                      <p:cNvPicPr/>
                      <p:nvPr/>
                    </p:nvPicPr>
                    <p:blipFill>
                      <a:blip r:embed="rId5"/>
                      <a:stretch>
                        <a:fillRect/>
                      </a:stretch>
                    </p:blipFill>
                    <p:spPr>
                      <a:xfrm>
                        <a:off x="1003881" y="3503101"/>
                        <a:ext cx="6180572" cy="1438067"/>
                      </a:xfrm>
                      <a:prstGeom prst="rect">
                        <a:avLst/>
                      </a:prstGeom>
                    </p:spPr>
                  </p:pic>
                </p:oleObj>
              </mc:Fallback>
            </mc:AlternateContent>
          </a:graphicData>
        </a:graphic>
      </p:graphicFrame>
      <p:sp>
        <p:nvSpPr>
          <p:cNvPr id="7" name="椭圆 6"/>
          <p:cNvSpPr/>
          <p:nvPr/>
        </p:nvSpPr>
        <p:spPr>
          <a:xfrm>
            <a:off x="5015880" y="4038087"/>
            <a:ext cx="432048" cy="2631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flipH="1">
            <a:off x="7581760" y="3516212"/>
            <a:ext cx="4297680" cy="1200329"/>
          </a:xfrm>
          <a:prstGeom prst="rect">
            <a:avLst/>
          </a:prstGeom>
          <a:noFill/>
        </p:spPr>
        <p:txBody>
          <a:bodyPr wrap="square" rtlCol="0">
            <a:spAutoFit/>
          </a:bodyPr>
          <a:lstStyle/>
          <a:p>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Proton adds to the less substituted carbon to form a vinyl cation with the positive charge on the more highly substituted carbon atom</a:t>
            </a:r>
            <a:endParaRPr lang="zh-CN" altLang="en-US" b="1" dirty="0">
              <a:latin typeface="Microsoft Sans Serif" panose="020B0604020202020204" pitchFamily="34" charset="0"/>
              <a:cs typeface="Microsoft Sans Serif" panose="020B0604020202020204" pitchFamily="34" charset="0"/>
            </a:endParaRPr>
          </a:p>
        </p:txBody>
      </p:sp>
      <p:graphicFrame>
        <p:nvGraphicFramePr>
          <p:cNvPr id="11" name="对象 10"/>
          <p:cNvGraphicFramePr>
            <a:graphicFrameLocks noChangeAspect="1"/>
          </p:cNvGraphicFramePr>
          <p:nvPr/>
        </p:nvGraphicFramePr>
        <p:xfrm>
          <a:off x="2495600" y="5535739"/>
          <a:ext cx="7531657" cy="1171009"/>
        </p:xfrm>
        <a:graphic>
          <a:graphicData uri="http://schemas.openxmlformats.org/presentationml/2006/ole">
            <mc:AlternateContent xmlns:mc="http://schemas.openxmlformats.org/markup-compatibility/2006">
              <mc:Choice xmlns:v="urn:schemas-microsoft-com:vml" Requires="v">
                <p:oleObj name="CS ChemDraw Drawing" r:id="rId6" imgW="5013713" imgH="779751" progId="ChemDraw.Document.6.0">
                  <p:embed/>
                </p:oleObj>
              </mc:Choice>
              <mc:Fallback>
                <p:oleObj name="CS ChemDraw Drawing" r:id="rId6" imgW="5013713" imgH="779751" progId="ChemDraw.Document.6.0">
                  <p:embed/>
                  <p:pic>
                    <p:nvPicPr>
                      <p:cNvPr id="11" name="对象 10"/>
                      <p:cNvPicPr/>
                      <p:nvPr/>
                    </p:nvPicPr>
                    <p:blipFill>
                      <a:blip r:embed="rId7"/>
                      <a:stretch>
                        <a:fillRect/>
                      </a:stretch>
                    </p:blipFill>
                    <p:spPr>
                      <a:xfrm>
                        <a:off x="2495600" y="5535739"/>
                        <a:ext cx="7531657" cy="1171009"/>
                      </a:xfrm>
                      <a:prstGeom prst="rect">
                        <a:avLst/>
                      </a:prstGeom>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969263" y="1545408"/>
            <a:ext cx="4560064" cy="1573687"/>
          </a:xfrm>
          <a:prstGeom prst="rect">
            <a:avLst/>
          </a:prstGeom>
          <a:solidFill>
            <a:schemeClr val="accent6">
              <a:lumMod val="20000"/>
              <a:lumOff val="80000"/>
            </a:schemeClr>
          </a:solid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43</a:t>
            </a:fld>
            <a:endParaRPr lang="zh-CN" altLang="en-US"/>
          </a:p>
        </p:txBody>
      </p:sp>
      <p:sp>
        <p:nvSpPr>
          <p:cNvPr id="3" name="TextBox 2"/>
          <p:cNvSpPr txBox="1"/>
          <p:nvPr/>
        </p:nvSpPr>
        <p:spPr>
          <a:xfrm>
            <a:off x="0" y="220509"/>
            <a:ext cx="11582400"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4-12-4 </a:t>
            </a:r>
            <a:r>
              <a:rPr lang="en-US" altLang="zh-CN" sz="2400" b="1" dirty="0"/>
              <a:t>Mercuric Ion-Catalyzed </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Hydration of Alkynes to Form Ketones and Aldehydes</a:t>
            </a:r>
            <a:endParaRPr lang="zh-CN" altLang="en-US" sz="2400" b="1" dirty="0">
              <a:latin typeface="Microsoft Sans Serif" panose="020B0604020202020204" pitchFamily="34" charset="0"/>
              <a:cs typeface="Microsoft Sans Serif" panose="020B0604020202020204" pitchFamily="34" charset="0"/>
            </a:endParaRPr>
          </a:p>
        </p:txBody>
      </p:sp>
      <p:sp>
        <p:nvSpPr>
          <p:cNvPr id="15" name="矩形 14"/>
          <p:cNvSpPr/>
          <p:nvPr/>
        </p:nvSpPr>
        <p:spPr>
          <a:xfrm>
            <a:off x="258190" y="783263"/>
            <a:ext cx="11582400" cy="707886"/>
          </a:xfrm>
          <a:prstGeom prst="rect">
            <a:avLst/>
          </a:prstGeom>
        </p:spPr>
        <p:txBody>
          <a:bodyPr wrap="square">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Alkynes undergo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acid-catalyzed addition of H</a:t>
            </a:r>
            <a:r>
              <a:rPr lang="en-US" altLang="zh-CN" sz="2000" b="1" baseline="-250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O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across the triple bond in the presence of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mercuric ion as a catalyst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sp>
        <p:nvSpPr>
          <p:cNvPr id="12" name="TextBox 11"/>
          <p:cNvSpPr txBox="1"/>
          <p:nvPr/>
        </p:nvSpPr>
        <p:spPr>
          <a:xfrm>
            <a:off x="258190" y="3177924"/>
            <a:ext cx="11377264" cy="1938992"/>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hydration of alkynes is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similar to the hydration of alkenes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it also goes with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Markovnikov orientation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direct addition product is enols. However, enols tend to be unstable and isomerize to the ketone form. Enols formed by terminal alkynes isomerize to methyl ketones.</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This isomerization involves</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the shift of a proton and a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This type of rapid equilibrium is called the </a:t>
            </a:r>
            <a:r>
              <a:rPr lang="en-US" altLang="zh-CN" sz="20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Keto-enol </a:t>
            </a:r>
            <a:r>
              <a:rPr lang="en-US" altLang="zh-CN" sz="2000" b="1" i="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tautomerism</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i="1" dirty="0">
              <a:latin typeface="Microsoft Sans Serif" panose="020B0604020202020204" pitchFamily="34" charset="0"/>
              <a:cs typeface="Microsoft Sans Serif"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57808916"/>
              </p:ext>
            </p:extLst>
          </p:nvPr>
        </p:nvGraphicFramePr>
        <p:xfrm>
          <a:off x="1662673" y="1587711"/>
          <a:ext cx="8773433" cy="1531385"/>
        </p:xfrm>
        <a:graphic>
          <a:graphicData uri="http://schemas.openxmlformats.org/presentationml/2006/ole">
            <mc:AlternateContent xmlns:mc="http://schemas.openxmlformats.org/markup-compatibility/2006">
              <mc:Choice xmlns:v="urn:schemas-microsoft-com:vml" Requires="v">
                <p:oleObj name="CS ChemDraw Drawing" r:id="rId2" imgW="4565490" imgH="796797" progId="ChemDraw.Document.6.0">
                  <p:embed/>
                </p:oleObj>
              </mc:Choice>
              <mc:Fallback>
                <p:oleObj name="CS ChemDraw Drawing" r:id="rId2" imgW="4565490" imgH="796797" progId="ChemDraw.Document.6.0">
                  <p:embed/>
                  <p:pic>
                    <p:nvPicPr>
                      <p:cNvPr id="5" name="对象 4"/>
                      <p:cNvPicPr/>
                      <p:nvPr/>
                    </p:nvPicPr>
                    <p:blipFill>
                      <a:blip r:embed="rId3"/>
                      <a:stretch>
                        <a:fillRect/>
                      </a:stretch>
                    </p:blipFill>
                    <p:spPr>
                      <a:xfrm>
                        <a:off x="1662673" y="1587711"/>
                        <a:ext cx="8773433" cy="153138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551841780"/>
              </p:ext>
            </p:extLst>
          </p:nvPr>
        </p:nvGraphicFramePr>
        <p:xfrm>
          <a:off x="3099340" y="5257959"/>
          <a:ext cx="5694964" cy="1545732"/>
        </p:xfrm>
        <a:graphic>
          <a:graphicData uri="http://schemas.openxmlformats.org/presentationml/2006/ole">
            <mc:AlternateContent xmlns:mc="http://schemas.openxmlformats.org/markup-compatibility/2006">
              <mc:Choice xmlns:v="urn:schemas-microsoft-com:vml" Requires="v">
                <p:oleObj name="CS ChemDraw Drawing" r:id="rId4" imgW="2872419" imgH="780147" progId="ChemDraw.Document.6.0">
                  <p:embed/>
                </p:oleObj>
              </mc:Choice>
              <mc:Fallback>
                <p:oleObj name="CS ChemDraw Drawing" r:id="rId4" imgW="2872419" imgH="780147" progId="ChemDraw.Document.6.0">
                  <p:embed/>
                  <p:pic>
                    <p:nvPicPr>
                      <p:cNvPr id="6" name="对象 5"/>
                      <p:cNvPicPr/>
                      <p:nvPr/>
                    </p:nvPicPr>
                    <p:blipFill>
                      <a:blip r:embed="rId5"/>
                      <a:stretch>
                        <a:fillRect/>
                      </a:stretch>
                    </p:blipFill>
                    <p:spPr>
                      <a:xfrm>
                        <a:off x="3099340" y="5257959"/>
                        <a:ext cx="5694964" cy="1545732"/>
                      </a:xfrm>
                      <a:prstGeom prst="rect">
                        <a:avLst/>
                      </a:prstGeom>
                    </p:spPr>
                  </p:pic>
                </p:oleObj>
              </mc:Fallback>
            </mc:AlternateContent>
          </a:graphicData>
        </a:graphic>
      </p:graphicFrame>
      <p:sp>
        <p:nvSpPr>
          <p:cNvPr id="7" name="文本框 6"/>
          <p:cNvSpPr txBox="1"/>
          <p:nvPr/>
        </p:nvSpPr>
        <p:spPr>
          <a:xfrm>
            <a:off x="4799856" y="5956241"/>
            <a:ext cx="2768707" cy="400110"/>
          </a:xfrm>
          <a:prstGeom prst="rect">
            <a:avLst/>
          </a:prstGeom>
          <a:noFill/>
        </p:spPr>
        <p:txBody>
          <a:bodyPr wrap="none" rtlCol="0">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Keto-enol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tautomerism</a:t>
            </a:r>
            <a:endParaRPr lang="zh-CN" altLang="en-US" sz="2000"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44</a:t>
            </a:fld>
            <a:endParaRPr lang="zh-CN" altLang="en-US"/>
          </a:p>
        </p:txBody>
      </p:sp>
      <p:sp>
        <p:nvSpPr>
          <p:cNvPr id="8" name="TextBox 7"/>
          <p:cNvSpPr txBox="1"/>
          <p:nvPr/>
        </p:nvSpPr>
        <p:spPr>
          <a:xfrm>
            <a:off x="2631062" y="1762570"/>
            <a:ext cx="6692858" cy="338554"/>
          </a:xfrm>
          <a:prstGeom prst="rect">
            <a:avLst/>
          </a:prstGeom>
          <a:noFill/>
        </p:spPr>
        <p:txBody>
          <a:bodyPr wrap="none" rtlCol="0">
            <a:spAutoFit/>
          </a:bodyPr>
          <a:lstStyle/>
          <a:p>
            <a:r>
              <a:rPr lang="en-US" altLang="zh-CN" sz="1600" b="1" dirty="0">
                <a:latin typeface="Consolas" panose="020B0609020204030204" pitchFamily="49" charset="0"/>
              </a:rPr>
              <a:t>(</a:t>
            </a:r>
            <a:r>
              <a:rPr lang="en-US" altLang="zh-CN" sz="1600" b="1" dirty="0">
                <a:solidFill>
                  <a:srgbClr val="0000FF"/>
                </a:solidFill>
                <a:latin typeface="Consolas" panose="020B0609020204030204" pitchFamily="49" charset="0"/>
              </a:rPr>
              <a:t>terminal alkyne</a:t>
            </a:r>
            <a:r>
              <a:rPr lang="en-US" altLang="zh-CN" sz="1600" b="1" dirty="0">
                <a:latin typeface="Consolas" panose="020B0609020204030204" pitchFamily="49" charset="0"/>
              </a:rPr>
              <a:t>)                          (</a:t>
            </a:r>
            <a:r>
              <a:rPr lang="en-US" altLang="zh-CN" sz="1600" b="1" dirty="0">
                <a:solidFill>
                  <a:srgbClr val="0000FF"/>
                </a:solidFill>
                <a:latin typeface="Consolas" panose="020B0609020204030204" pitchFamily="49" charset="0"/>
              </a:rPr>
              <a:t>methyl ketone</a:t>
            </a:r>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40148989"/>
              </p:ext>
            </p:extLst>
          </p:nvPr>
        </p:nvGraphicFramePr>
        <p:xfrm>
          <a:off x="2329624" y="691657"/>
          <a:ext cx="7071312" cy="1183079"/>
        </p:xfrm>
        <a:graphic>
          <a:graphicData uri="http://schemas.openxmlformats.org/presentationml/2006/ole">
            <mc:AlternateContent xmlns:mc="http://schemas.openxmlformats.org/markup-compatibility/2006">
              <mc:Choice xmlns:v="urn:schemas-microsoft-com:vml" Requires="v">
                <p:oleObj name="CS ChemDraw Drawing" r:id="rId2" imgW="3719941" imgH="622770" progId="ChemDraw.Document.6.0">
                  <p:embed/>
                </p:oleObj>
              </mc:Choice>
              <mc:Fallback>
                <p:oleObj name="CS ChemDraw Drawing" r:id="rId2" imgW="3719941" imgH="622770" progId="ChemDraw.Document.6.0">
                  <p:embed/>
                  <p:pic>
                    <p:nvPicPr>
                      <p:cNvPr id="4" name="对象 3"/>
                      <p:cNvPicPr/>
                      <p:nvPr/>
                    </p:nvPicPr>
                    <p:blipFill>
                      <a:blip r:embed="rId3"/>
                      <a:stretch>
                        <a:fillRect/>
                      </a:stretch>
                    </p:blipFill>
                    <p:spPr>
                      <a:xfrm>
                        <a:off x="2329624" y="691657"/>
                        <a:ext cx="7071312" cy="1183079"/>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93957069"/>
              </p:ext>
            </p:extLst>
          </p:nvPr>
        </p:nvGraphicFramePr>
        <p:xfrm>
          <a:off x="1415480" y="3068960"/>
          <a:ext cx="10103553" cy="1800200"/>
        </p:xfrm>
        <a:graphic>
          <a:graphicData uri="http://schemas.openxmlformats.org/presentationml/2006/ole">
            <mc:AlternateContent xmlns:mc="http://schemas.openxmlformats.org/markup-compatibility/2006">
              <mc:Choice xmlns:v="urn:schemas-microsoft-com:vml" Requires="v">
                <p:oleObj name="CS ChemDraw Drawing" r:id="rId4" imgW="5862813" imgH="1044953" progId="ChemDraw.Document.6.0">
                  <p:embed/>
                </p:oleObj>
              </mc:Choice>
              <mc:Fallback>
                <p:oleObj name="CS ChemDraw Drawing" r:id="rId4" imgW="5862813" imgH="1044953" progId="ChemDraw.Document.6.0">
                  <p:embed/>
                  <p:pic>
                    <p:nvPicPr>
                      <p:cNvPr id="6" name="对象 5"/>
                      <p:cNvPicPr/>
                      <p:nvPr/>
                    </p:nvPicPr>
                    <p:blipFill>
                      <a:blip r:embed="rId5"/>
                      <a:stretch>
                        <a:fillRect/>
                      </a:stretch>
                    </p:blipFill>
                    <p:spPr>
                      <a:xfrm>
                        <a:off x="1415480" y="3068960"/>
                        <a:ext cx="10103553" cy="1800200"/>
                      </a:xfrm>
                      <a:prstGeom prst="rect">
                        <a:avLst/>
                      </a:prstGeom>
                    </p:spPr>
                  </p:pic>
                </p:oleObj>
              </mc:Fallback>
            </mc:AlternateContent>
          </a:graphicData>
        </a:graphic>
      </p:graphicFrame>
      <p:sp>
        <p:nvSpPr>
          <p:cNvPr id="12" name="TextBox 7"/>
          <p:cNvSpPr txBox="1"/>
          <p:nvPr/>
        </p:nvSpPr>
        <p:spPr>
          <a:xfrm>
            <a:off x="1631504" y="5065008"/>
            <a:ext cx="7253909" cy="338554"/>
          </a:xfrm>
          <a:prstGeom prst="rect">
            <a:avLst/>
          </a:prstGeom>
          <a:noFill/>
        </p:spPr>
        <p:txBody>
          <a:bodyPr wrap="none" rtlCol="0">
            <a:spAutoFit/>
          </a:bodyPr>
          <a:lstStyle/>
          <a:p>
            <a:r>
              <a:rPr lang="en-US" altLang="zh-CN" sz="1600" b="1" dirty="0">
                <a:latin typeface="Consolas" panose="020B0609020204030204" pitchFamily="49" charset="0"/>
              </a:rPr>
              <a:t>(</a:t>
            </a:r>
            <a:r>
              <a:rPr lang="en-US" altLang="zh-CN" sz="1600" b="1" dirty="0">
                <a:solidFill>
                  <a:srgbClr val="0000FF"/>
                </a:solidFill>
                <a:latin typeface="Consolas" panose="020B0609020204030204" pitchFamily="49" charset="0"/>
              </a:rPr>
              <a:t>internal alkyne</a:t>
            </a:r>
            <a:r>
              <a:rPr lang="en-US" altLang="zh-CN" sz="1600" b="1" dirty="0">
                <a:latin typeface="Consolas" panose="020B0609020204030204" pitchFamily="49" charset="0"/>
              </a:rPr>
              <a:t>)                  (</a:t>
            </a:r>
            <a:r>
              <a:rPr lang="en-US" altLang="zh-CN" sz="1600" b="1" dirty="0">
                <a:solidFill>
                  <a:srgbClr val="0000FF"/>
                </a:solidFill>
                <a:latin typeface="Consolas" panose="020B0609020204030204" pitchFamily="49" charset="0"/>
              </a:rPr>
              <a:t>a mixture of two ketones</a:t>
            </a:r>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45</a:t>
            </a:fld>
            <a:endParaRPr lang="zh-CN" altLang="en-US"/>
          </a:p>
        </p:txBody>
      </p:sp>
      <p:sp>
        <p:nvSpPr>
          <p:cNvPr id="3" name="TextBox 2"/>
          <p:cNvSpPr txBox="1"/>
          <p:nvPr/>
        </p:nvSpPr>
        <p:spPr>
          <a:xfrm>
            <a:off x="0" y="800552"/>
            <a:ext cx="4179349" cy="461665"/>
          </a:xfrm>
          <a:prstGeom prst="rect">
            <a:avLst/>
          </a:prstGeom>
          <a:noFill/>
        </p:spPr>
        <p:txBody>
          <a:bodyPr wrap="none" rtlCol="0">
            <a:spAutoFit/>
          </a:bodyPr>
          <a:lstStyle/>
          <a:p>
            <a:r>
              <a:rPr lang="en-US" altLang="zh-CN" sz="24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1&gt; </a:t>
            </a:r>
            <a:r>
              <a:rPr lang="en-US" altLang="zh-CN" sz="2400" b="1" dirty="0">
                <a:latin typeface="Microsoft Sans Serif" panose="020B0604020202020204" pitchFamily="34" charset="0"/>
                <a:ea typeface="Microsoft Sans Serif" panose="020B0604020202020204" pitchFamily="34" charset="0"/>
                <a:cs typeface="Microsoft Sans Serif" panose="020B0604020202020204" pitchFamily="34" charset="0"/>
              </a:rPr>
              <a:t>Permanganate Oxidations</a:t>
            </a:r>
            <a:endParaRPr lang="zh-CN" altLang="en-US" sz="2400" b="1" dirty="0">
              <a:latin typeface="Microsoft Sans Serif" panose="020B0604020202020204" pitchFamily="34" charset="0"/>
              <a:cs typeface="Microsoft Sans Serif" panose="020B0604020202020204" pitchFamily="34" charset="0"/>
            </a:endParaRPr>
          </a:p>
        </p:txBody>
      </p:sp>
      <p:sp>
        <p:nvSpPr>
          <p:cNvPr id="8" name="矩形 7"/>
          <p:cNvSpPr/>
          <p:nvPr/>
        </p:nvSpPr>
        <p:spPr>
          <a:xfrm>
            <a:off x="0" y="191945"/>
            <a:ext cx="4311437" cy="523220"/>
          </a:xfrm>
          <a:prstGeom prst="rect">
            <a:avLst/>
          </a:prstGeom>
          <a:solidFill>
            <a:schemeClr val="tx2">
              <a:lumMod val="20000"/>
              <a:lumOff val="80000"/>
            </a:schemeClr>
          </a:solidFill>
        </p:spPr>
        <p:txBody>
          <a:bodyPr wrap="none">
            <a:spAutoFit/>
          </a:bodyPr>
          <a:lstStyle/>
          <a:p>
            <a:r>
              <a:rPr lang="en-US" altLang="zh-CN" sz="2800" b="1" dirty="0"/>
              <a:t>4-12-5 Oxidation of Alkynes</a:t>
            </a:r>
          </a:p>
        </p:txBody>
      </p:sp>
      <p:graphicFrame>
        <p:nvGraphicFramePr>
          <p:cNvPr id="6" name="对象 5"/>
          <p:cNvGraphicFramePr>
            <a:graphicFrameLocks noChangeAspect="1"/>
          </p:cNvGraphicFramePr>
          <p:nvPr/>
        </p:nvGraphicFramePr>
        <p:xfrm>
          <a:off x="1957311" y="1825630"/>
          <a:ext cx="7850736" cy="1222679"/>
        </p:xfrm>
        <a:graphic>
          <a:graphicData uri="http://schemas.openxmlformats.org/presentationml/2006/ole">
            <mc:AlternateContent xmlns:mc="http://schemas.openxmlformats.org/markup-compatibility/2006">
              <mc:Choice xmlns:v="urn:schemas-microsoft-com:vml" Requires="v">
                <p:oleObj name="CS ChemDraw Drawing" r:id="rId2" imgW="4382807" imgH="682629" progId="ChemDraw.Document.6.0">
                  <p:embed/>
                </p:oleObj>
              </mc:Choice>
              <mc:Fallback>
                <p:oleObj name="CS ChemDraw Drawing" r:id="rId2" imgW="4382807" imgH="682629" progId="ChemDraw.Document.6.0">
                  <p:embed/>
                  <p:pic>
                    <p:nvPicPr>
                      <p:cNvPr id="6" name="对象 5"/>
                      <p:cNvPicPr/>
                      <p:nvPr/>
                    </p:nvPicPr>
                    <p:blipFill>
                      <a:blip r:embed="rId3"/>
                      <a:stretch>
                        <a:fillRect/>
                      </a:stretch>
                    </p:blipFill>
                    <p:spPr>
                      <a:xfrm>
                        <a:off x="1957311" y="1825630"/>
                        <a:ext cx="7850736" cy="1222679"/>
                      </a:xfrm>
                      <a:prstGeom prst="rect">
                        <a:avLst/>
                      </a:prstGeom>
                      <a:ln w="28575">
                        <a:solidFill>
                          <a:schemeClr val="bg1">
                            <a:lumMod val="85000"/>
                          </a:schemeClr>
                        </a:solidFill>
                      </a:ln>
                    </p:spPr>
                  </p:pic>
                </p:oleObj>
              </mc:Fallback>
            </mc:AlternateContent>
          </a:graphicData>
        </a:graphic>
      </p:graphicFrame>
      <p:sp>
        <p:nvSpPr>
          <p:cNvPr id="7" name="椭圆 6"/>
          <p:cNvSpPr/>
          <p:nvPr/>
        </p:nvSpPr>
        <p:spPr>
          <a:xfrm>
            <a:off x="5989759" y="1825630"/>
            <a:ext cx="432048" cy="1222679"/>
          </a:xfrm>
          <a:prstGeom prst="ellipse">
            <a:avLst/>
          </a:prstGeom>
          <a:no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349798" y="1825630"/>
            <a:ext cx="485591" cy="1222679"/>
          </a:xfrm>
          <a:prstGeom prst="ellipse">
            <a:avLst/>
          </a:prstGeom>
          <a:no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879308163"/>
              </p:ext>
            </p:extLst>
          </p:nvPr>
        </p:nvGraphicFramePr>
        <p:xfrm>
          <a:off x="2207568" y="3303342"/>
          <a:ext cx="6975187" cy="1222679"/>
        </p:xfrm>
        <a:graphic>
          <a:graphicData uri="http://schemas.openxmlformats.org/presentationml/2006/ole">
            <mc:AlternateContent xmlns:mc="http://schemas.openxmlformats.org/markup-compatibility/2006">
              <mc:Choice xmlns:v="urn:schemas-microsoft-com:vml" Requires="v">
                <p:oleObj name="CS ChemDraw Drawing" r:id="rId4" imgW="3559748" imgH="623166" progId="ChemDraw.Document.6.0">
                  <p:embed/>
                </p:oleObj>
              </mc:Choice>
              <mc:Fallback>
                <p:oleObj name="CS ChemDraw Drawing" r:id="rId4" imgW="3559748" imgH="623166" progId="ChemDraw.Document.6.0">
                  <p:embed/>
                  <p:pic>
                    <p:nvPicPr>
                      <p:cNvPr id="9" name="对象 8"/>
                      <p:cNvPicPr/>
                      <p:nvPr/>
                    </p:nvPicPr>
                    <p:blipFill>
                      <a:blip r:embed="rId5"/>
                      <a:stretch>
                        <a:fillRect/>
                      </a:stretch>
                    </p:blipFill>
                    <p:spPr>
                      <a:xfrm>
                        <a:off x="2207568" y="3303342"/>
                        <a:ext cx="6975187" cy="1222679"/>
                      </a:xfrm>
                      <a:prstGeom prst="rect">
                        <a:avLst/>
                      </a:prstGeom>
                    </p:spPr>
                  </p:pic>
                </p:oleObj>
              </mc:Fallback>
            </mc:AlternateContent>
          </a:graphicData>
        </a:graphic>
      </p:graphicFrame>
      <p:sp>
        <p:nvSpPr>
          <p:cNvPr id="10" name="文本框 9"/>
          <p:cNvSpPr txBox="1"/>
          <p:nvPr/>
        </p:nvSpPr>
        <p:spPr>
          <a:xfrm>
            <a:off x="600644" y="1283756"/>
            <a:ext cx="3110147" cy="400110"/>
          </a:xfrm>
          <a:prstGeom prst="rect">
            <a:avLst/>
          </a:prstGeom>
          <a:noFill/>
        </p:spPr>
        <p:txBody>
          <a:bodyPr wrap="none" rtlCol="0">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(1) Under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mild conditions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807485458"/>
              </p:ext>
            </p:extLst>
          </p:nvPr>
        </p:nvGraphicFramePr>
        <p:xfrm>
          <a:off x="847824" y="4991908"/>
          <a:ext cx="11103178" cy="1321662"/>
        </p:xfrm>
        <a:graphic>
          <a:graphicData uri="http://schemas.openxmlformats.org/presentationml/2006/ole">
            <mc:AlternateContent xmlns:mc="http://schemas.openxmlformats.org/markup-compatibility/2006">
              <mc:Choice xmlns:v="urn:schemas-microsoft-com:vml" Requires="v">
                <p:oleObj name="CS ChemDraw Drawing" r:id="rId6" imgW="5787846" imgH="688575" progId="ChemDraw.Document.6.0">
                  <p:embed/>
                </p:oleObj>
              </mc:Choice>
              <mc:Fallback>
                <p:oleObj name="CS ChemDraw Drawing" r:id="rId6" imgW="5787846" imgH="688575" progId="ChemDraw.Document.6.0">
                  <p:embed/>
                  <p:pic>
                    <p:nvPicPr>
                      <p:cNvPr id="11" name="对象 10"/>
                      <p:cNvPicPr/>
                      <p:nvPr/>
                    </p:nvPicPr>
                    <p:blipFill>
                      <a:blip r:embed="rId7"/>
                      <a:stretch>
                        <a:fillRect/>
                      </a:stretch>
                    </p:blipFill>
                    <p:spPr>
                      <a:xfrm>
                        <a:off x="847824" y="4991908"/>
                        <a:ext cx="11103178" cy="1321662"/>
                      </a:xfrm>
                      <a:prstGeom prst="rect">
                        <a:avLst/>
                      </a:prstGeom>
                      <a:ln w="28575">
                        <a:solidFill>
                          <a:schemeClr val="bg1">
                            <a:lumMod val="85000"/>
                          </a:schemeClr>
                        </a:solidFill>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7" descr="c:\users\administrator\appdata\roaming\360se6\User Data\temp\u=4282084174,2741148262&amp;fm=206&amp;gp=0.jpg"/>
          <p:cNvPicPr>
            <a:picLocks noChangeAspect="1" noChangeArrowheads="1"/>
          </p:cNvPicPr>
          <p:nvPr/>
        </p:nvPicPr>
        <p:blipFill>
          <a:blip r:embed="rId2" cstate="print"/>
          <a:srcRect l="30682" t="30682" r="31818" b="28409"/>
          <a:stretch>
            <a:fillRect/>
          </a:stretch>
        </p:blipFill>
        <p:spPr bwMode="auto">
          <a:xfrm rot="10800000">
            <a:off x="2279576" y="4364968"/>
            <a:ext cx="392909" cy="428628"/>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pPr/>
              <a:t>46</a:t>
            </a:fld>
            <a:endParaRPr lang="zh-CN" altLang="en-US"/>
          </a:p>
        </p:txBody>
      </p:sp>
      <p:sp>
        <p:nvSpPr>
          <p:cNvPr id="3" name="TextBox 2"/>
          <p:cNvSpPr txBox="1"/>
          <p:nvPr/>
        </p:nvSpPr>
        <p:spPr>
          <a:xfrm>
            <a:off x="439983" y="329528"/>
            <a:ext cx="4688302" cy="400110"/>
          </a:xfrm>
          <a:prstGeom prst="rect">
            <a:avLst/>
          </a:prstGeom>
          <a:noFill/>
        </p:spPr>
        <p:txBody>
          <a:bodyPr wrap="square" rtlCol="0">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(2) Under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warm or too basic conditions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sp>
        <p:nvSpPr>
          <p:cNvPr id="7" name="TextBox 6"/>
          <p:cNvSpPr txBox="1"/>
          <p:nvPr/>
        </p:nvSpPr>
        <p:spPr>
          <a:xfrm>
            <a:off x="439983" y="3592678"/>
            <a:ext cx="8286808"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Terminal alkynes are cleaved to give a carboxylic acid and CO</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2</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pic>
        <p:nvPicPr>
          <p:cNvPr id="48135" name="Picture 7" descr="c:\users\administrator\appdata\roaming\360se6\User Data\temp\u=4282084174,2741148262&amp;fm=206&amp;gp=0.jpg"/>
          <p:cNvPicPr>
            <a:picLocks noChangeAspect="1" noChangeArrowheads="1"/>
          </p:cNvPicPr>
          <p:nvPr/>
        </p:nvPicPr>
        <p:blipFill>
          <a:blip r:embed="rId2" cstate="print"/>
          <a:srcRect l="30682" t="30682" r="31818" b="28409"/>
          <a:stretch>
            <a:fillRect/>
          </a:stretch>
        </p:blipFill>
        <p:spPr bwMode="auto">
          <a:xfrm rot="10800000">
            <a:off x="3084476" y="1263944"/>
            <a:ext cx="392909" cy="428628"/>
          </a:xfrm>
          <a:prstGeom prst="rect">
            <a:avLst/>
          </a:prstGeom>
          <a:noFill/>
        </p:spPr>
      </p:pic>
      <p:sp>
        <p:nvSpPr>
          <p:cNvPr id="5" name="文本框 4"/>
          <p:cNvSpPr txBox="1"/>
          <p:nvPr/>
        </p:nvSpPr>
        <p:spPr>
          <a:xfrm>
            <a:off x="439983" y="861165"/>
            <a:ext cx="6918882"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Internal alkynes are cleaved to give two carboxylic acids.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213037159"/>
              </p:ext>
            </p:extLst>
          </p:nvPr>
        </p:nvGraphicFramePr>
        <p:xfrm>
          <a:off x="1719688" y="4716243"/>
          <a:ext cx="9774367" cy="1607948"/>
        </p:xfrm>
        <a:graphic>
          <a:graphicData uri="http://schemas.openxmlformats.org/presentationml/2006/ole">
            <mc:AlternateContent xmlns:mc="http://schemas.openxmlformats.org/markup-compatibility/2006">
              <mc:Choice xmlns:v="urn:schemas-microsoft-com:vml" Requires="v">
                <p:oleObj name="CS ChemDraw Drawing" r:id="rId3" imgW="4776186" imgH="786093" progId="ChemDraw.Document.6.0">
                  <p:embed/>
                </p:oleObj>
              </mc:Choice>
              <mc:Fallback>
                <p:oleObj name="CS ChemDraw Drawing" r:id="rId3" imgW="4776186" imgH="786093" progId="ChemDraw.Document.6.0">
                  <p:embed/>
                  <p:pic>
                    <p:nvPicPr>
                      <p:cNvPr id="6" name="对象 5"/>
                      <p:cNvPicPr/>
                      <p:nvPr/>
                    </p:nvPicPr>
                    <p:blipFill>
                      <a:blip r:embed="rId4"/>
                      <a:stretch>
                        <a:fillRect/>
                      </a:stretch>
                    </p:blipFill>
                    <p:spPr>
                      <a:xfrm>
                        <a:off x="1719688" y="4716243"/>
                        <a:ext cx="9774367" cy="160794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40615512"/>
              </p:ext>
            </p:extLst>
          </p:nvPr>
        </p:nvGraphicFramePr>
        <p:xfrm>
          <a:off x="2261831" y="1570457"/>
          <a:ext cx="8730713" cy="1424873"/>
        </p:xfrm>
        <a:graphic>
          <a:graphicData uri="http://schemas.openxmlformats.org/presentationml/2006/ole">
            <mc:AlternateContent xmlns:mc="http://schemas.openxmlformats.org/markup-compatibility/2006">
              <mc:Choice xmlns:v="urn:schemas-microsoft-com:vml" Requires="v">
                <p:oleObj name="CS ChemDraw Drawing" r:id="rId5" imgW="4123579" imgH="673511" progId="ChemDraw.Document.6.0">
                  <p:embed/>
                </p:oleObj>
              </mc:Choice>
              <mc:Fallback>
                <p:oleObj name="CS ChemDraw Drawing" r:id="rId5" imgW="4123579" imgH="673511" progId="ChemDraw.Document.6.0">
                  <p:embed/>
                  <p:pic>
                    <p:nvPicPr>
                      <p:cNvPr id="8" name="对象 7"/>
                      <p:cNvPicPr/>
                      <p:nvPr/>
                    </p:nvPicPr>
                    <p:blipFill>
                      <a:blip r:embed="rId6"/>
                      <a:stretch>
                        <a:fillRect/>
                      </a:stretch>
                    </p:blipFill>
                    <p:spPr>
                      <a:xfrm>
                        <a:off x="2261831" y="1570457"/>
                        <a:ext cx="8730713" cy="1424873"/>
                      </a:xfrm>
                      <a:prstGeom prst="rect">
                        <a:avLst/>
                      </a:prstGeom>
                      <a:ln w="28575">
                        <a:solidFill>
                          <a:schemeClr val="bg1">
                            <a:lumMod val="85000"/>
                          </a:schemeClr>
                        </a:solidFill>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47</a:t>
            </a:fld>
            <a:endParaRPr lang="zh-CN" altLang="en-US"/>
          </a:p>
        </p:txBody>
      </p:sp>
      <p:sp>
        <p:nvSpPr>
          <p:cNvPr id="3" name="矩形 2"/>
          <p:cNvSpPr/>
          <p:nvPr/>
        </p:nvSpPr>
        <p:spPr>
          <a:xfrm>
            <a:off x="0" y="317636"/>
            <a:ext cx="1923283" cy="461665"/>
          </a:xfrm>
          <a:prstGeom prst="rect">
            <a:avLst/>
          </a:prstGeom>
          <a:noFill/>
        </p:spPr>
        <p:txBody>
          <a:bodyPr wrap="none">
            <a:spAutoFit/>
          </a:bodyPr>
          <a:lstStyle/>
          <a:p>
            <a:r>
              <a:rPr lang="en-US" altLang="zh-CN" sz="2400" b="1" dirty="0">
                <a:highlight>
                  <a:srgbClr val="00FFFF"/>
                </a:highlight>
              </a:rPr>
              <a:t>2&gt; </a:t>
            </a:r>
            <a:r>
              <a:rPr lang="en-US" altLang="zh-CN" sz="2400" b="1" dirty="0"/>
              <a:t>Ozonolysis</a:t>
            </a:r>
            <a:endParaRPr lang="zh-CN" altLang="en-US" sz="2400" b="1" dirty="0"/>
          </a:p>
        </p:txBody>
      </p:sp>
      <p:sp>
        <p:nvSpPr>
          <p:cNvPr id="4" name="TextBox 3"/>
          <p:cNvSpPr txBox="1"/>
          <p:nvPr/>
        </p:nvSpPr>
        <p:spPr>
          <a:xfrm>
            <a:off x="335360" y="866974"/>
            <a:ext cx="11247040"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Ozonolysis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an alkyne, followed by hydrolysis, cleaves the triple bond to give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two carboxylic acids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cxnSp>
        <p:nvCxnSpPr>
          <p:cNvPr id="10" name="直接连接符 9"/>
          <p:cNvCxnSpPr/>
          <p:nvPr/>
        </p:nvCxnSpPr>
        <p:spPr>
          <a:xfrm rot="5400000">
            <a:off x="3302126" y="2186038"/>
            <a:ext cx="35719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对象 4"/>
          <p:cNvGraphicFramePr>
            <a:graphicFrameLocks noChangeAspect="1"/>
          </p:cNvGraphicFramePr>
          <p:nvPr>
            <p:extLst>
              <p:ext uri="{D42A27DB-BD31-4B8C-83A1-F6EECF244321}">
                <p14:modId xmlns:p14="http://schemas.microsoft.com/office/powerpoint/2010/main" val="2995051901"/>
              </p:ext>
            </p:extLst>
          </p:nvPr>
        </p:nvGraphicFramePr>
        <p:xfrm>
          <a:off x="2639616" y="1712305"/>
          <a:ext cx="7478455" cy="1297535"/>
        </p:xfrm>
        <a:graphic>
          <a:graphicData uri="http://schemas.openxmlformats.org/presentationml/2006/ole">
            <mc:AlternateContent xmlns:mc="http://schemas.openxmlformats.org/markup-compatibility/2006">
              <mc:Choice xmlns:v="urn:schemas-microsoft-com:vml" Requires="v">
                <p:oleObj name="CS ChemDraw Drawing" r:id="rId2" imgW="3366412" imgH="583525" progId="ChemDraw.Document.6.0">
                  <p:embed/>
                </p:oleObj>
              </mc:Choice>
              <mc:Fallback>
                <p:oleObj name="CS ChemDraw Drawing" r:id="rId2" imgW="3366412" imgH="583525" progId="ChemDraw.Document.6.0">
                  <p:embed/>
                  <p:pic>
                    <p:nvPicPr>
                      <p:cNvPr id="5" name="对象 4"/>
                      <p:cNvPicPr/>
                      <p:nvPr/>
                    </p:nvPicPr>
                    <p:blipFill>
                      <a:blip r:embed="rId3"/>
                      <a:stretch>
                        <a:fillRect/>
                      </a:stretch>
                    </p:blipFill>
                    <p:spPr>
                      <a:xfrm>
                        <a:off x="2639616" y="1712305"/>
                        <a:ext cx="7478455" cy="1297535"/>
                      </a:xfrm>
                      <a:prstGeom prst="rect">
                        <a:avLst/>
                      </a:prstGeom>
                      <a:ln w="28575">
                        <a:solidFill>
                          <a:schemeClr val="bg1">
                            <a:lumMod val="85000"/>
                          </a:schemeClr>
                        </a:solidFill>
                      </a:ln>
                    </p:spPr>
                  </p:pic>
                </p:oleObj>
              </mc:Fallback>
            </mc:AlternateContent>
          </a:graphicData>
        </a:graphic>
      </p:graphicFrame>
      <p:pic>
        <p:nvPicPr>
          <p:cNvPr id="12" name="Picture 7" descr="c:\users\administrator\appdata\roaming\360se6\User Data\temp\u=4282084174,2741148262&amp;fm=206&amp;gp=0.jpg"/>
          <p:cNvPicPr>
            <a:picLocks noChangeAspect="1" noChangeArrowheads="1"/>
          </p:cNvPicPr>
          <p:nvPr/>
        </p:nvPicPr>
        <p:blipFill>
          <a:blip r:embed="rId4" cstate="print"/>
          <a:srcRect l="30682" t="30682" r="31818" b="28409"/>
          <a:stretch>
            <a:fillRect/>
          </a:stretch>
        </p:blipFill>
        <p:spPr bwMode="auto">
          <a:xfrm rot="10800000">
            <a:off x="3356810" y="1569919"/>
            <a:ext cx="392909" cy="428628"/>
          </a:xfrm>
          <a:prstGeom prst="rect">
            <a:avLst/>
          </a:prstGeom>
          <a:noFill/>
        </p:spPr>
      </p:pic>
      <p:graphicFrame>
        <p:nvGraphicFramePr>
          <p:cNvPr id="6" name="对象 5"/>
          <p:cNvGraphicFramePr>
            <a:graphicFrameLocks noChangeAspect="1"/>
          </p:cNvGraphicFramePr>
          <p:nvPr>
            <p:extLst>
              <p:ext uri="{D42A27DB-BD31-4B8C-83A1-F6EECF244321}">
                <p14:modId xmlns:p14="http://schemas.microsoft.com/office/powerpoint/2010/main" val="4178147249"/>
              </p:ext>
            </p:extLst>
          </p:nvPr>
        </p:nvGraphicFramePr>
        <p:xfrm>
          <a:off x="2299636" y="3281462"/>
          <a:ext cx="7887468" cy="2709564"/>
        </p:xfrm>
        <a:graphic>
          <a:graphicData uri="http://schemas.openxmlformats.org/presentationml/2006/ole">
            <mc:AlternateContent xmlns:mc="http://schemas.openxmlformats.org/markup-compatibility/2006">
              <mc:Choice xmlns:v="urn:schemas-microsoft-com:vml" Requires="v">
                <p:oleObj name="CS ChemDraw Drawing" r:id="rId5" imgW="4463692" imgH="1532941" progId="ChemDraw.Document.6.0">
                  <p:embed/>
                </p:oleObj>
              </mc:Choice>
              <mc:Fallback>
                <p:oleObj name="CS ChemDraw Drawing" r:id="rId5" imgW="4463692" imgH="1532941" progId="ChemDraw.Document.6.0">
                  <p:embed/>
                  <p:pic>
                    <p:nvPicPr>
                      <p:cNvPr id="6" name="对象 5"/>
                      <p:cNvPicPr/>
                      <p:nvPr/>
                    </p:nvPicPr>
                    <p:blipFill>
                      <a:blip r:embed="rId6"/>
                      <a:stretch>
                        <a:fillRect/>
                      </a:stretch>
                    </p:blipFill>
                    <p:spPr>
                      <a:xfrm>
                        <a:off x="2299636" y="3281462"/>
                        <a:ext cx="7887468" cy="2709564"/>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2503</TotalTime>
  <Words>3739</Words>
  <Application>Microsoft Macintosh PowerPoint</Application>
  <PresentationFormat>Widescreen</PresentationFormat>
  <Paragraphs>354</Paragraphs>
  <Slides>47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4" baseType="lpstr">
      <vt:lpstr>Arial</vt:lpstr>
      <vt:lpstr>Calibri</vt:lpstr>
      <vt:lpstr>Consolas</vt:lpstr>
      <vt:lpstr>Microsoft Sans Serif</vt:lpstr>
      <vt:lpstr>Symbol</vt:lpstr>
      <vt:lpstr>Office 主题</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Xiyuan Chen (BSc Biomed Sci w Pharm (480))</cp:lastModifiedBy>
  <cp:revision>637</cp:revision>
  <dcterms:created xsi:type="dcterms:W3CDTF">2017-06-17T10:03:02Z</dcterms:created>
  <dcterms:modified xsi:type="dcterms:W3CDTF">2026-09-27T15:17:49Z</dcterms:modified>
</cp:coreProperties>
</file>