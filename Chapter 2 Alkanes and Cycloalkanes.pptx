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256" r:id="rId2"/>
    <p:sldId id="275" r:id="rId3"/>
    <p:sldId id="276" r:id="rId4"/>
    <p:sldId id="277" r:id="rId5"/>
    <p:sldId id="278" r:id="rId6"/>
    <p:sldId id="280" r:id="rId7"/>
    <p:sldId id="279" r:id="rId8"/>
    <p:sldId id="281" r:id="rId9"/>
    <p:sldId id="282" r:id="rId10"/>
    <p:sldId id="258" r:id="rId11"/>
    <p:sldId id="259" r:id="rId12"/>
    <p:sldId id="283" r:id="rId13"/>
    <p:sldId id="286" r:id="rId14"/>
    <p:sldId id="288" r:id="rId15"/>
    <p:sldId id="289" r:id="rId16"/>
    <p:sldId id="316" r:id="rId17"/>
    <p:sldId id="317" r:id="rId18"/>
    <p:sldId id="318" r:id="rId19"/>
    <p:sldId id="321" r:id="rId20"/>
    <p:sldId id="311" r:id="rId21"/>
    <p:sldId id="322" r:id="rId22"/>
    <p:sldId id="323" r:id="rId23"/>
    <p:sldId id="324" r:id="rId24"/>
    <p:sldId id="325" r:id="rId25"/>
    <p:sldId id="326" r:id="rId26"/>
    <p:sldId id="285" r:id="rId27"/>
    <p:sldId id="328" r:id="rId28"/>
    <p:sldId id="287" r:id="rId29"/>
    <p:sldId id="331" r:id="rId30"/>
    <p:sldId id="330" r:id="rId31"/>
    <p:sldId id="291" r:id="rId32"/>
    <p:sldId id="292" r:id="rId33"/>
    <p:sldId id="295" r:id="rId34"/>
    <p:sldId id="296" r:id="rId35"/>
    <p:sldId id="299" r:id="rId36"/>
    <p:sldId id="298" r:id="rId37"/>
    <p:sldId id="301" r:id="rId38"/>
    <p:sldId id="332" r:id="rId39"/>
    <p:sldId id="306" r:id="rId40"/>
    <p:sldId id="307" r:id="rId41"/>
    <p:sldId id="312" r:id="rId42"/>
    <p:sldId id="320" r:id="rId43"/>
  </p:sldIdLst>
  <p:sldSz cx="12192000" cy="6858000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0000FF"/>
    <a:srgbClr val="00FF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973" autoAdjust="0"/>
    <p:restoredTop sz="94660"/>
  </p:normalViewPr>
  <p:slideViewPr>
    <p:cSldViewPr>
      <p:cViewPr varScale="1">
        <p:scale>
          <a:sx n="137" d="100"/>
          <a:sy n="137" d="100"/>
        </p:scale>
        <p:origin x="1192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6AAE56-77E5-496F-8CD1-08648EE1AEF3}" type="datetimeFigureOut">
              <a:rPr lang="zh-CN" altLang="en-US" smtClean="0"/>
              <a:pPr/>
              <a:t>2026/9/11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AC2517-1616-45AB-BD05-23755A17C8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EACF4-8513-4F44-8CE3-593D88B3A249}" type="datetimeFigureOut">
              <a:rPr lang="zh-CN" altLang="en-US" smtClean="0"/>
              <a:pPr/>
              <a:t>2026/9/11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4F5110-0418-44B4-8725-CA502557396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5680D3-2F69-4FB9-A514-B0578BCB3868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0885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37450-7497-45E9-AC11-2D319AC9466E}" type="datetime1">
              <a:rPr lang="zh-CN" altLang="en-US" smtClean="0"/>
              <a:pPr/>
              <a:t>2026/9/11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FA4F2-91AD-4BFD-976B-4865D1F5C11C}" type="datetime1">
              <a:rPr lang="zh-CN" altLang="en-US" smtClean="0"/>
              <a:pPr/>
              <a:t>2026/9/11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8AEC-97D7-4E32-893D-54EB9D41F7DE}" type="datetime1">
              <a:rPr lang="zh-CN" altLang="en-US" smtClean="0"/>
              <a:pPr/>
              <a:t>2026/9/11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9E6E8-924B-4F23-9FF9-EEEBADF7D4A1}" type="datetime1">
              <a:rPr lang="zh-CN" altLang="en-US" smtClean="0"/>
              <a:pPr/>
              <a:t>2026/9/11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8D879-57EC-435B-BBB4-B3C42B654E65}" type="datetime1">
              <a:rPr lang="zh-CN" altLang="en-US" smtClean="0"/>
              <a:pPr/>
              <a:t>2026/9/11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1DD31-8E95-48D9-8B27-6A8BCB0A43AE}" type="datetime1">
              <a:rPr lang="zh-CN" altLang="en-US" smtClean="0"/>
              <a:pPr/>
              <a:t>2026/9/11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98AD5-9EEE-49F4-AD80-B076E06F5897}" type="datetime1">
              <a:rPr lang="zh-CN" altLang="en-US" smtClean="0"/>
              <a:pPr/>
              <a:t>2026/9/11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5E57B-C04D-46AD-8A93-D9D39DC6389A}" type="datetime1">
              <a:rPr lang="zh-CN" altLang="en-US" smtClean="0"/>
              <a:pPr/>
              <a:t>2026/9/11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9E5D2-AE6D-43A7-AEC3-D185883BBFDD}" type="datetime1">
              <a:rPr lang="zh-CN" altLang="en-US" smtClean="0"/>
              <a:pPr/>
              <a:t>2026/9/11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410EA-CC3C-450B-8517-4E0E3A699B5E}" type="datetime1">
              <a:rPr lang="zh-CN" altLang="en-US" smtClean="0"/>
              <a:pPr/>
              <a:t>2026/9/11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87136-BF77-48FD-909C-19AECAF48D37}" type="datetime1">
              <a:rPr lang="zh-CN" altLang="en-US" smtClean="0"/>
              <a:pPr/>
              <a:t>2026/9/11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1D7D6F-C84B-4767-8786-38D43B116402}" type="datetime1">
              <a:rPr lang="zh-CN" altLang="en-US" smtClean="0"/>
              <a:pPr/>
              <a:t>2026/9/11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4.emf"/><Relationship Id="rId7" Type="http://schemas.openxmlformats.org/officeDocument/2006/relationships/image" Target="../media/image6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8.emf"/><Relationship Id="rId5" Type="http://schemas.openxmlformats.org/officeDocument/2006/relationships/image" Target="../media/image5.e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0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5.emf"/><Relationship Id="rId3" Type="http://schemas.openxmlformats.org/officeDocument/2006/relationships/image" Target="../media/image11.emf"/><Relationship Id="rId7" Type="http://schemas.openxmlformats.org/officeDocument/2006/relationships/image" Target="../media/image13.emf"/><Relationship Id="rId12" Type="http://schemas.openxmlformats.org/officeDocument/2006/relationships/oleObject" Target="../embeddings/oleObject16.bin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4.emf"/><Relationship Id="rId5" Type="http://schemas.openxmlformats.org/officeDocument/2006/relationships/image" Target="../media/image12.e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7" Type="http://schemas.openxmlformats.org/officeDocument/2006/relationships/image" Target="../media/image18.e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9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image" Target="../media/image22.emf"/><Relationship Id="rId7" Type="http://schemas.openxmlformats.org/officeDocument/2006/relationships/image" Target="../media/image24.e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23.e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25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32.emf"/><Relationship Id="rId3" Type="http://schemas.openxmlformats.org/officeDocument/2006/relationships/image" Target="../media/image27.emf"/><Relationship Id="rId7" Type="http://schemas.openxmlformats.org/officeDocument/2006/relationships/image" Target="../media/image29.emf"/><Relationship Id="rId12" Type="http://schemas.openxmlformats.org/officeDocument/2006/relationships/oleObject" Target="../embeddings/oleObject33.bin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31.emf"/><Relationship Id="rId5" Type="http://schemas.openxmlformats.org/officeDocument/2006/relationships/image" Target="../media/image28.emf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oleObject29.bin"/><Relationship Id="rId9" Type="http://schemas.openxmlformats.org/officeDocument/2006/relationships/image" Target="../media/image30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3" Type="http://schemas.openxmlformats.org/officeDocument/2006/relationships/image" Target="../media/image34.emf"/><Relationship Id="rId7" Type="http://schemas.openxmlformats.org/officeDocument/2006/relationships/image" Target="../media/image36.e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38.emf"/><Relationship Id="rId5" Type="http://schemas.openxmlformats.org/officeDocument/2006/relationships/image" Target="../media/image35.emf"/><Relationship Id="rId10" Type="http://schemas.openxmlformats.org/officeDocument/2006/relationships/oleObject" Target="../embeddings/oleObject39.bin"/><Relationship Id="rId4" Type="http://schemas.openxmlformats.org/officeDocument/2006/relationships/oleObject" Target="../embeddings/oleObject36.bin"/><Relationship Id="rId9" Type="http://schemas.openxmlformats.org/officeDocument/2006/relationships/image" Target="../media/image37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e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emf"/><Relationship Id="rId4" Type="http://schemas.openxmlformats.org/officeDocument/2006/relationships/oleObject" Target="../embeddings/oleObject43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oleObject" Target="../embeddings/oleObject4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emf"/><Relationship Id="rId4" Type="http://schemas.openxmlformats.org/officeDocument/2006/relationships/oleObject" Target="../embeddings/oleObject45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emf"/><Relationship Id="rId4" Type="http://schemas.openxmlformats.org/officeDocument/2006/relationships/oleObject" Target="../embeddings/oleObject47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oleObject" Target="../embeddings/oleObject48.bin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7" Type="http://schemas.openxmlformats.org/officeDocument/2006/relationships/image" Target="../media/image57.e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2.bin"/><Relationship Id="rId5" Type="http://schemas.openxmlformats.org/officeDocument/2006/relationships/image" Target="../media/image56.emf"/><Relationship Id="rId4" Type="http://schemas.openxmlformats.org/officeDocument/2006/relationships/oleObject" Target="../embeddings/oleObject51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7" Type="http://schemas.openxmlformats.org/officeDocument/2006/relationships/image" Target="../media/image60.emf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5.bin"/><Relationship Id="rId5" Type="http://schemas.openxmlformats.org/officeDocument/2006/relationships/image" Target="../media/image59.emf"/><Relationship Id="rId4" Type="http://schemas.openxmlformats.org/officeDocument/2006/relationships/oleObject" Target="../embeddings/oleObject54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oleObject" Target="../embeddings/oleObject57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emf"/><Relationship Id="rId4" Type="http://schemas.openxmlformats.org/officeDocument/2006/relationships/oleObject" Target="../embeddings/oleObject58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7" Type="http://schemas.openxmlformats.org/officeDocument/2006/relationships/image" Target="../media/image66.emf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1.bin"/><Relationship Id="rId5" Type="http://schemas.openxmlformats.org/officeDocument/2006/relationships/image" Target="../media/image65.emf"/><Relationship Id="rId4" Type="http://schemas.openxmlformats.org/officeDocument/2006/relationships/oleObject" Target="../embeddings/oleObject60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3" Type="http://schemas.openxmlformats.org/officeDocument/2006/relationships/image" Target="../media/image67.emf"/><Relationship Id="rId7" Type="http://schemas.openxmlformats.org/officeDocument/2006/relationships/image" Target="../media/image69.emf"/><Relationship Id="rId2" Type="http://schemas.openxmlformats.org/officeDocument/2006/relationships/oleObject" Target="../embeddings/oleObject6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4.bin"/><Relationship Id="rId11" Type="http://schemas.openxmlformats.org/officeDocument/2006/relationships/image" Target="../media/image71.emf"/><Relationship Id="rId5" Type="http://schemas.openxmlformats.org/officeDocument/2006/relationships/image" Target="../media/image68.emf"/><Relationship Id="rId10" Type="http://schemas.openxmlformats.org/officeDocument/2006/relationships/oleObject" Target="../embeddings/oleObject66.bin"/><Relationship Id="rId4" Type="http://schemas.openxmlformats.org/officeDocument/2006/relationships/oleObject" Target="../embeddings/oleObject63.bin"/><Relationship Id="rId9" Type="http://schemas.openxmlformats.org/officeDocument/2006/relationships/image" Target="../media/image70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2" Type="http://schemas.openxmlformats.org/officeDocument/2006/relationships/oleObject" Target="../embeddings/oleObject67.bin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7" Type="http://schemas.openxmlformats.org/officeDocument/2006/relationships/image" Target="../media/image75.emf"/><Relationship Id="rId2" Type="http://schemas.openxmlformats.org/officeDocument/2006/relationships/oleObject" Target="../embeddings/oleObject6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0.bin"/><Relationship Id="rId5" Type="http://schemas.openxmlformats.org/officeDocument/2006/relationships/image" Target="../media/image74.emf"/><Relationship Id="rId4" Type="http://schemas.openxmlformats.org/officeDocument/2006/relationships/oleObject" Target="../embeddings/oleObject69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2" Type="http://schemas.openxmlformats.org/officeDocument/2006/relationships/oleObject" Target="../embeddings/oleObject71.bin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8.emf"/><Relationship Id="rId4" Type="http://schemas.openxmlformats.org/officeDocument/2006/relationships/oleObject" Target="../embeddings/oleObject73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emf"/><Relationship Id="rId2" Type="http://schemas.openxmlformats.org/officeDocument/2006/relationships/oleObject" Target="../embeddings/oleObject74.bin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emf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7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e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80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oleObject" Target="../embeddings/oleObject78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4.emf"/><Relationship Id="rId4" Type="http://schemas.openxmlformats.org/officeDocument/2006/relationships/oleObject" Target="../embeddings/oleObject79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emf"/><Relationship Id="rId2" Type="http://schemas.openxmlformats.org/officeDocument/2006/relationships/oleObject" Target="../embeddings/oleObject80.bin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oleObject" Target="../embeddings/oleObject8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7.emf"/><Relationship Id="rId4" Type="http://schemas.openxmlformats.org/officeDocument/2006/relationships/oleObject" Target="../embeddings/oleObject82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emf"/><Relationship Id="rId2" Type="http://schemas.openxmlformats.org/officeDocument/2006/relationships/oleObject" Target="../embeddings/oleObject8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9.emf"/><Relationship Id="rId4" Type="http://schemas.openxmlformats.org/officeDocument/2006/relationships/oleObject" Target="../embeddings/oleObject8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/>
          <p:cNvSpPr txBox="1"/>
          <p:nvPr/>
        </p:nvSpPr>
        <p:spPr>
          <a:xfrm>
            <a:off x="0" y="244516"/>
            <a:ext cx="12192000" cy="5232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b="1" dirty="0">
                <a:latin typeface="MS Reference Sans Serif" panose="020B0604030504040204" pitchFamily="34" charset="0"/>
                <a:cs typeface="Microsoft Sans Serif" pitchFamily="34" charset="0"/>
              </a:rPr>
              <a:t>Chapter 2 Alkanes and Cycloalkanes</a:t>
            </a:r>
            <a:endParaRPr lang="zh-CN" altLang="en-US" sz="2800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</a:t>
            </a:fld>
            <a:endParaRPr lang="zh-CN" altLang="en-US"/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50014531-2CDA-48A1-B9ED-FB41A9C2A71B}"/>
              </a:ext>
            </a:extLst>
          </p:cNvPr>
          <p:cNvSpPr txBox="1"/>
          <p:nvPr/>
        </p:nvSpPr>
        <p:spPr>
          <a:xfrm>
            <a:off x="320953" y="1293990"/>
            <a:ext cx="117535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Hydrocarbons: compounds composed entirely of C and H</a:t>
            </a:r>
            <a:r>
              <a:rPr lang="en-US" altLang="zh-CN" sz="2000" dirty="0">
                <a:latin typeface="MS Reference Sans Serif" panose="020B0604030504040204" pitchFamily="34" charset="0"/>
                <a:cs typeface="Microsoft Sans Serif" pitchFamily="34" charset="0"/>
              </a:rPr>
              <a:t> 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atoms.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Alkanes are hydrocarbons that contain only single bonds.</a:t>
            </a:r>
            <a:endParaRPr lang="zh-CN" altLang="en-US" sz="2000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9" name="TextBox 20">
            <a:extLst>
              <a:ext uri="{FF2B5EF4-FFF2-40B4-BE49-F238E27FC236}">
                <a16:creationId xmlns:a16="http://schemas.microsoft.com/office/drawing/2014/main" id="{C79EDD65-FB35-43E6-B3C6-48CECED012C9}"/>
              </a:ext>
            </a:extLst>
          </p:cNvPr>
          <p:cNvSpPr txBox="1"/>
          <p:nvPr/>
        </p:nvSpPr>
        <p:spPr>
          <a:xfrm>
            <a:off x="4772590" y="2119199"/>
            <a:ext cx="1965330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MS Reference Sans Serif" panose="020B0604030504040204" pitchFamily="34" charset="0"/>
              </a:rPr>
              <a:t>Hydrocarbons</a:t>
            </a:r>
            <a:endParaRPr lang="zh-CN" altLang="en-US" sz="2000" dirty="0">
              <a:latin typeface="MS Reference Sans Serif" panose="020B0604030504040204" pitchFamily="34" charset="0"/>
            </a:endParaRPr>
          </a:p>
        </p:txBody>
      </p:sp>
      <p:sp>
        <p:nvSpPr>
          <p:cNvPr id="10" name="TextBox 23">
            <a:extLst>
              <a:ext uri="{FF2B5EF4-FFF2-40B4-BE49-F238E27FC236}">
                <a16:creationId xmlns:a16="http://schemas.microsoft.com/office/drawing/2014/main" id="{78EAD20C-6049-44A1-B7E6-E23E44822378}"/>
              </a:ext>
            </a:extLst>
          </p:cNvPr>
          <p:cNvSpPr txBox="1"/>
          <p:nvPr/>
        </p:nvSpPr>
        <p:spPr>
          <a:xfrm>
            <a:off x="2828374" y="2931751"/>
            <a:ext cx="1183337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MS Reference Sans Serif" panose="020B0604030504040204" pitchFamily="34" charset="0"/>
              </a:rPr>
              <a:t>Alkanes</a:t>
            </a:r>
            <a:endParaRPr lang="zh-CN" altLang="en-US" sz="2000" dirty="0">
              <a:latin typeface="MS Reference Sans Serif" panose="020B0604030504040204" pitchFamily="34" charset="0"/>
            </a:endParaRPr>
          </a:p>
        </p:txBody>
      </p:sp>
      <p:sp>
        <p:nvSpPr>
          <p:cNvPr id="11" name="TextBox 25">
            <a:extLst>
              <a:ext uri="{FF2B5EF4-FFF2-40B4-BE49-F238E27FC236}">
                <a16:creationId xmlns:a16="http://schemas.microsoft.com/office/drawing/2014/main" id="{6DEFEE13-3771-465E-AA5E-50EBE8754CFB}"/>
              </a:ext>
            </a:extLst>
          </p:cNvPr>
          <p:cNvSpPr txBox="1"/>
          <p:nvPr/>
        </p:nvSpPr>
        <p:spPr>
          <a:xfrm>
            <a:off x="4364231" y="2952909"/>
            <a:ext cx="1179234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MS Reference Sans Serif" panose="020B0604030504040204" pitchFamily="34" charset="0"/>
              </a:rPr>
              <a:t>Alkenes</a:t>
            </a:r>
            <a:endParaRPr lang="zh-CN" altLang="en-US" sz="2000" dirty="0">
              <a:latin typeface="MS Reference Sans Serif" panose="020B0604030504040204" pitchFamily="34" charset="0"/>
            </a:endParaRPr>
          </a:p>
        </p:txBody>
      </p:sp>
      <p:sp>
        <p:nvSpPr>
          <p:cNvPr id="12" name="TextBox 27">
            <a:extLst>
              <a:ext uri="{FF2B5EF4-FFF2-40B4-BE49-F238E27FC236}">
                <a16:creationId xmlns:a16="http://schemas.microsoft.com/office/drawing/2014/main" id="{2B9CABC4-A0EC-4167-ABCE-40FD17D5C7E8}"/>
              </a:ext>
            </a:extLst>
          </p:cNvPr>
          <p:cNvSpPr txBox="1"/>
          <p:nvPr/>
        </p:nvSpPr>
        <p:spPr>
          <a:xfrm>
            <a:off x="5911660" y="2931751"/>
            <a:ext cx="1181734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MS Reference Sans Serif" panose="020B0604030504040204" pitchFamily="34" charset="0"/>
              </a:rPr>
              <a:t>Alkynes</a:t>
            </a:r>
            <a:endParaRPr lang="zh-CN" altLang="en-US" sz="2000" b="1" dirty="0">
              <a:latin typeface="MS Reference Sans Serif" panose="020B0604030504040204" pitchFamily="34" charset="0"/>
            </a:endParaRPr>
          </a:p>
        </p:txBody>
      </p:sp>
      <p:sp>
        <p:nvSpPr>
          <p:cNvPr id="13" name="TextBox 29">
            <a:extLst>
              <a:ext uri="{FF2B5EF4-FFF2-40B4-BE49-F238E27FC236}">
                <a16:creationId xmlns:a16="http://schemas.microsoft.com/office/drawing/2014/main" id="{B539173F-6072-4EC4-8188-95DC78210FCA}"/>
              </a:ext>
            </a:extLst>
          </p:cNvPr>
          <p:cNvSpPr txBox="1"/>
          <p:nvPr/>
        </p:nvSpPr>
        <p:spPr>
          <a:xfrm>
            <a:off x="7464152" y="2927488"/>
            <a:ext cx="1465466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MS Reference Sans Serif" panose="020B0604030504040204" pitchFamily="34" charset="0"/>
              </a:rPr>
              <a:t>Aromatics</a:t>
            </a:r>
            <a:endParaRPr lang="zh-CN" altLang="en-US" sz="2000" b="1" dirty="0">
              <a:latin typeface="MS Reference Sans Serif" panose="020B0604030504040204" pitchFamily="34" charset="0"/>
            </a:endParaRPr>
          </a:p>
        </p:txBody>
      </p:sp>
      <p:sp>
        <p:nvSpPr>
          <p:cNvPr id="27" name="TextBox 3">
            <a:extLst>
              <a:ext uri="{FF2B5EF4-FFF2-40B4-BE49-F238E27FC236}">
                <a16:creationId xmlns:a16="http://schemas.microsoft.com/office/drawing/2014/main" id="{94F6C3CF-2BA1-4244-A3E4-7C12D244DDBE}"/>
              </a:ext>
            </a:extLst>
          </p:cNvPr>
          <p:cNvSpPr txBox="1"/>
          <p:nvPr/>
        </p:nvSpPr>
        <p:spPr>
          <a:xfrm>
            <a:off x="335902" y="3571747"/>
            <a:ext cx="1159274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general molecular formula for alkanes is </a:t>
            </a:r>
            <a:r>
              <a:rPr lang="en-US" altLang="zh-CN" sz="2000" b="1" dirty="0">
                <a:solidFill>
                  <a:srgbClr val="FF0000"/>
                </a:solidFill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</a:t>
            </a:r>
            <a:r>
              <a:rPr lang="en-US" altLang="zh-CN" sz="2000" b="1" baseline="-25000" dirty="0">
                <a:solidFill>
                  <a:srgbClr val="FF0000"/>
                </a:solidFill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</a:t>
            </a:r>
            <a:r>
              <a:rPr lang="en-US" altLang="zh-CN" sz="2000" b="1" dirty="0">
                <a:solidFill>
                  <a:srgbClr val="FF0000"/>
                </a:solidFill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</a:t>
            </a:r>
            <a:r>
              <a:rPr lang="en-US" altLang="zh-CN" sz="2000" b="1" baseline="-25000" dirty="0">
                <a:solidFill>
                  <a:srgbClr val="FF0000"/>
                </a:solidFill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2n+2</a:t>
            </a:r>
            <a:r>
              <a:rPr lang="en-US" altLang="zh-CN" sz="20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.</a:t>
            </a:r>
            <a:endParaRPr lang="en-US" altLang="zh-CN" sz="2000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Alkanes are described as the class of </a:t>
            </a:r>
            <a:r>
              <a:rPr lang="en-US" altLang="zh-CN" sz="2000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saturated  hydrocarbons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 because they have the maximum number of bonded hydrogens.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The alkanes are </a:t>
            </a:r>
            <a:r>
              <a:rPr lang="en-US" altLang="zh-CN" sz="2000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the simplest and least reactive class of organic compounds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, </a:t>
            </a:r>
            <a:r>
              <a:rPr lang="en-US" altLang="zh-CN" sz="2000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without functional groups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</p:txBody>
      </p:sp>
      <p:graphicFrame>
        <p:nvGraphicFramePr>
          <p:cNvPr id="28" name="Object 2">
            <a:extLst>
              <a:ext uri="{FF2B5EF4-FFF2-40B4-BE49-F238E27FC236}">
                <a16:creationId xmlns:a16="http://schemas.microsoft.com/office/drawing/2014/main" id="{24F7C383-D2D9-47A7-8755-1533478805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1089736"/>
              </p:ext>
            </p:extLst>
          </p:nvPr>
        </p:nvGraphicFramePr>
        <p:xfrm>
          <a:off x="3739403" y="5113217"/>
          <a:ext cx="1078125" cy="1191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99391" imgH="552824" progId="ChemDraw.Document.6.0">
                  <p:embed/>
                </p:oleObj>
              </mc:Choice>
              <mc:Fallback>
                <p:oleObj name="CS ChemDraw Drawing" r:id="rId2" imgW="499391" imgH="552824" progId="ChemDraw.Document.6.0">
                  <p:embed/>
                  <p:pic>
                    <p:nvPicPr>
                      <p:cNvPr id="1741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9403" y="5113217"/>
                        <a:ext cx="1078125" cy="11910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3">
            <a:extLst>
              <a:ext uri="{FF2B5EF4-FFF2-40B4-BE49-F238E27FC236}">
                <a16:creationId xmlns:a16="http://schemas.microsoft.com/office/drawing/2014/main" id="{A936CE71-6B44-435C-A3D6-BEAC42845C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6186946"/>
              </p:ext>
            </p:extLst>
          </p:nvPr>
        </p:nvGraphicFramePr>
        <p:xfrm>
          <a:off x="7629214" y="5145782"/>
          <a:ext cx="1487747" cy="1182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695908" imgH="552824" progId="ChemDraw.Document.6.0">
                  <p:embed/>
                </p:oleObj>
              </mc:Choice>
              <mc:Fallback>
                <p:oleObj name="CS ChemDraw Drawing" r:id="rId4" imgW="695908" imgH="552824" progId="ChemDraw.Document.6.0">
                  <p:embed/>
                  <p:pic>
                    <p:nvPicPr>
                      <p:cNvPr id="1741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9214" y="5145782"/>
                        <a:ext cx="1487747" cy="11820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2161E1AC-694D-4A3D-9938-55A4CE503ACB}"/>
              </a:ext>
            </a:extLst>
          </p:cNvPr>
          <p:cNvSpPr txBox="1"/>
          <p:nvPr/>
        </p:nvSpPr>
        <p:spPr>
          <a:xfrm>
            <a:off x="3763146" y="6344323"/>
            <a:ext cx="5194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MS Reference Sans Serif" panose="020B0604030504040204" pitchFamily="34" charset="0"/>
              </a:rPr>
              <a:t>methane                                       ethane</a:t>
            </a:r>
            <a:endParaRPr lang="zh-CN" altLang="en-US" b="1" dirty="0">
              <a:latin typeface="MS Reference Sans Serif" panose="020B060403050404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3C3B37F-E83B-461F-9E50-9CE9E3840AF7}"/>
              </a:ext>
            </a:extLst>
          </p:cNvPr>
          <p:cNvSpPr txBox="1"/>
          <p:nvPr/>
        </p:nvSpPr>
        <p:spPr>
          <a:xfrm>
            <a:off x="-10531" y="856716"/>
            <a:ext cx="3523722" cy="400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1. Introduction to alkanes</a:t>
            </a:r>
            <a:endParaRPr lang="zh-CN" altLang="en-US" sz="2000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804A1651-2E0E-4CA9-A804-08C45A68A5EA}"/>
              </a:ext>
            </a:extLst>
          </p:cNvPr>
          <p:cNvCxnSpPr>
            <a:stCxn id="9" idx="2"/>
          </p:cNvCxnSpPr>
          <p:nvPr/>
        </p:nvCxnSpPr>
        <p:spPr>
          <a:xfrm flipH="1">
            <a:off x="4011711" y="2519309"/>
            <a:ext cx="1743544" cy="408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A872B932-0D78-45B8-8E34-081F9D3B93F8}"/>
              </a:ext>
            </a:extLst>
          </p:cNvPr>
          <p:cNvCxnSpPr>
            <a:stCxn id="9" idx="2"/>
          </p:cNvCxnSpPr>
          <p:nvPr/>
        </p:nvCxnSpPr>
        <p:spPr>
          <a:xfrm flipH="1">
            <a:off x="5540902" y="2519309"/>
            <a:ext cx="214353" cy="415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79CD632F-C89C-45CE-A5E3-06D990BD9F15}"/>
              </a:ext>
            </a:extLst>
          </p:cNvPr>
          <p:cNvCxnSpPr>
            <a:stCxn id="9" idx="2"/>
          </p:cNvCxnSpPr>
          <p:nvPr/>
        </p:nvCxnSpPr>
        <p:spPr>
          <a:xfrm>
            <a:off x="5755255" y="2519309"/>
            <a:ext cx="156405" cy="3917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C7A133A5-276E-452F-B0DA-A1997AB92F0E}"/>
              </a:ext>
            </a:extLst>
          </p:cNvPr>
          <p:cNvCxnSpPr>
            <a:stCxn id="9" idx="2"/>
          </p:cNvCxnSpPr>
          <p:nvPr/>
        </p:nvCxnSpPr>
        <p:spPr>
          <a:xfrm>
            <a:off x="5755255" y="2519309"/>
            <a:ext cx="1743544" cy="415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C9132D2-1B42-4599-945B-6AC2B61CE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3EA836-076C-47E4-85CD-FA5EDEA796BF}"/>
              </a:ext>
            </a:extLst>
          </p:cNvPr>
          <p:cNvSpPr txBox="1"/>
          <p:nvPr/>
        </p:nvSpPr>
        <p:spPr>
          <a:xfrm>
            <a:off x="0" y="260648"/>
            <a:ext cx="4488729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MS Reference Sans Serif" panose="020B0604030504040204" pitchFamily="34" charset="0"/>
                <a:cs typeface="Microsoft Sans Serif" pitchFamily="34" charset="0"/>
              </a:rPr>
              <a:t>2. Constitutional Isomerism</a:t>
            </a:r>
            <a:endParaRPr lang="zh-CN" altLang="en-US" sz="2400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4E7385EA-B946-44EB-AE36-005504CA2F06}"/>
              </a:ext>
            </a:extLst>
          </p:cNvPr>
          <p:cNvSpPr txBox="1"/>
          <p:nvPr/>
        </p:nvSpPr>
        <p:spPr>
          <a:xfrm>
            <a:off x="349973" y="734617"/>
            <a:ext cx="115786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Isomers: different compounds with the same molecular formula.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Constitutional isomers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: isomers that </a:t>
            </a:r>
            <a:r>
              <a:rPr lang="en-US" altLang="zh-CN" sz="2000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differ in their bonding sequence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, their </a:t>
            </a:r>
            <a:r>
              <a:rPr lang="en-US" altLang="zh-CN" sz="2000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atoms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 being </a:t>
            </a:r>
            <a:r>
              <a:rPr lang="en-US" altLang="zh-CN" sz="2000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connected differently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09A9A2-6ECB-4716-86D5-AC5E5D73B838}"/>
              </a:ext>
            </a:extLst>
          </p:cNvPr>
          <p:cNvSpPr txBox="1"/>
          <p:nvPr/>
        </p:nvSpPr>
        <p:spPr>
          <a:xfrm>
            <a:off x="349973" y="4841776"/>
            <a:ext cx="114783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The number of constitutional isomers increases rapidly as the number of carbon atoms increases.</a:t>
            </a:r>
            <a:endParaRPr lang="zh-CN" altLang="en-US" dirty="0">
              <a:latin typeface="MS Reference Sans Serif" panose="020B0604030504040204" pitchFamily="34" charset="0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5A3FC5C-92E9-42AE-A115-DFA23630A6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4132294"/>
              </p:ext>
            </p:extLst>
          </p:nvPr>
        </p:nvGraphicFramePr>
        <p:xfrm>
          <a:off x="2495600" y="1628800"/>
          <a:ext cx="6818064" cy="3153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070313" imgH="1882184" progId="ChemDraw.Document.6.0">
                  <p:embed/>
                </p:oleObj>
              </mc:Choice>
              <mc:Fallback>
                <p:oleObj name="CS ChemDraw Drawing" r:id="rId2" imgW="4070313" imgH="1882184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95600" y="1628800"/>
                        <a:ext cx="6818064" cy="31537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51ADCACC-55F2-4E26-8100-C3048D962898}"/>
              </a:ext>
            </a:extLst>
          </p:cNvPr>
          <p:cNvSpPr txBox="1"/>
          <p:nvPr/>
        </p:nvSpPr>
        <p:spPr>
          <a:xfrm>
            <a:off x="3222986" y="5432047"/>
            <a:ext cx="58326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Butane (C</a:t>
            </a:r>
            <a:r>
              <a:rPr lang="en-US" altLang="zh-CN" b="1" baseline="-25000" dirty="0">
                <a:latin typeface="MS Reference Sans Serif" panose="020B0604030504040204" pitchFamily="34" charset="0"/>
                <a:cs typeface="Microsoft Sans Serif" pitchFamily="34" charset="0"/>
              </a:rPr>
              <a:t>4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H</a:t>
            </a:r>
            <a:r>
              <a:rPr lang="en-US" altLang="zh-CN" b="1" baseline="-25000" dirty="0">
                <a:latin typeface="MS Reference Sans Serif" panose="020B0604030504040204" pitchFamily="34" charset="0"/>
                <a:cs typeface="Microsoft Sans Serif" pitchFamily="34" charset="0"/>
              </a:rPr>
              <a:t>10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) has 2 constitutional isomers.</a:t>
            </a:r>
          </a:p>
          <a:p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Pentane (C</a:t>
            </a:r>
            <a:r>
              <a:rPr lang="en-US" altLang="zh-CN" b="1" baseline="-25000" dirty="0">
                <a:latin typeface="MS Reference Sans Serif" panose="020B0604030504040204" pitchFamily="34" charset="0"/>
                <a:cs typeface="Microsoft Sans Serif" pitchFamily="34" charset="0"/>
              </a:rPr>
              <a:t>5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H</a:t>
            </a:r>
            <a:r>
              <a:rPr lang="en-US" altLang="zh-CN" b="1" baseline="-25000" dirty="0">
                <a:latin typeface="MS Reference Sans Serif" panose="020B0604030504040204" pitchFamily="34" charset="0"/>
                <a:cs typeface="Microsoft Sans Serif" pitchFamily="34" charset="0"/>
              </a:rPr>
              <a:t>12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) has 3 constitutional isomers.</a:t>
            </a:r>
          </a:p>
          <a:p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Hexane (C</a:t>
            </a:r>
            <a:r>
              <a:rPr lang="en-US" altLang="zh-CN" b="1" baseline="-25000" dirty="0">
                <a:latin typeface="MS Reference Sans Serif" panose="020B0604030504040204" pitchFamily="34" charset="0"/>
                <a:cs typeface="Microsoft Sans Serif" pitchFamily="34" charset="0"/>
              </a:rPr>
              <a:t>6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H</a:t>
            </a:r>
            <a:r>
              <a:rPr lang="en-US" altLang="zh-CN" b="1" baseline="-25000" dirty="0">
                <a:latin typeface="MS Reference Sans Serif" panose="020B0604030504040204" pitchFamily="34" charset="0"/>
                <a:cs typeface="Microsoft Sans Serif" pitchFamily="34" charset="0"/>
              </a:rPr>
              <a:t>14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) has 5 constitutional isomers.</a:t>
            </a:r>
          </a:p>
          <a:p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Octane (C</a:t>
            </a:r>
            <a:r>
              <a:rPr lang="en-US" altLang="zh-CN" b="1" baseline="-25000" dirty="0">
                <a:latin typeface="MS Reference Sans Serif" panose="020B0604030504040204" pitchFamily="34" charset="0"/>
                <a:cs typeface="Microsoft Sans Serif" pitchFamily="34" charset="0"/>
              </a:rPr>
              <a:t>8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H</a:t>
            </a:r>
            <a:r>
              <a:rPr lang="en-US" altLang="zh-CN" b="1" baseline="-25000" dirty="0">
                <a:latin typeface="MS Reference Sans Serif" panose="020B0604030504040204" pitchFamily="34" charset="0"/>
                <a:cs typeface="Microsoft Sans Serif" pitchFamily="34" charset="0"/>
              </a:rPr>
              <a:t>18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) has18; Decane (C</a:t>
            </a:r>
            <a:r>
              <a:rPr lang="en-US" altLang="zh-CN" b="1" baseline="-25000" dirty="0">
                <a:latin typeface="MS Reference Sans Serif" panose="020B0604030504040204" pitchFamily="34" charset="0"/>
                <a:cs typeface="Microsoft Sans Serif" pitchFamily="34" charset="0"/>
              </a:rPr>
              <a:t>10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H</a:t>
            </a:r>
            <a:r>
              <a:rPr lang="en-US" altLang="zh-CN" b="1" baseline="-25000" dirty="0">
                <a:latin typeface="MS Reference Sans Serif" panose="020B0604030504040204" pitchFamily="34" charset="0"/>
                <a:cs typeface="Microsoft Sans Serif" pitchFamily="34" charset="0"/>
              </a:rPr>
              <a:t>22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) has 75.</a:t>
            </a:r>
          </a:p>
        </p:txBody>
      </p:sp>
    </p:spTree>
    <p:extLst>
      <p:ext uri="{BB962C8B-B14F-4D97-AF65-F5344CB8AC3E}">
        <p14:creationId xmlns:p14="http://schemas.microsoft.com/office/powerpoint/2010/main" val="77989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A2C06AD-5CCE-4EA5-ACB0-78635C5D7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</a:t>
            </a:fld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C6925C-67AF-440E-8E51-B7DFD51C6D83}"/>
              </a:ext>
            </a:extLst>
          </p:cNvPr>
          <p:cNvSpPr txBox="1"/>
          <p:nvPr/>
        </p:nvSpPr>
        <p:spPr>
          <a:xfrm>
            <a:off x="0" y="260648"/>
            <a:ext cx="2759089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MS Reference Sans Serif" panose="020B0604030504040204" pitchFamily="34" charset="0"/>
                <a:cs typeface="Microsoft Sans Serif" pitchFamily="34" charset="0"/>
              </a:rPr>
              <a:t>3. Nomenclature</a:t>
            </a:r>
            <a:endParaRPr lang="zh-CN" altLang="en-US" sz="2400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7E55580-867B-4706-B86C-4DDF9E3442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489288"/>
              </p:ext>
            </p:extLst>
          </p:nvPr>
        </p:nvGraphicFramePr>
        <p:xfrm>
          <a:off x="2207568" y="1525458"/>
          <a:ext cx="7560841" cy="52038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4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2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0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4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048">
                <a:tc gridSpan="4"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MS Reference Sans Serif" panose="020B0604030504040204" pitchFamily="34" charset="0"/>
                          <a:cs typeface="Microsoft Sans Serif" pitchFamily="34" charset="0"/>
                        </a:rPr>
                        <a:t>3-1-1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cs typeface="Microsoft Sans Serif" pitchFamily="34" charset="0"/>
                        </a:rPr>
                        <a:t> Unbranched Alkanes: </a:t>
                      </a:r>
                      <a:r>
                        <a:rPr lang="en-US" altLang="zh-CN" sz="1600" b="1" i="1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cs typeface="Microsoft Sans Serif" pitchFamily="34" charset="0"/>
                        </a:rPr>
                        <a:t>n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cs typeface="Microsoft Sans Serif" pitchFamily="34" charset="0"/>
                        </a:rPr>
                        <a:t>-Alkanes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cs typeface="Microsoft Sans Serif" pitchFamily="34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904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Name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Number of Carbons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Structure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Formula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1600" b="1" dirty="0">
                          <a:solidFill>
                            <a:srgbClr val="0000FF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meth</a:t>
                      </a:r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ane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H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CH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2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H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CH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4</a:t>
                      </a:r>
                      <a:endParaRPr lang="zh-CN" altLang="en-US" sz="1600" b="1" baseline="-25000" dirty="0">
                        <a:solidFill>
                          <a:schemeClr val="tx1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896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1600" b="1" dirty="0">
                          <a:solidFill>
                            <a:srgbClr val="0000FF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eth</a:t>
                      </a:r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ane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2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H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(CH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2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)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2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H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C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2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H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6</a:t>
                      </a:r>
                      <a:endParaRPr lang="zh-CN" altLang="en-US" sz="1600" b="1" baseline="-25000" dirty="0">
                        <a:solidFill>
                          <a:schemeClr val="tx1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752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1600" b="1" dirty="0">
                          <a:solidFill>
                            <a:srgbClr val="0000FF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prop</a:t>
                      </a:r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ane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3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H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(CH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2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)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3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H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C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3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H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8</a:t>
                      </a:r>
                      <a:endParaRPr lang="zh-CN" altLang="en-US" sz="1600" b="1" baseline="-25000" dirty="0">
                        <a:solidFill>
                          <a:schemeClr val="tx1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00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1600" b="1" dirty="0">
                          <a:solidFill>
                            <a:srgbClr val="0000FF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but</a:t>
                      </a:r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ane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4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H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(CH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2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)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4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H</a:t>
                      </a:r>
                      <a:endParaRPr lang="zh-CN" altLang="en-US" sz="1600" dirty="0">
                        <a:solidFill>
                          <a:schemeClr val="tx1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C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4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H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10</a:t>
                      </a:r>
                      <a:endParaRPr lang="zh-CN" altLang="en-US" sz="1600" b="1" baseline="-25000" dirty="0">
                        <a:solidFill>
                          <a:schemeClr val="tx1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600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1600" b="1" dirty="0">
                          <a:solidFill>
                            <a:srgbClr val="0000FF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pent</a:t>
                      </a:r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ane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5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zh-CN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</a:rPr>
                        <a:t>H</a:t>
                      </a:r>
                      <a:r>
                        <a:rPr kumimoji="0" lang="en-US" altLang="zh-CN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  <a:sym typeface="Symbol"/>
                        </a:rPr>
                        <a:t>(CH</a:t>
                      </a:r>
                      <a:r>
                        <a:rPr kumimoji="0" lang="en-US" altLang="zh-CN" sz="16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  <a:sym typeface="Symbol"/>
                        </a:rPr>
                        <a:t>2</a:t>
                      </a:r>
                      <a:r>
                        <a:rPr kumimoji="0" lang="en-US" altLang="zh-CN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  <a:sym typeface="Symbol"/>
                        </a:rPr>
                        <a:t>)</a:t>
                      </a:r>
                      <a:r>
                        <a:rPr kumimoji="0" lang="en-US" altLang="zh-CN" sz="16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  <a:sym typeface="Symbol"/>
                        </a:rPr>
                        <a:t>5</a:t>
                      </a:r>
                      <a:r>
                        <a:rPr kumimoji="0" lang="en-US" altLang="zh-CN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  <a:sym typeface="Symbol"/>
                        </a:rPr>
                        <a:t>H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 pitchFamily="34" charset="0"/>
                        <a:ea typeface="宋体" panose="02010600030101010101" pitchFamily="2" charset="-122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C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5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H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12</a:t>
                      </a:r>
                      <a:endParaRPr lang="zh-CN" altLang="en-US" sz="1600" b="1" baseline="-25000" dirty="0">
                        <a:solidFill>
                          <a:schemeClr val="tx1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62723"/>
                  </a:ext>
                </a:extLst>
              </a:tr>
              <a:tr h="428600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1600" b="1" dirty="0">
                          <a:solidFill>
                            <a:srgbClr val="0000FF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hex</a:t>
                      </a:r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ane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6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zh-CN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</a:rPr>
                        <a:t>H</a:t>
                      </a:r>
                      <a:r>
                        <a:rPr kumimoji="0" lang="en-US" altLang="zh-CN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  <a:sym typeface="Symbol"/>
                        </a:rPr>
                        <a:t>(CH</a:t>
                      </a:r>
                      <a:r>
                        <a:rPr kumimoji="0" lang="en-US" altLang="zh-CN" sz="16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  <a:sym typeface="Symbol"/>
                        </a:rPr>
                        <a:t>2</a:t>
                      </a:r>
                      <a:r>
                        <a:rPr kumimoji="0" lang="en-US" altLang="zh-CN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  <a:sym typeface="Symbol"/>
                        </a:rPr>
                        <a:t>)</a:t>
                      </a:r>
                      <a:r>
                        <a:rPr kumimoji="0" lang="en-US" altLang="zh-CN" sz="16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  <a:sym typeface="Symbol"/>
                        </a:rPr>
                        <a:t>6</a:t>
                      </a:r>
                      <a:r>
                        <a:rPr kumimoji="0" lang="en-US" altLang="zh-CN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  <a:sym typeface="Symbol"/>
                        </a:rPr>
                        <a:t>H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 pitchFamily="34" charset="0"/>
                        <a:ea typeface="宋体" panose="02010600030101010101" pitchFamily="2" charset="-122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C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6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H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14</a:t>
                      </a:r>
                      <a:endParaRPr lang="zh-CN" altLang="en-US" sz="1600" b="1" baseline="-25000" dirty="0">
                        <a:solidFill>
                          <a:schemeClr val="tx1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8801721"/>
                  </a:ext>
                </a:extLst>
              </a:tr>
              <a:tr h="428600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1600" b="1" dirty="0">
                          <a:solidFill>
                            <a:srgbClr val="0000FF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hept</a:t>
                      </a:r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ane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7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zh-CN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</a:rPr>
                        <a:t>H</a:t>
                      </a:r>
                      <a:r>
                        <a:rPr kumimoji="0" lang="en-US" altLang="zh-CN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  <a:sym typeface="Symbol"/>
                        </a:rPr>
                        <a:t>(CH</a:t>
                      </a:r>
                      <a:r>
                        <a:rPr kumimoji="0" lang="en-US" altLang="zh-CN" sz="16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  <a:sym typeface="Symbol"/>
                        </a:rPr>
                        <a:t>2</a:t>
                      </a:r>
                      <a:r>
                        <a:rPr kumimoji="0" lang="en-US" altLang="zh-CN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  <a:sym typeface="Symbol"/>
                        </a:rPr>
                        <a:t>)</a:t>
                      </a:r>
                      <a:r>
                        <a:rPr kumimoji="0" lang="en-US" altLang="zh-CN" sz="16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  <a:sym typeface="Symbol"/>
                        </a:rPr>
                        <a:t>7</a:t>
                      </a:r>
                      <a:r>
                        <a:rPr kumimoji="0" lang="en-US" altLang="zh-CN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  <a:sym typeface="Symbol"/>
                        </a:rPr>
                        <a:t>H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 pitchFamily="34" charset="0"/>
                        <a:ea typeface="宋体" panose="02010600030101010101" pitchFamily="2" charset="-122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C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7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H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16</a:t>
                      </a:r>
                      <a:endParaRPr lang="zh-CN" altLang="en-US" sz="1600" b="1" baseline="-25000" dirty="0">
                        <a:solidFill>
                          <a:schemeClr val="tx1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2078356"/>
                  </a:ext>
                </a:extLst>
              </a:tr>
              <a:tr h="428600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1600" b="1" dirty="0">
                          <a:solidFill>
                            <a:srgbClr val="0000FF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oct</a:t>
                      </a:r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ane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8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zh-CN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</a:rPr>
                        <a:t>H</a:t>
                      </a:r>
                      <a:r>
                        <a:rPr kumimoji="0" lang="en-US" altLang="zh-CN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  <a:sym typeface="Symbol"/>
                        </a:rPr>
                        <a:t>(CH</a:t>
                      </a:r>
                      <a:r>
                        <a:rPr kumimoji="0" lang="en-US" altLang="zh-CN" sz="16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  <a:sym typeface="Symbol"/>
                        </a:rPr>
                        <a:t>2</a:t>
                      </a:r>
                      <a:r>
                        <a:rPr kumimoji="0" lang="en-US" altLang="zh-CN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  <a:sym typeface="Symbol"/>
                        </a:rPr>
                        <a:t>)</a:t>
                      </a:r>
                      <a:r>
                        <a:rPr kumimoji="0" lang="en-US" altLang="zh-CN" sz="16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  <a:sym typeface="Symbol"/>
                        </a:rPr>
                        <a:t>8</a:t>
                      </a:r>
                      <a:r>
                        <a:rPr kumimoji="0" lang="en-US" altLang="zh-CN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  <a:sym typeface="Symbol"/>
                        </a:rPr>
                        <a:t>H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 pitchFamily="34" charset="0"/>
                        <a:ea typeface="宋体" panose="02010600030101010101" pitchFamily="2" charset="-122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C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8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H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18</a:t>
                      </a:r>
                      <a:endParaRPr lang="zh-CN" altLang="en-US" sz="1600" b="1" baseline="-25000" dirty="0">
                        <a:solidFill>
                          <a:schemeClr val="tx1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403587"/>
                  </a:ext>
                </a:extLst>
              </a:tr>
              <a:tr h="428600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1600" b="1" dirty="0" err="1">
                          <a:solidFill>
                            <a:srgbClr val="0000FF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non</a:t>
                      </a:r>
                      <a:r>
                        <a:rPr lang="en-US" altLang="zh-CN" sz="1600" b="1" dirty="0" err="1">
                          <a:solidFill>
                            <a:srgbClr val="FF0000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ane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9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zh-CN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</a:rPr>
                        <a:t>H</a:t>
                      </a:r>
                      <a:r>
                        <a:rPr kumimoji="0" lang="en-US" altLang="zh-CN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  <a:sym typeface="Symbol"/>
                        </a:rPr>
                        <a:t>(CH</a:t>
                      </a:r>
                      <a:r>
                        <a:rPr kumimoji="0" lang="en-US" altLang="zh-CN" sz="16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  <a:sym typeface="Symbol"/>
                        </a:rPr>
                        <a:t>2</a:t>
                      </a:r>
                      <a:r>
                        <a:rPr kumimoji="0" lang="en-US" altLang="zh-CN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  <a:sym typeface="Symbol"/>
                        </a:rPr>
                        <a:t>)</a:t>
                      </a:r>
                      <a:r>
                        <a:rPr kumimoji="0" lang="en-US" altLang="zh-CN" sz="16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  <a:sym typeface="Symbol"/>
                        </a:rPr>
                        <a:t>9</a:t>
                      </a:r>
                      <a:r>
                        <a:rPr kumimoji="0" lang="en-US" altLang="zh-CN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  <a:sym typeface="Symbol"/>
                        </a:rPr>
                        <a:t>H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 pitchFamily="34" charset="0"/>
                        <a:ea typeface="宋体" panose="02010600030101010101" pitchFamily="2" charset="-122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C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9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H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20</a:t>
                      </a:r>
                      <a:endParaRPr lang="zh-CN" altLang="en-US" sz="1600" b="1" baseline="-25000" dirty="0">
                        <a:solidFill>
                          <a:schemeClr val="tx1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679615"/>
                  </a:ext>
                </a:extLst>
              </a:tr>
              <a:tr h="428600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1600" b="1" dirty="0" err="1">
                          <a:solidFill>
                            <a:srgbClr val="0000FF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dec</a:t>
                      </a:r>
                      <a:r>
                        <a:rPr lang="en-US" altLang="zh-CN" sz="1600" b="1" dirty="0" err="1">
                          <a:solidFill>
                            <a:srgbClr val="FF0000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ane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10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zh-CN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</a:rPr>
                        <a:t>H</a:t>
                      </a:r>
                      <a:r>
                        <a:rPr kumimoji="0" lang="en-US" altLang="zh-CN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  <a:sym typeface="Symbol"/>
                        </a:rPr>
                        <a:t>(CH</a:t>
                      </a:r>
                      <a:r>
                        <a:rPr kumimoji="0" lang="en-US" altLang="zh-CN" sz="16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  <a:sym typeface="Symbol"/>
                        </a:rPr>
                        <a:t>2</a:t>
                      </a:r>
                      <a:r>
                        <a:rPr kumimoji="0" lang="en-US" altLang="zh-CN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  <a:sym typeface="Symbol"/>
                        </a:rPr>
                        <a:t>)</a:t>
                      </a:r>
                      <a:r>
                        <a:rPr kumimoji="0" lang="en-US" altLang="zh-CN" sz="16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  <a:sym typeface="Symbol"/>
                        </a:rPr>
                        <a:t>10</a:t>
                      </a:r>
                      <a:r>
                        <a:rPr kumimoji="0" lang="en-US" altLang="zh-CN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  <a:sym typeface="Symbol"/>
                        </a:rPr>
                        <a:t>H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 pitchFamily="34" charset="0"/>
                        <a:ea typeface="宋体" panose="02010600030101010101" pitchFamily="2" charset="-122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C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10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H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22</a:t>
                      </a:r>
                      <a:endParaRPr lang="zh-CN" altLang="en-US" sz="1600" b="1" baseline="-25000" dirty="0">
                        <a:solidFill>
                          <a:schemeClr val="tx1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7537949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FEB4D3D5-9A49-4DEA-B0CE-F4DE22FACE63}"/>
              </a:ext>
            </a:extLst>
          </p:cNvPr>
          <p:cNvSpPr txBox="1"/>
          <p:nvPr/>
        </p:nvSpPr>
        <p:spPr>
          <a:xfrm>
            <a:off x="-83356" y="763494"/>
            <a:ext cx="28424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3-1</a:t>
            </a:r>
            <a:r>
              <a:rPr lang="en-US" altLang="zh-CN" sz="20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Common Names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89FEB93-3D1B-4D73-B19D-CB85F89BB7E9}"/>
              </a:ext>
            </a:extLst>
          </p:cNvPr>
          <p:cNvSpPr txBox="1"/>
          <p:nvPr/>
        </p:nvSpPr>
        <p:spPr>
          <a:xfrm>
            <a:off x="375238" y="1156126"/>
            <a:ext cx="8210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Common names are historical names arising from common usage.</a:t>
            </a:r>
            <a:endParaRPr lang="zh-CN" altLang="en-US" dirty="0">
              <a:latin typeface="MS Reference Sans Serif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56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44F2F60-4C2B-425A-80BE-3BA4F3154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</a:t>
            </a:fld>
            <a:endParaRPr lang="zh-CN" altLang="en-US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8C50D4B-9DBF-47AB-8951-9145505035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665614"/>
              </p:ext>
            </p:extLst>
          </p:nvPr>
        </p:nvGraphicFramePr>
        <p:xfrm>
          <a:off x="1559496" y="908720"/>
          <a:ext cx="8352928" cy="40944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4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905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Microsoft Sans Serif" pitchFamily="34" charset="0"/>
                          <a:cs typeface="Microsoft Sans Serif" pitchFamily="34" charset="0"/>
                        </a:rPr>
                        <a:t>3-1-2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 Branched Alkanes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890920"/>
                  </a:ext>
                </a:extLst>
              </a:tr>
              <a:tr h="3959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Formula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Microsoft Sans Serif" pitchFamily="34" charset="0"/>
                          <a:cs typeface="Microsoft Sans Serif" pitchFamily="34" charset="0"/>
                        </a:rPr>
                        <a:t>Constitutional</a:t>
                      </a:r>
                      <a:r>
                        <a:rPr lang="en-US" altLang="zh-CN" sz="1800" b="1" baseline="0" dirty="0">
                          <a:latin typeface="Microsoft Sans Serif" pitchFamily="34" charset="0"/>
                          <a:cs typeface="Microsoft Sans Serif" pitchFamily="34" charset="0"/>
                        </a:rPr>
                        <a:t> isomers</a:t>
                      </a:r>
                      <a:endParaRPr lang="zh-CN" altLang="en-US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Common Name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97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icrosoft Sans Serif" pitchFamily="34" charset="0"/>
                          <a:cs typeface="Microsoft Sans Serif" pitchFamily="34" charset="0"/>
                        </a:rPr>
                        <a:t>C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icrosoft Sans Serif" pitchFamily="34" charset="0"/>
                          <a:cs typeface="Microsoft Sans Serif" pitchFamily="34" charset="0"/>
                        </a:rPr>
                        <a:t>4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icrosoft Sans Serif" pitchFamily="34" charset="0"/>
                          <a:cs typeface="Microsoft Sans Serif" pitchFamily="34" charset="0"/>
                        </a:rPr>
                        <a:t>H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icrosoft Sans Serif" pitchFamily="34" charset="0"/>
                          <a:cs typeface="Microsoft Sans Serif" pitchFamily="34" charset="0"/>
                        </a:rPr>
                        <a:t>10</a:t>
                      </a:r>
                      <a:endParaRPr lang="zh-CN" altLang="en-US" sz="1800" b="1" baseline="-250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Microsoft Sans Serif" pitchFamily="34" charset="0"/>
                          <a:cs typeface="Microsoft Sans Serif" pitchFamily="34" charset="0"/>
                        </a:rPr>
                        <a:t>n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Microsoft Sans Serif" pitchFamily="34" charset="0"/>
                          <a:cs typeface="Microsoft Sans Serif" pitchFamily="34" charset="0"/>
                        </a:rPr>
                        <a:t>-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butane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9965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altLang="zh-CN" sz="1800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Microsoft Sans Serif" pitchFamily="34" charset="0"/>
                          <a:cs typeface="Microsoft Sans Serif" pitchFamily="34" charset="0"/>
                        </a:rPr>
                        <a:t>iso</a:t>
                      </a: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butane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976">
                <a:tc row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icrosoft Sans Serif" pitchFamily="34" charset="0"/>
                          <a:cs typeface="Microsoft Sans Serif" pitchFamily="34" charset="0"/>
                        </a:rPr>
                        <a:t>C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icrosoft Sans Serif" pitchFamily="34" charset="0"/>
                          <a:cs typeface="Microsoft Sans Serif" pitchFamily="34" charset="0"/>
                        </a:rPr>
                        <a:t>5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icrosoft Sans Serif" pitchFamily="34" charset="0"/>
                          <a:cs typeface="Microsoft Sans Serif" pitchFamily="34" charset="0"/>
                        </a:rPr>
                        <a:t>H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icrosoft Sans Serif" pitchFamily="34" charset="0"/>
                          <a:cs typeface="Microsoft Sans Serif" pitchFamily="34" charset="0"/>
                        </a:rPr>
                        <a:t>12</a:t>
                      </a:r>
                      <a:endParaRPr lang="zh-CN" altLang="en-US" sz="1800" b="1" baseline="-250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zh-CN" sz="1800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Microsoft Sans Serif" pitchFamily="34" charset="0"/>
                          <a:cs typeface="Microsoft Sans Serif" pitchFamily="34" charset="0"/>
                        </a:rPr>
                        <a:t>n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Microsoft Sans Serif" pitchFamily="34" charset="0"/>
                          <a:cs typeface="Microsoft Sans Serif" pitchFamily="34" charset="0"/>
                        </a:rPr>
                        <a:t>-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pentane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9453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000" b="1" baseline="-250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Microsoft Sans Serif" pitchFamily="34" charset="0"/>
                          <a:cs typeface="Microsoft Sans Serif" pitchFamily="34" charset="0"/>
                        </a:rPr>
                        <a:t>iso</a:t>
                      </a: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pentane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35315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000" b="1" baseline="-250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800" b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Microsoft Sans Serif" pitchFamily="34" charset="0"/>
                          <a:cs typeface="Microsoft Sans Serif" pitchFamily="34" charset="0"/>
                        </a:rPr>
                        <a:t>neo</a:t>
                      </a: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pentane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1368CE71-7330-42AC-94BF-4DC574ED10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339922"/>
              </p:ext>
            </p:extLst>
          </p:nvPr>
        </p:nvGraphicFramePr>
        <p:xfrm>
          <a:off x="4070695" y="1791403"/>
          <a:ext cx="2034384" cy="2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261434" imgH="164120" progId="ChemDraw.Document.6.0">
                  <p:embed/>
                </p:oleObj>
              </mc:Choice>
              <mc:Fallback>
                <p:oleObj name="CS ChemDraw Drawing" r:id="rId2" imgW="1261434" imgH="164120" progId="ChemDraw.Document.6.0">
                  <p:embed/>
                  <p:pic>
                    <p:nvPicPr>
                      <p:cNvPr id="1843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0695" y="1791403"/>
                        <a:ext cx="2034384" cy="2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>
            <a:extLst>
              <a:ext uri="{FF2B5EF4-FFF2-40B4-BE49-F238E27FC236}">
                <a16:creationId xmlns:a16="http://schemas.microsoft.com/office/drawing/2014/main" id="{0B918400-06E9-4BB1-AAEE-641A8E2C5F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9341094"/>
              </p:ext>
            </p:extLst>
          </p:nvPr>
        </p:nvGraphicFramePr>
        <p:xfrm>
          <a:off x="4373480" y="2213225"/>
          <a:ext cx="1428813" cy="575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874338" imgH="353073" progId="ChemDraw.Document.6.0">
                  <p:embed/>
                </p:oleObj>
              </mc:Choice>
              <mc:Fallback>
                <p:oleObj name="CS ChemDraw Drawing" r:id="rId4" imgW="874338" imgH="353073" progId="ChemDraw.Document.6.0">
                  <p:embed/>
                  <p:pic>
                    <p:nvPicPr>
                      <p:cNvPr id="1843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3480" y="2213225"/>
                        <a:ext cx="1428813" cy="5756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>
            <a:extLst>
              <a:ext uri="{FF2B5EF4-FFF2-40B4-BE49-F238E27FC236}">
                <a16:creationId xmlns:a16="http://schemas.microsoft.com/office/drawing/2014/main" id="{28AB2069-0F28-4F1C-B950-879EBE7208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4104255"/>
              </p:ext>
            </p:extLst>
          </p:nvPr>
        </p:nvGraphicFramePr>
        <p:xfrm>
          <a:off x="3796027" y="2941444"/>
          <a:ext cx="2619113" cy="268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1610467" imgH="165739" progId="ChemDraw.Document.6.0">
                  <p:embed/>
                </p:oleObj>
              </mc:Choice>
              <mc:Fallback>
                <p:oleObj name="CS ChemDraw Drawing" r:id="rId6" imgW="1610467" imgH="165739" progId="ChemDraw.Document.6.0">
                  <p:embed/>
                  <p:pic>
                    <p:nvPicPr>
                      <p:cNvPr id="184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6027" y="2941444"/>
                        <a:ext cx="2619113" cy="2686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>
            <a:extLst>
              <a:ext uri="{FF2B5EF4-FFF2-40B4-BE49-F238E27FC236}">
                <a16:creationId xmlns:a16="http://schemas.microsoft.com/office/drawing/2014/main" id="{479AF18B-F7A9-47D9-AC16-370A91DC11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8212371"/>
              </p:ext>
            </p:extLst>
          </p:nvPr>
        </p:nvGraphicFramePr>
        <p:xfrm>
          <a:off x="4232681" y="3456151"/>
          <a:ext cx="1935327" cy="5675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1202047" imgH="353073" progId="ChemDraw.Document.6.0">
                  <p:embed/>
                </p:oleObj>
              </mc:Choice>
              <mc:Fallback>
                <p:oleObj name="CS ChemDraw Drawing" r:id="rId8" imgW="1202047" imgH="353073" progId="ChemDraw.Document.6.0">
                  <p:embed/>
                  <p:pic>
                    <p:nvPicPr>
                      <p:cNvPr id="184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2681" y="3456151"/>
                        <a:ext cx="1935327" cy="5675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7">
            <a:extLst>
              <a:ext uri="{FF2B5EF4-FFF2-40B4-BE49-F238E27FC236}">
                <a16:creationId xmlns:a16="http://schemas.microsoft.com/office/drawing/2014/main" id="{C07A8FBD-D525-4195-AD9C-D7C34F7A54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2407999"/>
              </p:ext>
            </p:extLst>
          </p:nvPr>
        </p:nvGraphicFramePr>
        <p:xfrm>
          <a:off x="4383675" y="4116335"/>
          <a:ext cx="1212662" cy="86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799835" imgH="567940" progId="ChemDraw.Document.6.0">
                  <p:embed/>
                </p:oleObj>
              </mc:Choice>
              <mc:Fallback>
                <p:oleObj name="CS ChemDraw Drawing" r:id="rId10" imgW="799835" imgH="567940" progId="ChemDraw.Document.6.0">
                  <p:embed/>
                  <p:pic>
                    <p:nvPicPr>
                      <p:cNvPr id="1843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3675" y="4116335"/>
                        <a:ext cx="1212662" cy="86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73047269-547E-4461-A9D0-D5A2115D5B14}"/>
              </a:ext>
            </a:extLst>
          </p:cNvPr>
          <p:cNvSpPr/>
          <p:nvPr/>
        </p:nvSpPr>
        <p:spPr>
          <a:xfrm>
            <a:off x="3215679" y="1690861"/>
            <a:ext cx="3744416" cy="10967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2C4C028-B49A-474B-B8DB-5FF723BCCBE0}"/>
              </a:ext>
            </a:extLst>
          </p:cNvPr>
          <p:cNvSpPr/>
          <p:nvPr/>
        </p:nvSpPr>
        <p:spPr>
          <a:xfrm>
            <a:off x="3226850" y="2792656"/>
            <a:ext cx="3744416" cy="2210480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BEDF539-892D-4640-AF4F-471BC3ABCB71}"/>
              </a:ext>
            </a:extLst>
          </p:cNvPr>
          <p:cNvSpPr txBox="1"/>
          <p:nvPr/>
        </p:nvSpPr>
        <p:spPr>
          <a:xfrm>
            <a:off x="567450" y="5731447"/>
            <a:ext cx="11521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Common names cannot easily describe many isomers. Therefore, we need a system of nomenclature that enables us to name complicated alkane molecules.</a:t>
            </a:r>
          </a:p>
        </p:txBody>
      </p:sp>
    </p:spTree>
    <p:extLst>
      <p:ext uri="{BB962C8B-B14F-4D97-AF65-F5344CB8AC3E}">
        <p14:creationId xmlns:p14="http://schemas.microsoft.com/office/powerpoint/2010/main" val="2654144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44D9B6A6-7F1C-4E52-93D2-1190DF3C3D24}"/>
              </a:ext>
            </a:extLst>
          </p:cNvPr>
          <p:cNvSpPr/>
          <p:nvPr/>
        </p:nvSpPr>
        <p:spPr>
          <a:xfrm>
            <a:off x="1198457" y="5759411"/>
            <a:ext cx="9742072" cy="538485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32A41F2-B048-43C1-A251-98A70A34C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80D03AA-61C8-4E55-A0E8-782F5A64622A}"/>
              </a:ext>
            </a:extLst>
          </p:cNvPr>
          <p:cNvSpPr txBox="1"/>
          <p:nvPr/>
        </p:nvSpPr>
        <p:spPr>
          <a:xfrm>
            <a:off x="-96688" y="202373"/>
            <a:ext cx="4994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3-2</a:t>
            </a:r>
            <a:r>
              <a:rPr lang="en-US" altLang="zh-CN" sz="20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altLang="zh-CN" sz="2000" b="1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Systematic Names/IUPAC Names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886F8DB-662C-4FA7-A0E9-FC68548FCAA2}"/>
              </a:ext>
            </a:extLst>
          </p:cNvPr>
          <p:cNvSpPr txBox="1"/>
          <p:nvPr/>
        </p:nvSpPr>
        <p:spPr>
          <a:xfrm>
            <a:off x="263352" y="666739"/>
            <a:ext cx="113190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IUPAC: </a:t>
            </a:r>
            <a:r>
              <a:rPr lang="en-US" altLang="zh-CN" sz="2000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I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nternational </a:t>
            </a:r>
            <a:r>
              <a:rPr lang="en-US" altLang="zh-CN" sz="2000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U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nion of </a:t>
            </a:r>
            <a:r>
              <a:rPr lang="en-US" altLang="zh-CN" sz="2000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P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ure and </a:t>
            </a:r>
            <a:r>
              <a:rPr lang="en-US" altLang="zh-CN" sz="2000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A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pplied </a:t>
            </a:r>
            <a:r>
              <a:rPr lang="en-US" altLang="zh-CN" sz="2000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C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hemistry.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A system for naming compounds that is simple to use and flexible enough to name  even the most complicated organic compounds was devised by IUPAC.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The IUPAC names are </a:t>
            </a:r>
            <a:r>
              <a:rPr lang="en-US" altLang="zh-CN" sz="2000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based on the structures of the alkanes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339E8DFC-B37B-4409-80E8-42F85D1AF9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528493"/>
              </p:ext>
            </p:extLst>
          </p:nvPr>
        </p:nvGraphicFramePr>
        <p:xfrm>
          <a:off x="1703512" y="3707261"/>
          <a:ext cx="7956202" cy="793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3837126" imgH="382145" progId="ChemDraw.Document.6.0">
                  <p:embed/>
                </p:oleObj>
              </mc:Choice>
              <mc:Fallback>
                <p:oleObj name="CS ChemDraw Drawing" r:id="rId2" imgW="3837126" imgH="382145" progId="ChemDraw.Document.6.0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48940C32-3465-4CBC-8B14-D33C5B992E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03512" y="3707261"/>
                        <a:ext cx="7956202" cy="7933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E6CCBB10-7ADE-4137-998D-91DE01282F0E}"/>
              </a:ext>
            </a:extLst>
          </p:cNvPr>
          <p:cNvSpPr/>
          <p:nvPr/>
        </p:nvSpPr>
        <p:spPr>
          <a:xfrm>
            <a:off x="7078873" y="3693967"/>
            <a:ext cx="2580841" cy="8584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F10E082-ADD5-47D8-8747-6B0B2528480A}"/>
              </a:ext>
            </a:extLst>
          </p:cNvPr>
          <p:cNvSpPr txBox="1"/>
          <p:nvPr/>
        </p:nvSpPr>
        <p:spPr>
          <a:xfrm>
            <a:off x="7538762" y="4618228"/>
            <a:ext cx="1912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MS Reference Sans Serif" panose="020B0604030504040204" pitchFamily="34" charset="0"/>
              </a:rPr>
              <a:t>the main chain</a:t>
            </a:r>
            <a:endParaRPr lang="zh-CN" altLang="en-US" b="1" dirty="0">
              <a:latin typeface="MS Reference Sans Serif" panose="020B060403050404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AF4802B-77B0-4392-9DE0-3CDF88C44A7A}"/>
              </a:ext>
            </a:extLst>
          </p:cNvPr>
          <p:cNvSpPr/>
          <p:nvPr/>
        </p:nvSpPr>
        <p:spPr>
          <a:xfrm>
            <a:off x="6358793" y="4033584"/>
            <a:ext cx="671952" cy="5188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84CB9EB-E701-4F60-AC7A-7F2572A894B7}"/>
              </a:ext>
            </a:extLst>
          </p:cNvPr>
          <p:cNvSpPr txBox="1"/>
          <p:nvPr/>
        </p:nvSpPr>
        <p:spPr>
          <a:xfrm>
            <a:off x="5006542" y="4595195"/>
            <a:ext cx="21259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MS Reference Sans Serif" panose="020B0604030504040204" pitchFamily="34" charset="0"/>
              </a:rPr>
              <a:t>the substituent: </a:t>
            </a:r>
          </a:p>
          <a:p>
            <a:r>
              <a:rPr lang="en-US" altLang="zh-CN" b="1" dirty="0">
                <a:latin typeface="MS Reference Sans Serif" panose="020B0604030504040204" pitchFamily="34" charset="0"/>
              </a:rPr>
              <a:t>the alkyl group</a:t>
            </a:r>
            <a:endParaRPr lang="zh-CN" altLang="en-US" b="1" dirty="0">
              <a:latin typeface="MS Reference Sans Serif" panose="020B060403050404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C63789B-6C6B-4D9D-854C-3591793879CE}"/>
              </a:ext>
            </a:extLst>
          </p:cNvPr>
          <p:cNvSpPr txBox="1"/>
          <p:nvPr/>
        </p:nvSpPr>
        <p:spPr>
          <a:xfrm>
            <a:off x="1198457" y="5843987"/>
            <a:ext cx="98650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the positions of the substituents + the names of the substituents + the base name</a:t>
            </a:r>
            <a:endParaRPr lang="zh-CN" altLang="en-US" dirty="0">
              <a:latin typeface="MS Reference Sans Serif" panose="020B060403050404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6855DAF-A8CC-4E7D-8136-1E864AC41F09}"/>
              </a:ext>
            </a:extLst>
          </p:cNvPr>
          <p:cNvSpPr txBox="1"/>
          <p:nvPr/>
        </p:nvSpPr>
        <p:spPr>
          <a:xfrm>
            <a:off x="-96688" y="2930465"/>
            <a:ext cx="3260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highlight>
                  <a:srgbClr val="00FFFF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3-2-1</a:t>
            </a:r>
            <a:r>
              <a:rPr lang="en-US" altLang="zh-CN" sz="20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A simple example</a:t>
            </a:r>
            <a:endParaRPr lang="zh-CN" altLang="en-US" sz="2000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54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961AF54-66BE-455F-B059-9F2B15F2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BB3F157-828C-4E25-8107-B513BEB5BEBE}"/>
              </a:ext>
            </a:extLst>
          </p:cNvPr>
          <p:cNvSpPr txBox="1"/>
          <p:nvPr/>
        </p:nvSpPr>
        <p:spPr>
          <a:xfrm>
            <a:off x="248798" y="676156"/>
            <a:ext cx="1169440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Step 1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: Identify </a:t>
            </a:r>
            <a:r>
              <a:rPr lang="en-US" altLang="zh-CN" sz="2000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the main chain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 to give </a:t>
            </a:r>
            <a:r>
              <a:rPr lang="en-US" altLang="zh-CN" sz="2000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the base name</a:t>
            </a:r>
            <a:r>
              <a:rPr lang="en-US" altLang="zh-CN" sz="2000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 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and</a:t>
            </a:r>
            <a:r>
              <a:rPr lang="en-US" altLang="zh-CN" sz="2000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 the names of substituents.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b="1" dirty="0">
              <a:highlight>
                <a:srgbClr val="FFFF00"/>
              </a:highlight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Choose the longest continuous chain of carbon atoms as the main chain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, and use the name of this chain as </a:t>
            </a:r>
            <a:r>
              <a:rPr lang="en-US" altLang="zh-CN" sz="2000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the base name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 of the alkane; </a:t>
            </a:r>
            <a:r>
              <a:rPr lang="en-US" altLang="zh-CN" sz="2000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The remaining parts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 on the main chain are </a:t>
            </a:r>
            <a:r>
              <a:rPr lang="en-US" altLang="zh-CN" sz="2000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substituents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; 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4D9F28A-9895-4C2E-A3C6-77D7FCA7958A}"/>
              </a:ext>
            </a:extLst>
          </p:cNvPr>
          <p:cNvSpPr txBox="1"/>
          <p:nvPr/>
        </p:nvSpPr>
        <p:spPr>
          <a:xfrm>
            <a:off x="-96688" y="207536"/>
            <a:ext cx="102966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Steps to give IUPAC names (systematic names):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EA2193B-F92F-4461-9690-EECCC18E29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690038"/>
              </p:ext>
            </p:extLst>
          </p:nvPr>
        </p:nvGraphicFramePr>
        <p:xfrm>
          <a:off x="2203798" y="2535068"/>
          <a:ext cx="7956202" cy="793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3837126" imgH="382145" progId="ChemDraw.Document.6.0">
                  <p:embed/>
                </p:oleObj>
              </mc:Choice>
              <mc:Fallback>
                <p:oleObj name="CS ChemDraw Drawing" r:id="rId2" imgW="3837126" imgH="382145" progId="ChemDraw.Document.6.0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339E8DFC-B37B-4409-80E8-42F85D1AF9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03798" y="2535068"/>
                        <a:ext cx="7956202" cy="7933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C300EDF8-D00C-471D-8C3A-E7BC857DDE37}"/>
              </a:ext>
            </a:extLst>
          </p:cNvPr>
          <p:cNvSpPr txBox="1"/>
          <p:nvPr/>
        </p:nvSpPr>
        <p:spPr>
          <a:xfrm>
            <a:off x="7532390" y="3297034"/>
            <a:ext cx="1825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</a:rPr>
              <a:t>methyl</a:t>
            </a:r>
            <a:r>
              <a:rPr lang="en-US" altLang="zh-CN" b="1" dirty="0">
                <a:solidFill>
                  <a:srgbClr val="FF0000"/>
                </a:solidFill>
                <a:latin typeface="MS Reference Sans Serif" panose="020B0604030504040204" pitchFamily="34" charset="0"/>
              </a:rPr>
              <a:t>hexane</a:t>
            </a:r>
            <a:endParaRPr lang="zh-CN" altLang="en-US" b="1" dirty="0">
              <a:solidFill>
                <a:srgbClr val="FF0000"/>
              </a:solidFill>
              <a:latin typeface="MS Reference Sans Serif" panose="020B060403050404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D1CBC23-F592-43A6-BBC6-E4CE8235DF7C}"/>
              </a:ext>
            </a:extLst>
          </p:cNvPr>
          <p:cNvSpPr txBox="1"/>
          <p:nvPr/>
        </p:nvSpPr>
        <p:spPr>
          <a:xfrm>
            <a:off x="407368" y="3795823"/>
            <a:ext cx="113052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Step 2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: </a:t>
            </a:r>
            <a:r>
              <a:rPr lang="en-US" altLang="zh-CN" sz="2000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Number the Main Chain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 to give the </a:t>
            </a:r>
            <a:r>
              <a:rPr lang="en-US" altLang="zh-CN" sz="2000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locations of the substituents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Begin with the end of the main chain nearest a substituent so that </a:t>
            </a:r>
            <a:r>
              <a:rPr lang="en-US" altLang="zh-CN" sz="2000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the number set of the substituted carbons will be as low as possible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D28C922F-C20A-4635-8DE6-49EF611912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0986057"/>
              </p:ext>
            </p:extLst>
          </p:nvPr>
        </p:nvGraphicFramePr>
        <p:xfrm>
          <a:off x="2783632" y="5248719"/>
          <a:ext cx="2664296" cy="1165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571150" imgH="686989" progId="ChemDraw.Document.6.0">
                  <p:embed/>
                </p:oleObj>
              </mc:Choice>
              <mc:Fallback>
                <p:oleObj name="CS ChemDraw Drawing" r:id="rId4" imgW="1571150" imgH="68698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83632" y="5248719"/>
                        <a:ext cx="2664296" cy="11652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432379A0-B342-45D6-915B-5B71D36F657D}"/>
              </a:ext>
            </a:extLst>
          </p:cNvPr>
          <p:cNvSpPr txBox="1"/>
          <p:nvPr/>
        </p:nvSpPr>
        <p:spPr>
          <a:xfrm>
            <a:off x="6217446" y="5733256"/>
            <a:ext cx="4455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</a:rPr>
              <a:t>methyl</a:t>
            </a:r>
            <a:r>
              <a:rPr lang="en-US" altLang="zh-CN" b="1" dirty="0">
                <a:solidFill>
                  <a:srgbClr val="FF0000"/>
                </a:solidFill>
                <a:latin typeface="MS Reference Sans Serif" panose="020B0604030504040204" pitchFamily="34" charset="0"/>
              </a:rPr>
              <a:t>hexane   </a:t>
            </a:r>
            <a:r>
              <a:rPr lang="en-US" altLang="zh-CN" b="1" dirty="0">
                <a:latin typeface="MS Reference Sans Serif" panose="020B0604030504040204" pitchFamily="34" charset="0"/>
              </a:rPr>
              <a:t>→   3-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</a:rPr>
              <a:t>methyl</a:t>
            </a:r>
            <a:r>
              <a:rPr lang="en-US" altLang="zh-CN" b="1" dirty="0">
                <a:solidFill>
                  <a:srgbClr val="FF0000"/>
                </a:solidFill>
                <a:latin typeface="MS Reference Sans Serif" panose="020B0604030504040204" pitchFamily="34" charset="0"/>
              </a:rPr>
              <a:t>hexane</a:t>
            </a:r>
            <a:r>
              <a:rPr lang="en-US" altLang="zh-CN" b="1" dirty="0">
                <a:latin typeface="MS Reference Sans Serif" panose="020B0604030504040204" pitchFamily="34" charset="0"/>
              </a:rPr>
              <a:t> </a:t>
            </a:r>
            <a:endParaRPr lang="zh-CN" altLang="en-US" b="1" dirty="0">
              <a:latin typeface="MS Reference Sans Serif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773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B1F49D4-A3F8-4DDD-A319-EC29A778B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B709C53-CAF9-4240-B8C2-086BEE0EF7F9}"/>
              </a:ext>
            </a:extLst>
          </p:cNvPr>
          <p:cNvSpPr txBox="1"/>
          <p:nvPr/>
        </p:nvSpPr>
        <p:spPr>
          <a:xfrm>
            <a:off x="-96688" y="274818"/>
            <a:ext cx="60131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highlight>
                  <a:srgbClr val="00FFFF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3-2-2</a:t>
            </a:r>
            <a:r>
              <a:rPr lang="en-US" altLang="zh-CN" sz="20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Common names of simple alkyl groups</a:t>
            </a:r>
            <a:endParaRPr lang="zh-CN" altLang="en-US" sz="2000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05E31A3-DEDC-4956-B929-7C929455C1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104523"/>
              </p:ext>
            </p:extLst>
          </p:nvPr>
        </p:nvGraphicFramePr>
        <p:xfrm>
          <a:off x="1271464" y="1592952"/>
          <a:ext cx="9145016" cy="18360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04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</a:rPr>
                        <a:t>CH</a:t>
                      </a:r>
                      <a:r>
                        <a:rPr lang="en-US" altLang="zh-CN" sz="1600" b="1" baseline="-25000" dirty="0">
                          <a:latin typeface="Microsoft Sans Serif" pitchFamily="34" charset="0"/>
                          <a:cs typeface="Microsoft Sans Serif" pitchFamily="34" charset="0"/>
                        </a:rPr>
                        <a:t>4</a:t>
                      </a:r>
                      <a:endParaRPr lang="zh-CN" altLang="en-US" sz="1600" b="1" baseline="-25000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u="none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meth</a:t>
                      </a:r>
                      <a:r>
                        <a:rPr lang="en-US" altLang="zh-CN" sz="1600" b="1" u="none" dirty="0">
                          <a:solidFill>
                            <a:srgbClr val="0000FF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ane</a:t>
                      </a:r>
                      <a:endParaRPr lang="zh-CN" altLang="en-US" sz="1600" b="1" u="none" dirty="0">
                        <a:solidFill>
                          <a:srgbClr val="0000FF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</a:rPr>
                        <a:t>CH</a:t>
                      </a:r>
                      <a:r>
                        <a:rPr lang="en-US" altLang="zh-CN" sz="1600" b="1" baseline="-25000" dirty="0">
                          <a:latin typeface="Microsoft Sans Serif" pitchFamily="34" charset="0"/>
                          <a:cs typeface="Microsoft Sans Serif" pitchFamily="34" charset="0"/>
                        </a:rPr>
                        <a:t>3</a:t>
                      </a:r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</a:t>
                      </a:r>
                      <a:endParaRPr lang="zh-CN" altLang="en-US" sz="16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</a:rPr>
                        <a:t>meth</a:t>
                      </a:r>
                      <a:r>
                        <a:rPr lang="en-US" altLang="zh-CN" sz="1600" b="1" u="none" dirty="0">
                          <a:solidFill>
                            <a:srgbClr val="FF0000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yl</a:t>
                      </a:r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</a:rPr>
                        <a:t> group (Me)</a:t>
                      </a:r>
                      <a:endParaRPr lang="zh-CN" altLang="en-US" sz="16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</a:rPr>
                        <a:t>CH</a:t>
                      </a:r>
                      <a:r>
                        <a:rPr lang="en-US" altLang="zh-CN" sz="1600" b="1" baseline="-25000" dirty="0">
                          <a:latin typeface="Microsoft Sans Serif" pitchFamily="34" charset="0"/>
                          <a:cs typeface="Microsoft Sans Serif" pitchFamily="34" charset="0"/>
                        </a:rPr>
                        <a:t>3</a:t>
                      </a:r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CH</a:t>
                      </a:r>
                      <a:r>
                        <a:rPr lang="en-US" altLang="zh-CN" sz="1600" b="1" baseline="-25000" dirty="0"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3</a:t>
                      </a:r>
                      <a:endParaRPr lang="zh-CN" altLang="en-US" sz="1600" b="1" baseline="-25000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u="none" dirty="0">
                          <a:latin typeface="Microsoft Sans Serif" pitchFamily="34" charset="0"/>
                          <a:cs typeface="Microsoft Sans Serif" pitchFamily="34" charset="0"/>
                        </a:rPr>
                        <a:t>eth</a:t>
                      </a:r>
                      <a:r>
                        <a:rPr lang="en-US" altLang="zh-CN" sz="1600" b="1" u="none" dirty="0">
                          <a:solidFill>
                            <a:srgbClr val="0000FF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ane</a:t>
                      </a:r>
                      <a:endParaRPr lang="zh-CN" altLang="en-US" sz="1600" b="1" u="none" dirty="0">
                        <a:solidFill>
                          <a:srgbClr val="0000FF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</a:rPr>
                        <a:t>CH</a:t>
                      </a:r>
                      <a:r>
                        <a:rPr lang="en-US" altLang="zh-CN" sz="1600" b="1" baseline="-25000" dirty="0">
                          <a:latin typeface="Microsoft Sans Serif" pitchFamily="34" charset="0"/>
                          <a:cs typeface="Microsoft Sans Serif" pitchFamily="34" charset="0"/>
                        </a:rPr>
                        <a:t>3</a:t>
                      </a:r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CH</a:t>
                      </a:r>
                      <a:r>
                        <a:rPr lang="en-US" altLang="zh-CN" sz="1600" b="1" baseline="-25000" dirty="0"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2</a:t>
                      </a:r>
                      <a:r>
                        <a:rPr lang="en-US" altLang="zh-CN" sz="1600" b="1" baseline="0" dirty="0"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</a:t>
                      </a:r>
                      <a:endParaRPr lang="zh-CN" altLang="en-US" sz="1600" b="1" baseline="0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</a:rPr>
                        <a:t>eth</a:t>
                      </a:r>
                      <a:r>
                        <a:rPr lang="en-US" altLang="zh-CN" sz="1600" b="1" u="none" dirty="0">
                          <a:solidFill>
                            <a:srgbClr val="FF0000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yl</a:t>
                      </a:r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</a:rPr>
                        <a:t> group (Et)</a:t>
                      </a:r>
                      <a:endParaRPr lang="zh-CN" altLang="en-US" sz="16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</a:rPr>
                        <a:t>CH</a:t>
                      </a:r>
                      <a:r>
                        <a:rPr lang="en-US" altLang="zh-CN" sz="1600" b="1" baseline="-25000" dirty="0">
                          <a:latin typeface="Microsoft Sans Serif" pitchFamily="34" charset="0"/>
                          <a:cs typeface="Microsoft Sans Serif" pitchFamily="34" charset="0"/>
                        </a:rPr>
                        <a:t>3</a:t>
                      </a:r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CH</a:t>
                      </a:r>
                      <a:r>
                        <a:rPr lang="en-US" altLang="zh-CN" sz="1600" b="1" baseline="-25000" dirty="0"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2</a:t>
                      </a:r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CH</a:t>
                      </a:r>
                      <a:r>
                        <a:rPr lang="en-US" altLang="zh-CN" sz="1600" b="1" baseline="-25000" dirty="0"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3</a:t>
                      </a:r>
                      <a:endParaRPr lang="zh-CN" altLang="en-US" sz="1600" b="1" baseline="-25000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u="none" dirty="0">
                          <a:latin typeface="Microsoft Sans Serif" pitchFamily="34" charset="0"/>
                          <a:cs typeface="Microsoft Sans Serif" pitchFamily="34" charset="0"/>
                        </a:rPr>
                        <a:t>prop</a:t>
                      </a:r>
                      <a:r>
                        <a:rPr lang="en-US" altLang="zh-CN" sz="1600" b="1" u="none" dirty="0">
                          <a:solidFill>
                            <a:srgbClr val="0000FF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ane</a:t>
                      </a:r>
                      <a:endParaRPr lang="zh-CN" altLang="en-US" sz="1600" b="1" u="none" dirty="0">
                        <a:solidFill>
                          <a:srgbClr val="0000FF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</a:rPr>
                        <a:t>CH</a:t>
                      </a:r>
                      <a:r>
                        <a:rPr lang="en-US" altLang="zh-CN" sz="1600" b="1" baseline="-25000" dirty="0">
                          <a:latin typeface="Microsoft Sans Serif" pitchFamily="34" charset="0"/>
                          <a:cs typeface="Microsoft Sans Serif" pitchFamily="34" charset="0"/>
                        </a:rPr>
                        <a:t>3</a:t>
                      </a:r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CH</a:t>
                      </a:r>
                      <a:r>
                        <a:rPr lang="en-US" altLang="zh-CN" sz="1600" b="1" baseline="-25000" dirty="0"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2</a:t>
                      </a:r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CH</a:t>
                      </a:r>
                      <a:r>
                        <a:rPr lang="en-US" altLang="zh-CN" sz="1600" b="1" baseline="-25000" dirty="0"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2</a:t>
                      </a:r>
                      <a:r>
                        <a:rPr lang="en-US" altLang="zh-CN" sz="1600" b="1" baseline="0" dirty="0"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</a:t>
                      </a:r>
                      <a:endParaRPr lang="zh-CN" altLang="en-US" sz="1600" b="1" baseline="0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</a:rPr>
                        <a:t>(</a:t>
                      </a:r>
                      <a:r>
                        <a:rPr lang="en-US" altLang="zh-CN" sz="1600" b="1" i="1" dirty="0">
                          <a:solidFill>
                            <a:srgbClr val="FF0000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n</a:t>
                      </a:r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</a:rPr>
                        <a:t>)-prop</a:t>
                      </a:r>
                      <a:r>
                        <a:rPr lang="en-US" altLang="zh-CN" sz="1600" b="1" u="none" dirty="0">
                          <a:solidFill>
                            <a:srgbClr val="FF0000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yl</a:t>
                      </a:r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</a:rPr>
                        <a:t> group (</a:t>
                      </a:r>
                      <a:r>
                        <a:rPr lang="en-US" altLang="zh-CN" sz="1600" b="1" dirty="0" err="1">
                          <a:latin typeface="Microsoft Sans Serif" pitchFamily="34" charset="0"/>
                          <a:cs typeface="Microsoft Sans Serif" pitchFamily="34" charset="0"/>
                        </a:rPr>
                        <a:t>Pr</a:t>
                      </a:r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</a:rPr>
                        <a:t>)</a:t>
                      </a:r>
                      <a:endParaRPr lang="zh-CN" altLang="en-US" sz="16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528">
                <a:tc vMerge="1">
                  <a:txBody>
                    <a:bodyPr/>
                    <a:lstStyle/>
                    <a:p>
                      <a:endParaRPr lang="en-US" altLang="zh-CN" sz="2400" b="1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1" baseline="0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iso</a:t>
                      </a:r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</a:rPr>
                        <a:t>prop</a:t>
                      </a:r>
                      <a:r>
                        <a:rPr lang="en-US" altLang="zh-CN" sz="1600" b="1" u="none" dirty="0">
                          <a:solidFill>
                            <a:srgbClr val="FF0000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yl</a:t>
                      </a:r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</a:rPr>
                        <a:t> group</a:t>
                      </a:r>
                      <a:endParaRPr lang="zh-CN" altLang="en-US" sz="16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84C4212A-51FD-41E6-BAA1-7850AAFDBF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858782"/>
              </p:ext>
            </p:extLst>
          </p:nvPr>
        </p:nvGraphicFramePr>
        <p:xfrm>
          <a:off x="5806724" y="2845345"/>
          <a:ext cx="1080120" cy="5545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711294" imgH="365490" progId="ChemDraw.Document.6.0">
                  <p:embed/>
                </p:oleObj>
              </mc:Choice>
              <mc:Fallback>
                <p:oleObj name="CS ChemDraw Drawing" r:id="rId2" imgW="711294" imgH="365490" progId="ChemDraw.Document.6.0">
                  <p:embed/>
                  <p:pic>
                    <p:nvPicPr>
                      <p:cNvPr id="4198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6724" y="2845345"/>
                        <a:ext cx="1080120" cy="5545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45983ACE-0B69-465B-BB47-6D5A789A1BAA}"/>
              </a:ext>
            </a:extLst>
          </p:cNvPr>
          <p:cNvSpPr/>
          <p:nvPr/>
        </p:nvSpPr>
        <p:spPr>
          <a:xfrm>
            <a:off x="5691874" y="2737305"/>
            <a:ext cx="1080120" cy="648072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931B5ED-54E2-4334-AA8D-364CD05922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260780"/>
              </p:ext>
            </p:extLst>
          </p:nvPr>
        </p:nvGraphicFramePr>
        <p:xfrm>
          <a:off x="1271464" y="3429000"/>
          <a:ext cx="9145016" cy="29815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04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3960">
                <a:tc rowSpan="4">
                  <a:txBody>
                    <a:bodyPr/>
                    <a:lstStyle/>
                    <a:p>
                      <a:endParaRPr lang="zh-CN" altLang="en-US" sz="1600" b="1" baseline="-25000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r>
                        <a:rPr lang="en-US" altLang="zh-CN" sz="1600" b="1" u="none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but</a:t>
                      </a:r>
                      <a:r>
                        <a:rPr lang="en-US" altLang="zh-CN" sz="1600" b="1" u="none" dirty="0">
                          <a:solidFill>
                            <a:srgbClr val="0000FF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ane</a:t>
                      </a:r>
                      <a:endParaRPr lang="zh-CN" altLang="en-US" sz="1600" b="1" u="none" dirty="0">
                        <a:solidFill>
                          <a:srgbClr val="0000FF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</a:rPr>
                        <a:t>CH</a:t>
                      </a:r>
                      <a:r>
                        <a:rPr lang="en-US" altLang="zh-CN" sz="1600" b="1" baseline="-25000" dirty="0">
                          <a:latin typeface="Microsoft Sans Serif" pitchFamily="34" charset="0"/>
                          <a:cs typeface="Microsoft Sans Serif" pitchFamily="34" charset="0"/>
                        </a:rPr>
                        <a:t>3</a:t>
                      </a:r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CH</a:t>
                      </a:r>
                      <a:r>
                        <a:rPr lang="en-US" altLang="zh-CN" sz="1600" b="1" baseline="-25000" dirty="0"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2</a:t>
                      </a:r>
                      <a:r>
                        <a:rPr lang="en-US" altLang="zh-CN" sz="1600" b="1" baseline="0" dirty="0"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CH</a:t>
                      </a:r>
                      <a:r>
                        <a:rPr lang="en-US" altLang="zh-CN" sz="1600" b="1" baseline="-25000" dirty="0"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2</a:t>
                      </a:r>
                      <a:r>
                        <a:rPr lang="en-US" altLang="zh-CN" sz="1600" b="1" baseline="0" dirty="0"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CH</a:t>
                      </a:r>
                      <a:r>
                        <a:rPr lang="en-US" altLang="zh-CN" sz="1600" b="1" baseline="-25000" dirty="0"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2</a:t>
                      </a:r>
                      <a:r>
                        <a:rPr lang="en-US" altLang="zh-CN" sz="1600" b="1" baseline="0" dirty="0"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</a:t>
                      </a:r>
                      <a:endParaRPr lang="zh-CN" altLang="en-US" sz="1600" b="1" baseline="0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 i="1" dirty="0">
                          <a:latin typeface="Microsoft Sans Serif" pitchFamily="34" charset="0"/>
                          <a:cs typeface="Microsoft Sans Serif" pitchFamily="34" charset="0"/>
                        </a:rPr>
                        <a:t>n</a:t>
                      </a:r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</a:rPr>
                        <a:t>-but</a:t>
                      </a:r>
                      <a:r>
                        <a:rPr lang="en-US" altLang="zh-CN" sz="1600" b="1" u="none" dirty="0">
                          <a:solidFill>
                            <a:srgbClr val="FF0000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yl</a:t>
                      </a:r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</a:rPr>
                        <a:t> group (Bu)</a:t>
                      </a:r>
                      <a:endParaRPr lang="zh-CN" altLang="en-US" sz="16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307">
                <a:tc vMerge="1">
                  <a:txBody>
                    <a:bodyPr/>
                    <a:lstStyle/>
                    <a:p>
                      <a:endParaRPr lang="zh-CN" altLang="en-US" sz="2400" b="1" baseline="-25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sz="2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 b="1" baseline="0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1" baseline="0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iso</a:t>
                      </a:r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</a:rPr>
                        <a:t>but</a:t>
                      </a:r>
                      <a:r>
                        <a:rPr lang="en-US" altLang="zh-CN" sz="1600" b="1" u="none" dirty="0">
                          <a:solidFill>
                            <a:srgbClr val="FF0000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yl</a:t>
                      </a:r>
                      <a:r>
                        <a:rPr lang="en-US" altLang="zh-CN" sz="1600" b="1" u="none" dirty="0">
                          <a:latin typeface="Microsoft Sans Serif" pitchFamily="34" charset="0"/>
                          <a:cs typeface="Microsoft Sans Serif" pitchFamily="34" charset="0"/>
                        </a:rPr>
                        <a:t> </a:t>
                      </a:r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</a:rPr>
                        <a:t>group</a:t>
                      </a:r>
                      <a:endParaRPr lang="zh-CN" altLang="en-US" sz="16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5292">
                <a:tc vMerge="1">
                  <a:txBody>
                    <a:bodyPr/>
                    <a:lstStyle/>
                    <a:p>
                      <a:endParaRPr lang="zh-CN" altLang="en-US" sz="2400" b="1" baseline="-25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sz="2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 b="1" baseline="0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1" baseline="0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 i="1" dirty="0">
                          <a:solidFill>
                            <a:srgbClr val="FF0000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sec</a:t>
                      </a:r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</a:rPr>
                        <a:t>-but</a:t>
                      </a:r>
                      <a:r>
                        <a:rPr lang="en-US" altLang="zh-CN" sz="1600" b="1" u="none" dirty="0">
                          <a:solidFill>
                            <a:srgbClr val="FF0000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yl</a:t>
                      </a:r>
                      <a:r>
                        <a:rPr lang="en-US" altLang="zh-CN" sz="1600" b="1" u="none" dirty="0">
                          <a:latin typeface="Microsoft Sans Serif" pitchFamily="34" charset="0"/>
                          <a:cs typeface="Microsoft Sans Serif" pitchFamily="34" charset="0"/>
                        </a:rPr>
                        <a:t> </a:t>
                      </a:r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</a:rPr>
                        <a:t>group</a:t>
                      </a:r>
                      <a:endParaRPr lang="zh-CN" altLang="en-US" sz="16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9645">
                <a:tc vMerge="1">
                  <a:txBody>
                    <a:bodyPr/>
                    <a:lstStyle/>
                    <a:p>
                      <a:endParaRPr lang="zh-CN" altLang="en-US" sz="2400" b="1" baseline="-25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sz="2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 b="1" baseline="0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 b="1" baseline="0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1" baseline="0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 i="1" dirty="0">
                          <a:solidFill>
                            <a:srgbClr val="FF0000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tert</a:t>
                      </a:r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</a:rPr>
                        <a:t>-but</a:t>
                      </a:r>
                      <a:r>
                        <a:rPr lang="en-US" altLang="zh-CN" sz="1600" b="1" u="none" dirty="0">
                          <a:solidFill>
                            <a:srgbClr val="FF0000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yl</a:t>
                      </a:r>
                      <a:r>
                        <a:rPr lang="en-US" altLang="zh-CN" sz="1600" b="1" u="none" dirty="0">
                          <a:latin typeface="Microsoft Sans Serif" pitchFamily="34" charset="0"/>
                          <a:cs typeface="Microsoft Sans Serif" pitchFamily="34" charset="0"/>
                        </a:rPr>
                        <a:t> </a:t>
                      </a:r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</a:rPr>
                        <a:t>group</a:t>
                      </a:r>
                      <a:endParaRPr lang="zh-CN" altLang="en-US" sz="16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52048756-ACE1-47B4-AB34-E8016BC9CF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741354"/>
              </p:ext>
            </p:extLst>
          </p:nvPr>
        </p:nvGraphicFramePr>
        <p:xfrm>
          <a:off x="5806724" y="3878464"/>
          <a:ext cx="1508349" cy="558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985554" imgH="365490" progId="ChemDraw.Document.6.0">
                  <p:embed/>
                </p:oleObj>
              </mc:Choice>
              <mc:Fallback>
                <p:oleObj name="CS ChemDraw Drawing" r:id="rId4" imgW="985554" imgH="365490" progId="ChemDraw.Document.6.0">
                  <p:embed/>
                  <p:pic>
                    <p:nvPicPr>
                      <p:cNvPr id="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6724" y="3878464"/>
                        <a:ext cx="1508349" cy="5586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65BB49A7-A067-484C-A74A-8C4BCC610A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800902"/>
              </p:ext>
            </p:extLst>
          </p:nvPr>
        </p:nvGraphicFramePr>
        <p:xfrm>
          <a:off x="5708851" y="4581128"/>
          <a:ext cx="1668401" cy="5355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1072475" imgH="344165" progId="ChemDraw.Document.6.0">
                  <p:embed/>
                </p:oleObj>
              </mc:Choice>
              <mc:Fallback>
                <p:oleObj name="CS ChemDraw Drawing" r:id="rId6" imgW="1072475" imgH="344165" progId="ChemDraw.Document.6.0">
                  <p:embed/>
                  <p:pic>
                    <p:nvPicPr>
                      <p:cNvPr id="1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8851" y="4581128"/>
                        <a:ext cx="1668401" cy="5355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>
            <a:extLst>
              <a:ext uri="{FF2B5EF4-FFF2-40B4-BE49-F238E27FC236}">
                <a16:creationId xmlns:a16="http://schemas.microsoft.com/office/drawing/2014/main" id="{BEEF83AE-E1F0-4D31-8AF1-5E38C44371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2755839"/>
              </p:ext>
            </p:extLst>
          </p:nvPr>
        </p:nvGraphicFramePr>
        <p:xfrm>
          <a:off x="6085739" y="5540578"/>
          <a:ext cx="970863" cy="820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625993" imgH="528530" progId="ChemDraw.Document.6.0">
                  <p:embed/>
                </p:oleObj>
              </mc:Choice>
              <mc:Fallback>
                <p:oleObj name="CS ChemDraw Drawing" r:id="rId8" imgW="625993" imgH="528530" progId="ChemDraw.Document.6.0">
                  <p:embed/>
                  <p:pic>
                    <p:nvPicPr>
                      <p:cNvPr id="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5739" y="5540578"/>
                        <a:ext cx="970863" cy="8205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C2E62FD0-8645-4E07-9C69-02E3B9AB3648}"/>
              </a:ext>
            </a:extLst>
          </p:cNvPr>
          <p:cNvSpPr/>
          <p:nvPr/>
        </p:nvSpPr>
        <p:spPr>
          <a:xfrm>
            <a:off x="5761627" y="3789040"/>
            <a:ext cx="998232" cy="588944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3" name="Object 9">
            <a:extLst>
              <a:ext uri="{FF2B5EF4-FFF2-40B4-BE49-F238E27FC236}">
                <a16:creationId xmlns:a16="http://schemas.microsoft.com/office/drawing/2014/main" id="{8A5F4736-387F-4F28-88DC-B2B22CD16E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8283135"/>
              </p:ext>
            </p:extLst>
          </p:nvPr>
        </p:nvGraphicFramePr>
        <p:xfrm>
          <a:off x="1343980" y="3714995"/>
          <a:ext cx="2016732" cy="262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1261434" imgH="164120" progId="ChemDraw.Document.6.0">
                  <p:embed/>
                </p:oleObj>
              </mc:Choice>
              <mc:Fallback>
                <p:oleObj name="CS ChemDraw Drawing" r:id="rId10" imgW="1261434" imgH="164120" progId="ChemDraw.Document.6.0">
                  <p:embed/>
                  <p:pic>
                    <p:nvPicPr>
                      <p:cNvPr id="1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980" y="3714995"/>
                        <a:ext cx="2016732" cy="2624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0">
            <a:extLst>
              <a:ext uri="{FF2B5EF4-FFF2-40B4-BE49-F238E27FC236}">
                <a16:creationId xmlns:a16="http://schemas.microsoft.com/office/drawing/2014/main" id="{0CFF6114-795F-40B1-9152-5D2FC3D887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3436637"/>
              </p:ext>
            </p:extLst>
          </p:nvPr>
        </p:nvGraphicFramePr>
        <p:xfrm>
          <a:off x="1630488" y="5063960"/>
          <a:ext cx="1476672" cy="593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2" imgW="874338" imgH="353073" progId="ChemDraw.Document.6.0">
                  <p:embed/>
                </p:oleObj>
              </mc:Choice>
              <mc:Fallback>
                <p:oleObj name="CS ChemDraw Drawing" r:id="rId12" imgW="874338" imgH="353073" progId="ChemDraw.Document.6.0">
                  <p:embed/>
                  <p:pic>
                    <p:nvPicPr>
                      <p:cNvPr id="15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0488" y="5063960"/>
                        <a:ext cx="1476672" cy="5938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DFA3AB98-78C0-4623-99FC-086E9B8806A5}"/>
              </a:ext>
            </a:extLst>
          </p:cNvPr>
          <p:cNvSpPr/>
          <p:nvPr/>
        </p:nvSpPr>
        <p:spPr>
          <a:xfrm>
            <a:off x="295621" y="814271"/>
            <a:ext cx="98643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Alkyl groups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are named by replacing the –</a:t>
            </a:r>
            <a:r>
              <a:rPr lang="en-US" altLang="zh-CN" b="1" dirty="0" err="1">
                <a:latin typeface="MS Reference Sans Serif" panose="020B0604030504040204" pitchFamily="34" charset="0"/>
                <a:cs typeface="Microsoft Sans Serif" pitchFamily="34" charset="0"/>
              </a:rPr>
              <a:t>ane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suffix of the alkane name with –</a:t>
            </a:r>
            <a:r>
              <a:rPr lang="en-US" altLang="zh-CN" b="1" dirty="0" err="1">
                <a:latin typeface="MS Reference Sans Serif" panose="020B0604030504040204" pitchFamily="34" charset="0"/>
                <a:cs typeface="Microsoft Sans Serif" pitchFamily="34" charset="0"/>
              </a:rPr>
              <a:t>yl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  <a:endParaRPr lang="zh-CN" altLang="en-US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221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0CE698E-F0E9-4DAB-B9F9-9DD3678AF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FE024C3-1622-4301-9AD6-2F6FABEF5045}"/>
              </a:ext>
            </a:extLst>
          </p:cNvPr>
          <p:cNvSpPr/>
          <p:nvPr/>
        </p:nvSpPr>
        <p:spPr>
          <a:xfrm>
            <a:off x="0" y="369653"/>
            <a:ext cx="349807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2000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3-2-3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 a complex example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B29EDE2-EC1E-482F-BBCD-5BD480748908}"/>
              </a:ext>
            </a:extLst>
          </p:cNvPr>
          <p:cNvSpPr txBox="1"/>
          <p:nvPr/>
        </p:nvSpPr>
        <p:spPr>
          <a:xfrm>
            <a:off x="407368" y="2877337"/>
            <a:ext cx="1137726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When there are two longest chains of equal length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, use the chain with 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the greater number of substituents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 as the main chain.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When two or more substituents are present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, list them in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 alphabetical order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When substituents are alphabetized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, iso is used as part of the alkyl group name, but the hyphenated prefixes are not. Thus 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isobutyl is alphabetized with </a:t>
            </a:r>
            <a:r>
              <a:rPr lang="en-US" altLang="zh-CN" b="1" dirty="0" err="1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i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, but </a:t>
            </a:r>
            <a:r>
              <a:rPr lang="en-US" altLang="zh-CN" b="1" i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n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-butyl, </a:t>
            </a:r>
            <a:r>
              <a:rPr lang="en-US" altLang="zh-CN" b="1" i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t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-butyl, and </a:t>
            </a:r>
            <a:r>
              <a:rPr lang="en-US" altLang="zh-CN" b="1" i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s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-butyl are alphabetized with b.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When two or more of the same substituents are present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, use the prefixes </a:t>
            </a:r>
            <a:r>
              <a:rPr lang="en-US" altLang="zh-CN" b="1" i="1" dirty="0">
                <a:latin typeface="MS Reference Sans Serif" panose="020B0604030504040204" pitchFamily="34" charset="0"/>
                <a:cs typeface="Microsoft Sans Serif" pitchFamily="34" charset="0"/>
              </a:rPr>
              <a:t>di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-, </a:t>
            </a:r>
            <a:r>
              <a:rPr lang="en-US" altLang="zh-CN" b="1" i="1" dirty="0">
                <a:latin typeface="MS Reference Sans Serif" panose="020B0604030504040204" pitchFamily="34" charset="0"/>
                <a:cs typeface="Microsoft Sans Serif" pitchFamily="34" charset="0"/>
              </a:rPr>
              <a:t>tri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-, </a:t>
            </a:r>
            <a:r>
              <a:rPr lang="en-US" altLang="zh-CN" b="1" i="1" dirty="0">
                <a:latin typeface="MS Reference Sans Serif" panose="020B0604030504040204" pitchFamily="34" charset="0"/>
                <a:cs typeface="Microsoft Sans Serif" pitchFamily="34" charset="0"/>
              </a:rPr>
              <a:t>tetra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-, etc. to avoid having to name them repeatedly.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286FFDE-4874-4CA1-B8BB-B8FFCA9A304B}"/>
              </a:ext>
            </a:extLst>
          </p:cNvPr>
          <p:cNvSpPr txBox="1"/>
          <p:nvPr/>
        </p:nvSpPr>
        <p:spPr>
          <a:xfrm>
            <a:off x="2229341" y="6105874"/>
            <a:ext cx="7733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heptane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→ </a:t>
            </a:r>
            <a:r>
              <a:rPr lang="en-US" altLang="zh-CN" sz="2000" b="1" dirty="0" err="1">
                <a:solidFill>
                  <a:srgbClr val="0000FF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ethyltrimethyl</a:t>
            </a:r>
            <a:r>
              <a:rPr lang="en-US" altLang="zh-CN" sz="2000" b="1" dirty="0" err="1">
                <a:solidFill>
                  <a:srgbClr val="FF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heptane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→</a:t>
            </a:r>
            <a:r>
              <a:rPr lang="en-US" altLang="zh-CN" sz="2000" b="1" dirty="0">
                <a:solidFill>
                  <a:srgbClr val="0000FF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3-</a:t>
            </a:r>
            <a:r>
              <a:rPr lang="en-US" altLang="zh-CN" sz="2000" b="1" dirty="0">
                <a:solidFill>
                  <a:srgbClr val="0000FF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ethyl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-2,4,5-</a:t>
            </a:r>
            <a:r>
              <a:rPr lang="en-US" altLang="zh-CN" sz="2000" b="1" dirty="0">
                <a:solidFill>
                  <a:srgbClr val="0000FF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trimethyl</a:t>
            </a:r>
            <a:r>
              <a:rPr lang="en-US" altLang="zh-CN" sz="2000" b="1" dirty="0">
                <a:solidFill>
                  <a:srgbClr val="FF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heptane</a:t>
            </a:r>
            <a:endParaRPr lang="zh-CN" altLang="en-US" sz="2000" b="1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笑脸 9">
            <a:extLst>
              <a:ext uri="{FF2B5EF4-FFF2-40B4-BE49-F238E27FC236}">
                <a16:creationId xmlns:a16="http://schemas.microsoft.com/office/drawing/2014/main" id="{651F79E9-58CD-4018-89BB-145C72976681}"/>
              </a:ext>
            </a:extLst>
          </p:cNvPr>
          <p:cNvSpPr/>
          <p:nvPr/>
        </p:nvSpPr>
        <p:spPr>
          <a:xfrm>
            <a:off x="7680176" y="1258765"/>
            <a:ext cx="432048" cy="432048"/>
          </a:xfrm>
          <a:prstGeom prst="smileyFace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BC1E43D1-4D81-4D03-B72B-AF706BBDBE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064015"/>
              </p:ext>
            </p:extLst>
          </p:nvPr>
        </p:nvGraphicFramePr>
        <p:xfrm>
          <a:off x="1199456" y="769763"/>
          <a:ext cx="9927508" cy="20972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6258955" imgH="1322841" progId="ChemDraw.Document.6.0">
                  <p:embed/>
                </p:oleObj>
              </mc:Choice>
              <mc:Fallback>
                <p:oleObj name="CS ChemDraw Drawing" r:id="rId2" imgW="6258955" imgH="132284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99456" y="769763"/>
                        <a:ext cx="9927508" cy="20972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5375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36FF958-9360-4FD2-AD8D-F9725213CE4B}"/>
              </a:ext>
            </a:extLst>
          </p:cNvPr>
          <p:cNvSpPr/>
          <p:nvPr/>
        </p:nvSpPr>
        <p:spPr>
          <a:xfrm>
            <a:off x="427149" y="4702573"/>
            <a:ext cx="11273784" cy="176123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B946DF-84E4-4786-BE8F-B8CFE3931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6B3F668B-1FA7-45A3-AD77-383DB8838FC3}"/>
              </a:ext>
            </a:extLst>
          </p:cNvPr>
          <p:cNvSpPr txBox="1"/>
          <p:nvPr/>
        </p:nvSpPr>
        <p:spPr>
          <a:xfrm>
            <a:off x="-94738" y="711508"/>
            <a:ext cx="70073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4-1 Tetrahedral Carbon and the Hybridization Theory</a:t>
            </a:r>
            <a:endParaRPr lang="zh-CN" altLang="en-US" sz="2000" b="1" dirty="0">
              <a:highlight>
                <a:srgbClr val="C0C0C0"/>
              </a:highlight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2899699A-0869-4136-AD81-E6ACDD0F63D3}"/>
              </a:ext>
            </a:extLst>
          </p:cNvPr>
          <p:cNvSpPr txBox="1"/>
          <p:nvPr/>
        </p:nvSpPr>
        <p:spPr>
          <a:xfrm>
            <a:off x="0" y="188785"/>
            <a:ext cx="6817892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MS Reference Sans Serif" panose="020B0604030504040204" pitchFamily="34" charset="0"/>
                <a:cs typeface="Microsoft Sans Serif" pitchFamily="34" charset="0"/>
              </a:rPr>
              <a:t>4. Structure and </a:t>
            </a:r>
            <a:r>
              <a:rPr lang="en-US" altLang="zh-CN" sz="2400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Conformations</a:t>
            </a:r>
            <a:r>
              <a:rPr lang="en-US" altLang="zh-CN" sz="2400" b="1" dirty="0">
                <a:latin typeface="MS Reference Sans Serif" panose="020B0604030504040204" pitchFamily="34" charset="0"/>
                <a:cs typeface="Microsoft Sans Serif" pitchFamily="34" charset="0"/>
              </a:rPr>
              <a:t> of Alkanes</a:t>
            </a:r>
            <a:endParaRPr lang="zh-CN" altLang="en-US" sz="2400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7936F2E-6243-4DC3-A0E1-65D123DB7873}"/>
              </a:ext>
            </a:extLst>
          </p:cNvPr>
          <p:cNvSpPr txBox="1"/>
          <p:nvPr/>
        </p:nvSpPr>
        <p:spPr>
          <a:xfrm>
            <a:off x="848873" y="3296905"/>
            <a:ext cx="34163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Lewis structure of methane</a:t>
            </a:r>
            <a:endParaRPr lang="zh-CN" altLang="en-US" sz="1600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6D78B20-B20A-490B-954B-40F52EC5DA55}"/>
              </a:ext>
            </a:extLst>
          </p:cNvPr>
          <p:cNvSpPr txBox="1"/>
          <p:nvPr/>
        </p:nvSpPr>
        <p:spPr>
          <a:xfrm>
            <a:off x="4511824" y="3296905"/>
            <a:ext cx="74677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real shape of methane as represented by the perspective drawing</a:t>
            </a:r>
            <a:endParaRPr lang="zh-CN" altLang="en-US" sz="1600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D9DEA97-45CA-4700-837A-53FD65E738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5523362"/>
              </p:ext>
            </p:extLst>
          </p:nvPr>
        </p:nvGraphicFramePr>
        <p:xfrm>
          <a:off x="1791883" y="1839316"/>
          <a:ext cx="1296144" cy="1332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502673" imgH="517720" progId="ChemDraw.Document.6.0">
                  <p:embed/>
                </p:oleObj>
              </mc:Choice>
              <mc:Fallback>
                <p:oleObj name="CS ChemDraw Drawing" r:id="rId2" imgW="502673" imgH="51772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91883" y="1839316"/>
                        <a:ext cx="1296144" cy="13329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EF2F0FB1-E458-406F-BE2B-2811193525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8204916"/>
              </p:ext>
            </p:extLst>
          </p:nvPr>
        </p:nvGraphicFramePr>
        <p:xfrm>
          <a:off x="6418769" y="1648015"/>
          <a:ext cx="2042526" cy="1595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819508" imgH="639816" progId="ChemDraw.Document.6.0">
                  <p:embed/>
                </p:oleObj>
              </mc:Choice>
              <mc:Fallback>
                <p:oleObj name="CS ChemDraw Drawing" r:id="rId4" imgW="819508" imgH="639816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18769" y="1648015"/>
                        <a:ext cx="2042526" cy="15952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25BDF2D5-8B54-4EC7-86EC-A57F9E511011}"/>
              </a:ext>
            </a:extLst>
          </p:cNvPr>
          <p:cNvSpPr txBox="1"/>
          <p:nvPr/>
        </p:nvSpPr>
        <p:spPr>
          <a:xfrm>
            <a:off x="459108" y="4155483"/>
            <a:ext cx="112737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Hybridization theory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is a useful theoretical tool to explain the real shape of molecules: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① The shapes of many molecules are not the result of bonding between simple </a:t>
            </a:r>
            <a:r>
              <a:rPr lang="en-US" altLang="zh-CN" b="1" i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and </a:t>
            </a:r>
            <a:r>
              <a:rPr lang="en-US" altLang="zh-CN" b="1" i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atomic orbitals. </a:t>
            </a:r>
          </a:p>
          <a:p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② Orbitals on the same atom may interact with each other to give hybrid atomic orbitals .</a:t>
            </a:r>
          </a:p>
          <a:p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③ The number of hybrid atomic orbitals is the same as that of the initial participating orbitals.</a:t>
            </a:r>
          </a:p>
          <a:p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④ Hybrid atomic orbitals are separated by the largest possible angles in space to avoid repulsion among electron pairs, thus defining the geometry of the bonds. </a:t>
            </a:r>
            <a:endParaRPr lang="zh-CN" altLang="en-US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graphicFrame>
        <p:nvGraphicFramePr>
          <p:cNvPr id="18" name="Object 5">
            <a:extLst>
              <a:ext uri="{FF2B5EF4-FFF2-40B4-BE49-F238E27FC236}">
                <a16:creationId xmlns:a16="http://schemas.microsoft.com/office/drawing/2014/main" id="{7923BF43-909E-4FBF-AE52-F8ADA15C89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8890605"/>
              </p:ext>
            </p:extLst>
          </p:nvPr>
        </p:nvGraphicFramePr>
        <p:xfrm>
          <a:off x="8494583" y="20403"/>
          <a:ext cx="3714199" cy="1944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3884449" imgH="2032870" progId="ChemDraw.Document.6.0">
                  <p:embed/>
                </p:oleObj>
              </mc:Choice>
              <mc:Fallback>
                <p:oleObj name="CS ChemDraw Drawing" r:id="rId6" imgW="3884449" imgH="2032870" progId="ChemDraw.Document.6.0">
                  <p:embed/>
                  <p:pic>
                    <p:nvPicPr>
                      <p:cNvPr id="205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4583" y="20403"/>
                        <a:ext cx="3714199" cy="1944216"/>
                      </a:xfrm>
                      <a:prstGeom prst="rect">
                        <a:avLst/>
                      </a:prstGeom>
                      <a:gradFill flip="none" rotWithShape="1">
                        <a:gsLst>
                          <a:gs pos="0">
                            <a:schemeClr val="accent1">
                              <a:tint val="66000"/>
                              <a:satMod val="160000"/>
                            </a:schemeClr>
                          </a:gs>
                          <a:gs pos="50000">
                            <a:schemeClr val="accent1">
                              <a:tint val="44500"/>
                              <a:satMod val="160000"/>
                            </a:schemeClr>
                          </a:gs>
                          <a:gs pos="100000">
                            <a:schemeClr val="accent1">
                              <a:tint val="23500"/>
                              <a:satMod val="160000"/>
                            </a:schemeClr>
                          </a:gs>
                        </a:gsLst>
                        <a:lin ang="5400000" scaled="1"/>
                        <a:tileRect/>
                      </a:gra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4903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500387"/>
              </p:ext>
            </p:extLst>
          </p:nvPr>
        </p:nvGraphicFramePr>
        <p:xfrm>
          <a:off x="3972805" y="908720"/>
          <a:ext cx="6340401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7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4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86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Element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Electronic</a:t>
                      </a:r>
                      <a:r>
                        <a:rPr lang="en-US" altLang="zh-CN" sz="2000" b="1" baseline="0" dirty="0">
                          <a:effectLst/>
                        </a:rPr>
                        <a:t> c</a:t>
                      </a:r>
                      <a:r>
                        <a:rPr lang="en-US" altLang="zh-CN" sz="2000" b="1" dirty="0">
                          <a:effectLst/>
                        </a:rPr>
                        <a:t>onfiguration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Valence Electrons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H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1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zh-CN" altLang="en-US" sz="2000" b="1" baseline="300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1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C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effectLst/>
                        </a:rPr>
                        <a:t>1s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effectLst/>
                        </a:rPr>
                        <a:t>2s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baseline="0" dirty="0">
                          <a:solidFill>
                            <a:srgbClr val="FF0000"/>
                          </a:solidFill>
                          <a:effectLst/>
                        </a:rPr>
                        <a:t>2p</a:t>
                      </a:r>
                      <a:r>
                        <a:rPr lang="en-US" altLang="zh-CN" sz="2000" b="1" baseline="-25000" dirty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r>
                        <a:rPr lang="en-US" altLang="zh-CN" sz="2000" b="1" baseline="0" dirty="0">
                          <a:solidFill>
                            <a:srgbClr val="FF0000"/>
                          </a:solidFill>
                          <a:effectLst/>
                        </a:rPr>
                        <a:t>2p</a:t>
                      </a:r>
                      <a:r>
                        <a:rPr lang="en-US" altLang="zh-CN" sz="2000" b="1" baseline="-25000" dirty="0">
                          <a:solidFill>
                            <a:srgbClr val="FF0000"/>
                          </a:solidFill>
                          <a:effectLst/>
                        </a:rPr>
                        <a:t>y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r>
                        <a:rPr lang="en-US" altLang="zh-CN" sz="2000" b="1" baseline="0" dirty="0">
                          <a:solidFill>
                            <a:srgbClr val="FF0000"/>
                          </a:solidFill>
                          <a:effectLst/>
                        </a:rPr>
                        <a:t>2p</a:t>
                      </a:r>
                      <a:r>
                        <a:rPr lang="en-US" altLang="zh-CN" sz="2000" b="1" baseline="-25000" dirty="0">
                          <a:solidFill>
                            <a:srgbClr val="FF0000"/>
                          </a:solidFill>
                          <a:effectLst/>
                        </a:rPr>
                        <a:t>z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zh-CN" altLang="en-US" sz="2000" b="1" baseline="300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4</a:t>
                      </a:r>
                      <a:endParaRPr lang="zh-CN" altLang="en-US" sz="20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496" y="642912"/>
            <a:ext cx="1742745" cy="1587289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0" name="TextBox 2">
            <a:extLst>
              <a:ext uri="{FF2B5EF4-FFF2-40B4-BE49-F238E27FC236}">
                <a16:creationId xmlns:a16="http://schemas.microsoft.com/office/drawing/2014/main" id="{7164DB16-CC40-47F7-A04E-DEFD53C0E2F2}"/>
              </a:ext>
            </a:extLst>
          </p:cNvPr>
          <p:cNvSpPr txBox="1"/>
          <p:nvPr/>
        </p:nvSpPr>
        <p:spPr>
          <a:xfrm>
            <a:off x="-96688" y="150020"/>
            <a:ext cx="64870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4-2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 </a:t>
            </a:r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Tetrahedral Carbon and the </a:t>
            </a:r>
            <a:r>
              <a:rPr lang="en-US" altLang="zh-CN" sz="2000" b="1" i="1" dirty="0">
                <a:highlight>
                  <a:srgbClr val="C0C0C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sp</a:t>
            </a:r>
            <a:r>
              <a:rPr lang="en-US" altLang="zh-CN" sz="2000" b="1" baseline="30000" dirty="0">
                <a:highlight>
                  <a:srgbClr val="C0C0C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3</a:t>
            </a:r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 hybridization</a:t>
            </a:r>
            <a:endParaRPr lang="zh-CN" altLang="en-US" sz="2000" b="1" dirty="0">
              <a:highlight>
                <a:srgbClr val="C0C0C0"/>
              </a:highlight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ABF1D31-5F04-42B6-BCE0-7793653FC7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7252928"/>
              </p:ext>
            </p:extLst>
          </p:nvPr>
        </p:nvGraphicFramePr>
        <p:xfrm>
          <a:off x="578721" y="2915546"/>
          <a:ext cx="10826264" cy="271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6054571" imgH="1519067" progId="ChemDraw.Document.6.0">
                  <p:embed/>
                </p:oleObj>
              </mc:Choice>
              <mc:Fallback>
                <p:oleObj name="CS ChemDraw Drawing" r:id="rId3" imgW="6054571" imgH="1519067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8721" y="2915546"/>
                        <a:ext cx="10826264" cy="2716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FA138918-5DD8-4355-B59E-71AA1E4CAA5E}"/>
              </a:ext>
            </a:extLst>
          </p:cNvPr>
          <p:cNvSpPr txBox="1"/>
          <p:nvPr/>
        </p:nvSpPr>
        <p:spPr>
          <a:xfrm>
            <a:off x="1203393" y="5901597"/>
            <a:ext cx="2769412" cy="4001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MS Reference Sans Serif" panose="020B0604030504040204" pitchFamily="34" charset="0"/>
              </a:rPr>
              <a:t>Before hybridization</a:t>
            </a:r>
            <a:endParaRPr lang="zh-CN" altLang="en-US" sz="2000" b="1" dirty="0">
              <a:latin typeface="MS Reference Sans Serif" panose="020B060403050404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146CE57-B672-49CE-B640-0C88C4C88641}"/>
              </a:ext>
            </a:extLst>
          </p:cNvPr>
          <p:cNvSpPr txBox="1"/>
          <p:nvPr/>
        </p:nvSpPr>
        <p:spPr>
          <a:xfrm>
            <a:off x="9192344" y="5901597"/>
            <a:ext cx="2561022" cy="4001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MS Reference Sans Serif" panose="020B0604030504040204" pitchFamily="34" charset="0"/>
              </a:rPr>
              <a:t>After hybridization</a:t>
            </a:r>
            <a:endParaRPr lang="zh-CN" altLang="en-US" sz="2000" b="1" dirty="0">
              <a:latin typeface="MS Reference Sans Serif" panose="020B060403050404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44488" y="4437112"/>
            <a:ext cx="111030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C—H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bonds in methane are </a:t>
            </a:r>
            <a:r>
              <a:rPr lang="en-US" altLang="zh-CN" b="1" i="1" dirty="0">
                <a:highlight>
                  <a:srgbClr val="00FFFF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-</a:t>
            </a:r>
            <a:r>
              <a:rPr lang="en-US" altLang="zh-CN" b="1" i="1" dirty="0">
                <a:highlight>
                  <a:srgbClr val="00FFFF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sp</a:t>
            </a:r>
            <a:r>
              <a:rPr lang="en-US" altLang="zh-CN" b="1" baseline="30000" dirty="0">
                <a:highlight>
                  <a:srgbClr val="00FFFF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3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overlap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highlight>
                <a:srgbClr val="00FFFF"/>
              </a:highlight>
              <a:latin typeface="MS Reference Sans Serif" panose="020B060403050404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bonding has most of its electron density centered along the line connecting the nuclei. This type of bond is called a 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00FFFF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sigma bond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(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 bond)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ea typeface="Microsoft Sans Serif" panose="020B0604020202020204" pitchFamily="34" charset="0"/>
              <a:cs typeface="Microsoft Sans Serif" panose="020B0604020202020204" pitchFamily="34" charset="0"/>
              <a:sym typeface="Symbol" panose="05050102010706020507" pitchFamily="18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FF0000"/>
                </a:solidFill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All single bonds in organic compounds are sigma bonds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.</a:t>
            </a:r>
            <a:endParaRPr lang="zh-CN" altLang="en-US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9A40D02-5D87-40C9-B54A-6DA7039C22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204754"/>
              </p:ext>
            </p:extLst>
          </p:nvPr>
        </p:nvGraphicFramePr>
        <p:xfrm>
          <a:off x="855567" y="1052736"/>
          <a:ext cx="10480866" cy="2623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5618579" imgH="1406485" progId="ChemDraw.Document.6.0">
                  <p:embed/>
                </p:oleObj>
              </mc:Choice>
              <mc:Fallback>
                <p:oleObj name="CS ChemDraw Drawing" r:id="rId2" imgW="5618579" imgH="1406485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55567" y="1052736"/>
                        <a:ext cx="10480866" cy="26239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>
            <a:extLst>
              <a:ext uri="{FF2B5EF4-FFF2-40B4-BE49-F238E27FC236}">
                <a16:creationId xmlns:a16="http://schemas.microsoft.com/office/drawing/2014/main" id="{B7CDE4EB-72CF-4624-9F97-F3C96B43E9EC}"/>
              </a:ext>
            </a:extLst>
          </p:cNvPr>
          <p:cNvSpPr/>
          <p:nvPr/>
        </p:nvSpPr>
        <p:spPr>
          <a:xfrm>
            <a:off x="8770581" y="1847494"/>
            <a:ext cx="2880320" cy="584775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B339D2-83B0-4527-931E-31AA2BAF3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12</a:t>
            </a:fld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5EFA71-442A-44E9-9045-10EE2267E613}"/>
              </a:ext>
            </a:extLst>
          </p:cNvPr>
          <p:cNvSpPr txBox="1"/>
          <p:nvPr/>
        </p:nvSpPr>
        <p:spPr>
          <a:xfrm>
            <a:off x="-54109" y="162806"/>
            <a:ext cx="44919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4-3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 </a:t>
            </a:r>
            <a:r>
              <a:rPr lang="en-US" altLang="zh-CN" sz="2000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Ethane and its conformations</a:t>
            </a:r>
            <a:endParaRPr lang="zh-CN" altLang="en-US" sz="2000" b="1" dirty="0">
              <a:highlight>
                <a:srgbClr val="FFFF00"/>
              </a:highlight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2CA68EDB-47AE-4A86-8439-95B1F4510E70}"/>
              </a:ext>
            </a:extLst>
          </p:cNvPr>
          <p:cNvSpPr txBox="1"/>
          <p:nvPr/>
        </p:nvSpPr>
        <p:spPr>
          <a:xfrm>
            <a:off x="135841" y="567032"/>
            <a:ext cx="11776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In ethane, both carbon atoms are </a:t>
            </a:r>
            <a:r>
              <a:rPr lang="en-US" altLang="zh-CN" b="1" i="1" dirty="0">
                <a:latin typeface="MS Reference Sans Serif" panose="020B0604030504040204" pitchFamily="34" charset="0"/>
                <a:cs typeface="Microsoft Sans Serif" pitchFamily="34" charset="0"/>
              </a:rPr>
              <a:t>sp</a:t>
            </a:r>
            <a:r>
              <a:rPr lang="en-US" altLang="zh-CN" b="1" baseline="30000" dirty="0">
                <a:latin typeface="MS Reference Sans Serif" panose="020B0604030504040204" pitchFamily="34" charset="0"/>
                <a:cs typeface="Microsoft Sans Serif" pitchFamily="34" charset="0"/>
              </a:rPr>
              <a:t>3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hybridized and tetrahedral.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The C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C single bond ( bond) is formed by overlapping the </a:t>
            </a:r>
            <a:r>
              <a:rPr lang="en-US" altLang="zh-CN" b="1" i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sp</a:t>
            </a:r>
            <a:r>
              <a:rPr lang="en-US" altLang="zh-CN" b="1" baseline="30000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3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 hybrid orbitals from each carbon.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CDB9AF28-0F8F-4AE8-A657-BE88656C14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7534482"/>
              </p:ext>
            </p:extLst>
          </p:nvPr>
        </p:nvGraphicFramePr>
        <p:xfrm>
          <a:off x="1420176" y="1568832"/>
          <a:ext cx="1318238" cy="963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684030" imgH="499377" progId="ChemDraw.Document.6.0">
                  <p:embed/>
                </p:oleObj>
              </mc:Choice>
              <mc:Fallback>
                <p:oleObj name="CS ChemDraw Drawing" r:id="rId2" imgW="684030" imgH="499377" progId="ChemDraw.Document.6.0">
                  <p:embed/>
                  <p:pic>
                    <p:nvPicPr>
                      <p:cNvPr id="522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0176" y="1568832"/>
                        <a:ext cx="1318238" cy="9634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544C1A4F-99CC-4023-BB6A-425ED6920168}"/>
              </a:ext>
            </a:extLst>
          </p:cNvPr>
          <p:cNvSpPr txBox="1"/>
          <p:nvPr/>
        </p:nvSpPr>
        <p:spPr>
          <a:xfrm>
            <a:off x="1357022" y="2585659"/>
            <a:ext cx="5065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Lewis structure                   perspective drawing</a:t>
            </a:r>
            <a:endParaRPr lang="zh-CN" altLang="en-US" b="1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29D53F4-3716-4376-B29C-47AB7590D66E}"/>
              </a:ext>
            </a:extLst>
          </p:cNvPr>
          <p:cNvSpPr txBox="1"/>
          <p:nvPr/>
        </p:nvSpPr>
        <p:spPr>
          <a:xfrm>
            <a:off x="8749209" y="1848494"/>
            <a:ext cx="2901692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MS Reference Sans Serif" panose="020B0604030504040204" pitchFamily="34" charset="0"/>
              </a:rPr>
              <a:t>C</a:t>
            </a:r>
            <a:r>
              <a:rPr lang="en-US" altLang="zh-CN" sz="1600" b="1" dirty="0">
                <a:latin typeface="MS Reference Sans Serif" panose="020B0604030504040204" pitchFamily="34" charset="0"/>
                <a:sym typeface="Symbol" panose="05050102010706020507" pitchFamily="18" charset="2"/>
              </a:rPr>
              <a:t>H bonds: </a:t>
            </a:r>
            <a:r>
              <a:rPr lang="en-US" altLang="zh-CN" sz="1600" b="1" i="1" dirty="0">
                <a:latin typeface="MS Reference Sans Serif" panose="020B0604030504040204" pitchFamily="34" charset="0"/>
                <a:sym typeface="Symbol" panose="05050102010706020507" pitchFamily="18" charset="2"/>
              </a:rPr>
              <a:t>sp</a:t>
            </a:r>
            <a:r>
              <a:rPr lang="en-US" altLang="zh-CN" sz="1600" b="1" baseline="30000" dirty="0">
                <a:latin typeface="MS Reference Sans Serif" panose="020B0604030504040204" pitchFamily="34" charset="0"/>
                <a:sym typeface="Symbol" panose="05050102010706020507" pitchFamily="18" charset="2"/>
              </a:rPr>
              <a:t>3</a:t>
            </a:r>
            <a:r>
              <a:rPr lang="en-US" altLang="zh-CN" sz="1600" b="1" dirty="0">
                <a:latin typeface="MS Reference Sans Serif" panose="020B0604030504040204" pitchFamily="34" charset="0"/>
                <a:sym typeface="Symbol" panose="05050102010706020507" pitchFamily="18" charset="2"/>
              </a:rPr>
              <a:t>-</a:t>
            </a:r>
            <a:r>
              <a:rPr lang="en-US" altLang="zh-CN" sz="1600" b="1" i="1" dirty="0">
                <a:latin typeface="MS Reference Sans Serif" panose="020B0604030504040204" pitchFamily="34" charset="0"/>
                <a:sym typeface="Symbol" panose="05050102010706020507" pitchFamily="18" charset="2"/>
              </a:rPr>
              <a:t>s</a:t>
            </a:r>
            <a:r>
              <a:rPr lang="en-US" altLang="zh-CN" sz="1600" b="1" dirty="0">
                <a:latin typeface="MS Reference Sans Serif" panose="020B0604030504040204" pitchFamily="34" charset="0"/>
                <a:sym typeface="Symbol" panose="05050102010706020507" pitchFamily="18" charset="2"/>
              </a:rPr>
              <a:t> overlap</a:t>
            </a:r>
          </a:p>
          <a:p>
            <a:r>
              <a:rPr lang="en-US" altLang="zh-CN" sz="1600" b="1" dirty="0">
                <a:latin typeface="MS Reference Sans Serif" panose="020B0604030504040204" pitchFamily="34" charset="0"/>
                <a:sym typeface="Symbol" panose="05050102010706020507" pitchFamily="18" charset="2"/>
              </a:rPr>
              <a:t>CC bond: </a:t>
            </a:r>
            <a:r>
              <a:rPr lang="en-US" altLang="zh-CN" sz="1600" b="1" i="1" dirty="0">
                <a:latin typeface="MS Reference Sans Serif" panose="020B0604030504040204" pitchFamily="34" charset="0"/>
                <a:sym typeface="Symbol" panose="05050102010706020507" pitchFamily="18" charset="2"/>
              </a:rPr>
              <a:t>sp</a:t>
            </a:r>
            <a:r>
              <a:rPr lang="en-US" altLang="zh-CN" sz="1600" b="1" baseline="30000" dirty="0">
                <a:latin typeface="MS Reference Sans Serif" panose="020B0604030504040204" pitchFamily="34" charset="0"/>
                <a:sym typeface="Symbol" panose="05050102010706020507" pitchFamily="18" charset="2"/>
              </a:rPr>
              <a:t>3</a:t>
            </a:r>
            <a:r>
              <a:rPr lang="en-US" altLang="zh-CN" sz="1600" b="1" dirty="0">
                <a:latin typeface="MS Reference Sans Serif" panose="020B0604030504040204" pitchFamily="34" charset="0"/>
                <a:sym typeface="Symbol" panose="05050102010706020507" pitchFamily="18" charset="2"/>
              </a:rPr>
              <a:t>-</a:t>
            </a:r>
            <a:r>
              <a:rPr lang="en-US" altLang="zh-CN" sz="1600" b="1" i="1" dirty="0">
                <a:latin typeface="MS Reference Sans Serif" panose="020B0604030504040204" pitchFamily="34" charset="0"/>
                <a:sym typeface="Symbol" panose="05050102010706020507" pitchFamily="18" charset="2"/>
              </a:rPr>
              <a:t>sp</a:t>
            </a:r>
            <a:r>
              <a:rPr lang="en-US" altLang="zh-CN" sz="1600" b="1" baseline="30000" dirty="0">
                <a:latin typeface="MS Reference Sans Serif" panose="020B0604030504040204" pitchFamily="34" charset="0"/>
                <a:sym typeface="Symbol" panose="05050102010706020507" pitchFamily="18" charset="2"/>
              </a:rPr>
              <a:t>3</a:t>
            </a:r>
            <a:r>
              <a:rPr lang="en-US" altLang="zh-CN" sz="1600" b="1" dirty="0">
                <a:latin typeface="MS Reference Sans Serif" panose="020B0604030504040204" pitchFamily="34" charset="0"/>
                <a:sym typeface="Symbol" panose="05050102010706020507" pitchFamily="18" charset="2"/>
              </a:rPr>
              <a:t> overlap</a:t>
            </a:r>
            <a:endParaRPr lang="zh-CN" altLang="en-US" sz="1600" b="1" dirty="0">
              <a:latin typeface="MS Reference Sans Serif" panose="020B060403050404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9033EF8-1E20-4A58-A43C-C2831FEABD87}"/>
              </a:ext>
            </a:extLst>
          </p:cNvPr>
          <p:cNvSpPr txBox="1"/>
          <p:nvPr/>
        </p:nvSpPr>
        <p:spPr>
          <a:xfrm>
            <a:off x="-74101" y="3071213"/>
            <a:ext cx="4184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</a:rPr>
              <a:t>4-3-1 Conformations of ethane</a:t>
            </a:r>
            <a:endParaRPr lang="zh-CN" altLang="en-US" sz="2000" b="1" dirty="0">
              <a:highlight>
                <a:srgbClr val="C0C0C0"/>
              </a:highlight>
              <a:latin typeface="MS Reference Sans Serif" panose="020B0604030504040204" pitchFamily="34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1B155CF1-E03E-4A22-910E-9FB94F3E9D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711055"/>
              </p:ext>
            </p:extLst>
          </p:nvPr>
        </p:nvGraphicFramePr>
        <p:xfrm>
          <a:off x="4406608" y="1536007"/>
          <a:ext cx="4032448" cy="1130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2191009" imgH="613652" progId="ChemDraw.Document.6.0">
                  <p:embed/>
                </p:oleObj>
              </mc:Choice>
              <mc:Fallback>
                <p:oleObj name="CS ChemDraw Drawing" r:id="rId4" imgW="2191009" imgH="613652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06608" y="1536007"/>
                        <a:ext cx="4032448" cy="11308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F1F16403-4908-4973-BE54-CCA4383BAC41}"/>
              </a:ext>
            </a:extLst>
          </p:cNvPr>
          <p:cNvSpPr/>
          <p:nvPr/>
        </p:nvSpPr>
        <p:spPr>
          <a:xfrm>
            <a:off x="135840" y="3495350"/>
            <a:ext cx="117763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Rotation about the C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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C single bond 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results in infinite images of ethane, differing only in how one methyl group is twisted in relation to the other one.</a:t>
            </a:r>
            <a:endParaRPr lang="zh-CN" altLang="en-US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BDD837AD-AFF1-4F41-AC12-32555A815E3F}"/>
              </a:ext>
            </a:extLst>
          </p:cNvPr>
          <p:cNvSpPr txBox="1"/>
          <p:nvPr/>
        </p:nvSpPr>
        <p:spPr>
          <a:xfrm>
            <a:off x="2550037" y="5791737"/>
            <a:ext cx="1656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</a:rPr>
              <a:t>one image</a:t>
            </a: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7273D65C-DE05-4E14-91FB-CFF80ED7D2F0}"/>
              </a:ext>
            </a:extLst>
          </p:cNvPr>
          <p:cNvSpPr txBox="1"/>
          <p:nvPr/>
        </p:nvSpPr>
        <p:spPr>
          <a:xfrm>
            <a:off x="6221047" y="5803902"/>
            <a:ext cx="1728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</a:rPr>
              <a:t>other images</a:t>
            </a:r>
          </a:p>
        </p:txBody>
      </p:sp>
      <p:graphicFrame>
        <p:nvGraphicFramePr>
          <p:cNvPr id="15" name="Object 5">
            <a:extLst>
              <a:ext uri="{FF2B5EF4-FFF2-40B4-BE49-F238E27FC236}">
                <a16:creationId xmlns:a16="http://schemas.microsoft.com/office/drawing/2014/main" id="{8C6B767D-07C0-4C7C-B5FF-8437603A66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9054989"/>
              </p:ext>
            </p:extLst>
          </p:nvPr>
        </p:nvGraphicFramePr>
        <p:xfrm>
          <a:off x="2808961" y="4164990"/>
          <a:ext cx="3082874" cy="1644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1901463" imgH="1014680" progId="ChemDraw.Document.6.0">
                  <p:embed/>
                </p:oleObj>
              </mc:Choice>
              <mc:Fallback>
                <p:oleObj name="CS ChemDraw Drawing" r:id="rId6" imgW="1901463" imgH="1014680" progId="ChemDraw.Document.6.0">
                  <p:embed/>
                  <p:pic>
                    <p:nvPicPr>
                      <p:cNvPr id="5325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8961" y="4164990"/>
                        <a:ext cx="3082874" cy="16443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7">
            <a:extLst>
              <a:ext uri="{FF2B5EF4-FFF2-40B4-BE49-F238E27FC236}">
                <a16:creationId xmlns:a16="http://schemas.microsoft.com/office/drawing/2014/main" id="{9BFFBF79-F6A2-48B7-8EE2-D21A76D819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4413325"/>
              </p:ext>
            </p:extLst>
          </p:nvPr>
        </p:nvGraphicFramePr>
        <p:xfrm>
          <a:off x="6422832" y="3940834"/>
          <a:ext cx="1035783" cy="1296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581723" imgH="726661" progId="ChemDraw.Document.6.0">
                  <p:embed/>
                </p:oleObj>
              </mc:Choice>
              <mc:Fallback>
                <p:oleObj name="CS ChemDraw Drawing" r:id="rId8" imgW="581723" imgH="726661" progId="ChemDraw.Document.6.0">
                  <p:embed/>
                  <p:pic>
                    <p:nvPicPr>
                      <p:cNvPr id="5325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2832" y="3940834"/>
                        <a:ext cx="1035783" cy="12961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id="{C7337A24-4AFE-46F2-B695-5DEFCAAB0608}"/>
              </a:ext>
            </a:extLst>
          </p:cNvPr>
          <p:cNvGrpSpPr/>
          <p:nvPr/>
        </p:nvGrpSpPr>
        <p:grpSpPr>
          <a:xfrm>
            <a:off x="6394714" y="4803789"/>
            <a:ext cx="1231469" cy="1007039"/>
            <a:chOff x="4399866" y="1915690"/>
            <a:chExt cx="1231469" cy="1007039"/>
          </a:xfrm>
        </p:grpSpPr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9F3C77A3-B6FE-4C06-930F-80188163EEC4}"/>
                </a:ext>
              </a:extLst>
            </p:cNvPr>
            <p:cNvCxnSpPr/>
            <p:nvPr/>
          </p:nvCxnSpPr>
          <p:spPr>
            <a:xfrm flipH="1" flipV="1">
              <a:off x="4651323" y="2162116"/>
              <a:ext cx="288032" cy="720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6D45A6F-FEEE-4AAC-AA78-54800BCBC220}"/>
                </a:ext>
              </a:extLst>
            </p:cNvPr>
            <p:cNvCxnSpPr/>
            <p:nvPr/>
          </p:nvCxnSpPr>
          <p:spPr>
            <a:xfrm flipH="1">
              <a:off x="5126119" y="2132856"/>
              <a:ext cx="237969" cy="720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B851ACAD-6A9C-4E92-B72B-4EA7B50AF728}"/>
                </a:ext>
              </a:extLst>
            </p:cNvPr>
            <p:cNvCxnSpPr/>
            <p:nvPr/>
          </p:nvCxnSpPr>
          <p:spPr>
            <a:xfrm>
              <a:off x="5061426" y="2334250"/>
              <a:ext cx="86638" cy="3026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4">
              <a:extLst>
                <a:ext uri="{FF2B5EF4-FFF2-40B4-BE49-F238E27FC236}">
                  <a16:creationId xmlns:a16="http://schemas.microsoft.com/office/drawing/2014/main" id="{2BF1EF9F-A34F-4186-A16A-5E3F7B3487B9}"/>
                </a:ext>
              </a:extLst>
            </p:cNvPr>
            <p:cNvSpPr txBox="1"/>
            <p:nvPr/>
          </p:nvSpPr>
          <p:spPr>
            <a:xfrm>
              <a:off x="4972504" y="2522619"/>
              <a:ext cx="3465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H</a:t>
              </a:r>
              <a:endParaRPr lang="zh-CN" altLang="en-US" sz="2000" b="1" dirty="0"/>
            </a:p>
          </p:txBody>
        </p:sp>
        <p:sp>
          <p:nvSpPr>
            <p:cNvPr id="22" name="TextBox 25">
              <a:extLst>
                <a:ext uri="{FF2B5EF4-FFF2-40B4-BE49-F238E27FC236}">
                  <a16:creationId xmlns:a16="http://schemas.microsoft.com/office/drawing/2014/main" id="{C2ED8C3C-D8DD-4233-B073-602DAE702BF4}"/>
                </a:ext>
              </a:extLst>
            </p:cNvPr>
            <p:cNvSpPr txBox="1"/>
            <p:nvPr/>
          </p:nvSpPr>
          <p:spPr>
            <a:xfrm>
              <a:off x="4399866" y="1956085"/>
              <a:ext cx="3465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H</a:t>
              </a:r>
              <a:endParaRPr lang="zh-CN" altLang="en-US" sz="2000" b="1" dirty="0"/>
            </a:p>
          </p:txBody>
        </p:sp>
        <p:sp>
          <p:nvSpPr>
            <p:cNvPr id="23" name="TextBox 26">
              <a:extLst>
                <a:ext uri="{FF2B5EF4-FFF2-40B4-BE49-F238E27FC236}">
                  <a16:creationId xmlns:a16="http://schemas.microsoft.com/office/drawing/2014/main" id="{A293F945-C9FB-4C6D-952A-3CF3FD1C3512}"/>
                </a:ext>
              </a:extLst>
            </p:cNvPr>
            <p:cNvSpPr txBox="1"/>
            <p:nvPr/>
          </p:nvSpPr>
          <p:spPr>
            <a:xfrm>
              <a:off x="5284765" y="1915690"/>
              <a:ext cx="3465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H</a:t>
              </a:r>
              <a:endParaRPr lang="zh-CN" altLang="en-US" sz="2000" b="1" dirty="0"/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BA99372-4294-4C54-8A3B-AE4E6B19C219}"/>
              </a:ext>
            </a:extLst>
          </p:cNvPr>
          <p:cNvGrpSpPr/>
          <p:nvPr/>
        </p:nvGrpSpPr>
        <p:grpSpPr>
          <a:xfrm>
            <a:off x="6436479" y="4729154"/>
            <a:ext cx="1251788" cy="1123084"/>
            <a:chOff x="6331078" y="1629674"/>
            <a:chExt cx="1251788" cy="1123084"/>
          </a:xfrm>
        </p:grpSpPr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FD39539F-F011-4375-82BF-F23F8F32E642}"/>
                </a:ext>
              </a:extLst>
            </p:cNvPr>
            <p:cNvCxnSpPr/>
            <p:nvPr/>
          </p:nvCxnSpPr>
          <p:spPr>
            <a:xfrm flipH="1" flipV="1">
              <a:off x="6588224" y="1844824"/>
              <a:ext cx="251457" cy="17441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2BA6E48E-4419-4677-BA4B-049E17D06791}"/>
                </a:ext>
              </a:extLst>
            </p:cNvPr>
            <p:cNvCxnSpPr/>
            <p:nvPr/>
          </p:nvCxnSpPr>
          <p:spPr>
            <a:xfrm flipH="1">
              <a:off x="7026446" y="1988840"/>
              <a:ext cx="281858" cy="11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8D38E090-EC5D-421D-B2EF-38B2B9C56198}"/>
                </a:ext>
              </a:extLst>
            </p:cNvPr>
            <p:cNvCxnSpPr/>
            <p:nvPr/>
          </p:nvCxnSpPr>
          <p:spPr>
            <a:xfrm flipH="1">
              <a:off x="6948264" y="2119368"/>
              <a:ext cx="13488" cy="301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32">
              <a:extLst>
                <a:ext uri="{FF2B5EF4-FFF2-40B4-BE49-F238E27FC236}">
                  <a16:creationId xmlns:a16="http://schemas.microsoft.com/office/drawing/2014/main" id="{588E6172-7285-4C35-B308-8D867E06F312}"/>
                </a:ext>
              </a:extLst>
            </p:cNvPr>
            <p:cNvSpPr txBox="1"/>
            <p:nvPr/>
          </p:nvSpPr>
          <p:spPr>
            <a:xfrm>
              <a:off x="6773006" y="2352648"/>
              <a:ext cx="3465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H</a:t>
              </a:r>
              <a:endParaRPr lang="zh-CN" altLang="en-US" sz="2000" b="1" dirty="0"/>
            </a:p>
          </p:txBody>
        </p:sp>
        <p:sp>
          <p:nvSpPr>
            <p:cNvPr id="29" name="TextBox 33">
              <a:extLst>
                <a:ext uri="{FF2B5EF4-FFF2-40B4-BE49-F238E27FC236}">
                  <a16:creationId xmlns:a16="http://schemas.microsoft.com/office/drawing/2014/main" id="{8F446F02-122C-411A-9B9A-8266A0750172}"/>
                </a:ext>
              </a:extLst>
            </p:cNvPr>
            <p:cNvSpPr txBox="1"/>
            <p:nvPr/>
          </p:nvSpPr>
          <p:spPr>
            <a:xfrm>
              <a:off x="6331078" y="1629674"/>
              <a:ext cx="3465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H</a:t>
              </a:r>
              <a:endParaRPr lang="zh-CN" altLang="en-US" sz="2000" b="1" dirty="0"/>
            </a:p>
          </p:txBody>
        </p:sp>
        <p:sp>
          <p:nvSpPr>
            <p:cNvPr id="30" name="TextBox 34">
              <a:extLst>
                <a:ext uri="{FF2B5EF4-FFF2-40B4-BE49-F238E27FC236}">
                  <a16:creationId xmlns:a16="http://schemas.microsoft.com/office/drawing/2014/main" id="{3C29366D-9637-47AC-BC21-3E1AD7E80227}"/>
                </a:ext>
              </a:extLst>
            </p:cNvPr>
            <p:cNvSpPr txBox="1"/>
            <p:nvPr/>
          </p:nvSpPr>
          <p:spPr>
            <a:xfrm>
              <a:off x="7236296" y="1804754"/>
              <a:ext cx="3465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H</a:t>
              </a:r>
              <a:endParaRPr lang="zh-CN" altLang="en-US" sz="2000" b="1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537E10F1-0EDC-4DA7-BBDB-945DCBD5A3BA}"/>
              </a:ext>
            </a:extLst>
          </p:cNvPr>
          <p:cNvGrpSpPr/>
          <p:nvPr/>
        </p:nvGrpSpPr>
        <p:grpSpPr>
          <a:xfrm>
            <a:off x="6505472" y="4639648"/>
            <a:ext cx="1181190" cy="1201714"/>
            <a:chOff x="6329668" y="1519106"/>
            <a:chExt cx="1181190" cy="1201714"/>
          </a:xfrm>
        </p:grpSpPr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FEEFDD19-D855-4811-B7F4-D5D05DDB8EFF}"/>
                </a:ext>
              </a:extLst>
            </p:cNvPr>
            <p:cNvCxnSpPr/>
            <p:nvPr/>
          </p:nvCxnSpPr>
          <p:spPr>
            <a:xfrm flipH="1" flipV="1">
              <a:off x="6588224" y="1772816"/>
              <a:ext cx="179450" cy="2144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C4699B01-A662-4372-A195-F9447AC36F5F}"/>
                </a:ext>
              </a:extLst>
            </p:cNvPr>
            <p:cNvCxnSpPr/>
            <p:nvPr/>
          </p:nvCxnSpPr>
          <p:spPr>
            <a:xfrm flipH="1" flipV="1">
              <a:off x="6954438" y="1958044"/>
              <a:ext cx="281858" cy="10280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558031C9-2C55-4844-A6A6-FB5DC2B590DA}"/>
                </a:ext>
              </a:extLst>
            </p:cNvPr>
            <p:cNvCxnSpPr/>
            <p:nvPr/>
          </p:nvCxnSpPr>
          <p:spPr>
            <a:xfrm flipH="1">
              <a:off x="6732240" y="2087430"/>
              <a:ext cx="157504" cy="33345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45">
              <a:extLst>
                <a:ext uri="{FF2B5EF4-FFF2-40B4-BE49-F238E27FC236}">
                  <a16:creationId xmlns:a16="http://schemas.microsoft.com/office/drawing/2014/main" id="{FB64708C-49DA-4116-86BB-97FC6491A0A3}"/>
                </a:ext>
              </a:extLst>
            </p:cNvPr>
            <p:cNvSpPr txBox="1"/>
            <p:nvPr/>
          </p:nvSpPr>
          <p:spPr>
            <a:xfrm>
              <a:off x="6562769" y="2320710"/>
              <a:ext cx="3465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H</a:t>
              </a:r>
              <a:endParaRPr lang="zh-CN" altLang="en-US" sz="2000" b="1" dirty="0"/>
            </a:p>
          </p:txBody>
        </p:sp>
        <p:sp>
          <p:nvSpPr>
            <p:cNvPr id="36" name="TextBox 46">
              <a:extLst>
                <a:ext uri="{FF2B5EF4-FFF2-40B4-BE49-F238E27FC236}">
                  <a16:creationId xmlns:a16="http://schemas.microsoft.com/office/drawing/2014/main" id="{E97679F3-AFF9-49A6-8366-421136C3B695}"/>
                </a:ext>
              </a:extLst>
            </p:cNvPr>
            <p:cNvSpPr txBox="1"/>
            <p:nvPr/>
          </p:nvSpPr>
          <p:spPr>
            <a:xfrm>
              <a:off x="6329668" y="1519106"/>
              <a:ext cx="3465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H</a:t>
              </a:r>
              <a:endParaRPr lang="zh-CN" altLang="en-US" sz="2000" b="1" dirty="0"/>
            </a:p>
          </p:txBody>
        </p:sp>
        <p:sp>
          <p:nvSpPr>
            <p:cNvPr id="37" name="TextBox 47">
              <a:extLst>
                <a:ext uri="{FF2B5EF4-FFF2-40B4-BE49-F238E27FC236}">
                  <a16:creationId xmlns:a16="http://schemas.microsoft.com/office/drawing/2014/main" id="{7E4851BB-D11F-4733-83F9-6DD9BECAD462}"/>
                </a:ext>
              </a:extLst>
            </p:cNvPr>
            <p:cNvSpPr txBox="1"/>
            <p:nvPr/>
          </p:nvSpPr>
          <p:spPr>
            <a:xfrm>
              <a:off x="7164288" y="1879146"/>
              <a:ext cx="3465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H</a:t>
              </a:r>
              <a:endParaRPr lang="zh-CN" altLang="en-US" sz="2000" b="1" dirty="0"/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82999850-3FA9-4AB6-9875-60C8C87CAA0A}"/>
              </a:ext>
            </a:extLst>
          </p:cNvPr>
          <p:cNvGrpSpPr/>
          <p:nvPr/>
        </p:nvGrpSpPr>
        <p:grpSpPr>
          <a:xfrm>
            <a:off x="6422831" y="4444891"/>
            <a:ext cx="1256562" cy="1232307"/>
            <a:chOff x="6467897" y="1444675"/>
            <a:chExt cx="1256562" cy="1232307"/>
          </a:xfrm>
        </p:grpSpPr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11742BA9-7478-49E9-A890-939DBC147FE6}"/>
                </a:ext>
              </a:extLst>
            </p:cNvPr>
            <p:cNvCxnSpPr/>
            <p:nvPr/>
          </p:nvCxnSpPr>
          <p:spPr>
            <a:xfrm flipH="1" flipV="1">
              <a:off x="6948264" y="1772816"/>
              <a:ext cx="76556" cy="2455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A3868FDF-A9A5-4348-976F-3811E1A26FC2}"/>
                </a:ext>
              </a:extLst>
            </p:cNvPr>
            <p:cNvCxnSpPr/>
            <p:nvPr/>
          </p:nvCxnSpPr>
          <p:spPr>
            <a:xfrm flipH="1" flipV="1">
              <a:off x="7164288" y="2133998"/>
              <a:ext cx="288032" cy="21488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2EA47EA9-33C9-4790-AC41-47A2BB281393}"/>
                </a:ext>
              </a:extLst>
            </p:cNvPr>
            <p:cNvCxnSpPr/>
            <p:nvPr/>
          </p:nvCxnSpPr>
          <p:spPr>
            <a:xfrm flipH="1">
              <a:off x="6732240" y="2204864"/>
              <a:ext cx="270634" cy="23038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58">
              <a:extLst>
                <a:ext uri="{FF2B5EF4-FFF2-40B4-BE49-F238E27FC236}">
                  <a16:creationId xmlns:a16="http://schemas.microsoft.com/office/drawing/2014/main" id="{A1823D86-2F0E-497C-9D9A-277314C5E48F}"/>
                </a:ext>
              </a:extLst>
            </p:cNvPr>
            <p:cNvSpPr txBox="1"/>
            <p:nvPr/>
          </p:nvSpPr>
          <p:spPr>
            <a:xfrm>
              <a:off x="6467897" y="2276872"/>
              <a:ext cx="3465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H</a:t>
              </a:r>
              <a:endParaRPr lang="zh-CN" altLang="en-US" sz="2000" b="1" dirty="0"/>
            </a:p>
          </p:txBody>
        </p:sp>
        <p:sp>
          <p:nvSpPr>
            <p:cNvPr id="43" name="TextBox 59">
              <a:extLst>
                <a:ext uri="{FF2B5EF4-FFF2-40B4-BE49-F238E27FC236}">
                  <a16:creationId xmlns:a16="http://schemas.microsoft.com/office/drawing/2014/main" id="{1FDFC2BE-0684-44FB-A430-8CBE582650DE}"/>
                </a:ext>
              </a:extLst>
            </p:cNvPr>
            <p:cNvSpPr txBox="1"/>
            <p:nvPr/>
          </p:nvSpPr>
          <p:spPr>
            <a:xfrm>
              <a:off x="6732240" y="1444675"/>
              <a:ext cx="3465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H</a:t>
              </a:r>
              <a:endParaRPr lang="zh-CN" altLang="en-US" sz="2000" b="1" dirty="0"/>
            </a:p>
          </p:txBody>
        </p:sp>
        <p:sp>
          <p:nvSpPr>
            <p:cNvPr id="44" name="TextBox 60">
              <a:extLst>
                <a:ext uri="{FF2B5EF4-FFF2-40B4-BE49-F238E27FC236}">
                  <a16:creationId xmlns:a16="http://schemas.microsoft.com/office/drawing/2014/main" id="{CDD18027-1809-41A0-8901-7B8ABA2E62BA}"/>
                </a:ext>
              </a:extLst>
            </p:cNvPr>
            <p:cNvSpPr txBox="1"/>
            <p:nvPr/>
          </p:nvSpPr>
          <p:spPr>
            <a:xfrm>
              <a:off x="7377889" y="2164755"/>
              <a:ext cx="3465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H</a:t>
              </a:r>
              <a:endParaRPr lang="zh-CN" altLang="en-US" sz="2000" b="1" dirty="0"/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42F129C6-E09B-44F3-9937-E1E3595A7C43}"/>
              </a:ext>
            </a:extLst>
          </p:cNvPr>
          <p:cNvGrpSpPr/>
          <p:nvPr/>
        </p:nvGrpSpPr>
        <p:grpSpPr>
          <a:xfrm>
            <a:off x="6350823" y="4404781"/>
            <a:ext cx="1132330" cy="1247786"/>
            <a:chOff x="6660232" y="1556792"/>
            <a:chExt cx="1132330" cy="1247786"/>
          </a:xfrm>
        </p:grpSpPr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87606AF5-14AF-404A-9376-9B4436C5181D}"/>
                </a:ext>
              </a:extLst>
            </p:cNvPr>
            <p:cNvCxnSpPr/>
            <p:nvPr/>
          </p:nvCxnSpPr>
          <p:spPr>
            <a:xfrm flipV="1">
              <a:off x="7348115" y="1876723"/>
              <a:ext cx="19141" cy="28566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A12D37A6-819C-4AD5-8505-22047045AFBD}"/>
                </a:ext>
              </a:extLst>
            </p:cNvPr>
            <p:cNvCxnSpPr/>
            <p:nvPr/>
          </p:nvCxnSpPr>
          <p:spPr>
            <a:xfrm flipH="1" flipV="1">
              <a:off x="7423785" y="2256748"/>
              <a:ext cx="167705" cy="24678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C40AE37C-AE1C-40B9-9710-50A35285E2C4}"/>
                </a:ext>
              </a:extLst>
            </p:cNvPr>
            <p:cNvCxnSpPr/>
            <p:nvPr/>
          </p:nvCxnSpPr>
          <p:spPr>
            <a:xfrm flipH="1">
              <a:off x="6943418" y="2327614"/>
              <a:ext cx="318953" cy="1039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69">
              <a:extLst>
                <a:ext uri="{FF2B5EF4-FFF2-40B4-BE49-F238E27FC236}">
                  <a16:creationId xmlns:a16="http://schemas.microsoft.com/office/drawing/2014/main" id="{65ADEA36-28D9-4091-A69D-A2DD82AFEAA3}"/>
                </a:ext>
              </a:extLst>
            </p:cNvPr>
            <p:cNvSpPr txBox="1"/>
            <p:nvPr/>
          </p:nvSpPr>
          <p:spPr>
            <a:xfrm>
              <a:off x="6660232" y="2247396"/>
              <a:ext cx="3465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H</a:t>
              </a:r>
              <a:endParaRPr lang="zh-CN" altLang="en-US" sz="2000" b="1" dirty="0"/>
            </a:p>
          </p:txBody>
        </p:sp>
        <p:sp>
          <p:nvSpPr>
            <p:cNvPr id="50" name="TextBox 70">
              <a:extLst>
                <a:ext uri="{FF2B5EF4-FFF2-40B4-BE49-F238E27FC236}">
                  <a16:creationId xmlns:a16="http://schemas.microsoft.com/office/drawing/2014/main" id="{9E554017-9E8F-4641-8BDA-8C36C88A444E}"/>
                </a:ext>
              </a:extLst>
            </p:cNvPr>
            <p:cNvSpPr txBox="1"/>
            <p:nvPr/>
          </p:nvSpPr>
          <p:spPr>
            <a:xfrm>
              <a:off x="7236296" y="1556792"/>
              <a:ext cx="3465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H</a:t>
              </a:r>
              <a:endParaRPr lang="zh-CN" altLang="en-US" sz="2000" b="1" dirty="0"/>
            </a:p>
          </p:txBody>
        </p:sp>
        <p:sp>
          <p:nvSpPr>
            <p:cNvPr id="51" name="TextBox 71">
              <a:extLst>
                <a:ext uri="{FF2B5EF4-FFF2-40B4-BE49-F238E27FC236}">
                  <a16:creationId xmlns:a16="http://schemas.microsoft.com/office/drawing/2014/main" id="{3A6E63C2-B33D-416A-B2CB-D49802AAC321}"/>
                </a:ext>
              </a:extLst>
            </p:cNvPr>
            <p:cNvSpPr txBox="1"/>
            <p:nvPr/>
          </p:nvSpPr>
          <p:spPr>
            <a:xfrm>
              <a:off x="7445992" y="2404468"/>
              <a:ext cx="3465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H</a:t>
              </a:r>
              <a:endParaRPr lang="zh-CN" altLang="en-US" sz="2000" b="1" dirty="0"/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DB7A32E5-AA6E-4459-AD72-672F62FDEBC4}"/>
              </a:ext>
            </a:extLst>
          </p:cNvPr>
          <p:cNvGrpSpPr/>
          <p:nvPr/>
        </p:nvGrpSpPr>
        <p:grpSpPr>
          <a:xfrm>
            <a:off x="6257549" y="4383515"/>
            <a:ext cx="1210666" cy="1408222"/>
            <a:chOff x="6385670" y="1412776"/>
            <a:chExt cx="1210666" cy="1408222"/>
          </a:xfrm>
        </p:grpSpPr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B7DE1BD3-61D0-406C-8A8B-E04E63EB7C18}"/>
                </a:ext>
              </a:extLst>
            </p:cNvPr>
            <p:cNvCxnSpPr/>
            <p:nvPr/>
          </p:nvCxnSpPr>
          <p:spPr>
            <a:xfrm flipV="1">
              <a:off x="7204099" y="1700808"/>
              <a:ext cx="176213" cy="31756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ABD006EE-8408-4BB5-A491-A453318E1E01}"/>
                </a:ext>
              </a:extLst>
            </p:cNvPr>
            <p:cNvCxnSpPr/>
            <p:nvPr/>
          </p:nvCxnSpPr>
          <p:spPr>
            <a:xfrm flipH="1" flipV="1">
              <a:off x="7236296" y="2204864"/>
              <a:ext cx="57803" cy="30815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56CA7B37-C7CF-4E32-BD05-D44B286B69A0}"/>
                </a:ext>
              </a:extLst>
            </p:cNvPr>
            <p:cNvCxnSpPr/>
            <p:nvPr/>
          </p:nvCxnSpPr>
          <p:spPr>
            <a:xfrm flipH="1" flipV="1">
              <a:off x="6660233" y="2060848"/>
              <a:ext cx="360039" cy="720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81">
              <a:extLst>
                <a:ext uri="{FF2B5EF4-FFF2-40B4-BE49-F238E27FC236}">
                  <a16:creationId xmlns:a16="http://schemas.microsoft.com/office/drawing/2014/main" id="{06A9CFE4-F559-4497-9A7F-86A7A255434B}"/>
                </a:ext>
              </a:extLst>
            </p:cNvPr>
            <p:cNvSpPr txBox="1"/>
            <p:nvPr/>
          </p:nvSpPr>
          <p:spPr>
            <a:xfrm>
              <a:off x="6385670" y="1874300"/>
              <a:ext cx="3465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H</a:t>
              </a:r>
              <a:endParaRPr lang="zh-CN" altLang="en-US" sz="2000" b="1" dirty="0"/>
            </a:p>
          </p:txBody>
        </p:sp>
        <p:sp>
          <p:nvSpPr>
            <p:cNvPr id="57" name="TextBox 82">
              <a:extLst>
                <a:ext uri="{FF2B5EF4-FFF2-40B4-BE49-F238E27FC236}">
                  <a16:creationId xmlns:a16="http://schemas.microsoft.com/office/drawing/2014/main" id="{D8C505F7-11D2-488B-BCDB-5F5C22D90C69}"/>
                </a:ext>
              </a:extLst>
            </p:cNvPr>
            <p:cNvSpPr txBox="1"/>
            <p:nvPr/>
          </p:nvSpPr>
          <p:spPr>
            <a:xfrm>
              <a:off x="7249766" y="1412776"/>
              <a:ext cx="3465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H</a:t>
              </a:r>
              <a:endParaRPr lang="zh-CN" altLang="en-US" sz="2000" b="1" dirty="0"/>
            </a:p>
          </p:txBody>
        </p:sp>
        <p:sp>
          <p:nvSpPr>
            <p:cNvPr id="58" name="TextBox 83">
              <a:extLst>
                <a:ext uri="{FF2B5EF4-FFF2-40B4-BE49-F238E27FC236}">
                  <a16:creationId xmlns:a16="http://schemas.microsoft.com/office/drawing/2014/main" id="{7503F4DF-74B9-4540-8964-96D27FCA25FE}"/>
                </a:ext>
              </a:extLst>
            </p:cNvPr>
            <p:cNvSpPr txBox="1"/>
            <p:nvPr/>
          </p:nvSpPr>
          <p:spPr>
            <a:xfrm>
              <a:off x="7164288" y="2420888"/>
              <a:ext cx="3465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H</a:t>
              </a:r>
              <a:endParaRPr lang="zh-CN" altLang="en-US" sz="2000" b="1" dirty="0"/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F7C046F2-0DCC-4B15-9C4E-4E680A42FC8C}"/>
              </a:ext>
            </a:extLst>
          </p:cNvPr>
          <p:cNvGrpSpPr/>
          <p:nvPr/>
        </p:nvGrpSpPr>
        <p:grpSpPr>
          <a:xfrm>
            <a:off x="6422831" y="4516898"/>
            <a:ext cx="1282674" cy="1336214"/>
            <a:chOff x="6588224" y="1412776"/>
            <a:chExt cx="1282674" cy="1336214"/>
          </a:xfrm>
        </p:grpSpPr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81FACDDC-8CFA-407D-96A2-CB3398A8E439}"/>
                </a:ext>
              </a:extLst>
            </p:cNvPr>
            <p:cNvCxnSpPr/>
            <p:nvPr/>
          </p:nvCxnSpPr>
          <p:spPr>
            <a:xfrm flipV="1">
              <a:off x="7308304" y="1916832"/>
              <a:ext cx="288032" cy="29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313F5D5-E1CC-4B88-89A0-676D42B27114}"/>
                </a:ext>
              </a:extLst>
            </p:cNvPr>
            <p:cNvCxnSpPr/>
            <p:nvPr/>
          </p:nvCxnSpPr>
          <p:spPr>
            <a:xfrm flipV="1">
              <a:off x="6948264" y="2132856"/>
              <a:ext cx="173286" cy="2880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5C79C68-30FB-4B9B-B332-ACB3B01A073E}"/>
                </a:ext>
              </a:extLst>
            </p:cNvPr>
            <p:cNvCxnSpPr/>
            <p:nvPr/>
          </p:nvCxnSpPr>
          <p:spPr>
            <a:xfrm flipH="1" flipV="1">
              <a:off x="6876256" y="1700808"/>
              <a:ext cx="216025" cy="23199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93">
              <a:extLst>
                <a:ext uri="{FF2B5EF4-FFF2-40B4-BE49-F238E27FC236}">
                  <a16:creationId xmlns:a16="http://schemas.microsoft.com/office/drawing/2014/main" id="{920C11EB-13AB-4881-A1C9-CBEFD2740698}"/>
                </a:ext>
              </a:extLst>
            </p:cNvPr>
            <p:cNvSpPr txBox="1"/>
            <p:nvPr/>
          </p:nvSpPr>
          <p:spPr>
            <a:xfrm>
              <a:off x="6588224" y="1412776"/>
              <a:ext cx="3465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H</a:t>
              </a:r>
              <a:endParaRPr lang="zh-CN" altLang="en-US" sz="2000" b="1" dirty="0"/>
            </a:p>
          </p:txBody>
        </p:sp>
        <p:sp>
          <p:nvSpPr>
            <p:cNvPr id="64" name="TextBox 94">
              <a:extLst>
                <a:ext uri="{FF2B5EF4-FFF2-40B4-BE49-F238E27FC236}">
                  <a16:creationId xmlns:a16="http://schemas.microsoft.com/office/drawing/2014/main" id="{74319258-82F0-42C4-9ECD-8AA0CEE1D32D}"/>
                </a:ext>
              </a:extLst>
            </p:cNvPr>
            <p:cNvSpPr txBox="1"/>
            <p:nvPr/>
          </p:nvSpPr>
          <p:spPr>
            <a:xfrm>
              <a:off x="7524328" y="1700808"/>
              <a:ext cx="3465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H</a:t>
              </a:r>
              <a:endParaRPr lang="zh-CN" altLang="en-US" sz="2000" b="1" dirty="0"/>
            </a:p>
          </p:txBody>
        </p:sp>
        <p:sp>
          <p:nvSpPr>
            <p:cNvPr id="65" name="TextBox 95">
              <a:extLst>
                <a:ext uri="{FF2B5EF4-FFF2-40B4-BE49-F238E27FC236}">
                  <a16:creationId xmlns:a16="http://schemas.microsoft.com/office/drawing/2014/main" id="{52CE89EF-AB36-4277-A871-00164A4BAD80}"/>
                </a:ext>
              </a:extLst>
            </p:cNvPr>
            <p:cNvSpPr txBox="1"/>
            <p:nvPr/>
          </p:nvSpPr>
          <p:spPr>
            <a:xfrm>
              <a:off x="6660232" y="2348880"/>
              <a:ext cx="3465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H</a:t>
              </a:r>
              <a:endParaRPr lang="zh-CN" altLang="en-US" sz="2000" b="1" dirty="0"/>
            </a:p>
          </p:txBody>
        </p:sp>
      </p:grpSp>
      <p:sp>
        <p:nvSpPr>
          <p:cNvPr id="66" name="TextBox 61">
            <a:extLst>
              <a:ext uri="{FF2B5EF4-FFF2-40B4-BE49-F238E27FC236}">
                <a16:creationId xmlns:a16="http://schemas.microsoft.com/office/drawing/2014/main" id="{BFFBFC1C-8ABD-4311-BFE1-E0FF8F786800}"/>
              </a:ext>
            </a:extLst>
          </p:cNvPr>
          <p:cNvSpPr txBox="1"/>
          <p:nvPr/>
        </p:nvSpPr>
        <p:spPr>
          <a:xfrm>
            <a:off x="8018428" y="4215800"/>
            <a:ext cx="38867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i="1" dirty="0">
                <a:latin typeface="Comic Sans MS" pitchFamily="66" charset="0"/>
              </a:rPr>
              <a:t>Is the connectivity (bonding sequence) changed by rotating about the C-C single bond?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i="1" dirty="0">
              <a:latin typeface="Comic Sans MS" pitchFamily="66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i="1" dirty="0">
                <a:latin typeface="Comic Sans MS" pitchFamily="66" charset="0"/>
              </a:rPr>
              <a:t>Are they constitutional isomers?</a:t>
            </a:r>
            <a:endParaRPr lang="zh-CN" altLang="en-US" b="1" i="1" dirty="0">
              <a:latin typeface="Comic Sans MS" pitchFamily="66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981FDE9A-282F-49DA-B415-89093985E485}"/>
              </a:ext>
            </a:extLst>
          </p:cNvPr>
          <p:cNvSpPr txBox="1"/>
          <p:nvPr/>
        </p:nvSpPr>
        <p:spPr>
          <a:xfrm>
            <a:off x="135840" y="6312894"/>
            <a:ext cx="11233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800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Conformations</a:t>
            </a:r>
            <a:r>
              <a:rPr lang="en-US" altLang="zh-CN" sz="1800" b="1" dirty="0">
                <a:latin typeface="MS Reference Sans Serif" panose="020B0604030504040204" pitchFamily="34" charset="0"/>
                <a:cs typeface="Microsoft Sans Serif" pitchFamily="34" charset="0"/>
              </a:rPr>
              <a:t>: the different molecular images formed by </a:t>
            </a:r>
            <a:r>
              <a:rPr lang="en-US" altLang="zh-CN" sz="1800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rotations about a single bond</a:t>
            </a:r>
            <a:r>
              <a:rPr lang="en-US" altLang="zh-CN" sz="1800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1548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651032" y="6381328"/>
            <a:ext cx="2133600" cy="337039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91344" y="704028"/>
            <a:ext cx="115079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In drawing conformations, we often use </a:t>
            </a:r>
            <a:r>
              <a:rPr lang="en-US" altLang="zh-CN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Newman projections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, a way of drawing a molecule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looking straight down the bond connecting two carbon atoms.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>
              <a:highlight>
                <a:srgbClr val="FFFF00"/>
              </a:highlight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The front carbon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is represented by three lines (three bonds) coming together in a Y shape; </a:t>
            </a:r>
            <a:r>
              <a:rPr lang="en-US" altLang="zh-CN" b="1" dirty="0">
                <a:highlight>
                  <a:srgbClr val="C0C0C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the back carbon 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is represented by a circle with three bonds pointing out from it.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E85D411B-2D6F-438C-BA6B-4FF819495B1D}"/>
              </a:ext>
            </a:extLst>
          </p:cNvPr>
          <p:cNvSpPr txBox="1"/>
          <p:nvPr/>
        </p:nvSpPr>
        <p:spPr>
          <a:xfrm>
            <a:off x="-39548" y="188640"/>
            <a:ext cx="74767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</a:rPr>
              <a:t>4-3-2 Expression of conformations: Newman Projections</a:t>
            </a:r>
            <a:endParaRPr lang="zh-CN" altLang="en-US" sz="2000" b="1" dirty="0">
              <a:highlight>
                <a:srgbClr val="C0C0C0"/>
              </a:highlight>
              <a:latin typeface="MS Reference Sans Serif" panose="020B0604030504040204" pitchFamily="34" charset="0"/>
            </a:endParaRPr>
          </a:p>
        </p:txBody>
      </p:sp>
      <p:graphicFrame>
        <p:nvGraphicFramePr>
          <p:cNvPr id="66" name="Object 4">
            <a:extLst>
              <a:ext uri="{FF2B5EF4-FFF2-40B4-BE49-F238E27FC236}">
                <a16:creationId xmlns:a16="http://schemas.microsoft.com/office/drawing/2014/main" id="{1D6D59C4-8514-48B4-A342-E956FB8ED3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3931437"/>
              </p:ext>
            </p:extLst>
          </p:nvPr>
        </p:nvGraphicFramePr>
        <p:xfrm>
          <a:off x="3369953" y="2780928"/>
          <a:ext cx="5150742" cy="3240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2803980" imgH="1763208" progId="ChemDraw.Document.6.0">
                  <p:embed/>
                </p:oleObj>
              </mc:Choice>
              <mc:Fallback>
                <p:oleObj name="CS ChemDraw Drawing" r:id="rId2" imgW="2803980" imgH="1763208" progId="ChemDraw.Document.6.0">
                  <p:embed/>
                  <p:pic>
                    <p:nvPicPr>
                      <p:cNvPr id="542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9953" y="2780928"/>
                        <a:ext cx="5150742" cy="32403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7658E888-34B1-42B3-B83C-5BE443B4A5F5}"/>
              </a:ext>
            </a:extLst>
          </p:cNvPr>
          <p:cNvCxnSpPr>
            <a:cxnSpLocks/>
          </p:cNvCxnSpPr>
          <p:nvPr/>
        </p:nvCxnSpPr>
        <p:spPr>
          <a:xfrm flipH="1" flipV="1">
            <a:off x="4378065" y="3789040"/>
            <a:ext cx="216024" cy="864096"/>
          </a:xfrm>
          <a:prstGeom prst="straightConnector1">
            <a:avLst/>
          </a:prstGeom>
          <a:ln w="38100">
            <a:solidFill>
              <a:srgbClr val="00FFFF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8">
            <a:extLst>
              <a:ext uri="{FF2B5EF4-FFF2-40B4-BE49-F238E27FC236}">
                <a16:creationId xmlns:a16="http://schemas.microsoft.com/office/drawing/2014/main" id="{959A1799-FB62-4B34-B75E-AE36EF7D56DC}"/>
              </a:ext>
            </a:extLst>
          </p:cNvPr>
          <p:cNvSpPr txBox="1"/>
          <p:nvPr/>
        </p:nvSpPr>
        <p:spPr>
          <a:xfrm>
            <a:off x="2455128" y="4797152"/>
            <a:ext cx="2124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MS Reference Sans Serif" panose="020B0604030504040204" pitchFamily="34" charset="0"/>
              </a:rPr>
              <a:t>look straight down the C</a:t>
            </a:r>
            <a:r>
              <a:rPr lang="en-US" altLang="zh-CN" sz="1600" b="1" dirty="0">
                <a:latin typeface="MS Reference Sans Serif" panose="020B0604030504040204" pitchFamily="34" charset="0"/>
                <a:sym typeface="Symbol"/>
              </a:rPr>
              <a:t>C bond</a:t>
            </a:r>
            <a:r>
              <a:rPr lang="en-US" altLang="zh-CN" sz="1600" b="1" dirty="0">
                <a:latin typeface="MS Reference Sans Serif" panose="020B0604030504040204" pitchFamily="34" charset="0"/>
              </a:rPr>
              <a:t> </a:t>
            </a:r>
            <a:endParaRPr lang="zh-CN" altLang="en-US" sz="1600" b="1" dirty="0">
              <a:latin typeface="MS Reference Sans Serif" panose="020B060403050404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579024" y="6356351"/>
            <a:ext cx="21336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14</a:t>
            </a:fld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30259" y="765670"/>
            <a:ext cx="116585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Ethane has an </a:t>
            </a:r>
            <a:r>
              <a:rPr lang="en-US" altLang="zh-CN" b="1" i="1" dirty="0">
                <a:latin typeface="MS Reference Sans Serif" panose="020B0604030504040204" pitchFamily="34" charset="0"/>
                <a:cs typeface="Microsoft Sans Serif" pitchFamily="34" charset="0"/>
              </a:rPr>
              <a:t>infinite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number of conformations.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Any conformation can be specified by its 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dihedral angle (</a:t>
            </a:r>
            <a:r>
              <a:rPr lang="en-US" altLang="zh-CN" b="1" i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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)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, the angle between the front CH bond and the back CH bond in the Newman projection.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Two of the conformations are typical and have special names: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653" y="2456050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Sans Serif" pitchFamily="34" charset="0"/>
                <a:cs typeface="Microsoft Sans Serif" pitchFamily="34" charset="0"/>
                <a:sym typeface="Symbol"/>
              </a:rPr>
              <a:t></a:t>
            </a:r>
            <a:endParaRPr lang="zh-CN" altLang="en-US" dirty="0">
              <a:latin typeface="Microsoft Sans Serif" pitchFamily="34" charset="0"/>
              <a:cs typeface="Microsoft Sans Serif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46500" y="2407426"/>
            <a:ext cx="84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Sans Serif" pitchFamily="34" charset="0"/>
                <a:cs typeface="Microsoft Sans Serif" pitchFamily="34" charset="0"/>
                <a:sym typeface="Symbol"/>
              </a:rPr>
              <a:t>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Sans Serif" pitchFamily="34" charset="0"/>
                <a:cs typeface="Microsoft Sans Serif" pitchFamily="34" charset="0"/>
                <a:sym typeface="Symbol"/>
              </a:rPr>
              <a:t>  = 0</a:t>
            </a:r>
            <a:endParaRPr lang="zh-CN" altLang="en-US" dirty="0">
              <a:latin typeface="Microsoft Sans Serif" pitchFamily="34" charset="0"/>
              <a:cs typeface="Microsoft Sans Serif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57172" y="4049461"/>
            <a:ext cx="289070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the</a:t>
            </a:r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eclipsed </a:t>
            </a:r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conformation</a:t>
            </a:r>
            <a:endParaRPr lang="zh-CN" altLang="en-US" sz="1600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78605" y="2300859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Sans Serif" pitchFamily="34" charset="0"/>
                <a:cs typeface="Microsoft Sans Serif" pitchFamily="34" charset="0"/>
                <a:sym typeface="Symbol"/>
              </a:rPr>
              <a:t>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Sans Serif" pitchFamily="34" charset="0"/>
                <a:cs typeface="Microsoft Sans Serif" pitchFamily="34" charset="0"/>
                <a:sym typeface="Symbol"/>
              </a:rPr>
              <a:t> = 60</a:t>
            </a:r>
            <a:endParaRPr lang="zh-CN" altLang="en-US" dirty="0">
              <a:latin typeface="Microsoft Sans Serif" pitchFamily="34" charset="0"/>
              <a:cs typeface="Microsoft Sans Serif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886532" y="4053215"/>
            <a:ext cx="310149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the staggered </a:t>
            </a:r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conformation</a:t>
            </a:r>
            <a:endParaRPr lang="zh-CN" altLang="en-US" sz="1600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616280" y="4055263"/>
            <a:ext cx="259337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a skew conformation</a:t>
            </a:r>
            <a:endParaRPr lang="zh-CN" altLang="en-US" sz="1600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8438452"/>
              </p:ext>
            </p:extLst>
          </p:nvPr>
        </p:nvGraphicFramePr>
        <p:xfrm>
          <a:off x="2529161" y="2794061"/>
          <a:ext cx="914400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914020" imgH="1124273" progId="ChemDraw.Document.6.0">
                  <p:embed/>
                </p:oleObj>
              </mc:Choice>
              <mc:Fallback>
                <p:oleObj name="CS ChemDraw Drawing" r:id="rId2" imgW="914020" imgH="1124273" progId="ChemDraw.Document.6.0">
                  <p:embed/>
                  <p:pic>
                    <p:nvPicPr>
                      <p:cNvPr id="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9161" y="2794061"/>
                        <a:ext cx="914400" cy="112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7879137"/>
              </p:ext>
            </p:extLst>
          </p:nvPr>
        </p:nvGraphicFramePr>
        <p:xfrm>
          <a:off x="6040869" y="2751148"/>
          <a:ext cx="92075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919958" imgH="1063268" progId="ChemDraw.Document.6.0">
                  <p:embed/>
                </p:oleObj>
              </mc:Choice>
              <mc:Fallback>
                <p:oleObj name="CS ChemDraw Drawing" r:id="rId4" imgW="919958" imgH="1063268" progId="ChemDraw.Document.6.0">
                  <p:embed/>
                  <p:pic>
                    <p:nvPicPr>
                      <p:cNvPr id="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0869" y="2751148"/>
                        <a:ext cx="920750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811608"/>
              </p:ext>
            </p:extLst>
          </p:nvPr>
        </p:nvGraphicFramePr>
        <p:xfrm>
          <a:off x="9338578" y="2781054"/>
          <a:ext cx="946150" cy="111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945873" imgH="1112126" progId="ChemDraw.Document.6.0">
                  <p:embed/>
                </p:oleObj>
              </mc:Choice>
              <mc:Fallback>
                <p:oleObj name="CS ChemDraw Drawing" r:id="rId6" imgW="945873" imgH="1112126" progId="ChemDraw.Document.6.0">
                  <p:embed/>
                  <p:pic>
                    <p:nvPicPr>
                      <p:cNvPr id="5530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8578" y="2781054"/>
                        <a:ext cx="946150" cy="1112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4C7AFC24-A4DA-4793-86B3-FAF2F67487BA}"/>
              </a:ext>
            </a:extLst>
          </p:cNvPr>
          <p:cNvSpPr txBox="1"/>
          <p:nvPr/>
        </p:nvSpPr>
        <p:spPr>
          <a:xfrm>
            <a:off x="191344" y="332656"/>
            <a:ext cx="5630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</a:rPr>
              <a:t>4-3-3</a:t>
            </a:r>
            <a:r>
              <a:rPr lang="en-US" altLang="zh-CN" sz="2000" b="1" dirty="0">
                <a:latin typeface="MS Reference Sans Serif" panose="020B0604030504040204" pitchFamily="34" charset="0"/>
              </a:rPr>
              <a:t> </a:t>
            </a:r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</a:rPr>
              <a:t>The typical conformations of ethane</a:t>
            </a:r>
            <a:endParaRPr lang="zh-CN" altLang="en-US" sz="2000" b="1" dirty="0">
              <a:highlight>
                <a:srgbClr val="C0C0C0"/>
              </a:highlight>
              <a:latin typeface="MS Reference Sans Serif" panose="020B060403050404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A9A3E88-05BA-4D63-8DE4-F03F2A116374}"/>
              </a:ext>
            </a:extLst>
          </p:cNvPr>
          <p:cNvSpPr/>
          <p:nvPr/>
        </p:nvSpPr>
        <p:spPr>
          <a:xfrm>
            <a:off x="330259" y="4555885"/>
            <a:ext cx="113114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At room temperature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, the ethane molecules are rotating and their conformations are constantly changing.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Normally conformations cannot be isolated.</a:t>
            </a:r>
            <a:endParaRPr lang="zh-CN" altLang="en-US" b="1" dirty="0">
              <a:highlight>
                <a:srgbClr val="00FF00"/>
              </a:highlight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graphicFrame>
        <p:nvGraphicFramePr>
          <p:cNvPr id="22" name="Object 2">
            <a:extLst>
              <a:ext uri="{FF2B5EF4-FFF2-40B4-BE49-F238E27FC236}">
                <a16:creationId xmlns:a16="http://schemas.microsoft.com/office/drawing/2014/main" id="{91187742-B612-4209-8248-7DAB0F20AA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4481711"/>
              </p:ext>
            </p:extLst>
          </p:nvPr>
        </p:nvGraphicFramePr>
        <p:xfrm>
          <a:off x="5080633" y="5369826"/>
          <a:ext cx="902650" cy="10618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927787" imgH="1090802" progId="ChemDraw.Document.6.0">
                  <p:embed/>
                </p:oleObj>
              </mc:Choice>
              <mc:Fallback>
                <p:oleObj name="CS ChemDraw Drawing" r:id="rId8" imgW="927787" imgH="1090802" progId="ChemDraw.Document.6.0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633" y="5369826"/>
                        <a:ext cx="902650" cy="10618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3">
            <a:extLst>
              <a:ext uri="{FF2B5EF4-FFF2-40B4-BE49-F238E27FC236}">
                <a16:creationId xmlns:a16="http://schemas.microsoft.com/office/drawing/2014/main" id="{494B2A2F-F583-4D29-8866-E80F1B9E3112}"/>
              </a:ext>
            </a:extLst>
          </p:cNvPr>
          <p:cNvSpPr txBox="1"/>
          <p:nvPr/>
        </p:nvSpPr>
        <p:spPr>
          <a:xfrm>
            <a:off x="2532341" y="5273925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>
                <a:solidFill>
                  <a:srgbClr val="FF00FF"/>
                </a:solidFill>
                <a:sym typeface="Symbol"/>
              </a:rPr>
              <a:t></a:t>
            </a:r>
            <a:endParaRPr lang="zh-CN" altLang="en-US" dirty="0">
              <a:solidFill>
                <a:srgbClr val="FF00FF"/>
              </a:solidFill>
            </a:endParaRPr>
          </a:p>
        </p:txBody>
      </p:sp>
      <p:graphicFrame>
        <p:nvGraphicFramePr>
          <p:cNvPr id="24" name="Object 3">
            <a:extLst>
              <a:ext uri="{FF2B5EF4-FFF2-40B4-BE49-F238E27FC236}">
                <a16:creationId xmlns:a16="http://schemas.microsoft.com/office/drawing/2014/main" id="{40DEBBDB-3749-45D2-85A7-A50DE81F51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3212520"/>
              </p:ext>
            </p:extLst>
          </p:nvPr>
        </p:nvGraphicFramePr>
        <p:xfrm>
          <a:off x="2450588" y="5436224"/>
          <a:ext cx="883401" cy="97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889725" imgH="984178" progId="ChemDraw.Document.6.0">
                  <p:embed/>
                </p:oleObj>
              </mc:Choice>
              <mc:Fallback>
                <p:oleObj name="CS ChemDraw Drawing" r:id="rId10" imgW="889725" imgH="984178" progId="ChemDraw.Document.6.0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0588" y="5436224"/>
                        <a:ext cx="883401" cy="97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 25">
            <a:extLst>
              <a:ext uri="{FF2B5EF4-FFF2-40B4-BE49-F238E27FC236}">
                <a16:creationId xmlns:a16="http://schemas.microsoft.com/office/drawing/2014/main" id="{931606CC-598D-41AA-AB98-F85860D0D7B2}"/>
              </a:ext>
            </a:extLst>
          </p:cNvPr>
          <p:cNvSpPr/>
          <p:nvPr/>
        </p:nvSpPr>
        <p:spPr>
          <a:xfrm>
            <a:off x="1179008" y="6342546"/>
            <a:ext cx="341048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the eclipsed conformation</a:t>
            </a:r>
            <a:endParaRPr lang="zh-CN" altLang="en-US" sz="1600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graphicFrame>
        <p:nvGraphicFramePr>
          <p:cNvPr id="27" name="Object 4">
            <a:extLst>
              <a:ext uri="{FF2B5EF4-FFF2-40B4-BE49-F238E27FC236}">
                <a16:creationId xmlns:a16="http://schemas.microsoft.com/office/drawing/2014/main" id="{C47BC7BC-D5FD-42F0-92FF-87E34CC4BB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1149220"/>
              </p:ext>
            </p:extLst>
          </p:nvPr>
        </p:nvGraphicFramePr>
        <p:xfrm>
          <a:off x="7579678" y="5396844"/>
          <a:ext cx="853119" cy="1007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2" imgW="883516" imgH="1044913" progId="ChemDraw.Document.6.0">
                  <p:embed/>
                </p:oleObj>
              </mc:Choice>
              <mc:Fallback>
                <p:oleObj name="CS ChemDraw Drawing" r:id="rId12" imgW="883516" imgH="1044913" progId="ChemDraw.Document.6.0">
                  <p:embed/>
                  <p:pic>
                    <p:nvPicPr>
                      <p:cNvPr id="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9678" y="5396844"/>
                        <a:ext cx="853119" cy="10078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矩形 28">
            <a:extLst>
              <a:ext uri="{FF2B5EF4-FFF2-40B4-BE49-F238E27FC236}">
                <a16:creationId xmlns:a16="http://schemas.microsoft.com/office/drawing/2014/main" id="{17B0274D-679D-481B-830C-5BEAAC9AC076}"/>
              </a:ext>
            </a:extLst>
          </p:cNvPr>
          <p:cNvSpPr/>
          <p:nvPr/>
        </p:nvSpPr>
        <p:spPr>
          <a:xfrm>
            <a:off x="6697196" y="6349115"/>
            <a:ext cx="34505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the staggered conformation</a:t>
            </a:r>
            <a:endParaRPr lang="zh-CN" altLang="en-US" sz="1600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A76707F-0145-4BFB-82F0-2440075AEE51}"/>
              </a:ext>
            </a:extLst>
          </p:cNvPr>
          <p:cNvSpPr/>
          <p:nvPr/>
        </p:nvSpPr>
        <p:spPr>
          <a:xfrm>
            <a:off x="4345175" y="6353723"/>
            <a:ext cx="235485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skew conformations</a:t>
            </a:r>
            <a:endParaRPr lang="zh-CN" altLang="en-US" sz="1600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CA06C2D0-F468-4DB4-AC8A-B95D6893C846}"/>
              </a:ext>
            </a:extLst>
          </p:cNvPr>
          <p:cNvCxnSpPr/>
          <p:nvPr/>
        </p:nvCxnSpPr>
        <p:spPr>
          <a:xfrm>
            <a:off x="3679027" y="6011135"/>
            <a:ext cx="93610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9A863099-EC05-4F39-9893-903F4186F70E}"/>
              </a:ext>
            </a:extLst>
          </p:cNvPr>
          <p:cNvCxnSpPr/>
          <p:nvPr/>
        </p:nvCxnSpPr>
        <p:spPr>
          <a:xfrm flipH="1">
            <a:off x="3679027" y="6155151"/>
            <a:ext cx="93610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293C7939-8E18-48E9-906A-BE030E99FDF8}"/>
              </a:ext>
            </a:extLst>
          </p:cNvPr>
          <p:cNvCxnSpPr/>
          <p:nvPr/>
        </p:nvCxnSpPr>
        <p:spPr>
          <a:xfrm>
            <a:off x="6271315" y="6011135"/>
            <a:ext cx="93610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4F9E548F-ED19-4B54-AF7B-CC4EE71AE79C}"/>
              </a:ext>
            </a:extLst>
          </p:cNvPr>
          <p:cNvCxnSpPr/>
          <p:nvPr/>
        </p:nvCxnSpPr>
        <p:spPr>
          <a:xfrm flipH="1">
            <a:off x="6271315" y="6155151"/>
            <a:ext cx="93610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20">
            <a:extLst>
              <a:ext uri="{FF2B5EF4-FFF2-40B4-BE49-F238E27FC236}">
                <a16:creationId xmlns:a16="http://schemas.microsoft.com/office/drawing/2014/main" id="{A410E080-8D3C-4B99-8A5F-B688C5F9697D}"/>
              </a:ext>
            </a:extLst>
          </p:cNvPr>
          <p:cNvSpPr txBox="1"/>
          <p:nvPr/>
        </p:nvSpPr>
        <p:spPr>
          <a:xfrm>
            <a:off x="3390995" y="5369103"/>
            <a:ext cx="1512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</a:rPr>
              <a:t>room</a:t>
            </a:r>
          </a:p>
          <a:p>
            <a:pPr algn="ctr"/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</a:rPr>
              <a:t>temperature</a:t>
            </a:r>
            <a:endParaRPr lang="zh-CN" altLang="en-US" sz="1600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36" name="TextBox 28">
            <a:extLst>
              <a:ext uri="{FF2B5EF4-FFF2-40B4-BE49-F238E27FC236}">
                <a16:creationId xmlns:a16="http://schemas.microsoft.com/office/drawing/2014/main" id="{4191FD12-FA51-4843-92B7-18A5A7EFE5F6}"/>
              </a:ext>
            </a:extLst>
          </p:cNvPr>
          <p:cNvSpPr txBox="1"/>
          <p:nvPr/>
        </p:nvSpPr>
        <p:spPr>
          <a:xfrm>
            <a:off x="5983283" y="5350870"/>
            <a:ext cx="1512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</a:rPr>
              <a:t>room</a:t>
            </a:r>
          </a:p>
          <a:p>
            <a:pPr algn="ctr"/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</a:rPr>
              <a:t>temperature</a:t>
            </a:r>
            <a:endParaRPr lang="zh-CN" altLang="en-US" sz="1600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D48403-7803-42A2-8B4E-6597DAE59D0C}"/>
              </a:ext>
            </a:extLst>
          </p:cNvPr>
          <p:cNvSpPr/>
          <p:nvPr/>
        </p:nvSpPr>
        <p:spPr>
          <a:xfrm>
            <a:off x="1541007" y="2197538"/>
            <a:ext cx="2923039" cy="21904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A9CD0C6-41A8-4DA8-AF95-F2A30B6F7BC2}"/>
              </a:ext>
            </a:extLst>
          </p:cNvPr>
          <p:cNvSpPr/>
          <p:nvPr/>
        </p:nvSpPr>
        <p:spPr>
          <a:xfrm>
            <a:off x="4934827" y="2200748"/>
            <a:ext cx="3053195" cy="21904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270913" y="676194"/>
            <a:ext cx="11657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The conformations are not all equally favored: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the lowest-energy conformation is the staggered conformation; the highest-energy conformation is the eclipsed conformation.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70910" y="5901976"/>
            <a:ext cx="114918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resistance to twisting (torsion) from the staggered conformation to other unstable ones 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is called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torsional strain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.</a:t>
            </a:r>
            <a:endParaRPr lang="zh-CN" altLang="en-US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E2E6718-1F03-43B6-9DC3-EEA927F26A10}"/>
              </a:ext>
            </a:extLst>
          </p:cNvPr>
          <p:cNvSpPr txBox="1"/>
          <p:nvPr/>
        </p:nvSpPr>
        <p:spPr>
          <a:xfrm>
            <a:off x="-71369" y="230104"/>
            <a:ext cx="60882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</a:rPr>
              <a:t>4-3-4</a:t>
            </a:r>
            <a:r>
              <a:rPr lang="en-US" altLang="zh-CN" sz="2000" b="1" dirty="0">
                <a:latin typeface="MS Reference Sans Serif" panose="020B0604030504040204" pitchFamily="34" charset="0"/>
              </a:rPr>
              <a:t> </a:t>
            </a:r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</a:rPr>
              <a:t>The relative stability of conformations</a:t>
            </a:r>
            <a:endParaRPr lang="zh-CN" altLang="en-US" sz="2000" b="1" dirty="0">
              <a:highlight>
                <a:srgbClr val="C0C0C0"/>
              </a:highlight>
              <a:latin typeface="MS Reference Sans Serif" panose="020B0604030504040204" pitchFamily="34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203C845-D202-42F7-BE89-FEFDBC242B24}"/>
              </a:ext>
            </a:extLst>
          </p:cNvPr>
          <p:cNvSpPr/>
          <p:nvPr/>
        </p:nvSpPr>
        <p:spPr>
          <a:xfrm>
            <a:off x="5375919" y="5096822"/>
            <a:ext cx="3600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the staggered conformation</a:t>
            </a:r>
          </a:p>
          <a:p>
            <a:pPr algn="ctr"/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(low energy, favored)</a:t>
            </a:r>
            <a:endParaRPr lang="zh-CN" altLang="en-US" sz="1600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CAD6094-B07A-4D4E-A925-748D4CE94F07}"/>
              </a:ext>
            </a:extLst>
          </p:cNvPr>
          <p:cNvSpPr/>
          <p:nvPr/>
        </p:nvSpPr>
        <p:spPr>
          <a:xfrm>
            <a:off x="2274645" y="5096822"/>
            <a:ext cx="33123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the eclipsed conformation</a:t>
            </a:r>
          </a:p>
          <a:p>
            <a:pPr algn="ctr"/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(high energy, disfavored)</a:t>
            </a:r>
            <a:endParaRPr lang="zh-CN" altLang="en-US" sz="1600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E14CA488-20EB-4435-B18A-A5FC39537F74}"/>
              </a:ext>
            </a:extLst>
          </p:cNvPr>
          <p:cNvCxnSpPr/>
          <p:nvPr/>
        </p:nvCxnSpPr>
        <p:spPr>
          <a:xfrm>
            <a:off x="2639615" y="2601961"/>
            <a:ext cx="1152128" cy="1152128"/>
          </a:xfrm>
          <a:prstGeom prst="straightConnector1">
            <a:avLst/>
          </a:prstGeom>
          <a:ln w="5715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15">
            <a:extLst>
              <a:ext uri="{FF2B5EF4-FFF2-40B4-BE49-F238E27FC236}">
                <a16:creationId xmlns:a16="http://schemas.microsoft.com/office/drawing/2014/main" id="{8046575D-A17F-46B5-9826-2C40DFE6F05E}"/>
              </a:ext>
            </a:extLst>
          </p:cNvPr>
          <p:cNvSpPr txBox="1"/>
          <p:nvPr/>
        </p:nvSpPr>
        <p:spPr>
          <a:xfrm>
            <a:off x="2351583" y="1881881"/>
            <a:ext cx="3528392" cy="707886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Comic Sans MS" pitchFamily="66" charset="0"/>
              </a:rPr>
              <a:t>the C-H bonding electrons are close, repulsive.</a:t>
            </a:r>
            <a:endParaRPr lang="zh-CN" altLang="en-US" sz="2000" b="1" dirty="0">
              <a:latin typeface="Comic Sans MS" pitchFamily="66" charset="0"/>
            </a:endParaRPr>
          </a:p>
        </p:txBody>
      </p:sp>
      <p:sp>
        <p:nvSpPr>
          <p:cNvPr id="38" name="TextBox 19">
            <a:extLst>
              <a:ext uri="{FF2B5EF4-FFF2-40B4-BE49-F238E27FC236}">
                <a16:creationId xmlns:a16="http://schemas.microsoft.com/office/drawing/2014/main" id="{1D84854A-1933-42D3-AC4F-A60C424ED87E}"/>
              </a:ext>
            </a:extLst>
          </p:cNvPr>
          <p:cNvSpPr txBox="1"/>
          <p:nvPr/>
        </p:nvSpPr>
        <p:spPr>
          <a:xfrm>
            <a:off x="6168007" y="1881881"/>
            <a:ext cx="4032448" cy="707886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Comic Sans MS" pitchFamily="66" charset="0"/>
              </a:rPr>
              <a:t>the C-H bonding electrons are separated as much as possible.</a:t>
            </a:r>
            <a:endParaRPr lang="zh-CN" altLang="en-US" sz="2000" b="1" dirty="0">
              <a:latin typeface="Comic Sans MS" pitchFamily="66" charset="0"/>
            </a:endParaRP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C8DED90D-1482-4F39-B965-BDB1290D32BD}"/>
              </a:ext>
            </a:extLst>
          </p:cNvPr>
          <p:cNvCxnSpPr/>
          <p:nvPr/>
        </p:nvCxnSpPr>
        <p:spPr>
          <a:xfrm flipH="1">
            <a:off x="7176119" y="2601961"/>
            <a:ext cx="720080" cy="1080120"/>
          </a:xfrm>
          <a:prstGeom prst="straightConnector1">
            <a:avLst/>
          </a:prstGeom>
          <a:ln w="5715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Object 5">
            <a:extLst>
              <a:ext uri="{FF2B5EF4-FFF2-40B4-BE49-F238E27FC236}">
                <a16:creationId xmlns:a16="http://schemas.microsoft.com/office/drawing/2014/main" id="{A0F0AA70-18E8-4015-B474-366FFFAF19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8545489"/>
              </p:ext>
            </p:extLst>
          </p:nvPr>
        </p:nvGraphicFramePr>
        <p:xfrm>
          <a:off x="2927648" y="3250033"/>
          <a:ext cx="5096077" cy="1872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2735041" imgH="1004153" progId="ChemDraw.Document.6.0">
                  <p:embed/>
                </p:oleObj>
              </mc:Choice>
              <mc:Fallback>
                <p:oleObj name="CS ChemDraw Drawing" r:id="rId2" imgW="2735041" imgH="1004153" progId="ChemDraw.Document.6.0">
                  <p:embed/>
                  <p:pic>
                    <p:nvPicPr>
                      <p:cNvPr id="573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648" y="3250033"/>
                        <a:ext cx="5096077" cy="18722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5C0FB60E-4B1E-4988-88C7-BA7661BF320C}"/>
              </a:ext>
            </a:extLst>
          </p:cNvPr>
          <p:cNvCxnSpPr/>
          <p:nvPr/>
        </p:nvCxnSpPr>
        <p:spPr>
          <a:xfrm flipH="1">
            <a:off x="3863751" y="2601961"/>
            <a:ext cx="1872208" cy="1368152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3D67AF73-4AC0-4699-9349-84E54490DA38}"/>
              </a:ext>
            </a:extLst>
          </p:cNvPr>
          <p:cNvCxnSpPr>
            <a:stCxn id="38" idx="2"/>
          </p:cNvCxnSpPr>
          <p:nvPr/>
        </p:nvCxnSpPr>
        <p:spPr>
          <a:xfrm flipH="1">
            <a:off x="7392143" y="2589767"/>
            <a:ext cx="792088" cy="1404154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流程图: 接点 20"/>
          <p:cNvSpPr/>
          <p:nvPr/>
        </p:nvSpPr>
        <p:spPr>
          <a:xfrm>
            <a:off x="8276422" y="3199351"/>
            <a:ext cx="274240" cy="288032"/>
          </a:xfrm>
          <a:prstGeom prst="flowChartConnector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流程图: 接点 3"/>
          <p:cNvSpPr/>
          <p:nvPr/>
        </p:nvSpPr>
        <p:spPr>
          <a:xfrm>
            <a:off x="7736531" y="2362037"/>
            <a:ext cx="274240" cy="288032"/>
          </a:xfrm>
          <a:prstGeom prst="flowChartConnector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爆炸形 1 18"/>
          <p:cNvSpPr/>
          <p:nvPr/>
        </p:nvSpPr>
        <p:spPr>
          <a:xfrm>
            <a:off x="8403192" y="2966984"/>
            <a:ext cx="463347" cy="440051"/>
          </a:xfrm>
          <a:prstGeom prst="irregularSeal1">
            <a:avLst/>
          </a:prstGeom>
          <a:solidFill>
            <a:srgbClr val="FFFF0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爆炸形 1 19"/>
          <p:cNvSpPr/>
          <p:nvPr/>
        </p:nvSpPr>
        <p:spPr>
          <a:xfrm>
            <a:off x="7911465" y="2340296"/>
            <a:ext cx="432048" cy="331514"/>
          </a:xfrm>
          <a:prstGeom prst="irregularSeal1">
            <a:avLst/>
          </a:prstGeom>
          <a:solidFill>
            <a:srgbClr val="FFFF0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爆炸形 1 16"/>
          <p:cNvSpPr/>
          <p:nvPr/>
        </p:nvSpPr>
        <p:spPr>
          <a:xfrm>
            <a:off x="5973778" y="2399244"/>
            <a:ext cx="463347" cy="440051"/>
          </a:xfrm>
          <a:prstGeom prst="irregularSeal1">
            <a:avLst/>
          </a:prstGeom>
          <a:solidFill>
            <a:srgbClr val="FFFF0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爆炸形 1 17"/>
          <p:cNvSpPr/>
          <p:nvPr/>
        </p:nvSpPr>
        <p:spPr>
          <a:xfrm>
            <a:off x="5541730" y="2252931"/>
            <a:ext cx="432048" cy="331514"/>
          </a:xfrm>
          <a:prstGeom prst="irregularSeal1">
            <a:avLst/>
          </a:prstGeom>
          <a:solidFill>
            <a:srgbClr val="FFFF0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爆炸形 1 15"/>
          <p:cNvSpPr/>
          <p:nvPr/>
        </p:nvSpPr>
        <p:spPr>
          <a:xfrm>
            <a:off x="3457335" y="2340296"/>
            <a:ext cx="463347" cy="440051"/>
          </a:xfrm>
          <a:prstGeom prst="irregularSeal1">
            <a:avLst/>
          </a:prstGeom>
          <a:solidFill>
            <a:srgbClr val="FFFF0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爆炸形 1 2"/>
          <p:cNvSpPr/>
          <p:nvPr/>
        </p:nvSpPr>
        <p:spPr>
          <a:xfrm>
            <a:off x="3080700" y="2448834"/>
            <a:ext cx="432048" cy="331514"/>
          </a:xfrm>
          <a:prstGeom prst="irregularSeal1">
            <a:avLst/>
          </a:prstGeom>
          <a:solidFill>
            <a:srgbClr val="FFFF0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16</a:t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104612"/>
              </p:ext>
            </p:extLst>
          </p:nvPr>
        </p:nvGraphicFramePr>
        <p:xfrm>
          <a:off x="846313" y="2100824"/>
          <a:ext cx="10369150" cy="1737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8078">
                  <a:extLst>
                    <a:ext uri="{9D8B030D-6E8A-4147-A177-3AD203B41FA5}">
                      <a16:colId xmlns:a16="http://schemas.microsoft.com/office/drawing/2014/main" val="3056152797"/>
                    </a:ext>
                  </a:extLst>
                </a:gridCol>
                <a:gridCol w="2304400">
                  <a:extLst>
                    <a:ext uri="{9D8B030D-6E8A-4147-A177-3AD203B41FA5}">
                      <a16:colId xmlns:a16="http://schemas.microsoft.com/office/drawing/2014/main" val="2757326514"/>
                    </a:ext>
                  </a:extLst>
                </a:gridCol>
                <a:gridCol w="2304400">
                  <a:extLst>
                    <a:ext uri="{9D8B030D-6E8A-4147-A177-3AD203B41FA5}">
                      <a16:colId xmlns:a16="http://schemas.microsoft.com/office/drawing/2014/main" val="3454074332"/>
                    </a:ext>
                  </a:extLst>
                </a:gridCol>
                <a:gridCol w="2304400">
                  <a:extLst>
                    <a:ext uri="{9D8B030D-6E8A-4147-A177-3AD203B41FA5}">
                      <a16:colId xmlns:a16="http://schemas.microsoft.com/office/drawing/2014/main" val="220030729"/>
                    </a:ext>
                  </a:extLst>
                </a:gridCol>
                <a:gridCol w="2027872">
                  <a:extLst>
                    <a:ext uri="{9D8B030D-6E8A-4147-A177-3AD203B41FA5}">
                      <a16:colId xmlns:a16="http://schemas.microsoft.com/office/drawing/2014/main" val="39612503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Microsoft Sans Serif" pitchFamily="34" charset="0"/>
                          <a:cs typeface="Microsoft Sans Serif" pitchFamily="34" charset="0"/>
                        </a:rPr>
                        <a:t>Butane</a:t>
                      </a:r>
                      <a:endParaRPr lang="zh-CN" altLang="en-US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  <a:p>
                      <a:pPr algn="ctr"/>
                      <a:endParaRPr lang="en-US" altLang="zh-CN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  <a:p>
                      <a:pPr algn="ctr"/>
                      <a:endParaRPr lang="en-US" altLang="zh-CN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  <a:p>
                      <a:pPr algn="ctr"/>
                      <a:endParaRPr lang="en-US" altLang="zh-CN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  <a:p>
                      <a:pPr algn="ctr"/>
                      <a:endParaRPr lang="en-US" altLang="zh-CN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totally eclipsed</a:t>
                      </a:r>
                      <a:endParaRPr lang="zh-CN" altLang="en-US" sz="1800" b="1" dirty="0">
                        <a:solidFill>
                          <a:srgbClr val="FF0000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  <a:p>
                      <a:pPr algn="ctr"/>
                      <a:endParaRPr lang="en-US" altLang="zh-CN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  <a:p>
                      <a:pPr algn="ctr"/>
                      <a:endParaRPr lang="en-US" altLang="zh-CN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  <a:p>
                      <a:pPr algn="ctr"/>
                      <a:endParaRPr lang="en-US" altLang="zh-CN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  <a:p>
                      <a:pPr algn="ctr"/>
                      <a:endParaRPr lang="en-US" altLang="zh-CN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00B050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gauche</a:t>
                      </a:r>
                      <a:endParaRPr lang="zh-CN" altLang="en-US" sz="1800" b="1" dirty="0">
                        <a:solidFill>
                          <a:srgbClr val="00B050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  <a:p>
                      <a:pPr algn="ctr"/>
                      <a:endParaRPr lang="en-US" altLang="zh-CN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  <a:p>
                      <a:pPr algn="ctr"/>
                      <a:endParaRPr lang="en-US" altLang="zh-CN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  <a:p>
                      <a:pPr algn="ctr"/>
                      <a:endParaRPr lang="en-US" altLang="zh-CN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  <a:p>
                      <a:pPr algn="ctr"/>
                      <a:endParaRPr lang="en-US" altLang="zh-CN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FF00FF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eclipsed</a:t>
                      </a:r>
                      <a:endParaRPr lang="zh-CN" altLang="en-US" sz="1800" b="1" dirty="0">
                        <a:solidFill>
                          <a:srgbClr val="FF00FF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  <a:p>
                      <a:pPr algn="ctr"/>
                      <a:endParaRPr lang="en-US" altLang="zh-CN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  <a:p>
                      <a:pPr algn="ctr"/>
                      <a:endParaRPr lang="en-US" altLang="zh-CN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  <a:p>
                      <a:pPr algn="ctr"/>
                      <a:endParaRPr lang="en-US" altLang="zh-CN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  <a:p>
                      <a:pPr algn="ctr"/>
                      <a:endParaRPr lang="en-US" altLang="zh-CN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0000FF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anti</a:t>
                      </a:r>
                      <a:endParaRPr lang="zh-CN" altLang="en-US" sz="1800" b="1" dirty="0">
                        <a:solidFill>
                          <a:srgbClr val="0000FF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30246"/>
                  </a:ext>
                </a:extLst>
              </a:tr>
            </a:tbl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1025607"/>
              </p:ext>
            </p:extLst>
          </p:nvPr>
        </p:nvGraphicFramePr>
        <p:xfrm>
          <a:off x="623392" y="690944"/>
          <a:ext cx="4351062" cy="135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2438400" imgH="760326" progId="ChemDraw.Document.6.0">
                  <p:embed/>
                </p:oleObj>
              </mc:Choice>
              <mc:Fallback>
                <p:oleObj name="CS ChemDraw Drawing" r:id="rId2" imgW="2438400" imgH="760326" progId="ChemDraw.Document.6.0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23392" y="690944"/>
                        <a:ext cx="4351062" cy="135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5086392" y="588654"/>
            <a:ext cx="70789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Butane can be viewed as dimethyl-substituted ethane.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There are three C-C single bonds in butane. Rotations about any of the carbon-carbon bonds are possible.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Consider the conformations produced by rotating along the central C2-C3 bond.</a:t>
            </a:r>
            <a:endParaRPr lang="zh-CN" altLang="en-US" sz="1600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5376793"/>
              </p:ext>
            </p:extLst>
          </p:nvPr>
        </p:nvGraphicFramePr>
        <p:xfrm>
          <a:off x="2934544" y="2100824"/>
          <a:ext cx="1087531" cy="1504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901971" imgH="1247918" progId="ChemDraw.Document.6.0">
                  <p:embed/>
                </p:oleObj>
              </mc:Choice>
              <mc:Fallback>
                <p:oleObj name="CS ChemDraw Drawing" r:id="rId4" imgW="901971" imgH="1247918" progId="ChemDraw.Document.6.0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34544" y="2100824"/>
                        <a:ext cx="1087531" cy="15049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4047395"/>
              </p:ext>
            </p:extLst>
          </p:nvPr>
        </p:nvGraphicFramePr>
        <p:xfrm>
          <a:off x="5166793" y="2309608"/>
          <a:ext cx="1245435" cy="1166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1071239" imgH="1003726" progId="ChemDraw.Document.6.0">
                  <p:embed/>
                </p:oleObj>
              </mc:Choice>
              <mc:Fallback>
                <p:oleObj name="CS ChemDraw Drawing" r:id="rId6" imgW="1071239" imgH="1003726" progId="ChemDraw.Document.6.0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166793" y="2309608"/>
                        <a:ext cx="1245435" cy="11660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3103397"/>
              </p:ext>
            </p:extLst>
          </p:nvPr>
        </p:nvGraphicFramePr>
        <p:xfrm>
          <a:off x="7449075" y="2385296"/>
          <a:ext cx="1381291" cy="1130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1092151" imgH="894315" progId="ChemDraw.Document.6.0">
                  <p:embed/>
                </p:oleObj>
              </mc:Choice>
              <mc:Fallback>
                <p:oleObj name="CS ChemDraw Drawing" r:id="rId8" imgW="1092151" imgH="894315" progId="ChemDraw.Document.6.0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449075" y="2385296"/>
                        <a:ext cx="1381291" cy="11303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7211007"/>
              </p:ext>
            </p:extLst>
          </p:nvPr>
        </p:nvGraphicFramePr>
        <p:xfrm>
          <a:off x="9609315" y="2155148"/>
          <a:ext cx="1376604" cy="1372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1051511" imgH="1048124" progId="ChemDraw.Document.6.0">
                  <p:embed/>
                </p:oleObj>
              </mc:Choice>
              <mc:Fallback>
                <p:oleObj name="CS ChemDraw Drawing" r:id="rId10" imgW="1051511" imgH="1048124" progId="ChemDraw.Document.6.0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609315" y="2155148"/>
                        <a:ext cx="1376604" cy="13724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350258" y="3952274"/>
            <a:ext cx="1124704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totally eclipsed</a:t>
            </a:r>
            <a:r>
              <a:rPr lang="en-US" altLang="zh-CN" sz="16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conformation has both </a:t>
            </a:r>
            <a:r>
              <a:rPr lang="en-US" altLang="zh-CN" sz="1600" b="1" dirty="0">
                <a:highlight>
                  <a:srgbClr val="00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torsional strain</a:t>
            </a:r>
            <a:r>
              <a:rPr lang="en-US" altLang="zh-CN" sz="16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and </a:t>
            </a:r>
            <a:r>
              <a:rPr lang="en-US" altLang="zh-CN" sz="1600" b="1" dirty="0">
                <a:highlight>
                  <a:srgbClr val="00FFFF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steric strain</a:t>
            </a:r>
            <a:r>
              <a:rPr lang="en-US" altLang="zh-CN" sz="16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(steric hindrance): </a:t>
            </a:r>
            <a:r>
              <a:rPr lang="en-US" altLang="zh-CN" sz="1600" b="1" dirty="0">
                <a:solidFill>
                  <a:srgbClr val="0000FF"/>
                </a:solidFill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great interference between two bulky methyl groups</a:t>
            </a:r>
            <a:r>
              <a:rPr lang="en-US" altLang="zh-CN" sz="16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b="1" dirty="0">
              <a:latin typeface="MS Reference Sans Serif" panose="020B060403050404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gauche conformation</a:t>
            </a:r>
            <a:r>
              <a:rPr lang="en-US" altLang="zh-CN" sz="16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does </a:t>
            </a:r>
            <a:r>
              <a:rPr lang="en-US" altLang="zh-CN" sz="1600" b="1" dirty="0">
                <a:highlight>
                  <a:srgbClr val="00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not have torsional strain</a:t>
            </a:r>
            <a:r>
              <a:rPr lang="en-US" altLang="zh-CN" sz="16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but has </a:t>
            </a:r>
            <a:r>
              <a:rPr lang="en-US" altLang="zh-CN" sz="1600" b="1" dirty="0">
                <a:highlight>
                  <a:srgbClr val="00FFFF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some repulsion between the two bulky methyl groups</a:t>
            </a:r>
            <a:r>
              <a:rPr lang="en-US" altLang="zh-CN" sz="16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b="1" dirty="0">
              <a:latin typeface="MS Reference Sans Serif" panose="020B060403050404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eclipsed conformation</a:t>
            </a:r>
            <a:r>
              <a:rPr lang="en-US" altLang="zh-CN" sz="16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has both </a:t>
            </a:r>
            <a:r>
              <a:rPr lang="en-US" altLang="zh-CN" sz="1600" b="1" dirty="0">
                <a:highlight>
                  <a:srgbClr val="00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torsional strain</a:t>
            </a:r>
            <a:r>
              <a:rPr lang="en-US" altLang="zh-CN" sz="16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and </a:t>
            </a:r>
            <a:r>
              <a:rPr lang="en-US" altLang="zh-CN" sz="1600" b="1" dirty="0">
                <a:highlight>
                  <a:srgbClr val="00FFFF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some repulsion between the methyl and H</a:t>
            </a:r>
            <a:r>
              <a:rPr lang="en-US" altLang="zh-CN" sz="16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b="1" dirty="0">
              <a:latin typeface="MS Reference Sans Serif" panose="020B060403050404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anti conformation</a:t>
            </a:r>
            <a:r>
              <a:rPr lang="en-US" altLang="zh-CN" sz="16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has </a:t>
            </a:r>
            <a:r>
              <a:rPr lang="en-US" altLang="zh-CN" sz="1600" b="1" dirty="0">
                <a:highlight>
                  <a:srgbClr val="00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neither torsional strain</a:t>
            </a:r>
            <a:r>
              <a:rPr lang="en-US" altLang="zh-CN" sz="16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altLang="zh-CN" sz="1600" b="1" dirty="0">
                <a:highlight>
                  <a:srgbClr val="00FFFF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nor steric hindrance</a:t>
            </a:r>
            <a:r>
              <a:rPr lang="en-US" altLang="zh-CN" sz="16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b="1" dirty="0">
              <a:latin typeface="MS Reference Sans Serif" panose="020B060403050404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Relative stability: anti &gt; gauche &gt; eclipsed &gt; totally eclipsed.</a:t>
            </a:r>
            <a:endParaRPr lang="zh-CN" altLang="en-US" sz="1600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2" name="TextBox 2">
            <a:extLst>
              <a:ext uri="{FF2B5EF4-FFF2-40B4-BE49-F238E27FC236}">
                <a16:creationId xmlns:a16="http://schemas.microsoft.com/office/drawing/2014/main" id="{B1613E17-87FC-48DB-A6BC-E5A64A73B329}"/>
              </a:ext>
            </a:extLst>
          </p:cNvPr>
          <p:cNvSpPr txBox="1"/>
          <p:nvPr/>
        </p:nvSpPr>
        <p:spPr>
          <a:xfrm>
            <a:off x="-35523" y="163811"/>
            <a:ext cx="5121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4-4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 </a:t>
            </a:r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Conformational analysis of butane</a:t>
            </a:r>
            <a:endParaRPr lang="zh-CN" altLang="en-US" sz="2000" b="1" dirty="0">
              <a:highlight>
                <a:srgbClr val="C0C0C0"/>
              </a:highlight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624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17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99176"/>
            <a:ext cx="49552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4-5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 </a:t>
            </a:r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Conformations of Higher Alkanes</a:t>
            </a:r>
            <a:endParaRPr lang="zh-CN" altLang="en-US" sz="2000" b="1" dirty="0">
              <a:highlight>
                <a:srgbClr val="C0C0C0"/>
              </a:highlight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0039" y="730300"/>
            <a:ext cx="93076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higher alkanes resemble butane in their preference for anti (and gauche conformations) about the C-C bonds.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lowest-energy conformation for any straight-chain alkane is the one with all the internal C-C bonds in its anti conformations.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These anti conformations give the chain a zigzag shape.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4393915"/>
            <a:ext cx="4176464" cy="226566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394727" y="4462823"/>
            <a:ext cx="2921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octane, all anti conformation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871" y="4393915"/>
            <a:ext cx="4699153" cy="226566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898568" y="4478677"/>
            <a:ext cx="2921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octane, all anti conformation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023200" y="6176883"/>
            <a:ext cx="6451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ball-stick model                                                            wire frame model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9856" y="840234"/>
            <a:ext cx="1619637" cy="582912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9999327" y="6165322"/>
            <a:ext cx="814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all anti</a:t>
            </a:r>
            <a:endParaRPr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77354E57-ECEB-4DDE-B8C4-0685610D3B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2876631"/>
              </p:ext>
            </p:extLst>
          </p:nvPr>
        </p:nvGraphicFramePr>
        <p:xfrm>
          <a:off x="4349676" y="2761625"/>
          <a:ext cx="1150177" cy="1603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5" imgW="901907" imgH="1256682" progId="ChemDraw.Document.6.0">
                  <p:embed/>
                </p:oleObj>
              </mc:Choice>
              <mc:Fallback>
                <p:oleObj name="CS ChemDraw Drawing" r:id="rId5" imgW="901907" imgH="1256682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49676" y="2761625"/>
                        <a:ext cx="1150177" cy="16037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16597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0552AF1-C800-4BD4-834C-598F4741B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18</a:t>
            </a:fld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7913E4-91B2-4E7E-AFFB-4C9D1AD4D4EE}"/>
              </a:ext>
            </a:extLst>
          </p:cNvPr>
          <p:cNvSpPr txBox="1"/>
          <p:nvPr/>
        </p:nvSpPr>
        <p:spPr>
          <a:xfrm>
            <a:off x="0" y="150700"/>
            <a:ext cx="6321987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MS Reference Sans Serif" panose="020B0604030504040204" pitchFamily="34" charset="0"/>
                <a:cs typeface="Microsoft Sans Serif" pitchFamily="34" charset="0"/>
              </a:rPr>
              <a:t>5. Intermolecular attractions of alkanes</a:t>
            </a:r>
            <a:endParaRPr lang="zh-CN" altLang="en-US" sz="2400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5E621C-84D5-4BD1-ACDF-E61E5BF7B693}"/>
              </a:ext>
            </a:extLst>
          </p:cNvPr>
          <p:cNvSpPr txBox="1"/>
          <p:nvPr/>
        </p:nvSpPr>
        <p:spPr>
          <a:xfrm>
            <a:off x="191344" y="1089878"/>
            <a:ext cx="115932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The polarity of an entire molecule</a:t>
            </a:r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</a:rPr>
              <a:t> is the result of </a:t>
            </a:r>
            <a:r>
              <a:rPr lang="en-US" altLang="zh-CN" sz="1600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the polarity of bonds </a:t>
            </a:r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</a:rPr>
              <a:t>associated with </a:t>
            </a:r>
            <a:r>
              <a:rPr lang="en-US" altLang="zh-CN" sz="1600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molecular geometry</a:t>
            </a:r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</a:rPr>
              <a:t>The C</a:t>
            </a:r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  <a:sym typeface="Symbol" panose="05050102010706020507" pitchFamily="18" charset="2"/>
              </a:rPr>
              <a:t>C bonds and CH bonds in alkanes are nonpolar bonds. </a:t>
            </a:r>
            <a:r>
              <a:rPr lang="en-US" altLang="zh-CN" sz="1600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  <a:sym typeface="Symbol" panose="05050102010706020507" pitchFamily="18" charset="2"/>
              </a:rPr>
              <a:t>The alkane molecules</a:t>
            </a:r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  <a:sym typeface="Symbol" panose="05050102010706020507" pitchFamily="18" charset="2"/>
              </a:rPr>
              <a:t> as a whole are </a:t>
            </a:r>
            <a:r>
              <a:rPr lang="en-US" altLang="zh-CN" sz="1600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  <a:sym typeface="Symbol" panose="05050102010706020507" pitchFamily="18" charset="2"/>
              </a:rPr>
              <a:t>nonpolar molecules</a:t>
            </a:r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285BF18-251F-4D0D-9ED2-3B4433F1FBE5}"/>
              </a:ext>
            </a:extLst>
          </p:cNvPr>
          <p:cNvSpPr txBox="1"/>
          <p:nvPr/>
        </p:nvSpPr>
        <p:spPr>
          <a:xfrm>
            <a:off x="-96688" y="704843"/>
            <a:ext cx="53918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5-1</a:t>
            </a:r>
            <a:r>
              <a:rPr lang="en-US" altLang="zh-CN" sz="20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Bond Polarity and Molecular Polarity</a:t>
            </a:r>
            <a:endParaRPr lang="zh-CN" altLang="en-US" sz="2000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1DDF0BA-1728-4418-BDCD-48D17D19C0CE}"/>
              </a:ext>
            </a:extLst>
          </p:cNvPr>
          <p:cNvSpPr txBox="1"/>
          <p:nvPr/>
        </p:nvSpPr>
        <p:spPr>
          <a:xfrm>
            <a:off x="191344" y="2355911"/>
            <a:ext cx="112922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  <a:sym typeface="Symbol" panose="05050102010706020507" pitchFamily="18" charset="2"/>
              </a:rPr>
              <a:t>When two molecules approach, the forces are attractive until the molecules come so close that they infringe on each other’s atomic radius.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  <a:sym typeface="Symbol" panose="05050102010706020507" pitchFamily="18" charset="2"/>
              </a:rPr>
              <a:t>The nature of the attractions between molecules affects the physical properties </a:t>
            </a:r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  <a:sym typeface="Symbol" panose="05050102010706020507" pitchFamily="18" charset="2"/>
              </a:rPr>
              <a:t>(boiling points, melting points, densities, solubilities etc.) of organic compounds.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  <a:sym typeface="Symbol" panose="05050102010706020507" pitchFamily="18" charset="2"/>
              </a:rPr>
              <a:t>In nonpolar molecules, the principal attractive force is the London dispersion force</a:t>
            </a:r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EAE53A6-73F6-44D6-8C78-AC68182FC069}"/>
              </a:ext>
            </a:extLst>
          </p:cNvPr>
          <p:cNvSpPr txBox="1"/>
          <p:nvPr/>
        </p:nvSpPr>
        <p:spPr>
          <a:xfrm>
            <a:off x="-96688" y="1972217"/>
            <a:ext cx="7055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5-2</a:t>
            </a:r>
            <a:r>
              <a:rPr lang="en-US" altLang="zh-CN" sz="20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 Nonpolar molecules and London dispersion force</a:t>
            </a:r>
            <a:endParaRPr lang="zh-CN" altLang="en-US" sz="2000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83035F02-21C5-4D29-BCF6-DCBCBB8BAE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0427198"/>
              </p:ext>
            </p:extLst>
          </p:nvPr>
        </p:nvGraphicFramePr>
        <p:xfrm>
          <a:off x="2423592" y="3729352"/>
          <a:ext cx="6048672" cy="1572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652688" imgH="1209862" progId="ChemDraw.Document.6.0">
                  <p:embed/>
                </p:oleObj>
              </mc:Choice>
              <mc:Fallback>
                <p:oleObj name="CS ChemDraw Drawing" r:id="rId2" imgW="4652688" imgH="1209862" progId="ChemDraw.Document.6.0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4EE6A48F-EA54-419A-9DC0-EEDBE66734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23592" y="3729352"/>
                        <a:ext cx="6048672" cy="15725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BB70387C-0DCC-4728-9476-057835F69CB1}"/>
              </a:ext>
            </a:extLst>
          </p:cNvPr>
          <p:cNvSpPr txBox="1"/>
          <p:nvPr/>
        </p:nvSpPr>
        <p:spPr>
          <a:xfrm>
            <a:off x="191344" y="5398037"/>
            <a:ext cx="1173730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</a:rPr>
              <a:t>The London dispersion force arises from temporary dipole moments.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</a:rPr>
              <a:t>A small temporary dipole moment is induced when one molecule approaches another molecule in which the electrons are slightly displaced from a symmetrical arrangement.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The London dispersion force depends on</a:t>
            </a:r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</a:rPr>
              <a:t> </a:t>
            </a:r>
            <a:r>
              <a:rPr lang="en-US" altLang="zh-CN" sz="1600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close surface contact of two molecules </a:t>
            </a:r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</a:rPr>
              <a:t>and therefore </a:t>
            </a:r>
            <a:r>
              <a:rPr lang="en-US" altLang="zh-CN" sz="1600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is roughly proportional to the molecular surface.</a:t>
            </a:r>
          </a:p>
        </p:txBody>
      </p:sp>
    </p:spTree>
    <p:extLst>
      <p:ext uri="{BB962C8B-B14F-4D97-AF65-F5344CB8AC3E}">
        <p14:creationId xmlns:p14="http://schemas.microsoft.com/office/powerpoint/2010/main" val="35062712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19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70816"/>
            <a:ext cx="5223097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MS Reference Sans Serif" panose="020B0604030504040204" pitchFamily="34" charset="0"/>
                <a:cs typeface="Microsoft Sans Serif" pitchFamily="34" charset="0"/>
              </a:rPr>
              <a:t>6. Physical Properties of Alkanes</a:t>
            </a:r>
            <a:endParaRPr lang="zh-CN" altLang="en-US" sz="2400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368750"/>
              </p:ext>
            </p:extLst>
          </p:nvPr>
        </p:nvGraphicFramePr>
        <p:xfrm>
          <a:off x="515380" y="2377440"/>
          <a:ext cx="10729192" cy="2103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99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None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Solubilities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 Alkanes are nonpolar organic</a:t>
                      </a:r>
                      <a:r>
                        <a:rPr lang="en-US" altLang="zh-CN" sz="2000" b="1" baseline="0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 compounds: 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Microsoft Sans Serif" pitchFamily="34" charset="0"/>
                          <a:cs typeface="Microsoft Sans Serif" pitchFamily="34" charset="0"/>
                        </a:rPr>
                        <a:t>Dissolve in nonpolar or weakly polar</a:t>
                      </a:r>
                      <a:r>
                        <a:rPr lang="en-US" altLang="zh-CN" sz="2000" b="1" baseline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Microsoft Sans Serif" pitchFamily="34" charset="0"/>
                          <a:cs typeface="Microsoft Sans Serif" pitchFamily="34" charset="0"/>
                        </a:rPr>
                        <a:t> organic solvents, but do not dissolve in wat</a:t>
                      </a:r>
                      <a:r>
                        <a:rPr lang="en-US" altLang="zh-CN" sz="2000" b="1" baseline="0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er. – </a:t>
                      </a:r>
                      <a:r>
                        <a:rPr lang="en-US" altLang="zh-CN" sz="2000" b="1" i="0" baseline="0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“</a:t>
                      </a:r>
                      <a:r>
                        <a:rPr lang="en-US" altLang="zh-CN" sz="2000" b="1" i="0" baseline="0" dirty="0">
                          <a:solidFill>
                            <a:srgbClr val="FF0000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like dissolves like</a:t>
                      </a:r>
                      <a:r>
                        <a:rPr lang="en-US" altLang="zh-CN" sz="2000" b="1" i="0" baseline="0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”</a:t>
                      </a:r>
                      <a:r>
                        <a:rPr lang="en-US" altLang="zh-CN" sz="2000" b="1" baseline="0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. 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altLang="zh-CN" sz="2000" b="1" baseline="0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 Alkanes are said to be </a:t>
                      </a:r>
                      <a:r>
                        <a:rPr lang="en-US" altLang="zh-CN" sz="2000" b="1" i="0" baseline="0" dirty="0"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Microsoft Sans Serif" pitchFamily="34" charset="0"/>
                          <a:cs typeface="Microsoft Sans Serif" pitchFamily="34" charset="0"/>
                        </a:rPr>
                        <a:t>hydrophobic</a:t>
                      </a:r>
                      <a:r>
                        <a:rPr lang="en-US" altLang="zh-CN" sz="2000" b="1" i="0" baseline="0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 (water hating)</a:t>
                      </a:r>
                      <a:r>
                        <a:rPr lang="en-US" altLang="zh-CN" sz="2000" b="1" baseline="0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.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None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Densities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 Around 0.7 g/mL, 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Microsoft Sans Serif" pitchFamily="34" charset="0"/>
                          <a:cs typeface="Microsoft Sans Serif" pitchFamily="34" charset="0"/>
                        </a:rPr>
                        <a:t>less dense than water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.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None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Boiling Points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effectLst/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B.p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. increase smoothly with increasing numbers</a:t>
                      </a:r>
                      <a:r>
                        <a:rPr lang="en-US" altLang="zh-CN" sz="2000" b="1" baseline="0" dirty="0">
                          <a:solidFill>
                            <a:schemeClr val="tx1"/>
                          </a:solidFill>
                          <a:effectLst/>
                          <a:latin typeface="Microsoft Sans Serif" pitchFamily="34" charset="0"/>
                          <a:cs typeface="Microsoft Sans Serif" pitchFamily="34" charset="0"/>
                        </a:rPr>
                        <a:t> of carbon atoms and increasing molecular weights.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22032E4C-35EB-478C-BECD-85B504902ADA}"/>
              </a:ext>
            </a:extLst>
          </p:cNvPr>
          <p:cNvSpPr txBox="1"/>
          <p:nvPr/>
        </p:nvSpPr>
        <p:spPr>
          <a:xfrm>
            <a:off x="47328" y="1101759"/>
            <a:ext cx="116652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  <a:sym typeface="Symbol" panose="05050102010706020507" pitchFamily="18" charset="2"/>
              </a:rPr>
              <a:t>The nature of the attractions between molecules affects the physical properties 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  <a:sym typeface="Symbol" panose="05050102010706020507" pitchFamily="18" charset="2"/>
              </a:rPr>
              <a:t>(boiling points, melting points, densities, solubilities etc.) of organic compounds.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40">
            <a:extLst>
              <a:ext uri="{FF2B5EF4-FFF2-40B4-BE49-F238E27FC236}">
                <a16:creationId xmlns:a16="http://schemas.microsoft.com/office/drawing/2014/main" id="{6769D92E-21D5-4BB2-97E7-E144D2748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59" y="4668398"/>
            <a:ext cx="1368152" cy="629273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20</a:t>
            </a:fld>
            <a:endParaRPr lang="zh-CN" altLang="en-US"/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9A0EA03C-66AB-4073-AB8D-D0894842CA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612818"/>
              </p:ext>
            </p:extLst>
          </p:nvPr>
        </p:nvGraphicFramePr>
        <p:xfrm>
          <a:off x="407368" y="657108"/>
          <a:ext cx="4392487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1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24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Microsoft Sans Serif" pitchFamily="34" charset="0"/>
                          <a:cs typeface="Microsoft Sans Serif" pitchFamily="34" charset="0"/>
                        </a:rPr>
                        <a:t>Alkane</a:t>
                      </a:r>
                      <a:endParaRPr lang="zh-CN" altLang="en-US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Microsoft Sans Serif" pitchFamily="34" charset="0"/>
                          <a:cs typeface="Microsoft Sans Serif" pitchFamily="34" charset="0"/>
                        </a:rPr>
                        <a:t>Formula</a:t>
                      </a:r>
                      <a:endParaRPr lang="zh-CN" altLang="en-US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Microsoft Sans Serif" pitchFamily="34" charset="0"/>
                          <a:cs typeface="Microsoft Sans Serif" pitchFamily="34" charset="0"/>
                        </a:rPr>
                        <a:t>B.p./</a:t>
                      </a:r>
                      <a:r>
                        <a:rPr lang="en-US" altLang="zh-CN" sz="1800" b="1" dirty="0"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C</a:t>
                      </a:r>
                      <a:endParaRPr lang="zh-CN" altLang="en-US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Microsoft Sans Serif" pitchFamily="34" charset="0"/>
                          <a:cs typeface="Microsoft Sans Serif" pitchFamily="34" charset="0"/>
                        </a:rPr>
                        <a:t>butane</a:t>
                      </a:r>
                      <a:endParaRPr lang="zh-CN" altLang="en-US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Microsoft Sans Serif" pitchFamily="34" charset="0"/>
                          <a:cs typeface="Microsoft Sans Serif" pitchFamily="34" charset="0"/>
                        </a:rPr>
                        <a:t>C</a:t>
                      </a:r>
                      <a:r>
                        <a:rPr lang="en-US" altLang="zh-CN" sz="1800" b="1" baseline="-25000" dirty="0">
                          <a:latin typeface="Microsoft Sans Serif" pitchFamily="34" charset="0"/>
                          <a:cs typeface="Microsoft Sans Serif" pitchFamily="34" charset="0"/>
                        </a:rPr>
                        <a:t>4</a:t>
                      </a:r>
                      <a:r>
                        <a:rPr lang="en-US" altLang="zh-CN" sz="1800" b="1" dirty="0">
                          <a:latin typeface="Microsoft Sans Serif" pitchFamily="34" charset="0"/>
                          <a:cs typeface="Microsoft Sans Serif" pitchFamily="34" charset="0"/>
                        </a:rPr>
                        <a:t>H</a:t>
                      </a:r>
                      <a:r>
                        <a:rPr lang="en-US" altLang="zh-CN" sz="1800" b="1" baseline="-25000" dirty="0">
                          <a:latin typeface="Microsoft Sans Serif" pitchFamily="34" charset="0"/>
                          <a:cs typeface="Microsoft Sans Serif" pitchFamily="34" charset="0"/>
                        </a:rPr>
                        <a:t>10</a:t>
                      </a:r>
                      <a:endParaRPr lang="zh-CN" altLang="en-US" sz="1800" b="1" baseline="-25000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Microsoft Sans Serif" pitchFamily="34" charset="0"/>
                          <a:cs typeface="Microsoft Sans Serif" pitchFamily="34" charset="0"/>
                        </a:rPr>
                        <a:t>0</a:t>
                      </a:r>
                      <a:endParaRPr lang="zh-CN" altLang="en-US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Microsoft Sans Serif" pitchFamily="34" charset="0"/>
                          <a:cs typeface="Microsoft Sans Serif" pitchFamily="34" charset="0"/>
                        </a:rPr>
                        <a:t>pentane</a:t>
                      </a:r>
                      <a:endParaRPr lang="zh-CN" altLang="en-US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Microsoft Sans Serif" pitchFamily="34" charset="0"/>
                          <a:cs typeface="Microsoft Sans Serif" pitchFamily="34" charset="0"/>
                        </a:rPr>
                        <a:t>C</a:t>
                      </a:r>
                      <a:r>
                        <a:rPr lang="en-US" altLang="zh-CN" sz="1800" b="1" baseline="-25000" dirty="0">
                          <a:latin typeface="Microsoft Sans Serif" pitchFamily="34" charset="0"/>
                          <a:cs typeface="Microsoft Sans Serif" pitchFamily="34" charset="0"/>
                        </a:rPr>
                        <a:t>5</a:t>
                      </a:r>
                      <a:r>
                        <a:rPr lang="en-US" altLang="zh-CN" sz="1800" b="1" dirty="0">
                          <a:latin typeface="Microsoft Sans Serif" pitchFamily="34" charset="0"/>
                          <a:cs typeface="Microsoft Sans Serif" pitchFamily="34" charset="0"/>
                        </a:rPr>
                        <a:t>H</a:t>
                      </a:r>
                      <a:r>
                        <a:rPr lang="en-US" altLang="zh-CN" sz="1800" b="1" baseline="-25000" dirty="0">
                          <a:latin typeface="Microsoft Sans Serif" pitchFamily="34" charset="0"/>
                          <a:cs typeface="Microsoft Sans Serif" pitchFamily="34" charset="0"/>
                        </a:rPr>
                        <a:t>12</a:t>
                      </a:r>
                      <a:endParaRPr lang="zh-CN" altLang="en-US" sz="1800" b="1" baseline="-25000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Microsoft Sans Serif" pitchFamily="34" charset="0"/>
                          <a:cs typeface="Microsoft Sans Serif" pitchFamily="34" charset="0"/>
                        </a:rPr>
                        <a:t>36</a:t>
                      </a:r>
                      <a:endParaRPr lang="zh-CN" altLang="en-US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Microsoft Sans Serif" pitchFamily="34" charset="0"/>
                          <a:cs typeface="Microsoft Sans Serif" pitchFamily="34" charset="0"/>
                        </a:rPr>
                        <a:t>hexane</a:t>
                      </a:r>
                      <a:endParaRPr lang="zh-CN" altLang="en-US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Microsoft Sans Serif" pitchFamily="34" charset="0"/>
                          <a:cs typeface="Microsoft Sans Serif" pitchFamily="34" charset="0"/>
                        </a:rPr>
                        <a:t>C</a:t>
                      </a:r>
                      <a:r>
                        <a:rPr lang="en-US" altLang="zh-CN" sz="1800" b="1" baseline="-25000" dirty="0">
                          <a:latin typeface="Microsoft Sans Serif" pitchFamily="34" charset="0"/>
                          <a:cs typeface="Microsoft Sans Serif" pitchFamily="34" charset="0"/>
                        </a:rPr>
                        <a:t>6</a:t>
                      </a:r>
                      <a:r>
                        <a:rPr lang="en-US" altLang="zh-CN" sz="1800" b="1" dirty="0">
                          <a:latin typeface="Microsoft Sans Serif" pitchFamily="34" charset="0"/>
                          <a:cs typeface="Microsoft Sans Serif" pitchFamily="34" charset="0"/>
                        </a:rPr>
                        <a:t>H</a:t>
                      </a:r>
                      <a:r>
                        <a:rPr lang="en-US" altLang="zh-CN" sz="1800" b="1" baseline="-25000" dirty="0">
                          <a:latin typeface="Microsoft Sans Serif" pitchFamily="34" charset="0"/>
                          <a:cs typeface="Microsoft Sans Serif" pitchFamily="34" charset="0"/>
                        </a:rPr>
                        <a:t>14</a:t>
                      </a:r>
                      <a:endParaRPr lang="zh-CN" altLang="en-US" sz="1800" b="1" baseline="-25000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Microsoft Sans Serif" pitchFamily="34" charset="0"/>
                          <a:cs typeface="Microsoft Sans Serif" pitchFamily="34" charset="0"/>
                        </a:rPr>
                        <a:t>69</a:t>
                      </a:r>
                      <a:endParaRPr lang="zh-CN" altLang="en-US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err="1">
                          <a:latin typeface="Microsoft Sans Serif" pitchFamily="34" charset="0"/>
                          <a:cs typeface="Microsoft Sans Serif" pitchFamily="34" charset="0"/>
                        </a:rPr>
                        <a:t>heptane</a:t>
                      </a:r>
                      <a:endParaRPr lang="zh-CN" altLang="en-US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Microsoft Sans Serif" pitchFamily="34" charset="0"/>
                          <a:cs typeface="Microsoft Sans Serif" pitchFamily="34" charset="0"/>
                        </a:rPr>
                        <a:t>C</a:t>
                      </a:r>
                      <a:r>
                        <a:rPr lang="en-US" altLang="zh-CN" sz="1800" b="1" baseline="-25000" dirty="0">
                          <a:latin typeface="Microsoft Sans Serif" pitchFamily="34" charset="0"/>
                          <a:cs typeface="Microsoft Sans Serif" pitchFamily="34" charset="0"/>
                        </a:rPr>
                        <a:t>7</a:t>
                      </a:r>
                      <a:r>
                        <a:rPr lang="en-US" altLang="zh-CN" sz="1800" b="1" dirty="0">
                          <a:latin typeface="Microsoft Sans Serif" pitchFamily="34" charset="0"/>
                          <a:cs typeface="Microsoft Sans Serif" pitchFamily="34" charset="0"/>
                        </a:rPr>
                        <a:t>H</a:t>
                      </a:r>
                      <a:r>
                        <a:rPr lang="en-US" altLang="zh-CN" sz="1800" b="1" baseline="-25000" dirty="0">
                          <a:latin typeface="Microsoft Sans Serif" pitchFamily="34" charset="0"/>
                          <a:cs typeface="Microsoft Sans Serif" pitchFamily="34" charset="0"/>
                        </a:rPr>
                        <a:t>16</a:t>
                      </a:r>
                      <a:endParaRPr lang="zh-CN" altLang="en-US" sz="1800" b="1" baseline="-25000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Microsoft Sans Serif" pitchFamily="34" charset="0"/>
                          <a:cs typeface="Microsoft Sans Serif" pitchFamily="34" charset="0"/>
                        </a:rPr>
                        <a:t>98</a:t>
                      </a:r>
                      <a:endParaRPr lang="zh-CN" altLang="en-US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TextBox 5">
            <a:extLst>
              <a:ext uri="{FF2B5EF4-FFF2-40B4-BE49-F238E27FC236}">
                <a16:creationId xmlns:a16="http://schemas.microsoft.com/office/drawing/2014/main" id="{5FE9C75E-BB04-4397-9273-6AB4A5E4682D}"/>
              </a:ext>
            </a:extLst>
          </p:cNvPr>
          <p:cNvSpPr txBox="1"/>
          <p:nvPr/>
        </p:nvSpPr>
        <p:spPr>
          <a:xfrm>
            <a:off x="5113619" y="300707"/>
            <a:ext cx="655272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Larger molecules have larger surface areas, resulting in increased London dispersion.</a:t>
            </a:r>
          </a:p>
          <a:p>
            <a:pPr>
              <a:buFont typeface="Arial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These increased attractions must be overcome for vaporization and boiling to occur.</a:t>
            </a:r>
          </a:p>
          <a:p>
            <a:pPr>
              <a:buFont typeface="Arial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Thus,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a larger alkane, with greater surface area and greater London dispersion forces, boils at a higher temperature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  <a:endParaRPr lang="zh-CN" altLang="en-US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8B4BA804-5CE5-4D33-BD14-3342BD06C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006256"/>
              </p:ext>
            </p:extLst>
          </p:nvPr>
        </p:nvGraphicFramePr>
        <p:xfrm>
          <a:off x="613852" y="5845436"/>
          <a:ext cx="4896544" cy="7738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5664">
                  <a:extLst>
                    <a:ext uri="{9D8B030D-6E8A-4147-A177-3AD203B41FA5}">
                      <a16:colId xmlns:a16="http://schemas.microsoft.com/office/drawing/2014/main" val="3629041643"/>
                    </a:ext>
                  </a:extLst>
                </a:gridCol>
                <a:gridCol w="1242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9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</a:rPr>
                        <a:t>Alkane</a:t>
                      </a:r>
                      <a:endParaRPr lang="zh-CN" altLang="en-US" sz="16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>
                          <a:latin typeface="Microsoft Sans Serif" pitchFamily="34" charset="0"/>
                          <a:cs typeface="Microsoft Sans Serif" pitchFamily="34" charset="0"/>
                        </a:rPr>
                        <a:t>n</a:t>
                      </a:r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</a:rPr>
                        <a:t>-pentane</a:t>
                      </a:r>
                      <a:endParaRPr lang="zh-CN" altLang="en-US" sz="16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err="1">
                          <a:latin typeface="Microsoft Sans Serif" pitchFamily="34" charset="0"/>
                          <a:cs typeface="Microsoft Sans Serif" pitchFamily="34" charset="0"/>
                        </a:rPr>
                        <a:t>isopentane</a:t>
                      </a:r>
                      <a:endParaRPr lang="zh-CN" altLang="en-US" sz="16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err="1">
                          <a:latin typeface="Microsoft Sans Serif" pitchFamily="34" charset="0"/>
                          <a:cs typeface="Microsoft Sans Serif" pitchFamily="34" charset="0"/>
                        </a:rPr>
                        <a:t>neopentane</a:t>
                      </a:r>
                      <a:endParaRPr lang="zh-CN" altLang="en-US" sz="16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5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</a:rPr>
                        <a:t>B.p./</a:t>
                      </a:r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  <a:sym typeface="Symbol"/>
                        </a:rPr>
                        <a:t>C</a:t>
                      </a:r>
                      <a:endParaRPr lang="zh-CN" altLang="en-US" sz="16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</a:rPr>
                        <a:t>36</a:t>
                      </a:r>
                      <a:endParaRPr lang="zh-CN" altLang="en-US" sz="16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</a:rPr>
                        <a:t>28</a:t>
                      </a:r>
                      <a:endParaRPr lang="zh-CN" altLang="en-US" sz="16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Microsoft Sans Serif" pitchFamily="34" charset="0"/>
                          <a:cs typeface="Microsoft Sans Serif" pitchFamily="34" charset="0"/>
                        </a:rPr>
                        <a:t>10</a:t>
                      </a:r>
                      <a:endParaRPr lang="zh-CN" altLang="en-US" sz="16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5" name="图片 34">
            <a:extLst>
              <a:ext uri="{FF2B5EF4-FFF2-40B4-BE49-F238E27FC236}">
                <a16:creationId xmlns:a16="http://schemas.microsoft.com/office/drawing/2014/main" id="{35438C87-54AA-49CA-BA66-63C6F179A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7" y="4032343"/>
            <a:ext cx="1368152" cy="629273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BA12DB17-E3BC-4C63-A0F9-608CB7FCF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3446" y="3958904"/>
            <a:ext cx="1189223" cy="918865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2EB7718F-227C-4872-835B-AACBBF10DA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5473" y="3936285"/>
            <a:ext cx="936104" cy="783047"/>
          </a:xfrm>
          <a:prstGeom prst="rect">
            <a:avLst/>
          </a:prstGeom>
        </p:spPr>
      </p:pic>
      <p:sp>
        <p:nvSpPr>
          <p:cNvPr id="38" name="椭圆 37">
            <a:extLst>
              <a:ext uri="{FF2B5EF4-FFF2-40B4-BE49-F238E27FC236}">
                <a16:creationId xmlns:a16="http://schemas.microsoft.com/office/drawing/2014/main" id="{21153DFE-A018-40C4-8C6B-2C6E790CC57C}"/>
              </a:ext>
            </a:extLst>
          </p:cNvPr>
          <p:cNvSpPr/>
          <p:nvPr/>
        </p:nvSpPr>
        <p:spPr>
          <a:xfrm>
            <a:off x="5087888" y="3936877"/>
            <a:ext cx="783047" cy="783047"/>
          </a:xfrm>
          <a:prstGeom prst="ellipse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18870422-C937-4641-88DC-214A67BBE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6246" y="4838238"/>
            <a:ext cx="1189223" cy="918865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FDC2CCFF-8D2F-4A2A-956F-B79C2AA0ED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5473" y="4800755"/>
            <a:ext cx="936104" cy="783047"/>
          </a:xfrm>
          <a:prstGeom prst="rect">
            <a:avLst/>
          </a:prstGeom>
        </p:spPr>
      </p:pic>
      <p:sp>
        <p:nvSpPr>
          <p:cNvPr id="44" name="椭圆 43">
            <a:extLst>
              <a:ext uri="{FF2B5EF4-FFF2-40B4-BE49-F238E27FC236}">
                <a16:creationId xmlns:a16="http://schemas.microsoft.com/office/drawing/2014/main" id="{C4F1C2A7-2878-4111-95DE-F0A563529F7C}"/>
              </a:ext>
            </a:extLst>
          </p:cNvPr>
          <p:cNvSpPr/>
          <p:nvPr/>
        </p:nvSpPr>
        <p:spPr>
          <a:xfrm>
            <a:off x="5118873" y="4808492"/>
            <a:ext cx="783047" cy="783047"/>
          </a:xfrm>
          <a:prstGeom prst="ellipse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7F094579-5752-4027-A6F7-F22B190BA670}"/>
              </a:ext>
            </a:extLst>
          </p:cNvPr>
          <p:cNvSpPr/>
          <p:nvPr/>
        </p:nvSpPr>
        <p:spPr>
          <a:xfrm>
            <a:off x="2770584" y="3996554"/>
            <a:ext cx="1289670" cy="783047"/>
          </a:xfrm>
          <a:prstGeom prst="ellipse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877B5D66-EB95-44D9-B130-AF3C646A5A3B}"/>
              </a:ext>
            </a:extLst>
          </p:cNvPr>
          <p:cNvSpPr/>
          <p:nvPr/>
        </p:nvSpPr>
        <p:spPr>
          <a:xfrm>
            <a:off x="2868727" y="4863324"/>
            <a:ext cx="1289670" cy="783047"/>
          </a:xfrm>
          <a:prstGeom prst="ellipse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63FF37E0-645B-45CC-A5E8-B5C288AF322E}"/>
              </a:ext>
            </a:extLst>
          </p:cNvPr>
          <p:cNvSpPr/>
          <p:nvPr/>
        </p:nvSpPr>
        <p:spPr>
          <a:xfrm>
            <a:off x="571057" y="3958926"/>
            <a:ext cx="1810755" cy="668453"/>
          </a:xfrm>
          <a:prstGeom prst="ellipse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77EAAECE-BCE6-4A3D-BB55-3F9058B0373E}"/>
              </a:ext>
            </a:extLst>
          </p:cNvPr>
          <p:cNvSpPr/>
          <p:nvPr/>
        </p:nvSpPr>
        <p:spPr>
          <a:xfrm>
            <a:off x="526950" y="4670237"/>
            <a:ext cx="1810755" cy="668453"/>
          </a:xfrm>
          <a:prstGeom prst="ellipse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431B81AD-1D07-4629-B5BF-EB445C5E55E7}"/>
              </a:ext>
            </a:extLst>
          </p:cNvPr>
          <p:cNvSpPr txBox="1"/>
          <p:nvPr/>
        </p:nvSpPr>
        <p:spPr>
          <a:xfrm>
            <a:off x="6210425" y="3830329"/>
            <a:ext cx="586223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zh-CN" b="1" baseline="0" dirty="0">
                <a:effectLst/>
                <a:latin typeface="MS Reference Sans Serif" panose="020B0604030504040204" pitchFamily="34" charset="0"/>
                <a:cs typeface="Microsoft Sans Serif" pitchFamily="34" charset="0"/>
              </a:rPr>
              <a:t> A branched alkane boils at lower temperature than the </a:t>
            </a:r>
            <a:r>
              <a:rPr lang="en-US" altLang="zh-CN" b="1" i="1" baseline="0" dirty="0">
                <a:effectLst/>
                <a:latin typeface="MS Reference Sans Serif" panose="020B0604030504040204" pitchFamily="34" charset="0"/>
                <a:cs typeface="Microsoft Sans Serif" pitchFamily="34" charset="0"/>
              </a:rPr>
              <a:t>n</a:t>
            </a:r>
            <a:r>
              <a:rPr lang="en-US" altLang="zh-CN" b="1" baseline="0" dirty="0">
                <a:effectLst/>
                <a:latin typeface="MS Reference Sans Serif" panose="020B0604030504040204" pitchFamily="34" charset="0"/>
                <a:cs typeface="Microsoft Sans Serif" pitchFamily="34" charset="0"/>
              </a:rPr>
              <a:t>-alkane with the same number of carbon atoms.</a:t>
            </a:r>
          </a:p>
          <a:p>
            <a:pPr>
              <a:buFont typeface="Arial" pitchFamily="34" charset="0"/>
              <a:buChar char="•"/>
            </a:pPr>
            <a:endParaRPr lang="en-US" altLang="zh-CN" b="1" baseline="0" dirty="0">
              <a:effectLst/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altLang="zh-CN" b="1" baseline="0" dirty="0">
                <a:effectLst/>
                <a:latin typeface="MS Reference Sans Serif" panose="020B0604030504040204" pitchFamily="34" charset="0"/>
                <a:cs typeface="Microsoft Sans Serif" pitchFamily="34" charset="0"/>
              </a:rPr>
              <a:t> This difference in boiling points arises because </a:t>
            </a:r>
            <a:r>
              <a:rPr lang="en-US" altLang="zh-CN" b="1" baseline="0" dirty="0">
                <a:effectLst/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branched alkanes are more compact</a:t>
            </a:r>
            <a:r>
              <a:rPr lang="en-US" altLang="zh-CN" b="1" baseline="0" dirty="0">
                <a:effectLst/>
                <a:latin typeface="MS Reference Sans Serif" panose="020B0604030504040204" pitchFamily="34" charset="0"/>
                <a:cs typeface="Microsoft Sans Serif" pitchFamily="34" charset="0"/>
              </a:rPr>
              <a:t>, </a:t>
            </a:r>
            <a:r>
              <a:rPr lang="en-US" altLang="zh-CN" b="1" baseline="0" dirty="0">
                <a:effectLst/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with less surface area for London force interactions</a:t>
            </a:r>
            <a:r>
              <a:rPr lang="en-US" altLang="zh-CN" b="1" baseline="0" dirty="0">
                <a:effectLst/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  <a:endParaRPr lang="zh-CN" altLang="en-US" b="1" dirty="0">
              <a:effectLst/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97AF901-F8EA-4363-9E09-6CF5FEE5A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21</a:t>
            </a:fld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8F80B2-5C17-42A3-9B0E-2BE09C5DAC3E}"/>
              </a:ext>
            </a:extLst>
          </p:cNvPr>
          <p:cNvSpPr txBox="1"/>
          <p:nvPr/>
        </p:nvSpPr>
        <p:spPr>
          <a:xfrm>
            <a:off x="0" y="305793"/>
            <a:ext cx="10504094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MS Reference Sans Serif" panose="020B0604030504040204" pitchFamily="34" charset="0"/>
                <a:cs typeface="Microsoft Sans Serif" pitchFamily="34" charset="0"/>
              </a:rPr>
              <a:t>7. </a:t>
            </a:r>
            <a:r>
              <a:rPr lang="en-US" altLang="zh-CN" sz="24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Halogenation of Alkanes: the Free Radical Substitution Reaction</a:t>
            </a:r>
            <a:endParaRPr lang="zh-CN" altLang="en-US" sz="2400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2DD302D-9990-4149-A32F-7D07C410A8F5}"/>
              </a:ext>
            </a:extLst>
          </p:cNvPr>
          <p:cNvSpPr/>
          <p:nvPr/>
        </p:nvSpPr>
        <p:spPr>
          <a:xfrm>
            <a:off x="271523" y="859409"/>
            <a:ext cx="114492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Halogenation: The reaction of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alkanes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with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halogens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(F</a:t>
            </a:r>
            <a:r>
              <a:rPr lang="en-US" altLang="zh-CN" b="1" baseline="-25000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2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Cl</a:t>
            </a:r>
            <a:r>
              <a:rPr lang="en-US" altLang="zh-CN" b="1" baseline="-25000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2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Br</a:t>
            </a:r>
            <a:r>
              <a:rPr lang="en-US" altLang="zh-CN" b="1" baseline="-25000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2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I</a:t>
            </a:r>
            <a:r>
              <a:rPr lang="en-US" altLang="zh-CN" b="1" baseline="-25000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2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) to form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alkyl halides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.</a:t>
            </a:r>
            <a:endParaRPr lang="zh-CN" altLang="en-US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8077FAD-6E4E-41D4-B038-EFF754F66481}"/>
              </a:ext>
            </a:extLst>
          </p:cNvPr>
          <p:cNvSpPr txBox="1"/>
          <p:nvPr/>
        </p:nvSpPr>
        <p:spPr>
          <a:xfrm>
            <a:off x="0" y="1320692"/>
            <a:ext cx="3794629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7-1 Chlorination of Methane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2281BB-FFE2-456C-95BD-979D14D54F76}"/>
              </a:ext>
            </a:extLst>
          </p:cNvPr>
          <p:cNvSpPr txBox="1"/>
          <p:nvPr/>
        </p:nvSpPr>
        <p:spPr>
          <a:xfrm>
            <a:off x="271523" y="1774414"/>
            <a:ext cx="117831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Either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light or heat is needed 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for the halogenation reaction to take place at a useful rate.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reaction of methane with chlorine produces a mixture of chlorinated products, whose composition depends on the amount of chlorine added.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It is called substitution reaction because chlorine atoms substitute for the hydrogen atoms.</a:t>
            </a:r>
          </a:p>
        </p:txBody>
      </p:sp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7062E974-3C65-44DD-A8F3-7D5FF6E25A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0745585"/>
              </p:ext>
            </p:extLst>
          </p:nvPr>
        </p:nvGraphicFramePr>
        <p:xfrm>
          <a:off x="1931303" y="3002317"/>
          <a:ext cx="8329394" cy="763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172206" imgH="381956" progId="ChemDraw.Document.6.0">
                  <p:embed/>
                </p:oleObj>
              </mc:Choice>
              <mc:Fallback>
                <p:oleObj name="CS ChemDraw Drawing" r:id="rId2" imgW="4172206" imgH="381956" progId="ChemDraw.Document.6.0">
                  <p:embed/>
                  <p:pic>
                    <p:nvPicPr>
                      <p:cNvPr id="10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1303" y="3002317"/>
                        <a:ext cx="8329394" cy="7638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2">
            <a:extLst>
              <a:ext uri="{FF2B5EF4-FFF2-40B4-BE49-F238E27FC236}">
                <a16:creationId xmlns:a16="http://schemas.microsoft.com/office/drawing/2014/main" id="{FF98B2C3-9476-4397-9E6F-BE316816435D}"/>
              </a:ext>
            </a:extLst>
          </p:cNvPr>
          <p:cNvSpPr txBox="1"/>
          <p:nvPr/>
        </p:nvSpPr>
        <p:spPr>
          <a:xfrm>
            <a:off x="236830" y="4111549"/>
            <a:ext cx="7130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When chlorine is added to methane, 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first reaction is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:</a:t>
            </a:r>
            <a:endParaRPr lang="zh-CN" altLang="en-US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F97000C8-E983-43A5-9E4D-9D91096EF4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6173599"/>
              </p:ext>
            </p:extLst>
          </p:nvPr>
        </p:nvGraphicFramePr>
        <p:xfrm>
          <a:off x="1931988" y="4733925"/>
          <a:ext cx="8077200" cy="176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3887418" imgH="851640" progId="ChemDraw.Document.6.0">
                  <p:embed/>
                </p:oleObj>
              </mc:Choice>
              <mc:Fallback>
                <p:oleObj name="CS ChemDraw Drawing" r:id="rId4" imgW="3887418" imgH="851640" progId="ChemDraw.Document.6.0">
                  <p:embed/>
                  <p:pic>
                    <p:nvPicPr>
                      <p:cNvPr id="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1988" y="4733925"/>
                        <a:ext cx="8077200" cy="1766888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00FF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912464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E398D16-EA25-445C-BCE8-D98E3D746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22</a:t>
            </a:fld>
            <a:endParaRPr lang="zh-CN" altLang="en-US"/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5270E08C-CB34-422E-B6CA-2F3943F6EF0C}"/>
              </a:ext>
            </a:extLst>
          </p:cNvPr>
          <p:cNvSpPr txBox="1"/>
          <p:nvPr/>
        </p:nvSpPr>
        <p:spPr>
          <a:xfrm>
            <a:off x="407368" y="260648"/>
            <a:ext cx="8191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This reaction may continue; heat or light is needed for each step:</a:t>
            </a:r>
            <a:endParaRPr lang="zh-CN" altLang="en-US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E5E54356-B094-45BC-BCC4-50318DCAC7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2528784"/>
              </p:ext>
            </p:extLst>
          </p:nvPr>
        </p:nvGraphicFramePr>
        <p:xfrm>
          <a:off x="1919536" y="908720"/>
          <a:ext cx="8038890" cy="1584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326342" imgH="852990" progId="ChemDraw.Document.6.0">
                  <p:embed/>
                </p:oleObj>
              </mc:Choice>
              <mc:Fallback>
                <p:oleObj name="CS ChemDraw Drawing" r:id="rId2" imgW="4326342" imgH="852990" progId="ChemDraw.Document.6.0">
                  <p:embed/>
                  <p:pic>
                    <p:nvPicPr>
                      <p:cNvPr id="205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536" y="908720"/>
                        <a:ext cx="8038890" cy="15841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59A636DF-68EF-4622-98AB-3CB793E57B2C}"/>
              </a:ext>
            </a:extLst>
          </p:cNvPr>
          <p:cNvSpPr txBox="1"/>
          <p:nvPr/>
        </p:nvSpPr>
        <p:spPr>
          <a:xfrm>
            <a:off x="407368" y="2613855"/>
            <a:ext cx="114492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Study the overall reaction is only the first step in our study of a reaction. If we truly want to understand a reaction, we must know the mechanism of the reaction.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mechanism 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is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complete, step-by-step description of exactly which bonds break and which bonds form in what order to give the observed products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We will use the chlorination of methane to show how we study a reaction.</a:t>
            </a:r>
            <a:endParaRPr lang="zh-CN" altLang="en-US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5368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DF9BEC4-15B5-40C1-985B-01B9D402F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23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3E1DC0-C06D-4FFE-B72B-203AC685E51D}"/>
              </a:ext>
            </a:extLst>
          </p:cNvPr>
          <p:cNvSpPr txBox="1"/>
          <p:nvPr/>
        </p:nvSpPr>
        <p:spPr>
          <a:xfrm>
            <a:off x="0" y="332656"/>
            <a:ext cx="7320136" cy="400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7-2 The mechanism of free radical substitution reaction 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DCC389EA-75BB-4CE3-8525-A9F43820C02C}"/>
              </a:ext>
            </a:extLst>
          </p:cNvPr>
          <p:cNvSpPr txBox="1"/>
          <p:nvPr/>
        </p:nvSpPr>
        <p:spPr>
          <a:xfrm>
            <a:off x="248048" y="864098"/>
            <a:ext cx="11665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 </a:t>
            </a:r>
            <a:r>
              <a:rPr lang="en-US" altLang="zh-CN" sz="1600" b="1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chain reaction mechanism </a:t>
            </a:r>
            <a:r>
              <a:rPr lang="en-US" altLang="zh-CN" sz="16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has been proposed to explain the chlorination of methane, consisting of 3 stages: </a:t>
            </a:r>
            <a:r>
              <a:rPr lang="en-US" altLang="zh-CN" sz="1600" b="1" dirty="0">
                <a:highlight>
                  <a:srgbClr val="00FFFF"/>
                </a:highlight>
                <a:latin typeface="MS Reference Sans Serif" panose="020B0604030504040204" pitchFamily="34" charset="0"/>
                <a:ea typeface="等线" panose="02010600030101010101" pitchFamily="2" charset="-122"/>
                <a:cs typeface="Microsoft Sans Serif" panose="020B0604020202020204" pitchFamily="34" charset="0"/>
              </a:rPr>
              <a:t>①</a:t>
            </a:r>
            <a:r>
              <a:rPr lang="en-US" altLang="zh-CN" sz="1600" b="1" dirty="0">
                <a:highlight>
                  <a:srgbClr val="00FFFF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The initiation step</a:t>
            </a:r>
            <a:r>
              <a:rPr lang="en-US" altLang="zh-CN" sz="16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; </a:t>
            </a:r>
            <a:r>
              <a:rPr lang="en-US" altLang="zh-CN" sz="1600" b="1" dirty="0">
                <a:highlight>
                  <a:srgbClr val="00FFFF"/>
                </a:highlight>
                <a:latin typeface="MS Reference Sans Serif" panose="020B0604030504040204" pitchFamily="34" charset="0"/>
                <a:ea typeface="等线" panose="02010600030101010101" pitchFamily="2" charset="-122"/>
                <a:cs typeface="Microsoft Sans Serif" panose="020B0604020202020204" pitchFamily="34" charset="0"/>
              </a:rPr>
              <a:t>②</a:t>
            </a:r>
            <a:r>
              <a:rPr lang="en-US" altLang="zh-CN" sz="1600" b="1" dirty="0">
                <a:highlight>
                  <a:srgbClr val="00FFFF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Propagation steps</a:t>
            </a:r>
            <a:r>
              <a:rPr lang="en-US" altLang="zh-CN" sz="1600" b="1" dirty="0">
                <a:latin typeface="MS Reference Sans Serif" panose="020B0604030504040204" pitchFamily="34" charset="0"/>
                <a:ea typeface="等线" panose="02010600030101010101" pitchFamily="2" charset="-122"/>
                <a:cs typeface="Microsoft Sans Serif" panose="020B0604020202020204" pitchFamily="34" charset="0"/>
              </a:rPr>
              <a:t>; </a:t>
            </a:r>
            <a:r>
              <a:rPr lang="en-US" altLang="zh-CN" sz="1600" b="1" dirty="0">
                <a:highlight>
                  <a:srgbClr val="00FFFF"/>
                </a:highlight>
                <a:latin typeface="MS Reference Sans Serif" panose="020B0604030504040204" pitchFamily="34" charset="0"/>
                <a:ea typeface="等线" panose="02010600030101010101" pitchFamily="2" charset="-122"/>
                <a:cs typeface="Microsoft Sans Serif" panose="020B0604020202020204" pitchFamily="34" charset="0"/>
              </a:rPr>
              <a:t>③</a:t>
            </a:r>
            <a:r>
              <a:rPr lang="en-US" altLang="zh-CN" sz="1600" b="1" dirty="0">
                <a:highlight>
                  <a:srgbClr val="00FFFF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Termination steps</a:t>
            </a:r>
            <a:r>
              <a:rPr lang="en-US" altLang="zh-CN" sz="16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.</a:t>
            </a:r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9C7962AC-E1AD-4ED0-BC65-6EDAD67B24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9458464"/>
              </p:ext>
            </p:extLst>
          </p:nvPr>
        </p:nvGraphicFramePr>
        <p:xfrm>
          <a:off x="2579375" y="1617969"/>
          <a:ext cx="7033250" cy="1539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3887418" imgH="851640" progId="ChemDraw.Document.6.0">
                  <p:embed/>
                </p:oleObj>
              </mc:Choice>
              <mc:Fallback>
                <p:oleObj name="CS ChemDraw Drawing" r:id="rId2" imgW="3887418" imgH="851640" progId="ChemDraw.Document.6.0">
                  <p:embed/>
                  <p:pic>
                    <p:nvPicPr>
                      <p:cNvPr id="9" name="Object 4">
                        <a:extLst>
                          <a:ext uri="{FF2B5EF4-FFF2-40B4-BE49-F238E27FC236}">
                            <a16:creationId xmlns:a16="http://schemas.microsoft.com/office/drawing/2014/main" id="{F97000C8-E983-43A5-9E4D-9D91096EF4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9375" y="1617969"/>
                        <a:ext cx="7033250" cy="1539331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00FF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A1D5B2DC-CCF6-41DF-BB13-0CDF86927D2F}"/>
              </a:ext>
            </a:extLst>
          </p:cNvPr>
          <p:cNvSpPr txBox="1"/>
          <p:nvPr/>
        </p:nvSpPr>
        <p:spPr>
          <a:xfrm>
            <a:off x="-96688" y="3554238"/>
            <a:ext cx="56813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highlight>
                  <a:srgbClr val="C0C0C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7-2-1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altLang="zh-CN" sz="2000" b="1" dirty="0">
                <a:highlight>
                  <a:srgbClr val="C0C0C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Initiation Step</a:t>
            </a:r>
            <a:r>
              <a:rPr lang="en-US" altLang="zh-CN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: Generation of Radicals</a:t>
            </a:r>
            <a:endParaRPr lang="zh-CN" altLang="en-US" sz="2000" b="1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9325C41-9A5B-4FCB-A9D9-6FEC914050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7352928"/>
              </p:ext>
            </p:extLst>
          </p:nvPr>
        </p:nvGraphicFramePr>
        <p:xfrm>
          <a:off x="3359696" y="3980428"/>
          <a:ext cx="3590117" cy="645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784214" imgH="319908" progId="ChemDraw.Document.6.0">
                  <p:embed/>
                </p:oleObj>
              </mc:Choice>
              <mc:Fallback>
                <p:oleObj name="CS ChemDraw Drawing" r:id="rId4" imgW="1784214" imgH="319908" progId="ChemDraw.Document.6.0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59696" y="3980428"/>
                        <a:ext cx="3590117" cy="6451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4">
            <a:extLst>
              <a:ext uri="{FF2B5EF4-FFF2-40B4-BE49-F238E27FC236}">
                <a16:creationId xmlns:a16="http://schemas.microsoft.com/office/drawing/2014/main" id="{5FE3B7A0-07F0-4DA6-BFC3-CF5F67F4A876}"/>
              </a:ext>
            </a:extLst>
          </p:cNvPr>
          <p:cNvSpPr txBox="1"/>
          <p:nvPr/>
        </p:nvSpPr>
        <p:spPr>
          <a:xfrm>
            <a:off x="248048" y="4777476"/>
            <a:ext cx="1166529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We </a:t>
            </a:r>
            <a:r>
              <a:rPr lang="en-US" altLang="zh-CN" sz="1600" b="1" dirty="0">
                <a:highlight>
                  <a:srgbClr val="00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use the curved half-arrows to represent the movement of single electrons</a:t>
            </a:r>
            <a:r>
              <a:rPr lang="en-US" altLang="zh-CN" sz="16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. Here the two electrons in the </a:t>
            </a:r>
            <a:r>
              <a:rPr lang="en-US" altLang="zh-CN" sz="1600" b="1" dirty="0" err="1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Cl</a:t>
            </a:r>
            <a:r>
              <a:rPr lang="en-US" altLang="zh-CN" sz="1600" b="1" dirty="0" err="1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Cl</a:t>
            </a:r>
            <a:r>
              <a:rPr lang="en-US" altLang="zh-CN" sz="16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 bond separate, and one leaves with each chlorine atom;</a:t>
            </a:r>
            <a:endParaRPr lang="en-US" altLang="zh-CN" sz="1600" b="1" dirty="0">
              <a:latin typeface="MS Reference Sans Serif" panose="020B060403050404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Each Cl</a:t>
            </a:r>
            <a:r>
              <a:rPr lang="en-US" altLang="zh-CN" sz="16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 atom has an unpaired valence electron;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zh-CN" sz="1600" b="1" dirty="0">
              <a:latin typeface="MS Reference Sans Serif" panose="020B0604030504040204" pitchFamily="34" charset="0"/>
              <a:ea typeface="Microsoft Sans Serif" panose="020B0604020202020204" pitchFamily="34" charset="0"/>
              <a:cs typeface="Microsoft Sans Serif" panose="020B0604020202020204" pitchFamily="34" charset="0"/>
              <a:sym typeface="Symbol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600" b="1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Species with unpaired electrons are called (free) radicals.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zh-CN" sz="1600" b="1" dirty="0">
              <a:highlight>
                <a:srgbClr val="FFFF00"/>
              </a:highlight>
              <a:latin typeface="MS Reference Sans Serif" panose="020B0604030504040204" pitchFamily="34" charset="0"/>
              <a:ea typeface="Microsoft Sans Serif" panose="020B0604020202020204" pitchFamily="34" charset="0"/>
              <a:cs typeface="Microsoft Sans Serif" panose="020B0604020202020204" pitchFamily="34" charset="0"/>
              <a:sym typeface="Symbol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600" b="1" dirty="0">
                <a:highlight>
                  <a:srgbClr val="00FFFF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Radicals are electron-deficient </a:t>
            </a:r>
            <a:r>
              <a:rPr lang="en-US" altLang="zh-CN" sz="16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because </a:t>
            </a:r>
            <a:r>
              <a:rPr lang="en-US" altLang="zh-CN" sz="1600" b="1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they lack an octet.</a:t>
            </a:r>
            <a:r>
              <a:rPr lang="en-US" altLang="zh-CN" sz="16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 </a:t>
            </a:r>
            <a:r>
              <a:rPr lang="en-US" altLang="zh-CN" sz="1600" b="1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They are highly reactive</a:t>
            </a:r>
            <a:r>
              <a:rPr lang="en-US" altLang="zh-CN" sz="16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. The single electron of a radical readily combines with an electron in another atom to complete an octet and form a bond.</a:t>
            </a:r>
          </a:p>
        </p:txBody>
      </p:sp>
    </p:spTree>
    <p:extLst>
      <p:ext uri="{BB962C8B-B14F-4D97-AF65-F5344CB8AC3E}">
        <p14:creationId xmlns:p14="http://schemas.microsoft.com/office/powerpoint/2010/main" val="20103690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3FDAD91-882B-4631-993A-E98F642A3379}"/>
              </a:ext>
            </a:extLst>
          </p:cNvPr>
          <p:cNvSpPr/>
          <p:nvPr/>
        </p:nvSpPr>
        <p:spPr>
          <a:xfrm>
            <a:off x="7248128" y="4262697"/>
            <a:ext cx="1118715" cy="1017026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489974E-8BE5-4912-A364-E95675427883}"/>
              </a:ext>
            </a:extLst>
          </p:cNvPr>
          <p:cNvSpPr/>
          <p:nvPr/>
        </p:nvSpPr>
        <p:spPr>
          <a:xfrm>
            <a:off x="7430739" y="2420722"/>
            <a:ext cx="936104" cy="648072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3ADC337-96DB-4003-A042-DAD91FC2E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0296" y="6387075"/>
            <a:ext cx="28448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24</a:t>
            </a:fld>
            <a:endParaRPr lang="zh-CN" altLang="en-US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820FC2E5-7789-485C-AA54-226B036BD869}"/>
              </a:ext>
            </a:extLst>
          </p:cNvPr>
          <p:cNvSpPr txBox="1"/>
          <p:nvPr/>
        </p:nvSpPr>
        <p:spPr>
          <a:xfrm>
            <a:off x="155429" y="672635"/>
            <a:ext cx="120365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 the propagation steps, 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free radical reacts with a stable molecule to form another free radical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allowing the chain to continue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until the supply of reactants is exhausted or the free radical is destroyed.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For chlorination of methane, there are two propagation steps:</a:t>
            </a:r>
            <a:endParaRPr lang="zh-CN" altLang="en-US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F546BF-A28D-405C-B4C6-0767487CE637}"/>
              </a:ext>
            </a:extLst>
          </p:cNvPr>
          <p:cNvSpPr/>
          <p:nvPr/>
        </p:nvSpPr>
        <p:spPr>
          <a:xfrm>
            <a:off x="0" y="242539"/>
            <a:ext cx="334739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7-2-2</a:t>
            </a:r>
            <a:r>
              <a:rPr lang="en-US" altLang="zh-CN" sz="20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Propagation Steps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D069218F-2566-408C-9238-143ECDFEB5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6128351"/>
              </p:ext>
            </p:extLst>
          </p:nvPr>
        </p:nvGraphicFramePr>
        <p:xfrm>
          <a:off x="2135560" y="2304315"/>
          <a:ext cx="6893389" cy="12694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068735" imgH="749623" progId="ChemDraw.Document.6.0">
                  <p:embed/>
                </p:oleObj>
              </mc:Choice>
              <mc:Fallback>
                <p:oleObj name="CS ChemDraw Drawing" r:id="rId2" imgW="4068735" imgH="749623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35560" y="2304315"/>
                        <a:ext cx="6893389" cy="12694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C5F55B4-B0D0-45B9-A695-7B7FD85942D7}"/>
              </a:ext>
            </a:extLst>
          </p:cNvPr>
          <p:cNvSpPr txBox="1"/>
          <p:nvPr/>
        </p:nvSpPr>
        <p:spPr>
          <a:xfrm>
            <a:off x="423067" y="1839079"/>
            <a:ext cx="2813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(1) Propagation step 1</a:t>
            </a:r>
            <a:endParaRPr lang="zh-CN" altLang="en-US" b="1" dirty="0">
              <a:highlight>
                <a:srgbClr val="FFFF00"/>
              </a:highlight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183CEBA-197F-4C54-8E29-79C5899C33CC}"/>
              </a:ext>
            </a:extLst>
          </p:cNvPr>
          <p:cNvSpPr txBox="1"/>
          <p:nvPr/>
        </p:nvSpPr>
        <p:spPr>
          <a:xfrm>
            <a:off x="444031" y="3694408"/>
            <a:ext cx="2459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(2) Propagation step 2</a:t>
            </a:r>
            <a:endParaRPr lang="zh-CN" altLang="en-US" b="1" dirty="0">
              <a:highlight>
                <a:srgbClr val="FFFF00"/>
              </a:highlight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CA734D3-FDA3-4061-BAD2-3F741FD99D40}"/>
              </a:ext>
            </a:extLst>
          </p:cNvPr>
          <p:cNvSpPr txBox="1"/>
          <p:nvPr/>
        </p:nvSpPr>
        <p:spPr>
          <a:xfrm>
            <a:off x="263352" y="5968624"/>
            <a:ext cx="116652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 this way, the chain reaction continues until the supply of the reactants is exhausted or some other reaction consumes the radical intermediates.</a:t>
            </a:r>
            <a:endParaRPr lang="zh-CN" altLang="en-US" dirty="0">
              <a:latin typeface="MS Reference Sans Serif" panose="020B060403050404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E4AAB0C-9BCB-4009-8CAF-6F684B8EF2B3}"/>
              </a:ext>
            </a:extLst>
          </p:cNvPr>
          <p:cNvSpPr txBox="1"/>
          <p:nvPr/>
        </p:nvSpPr>
        <p:spPr>
          <a:xfrm>
            <a:off x="8544272" y="2561865"/>
            <a:ext cx="11705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Product 1</a:t>
            </a:r>
            <a:endParaRPr lang="zh-CN" altLang="en-US" sz="1600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E72F203-F70C-4A12-B8E0-B30ED9FBB4B2}"/>
              </a:ext>
            </a:extLst>
          </p:cNvPr>
          <p:cNvSpPr txBox="1"/>
          <p:nvPr/>
        </p:nvSpPr>
        <p:spPr>
          <a:xfrm>
            <a:off x="8492472" y="4615599"/>
            <a:ext cx="11705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Product 2</a:t>
            </a:r>
            <a:endParaRPr lang="zh-CN" altLang="en-US" sz="1600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E6393C22-C3B8-4720-BF2C-85740D9B3A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519603"/>
              </p:ext>
            </p:extLst>
          </p:nvPr>
        </p:nvGraphicFramePr>
        <p:xfrm>
          <a:off x="1127448" y="4332650"/>
          <a:ext cx="7527425" cy="134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4308235" imgH="769047" progId="ChemDraw.Document.6.0">
                  <p:embed/>
                </p:oleObj>
              </mc:Choice>
              <mc:Fallback>
                <p:oleObj name="CS ChemDraw Drawing" r:id="rId4" imgW="4308235" imgH="769047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27448" y="4332650"/>
                        <a:ext cx="7527425" cy="1342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矩形 26">
            <a:extLst>
              <a:ext uri="{FF2B5EF4-FFF2-40B4-BE49-F238E27FC236}">
                <a16:creationId xmlns:a16="http://schemas.microsoft.com/office/drawing/2014/main" id="{5A40E188-28B8-4C55-BDF9-D86EFF058FD1}"/>
              </a:ext>
            </a:extLst>
          </p:cNvPr>
          <p:cNvSpPr/>
          <p:nvPr/>
        </p:nvSpPr>
        <p:spPr>
          <a:xfrm>
            <a:off x="5375920" y="2265679"/>
            <a:ext cx="1438480" cy="9472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EF10AB1-C932-48CE-B09A-110B72EB0D4D}"/>
              </a:ext>
            </a:extLst>
          </p:cNvPr>
          <p:cNvSpPr/>
          <p:nvPr/>
        </p:nvSpPr>
        <p:spPr>
          <a:xfrm>
            <a:off x="5159895" y="4509120"/>
            <a:ext cx="1080121" cy="5185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2568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1278601-6241-4F16-90D8-28BA0DE09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25</a:t>
            </a:fld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E690C8-7C60-454C-80CD-A896F4F580C8}"/>
              </a:ext>
            </a:extLst>
          </p:cNvPr>
          <p:cNvSpPr txBox="1"/>
          <p:nvPr/>
        </p:nvSpPr>
        <p:spPr>
          <a:xfrm>
            <a:off x="263352" y="794369"/>
            <a:ext cx="11593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 termination steps, one of the free-radical intermediates are consumed without generating new ones, thus slowing or stopping the chain reaction.</a:t>
            </a:r>
            <a:endParaRPr lang="zh-CN" altLang="en-US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C21EEA-1696-4B3D-B1D8-83370AC7A934}"/>
              </a:ext>
            </a:extLst>
          </p:cNvPr>
          <p:cNvSpPr/>
          <p:nvPr/>
        </p:nvSpPr>
        <p:spPr>
          <a:xfrm>
            <a:off x="0" y="404664"/>
            <a:ext cx="332783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7-2-3</a:t>
            </a:r>
            <a:r>
              <a:rPr lang="en-US" altLang="zh-CN" sz="20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Termination Steps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D0EAB30-D5F2-4FAE-8E05-A52957129E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4526110"/>
              </p:ext>
            </p:extLst>
          </p:nvPr>
        </p:nvGraphicFramePr>
        <p:xfrm>
          <a:off x="3327834" y="2001532"/>
          <a:ext cx="4824536" cy="3861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2386318" imgH="1909537" progId="ChemDraw.Document.6.0">
                  <p:embed/>
                </p:oleObj>
              </mc:Choice>
              <mc:Fallback>
                <p:oleObj name="CS ChemDraw Drawing" r:id="rId2" imgW="2386318" imgH="1909537" progId="ChemDraw.Document.6.0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27834" y="2001532"/>
                        <a:ext cx="4824536" cy="38615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9361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26</a:t>
            </a:fld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72341" y="725097"/>
            <a:ext cx="10648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The </a:t>
            </a:r>
            <a:r>
              <a:rPr lang="en-US" altLang="zh-CN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cyclo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alkanes are a special class of alkanes that are in the form of </a:t>
            </a:r>
            <a:r>
              <a:rPr lang="en-US" altLang="zh-CN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a ring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Simple cycloalkanes are rings of CH</a:t>
            </a:r>
            <a:r>
              <a:rPr lang="en-US" altLang="zh-CN" b="1" baseline="-25000" dirty="0">
                <a:latin typeface="MS Reference Sans Serif" panose="020B0604030504040204" pitchFamily="34" charset="0"/>
                <a:cs typeface="Microsoft Sans Serif" pitchFamily="34" charset="0"/>
              </a:rPr>
              <a:t>2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groups.</a:t>
            </a:r>
            <a:endParaRPr lang="zh-CN" altLang="en-US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graphicFrame>
        <p:nvGraphicFramePr>
          <p:cNvPr id="593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0830032"/>
              </p:ext>
            </p:extLst>
          </p:nvPr>
        </p:nvGraphicFramePr>
        <p:xfrm>
          <a:off x="2711624" y="1758801"/>
          <a:ext cx="6846451" cy="2906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3772964" imgH="1601246" progId="ChemDraw.Document.6.0">
                  <p:embed/>
                </p:oleObj>
              </mc:Choice>
              <mc:Fallback>
                <p:oleObj name="CS ChemDraw Drawing" r:id="rId2" imgW="3772964" imgH="1601246" progId="ChemDraw.Document.6.0">
                  <p:embed/>
                  <p:pic>
                    <p:nvPicPr>
                      <p:cNvPr id="5939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624" y="1758801"/>
                        <a:ext cx="6846451" cy="290621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96019" y="5266280"/>
            <a:ext cx="113999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General molecular formula of cycloalkanes: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S Reference Sans Serif" panose="020B0604030504040204" pitchFamily="34" charset="0"/>
                <a:cs typeface="Microsoft Sans Serif" pitchFamily="34" charset="0"/>
              </a:rPr>
              <a:t>C</a:t>
            </a:r>
            <a:r>
              <a:rPr lang="en-US" altLang="zh-CN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S Reference Sans Serif" panose="020B0604030504040204" pitchFamily="34" charset="0"/>
                <a:cs typeface="Microsoft Sans Serif" pitchFamily="34" charset="0"/>
              </a:rPr>
              <a:t>n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S Reference Sans Serif" panose="020B0604030504040204" pitchFamily="34" charset="0"/>
                <a:cs typeface="Microsoft Sans Serif" pitchFamily="34" charset="0"/>
              </a:rPr>
              <a:t>H</a:t>
            </a:r>
            <a:r>
              <a:rPr lang="en-US" altLang="zh-CN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S Reference Sans Serif" panose="020B0604030504040204" pitchFamily="34" charset="0"/>
                <a:cs typeface="Microsoft Sans Serif" pitchFamily="34" charset="0"/>
              </a:rPr>
              <a:t>2n</a:t>
            </a:r>
          </a:p>
          <a:p>
            <a:pPr>
              <a:buFont typeface="Arial" pitchFamily="34" charset="0"/>
              <a:buChar char="•"/>
            </a:pPr>
            <a:endParaRPr lang="en-US" altLang="zh-CN" b="1" baseline="-25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The </a:t>
            </a:r>
            <a:r>
              <a:rPr lang="en-US" altLang="zh-CN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cycloalkanes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are nonpolar, relatively inert compounds, resembling the 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acyclic, open-chain alkanes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 Their physical properties are similar to those of the compact, linear alkanes.</a:t>
            </a:r>
            <a:endParaRPr lang="zh-CN" altLang="en-US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C4B4B724-7CEF-4D87-8017-E65E6F32FD4E}"/>
              </a:ext>
            </a:extLst>
          </p:cNvPr>
          <p:cNvSpPr txBox="1"/>
          <p:nvPr/>
        </p:nvSpPr>
        <p:spPr>
          <a:xfrm>
            <a:off x="1133" y="148931"/>
            <a:ext cx="4981364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MS Reference Sans Serif" panose="020B0604030504040204" pitchFamily="34" charset="0"/>
                <a:cs typeface="Microsoft Sans Serif" pitchFamily="34" charset="0"/>
              </a:rPr>
              <a:t>8. Introduction to cycloalkanes</a:t>
            </a:r>
            <a:endParaRPr lang="zh-CN" altLang="en-US" sz="2400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27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35360" y="762845"/>
            <a:ext cx="115212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Simple cycloalkanes are named like acyclic alkanes, with the prefix </a:t>
            </a:r>
            <a:r>
              <a:rPr lang="en-US" altLang="zh-CN" b="1" i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cyclo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- indicating 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the presence of a ring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  <a:p>
            <a:pPr>
              <a:buFont typeface="Arial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>
              <a:buFont typeface="Arial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>
              <a:buFont typeface="Arial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>
              <a:buFont typeface="Arial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>
              <a:buFont typeface="Arial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>
              <a:buFont typeface="Arial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Substituted cycloalkanes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: use the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cycloalkane for the base name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, with the alkyl groups named as substituents.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No numbering is needed if there is just one substituent.</a:t>
            </a:r>
            <a:endParaRPr lang="zh-CN" altLang="en-US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219026"/>
            <a:ext cx="4415952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9. Nomenclature of Cycloalkanes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D225299-4677-4A5F-BC5E-EC980D1977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3054323"/>
              </p:ext>
            </p:extLst>
          </p:nvPr>
        </p:nvGraphicFramePr>
        <p:xfrm>
          <a:off x="2639616" y="5035670"/>
          <a:ext cx="2232248" cy="14928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269310" imgH="848727" progId="ChemDraw.Document.6.0">
                  <p:embed/>
                </p:oleObj>
              </mc:Choice>
              <mc:Fallback>
                <p:oleObj name="CS ChemDraw Drawing" r:id="rId2" imgW="1269310" imgH="848727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39616" y="5035670"/>
                        <a:ext cx="2232248" cy="14928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9F10D3EA-0E1B-427C-AECF-C53A2F09BC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353543"/>
              </p:ext>
            </p:extLst>
          </p:nvPr>
        </p:nvGraphicFramePr>
        <p:xfrm>
          <a:off x="6384032" y="4774994"/>
          <a:ext cx="2448272" cy="17534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409379" imgH="1010068" progId="ChemDraw.Document.6.0">
                  <p:embed/>
                </p:oleObj>
              </mc:Choice>
              <mc:Fallback>
                <p:oleObj name="CS ChemDraw Drawing" r:id="rId4" imgW="1409379" imgH="1010068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84032" y="4774994"/>
                        <a:ext cx="2448272" cy="17534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D2203F3-7B3A-482B-8157-19822D7ED2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6653088"/>
              </p:ext>
            </p:extLst>
          </p:nvPr>
        </p:nvGraphicFramePr>
        <p:xfrm>
          <a:off x="2495600" y="1702264"/>
          <a:ext cx="6924532" cy="1150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3754766" imgH="623128" progId="ChemDraw.Document.6.0">
                  <p:embed/>
                </p:oleObj>
              </mc:Choice>
              <mc:Fallback>
                <p:oleObj name="CS ChemDraw Drawing" r:id="rId6" imgW="3754766" imgH="623128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95600" y="1702264"/>
                        <a:ext cx="6924532" cy="11506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28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63352" y="4115949"/>
            <a:ext cx="11521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When the numbering could begin with either of two alkyl groups 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(as in a disubstituted cycloalkane), 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begin with the one that  is alphabetically first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</p:txBody>
      </p:sp>
      <p:sp>
        <p:nvSpPr>
          <p:cNvPr id="5" name="矩形 4"/>
          <p:cNvSpPr/>
          <p:nvPr/>
        </p:nvSpPr>
        <p:spPr>
          <a:xfrm>
            <a:off x="193136" y="339953"/>
            <a:ext cx="116652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If there are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two or more substituents on the ring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, the ring carbons are numbered to 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give the lowest possible numbers for the substituted carbons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 In a name, the substituents are listed in alphabetical order.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0623236"/>
              </p:ext>
            </p:extLst>
          </p:nvPr>
        </p:nvGraphicFramePr>
        <p:xfrm>
          <a:off x="1343472" y="1567976"/>
          <a:ext cx="3024336" cy="1728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721873" imgH="984301" progId="ChemDraw.Document.6.0">
                  <p:embed/>
                </p:oleObj>
              </mc:Choice>
              <mc:Fallback>
                <p:oleObj name="CS ChemDraw Drawing" r:id="rId2" imgW="1721873" imgH="984301" progId="ChemDraw.Document.6.0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43472" y="1567976"/>
                        <a:ext cx="3024336" cy="1728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144199"/>
              </p:ext>
            </p:extLst>
          </p:nvPr>
        </p:nvGraphicFramePr>
        <p:xfrm>
          <a:off x="6312024" y="1443916"/>
          <a:ext cx="3816424" cy="18522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2165362" imgH="1051296" progId="ChemDraw.Document.6.0">
                  <p:embed/>
                </p:oleObj>
              </mc:Choice>
              <mc:Fallback>
                <p:oleObj name="CS ChemDraw Drawing" r:id="rId4" imgW="2165362" imgH="1051296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12024" y="1443916"/>
                        <a:ext cx="3816424" cy="18522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5376955"/>
              </p:ext>
            </p:extLst>
          </p:nvPr>
        </p:nvGraphicFramePr>
        <p:xfrm>
          <a:off x="4079776" y="4893067"/>
          <a:ext cx="3240360" cy="1674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1763303" imgH="911361" progId="ChemDraw.Document.6.0">
                  <p:embed/>
                </p:oleObj>
              </mc:Choice>
              <mc:Fallback>
                <p:oleObj name="CS ChemDraw Drawing" r:id="rId6" imgW="1763303" imgH="911361" progId="ChemDraw.Document.6.0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079776" y="4893067"/>
                        <a:ext cx="3240360" cy="1674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29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60648"/>
            <a:ext cx="3132524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MS Reference Sans Serif" panose="020B0604030504040204" pitchFamily="34" charset="0"/>
                <a:cs typeface="Microsoft Sans Serif" pitchFamily="34" charset="0"/>
              </a:rPr>
              <a:t>10. Polycyclic rings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91344" y="750500"/>
            <a:ext cx="82847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Two or more rings can be joined into bicyclic or polycyclic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There are three ways that two rings may be joined.</a:t>
            </a:r>
            <a:endParaRPr lang="zh-CN" altLang="en-US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1742" y="4725144"/>
            <a:ext cx="112332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Fused rings 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are most common, sharing two adjacent carbons and the bond between them.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Bridged rings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are also common, sharing two nonadjacent carbon atoms (the bridgehead carbons) and one or more carbon atoms (the bridge) between them.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err="1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Spirocyclic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compounds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are relatively rare, with the two rings sharing only one carbon atom.</a:t>
            </a:r>
            <a:endParaRPr lang="zh-CN" altLang="en-US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9B03BEA-B925-484E-8492-B084C29F63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3008713"/>
              </p:ext>
            </p:extLst>
          </p:nvPr>
        </p:nvGraphicFramePr>
        <p:xfrm>
          <a:off x="2099237" y="1628800"/>
          <a:ext cx="7938258" cy="2422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3895127" imgH="1188456" progId="ChemDraw.Document.6.0">
                  <p:embed/>
                </p:oleObj>
              </mc:Choice>
              <mc:Fallback>
                <p:oleObj name="CS ChemDraw Drawing" r:id="rId2" imgW="3895127" imgH="1188456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99237" y="1628800"/>
                        <a:ext cx="7938258" cy="2422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893395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30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36549"/>
            <a:ext cx="6377002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MS Reference Sans Serif" panose="020B0604030504040204" pitchFamily="34" charset="0"/>
                <a:cs typeface="Microsoft Sans Serif" pitchFamily="34" charset="0"/>
              </a:rPr>
              <a:t>11. </a:t>
            </a:r>
            <a:r>
              <a:rPr lang="en-US" altLang="zh-CN" sz="2400" b="1" i="1" dirty="0">
                <a:latin typeface="MS Reference Sans Serif" panose="020B0604030504040204" pitchFamily="34" charset="0"/>
                <a:cs typeface="Microsoft Sans Serif" pitchFamily="34" charset="0"/>
              </a:rPr>
              <a:t>cis-trans</a:t>
            </a:r>
            <a:r>
              <a:rPr lang="en-US" altLang="zh-CN" sz="2400" b="1" dirty="0">
                <a:latin typeface="MS Reference Sans Serif" panose="020B0604030504040204" pitchFamily="34" charset="0"/>
                <a:cs typeface="Microsoft Sans Serif" pitchFamily="34" charset="0"/>
              </a:rPr>
              <a:t> Isomerism in Cycloalkanes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9433" y="745299"/>
            <a:ext cx="117512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Open-chain alkanes undergo rotations about their C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C single bonds, so they are free to assume any of an infinite number of conformations.</a:t>
            </a:r>
            <a:endParaRPr lang="zh-CN" altLang="en-US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36" name="TextBox 2"/>
          <p:cNvSpPr txBox="1"/>
          <p:nvPr/>
        </p:nvSpPr>
        <p:spPr>
          <a:xfrm>
            <a:off x="239433" y="3461756"/>
            <a:ext cx="115439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However,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the C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C single bonds in a cycloalkane can not undergo free rotations 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because of the rigid ring structure. This gives rise to </a:t>
            </a:r>
            <a:r>
              <a:rPr lang="en-US" altLang="zh-CN" b="1" i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cis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 and </a:t>
            </a:r>
            <a:r>
              <a:rPr lang="en-US" altLang="zh-CN" b="1" i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trans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isomers with different orientations of the groups on the ring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.</a:t>
            </a:r>
            <a:endParaRPr lang="zh-CN" altLang="en-US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727C407D-14FC-4564-A1B2-06223D071D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2048030"/>
              </p:ext>
            </p:extLst>
          </p:nvPr>
        </p:nvGraphicFramePr>
        <p:xfrm>
          <a:off x="2616920" y="1423082"/>
          <a:ext cx="6120680" cy="197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007744" imgH="1292131" progId="ChemDraw.Document.6.0">
                  <p:embed/>
                </p:oleObj>
              </mc:Choice>
              <mc:Fallback>
                <p:oleObj name="CS ChemDraw Drawing" r:id="rId2" imgW="4007744" imgH="1292131" progId="ChemDraw.Document.6.0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43ED881C-F68C-44F8-B151-D901721387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16920" y="1423082"/>
                        <a:ext cx="6120680" cy="1973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734E9107-23CF-4BD8-9E2A-9C76A96AAF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6193373"/>
              </p:ext>
            </p:extLst>
          </p:nvPr>
        </p:nvGraphicFramePr>
        <p:xfrm>
          <a:off x="82714" y="4565633"/>
          <a:ext cx="6211573" cy="21399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4211961" imgH="1450487" progId="ChemDraw.Document.6.0">
                  <p:embed/>
                </p:oleObj>
              </mc:Choice>
              <mc:Fallback>
                <p:oleObj name="CS ChemDraw Drawing" r:id="rId4" imgW="4211961" imgH="1450487" progId="ChemDraw.Document.6.0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0CABECEB-ED52-424E-9AD9-235640E0BE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2714" y="4565633"/>
                        <a:ext cx="6211573" cy="21399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4">
            <a:extLst>
              <a:ext uri="{FF2B5EF4-FFF2-40B4-BE49-F238E27FC236}">
                <a16:creationId xmlns:a16="http://schemas.microsoft.com/office/drawing/2014/main" id="{273AE4C9-970F-47E9-839C-D13E2D909D0B}"/>
              </a:ext>
            </a:extLst>
          </p:cNvPr>
          <p:cNvSpPr txBox="1"/>
          <p:nvPr/>
        </p:nvSpPr>
        <p:spPr>
          <a:xfrm>
            <a:off x="6317680" y="4280756"/>
            <a:ext cx="57916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zh-CN" sz="1600" b="1" dirty="0">
                <a:latin typeface="Microsoft Sans Serif" pitchFamily="34" charset="0"/>
                <a:cs typeface="Microsoft Sans Serif" pitchFamily="34" charset="0"/>
              </a:rPr>
              <a:t> </a:t>
            </a:r>
            <a:r>
              <a:rPr lang="en-US" altLang="zh-CN" sz="1600" b="1" i="1" dirty="0">
                <a:highlight>
                  <a:srgbClr val="FFFF00"/>
                </a:highlight>
                <a:latin typeface="Microsoft Sans Serif" pitchFamily="34" charset="0"/>
                <a:cs typeface="Microsoft Sans Serif" pitchFamily="34" charset="0"/>
              </a:rPr>
              <a:t>cis</a:t>
            </a:r>
            <a:r>
              <a:rPr lang="en-US" altLang="zh-CN" sz="1600" b="1" dirty="0">
                <a:highlight>
                  <a:srgbClr val="FFFF00"/>
                </a:highlight>
                <a:latin typeface="Microsoft Sans Serif" pitchFamily="34" charset="0"/>
                <a:cs typeface="Microsoft Sans Serif" pitchFamily="34" charset="0"/>
              </a:rPr>
              <a:t> isomer</a:t>
            </a:r>
            <a:r>
              <a:rPr lang="en-US" altLang="zh-CN" sz="1600" b="1" dirty="0">
                <a:latin typeface="Microsoft Sans Serif" pitchFamily="34" charset="0"/>
                <a:cs typeface="Microsoft Sans Serif" pitchFamily="34" charset="0"/>
              </a:rPr>
              <a:t>: two substituents on the </a:t>
            </a:r>
            <a:r>
              <a:rPr lang="en-US" altLang="zh-CN" sz="1600" b="1" dirty="0">
                <a:solidFill>
                  <a:srgbClr val="FF0000"/>
                </a:solidFill>
                <a:latin typeface="Microsoft Sans Serif" pitchFamily="34" charset="0"/>
                <a:cs typeface="Microsoft Sans Serif" pitchFamily="34" charset="0"/>
              </a:rPr>
              <a:t>same side </a:t>
            </a:r>
            <a:r>
              <a:rPr lang="en-US" altLang="zh-CN" sz="1600" b="1" dirty="0">
                <a:latin typeface="Microsoft Sans Serif" pitchFamily="34" charset="0"/>
                <a:cs typeface="Microsoft Sans Serif" pitchFamily="34" charset="0"/>
              </a:rPr>
              <a:t>of a ring.</a:t>
            </a:r>
          </a:p>
          <a:p>
            <a:pPr>
              <a:buFont typeface="Arial" pitchFamily="34" charset="0"/>
              <a:buChar char="•"/>
            </a:pPr>
            <a:r>
              <a:rPr lang="en-US" altLang="zh-CN" sz="1600" b="1" dirty="0">
                <a:latin typeface="Microsoft Sans Serif" pitchFamily="34" charset="0"/>
                <a:cs typeface="Microsoft Sans Serif" pitchFamily="34" charset="0"/>
              </a:rPr>
              <a:t> </a:t>
            </a:r>
            <a:r>
              <a:rPr lang="en-US" altLang="zh-CN" sz="1600" b="1" i="1" dirty="0">
                <a:highlight>
                  <a:srgbClr val="FFFF00"/>
                </a:highlight>
                <a:latin typeface="Microsoft Sans Serif" pitchFamily="34" charset="0"/>
                <a:cs typeface="Microsoft Sans Serif" pitchFamily="34" charset="0"/>
              </a:rPr>
              <a:t>trans</a:t>
            </a:r>
            <a:r>
              <a:rPr lang="en-US" altLang="zh-CN" sz="1600" b="1" dirty="0">
                <a:highlight>
                  <a:srgbClr val="FFFF00"/>
                </a:highlight>
                <a:latin typeface="Microsoft Sans Serif" pitchFamily="34" charset="0"/>
                <a:cs typeface="Microsoft Sans Serif" pitchFamily="34" charset="0"/>
              </a:rPr>
              <a:t>  isomer</a:t>
            </a:r>
            <a:r>
              <a:rPr lang="en-US" altLang="zh-CN" sz="1600" b="1" dirty="0">
                <a:latin typeface="Microsoft Sans Serif" pitchFamily="34" charset="0"/>
                <a:cs typeface="Microsoft Sans Serif" pitchFamily="34" charset="0"/>
              </a:rPr>
              <a:t>: two substituents on </a:t>
            </a:r>
            <a:r>
              <a:rPr lang="en-US" altLang="zh-CN" sz="1600" b="1" dirty="0">
                <a:solidFill>
                  <a:srgbClr val="FF0000"/>
                </a:solidFill>
                <a:latin typeface="Microsoft Sans Serif" pitchFamily="34" charset="0"/>
                <a:cs typeface="Microsoft Sans Serif" pitchFamily="34" charset="0"/>
              </a:rPr>
              <a:t>opposite sides </a:t>
            </a:r>
            <a:r>
              <a:rPr lang="en-US" altLang="zh-CN" sz="1600" b="1" dirty="0">
                <a:latin typeface="Microsoft Sans Serif" pitchFamily="34" charset="0"/>
                <a:cs typeface="Microsoft Sans Serif" pitchFamily="34" charset="0"/>
              </a:rPr>
              <a:t>of the ring.</a:t>
            </a:r>
          </a:p>
          <a:p>
            <a:pPr>
              <a:buFont typeface="Arial" pitchFamily="34" charset="0"/>
              <a:buChar char="•"/>
            </a:pPr>
            <a:r>
              <a:rPr lang="en-US" altLang="zh-CN" sz="1600" b="1" dirty="0">
                <a:latin typeface="Microsoft Sans Serif" pitchFamily="34" charset="0"/>
                <a:cs typeface="Microsoft Sans Serif" pitchFamily="34" charset="0"/>
              </a:rPr>
              <a:t> </a:t>
            </a:r>
            <a:r>
              <a:rPr lang="en-US" altLang="zh-CN" sz="1600" b="1" i="1" dirty="0">
                <a:highlight>
                  <a:srgbClr val="FFFF00"/>
                </a:highlight>
                <a:latin typeface="Microsoft Sans Serif" pitchFamily="34" charset="0"/>
                <a:cs typeface="Microsoft Sans Serif" pitchFamily="34" charset="0"/>
              </a:rPr>
              <a:t>cis-trans</a:t>
            </a:r>
            <a:r>
              <a:rPr lang="en-US" altLang="zh-CN" sz="1600" b="1" dirty="0">
                <a:highlight>
                  <a:srgbClr val="FFFF00"/>
                </a:highlight>
                <a:latin typeface="Microsoft Sans Serif" pitchFamily="34" charset="0"/>
                <a:cs typeface="Microsoft Sans Serif" pitchFamily="34" charset="0"/>
              </a:rPr>
              <a:t>  isomers</a:t>
            </a:r>
            <a:r>
              <a:rPr lang="en-US" altLang="zh-CN" sz="1600" b="1" dirty="0">
                <a:latin typeface="Microsoft Sans Serif" pitchFamily="34" charset="0"/>
                <a:cs typeface="Microsoft Sans Serif" pitchFamily="34" charset="0"/>
              </a:rPr>
              <a:t> cannot interconvert without breaking and reforming bonds. They are </a:t>
            </a:r>
            <a:r>
              <a:rPr lang="en-US" altLang="zh-CN" sz="1600" b="1" dirty="0">
                <a:highlight>
                  <a:srgbClr val="00FF00"/>
                </a:highlight>
                <a:latin typeface="Microsoft Sans Serif" pitchFamily="34" charset="0"/>
                <a:cs typeface="Microsoft Sans Serif" pitchFamily="34" charset="0"/>
              </a:rPr>
              <a:t>different compounds</a:t>
            </a:r>
            <a:r>
              <a:rPr lang="en-US" altLang="zh-CN" sz="1600" b="1" dirty="0">
                <a:latin typeface="Microsoft Sans Serif" pitchFamily="34" charset="0"/>
                <a:cs typeface="Microsoft Sans Serif" pitchFamily="34" charset="0"/>
              </a:rPr>
              <a:t>;  </a:t>
            </a:r>
          </a:p>
          <a:p>
            <a:pPr>
              <a:buFont typeface="Arial" pitchFamily="34" charset="0"/>
              <a:buChar char="•"/>
            </a:pPr>
            <a:r>
              <a:rPr lang="en-US" altLang="zh-CN" sz="1600" b="1" i="1" dirty="0">
                <a:latin typeface="Microsoft Sans Serif" pitchFamily="34" charset="0"/>
                <a:cs typeface="Microsoft Sans Serif" pitchFamily="34" charset="0"/>
              </a:rPr>
              <a:t> </a:t>
            </a:r>
            <a:r>
              <a:rPr lang="en-US" altLang="zh-CN" sz="1600" b="1" i="1" dirty="0">
                <a:highlight>
                  <a:srgbClr val="FFFF00"/>
                </a:highlight>
                <a:latin typeface="Microsoft Sans Serif" pitchFamily="34" charset="0"/>
                <a:cs typeface="Microsoft Sans Serif" pitchFamily="34" charset="0"/>
              </a:rPr>
              <a:t>cis-trans</a:t>
            </a:r>
            <a:r>
              <a:rPr lang="en-US" altLang="zh-CN" sz="1600" b="1" dirty="0">
                <a:highlight>
                  <a:srgbClr val="FFFF00"/>
                </a:highlight>
                <a:latin typeface="Microsoft Sans Serif" pitchFamily="34" charset="0"/>
                <a:cs typeface="Microsoft Sans Serif" pitchFamily="34" charset="0"/>
              </a:rPr>
              <a:t>  isomers</a:t>
            </a:r>
            <a:r>
              <a:rPr lang="en-US" altLang="zh-CN" sz="1600" b="1" dirty="0">
                <a:latin typeface="Microsoft Sans Serif" pitchFamily="34" charset="0"/>
                <a:cs typeface="Microsoft Sans Serif" pitchFamily="34" charset="0"/>
              </a:rPr>
              <a:t> have the same connectivity (bonding sequence). They are </a:t>
            </a:r>
            <a:r>
              <a:rPr lang="en-US" altLang="zh-CN" sz="1600" b="1" dirty="0">
                <a:highlight>
                  <a:srgbClr val="00FF00"/>
                </a:highlight>
                <a:latin typeface="Microsoft Sans Serif" pitchFamily="34" charset="0"/>
                <a:cs typeface="Microsoft Sans Serif" pitchFamily="34" charset="0"/>
              </a:rPr>
              <a:t>not constitutional isomers</a:t>
            </a:r>
            <a:r>
              <a:rPr lang="en-US" altLang="zh-CN" sz="1600" b="1" dirty="0">
                <a:latin typeface="Microsoft Sans Serif" pitchFamily="34" charset="0"/>
                <a:cs typeface="Microsoft Sans Serif" pitchFamily="34" charset="0"/>
              </a:rPr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altLang="zh-CN" sz="1600" b="1" dirty="0">
                <a:latin typeface="Microsoft Sans Serif" pitchFamily="34" charset="0"/>
                <a:cs typeface="Microsoft Sans Serif" pitchFamily="34" charset="0"/>
              </a:rPr>
              <a:t> </a:t>
            </a:r>
            <a:r>
              <a:rPr lang="en-US" altLang="zh-CN" sz="1600" b="1" i="1" dirty="0">
                <a:highlight>
                  <a:srgbClr val="FFFF00"/>
                </a:highlight>
                <a:latin typeface="Microsoft Sans Serif" pitchFamily="34" charset="0"/>
                <a:cs typeface="Microsoft Sans Serif" pitchFamily="34" charset="0"/>
              </a:rPr>
              <a:t>cis-tran</a:t>
            </a:r>
            <a:r>
              <a:rPr lang="en-US" altLang="zh-CN" sz="1600" b="1" dirty="0">
                <a:highlight>
                  <a:srgbClr val="FFFF00"/>
                </a:highlight>
                <a:latin typeface="Microsoft Sans Serif" pitchFamily="34" charset="0"/>
                <a:cs typeface="Microsoft Sans Serif" pitchFamily="34" charset="0"/>
              </a:rPr>
              <a:t>s isomers</a:t>
            </a:r>
            <a:r>
              <a:rPr lang="en-US" altLang="zh-CN" sz="1600" b="1" dirty="0">
                <a:latin typeface="Microsoft Sans Serif" pitchFamily="34" charset="0"/>
                <a:cs typeface="Microsoft Sans Serif" pitchFamily="34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latin typeface="Microsoft Sans Serif" pitchFamily="34" charset="0"/>
                <a:cs typeface="Microsoft Sans Serif" pitchFamily="34" charset="0"/>
              </a:rPr>
              <a:t>have the same bonding sequence</a:t>
            </a:r>
            <a:r>
              <a:rPr lang="en-US" altLang="zh-CN" sz="1600" b="1" dirty="0">
                <a:latin typeface="Microsoft Sans Serif" pitchFamily="34" charset="0"/>
                <a:cs typeface="Microsoft Sans Serif" pitchFamily="34" charset="0"/>
              </a:rPr>
              <a:t>, but they </a:t>
            </a:r>
            <a:r>
              <a:rPr lang="en-US" altLang="zh-CN" sz="1600" b="1" dirty="0">
                <a:solidFill>
                  <a:srgbClr val="0000FF"/>
                </a:solidFill>
                <a:latin typeface="Microsoft Sans Serif" pitchFamily="34" charset="0"/>
                <a:cs typeface="Microsoft Sans Serif" pitchFamily="34" charset="0"/>
              </a:rPr>
              <a:t>differ in the orientation of their atoms in space</a:t>
            </a:r>
            <a:r>
              <a:rPr lang="en-US" altLang="zh-CN" sz="1600" b="1" dirty="0">
                <a:latin typeface="Microsoft Sans Serif" pitchFamily="34" charset="0"/>
                <a:cs typeface="Microsoft Sans Serif" pitchFamily="34" charset="0"/>
              </a:rPr>
              <a:t>, we call them </a:t>
            </a:r>
            <a:r>
              <a:rPr lang="en-US" altLang="zh-CN" sz="1600" b="1" dirty="0">
                <a:highlight>
                  <a:srgbClr val="00FFFF"/>
                </a:highlight>
                <a:latin typeface="Microsoft Sans Serif" pitchFamily="34" charset="0"/>
                <a:cs typeface="Microsoft Sans Serif" pitchFamily="34" charset="0"/>
              </a:rPr>
              <a:t>stereoisomers</a:t>
            </a:r>
            <a:r>
              <a:rPr lang="en-US" altLang="zh-CN" sz="1600" b="1" dirty="0">
                <a:latin typeface="Microsoft Sans Serif" pitchFamily="34" charset="0"/>
                <a:cs typeface="Microsoft Sans Serif" pitchFamily="34" charset="0"/>
              </a:rPr>
              <a:t>.</a:t>
            </a:r>
            <a:endParaRPr lang="zh-CN" altLang="en-US" sz="1600" b="1" dirty="0">
              <a:latin typeface="Microsoft Sans Serif" pitchFamily="34" charset="0"/>
              <a:cs typeface="Microsoft Sans Serif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9477617-2647-4467-926E-BE057B5399F2}"/>
              </a:ext>
            </a:extLst>
          </p:cNvPr>
          <p:cNvSpPr/>
          <p:nvPr/>
        </p:nvSpPr>
        <p:spPr>
          <a:xfrm>
            <a:off x="6374779" y="3270495"/>
            <a:ext cx="5338152" cy="821572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S Reference Sans Serif" panose="020B060403050404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31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86966"/>
            <a:ext cx="7269491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MS Reference Sans Serif" panose="020B0604030504040204" pitchFamily="34" charset="0"/>
                <a:cs typeface="Microsoft Sans Serif" pitchFamily="34" charset="0"/>
              </a:rPr>
              <a:t>12. The instability of small rings: Angle Strain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7217" y="1306052"/>
            <a:ext cx="113739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The carbon atoms in acyclic alkanes have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bond angles of 109.5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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, explained by the tetrahedral geometry of the </a:t>
            </a:r>
            <a:r>
              <a:rPr lang="en-US" altLang="zh-CN" b="1" i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sp</a:t>
            </a:r>
            <a:r>
              <a:rPr lang="en-US" altLang="zh-CN" b="1" baseline="30000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3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 hybridized carbon atoms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  <a:sym typeface="Symbo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Small rings such as cyclopropane and cyclobutane 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require bond angles other than 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109.5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, the orbitals of their CC bonds cannot achieve optimum overlap, resulting in great </a:t>
            </a:r>
            <a:r>
              <a:rPr lang="en-US" altLang="zh-CN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angle strain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 and instability.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38732630-7637-4E71-9EC8-842EDA5053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4097870"/>
              </p:ext>
            </p:extLst>
          </p:nvPr>
        </p:nvGraphicFramePr>
        <p:xfrm>
          <a:off x="911424" y="3094283"/>
          <a:ext cx="3433189" cy="21979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2101049" imgH="1343851" progId="ChemDraw.Document.6.0">
                  <p:embed/>
                </p:oleObj>
              </mc:Choice>
              <mc:Fallback>
                <p:oleObj name="CS ChemDraw Drawing" r:id="rId2" imgW="2101049" imgH="134385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1424" y="3094283"/>
                        <a:ext cx="3433189" cy="21979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9293F402-7FEC-4AC9-BF17-CC49795DCA86}"/>
              </a:ext>
            </a:extLst>
          </p:cNvPr>
          <p:cNvSpPr txBox="1"/>
          <p:nvPr/>
        </p:nvSpPr>
        <p:spPr>
          <a:xfrm>
            <a:off x="6374779" y="3277383"/>
            <a:ext cx="5375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The CC </a:t>
            </a:r>
            <a:r>
              <a:rPr lang="en-US" altLang="zh-CN" sz="1600" b="1" i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sp</a:t>
            </a:r>
            <a:r>
              <a:rPr lang="en-US" altLang="zh-CN" sz="1600" b="1" baseline="30000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3</a:t>
            </a:r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 orbitals of cyclopropane cannot point directly toward each other, and they </a:t>
            </a:r>
            <a:r>
              <a:rPr lang="en-US" altLang="zh-CN" sz="1600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overlap at an angle</a:t>
            </a:r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 to form </a:t>
            </a:r>
            <a:r>
              <a:rPr lang="en-US" altLang="zh-CN" sz="1600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weaker </a:t>
            </a:r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“</a:t>
            </a:r>
            <a:r>
              <a:rPr lang="en-US" altLang="zh-CN" sz="1600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bent bonds</a:t>
            </a:r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”. </a:t>
            </a:r>
            <a:endParaRPr lang="zh-CN" altLang="en-US" sz="1600" dirty="0">
              <a:latin typeface="MS Reference Sans Serif" panose="020B0604030504040204" pitchFamily="34" charset="0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42EBF23E-99E8-4A3C-B7F5-554D6D293E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704877"/>
              </p:ext>
            </p:extLst>
          </p:nvPr>
        </p:nvGraphicFramePr>
        <p:xfrm>
          <a:off x="3832224" y="5526651"/>
          <a:ext cx="2767832" cy="1162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515911" imgH="636644" progId="ChemDraw.Document.6.0">
                  <p:embed/>
                </p:oleObj>
              </mc:Choice>
              <mc:Fallback>
                <p:oleObj name="CS ChemDraw Drawing" r:id="rId4" imgW="1515911" imgH="636644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32224" y="5526651"/>
                        <a:ext cx="2767832" cy="11621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0D7373F5-F288-467B-AEDE-115DD7F029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3811664"/>
              </p:ext>
            </p:extLst>
          </p:nvPr>
        </p:nvGraphicFramePr>
        <p:xfrm>
          <a:off x="7680176" y="4289287"/>
          <a:ext cx="3166497" cy="2404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1720295" imgH="1305795" progId="ChemDraw.Document.6.0">
                  <p:embed/>
                </p:oleObj>
              </mc:Choice>
              <mc:Fallback>
                <p:oleObj name="CS ChemDraw Drawing" r:id="rId6" imgW="1720295" imgH="1305795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680176" y="4289287"/>
                        <a:ext cx="3166497" cy="24040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CD3245D1-BA5B-4B1A-A9D2-A7D7D12FFEE9}"/>
              </a:ext>
            </a:extLst>
          </p:cNvPr>
          <p:cNvSpPr txBox="1"/>
          <p:nvPr/>
        </p:nvSpPr>
        <p:spPr>
          <a:xfrm>
            <a:off x="-96688" y="847907"/>
            <a:ext cx="4652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highlight>
                  <a:srgbClr val="C0C0C0"/>
                </a:highlight>
                <a:latin typeface="MS Reference Sans Serif" panose="020B0604030504040204" pitchFamily="34" charset="0"/>
              </a:rPr>
              <a:t>12-1</a:t>
            </a:r>
            <a:r>
              <a:rPr lang="en-US" altLang="zh-CN" b="1" dirty="0">
                <a:latin typeface="MS Reference Sans Serif" panose="020B0604030504040204" pitchFamily="34" charset="0"/>
              </a:rPr>
              <a:t> </a:t>
            </a:r>
            <a:r>
              <a:rPr lang="en-US" altLang="zh-CN" b="1" dirty="0">
                <a:highlight>
                  <a:srgbClr val="C0C0C0"/>
                </a:highlight>
                <a:latin typeface="MS Reference Sans Serif" panose="020B0604030504040204" pitchFamily="34" charset="0"/>
              </a:rPr>
              <a:t>the Angle Strain of Cyclopropane</a:t>
            </a:r>
            <a:endParaRPr lang="zh-CN" altLang="en-US" b="1" dirty="0">
              <a:highlight>
                <a:srgbClr val="C0C0C0"/>
              </a:highlight>
              <a:latin typeface="MS Reference Sans Serif" panose="020B060403050404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32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13960" y="136524"/>
            <a:ext cx="117866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There are large amounts of angle strain in small rings, especially in cyclopropane.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The existence of the significant angle strain results in instability of small rings.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  <a:sym typeface="Symbo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Cyclopropane is generally more reactive than other alkanes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.</a:t>
            </a:r>
            <a:endParaRPr lang="zh-CN" altLang="en-US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Cyclobutane is less reactive than cyclopropane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, but more reactive than cycloalkanes of large sizes and other alkanes.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61DC0BF-1147-4A9A-8FD0-1B97A89ABB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0990361"/>
              </p:ext>
            </p:extLst>
          </p:nvPr>
        </p:nvGraphicFramePr>
        <p:xfrm>
          <a:off x="761269" y="2072692"/>
          <a:ext cx="4800244" cy="996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2540197" imgH="527234" progId="ChemDraw.Document.6.0">
                  <p:embed/>
                </p:oleObj>
              </mc:Choice>
              <mc:Fallback>
                <p:oleObj name="CS ChemDraw Drawing" r:id="rId2" imgW="2540197" imgH="527234" progId="ChemDraw.Document.6.0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1269" y="2072692"/>
                        <a:ext cx="4800244" cy="9960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C8637CF-882F-4D00-943F-FED9300756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5590856"/>
              </p:ext>
            </p:extLst>
          </p:nvPr>
        </p:nvGraphicFramePr>
        <p:xfrm>
          <a:off x="6227299" y="2138450"/>
          <a:ext cx="5203432" cy="902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2700390" imgH="467771" progId="ChemDraw.Document.6.0">
                  <p:embed/>
                </p:oleObj>
              </mc:Choice>
              <mc:Fallback>
                <p:oleObj name="CS ChemDraw Drawing" r:id="rId4" imgW="2700390" imgH="467771" progId="ChemDraw.Document.6.0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227299" y="2138450"/>
                        <a:ext cx="5203432" cy="9024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表格 13">
            <a:extLst>
              <a:ext uri="{FF2B5EF4-FFF2-40B4-BE49-F238E27FC236}">
                <a16:creationId xmlns:a16="http://schemas.microsoft.com/office/drawing/2014/main" id="{6F2D95BA-C2FE-45B5-87D0-D27CD9EC4F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868133"/>
              </p:ext>
            </p:extLst>
          </p:nvPr>
        </p:nvGraphicFramePr>
        <p:xfrm>
          <a:off x="663808" y="3767553"/>
          <a:ext cx="10887000" cy="28547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24336">
                  <a:extLst>
                    <a:ext uri="{9D8B030D-6E8A-4147-A177-3AD203B41FA5}">
                      <a16:colId xmlns:a16="http://schemas.microsoft.com/office/drawing/2014/main" val="3606722174"/>
                    </a:ext>
                  </a:extLst>
                </a:gridCol>
                <a:gridCol w="4680520">
                  <a:extLst>
                    <a:ext uri="{9D8B030D-6E8A-4147-A177-3AD203B41FA5}">
                      <a16:colId xmlns:a16="http://schemas.microsoft.com/office/drawing/2014/main" val="2611490591"/>
                    </a:ext>
                  </a:extLst>
                </a:gridCol>
                <a:gridCol w="3182144">
                  <a:extLst>
                    <a:ext uri="{9D8B030D-6E8A-4147-A177-3AD203B41FA5}">
                      <a16:colId xmlns:a16="http://schemas.microsoft.com/office/drawing/2014/main" val="1067612335"/>
                    </a:ext>
                  </a:extLst>
                </a:gridCol>
              </a:tblGrid>
              <a:tr h="813575"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Small rings</a:t>
                      </a:r>
                      <a:endParaRPr lang="zh-CN" altLang="en-US" sz="1800" b="1" dirty="0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latin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Unstable, reactive</a:t>
                      </a:r>
                      <a:endParaRPr lang="zh-CN" altLang="en-US" sz="1800" b="1" dirty="0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5436638"/>
                  </a:ext>
                </a:extLst>
              </a:tr>
              <a:tr h="936104"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latin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Common rings</a:t>
                      </a:r>
                      <a:endParaRPr lang="zh-CN" altLang="en-US" sz="1800" b="1" dirty="0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latin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Stable, commonly seen</a:t>
                      </a:r>
                      <a:endParaRPr lang="zh-CN" altLang="en-US" sz="1800" b="1" dirty="0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1043737"/>
                  </a:ext>
                </a:extLst>
              </a:tr>
              <a:tr h="1105068"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latin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Medium and Large rings</a:t>
                      </a:r>
                      <a:endParaRPr lang="zh-CN" altLang="en-US" sz="1800" b="1" dirty="0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latin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Less stable than common rings</a:t>
                      </a:r>
                      <a:endParaRPr lang="zh-CN" altLang="en-US" sz="1800" b="1" dirty="0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6760883"/>
                  </a:ext>
                </a:extLst>
              </a:tr>
            </a:tbl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9936FD7B-84EC-404F-97E4-A0F17B06DD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5625874"/>
              </p:ext>
            </p:extLst>
          </p:nvPr>
        </p:nvGraphicFramePr>
        <p:xfrm>
          <a:off x="4342083" y="3767553"/>
          <a:ext cx="3240360" cy="746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2066327" imgH="476492" progId="ChemDraw.Document.6.0">
                  <p:embed/>
                </p:oleObj>
              </mc:Choice>
              <mc:Fallback>
                <p:oleObj name="CS ChemDraw Drawing" r:id="rId6" imgW="2066327" imgH="476492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342083" y="3767553"/>
                        <a:ext cx="3240360" cy="7466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72CAA31E-6294-41BA-B895-8247FE9562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8028754"/>
              </p:ext>
            </p:extLst>
          </p:nvPr>
        </p:nvGraphicFramePr>
        <p:xfrm>
          <a:off x="4383604" y="5528382"/>
          <a:ext cx="3198839" cy="1104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2142478" imgH="740109" progId="ChemDraw.Document.6.0">
                  <p:embed/>
                </p:oleObj>
              </mc:Choice>
              <mc:Fallback>
                <p:oleObj name="CS ChemDraw Drawing" r:id="rId8" imgW="2142478" imgH="74010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383604" y="5528382"/>
                        <a:ext cx="3198839" cy="1104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C135E459-A57D-4D1B-90A6-3E4DB76099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8329852"/>
              </p:ext>
            </p:extLst>
          </p:nvPr>
        </p:nvGraphicFramePr>
        <p:xfrm>
          <a:off x="4367808" y="4578625"/>
          <a:ext cx="3322985" cy="9593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2122355" imgH="612463" progId="ChemDraw.Document.6.0">
                  <p:embed/>
                </p:oleObj>
              </mc:Choice>
              <mc:Fallback>
                <p:oleObj name="CS ChemDraw Drawing" r:id="rId10" imgW="2122355" imgH="612463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367808" y="4578625"/>
                        <a:ext cx="3322985" cy="9593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79900E07-A6A0-476D-A9F9-B72CEB3752EF}"/>
              </a:ext>
            </a:extLst>
          </p:cNvPr>
          <p:cNvSpPr txBox="1"/>
          <p:nvPr/>
        </p:nvSpPr>
        <p:spPr>
          <a:xfrm>
            <a:off x="-96688" y="3298714"/>
            <a:ext cx="3469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highlight>
                  <a:srgbClr val="C0C0C0"/>
                </a:highlight>
                <a:latin typeface="MS Reference Sans Serif" panose="020B0604030504040204" pitchFamily="34" charset="0"/>
              </a:rPr>
              <a:t>12-2</a:t>
            </a:r>
            <a:r>
              <a:rPr lang="en-US" altLang="zh-CN" b="1" dirty="0">
                <a:latin typeface="MS Reference Sans Serif" panose="020B0604030504040204" pitchFamily="34" charset="0"/>
              </a:rPr>
              <a:t> </a:t>
            </a:r>
            <a:r>
              <a:rPr lang="en-US" altLang="zh-CN" b="1" dirty="0">
                <a:highlight>
                  <a:srgbClr val="C0C0C0"/>
                </a:highlight>
                <a:latin typeface="MS Reference Sans Serif" panose="020B0604030504040204" pitchFamily="34" charset="0"/>
              </a:rPr>
              <a:t>Classifications of Rings</a:t>
            </a:r>
            <a:endParaRPr lang="zh-CN" altLang="en-US" b="1" dirty="0">
              <a:highlight>
                <a:srgbClr val="C0C0C0"/>
              </a:highlight>
              <a:latin typeface="MS Reference Sans Serif" panose="020B060403050404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33</a:t>
            </a:fld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35360" y="747351"/>
            <a:ext cx="115932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If cyclopentane had the shape of a planar, regular pentagon, its bond angles would be 108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, close to the tetrahedral angle of 109.5. However, a planar structure would require all the bonds to be eclipsed, resulting in great torsional strain.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  <a:sym typeface="Symbo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Cyclopentane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 actually assumes a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slightly puckered “envelope” conformation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  that reduces the eclipsing and lowers the torsional strain.</a:t>
            </a:r>
            <a:endParaRPr lang="zh-CN" altLang="en-US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6394154"/>
              </p:ext>
            </p:extLst>
          </p:nvPr>
        </p:nvGraphicFramePr>
        <p:xfrm>
          <a:off x="1028754" y="3501008"/>
          <a:ext cx="10206500" cy="2722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6030108" imgH="1607468" progId="ChemDraw.Document.6.0">
                  <p:embed/>
                </p:oleObj>
              </mc:Choice>
              <mc:Fallback>
                <p:oleObj name="CS ChemDraw Drawing" r:id="rId2" imgW="6030108" imgH="1607468" progId="ChemDraw.Document.6.0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754" y="3501008"/>
                        <a:ext cx="10206500" cy="27222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2">
            <a:extLst>
              <a:ext uri="{FF2B5EF4-FFF2-40B4-BE49-F238E27FC236}">
                <a16:creationId xmlns:a16="http://schemas.microsoft.com/office/drawing/2014/main" id="{44314A57-88C0-42D8-A95D-F6AC0BE6005C}"/>
              </a:ext>
            </a:extLst>
          </p:cNvPr>
          <p:cNvSpPr txBox="1"/>
          <p:nvPr/>
        </p:nvSpPr>
        <p:spPr>
          <a:xfrm>
            <a:off x="0" y="285686"/>
            <a:ext cx="7268528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MS Reference Sans Serif" panose="020B0604030504040204" pitchFamily="34" charset="0"/>
                <a:cs typeface="Microsoft Sans Serif" pitchFamily="34" charset="0"/>
              </a:rPr>
              <a:t>13. the favored conformation of cyclopentane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FDFBC340-725A-42F8-AA62-598A8651DB36}"/>
              </a:ext>
            </a:extLst>
          </p:cNvPr>
          <p:cNvSpPr/>
          <p:nvPr/>
        </p:nvSpPr>
        <p:spPr>
          <a:xfrm>
            <a:off x="6384032" y="3045792"/>
            <a:ext cx="5472608" cy="1103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34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827205"/>
            <a:ext cx="3344185" cy="400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14-1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S Reference Sans Serif" panose="020B0604030504040204" pitchFamily="34" charset="0"/>
                <a:cs typeface="Microsoft Sans Serif" pitchFamily="34" charset="0"/>
              </a:rPr>
              <a:t> 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Chair conformation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3352" y="1280438"/>
            <a:ext cx="114492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Cyclohexane ring systems are particularly stable, common and abundant in nature.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The cyclohexane ring is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not planar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The most stable conformation is the chair conformation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, in which there are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neither angle strain nor torsional strain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  <a:endParaRPr lang="zh-CN" altLang="en-US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253140"/>
            <a:ext cx="4565673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Microsoft Sans Serif" pitchFamily="34" charset="0"/>
                <a:cs typeface="Microsoft Sans Serif" pitchFamily="34" charset="0"/>
              </a:rPr>
              <a:t>14. Cyclohexane Conformations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5774197"/>
              </p:ext>
            </p:extLst>
          </p:nvPr>
        </p:nvGraphicFramePr>
        <p:xfrm>
          <a:off x="932412" y="2802878"/>
          <a:ext cx="2020976" cy="16767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378998" imgH="1144057" progId="ChemDraw.Document.6.0">
                  <p:embed/>
                </p:oleObj>
              </mc:Choice>
              <mc:Fallback>
                <p:oleObj name="CS ChemDraw Drawing" r:id="rId2" imgW="1378998" imgH="1144057" progId="ChemDraw.Document.6.0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32412" y="2802878"/>
                        <a:ext cx="2020976" cy="16767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4498035"/>
              </p:ext>
            </p:extLst>
          </p:nvPr>
        </p:nvGraphicFramePr>
        <p:xfrm>
          <a:off x="3869265" y="2766197"/>
          <a:ext cx="2118723" cy="1750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377420" imgH="1138111" progId="ChemDraw.Document.6.0">
                  <p:embed/>
                </p:oleObj>
              </mc:Choice>
              <mc:Fallback>
                <p:oleObj name="CS ChemDraw Drawing" r:id="rId4" imgW="1377420" imgH="1138111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69265" y="2766197"/>
                        <a:ext cx="2118723" cy="17501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3F41A89-14EC-47EC-BCB0-8AD681D26963}"/>
              </a:ext>
            </a:extLst>
          </p:cNvPr>
          <p:cNvSpPr txBox="1"/>
          <p:nvPr/>
        </p:nvSpPr>
        <p:spPr>
          <a:xfrm>
            <a:off x="6397517" y="3045793"/>
            <a:ext cx="5531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</a:rPr>
              <a:t> In the chair conformation, the angles between the carbon-carbon bonds are all 109</a:t>
            </a:r>
            <a:r>
              <a:rPr lang="en-US" altLang="zh-CN" sz="1600" b="1" baseline="30000" dirty="0">
                <a:latin typeface="MS Reference Sans Serif" panose="020B0604030504040204" pitchFamily="34" charset="0"/>
                <a:cs typeface="Microsoft Sans Serif" pitchFamily="34" charset="0"/>
              </a:rPr>
              <a:t>o</a:t>
            </a:r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</a:rPr>
              <a:t>: </a:t>
            </a:r>
            <a:r>
              <a:rPr lang="en-US" altLang="zh-CN" sz="1600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no angle strain</a:t>
            </a:r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</a:rPr>
              <a:t> The Newman projection shows all the bonds in staggered conformations: </a:t>
            </a:r>
            <a:r>
              <a:rPr lang="en-US" altLang="zh-CN" sz="1600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no torsional strain</a:t>
            </a:r>
            <a:r>
              <a:rPr lang="en-US" altLang="zh-CN" sz="1600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  <a:endParaRPr lang="zh-CN" altLang="en-US" sz="1600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E295C5D-8C35-4C35-84A4-42C86FA4AF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4916273"/>
              </p:ext>
            </p:extLst>
          </p:nvPr>
        </p:nvGraphicFramePr>
        <p:xfrm>
          <a:off x="3344185" y="4819932"/>
          <a:ext cx="7173887" cy="1901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4425210" imgH="1172927" progId="ChemDraw.Document.6.0">
                  <p:embed/>
                </p:oleObj>
              </mc:Choice>
              <mc:Fallback>
                <p:oleObj name="CS ChemDraw Drawing" r:id="rId6" imgW="4425210" imgH="1172927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344185" y="4819932"/>
                        <a:ext cx="7173887" cy="19015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351B3815-D7E4-4D86-9B04-9E8247EA2808}"/>
              </a:ext>
            </a:extLst>
          </p:cNvPr>
          <p:cNvSpPr/>
          <p:nvPr/>
        </p:nvSpPr>
        <p:spPr>
          <a:xfrm>
            <a:off x="4007768" y="2923144"/>
            <a:ext cx="7704856" cy="268121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35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47747" y="647180"/>
            <a:ext cx="114492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There are two different kinds of C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H bonds in the “frozen” chair conformation of cyclohexane: axial bonds and equatorial bonds.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Axial bonds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: six of the bonds 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directed up and down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, parallel to the axis of the ring.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Equatorial bonds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: six of the bonds 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pointing out from the ring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, along the “equator” of the ring.</a:t>
            </a:r>
            <a:endParaRPr lang="zh-CN" altLang="en-US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8623" y="5612995"/>
            <a:ext cx="2053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axial hydrogens</a:t>
            </a:r>
            <a:endParaRPr lang="zh-CN" altLang="en-US" b="1" dirty="0">
              <a:solidFill>
                <a:srgbClr val="FF0000"/>
              </a:solidFill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4607" y="5978383"/>
            <a:ext cx="2701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equatorial hydrogens</a:t>
            </a:r>
            <a:endParaRPr lang="zh-CN" altLang="en-US" b="1" dirty="0">
              <a:solidFill>
                <a:srgbClr val="0000FF"/>
              </a:solidFill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0" y="212736"/>
            <a:ext cx="8184232" cy="400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14-2 Axial and Equatorial Positions in the Chair Conformation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ACB861A0-7341-4C38-AD1E-3BE0EED76D29}"/>
              </a:ext>
            </a:extLst>
          </p:cNvPr>
          <p:cNvSpPr txBox="1"/>
          <p:nvPr/>
        </p:nvSpPr>
        <p:spPr>
          <a:xfrm>
            <a:off x="4079776" y="2986479"/>
            <a:ext cx="763284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Each carbon atom in cyclohexane is bonded to an axial hydrogen and an equatorial hydrogen.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C2, C4, C6 have axial bonds up and equatorial bonds down; C1, C3, C5 have equatorial bonds up and axial bonds down.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This </a:t>
            </a:r>
            <a:r>
              <a:rPr lang="en-US" altLang="zh-CN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pattern of alternating axial and equatorial bonds  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is helpful for predicting the conformations of substituted cyclohexanes.</a:t>
            </a:r>
            <a:endParaRPr lang="zh-CN" altLang="en-US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A6D4020-6C71-460D-B991-5BED364002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853074"/>
              </p:ext>
            </p:extLst>
          </p:nvPr>
        </p:nvGraphicFramePr>
        <p:xfrm>
          <a:off x="479376" y="2489296"/>
          <a:ext cx="3265549" cy="311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377420" imgH="1314912" progId="ChemDraw.Document.6.0">
                  <p:embed/>
                </p:oleObj>
              </mc:Choice>
              <mc:Fallback>
                <p:oleObj name="CS ChemDraw Drawing" r:id="rId2" imgW="1377420" imgH="1314912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9376" y="2489296"/>
                        <a:ext cx="3265549" cy="3115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36</a:t>
            </a:fld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01856" y="754379"/>
            <a:ext cx="116267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By rotation along the C-C bonds, one chair conformation can be converted to the other chair conformation through other typical but less stable conformations.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At any instant, most of the molecules in a cyclohexane sample are in chair conformations.</a:t>
            </a:r>
            <a:endParaRPr lang="zh-CN" altLang="en-US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2769357"/>
              </p:ext>
            </p:extLst>
          </p:nvPr>
        </p:nvGraphicFramePr>
        <p:xfrm>
          <a:off x="2783632" y="4141258"/>
          <a:ext cx="6999375" cy="2376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035197" imgH="1369618" progId="ChemDraw.Document.6.0">
                  <p:embed/>
                </p:oleObj>
              </mc:Choice>
              <mc:Fallback>
                <p:oleObj name="CS ChemDraw Drawing" r:id="rId2" imgW="4035197" imgH="1369618" progId="ChemDraw.Document.6.0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83632" y="4141258"/>
                        <a:ext cx="6999375" cy="23762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DF57BD33-47C0-4363-9877-2D56BFBD6554}"/>
              </a:ext>
            </a:extLst>
          </p:cNvPr>
          <p:cNvSpPr/>
          <p:nvPr/>
        </p:nvSpPr>
        <p:spPr>
          <a:xfrm>
            <a:off x="-10864" y="250638"/>
            <a:ext cx="8051080" cy="400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14-3 Interconversion of chair conformations through ring flip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74FB453-9557-4730-8B1B-F5FA48E42F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7604444"/>
              </p:ext>
            </p:extLst>
          </p:nvPr>
        </p:nvGraphicFramePr>
        <p:xfrm>
          <a:off x="1847528" y="1846320"/>
          <a:ext cx="8225532" cy="1631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4299160" imgH="853088" progId="ChemDraw.Document.6.0">
                  <p:embed/>
                </p:oleObj>
              </mc:Choice>
              <mc:Fallback>
                <p:oleObj name="CS ChemDraw Drawing" r:id="rId4" imgW="4299160" imgH="853088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47528" y="1846320"/>
                        <a:ext cx="8225532" cy="16311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4F67F8B5-04B8-4BBC-8783-64D0238C5CA2}"/>
              </a:ext>
            </a:extLst>
          </p:cNvPr>
          <p:cNvSpPr/>
          <p:nvPr/>
        </p:nvSpPr>
        <p:spPr>
          <a:xfrm>
            <a:off x="3503712" y="5229789"/>
            <a:ext cx="4968552" cy="707886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37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177175"/>
            <a:ext cx="8544272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MS Reference Sans Serif" panose="020B0604030504040204" pitchFamily="34" charset="0"/>
                <a:cs typeface="Microsoft Sans Serif" pitchFamily="34" charset="0"/>
              </a:rPr>
              <a:t>14-4 Conformations of </a:t>
            </a:r>
            <a:r>
              <a:rPr lang="en-US" altLang="zh-CN" sz="2400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Monosubstituted Cyclohexanes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5360" y="698132"/>
            <a:ext cx="114492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A substituent on a cyclohexane ring (in the chair conformation) can occupy either an axial or an equatorial position.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The two possible chair conformations for methylcyclohexane are in equilibrium because they interconvert at room temperature.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The chair with the methyl group in an equatorial position 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is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lower in energy 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and therefore is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the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predominant conformation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  <a:endParaRPr lang="zh-CN" altLang="en-US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61709" y="5239330"/>
            <a:ext cx="511256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Microsoft Sans Serif" pitchFamily="34" charset="0"/>
                <a:cs typeface="Microsoft Sans Serif" pitchFamily="34" charset="0"/>
              </a:rPr>
              <a:t> 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The chair-chair interconversion changes </a:t>
            </a:r>
            <a:r>
              <a:rPr lang="en-US" altLang="zh-CN" b="1" i="1" dirty="0">
                <a:latin typeface="MS Reference Sans Serif" panose="020B0604030504040204" pitchFamily="34" charset="0"/>
                <a:cs typeface="Microsoft Sans Serif" pitchFamily="34" charset="0"/>
              </a:rPr>
              <a:t>equatorial to axial  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and </a:t>
            </a:r>
            <a:r>
              <a:rPr lang="en-US" altLang="zh-CN" b="1" i="1" dirty="0">
                <a:latin typeface="MS Reference Sans Serif" panose="020B0604030504040204" pitchFamily="34" charset="0"/>
                <a:cs typeface="Microsoft Sans Serif" pitchFamily="34" charset="0"/>
              </a:rPr>
              <a:t>axial to equatorial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  <a:endParaRPr lang="zh-CN" altLang="en-US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9483249"/>
              </p:ext>
            </p:extLst>
          </p:nvPr>
        </p:nvGraphicFramePr>
        <p:xfrm>
          <a:off x="1343472" y="3549611"/>
          <a:ext cx="9001716" cy="161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207226" imgH="755569" progId="ChemDraw.Document.6.0">
                  <p:embed/>
                </p:oleObj>
              </mc:Choice>
              <mc:Fallback>
                <p:oleObj name="CS ChemDraw Drawing" r:id="rId2" imgW="4207226" imgH="755569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43472" y="3549611"/>
                        <a:ext cx="9001716" cy="1616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ED157763-5910-4D93-8D75-553227263D85}"/>
              </a:ext>
            </a:extLst>
          </p:cNvPr>
          <p:cNvSpPr txBox="1"/>
          <p:nvPr/>
        </p:nvSpPr>
        <p:spPr>
          <a:xfrm>
            <a:off x="1487488" y="5239330"/>
            <a:ext cx="18646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equatorial CH</a:t>
            </a:r>
            <a:r>
              <a:rPr lang="en-US" altLang="zh-CN" b="1" baseline="-25000" dirty="0">
                <a:solidFill>
                  <a:srgbClr val="FF0000"/>
                </a:solidFill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3</a:t>
            </a:r>
          </a:p>
          <a:p>
            <a:pPr algn="ctr"/>
            <a:r>
              <a:rPr lang="en-US" altLang="zh-CN" b="1" dirty="0">
                <a:solidFill>
                  <a:srgbClr val="FF0000"/>
                </a:solidFill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favored </a:t>
            </a:r>
            <a:endParaRPr lang="zh-CN" altLang="en-US" b="1" dirty="0">
              <a:solidFill>
                <a:srgbClr val="FF0000"/>
              </a:solidFill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1EAB086-9F2C-4F02-A874-04CB76C6E747}"/>
              </a:ext>
            </a:extLst>
          </p:cNvPr>
          <p:cNvSpPr/>
          <p:nvPr/>
        </p:nvSpPr>
        <p:spPr>
          <a:xfrm>
            <a:off x="2098049" y="5886329"/>
            <a:ext cx="7454335" cy="707886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38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512761" y="2902709"/>
            <a:ext cx="5285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axial </a:t>
            </a:r>
            <a:r>
              <a:rPr lang="en-US" altLang="zh-CN" b="1" dirty="0" err="1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methylcyclohexane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conformation has gauche interactions: disfavored.</a:t>
            </a:r>
            <a:endParaRPr lang="zh-CN" altLang="en-US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4507074"/>
              </p:ext>
            </p:extLst>
          </p:nvPr>
        </p:nvGraphicFramePr>
        <p:xfrm>
          <a:off x="911424" y="4405497"/>
          <a:ext cx="1771300" cy="1152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1075974" imgH="700864" progId="ChemDraw.Document.6.0">
                  <p:embed/>
                </p:oleObj>
              </mc:Choice>
              <mc:Fallback>
                <p:oleObj name="CS ChemDraw Drawing" r:id="rId3" imgW="1075974" imgH="700864" progId="ChemDraw.Document.6.0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1424" y="4405497"/>
                        <a:ext cx="1771300" cy="11521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3143672" y="4633618"/>
            <a:ext cx="7920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axial methyl is placed too close to the two axial Hs on C3 and C5: repulsion; the axial methylcyclohexane conformation has a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1,3-diaxial interaction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: disfavored.</a:t>
            </a:r>
            <a:endParaRPr lang="zh-CN" altLang="en-US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" name="爆炸形 1 12"/>
          <p:cNvSpPr/>
          <p:nvPr/>
        </p:nvSpPr>
        <p:spPr>
          <a:xfrm>
            <a:off x="845349" y="4374273"/>
            <a:ext cx="648072" cy="504056"/>
          </a:xfrm>
          <a:prstGeom prst="irregularSeal1">
            <a:avLst/>
          </a:prstGeom>
          <a:noFill/>
          <a:ln w="31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0"/>
          <p:cNvSpPr txBox="1"/>
          <p:nvPr/>
        </p:nvSpPr>
        <p:spPr>
          <a:xfrm>
            <a:off x="2155766" y="5917106"/>
            <a:ext cx="7324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A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bulky substituent 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tends to adopt the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equatorial position 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in the chair conformation of a  cyclohexane.</a:t>
            </a:r>
            <a:endParaRPr lang="zh-CN" altLang="en-US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1796232" y="4642908"/>
            <a:ext cx="359534" cy="360040"/>
          </a:xfrm>
          <a:prstGeom prst="ellipse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2098049" y="4419519"/>
            <a:ext cx="359534" cy="360040"/>
          </a:xfrm>
          <a:prstGeom prst="ellipse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2E5CCC5-0342-4999-B0EE-6188C20B5E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6365321"/>
              </p:ext>
            </p:extLst>
          </p:nvPr>
        </p:nvGraphicFramePr>
        <p:xfrm>
          <a:off x="2682724" y="271893"/>
          <a:ext cx="5483670" cy="183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5" imgW="3294602" imgH="1100055" progId="ChemDraw.Document.6.0">
                  <p:embed/>
                </p:oleObj>
              </mc:Choice>
              <mc:Fallback>
                <p:oleObj name="CS ChemDraw Drawing" r:id="rId5" imgW="3294602" imgH="1100055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82724" y="271893"/>
                        <a:ext cx="5483670" cy="1831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0692C303-3C3B-4DC2-853C-3CDD65E818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4241502"/>
              </p:ext>
            </p:extLst>
          </p:nvPr>
        </p:nvGraphicFramePr>
        <p:xfrm>
          <a:off x="695400" y="2444421"/>
          <a:ext cx="6222789" cy="153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7" imgW="3768472" imgH="930785" progId="ChemDraw.Document.6.0">
                  <p:embed/>
                </p:oleObj>
              </mc:Choice>
              <mc:Fallback>
                <p:oleObj name="CS ChemDraw Drawing" r:id="rId7" imgW="3768472" imgH="930785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95400" y="2444421"/>
                        <a:ext cx="6222789" cy="1536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713156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39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197774"/>
            <a:ext cx="8040216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MS Reference Sans Serif" panose="020B0604030504040204" pitchFamily="34" charset="0"/>
                <a:cs typeface="Microsoft Sans Serif" pitchFamily="34" charset="0"/>
              </a:rPr>
              <a:t>14-5 Conformations of </a:t>
            </a:r>
            <a:r>
              <a:rPr lang="en-US" altLang="zh-CN" sz="2400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Disubstituted Cyclohexanes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359" y="5892582"/>
            <a:ext cx="11521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The </a:t>
            </a:r>
            <a:r>
              <a:rPr lang="en-US" altLang="zh-CN" b="1" dirty="0" err="1">
                <a:latin typeface="MS Reference Sans Serif" panose="020B0604030504040204" pitchFamily="34" charset="0"/>
                <a:cs typeface="Microsoft Sans Serif" pitchFamily="34" charset="0"/>
              </a:rPr>
              <a:t>diaxial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chair conformation is disfavored because of severe 1,3-diaxial repulsions.</a:t>
            </a:r>
          </a:p>
          <a:p>
            <a:pPr>
              <a:buFont typeface="Arial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The most stable conformation of the </a:t>
            </a:r>
            <a:r>
              <a:rPr lang="en-US" altLang="zh-CN" b="1" i="1" dirty="0">
                <a:latin typeface="MS Reference Sans Serif" panose="020B0604030504040204" pitchFamily="34" charset="0"/>
                <a:cs typeface="Microsoft Sans Serif" pitchFamily="34" charset="0"/>
              </a:rPr>
              <a:t>cis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-isomer has both methyl groups in equatorial positions.</a:t>
            </a:r>
            <a:endParaRPr lang="zh-CN" altLang="en-US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graphicFrame>
        <p:nvGraphicFramePr>
          <p:cNvPr id="8090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9386786"/>
              </p:ext>
            </p:extLst>
          </p:nvPr>
        </p:nvGraphicFramePr>
        <p:xfrm>
          <a:off x="2493838" y="936952"/>
          <a:ext cx="7204321" cy="1854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015370" imgH="1032766" progId="ChemDraw.Document.6.0">
                  <p:embed/>
                </p:oleObj>
              </mc:Choice>
              <mc:Fallback>
                <p:oleObj name="CS ChemDraw Drawing" r:id="rId2" imgW="4015370" imgH="1032766" progId="ChemDraw.Document.6.0">
                  <p:embed/>
                  <p:pic>
                    <p:nvPicPr>
                      <p:cNvPr id="8090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3838" y="936952"/>
                        <a:ext cx="7204321" cy="18544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3321821"/>
              </p:ext>
            </p:extLst>
          </p:nvPr>
        </p:nvGraphicFramePr>
        <p:xfrm>
          <a:off x="2207568" y="3068960"/>
          <a:ext cx="8395938" cy="2664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4497230" imgH="1427495" progId="ChemDraw.Document.6.0">
                  <p:embed/>
                </p:oleObj>
              </mc:Choice>
              <mc:Fallback>
                <p:oleObj name="CS ChemDraw Drawing" r:id="rId4" imgW="4497230" imgH="1427495" progId="ChemDraw.Document.6.0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07568" y="3068960"/>
                        <a:ext cx="8395938" cy="26642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40</a:t>
            </a:fld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263352" y="3356992"/>
            <a:ext cx="1173730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Either conformation of the </a:t>
            </a:r>
            <a:r>
              <a:rPr lang="en-US" altLang="zh-CN" b="1" i="1" dirty="0">
                <a:latin typeface="MS Reference Sans Serif" panose="020B0604030504040204" pitchFamily="34" charset="0"/>
                <a:cs typeface="Microsoft Sans Serif" pitchFamily="34" charset="0"/>
              </a:rPr>
              <a:t>trans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-isomer places one methyl group in an axial position and one in an equatorial position.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For 1,3-dimethylcyclohexane, the </a:t>
            </a:r>
            <a:r>
              <a:rPr lang="en-US" altLang="zh-CN" b="1" i="1" dirty="0">
                <a:latin typeface="MS Reference Sans Serif" panose="020B0604030504040204" pitchFamily="34" charset="0"/>
                <a:cs typeface="Microsoft Sans Serif" pitchFamily="34" charset="0"/>
              </a:rPr>
              <a:t>trans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-isomer is therefore higher in energy than the </a:t>
            </a:r>
            <a:r>
              <a:rPr lang="en-US" altLang="zh-CN" b="1" i="1" dirty="0">
                <a:latin typeface="MS Reference Sans Serif" panose="020B0604030504040204" pitchFamily="34" charset="0"/>
                <a:cs typeface="Microsoft Sans Serif" pitchFamily="34" charset="0"/>
              </a:rPr>
              <a:t>cis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-isomer.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Remember that 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the </a:t>
            </a:r>
            <a:r>
              <a:rPr lang="en-US" altLang="zh-CN" b="1" i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cis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 and </a:t>
            </a:r>
            <a:r>
              <a:rPr lang="en-US" altLang="zh-CN" b="1" i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trans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 isomers cannot interconvert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 They are different compounds, instead of different conformations of the same compound.</a:t>
            </a:r>
            <a:endParaRPr lang="zh-CN" altLang="en-US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4196278"/>
              </p:ext>
            </p:extLst>
          </p:nvPr>
        </p:nvGraphicFramePr>
        <p:xfrm>
          <a:off x="2157291" y="450527"/>
          <a:ext cx="7877417" cy="2626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169743" imgH="1391024" progId="ChemDraw.Document.6.0">
                  <p:embed/>
                </p:oleObj>
              </mc:Choice>
              <mc:Fallback>
                <p:oleObj name="CS ChemDraw Drawing" r:id="rId2" imgW="4169743" imgH="1391024" progId="ChemDraw.Document.6.0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57291" y="450527"/>
                        <a:ext cx="7877417" cy="2626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415480" y="5699587"/>
            <a:ext cx="97930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Consider the most stable conformations of 1,2-dimethylcyclohexane, and 1,4-dimethylcyclohexane.</a:t>
            </a:r>
            <a:endParaRPr lang="zh-CN" altLang="en-US" sz="2000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623C1869-72E6-415C-803A-982BDBA4CE53}"/>
              </a:ext>
            </a:extLst>
          </p:cNvPr>
          <p:cNvSpPr/>
          <p:nvPr/>
        </p:nvSpPr>
        <p:spPr>
          <a:xfrm>
            <a:off x="6469832" y="4964975"/>
            <a:ext cx="5112568" cy="1200329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41</a:t>
            </a:fld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77144" y="228580"/>
            <a:ext cx="115794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In many substituted </a:t>
            </a:r>
            <a:r>
              <a:rPr lang="en-US" altLang="zh-CN" b="1" dirty="0" err="1">
                <a:latin typeface="MS Reference Sans Serif" panose="020B0604030504040204" pitchFamily="34" charset="0"/>
                <a:cs typeface="Microsoft Sans Serif" pitchFamily="34" charset="0"/>
              </a:rPr>
              <a:t>cyclohexanes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, the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substituents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have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different sizes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 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If both groups cannot be equatorial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, </a:t>
            </a:r>
            <a:r>
              <a:rPr lang="en-US" altLang="zh-CN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the most stable conformation has the larger group equatorial and the smaller group axial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0818086"/>
              </p:ext>
            </p:extLst>
          </p:nvPr>
        </p:nvGraphicFramePr>
        <p:xfrm>
          <a:off x="768232" y="4190345"/>
          <a:ext cx="5298660" cy="2016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2770622" imgH="1054467" progId="ChemDraw.Document.6.0">
                  <p:embed/>
                </p:oleObj>
              </mc:Choice>
              <mc:Fallback>
                <p:oleObj name="CS ChemDraw Drawing" r:id="rId2" imgW="2770622" imgH="1054467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8232" y="4190345"/>
                        <a:ext cx="5298660" cy="20162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E5B8B060-329D-4FCC-BB2A-CC6C7FEE9888}"/>
              </a:ext>
            </a:extLst>
          </p:cNvPr>
          <p:cNvSpPr txBox="1"/>
          <p:nvPr/>
        </p:nvSpPr>
        <p:spPr>
          <a:xfrm>
            <a:off x="6469832" y="4964975"/>
            <a:ext cx="51125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i="1" dirty="0">
                <a:latin typeface="MS Reference Sans Serif" panose="020B0604030504040204" pitchFamily="34" charset="0"/>
                <a:cs typeface="Microsoft Sans Serif" pitchFamily="34" charset="0"/>
              </a:rPr>
              <a:t>tert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-Butyl group is very bulky.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Cyclohexanes with </a:t>
            </a:r>
            <a:r>
              <a:rPr lang="en-US" altLang="zh-CN" b="1" i="1" dirty="0">
                <a:latin typeface="MS Reference Sans Serif" panose="020B0604030504040204" pitchFamily="34" charset="0"/>
                <a:cs typeface="Microsoft Sans Serif" pitchFamily="34" charset="0"/>
              </a:rPr>
              <a:t>t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-butyl substituents are most stable when </a:t>
            </a:r>
            <a:r>
              <a:rPr lang="en-US" altLang="zh-CN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the </a:t>
            </a:r>
            <a:r>
              <a:rPr lang="en-US" altLang="zh-CN" b="1" i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t</a:t>
            </a:r>
            <a:r>
              <a:rPr lang="en-US" altLang="zh-CN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-butyl group is in an equatorial position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  <a:endParaRPr lang="zh-CN" altLang="en-US" dirty="0">
              <a:latin typeface="MS Reference Sans Serif" panose="020B0604030504040204" pitchFamily="34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D99F40D-67D1-431F-B5F5-779A8EE44E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3794837"/>
              </p:ext>
            </p:extLst>
          </p:nvPr>
        </p:nvGraphicFramePr>
        <p:xfrm>
          <a:off x="5375920" y="1208153"/>
          <a:ext cx="4563433" cy="18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2474606" imgH="976222" progId="ChemDraw.Document.6.0">
                  <p:embed/>
                </p:oleObj>
              </mc:Choice>
              <mc:Fallback>
                <p:oleObj name="CS ChemDraw Drawing" r:id="rId4" imgW="2474606" imgH="976222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75920" y="1208153"/>
                        <a:ext cx="4563433" cy="180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592D9BA0-28A3-4E11-BAA3-A0AF2096F86D}"/>
              </a:ext>
            </a:extLst>
          </p:cNvPr>
          <p:cNvSpPr txBox="1"/>
          <p:nvPr/>
        </p:nvSpPr>
        <p:spPr>
          <a:xfrm>
            <a:off x="1271464" y="1735844"/>
            <a:ext cx="5000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MS Reference Sans Serif" panose="020B0604030504040204" pitchFamily="34" charset="0"/>
              </a:rPr>
              <a:t>Consider the most stable conformation of</a:t>
            </a:r>
            <a:endParaRPr lang="zh-CN" altLang="en-US" b="1" dirty="0">
              <a:latin typeface="MS Reference Sans Serif" panose="020B060403050404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42</a:t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0" y="214519"/>
            <a:ext cx="4223792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15. </a:t>
            </a:r>
            <a:r>
              <a:rPr lang="en-US" altLang="zh-CN" sz="2400" b="1" i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cis</a:t>
            </a:r>
            <a:r>
              <a:rPr lang="en-US" altLang="zh-CN" sz="24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- and </a:t>
            </a:r>
            <a:r>
              <a:rPr lang="en-US" altLang="zh-CN" sz="2400" b="1" i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trans</a:t>
            </a:r>
            <a:r>
              <a:rPr lang="en-US" altLang="zh-CN" sz="24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-Decalin</a:t>
            </a:r>
            <a:endParaRPr lang="zh-CN" altLang="en-US" sz="2400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3352" y="775586"/>
            <a:ext cx="80633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err="1">
                <a:solidFill>
                  <a:srgbClr val="0000FF"/>
                </a:solidFill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Decalin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is the most common example of a 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fused-ring system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err="1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Decalin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has two cis, trans-isomers:  </a:t>
            </a:r>
            <a:r>
              <a:rPr lang="en-US" altLang="zh-CN" b="1" i="1" dirty="0">
                <a:solidFill>
                  <a:srgbClr val="FF0000"/>
                </a:solidFill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cis</a:t>
            </a:r>
            <a:r>
              <a:rPr lang="en-US" altLang="zh-CN" b="1" dirty="0">
                <a:solidFill>
                  <a:srgbClr val="FF0000"/>
                </a:solidFill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-</a:t>
            </a:r>
            <a:r>
              <a:rPr lang="en-US" altLang="zh-CN" b="1" dirty="0" err="1">
                <a:solidFill>
                  <a:srgbClr val="FF0000"/>
                </a:solidFill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decalin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and </a:t>
            </a:r>
            <a:r>
              <a:rPr lang="en-US" altLang="zh-CN" b="1" i="1" dirty="0">
                <a:solidFill>
                  <a:srgbClr val="FF0000"/>
                </a:solidFill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trans</a:t>
            </a:r>
            <a:r>
              <a:rPr lang="en-US" altLang="zh-CN" b="1" dirty="0">
                <a:solidFill>
                  <a:srgbClr val="FF0000"/>
                </a:solidFill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-</a:t>
            </a:r>
            <a:r>
              <a:rPr lang="en-US" altLang="zh-CN" b="1" dirty="0" err="1">
                <a:solidFill>
                  <a:srgbClr val="FF0000"/>
                </a:solidFill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decalin</a:t>
            </a:r>
            <a:endParaRPr lang="zh-CN" altLang="en-US" b="1" dirty="0">
              <a:solidFill>
                <a:srgbClr val="FF0000"/>
              </a:solidFill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4435997"/>
              </p:ext>
            </p:extLst>
          </p:nvPr>
        </p:nvGraphicFramePr>
        <p:xfrm>
          <a:off x="2729508" y="3846627"/>
          <a:ext cx="5052602" cy="1969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2375664" imgH="924839" progId="ChemDraw.Document.6.0">
                  <p:embed/>
                </p:oleObj>
              </mc:Choice>
              <mc:Fallback>
                <p:oleObj name="CS ChemDraw Drawing" r:id="rId2" imgW="2375664" imgH="924839" progId="ChemDraw.Document.6.0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29508" y="3846627"/>
                        <a:ext cx="5052602" cy="19690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3749742" y="6082414"/>
            <a:ext cx="34852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MS Reference Sans Serif" panose="020B0604030504040204" pitchFamily="34" charset="0"/>
              </a:rPr>
              <a:t>Which is lower in energy?</a:t>
            </a:r>
            <a:endParaRPr lang="zh-CN" altLang="en-US" sz="2000" b="1" dirty="0">
              <a:latin typeface="MS Reference Sans Serif" panose="020B0604030504040204" pitchFamily="34" charset="0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366D49F-0A79-4B04-B993-67BE31C952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8963784"/>
              </p:ext>
            </p:extLst>
          </p:nvPr>
        </p:nvGraphicFramePr>
        <p:xfrm>
          <a:off x="3071664" y="1873123"/>
          <a:ext cx="4619479" cy="189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2276629" imgH="935542" progId="ChemDraw.Document.6.0">
                  <p:embed/>
                </p:oleObj>
              </mc:Choice>
              <mc:Fallback>
                <p:oleObj name="CS ChemDraw Drawing" r:id="rId4" imgW="2276629" imgH="935542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71664" y="1873123"/>
                        <a:ext cx="4619479" cy="189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3516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4160</TotalTime>
  <Words>3770</Words>
  <Application>Microsoft Macintosh PowerPoint</Application>
  <PresentationFormat>Widescreen</PresentationFormat>
  <Paragraphs>510</Paragraphs>
  <Slides>42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Arial</vt:lpstr>
      <vt:lpstr>Calibri</vt:lpstr>
      <vt:lpstr>Comic Sans MS</vt:lpstr>
      <vt:lpstr>Microsoft Sans Serif</vt:lpstr>
      <vt:lpstr>MS Reference Sans Serif</vt:lpstr>
      <vt:lpstr>Symbol</vt:lpstr>
      <vt:lpstr>Office 主题</vt:lpstr>
      <vt:lpstr>CS ChemDraw Drawing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Xiyuan Chen (BSc Bio Sc(UoB) w Pha(HUST) FT)</cp:lastModifiedBy>
  <cp:revision>658</cp:revision>
  <dcterms:created xsi:type="dcterms:W3CDTF">2016-06-30T00:33:13Z</dcterms:created>
  <dcterms:modified xsi:type="dcterms:W3CDTF">2026-09-11T12:42:19Z</dcterms:modified>
</cp:coreProperties>
</file>