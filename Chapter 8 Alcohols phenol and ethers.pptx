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96" r:id="rId7"/>
    <p:sldId id="263" r:id="rId8"/>
    <p:sldId id="293" r:id="rId9"/>
    <p:sldId id="264" r:id="rId10"/>
    <p:sldId id="283" r:id="rId11"/>
    <p:sldId id="267" r:id="rId12"/>
    <p:sldId id="268" r:id="rId13"/>
    <p:sldId id="269" r:id="rId14"/>
    <p:sldId id="282" r:id="rId15"/>
    <p:sldId id="271" r:id="rId16"/>
    <p:sldId id="272" r:id="rId17"/>
    <p:sldId id="273" r:id="rId18"/>
    <p:sldId id="285" r:id="rId19"/>
    <p:sldId id="286" r:id="rId20"/>
    <p:sldId id="297" r:id="rId21"/>
    <p:sldId id="276" r:id="rId22"/>
    <p:sldId id="278" r:id="rId23"/>
    <p:sldId id="279" r:id="rId24"/>
    <p:sldId id="280" r:id="rId25"/>
    <p:sldId id="299" r:id="rId26"/>
    <p:sldId id="301" r:id="rId27"/>
    <p:sldId id="302" r:id="rId28"/>
    <p:sldId id="303" r:id="rId29"/>
    <p:sldId id="304" r:id="rId30"/>
    <p:sldId id="305" r:id="rId31"/>
    <p:sldId id="284" r:id="rId32"/>
    <p:sldId id="262" r:id="rId33"/>
    <p:sldId id="306" r:id="rId34"/>
    <p:sldId id="307" r:id="rId35"/>
    <p:sldId id="308" r:id="rId36"/>
    <p:sldId id="309" r:id="rId37"/>
    <p:sldId id="310" r:id="rId38"/>
    <p:sldId id="311" r:id="rId39"/>
    <p:sldId id="270" r:id="rId40"/>
    <p:sldId id="312" r:id="rId41"/>
    <p:sldId id="313" r:id="rId42"/>
    <p:sldId id="314" r:id="rId43"/>
    <p:sldId id="315" r:id="rId44"/>
    <p:sldId id="275" r:id="rId45"/>
    <p:sldId id="316" r:id="rId46"/>
    <p:sldId id="317" r:id="rId47"/>
    <p:sldId id="256" r:id="rId48"/>
    <p:sldId id="318" r:id="rId49"/>
    <p:sldId id="319" r:id="rId50"/>
    <p:sldId id="320" r:id="rId51"/>
    <p:sldId id="322" r:id="rId52"/>
    <p:sldId id="323" r:id="rId53"/>
    <p:sldId id="324" r:id="rId54"/>
    <p:sldId id="325" r:id="rId55"/>
    <p:sldId id="326" r:id="rId56"/>
    <p:sldId id="265" r:id="rId57"/>
    <p:sldId id="266" r:id="rId58"/>
    <p:sldId id="327" r:id="rId59"/>
    <p:sldId id="328" r:id="rId60"/>
    <p:sldId id="329" r:id="rId6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71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image" Target="../media/image1.e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image" Target="../media/image5.e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image" Target="../media/image8.emf"/><Relationship Id="rId1" Type="http://schemas.openxmlformats.org/officeDocument/2006/relationships/image" Target="../media/image7.emf"/><Relationship Id="rId5" Type="http://schemas.openxmlformats.org/officeDocument/2006/relationships/image" Target="../media/image11.emf"/><Relationship Id="rId4" Type="http://schemas.openxmlformats.org/officeDocument/2006/relationships/image" Target="../media/image10.emf"/></Relationships>
</file>

<file path=ppt/drawings/_rels/vmlDrawing4.vml.rels><?xml version="1.0" encoding="UTF-8" standalone="yes"?>
<Relationships xmlns="http://schemas.openxmlformats.org/package/2006/relationships"><Relationship Id="rId2" Type="http://schemas.openxmlformats.org/officeDocument/2006/relationships/image" Target="../media/image13.emf"/><Relationship Id="rId1" Type="http://schemas.openxmlformats.org/officeDocument/2006/relationships/image" Target="../media/image12.emf"/></Relationships>
</file>

<file path=ppt/drawings/_rels/vmlDrawing5.vml.rels><?xml version="1.0" encoding="UTF-8" standalone="yes"?>
<Relationships xmlns="http://schemas.openxmlformats.org/package/2006/relationships"><Relationship Id="rId2" Type="http://schemas.openxmlformats.org/officeDocument/2006/relationships/image" Target="../media/image15.emf"/><Relationship Id="rId1" Type="http://schemas.openxmlformats.org/officeDocument/2006/relationships/image" Target="../media/image14.e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18.emf"/><Relationship Id="rId2" Type="http://schemas.openxmlformats.org/officeDocument/2006/relationships/image" Target="../media/image17.emf"/><Relationship Id="rId1" Type="http://schemas.openxmlformats.org/officeDocument/2006/relationships/image" Target="../media/image16.emf"/><Relationship Id="rId5" Type="http://schemas.openxmlformats.org/officeDocument/2006/relationships/image" Target="../media/image20.emf"/><Relationship Id="rId4" Type="http://schemas.openxmlformats.org/officeDocument/2006/relationships/image" Target="../media/image19.emf"/></Relationships>
</file>

<file path=ppt/drawings/_rels/vmlDrawing7.vml.rels><?xml version="1.0" encoding="UTF-8" standalone="yes"?>
<Relationships xmlns="http://schemas.openxmlformats.org/package/2006/relationships"><Relationship Id="rId2" Type="http://schemas.openxmlformats.org/officeDocument/2006/relationships/image" Target="../media/image23.emf"/><Relationship Id="rId1" Type="http://schemas.openxmlformats.org/officeDocument/2006/relationships/image" Target="../media/image22.emf"/></Relationships>
</file>

<file path=ppt/drawings/_rels/vmlDrawing8.vml.rels><?xml version="1.0" encoding="UTF-8" standalone="yes"?>
<Relationships xmlns="http://schemas.openxmlformats.org/package/2006/relationships"><Relationship Id="rId2" Type="http://schemas.openxmlformats.org/officeDocument/2006/relationships/image" Target="../media/image25.emf"/><Relationship Id="rId1" Type="http://schemas.openxmlformats.org/officeDocument/2006/relationships/image" Target="../media/image24.emf"/></Relationships>
</file>

<file path=ppt/drawings/_rels/vmlDrawing9.vml.rels><?xml version="1.0" encoding="UTF-8" standalone="yes"?>
<Relationships xmlns="http://schemas.openxmlformats.org/package/2006/relationships"><Relationship Id="rId3" Type="http://schemas.openxmlformats.org/officeDocument/2006/relationships/image" Target="../media/image28.emf"/><Relationship Id="rId7" Type="http://schemas.openxmlformats.org/officeDocument/2006/relationships/image" Target="../media/image32.emf"/><Relationship Id="rId2" Type="http://schemas.openxmlformats.org/officeDocument/2006/relationships/image" Target="../media/image27.emf"/><Relationship Id="rId1" Type="http://schemas.openxmlformats.org/officeDocument/2006/relationships/image" Target="../media/image26.emf"/><Relationship Id="rId6" Type="http://schemas.openxmlformats.org/officeDocument/2006/relationships/image" Target="../media/image31.emf"/><Relationship Id="rId5" Type="http://schemas.openxmlformats.org/officeDocument/2006/relationships/image" Target="../media/image30.emf"/><Relationship Id="rId4" Type="http://schemas.openxmlformats.org/officeDocument/2006/relationships/image" Target="../media/image29.e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33.emf"/></Relationships>
</file>

<file path=ppt/drawings/_rels/vmlDrawing11.vml.rels><?xml version="1.0" encoding="UTF-8" standalone="yes"?>
<Relationships xmlns="http://schemas.openxmlformats.org/package/2006/relationships"><Relationship Id="rId3" Type="http://schemas.openxmlformats.org/officeDocument/2006/relationships/image" Target="../media/image36.emf"/><Relationship Id="rId2" Type="http://schemas.openxmlformats.org/officeDocument/2006/relationships/image" Target="../media/image35.emf"/><Relationship Id="rId1" Type="http://schemas.openxmlformats.org/officeDocument/2006/relationships/image" Target="../media/image34.emf"/></Relationships>
</file>

<file path=ppt/drawings/_rels/vmlDrawing12.vml.rels><?xml version="1.0" encoding="UTF-8" standalone="yes"?>
<Relationships xmlns="http://schemas.openxmlformats.org/package/2006/relationships"><Relationship Id="rId2" Type="http://schemas.openxmlformats.org/officeDocument/2006/relationships/image" Target="../media/image38.emf"/><Relationship Id="rId1" Type="http://schemas.openxmlformats.org/officeDocument/2006/relationships/image" Target="../media/image37.emf"/></Relationships>
</file>

<file path=ppt/drawings/_rels/vmlDrawing13.vml.rels><?xml version="1.0" encoding="UTF-8" standalone="yes"?>
<Relationships xmlns="http://schemas.openxmlformats.org/package/2006/relationships"><Relationship Id="rId3" Type="http://schemas.openxmlformats.org/officeDocument/2006/relationships/image" Target="../media/image41.emf"/><Relationship Id="rId2" Type="http://schemas.openxmlformats.org/officeDocument/2006/relationships/image" Target="../media/image40.emf"/><Relationship Id="rId1" Type="http://schemas.openxmlformats.org/officeDocument/2006/relationships/image" Target="../media/image39.emf"/></Relationships>
</file>

<file path=ppt/drawings/_rels/vmlDrawing14.vml.rels><?xml version="1.0" encoding="UTF-8" standalone="yes"?>
<Relationships xmlns="http://schemas.openxmlformats.org/package/2006/relationships"><Relationship Id="rId3" Type="http://schemas.openxmlformats.org/officeDocument/2006/relationships/image" Target="../media/image44.emf"/><Relationship Id="rId2" Type="http://schemas.openxmlformats.org/officeDocument/2006/relationships/image" Target="../media/image43.emf"/><Relationship Id="rId1" Type="http://schemas.openxmlformats.org/officeDocument/2006/relationships/image" Target="../media/image42.emf"/></Relationships>
</file>

<file path=ppt/drawings/_rels/vmlDrawing15.vml.rels><?xml version="1.0" encoding="UTF-8" standalone="yes"?>
<Relationships xmlns="http://schemas.openxmlformats.org/package/2006/relationships"><Relationship Id="rId2" Type="http://schemas.openxmlformats.org/officeDocument/2006/relationships/image" Target="../media/image46.emf"/><Relationship Id="rId1" Type="http://schemas.openxmlformats.org/officeDocument/2006/relationships/image" Target="../media/image45.emf"/></Relationships>
</file>

<file path=ppt/drawings/_rels/vmlDrawing16.vml.rels><?xml version="1.0" encoding="UTF-8" standalone="yes"?>
<Relationships xmlns="http://schemas.openxmlformats.org/package/2006/relationships"><Relationship Id="rId2" Type="http://schemas.openxmlformats.org/officeDocument/2006/relationships/image" Target="../media/image48.emf"/><Relationship Id="rId1" Type="http://schemas.openxmlformats.org/officeDocument/2006/relationships/image" Target="../media/image47.emf"/></Relationships>
</file>

<file path=ppt/drawings/_rels/vmlDrawing17.vml.rels><?xml version="1.0" encoding="UTF-8" standalone="yes"?>
<Relationships xmlns="http://schemas.openxmlformats.org/package/2006/relationships"><Relationship Id="rId3" Type="http://schemas.openxmlformats.org/officeDocument/2006/relationships/image" Target="../media/image51.emf"/><Relationship Id="rId2" Type="http://schemas.openxmlformats.org/officeDocument/2006/relationships/image" Target="../media/image50.emf"/><Relationship Id="rId1" Type="http://schemas.openxmlformats.org/officeDocument/2006/relationships/image" Target="../media/image49.emf"/><Relationship Id="rId4" Type="http://schemas.openxmlformats.org/officeDocument/2006/relationships/image" Target="../media/image52.emf"/></Relationships>
</file>

<file path=ppt/drawings/_rels/vmlDrawing18.vml.rels><?xml version="1.0" encoding="UTF-8" standalone="yes"?>
<Relationships xmlns="http://schemas.openxmlformats.org/package/2006/relationships"><Relationship Id="rId1" Type="http://schemas.openxmlformats.org/officeDocument/2006/relationships/image" Target="../media/image53.emf"/></Relationships>
</file>

<file path=ppt/drawings/_rels/vmlDrawing19.vml.rels><?xml version="1.0" encoding="UTF-8" standalone="yes"?>
<Relationships xmlns="http://schemas.openxmlformats.org/package/2006/relationships"><Relationship Id="rId3" Type="http://schemas.openxmlformats.org/officeDocument/2006/relationships/image" Target="../media/image55.emf"/><Relationship Id="rId2" Type="http://schemas.openxmlformats.org/officeDocument/2006/relationships/image" Target="../media/image54.emf"/><Relationship Id="rId1" Type="http://schemas.openxmlformats.org/officeDocument/2006/relationships/image" Target="../media/image53.emf"/><Relationship Id="rId4" Type="http://schemas.openxmlformats.org/officeDocument/2006/relationships/image" Target="../media/image56.emf"/></Relationships>
</file>

<file path=ppt/drawings/_rels/vmlDrawing20.vml.rels><?xml version="1.0" encoding="UTF-8" standalone="yes"?>
<Relationships xmlns="http://schemas.openxmlformats.org/package/2006/relationships"><Relationship Id="rId3" Type="http://schemas.openxmlformats.org/officeDocument/2006/relationships/image" Target="../media/image58.emf"/><Relationship Id="rId2" Type="http://schemas.openxmlformats.org/officeDocument/2006/relationships/image" Target="../media/image57.emf"/><Relationship Id="rId1" Type="http://schemas.openxmlformats.org/officeDocument/2006/relationships/image" Target="../media/image53.emf"/></Relationships>
</file>

<file path=ppt/drawings/_rels/vmlDrawing21.vml.rels><?xml version="1.0" encoding="UTF-8" standalone="yes"?>
<Relationships xmlns="http://schemas.openxmlformats.org/package/2006/relationships"><Relationship Id="rId2" Type="http://schemas.openxmlformats.org/officeDocument/2006/relationships/image" Target="../media/image60.emf"/><Relationship Id="rId1" Type="http://schemas.openxmlformats.org/officeDocument/2006/relationships/image" Target="../media/image59.emf"/></Relationships>
</file>

<file path=ppt/drawings/_rels/vmlDrawing22.vml.rels><?xml version="1.0" encoding="UTF-8" standalone="yes"?>
<Relationships xmlns="http://schemas.openxmlformats.org/package/2006/relationships"><Relationship Id="rId3" Type="http://schemas.openxmlformats.org/officeDocument/2006/relationships/image" Target="../media/image63.emf"/><Relationship Id="rId2" Type="http://schemas.openxmlformats.org/officeDocument/2006/relationships/image" Target="../media/image62.emf"/><Relationship Id="rId1" Type="http://schemas.openxmlformats.org/officeDocument/2006/relationships/image" Target="../media/image61.emf"/><Relationship Id="rId4" Type="http://schemas.openxmlformats.org/officeDocument/2006/relationships/image" Target="../media/image64.emf"/></Relationships>
</file>

<file path=ppt/drawings/_rels/vmlDrawing23.vml.rels><?xml version="1.0" encoding="UTF-8" standalone="yes"?>
<Relationships xmlns="http://schemas.openxmlformats.org/package/2006/relationships"><Relationship Id="rId3" Type="http://schemas.openxmlformats.org/officeDocument/2006/relationships/image" Target="../media/image67.emf"/><Relationship Id="rId2" Type="http://schemas.openxmlformats.org/officeDocument/2006/relationships/image" Target="../media/image66.emf"/><Relationship Id="rId1" Type="http://schemas.openxmlformats.org/officeDocument/2006/relationships/image" Target="../media/image65.emf"/></Relationships>
</file>

<file path=ppt/drawings/_rels/vmlDrawing24.vml.rels><?xml version="1.0" encoding="UTF-8" standalone="yes"?>
<Relationships xmlns="http://schemas.openxmlformats.org/package/2006/relationships"><Relationship Id="rId2" Type="http://schemas.openxmlformats.org/officeDocument/2006/relationships/image" Target="../media/image69.emf"/><Relationship Id="rId1" Type="http://schemas.openxmlformats.org/officeDocument/2006/relationships/image" Target="../media/image68.emf"/></Relationships>
</file>

<file path=ppt/drawings/_rels/vmlDrawing25.vml.rels><?xml version="1.0" encoding="UTF-8" standalone="yes"?>
<Relationships xmlns="http://schemas.openxmlformats.org/package/2006/relationships"><Relationship Id="rId2" Type="http://schemas.openxmlformats.org/officeDocument/2006/relationships/image" Target="../media/image71.emf"/><Relationship Id="rId1" Type="http://schemas.openxmlformats.org/officeDocument/2006/relationships/image" Target="../media/image70.emf"/></Relationships>
</file>

<file path=ppt/drawings/_rels/vmlDrawing26.vml.rels><?xml version="1.0" encoding="UTF-8" standalone="yes"?>
<Relationships xmlns="http://schemas.openxmlformats.org/package/2006/relationships"><Relationship Id="rId1" Type="http://schemas.openxmlformats.org/officeDocument/2006/relationships/image" Target="../media/image72.emf"/></Relationships>
</file>

<file path=ppt/drawings/_rels/vmlDrawing27.vml.rels><?xml version="1.0" encoding="UTF-8" standalone="yes"?>
<Relationships xmlns="http://schemas.openxmlformats.org/package/2006/relationships"><Relationship Id="rId2" Type="http://schemas.openxmlformats.org/officeDocument/2006/relationships/image" Target="../media/image74.emf"/><Relationship Id="rId1" Type="http://schemas.openxmlformats.org/officeDocument/2006/relationships/image" Target="../media/image73.emf"/></Relationships>
</file>

<file path=ppt/drawings/_rels/vmlDrawing28.vml.rels><?xml version="1.0" encoding="UTF-8" standalone="yes"?>
<Relationships xmlns="http://schemas.openxmlformats.org/package/2006/relationships"><Relationship Id="rId3" Type="http://schemas.openxmlformats.org/officeDocument/2006/relationships/image" Target="../media/image77.emf"/><Relationship Id="rId2" Type="http://schemas.openxmlformats.org/officeDocument/2006/relationships/image" Target="../media/image76.emf"/><Relationship Id="rId1" Type="http://schemas.openxmlformats.org/officeDocument/2006/relationships/image" Target="../media/image75.emf"/><Relationship Id="rId4" Type="http://schemas.openxmlformats.org/officeDocument/2006/relationships/image" Target="../media/image78.emf"/></Relationships>
</file>

<file path=ppt/drawings/_rels/vmlDrawing29.vml.rels><?xml version="1.0" encoding="UTF-8" standalone="yes"?>
<Relationships xmlns="http://schemas.openxmlformats.org/package/2006/relationships"><Relationship Id="rId1" Type="http://schemas.openxmlformats.org/officeDocument/2006/relationships/image" Target="../media/image79.emf"/></Relationships>
</file>

<file path=ppt/drawings/_rels/vmlDrawing30.vml.rels><?xml version="1.0" encoding="UTF-8" standalone="yes"?>
<Relationships xmlns="http://schemas.openxmlformats.org/package/2006/relationships"><Relationship Id="rId2" Type="http://schemas.openxmlformats.org/officeDocument/2006/relationships/image" Target="../media/image81.emf"/><Relationship Id="rId1" Type="http://schemas.openxmlformats.org/officeDocument/2006/relationships/image" Target="../media/image80.emf"/></Relationships>
</file>

<file path=ppt/drawings/_rels/vmlDrawing31.vml.rels><?xml version="1.0" encoding="UTF-8" standalone="yes"?>
<Relationships xmlns="http://schemas.openxmlformats.org/package/2006/relationships"><Relationship Id="rId2" Type="http://schemas.openxmlformats.org/officeDocument/2006/relationships/image" Target="../media/image83.emf"/><Relationship Id="rId1" Type="http://schemas.openxmlformats.org/officeDocument/2006/relationships/image" Target="../media/image82.emf"/></Relationships>
</file>

<file path=ppt/drawings/_rels/vmlDrawing32.vml.rels><?xml version="1.0" encoding="UTF-8" standalone="yes"?>
<Relationships xmlns="http://schemas.openxmlformats.org/package/2006/relationships"><Relationship Id="rId1" Type="http://schemas.openxmlformats.org/officeDocument/2006/relationships/image" Target="../media/image84.emf"/></Relationships>
</file>

<file path=ppt/drawings/_rels/vmlDrawing33.vml.rels><?xml version="1.0" encoding="UTF-8" standalone="yes"?>
<Relationships xmlns="http://schemas.openxmlformats.org/package/2006/relationships"><Relationship Id="rId1" Type="http://schemas.openxmlformats.org/officeDocument/2006/relationships/image" Target="../media/image85.emf"/></Relationships>
</file>

<file path=ppt/drawings/_rels/vmlDrawing34.vml.rels><?xml version="1.0" encoding="UTF-8" standalone="yes"?>
<Relationships xmlns="http://schemas.openxmlformats.org/package/2006/relationships"><Relationship Id="rId2" Type="http://schemas.openxmlformats.org/officeDocument/2006/relationships/image" Target="../media/image87.emf"/><Relationship Id="rId1" Type="http://schemas.openxmlformats.org/officeDocument/2006/relationships/image" Target="../media/image86.emf"/></Relationships>
</file>

<file path=ppt/drawings/_rels/vmlDrawing35.vml.rels><?xml version="1.0" encoding="UTF-8" standalone="yes"?>
<Relationships xmlns="http://schemas.openxmlformats.org/package/2006/relationships"><Relationship Id="rId2" Type="http://schemas.openxmlformats.org/officeDocument/2006/relationships/image" Target="../media/image89.emf"/><Relationship Id="rId1" Type="http://schemas.openxmlformats.org/officeDocument/2006/relationships/image" Target="../media/image88.emf"/></Relationships>
</file>

<file path=ppt/drawings/_rels/vmlDrawing36.vml.rels><?xml version="1.0" encoding="UTF-8" standalone="yes"?>
<Relationships xmlns="http://schemas.openxmlformats.org/package/2006/relationships"><Relationship Id="rId3" Type="http://schemas.openxmlformats.org/officeDocument/2006/relationships/image" Target="../media/image92.emf"/><Relationship Id="rId2" Type="http://schemas.openxmlformats.org/officeDocument/2006/relationships/image" Target="../media/image91.emf"/><Relationship Id="rId1" Type="http://schemas.openxmlformats.org/officeDocument/2006/relationships/image" Target="../media/image90.emf"/></Relationships>
</file>

<file path=ppt/drawings/_rels/vmlDrawing37.vml.rels><?xml version="1.0" encoding="UTF-8" standalone="yes"?>
<Relationships xmlns="http://schemas.openxmlformats.org/package/2006/relationships"><Relationship Id="rId2" Type="http://schemas.openxmlformats.org/officeDocument/2006/relationships/image" Target="../media/image94.emf"/><Relationship Id="rId1" Type="http://schemas.openxmlformats.org/officeDocument/2006/relationships/image" Target="../media/image93.emf"/></Relationships>
</file>

<file path=ppt/drawings/_rels/vmlDrawing38.vml.rels><?xml version="1.0" encoding="UTF-8" standalone="yes"?>
<Relationships xmlns="http://schemas.openxmlformats.org/package/2006/relationships"><Relationship Id="rId2" Type="http://schemas.openxmlformats.org/officeDocument/2006/relationships/image" Target="../media/image96.emf"/><Relationship Id="rId1" Type="http://schemas.openxmlformats.org/officeDocument/2006/relationships/image" Target="../media/image95.emf"/></Relationships>
</file>

<file path=ppt/drawings/_rels/vmlDrawing39.vml.rels><?xml version="1.0" encoding="UTF-8" standalone="yes"?>
<Relationships xmlns="http://schemas.openxmlformats.org/package/2006/relationships"><Relationship Id="rId2" Type="http://schemas.openxmlformats.org/officeDocument/2006/relationships/image" Target="../media/image98.emf"/><Relationship Id="rId1" Type="http://schemas.openxmlformats.org/officeDocument/2006/relationships/image" Target="../media/image97.emf"/></Relationships>
</file>

<file path=ppt/drawings/_rels/vmlDrawing40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1.emf"/><Relationship Id="rId2" Type="http://schemas.openxmlformats.org/officeDocument/2006/relationships/image" Target="../media/image100.emf"/><Relationship Id="rId1" Type="http://schemas.openxmlformats.org/officeDocument/2006/relationships/image" Target="../media/image99.emf"/></Relationships>
</file>

<file path=ppt/drawings/_rels/vmlDrawing41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4.emf"/><Relationship Id="rId2" Type="http://schemas.openxmlformats.org/officeDocument/2006/relationships/image" Target="../media/image103.emf"/><Relationship Id="rId1" Type="http://schemas.openxmlformats.org/officeDocument/2006/relationships/image" Target="../media/image102.emf"/></Relationships>
</file>

<file path=ppt/drawings/_rels/vmlDrawing4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9.emf"/><Relationship Id="rId2" Type="http://schemas.openxmlformats.org/officeDocument/2006/relationships/image" Target="../media/image108.emf"/><Relationship Id="rId1" Type="http://schemas.openxmlformats.org/officeDocument/2006/relationships/image" Target="../media/image107.emf"/></Relationships>
</file>

<file path=ppt/drawings/_rels/vmlDrawing4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12.emf"/><Relationship Id="rId2" Type="http://schemas.openxmlformats.org/officeDocument/2006/relationships/image" Target="../media/image111.emf"/><Relationship Id="rId1" Type="http://schemas.openxmlformats.org/officeDocument/2006/relationships/image" Target="../media/image110.emf"/><Relationship Id="rId4" Type="http://schemas.openxmlformats.org/officeDocument/2006/relationships/image" Target="../media/image113.emf"/></Relationships>
</file>

<file path=ppt/drawings/_rels/vmlDrawing4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16.emf"/><Relationship Id="rId2" Type="http://schemas.openxmlformats.org/officeDocument/2006/relationships/image" Target="../media/image115.emf"/><Relationship Id="rId1" Type="http://schemas.openxmlformats.org/officeDocument/2006/relationships/image" Target="../media/image114.emf"/><Relationship Id="rId4" Type="http://schemas.openxmlformats.org/officeDocument/2006/relationships/image" Target="../media/image117.emf"/></Relationships>
</file>

<file path=ppt/drawings/_rels/vmlDrawing45.vml.rels><?xml version="1.0" encoding="UTF-8" standalone="yes"?>
<Relationships xmlns="http://schemas.openxmlformats.org/package/2006/relationships"><Relationship Id="rId3" Type="http://schemas.openxmlformats.org/officeDocument/2006/relationships/image" Target="../media/image120.emf"/><Relationship Id="rId2" Type="http://schemas.openxmlformats.org/officeDocument/2006/relationships/image" Target="../media/image119.emf"/><Relationship Id="rId1" Type="http://schemas.openxmlformats.org/officeDocument/2006/relationships/image" Target="../media/image118.emf"/></Relationships>
</file>

<file path=ppt/drawings/_rels/vmlDrawing46.vml.rels><?xml version="1.0" encoding="UTF-8" standalone="yes"?>
<Relationships xmlns="http://schemas.openxmlformats.org/package/2006/relationships"><Relationship Id="rId2" Type="http://schemas.openxmlformats.org/officeDocument/2006/relationships/image" Target="../media/image122.emf"/><Relationship Id="rId1" Type="http://schemas.openxmlformats.org/officeDocument/2006/relationships/image" Target="../media/image121.emf"/></Relationships>
</file>

<file path=ppt/drawings/_rels/vmlDrawing47.vml.rels><?xml version="1.0" encoding="UTF-8" standalone="yes"?>
<Relationships xmlns="http://schemas.openxmlformats.org/package/2006/relationships"><Relationship Id="rId2" Type="http://schemas.openxmlformats.org/officeDocument/2006/relationships/image" Target="../media/image125.emf"/><Relationship Id="rId1" Type="http://schemas.openxmlformats.org/officeDocument/2006/relationships/image" Target="../media/image124.emf"/></Relationships>
</file>

<file path=ppt/drawings/_rels/vmlDrawing48.vml.rels><?xml version="1.0" encoding="UTF-8" standalone="yes"?>
<Relationships xmlns="http://schemas.openxmlformats.org/package/2006/relationships"><Relationship Id="rId3" Type="http://schemas.openxmlformats.org/officeDocument/2006/relationships/image" Target="../media/image128.emf"/><Relationship Id="rId2" Type="http://schemas.openxmlformats.org/officeDocument/2006/relationships/image" Target="../media/image127.emf"/><Relationship Id="rId1" Type="http://schemas.openxmlformats.org/officeDocument/2006/relationships/image" Target="../media/image126.emf"/><Relationship Id="rId4" Type="http://schemas.openxmlformats.org/officeDocument/2006/relationships/image" Target="../media/image129.emf"/></Relationships>
</file>

<file path=ppt/drawings/_rels/vmlDrawing49.vml.rels><?xml version="1.0" encoding="UTF-8" standalone="yes"?>
<Relationships xmlns="http://schemas.openxmlformats.org/package/2006/relationships"><Relationship Id="rId3" Type="http://schemas.openxmlformats.org/officeDocument/2006/relationships/image" Target="../media/image132.emf"/><Relationship Id="rId2" Type="http://schemas.openxmlformats.org/officeDocument/2006/relationships/image" Target="../media/image131.emf"/><Relationship Id="rId1" Type="http://schemas.openxmlformats.org/officeDocument/2006/relationships/image" Target="../media/image130.emf"/></Relationships>
</file>

<file path=ppt/drawings/_rels/vmlDrawing50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3.emf"/></Relationships>
</file>

<file path=ppt/drawings/_rels/vmlDrawing51.vml.rels><?xml version="1.0" encoding="UTF-8" standalone="yes"?>
<Relationships xmlns="http://schemas.openxmlformats.org/package/2006/relationships"><Relationship Id="rId3" Type="http://schemas.openxmlformats.org/officeDocument/2006/relationships/image" Target="../media/image136.emf"/><Relationship Id="rId2" Type="http://schemas.openxmlformats.org/officeDocument/2006/relationships/image" Target="../media/image135.emf"/><Relationship Id="rId1" Type="http://schemas.openxmlformats.org/officeDocument/2006/relationships/image" Target="../media/image134.emf"/></Relationships>
</file>

<file path=ppt/drawings/_rels/vmlDrawing5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40.emf"/><Relationship Id="rId2" Type="http://schemas.openxmlformats.org/officeDocument/2006/relationships/image" Target="../media/image139.emf"/><Relationship Id="rId1" Type="http://schemas.openxmlformats.org/officeDocument/2006/relationships/image" Target="../media/image138.emf"/><Relationship Id="rId5" Type="http://schemas.openxmlformats.org/officeDocument/2006/relationships/image" Target="../media/image142.emf"/><Relationship Id="rId4" Type="http://schemas.openxmlformats.org/officeDocument/2006/relationships/image" Target="../media/image141.emf"/></Relationships>
</file>

<file path=ppt/drawings/_rels/vmlDrawing5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45.emf"/><Relationship Id="rId2" Type="http://schemas.openxmlformats.org/officeDocument/2006/relationships/image" Target="../media/image144.emf"/><Relationship Id="rId1" Type="http://schemas.openxmlformats.org/officeDocument/2006/relationships/image" Target="../media/image143.emf"/></Relationships>
</file>

<file path=ppt/drawings/_rels/vmlDrawing54.vml.rels><?xml version="1.0" encoding="UTF-8" standalone="yes"?>
<Relationships xmlns="http://schemas.openxmlformats.org/package/2006/relationships"><Relationship Id="rId2" Type="http://schemas.openxmlformats.org/officeDocument/2006/relationships/image" Target="../media/image147.emf"/><Relationship Id="rId1" Type="http://schemas.openxmlformats.org/officeDocument/2006/relationships/image" Target="../media/image146.emf"/></Relationships>
</file>

<file path=ppt/drawings/_rels/vmlDrawing5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8.emf"/></Relationships>
</file>

<file path=ppt/drawings/_rels/vmlDrawing56.vml.rels><?xml version="1.0" encoding="UTF-8" standalone="yes"?>
<Relationships xmlns="http://schemas.openxmlformats.org/package/2006/relationships"><Relationship Id="rId3" Type="http://schemas.openxmlformats.org/officeDocument/2006/relationships/image" Target="../media/image151.emf"/><Relationship Id="rId2" Type="http://schemas.openxmlformats.org/officeDocument/2006/relationships/image" Target="../media/image150.emf"/><Relationship Id="rId1" Type="http://schemas.openxmlformats.org/officeDocument/2006/relationships/image" Target="../media/image149.emf"/><Relationship Id="rId5" Type="http://schemas.openxmlformats.org/officeDocument/2006/relationships/image" Target="../media/image153.emf"/><Relationship Id="rId4" Type="http://schemas.openxmlformats.org/officeDocument/2006/relationships/image" Target="../media/image152.emf"/></Relationships>
</file>

<file path=ppt/drawings/_rels/vmlDrawing5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4.emf"/></Relationships>
</file>

<file path=ppt/drawings/_rels/vmlDrawing5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6.emf"/></Relationships>
</file>

<file path=ppt/drawings/_rels/vmlDrawing59.vml.rels><?xml version="1.0" encoding="UTF-8" standalone="yes"?>
<Relationships xmlns="http://schemas.openxmlformats.org/package/2006/relationships"><Relationship Id="rId2" Type="http://schemas.openxmlformats.org/officeDocument/2006/relationships/image" Target="../media/image159.emf"/><Relationship Id="rId1" Type="http://schemas.openxmlformats.org/officeDocument/2006/relationships/image" Target="../media/image158.emf"/></Relationships>
</file>

<file path=ppt/drawings/_rels/vmlDrawing60.vml.rels><?xml version="1.0" encoding="UTF-8" standalone="yes"?>
<Relationships xmlns="http://schemas.openxmlformats.org/package/2006/relationships"><Relationship Id="rId3" Type="http://schemas.openxmlformats.org/officeDocument/2006/relationships/image" Target="../media/image162.emf"/><Relationship Id="rId2" Type="http://schemas.openxmlformats.org/officeDocument/2006/relationships/image" Target="../media/image161.emf"/><Relationship Id="rId1" Type="http://schemas.openxmlformats.org/officeDocument/2006/relationships/image" Target="../media/image160.e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993A2D9-5A1B-4C6A-829B-74FB907797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6295EA3D-25D2-463F-83A2-1BBD58DFFF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D78FF8D-5F2F-4A53-B58D-C5AD948533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0782F5-726C-489C-9995-77B817DAD6F0}" type="datetimeFigureOut">
              <a:rPr lang="zh-CN" altLang="en-US" smtClean="0"/>
              <a:t>2026/10/21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CC016CE-6481-4A9B-B1F7-DC451442CF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CA881B4-CC5E-4087-A7DE-564A6EA168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D19D7A-16D2-4C4C-B68E-100A0BA15CA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522540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4C2F17F-69E9-41CB-B28D-EF61999F09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83E2827-E73D-4990-B3E9-AB747CDE02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BDF4837-7D62-40F8-BE37-E16FF02CB3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0782F5-726C-489C-9995-77B817DAD6F0}" type="datetimeFigureOut">
              <a:rPr lang="zh-CN" altLang="en-US" smtClean="0"/>
              <a:t>2026/10/21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DA9E314-B316-4F99-A6F0-45ACB7E5FA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B0B7A7E-389C-4D02-B7F4-71DDF3BC5A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D19D7A-16D2-4C4C-B68E-100A0BA15CA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486900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274B1E3-7001-4757-AA89-93890725D0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3C345CF-312E-48DC-A9FC-745C18D5AB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40C5D00-831E-4771-A2AB-99B46A8DC8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0782F5-726C-489C-9995-77B817DAD6F0}" type="datetimeFigureOut">
              <a:rPr lang="zh-CN" altLang="en-US" smtClean="0"/>
              <a:t>2026/10/21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C116321-0D73-40CE-9CBF-20C1FF71C7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68DE01D-C95A-4DCD-82CD-DB704D39F5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D19D7A-16D2-4C4C-B68E-100A0BA15CA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979578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6F67A3F-60D4-41A9-8E40-0362CC350A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B6EE4BD-3E1A-4B94-9DE7-111B3915C20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FFDC178-7C03-4AF5-B99B-C1C6DF17A3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F604377-2F86-438B-9E04-2A2E037F03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0782F5-726C-489C-9995-77B817DAD6F0}" type="datetimeFigureOut">
              <a:rPr lang="zh-CN" altLang="en-US" smtClean="0"/>
              <a:t>2026/10/21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7C0151A-A87A-4D23-96D0-11019724FB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9464DCB-971C-4E58-A1F5-C8E5EEB51A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D19D7A-16D2-4C4C-B68E-100A0BA15CA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868732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BEF4ACD-1462-4C9E-86BD-EC90C13452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96A9D71-0B8C-4733-B492-3D70DF9431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6A79C30-CEA9-40A2-8F8A-C2DCEDD64D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FD083527-0297-44AD-987A-A7F6CD782AE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4C9A020C-746C-4979-A0E9-EFCCCBE0E33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24C32D4-F413-4483-97A3-37F6545050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0782F5-726C-489C-9995-77B817DAD6F0}" type="datetimeFigureOut">
              <a:rPr lang="zh-CN" altLang="en-US" smtClean="0"/>
              <a:t>2026/10/21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1F5804B7-EDB1-4285-9EA4-6C5CD99D2A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4974BEC2-3EAD-4FFC-9FC1-9399120551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D19D7A-16D2-4C4C-B68E-100A0BA15CA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08256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4AC2B42-4A8F-4F77-A533-735967BB0B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D59325FA-4752-4F05-9B9F-7966775A6A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0782F5-726C-489C-9995-77B817DAD6F0}" type="datetimeFigureOut">
              <a:rPr lang="zh-CN" altLang="en-US" smtClean="0"/>
              <a:t>2026/10/21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E930EFEC-6815-424D-9B57-086BE3AB7D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0CB9573-6708-4B05-8A58-4DC2849580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D19D7A-16D2-4C4C-B68E-100A0BA15CA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1939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5E116F85-A1F5-4820-8F1B-DB2BD619B1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0782F5-726C-489C-9995-77B817DAD6F0}" type="datetimeFigureOut">
              <a:rPr lang="zh-CN" altLang="en-US" smtClean="0"/>
              <a:t>2026/10/21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78D95CE5-3A8C-4442-9565-F254A7D4B8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DB8C83C-A1FE-4895-84BF-BFE16E145F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D19D7A-16D2-4C4C-B68E-100A0BA15CA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081780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BBA006F-C6D2-467F-8611-CFFC31769D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01584AB-ED44-4B53-9943-8DC3CB2FAE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E7EE230-B380-4740-B919-9BF2A6EA54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3DB7A30-5AEB-431B-9EBD-A19DCD6163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0782F5-726C-489C-9995-77B817DAD6F0}" type="datetimeFigureOut">
              <a:rPr lang="zh-CN" altLang="en-US" smtClean="0"/>
              <a:t>2026/10/21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2782B5C-C8F6-40AA-A3A5-A63BFECF2C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B226E50-8D05-4269-A490-097762C3DC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D19D7A-16D2-4C4C-B68E-100A0BA15CA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23522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A82A618-AAA4-47DC-8A13-601D4B6652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D4EA65A5-4463-4599-A65C-B472F8EB684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75CDAE2-AD31-4B28-94ED-A2990C8964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D549813-E69E-45D2-86FA-0EC5BC35CF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0782F5-726C-489C-9995-77B817DAD6F0}" type="datetimeFigureOut">
              <a:rPr lang="zh-CN" altLang="en-US" smtClean="0"/>
              <a:t>2026/10/21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1EB7C0E-7BEA-443E-B0FF-D386676A8B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40885CE-5DE8-41C6-824C-6EA961F75E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D19D7A-16D2-4C4C-B68E-100A0BA15CA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77857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510BBC-ABD7-400C-9024-FE10ABE0F2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969B55F-23B5-404D-B8CB-249813C05D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DABEE89-6738-4E15-AEFE-27EEDE6E4B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0782F5-726C-489C-9995-77B817DAD6F0}" type="datetimeFigureOut">
              <a:rPr lang="zh-CN" altLang="en-US" smtClean="0"/>
              <a:t>2026/10/21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B43EFF9-AB59-40EE-86F9-B6698F60B0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EB56498-7C91-4E3C-A792-D10C355E3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D19D7A-16D2-4C4C-B68E-100A0BA15CA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892468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AF730195-CD94-4D1C-8069-FCC1AC73E7D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79F7663-7B6A-4986-A71D-6AC9291629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326E14E-918C-4DCC-A63B-74E5E9404E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0782F5-726C-489C-9995-77B817DAD6F0}" type="datetimeFigureOut">
              <a:rPr lang="zh-CN" altLang="en-US" smtClean="0"/>
              <a:t>2026/10/21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A9E444-0E99-4E36-8CFC-B61CC8C180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68CF784-B7FE-4E51-AC56-41065A429C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D19D7A-16D2-4C4C-B68E-100A0BA15CA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733334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E693EF20-6C18-4148-A290-E091B28DAA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50C4C2E-BBC0-49D4-94E3-E4F46DFE0B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5A76742-8424-432E-AE67-7B3C68B63FD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0782F5-726C-489C-9995-77B817DAD6F0}" type="datetimeFigureOut">
              <a:rPr lang="zh-CN" altLang="en-US" smtClean="0"/>
              <a:t>2026/10/21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DB42273-6280-4641-976D-C147F3329B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9141E10-9075-4F46-A358-A13256CE1C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D19D7A-16D2-4C4C-B68E-100A0BA15CA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228720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oleObject" Target="../embeddings/oleObject1.bin"/><Relationship Id="rId7" Type="http://schemas.openxmlformats.org/officeDocument/2006/relationships/image" Target="../media/image3.pn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2.e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1.em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6.emf"/><Relationship Id="rId5" Type="http://schemas.openxmlformats.org/officeDocument/2006/relationships/oleObject" Target="../embeddings/oleObject4.bin"/><Relationship Id="rId4" Type="http://schemas.openxmlformats.org/officeDocument/2006/relationships/image" Target="../media/image5.emf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emf"/><Relationship Id="rId3" Type="http://schemas.openxmlformats.org/officeDocument/2006/relationships/oleObject" Target="../embeddings/oleObject5.bin"/><Relationship Id="rId7" Type="http://schemas.openxmlformats.org/officeDocument/2006/relationships/oleObject" Target="../embeddings/oleObject7.bin"/><Relationship Id="rId12" Type="http://schemas.openxmlformats.org/officeDocument/2006/relationships/image" Target="../media/image11.e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8.emf"/><Relationship Id="rId11" Type="http://schemas.openxmlformats.org/officeDocument/2006/relationships/oleObject" Target="../embeddings/oleObject9.bin"/><Relationship Id="rId5" Type="http://schemas.openxmlformats.org/officeDocument/2006/relationships/oleObject" Target="../embeddings/oleObject6.bin"/><Relationship Id="rId10" Type="http://schemas.openxmlformats.org/officeDocument/2006/relationships/image" Target="../media/image10.emf"/><Relationship Id="rId4" Type="http://schemas.openxmlformats.org/officeDocument/2006/relationships/image" Target="../media/image7.emf"/><Relationship Id="rId9" Type="http://schemas.openxmlformats.org/officeDocument/2006/relationships/oleObject" Target="../embeddings/oleObject8.bin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13.emf"/><Relationship Id="rId5" Type="http://schemas.openxmlformats.org/officeDocument/2006/relationships/oleObject" Target="../embeddings/oleObject11.bin"/><Relationship Id="rId4" Type="http://schemas.openxmlformats.org/officeDocument/2006/relationships/image" Target="../media/image12.e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15.emf"/><Relationship Id="rId5" Type="http://schemas.openxmlformats.org/officeDocument/2006/relationships/oleObject" Target="../embeddings/oleObject13.bin"/><Relationship Id="rId4" Type="http://schemas.openxmlformats.org/officeDocument/2006/relationships/image" Target="../media/image14.emf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emf"/><Relationship Id="rId13" Type="http://schemas.openxmlformats.org/officeDocument/2006/relationships/image" Target="../media/image21.png"/><Relationship Id="rId3" Type="http://schemas.openxmlformats.org/officeDocument/2006/relationships/oleObject" Target="../embeddings/oleObject14.bin"/><Relationship Id="rId7" Type="http://schemas.openxmlformats.org/officeDocument/2006/relationships/oleObject" Target="../embeddings/oleObject16.bin"/><Relationship Id="rId12" Type="http://schemas.openxmlformats.org/officeDocument/2006/relationships/image" Target="../media/image20.e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17.emf"/><Relationship Id="rId11" Type="http://schemas.openxmlformats.org/officeDocument/2006/relationships/oleObject" Target="../embeddings/oleObject18.bin"/><Relationship Id="rId5" Type="http://schemas.openxmlformats.org/officeDocument/2006/relationships/oleObject" Target="../embeddings/oleObject15.bin"/><Relationship Id="rId10" Type="http://schemas.openxmlformats.org/officeDocument/2006/relationships/image" Target="../media/image19.emf"/><Relationship Id="rId4" Type="http://schemas.openxmlformats.org/officeDocument/2006/relationships/image" Target="../media/image16.emf"/><Relationship Id="rId9" Type="http://schemas.openxmlformats.org/officeDocument/2006/relationships/oleObject" Target="../embeddings/oleObject17.bin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9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23.emf"/><Relationship Id="rId5" Type="http://schemas.openxmlformats.org/officeDocument/2006/relationships/oleObject" Target="../embeddings/oleObject20.bin"/><Relationship Id="rId4" Type="http://schemas.openxmlformats.org/officeDocument/2006/relationships/image" Target="../media/image22.e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25.emf"/><Relationship Id="rId5" Type="http://schemas.openxmlformats.org/officeDocument/2006/relationships/oleObject" Target="../embeddings/oleObject22.bin"/><Relationship Id="rId4" Type="http://schemas.openxmlformats.org/officeDocument/2006/relationships/image" Target="../media/image24.emf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emf"/><Relationship Id="rId13" Type="http://schemas.openxmlformats.org/officeDocument/2006/relationships/oleObject" Target="../embeddings/oleObject28.bin"/><Relationship Id="rId3" Type="http://schemas.openxmlformats.org/officeDocument/2006/relationships/oleObject" Target="../embeddings/oleObject23.bin"/><Relationship Id="rId7" Type="http://schemas.openxmlformats.org/officeDocument/2006/relationships/oleObject" Target="../embeddings/oleObject25.bin"/><Relationship Id="rId12" Type="http://schemas.openxmlformats.org/officeDocument/2006/relationships/image" Target="../media/image30.e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32.emf"/><Relationship Id="rId1" Type="http://schemas.openxmlformats.org/officeDocument/2006/relationships/vmlDrawing" Target="../drawings/vmlDrawing9.vml"/><Relationship Id="rId6" Type="http://schemas.openxmlformats.org/officeDocument/2006/relationships/image" Target="../media/image27.emf"/><Relationship Id="rId11" Type="http://schemas.openxmlformats.org/officeDocument/2006/relationships/oleObject" Target="../embeddings/oleObject27.bin"/><Relationship Id="rId5" Type="http://schemas.openxmlformats.org/officeDocument/2006/relationships/oleObject" Target="../embeddings/oleObject24.bin"/><Relationship Id="rId15" Type="http://schemas.openxmlformats.org/officeDocument/2006/relationships/oleObject" Target="../embeddings/oleObject29.bin"/><Relationship Id="rId10" Type="http://schemas.openxmlformats.org/officeDocument/2006/relationships/image" Target="../media/image29.emf"/><Relationship Id="rId4" Type="http://schemas.openxmlformats.org/officeDocument/2006/relationships/image" Target="../media/image26.emf"/><Relationship Id="rId9" Type="http://schemas.openxmlformats.org/officeDocument/2006/relationships/oleObject" Target="../embeddings/oleObject26.bin"/><Relationship Id="rId14" Type="http://schemas.openxmlformats.org/officeDocument/2006/relationships/image" Target="../media/image31.e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0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0.vml"/><Relationship Id="rId4" Type="http://schemas.openxmlformats.org/officeDocument/2006/relationships/image" Target="../media/image33.emf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emf"/><Relationship Id="rId3" Type="http://schemas.openxmlformats.org/officeDocument/2006/relationships/oleObject" Target="../embeddings/oleObject31.bin"/><Relationship Id="rId7" Type="http://schemas.openxmlformats.org/officeDocument/2006/relationships/oleObject" Target="../embeddings/oleObject3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1.vml"/><Relationship Id="rId6" Type="http://schemas.openxmlformats.org/officeDocument/2006/relationships/image" Target="../media/image35.emf"/><Relationship Id="rId5" Type="http://schemas.openxmlformats.org/officeDocument/2006/relationships/oleObject" Target="../embeddings/oleObject32.bin"/><Relationship Id="rId4" Type="http://schemas.openxmlformats.org/officeDocument/2006/relationships/image" Target="../media/image34.e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4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2.vml"/><Relationship Id="rId6" Type="http://schemas.openxmlformats.org/officeDocument/2006/relationships/image" Target="../media/image38.emf"/><Relationship Id="rId5" Type="http://schemas.openxmlformats.org/officeDocument/2006/relationships/oleObject" Target="../embeddings/oleObject35.bin"/><Relationship Id="rId4" Type="http://schemas.openxmlformats.org/officeDocument/2006/relationships/image" Target="../media/image37.emf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emf"/><Relationship Id="rId3" Type="http://schemas.openxmlformats.org/officeDocument/2006/relationships/oleObject" Target="../embeddings/oleObject36.bin"/><Relationship Id="rId7" Type="http://schemas.openxmlformats.org/officeDocument/2006/relationships/oleObject" Target="../embeddings/oleObject38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3.vml"/><Relationship Id="rId6" Type="http://schemas.openxmlformats.org/officeDocument/2006/relationships/image" Target="../media/image40.emf"/><Relationship Id="rId5" Type="http://schemas.openxmlformats.org/officeDocument/2006/relationships/oleObject" Target="../embeddings/oleObject37.bin"/><Relationship Id="rId4" Type="http://schemas.openxmlformats.org/officeDocument/2006/relationships/image" Target="../media/image39.emf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emf"/><Relationship Id="rId3" Type="http://schemas.openxmlformats.org/officeDocument/2006/relationships/oleObject" Target="../embeddings/oleObject39.bin"/><Relationship Id="rId7" Type="http://schemas.openxmlformats.org/officeDocument/2006/relationships/oleObject" Target="../embeddings/oleObject4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4.vml"/><Relationship Id="rId6" Type="http://schemas.openxmlformats.org/officeDocument/2006/relationships/image" Target="../media/image43.emf"/><Relationship Id="rId5" Type="http://schemas.openxmlformats.org/officeDocument/2006/relationships/oleObject" Target="../embeddings/oleObject40.bin"/><Relationship Id="rId4" Type="http://schemas.openxmlformats.org/officeDocument/2006/relationships/image" Target="../media/image42.em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2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5.vml"/><Relationship Id="rId6" Type="http://schemas.openxmlformats.org/officeDocument/2006/relationships/image" Target="../media/image46.emf"/><Relationship Id="rId5" Type="http://schemas.openxmlformats.org/officeDocument/2006/relationships/oleObject" Target="../embeddings/oleObject43.bin"/><Relationship Id="rId4" Type="http://schemas.openxmlformats.org/officeDocument/2006/relationships/image" Target="../media/image45.em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4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6.vml"/><Relationship Id="rId6" Type="http://schemas.openxmlformats.org/officeDocument/2006/relationships/image" Target="../media/image48.emf"/><Relationship Id="rId5" Type="http://schemas.openxmlformats.org/officeDocument/2006/relationships/oleObject" Target="../embeddings/oleObject45.bin"/><Relationship Id="rId4" Type="http://schemas.openxmlformats.org/officeDocument/2006/relationships/image" Target="../media/image47.emf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emf"/><Relationship Id="rId3" Type="http://schemas.openxmlformats.org/officeDocument/2006/relationships/oleObject" Target="../embeddings/oleObject46.bin"/><Relationship Id="rId7" Type="http://schemas.openxmlformats.org/officeDocument/2006/relationships/oleObject" Target="../embeddings/oleObject48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7.vml"/><Relationship Id="rId6" Type="http://schemas.openxmlformats.org/officeDocument/2006/relationships/image" Target="../media/image50.emf"/><Relationship Id="rId5" Type="http://schemas.openxmlformats.org/officeDocument/2006/relationships/oleObject" Target="../embeddings/oleObject47.bin"/><Relationship Id="rId10" Type="http://schemas.openxmlformats.org/officeDocument/2006/relationships/image" Target="../media/image52.emf"/><Relationship Id="rId4" Type="http://schemas.openxmlformats.org/officeDocument/2006/relationships/image" Target="../media/image49.emf"/><Relationship Id="rId9" Type="http://schemas.openxmlformats.org/officeDocument/2006/relationships/oleObject" Target="../embeddings/oleObject49.bin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0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8.vml"/><Relationship Id="rId4" Type="http://schemas.openxmlformats.org/officeDocument/2006/relationships/image" Target="../media/image53.emf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emf"/><Relationship Id="rId3" Type="http://schemas.openxmlformats.org/officeDocument/2006/relationships/oleObject" Target="../embeddings/oleObject51.bin"/><Relationship Id="rId7" Type="http://schemas.openxmlformats.org/officeDocument/2006/relationships/oleObject" Target="../embeddings/oleObject5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9.vml"/><Relationship Id="rId6" Type="http://schemas.openxmlformats.org/officeDocument/2006/relationships/image" Target="../media/image54.emf"/><Relationship Id="rId5" Type="http://schemas.openxmlformats.org/officeDocument/2006/relationships/oleObject" Target="../embeddings/oleObject52.bin"/><Relationship Id="rId10" Type="http://schemas.openxmlformats.org/officeDocument/2006/relationships/image" Target="../media/image56.emf"/><Relationship Id="rId4" Type="http://schemas.openxmlformats.org/officeDocument/2006/relationships/image" Target="../media/image53.emf"/><Relationship Id="rId9" Type="http://schemas.openxmlformats.org/officeDocument/2006/relationships/oleObject" Target="../embeddings/oleObject54.bin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emf"/><Relationship Id="rId3" Type="http://schemas.openxmlformats.org/officeDocument/2006/relationships/oleObject" Target="../embeddings/oleObject55.bin"/><Relationship Id="rId7" Type="http://schemas.openxmlformats.org/officeDocument/2006/relationships/oleObject" Target="../embeddings/oleObject57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0.vml"/><Relationship Id="rId6" Type="http://schemas.openxmlformats.org/officeDocument/2006/relationships/image" Target="../media/image57.emf"/><Relationship Id="rId5" Type="http://schemas.openxmlformats.org/officeDocument/2006/relationships/oleObject" Target="../embeddings/oleObject56.bin"/><Relationship Id="rId4" Type="http://schemas.openxmlformats.org/officeDocument/2006/relationships/image" Target="../media/image53.emf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8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1.vml"/><Relationship Id="rId6" Type="http://schemas.openxmlformats.org/officeDocument/2006/relationships/image" Target="../media/image60.emf"/><Relationship Id="rId5" Type="http://schemas.openxmlformats.org/officeDocument/2006/relationships/oleObject" Target="../embeddings/oleObject59.bin"/><Relationship Id="rId4" Type="http://schemas.openxmlformats.org/officeDocument/2006/relationships/image" Target="../media/image59.emf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3.emf"/><Relationship Id="rId3" Type="http://schemas.openxmlformats.org/officeDocument/2006/relationships/oleObject" Target="../embeddings/oleObject60.bin"/><Relationship Id="rId7" Type="http://schemas.openxmlformats.org/officeDocument/2006/relationships/oleObject" Target="../embeddings/oleObject62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2.vml"/><Relationship Id="rId6" Type="http://schemas.openxmlformats.org/officeDocument/2006/relationships/image" Target="../media/image62.emf"/><Relationship Id="rId5" Type="http://schemas.openxmlformats.org/officeDocument/2006/relationships/oleObject" Target="../embeddings/oleObject61.bin"/><Relationship Id="rId10" Type="http://schemas.openxmlformats.org/officeDocument/2006/relationships/image" Target="../media/image64.emf"/><Relationship Id="rId4" Type="http://schemas.openxmlformats.org/officeDocument/2006/relationships/image" Target="../media/image61.emf"/><Relationship Id="rId9" Type="http://schemas.openxmlformats.org/officeDocument/2006/relationships/oleObject" Target="../embeddings/oleObject63.bin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7.emf"/><Relationship Id="rId3" Type="http://schemas.openxmlformats.org/officeDocument/2006/relationships/oleObject" Target="../embeddings/oleObject64.bin"/><Relationship Id="rId7" Type="http://schemas.openxmlformats.org/officeDocument/2006/relationships/oleObject" Target="../embeddings/oleObject66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3.vml"/><Relationship Id="rId6" Type="http://schemas.openxmlformats.org/officeDocument/2006/relationships/image" Target="../media/image66.emf"/><Relationship Id="rId5" Type="http://schemas.openxmlformats.org/officeDocument/2006/relationships/oleObject" Target="../embeddings/oleObject65.bin"/><Relationship Id="rId4" Type="http://schemas.openxmlformats.org/officeDocument/2006/relationships/image" Target="../media/image65.emf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7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4.vml"/><Relationship Id="rId6" Type="http://schemas.openxmlformats.org/officeDocument/2006/relationships/image" Target="../media/image69.emf"/><Relationship Id="rId5" Type="http://schemas.openxmlformats.org/officeDocument/2006/relationships/oleObject" Target="../embeddings/oleObject68.bin"/><Relationship Id="rId4" Type="http://schemas.openxmlformats.org/officeDocument/2006/relationships/image" Target="../media/image68.emf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9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5.vml"/><Relationship Id="rId6" Type="http://schemas.openxmlformats.org/officeDocument/2006/relationships/image" Target="../media/image71.emf"/><Relationship Id="rId5" Type="http://schemas.openxmlformats.org/officeDocument/2006/relationships/oleObject" Target="../embeddings/oleObject70.bin"/><Relationship Id="rId4" Type="http://schemas.openxmlformats.org/officeDocument/2006/relationships/image" Target="../media/image70.emf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6.vml"/><Relationship Id="rId4" Type="http://schemas.openxmlformats.org/officeDocument/2006/relationships/image" Target="../media/image72.emf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2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7.vml"/><Relationship Id="rId6" Type="http://schemas.openxmlformats.org/officeDocument/2006/relationships/image" Target="../media/image74.emf"/><Relationship Id="rId5" Type="http://schemas.openxmlformats.org/officeDocument/2006/relationships/oleObject" Target="../embeddings/oleObject73.bin"/><Relationship Id="rId4" Type="http://schemas.openxmlformats.org/officeDocument/2006/relationships/image" Target="../media/image73.emf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7.emf"/><Relationship Id="rId3" Type="http://schemas.openxmlformats.org/officeDocument/2006/relationships/oleObject" Target="../embeddings/oleObject74.bin"/><Relationship Id="rId7" Type="http://schemas.openxmlformats.org/officeDocument/2006/relationships/oleObject" Target="../embeddings/oleObject76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8.vml"/><Relationship Id="rId6" Type="http://schemas.openxmlformats.org/officeDocument/2006/relationships/image" Target="../media/image76.emf"/><Relationship Id="rId5" Type="http://schemas.openxmlformats.org/officeDocument/2006/relationships/oleObject" Target="../embeddings/oleObject75.bin"/><Relationship Id="rId10" Type="http://schemas.openxmlformats.org/officeDocument/2006/relationships/image" Target="../media/image78.emf"/><Relationship Id="rId4" Type="http://schemas.openxmlformats.org/officeDocument/2006/relationships/image" Target="../media/image75.emf"/><Relationship Id="rId9" Type="http://schemas.openxmlformats.org/officeDocument/2006/relationships/oleObject" Target="../embeddings/oleObject77.bin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8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9.vml"/><Relationship Id="rId4" Type="http://schemas.openxmlformats.org/officeDocument/2006/relationships/image" Target="../media/image79.emf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9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0.vml"/><Relationship Id="rId6" Type="http://schemas.openxmlformats.org/officeDocument/2006/relationships/image" Target="../media/image81.emf"/><Relationship Id="rId5" Type="http://schemas.openxmlformats.org/officeDocument/2006/relationships/oleObject" Target="../embeddings/oleObject80.bin"/><Relationship Id="rId4" Type="http://schemas.openxmlformats.org/officeDocument/2006/relationships/image" Target="../media/image80.emf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1.vml"/><Relationship Id="rId6" Type="http://schemas.openxmlformats.org/officeDocument/2006/relationships/image" Target="../media/image83.emf"/><Relationship Id="rId5" Type="http://schemas.openxmlformats.org/officeDocument/2006/relationships/oleObject" Target="../embeddings/oleObject82.bin"/><Relationship Id="rId4" Type="http://schemas.openxmlformats.org/officeDocument/2006/relationships/image" Target="../media/image82.emf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2.vml"/><Relationship Id="rId4" Type="http://schemas.openxmlformats.org/officeDocument/2006/relationships/image" Target="../media/image84.emf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4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3.vml"/><Relationship Id="rId4" Type="http://schemas.openxmlformats.org/officeDocument/2006/relationships/image" Target="../media/image85.emf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5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4.vml"/><Relationship Id="rId6" Type="http://schemas.openxmlformats.org/officeDocument/2006/relationships/image" Target="../media/image87.emf"/><Relationship Id="rId5" Type="http://schemas.openxmlformats.org/officeDocument/2006/relationships/oleObject" Target="../embeddings/oleObject86.bin"/><Relationship Id="rId4" Type="http://schemas.openxmlformats.org/officeDocument/2006/relationships/image" Target="../media/image86.emf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7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5.vml"/><Relationship Id="rId6" Type="http://schemas.openxmlformats.org/officeDocument/2006/relationships/image" Target="../media/image89.emf"/><Relationship Id="rId5" Type="http://schemas.openxmlformats.org/officeDocument/2006/relationships/oleObject" Target="../embeddings/oleObject88.bin"/><Relationship Id="rId4" Type="http://schemas.openxmlformats.org/officeDocument/2006/relationships/image" Target="../media/image88.emf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2.emf"/><Relationship Id="rId3" Type="http://schemas.openxmlformats.org/officeDocument/2006/relationships/oleObject" Target="../embeddings/oleObject89.bin"/><Relationship Id="rId7" Type="http://schemas.openxmlformats.org/officeDocument/2006/relationships/oleObject" Target="../embeddings/oleObject9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6.vml"/><Relationship Id="rId6" Type="http://schemas.openxmlformats.org/officeDocument/2006/relationships/image" Target="../media/image91.emf"/><Relationship Id="rId5" Type="http://schemas.openxmlformats.org/officeDocument/2006/relationships/oleObject" Target="../embeddings/oleObject90.bin"/><Relationship Id="rId4" Type="http://schemas.openxmlformats.org/officeDocument/2006/relationships/image" Target="../media/image90.emf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2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7.vml"/><Relationship Id="rId6" Type="http://schemas.openxmlformats.org/officeDocument/2006/relationships/image" Target="../media/image94.emf"/><Relationship Id="rId5" Type="http://schemas.openxmlformats.org/officeDocument/2006/relationships/oleObject" Target="../embeddings/oleObject93.bin"/><Relationship Id="rId4" Type="http://schemas.openxmlformats.org/officeDocument/2006/relationships/image" Target="../media/image93.emf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4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8.vml"/><Relationship Id="rId6" Type="http://schemas.openxmlformats.org/officeDocument/2006/relationships/image" Target="../media/image96.emf"/><Relationship Id="rId5" Type="http://schemas.openxmlformats.org/officeDocument/2006/relationships/oleObject" Target="../embeddings/oleObject95.bin"/><Relationship Id="rId4" Type="http://schemas.openxmlformats.org/officeDocument/2006/relationships/image" Target="../media/image95.emf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6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9.vml"/><Relationship Id="rId6" Type="http://schemas.openxmlformats.org/officeDocument/2006/relationships/image" Target="../media/image98.emf"/><Relationship Id="rId5" Type="http://schemas.openxmlformats.org/officeDocument/2006/relationships/oleObject" Target="../embeddings/oleObject97.bin"/><Relationship Id="rId4" Type="http://schemas.openxmlformats.org/officeDocument/2006/relationships/image" Target="../media/image97.emf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1.emf"/><Relationship Id="rId3" Type="http://schemas.openxmlformats.org/officeDocument/2006/relationships/oleObject" Target="../embeddings/oleObject98.bin"/><Relationship Id="rId7" Type="http://schemas.openxmlformats.org/officeDocument/2006/relationships/oleObject" Target="../embeddings/oleObject100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0.vml"/><Relationship Id="rId6" Type="http://schemas.openxmlformats.org/officeDocument/2006/relationships/image" Target="../media/image100.emf"/><Relationship Id="rId5" Type="http://schemas.openxmlformats.org/officeDocument/2006/relationships/oleObject" Target="../embeddings/oleObject99.bin"/><Relationship Id="rId4" Type="http://schemas.openxmlformats.org/officeDocument/2006/relationships/image" Target="../media/image99.emf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4.emf"/><Relationship Id="rId3" Type="http://schemas.openxmlformats.org/officeDocument/2006/relationships/oleObject" Target="../embeddings/oleObject101.bin"/><Relationship Id="rId7" Type="http://schemas.openxmlformats.org/officeDocument/2006/relationships/oleObject" Target="../embeddings/oleObject10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1.vml"/><Relationship Id="rId6" Type="http://schemas.openxmlformats.org/officeDocument/2006/relationships/image" Target="../media/image103.emf"/><Relationship Id="rId5" Type="http://schemas.openxmlformats.org/officeDocument/2006/relationships/oleObject" Target="../embeddings/oleObject102.bin"/><Relationship Id="rId10" Type="http://schemas.openxmlformats.org/officeDocument/2006/relationships/image" Target="../media/image106.jpeg"/><Relationship Id="rId4" Type="http://schemas.openxmlformats.org/officeDocument/2006/relationships/image" Target="../media/image102.emf"/><Relationship Id="rId9" Type="http://schemas.openxmlformats.org/officeDocument/2006/relationships/image" Target="../media/image105.jpeg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9.emf"/><Relationship Id="rId3" Type="http://schemas.openxmlformats.org/officeDocument/2006/relationships/oleObject" Target="../embeddings/oleObject104.bin"/><Relationship Id="rId7" Type="http://schemas.openxmlformats.org/officeDocument/2006/relationships/oleObject" Target="../embeddings/oleObject106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2.vml"/><Relationship Id="rId6" Type="http://schemas.openxmlformats.org/officeDocument/2006/relationships/image" Target="../media/image108.emf"/><Relationship Id="rId5" Type="http://schemas.openxmlformats.org/officeDocument/2006/relationships/oleObject" Target="../embeddings/oleObject105.bin"/><Relationship Id="rId4" Type="http://schemas.openxmlformats.org/officeDocument/2006/relationships/image" Target="../media/image107.emf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2.emf"/><Relationship Id="rId3" Type="http://schemas.openxmlformats.org/officeDocument/2006/relationships/oleObject" Target="../embeddings/oleObject107.bin"/><Relationship Id="rId7" Type="http://schemas.openxmlformats.org/officeDocument/2006/relationships/oleObject" Target="../embeddings/oleObject109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3.vml"/><Relationship Id="rId6" Type="http://schemas.openxmlformats.org/officeDocument/2006/relationships/image" Target="../media/image111.emf"/><Relationship Id="rId5" Type="http://schemas.openxmlformats.org/officeDocument/2006/relationships/oleObject" Target="../embeddings/oleObject108.bin"/><Relationship Id="rId10" Type="http://schemas.openxmlformats.org/officeDocument/2006/relationships/image" Target="../media/image113.emf"/><Relationship Id="rId4" Type="http://schemas.openxmlformats.org/officeDocument/2006/relationships/image" Target="../media/image110.emf"/><Relationship Id="rId9" Type="http://schemas.openxmlformats.org/officeDocument/2006/relationships/oleObject" Target="../embeddings/oleObject110.bin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6.emf"/><Relationship Id="rId3" Type="http://schemas.openxmlformats.org/officeDocument/2006/relationships/oleObject" Target="../embeddings/oleObject111.bin"/><Relationship Id="rId7" Type="http://schemas.openxmlformats.org/officeDocument/2006/relationships/oleObject" Target="../embeddings/oleObject11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4.vml"/><Relationship Id="rId6" Type="http://schemas.openxmlformats.org/officeDocument/2006/relationships/image" Target="../media/image115.emf"/><Relationship Id="rId5" Type="http://schemas.openxmlformats.org/officeDocument/2006/relationships/oleObject" Target="../embeddings/oleObject112.bin"/><Relationship Id="rId10" Type="http://schemas.openxmlformats.org/officeDocument/2006/relationships/image" Target="../media/image117.emf"/><Relationship Id="rId4" Type="http://schemas.openxmlformats.org/officeDocument/2006/relationships/image" Target="../media/image114.emf"/><Relationship Id="rId9" Type="http://schemas.openxmlformats.org/officeDocument/2006/relationships/oleObject" Target="../embeddings/oleObject114.bin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0.emf"/><Relationship Id="rId3" Type="http://schemas.openxmlformats.org/officeDocument/2006/relationships/oleObject" Target="../embeddings/oleObject115.bin"/><Relationship Id="rId7" Type="http://schemas.openxmlformats.org/officeDocument/2006/relationships/oleObject" Target="../embeddings/oleObject117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5.vml"/><Relationship Id="rId6" Type="http://schemas.openxmlformats.org/officeDocument/2006/relationships/image" Target="../media/image119.emf"/><Relationship Id="rId5" Type="http://schemas.openxmlformats.org/officeDocument/2006/relationships/oleObject" Target="../embeddings/oleObject116.bin"/><Relationship Id="rId4" Type="http://schemas.openxmlformats.org/officeDocument/2006/relationships/image" Target="../media/image118.emf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8.bin"/><Relationship Id="rId7" Type="http://schemas.openxmlformats.org/officeDocument/2006/relationships/image" Target="../media/image122.e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6.vml"/><Relationship Id="rId6" Type="http://schemas.openxmlformats.org/officeDocument/2006/relationships/oleObject" Target="../embeddings/oleObject119.bin"/><Relationship Id="rId5" Type="http://schemas.openxmlformats.org/officeDocument/2006/relationships/image" Target="../media/image123.jpeg"/><Relationship Id="rId4" Type="http://schemas.openxmlformats.org/officeDocument/2006/relationships/image" Target="../media/image121.emf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0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7.vml"/><Relationship Id="rId6" Type="http://schemas.openxmlformats.org/officeDocument/2006/relationships/image" Target="../media/image125.emf"/><Relationship Id="rId5" Type="http://schemas.openxmlformats.org/officeDocument/2006/relationships/oleObject" Target="../embeddings/oleObject121.bin"/><Relationship Id="rId4" Type="http://schemas.openxmlformats.org/officeDocument/2006/relationships/image" Target="../media/image124.emf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8.emf"/><Relationship Id="rId3" Type="http://schemas.openxmlformats.org/officeDocument/2006/relationships/oleObject" Target="../embeddings/oleObject122.bin"/><Relationship Id="rId7" Type="http://schemas.openxmlformats.org/officeDocument/2006/relationships/oleObject" Target="../embeddings/oleObject124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8.vml"/><Relationship Id="rId6" Type="http://schemas.openxmlformats.org/officeDocument/2006/relationships/image" Target="../media/image127.emf"/><Relationship Id="rId5" Type="http://schemas.openxmlformats.org/officeDocument/2006/relationships/oleObject" Target="../embeddings/oleObject123.bin"/><Relationship Id="rId10" Type="http://schemas.openxmlformats.org/officeDocument/2006/relationships/image" Target="../media/image129.emf"/><Relationship Id="rId4" Type="http://schemas.openxmlformats.org/officeDocument/2006/relationships/image" Target="../media/image126.emf"/><Relationship Id="rId9" Type="http://schemas.openxmlformats.org/officeDocument/2006/relationships/oleObject" Target="../embeddings/oleObject125.bin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2.emf"/><Relationship Id="rId3" Type="http://schemas.openxmlformats.org/officeDocument/2006/relationships/oleObject" Target="../embeddings/oleObject126.bin"/><Relationship Id="rId7" Type="http://schemas.openxmlformats.org/officeDocument/2006/relationships/oleObject" Target="../embeddings/oleObject128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9.vml"/><Relationship Id="rId6" Type="http://schemas.openxmlformats.org/officeDocument/2006/relationships/image" Target="../media/image131.emf"/><Relationship Id="rId5" Type="http://schemas.openxmlformats.org/officeDocument/2006/relationships/oleObject" Target="../embeddings/oleObject127.bin"/><Relationship Id="rId4" Type="http://schemas.openxmlformats.org/officeDocument/2006/relationships/image" Target="../media/image130.emf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9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0.vml"/><Relationship Id="rId4" Type="http://schemas.openxmlformats.org/officeDocument/2006/relationships/image" Target="../media/image133.emf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6.emf"/><Relationship Id="rId3" Type="http://schemas.openxmlformats.org/officeDocument/2006/relationships/oleObject" Target="../embeddings/oleObject130.bin"/><Relationship Id="rId7" Type="http://schemas.openxmlformats.org/officeDocument/2006/relationships/oleObject" Target="../embeddings/oleObject132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1.vml"/><Relationship Id="rId6" Type="http://schemas.openxmlformats.org/officeDocument/2006/relationships/image" Target="../media/image135.emf"/><Relationship Id="rId5" Type="http://schemas.openxmlformats.org/officeDocument/2006/relationships/oleObject" Target="../embeddings/oleObject131.bin"/><Relationship Id="rId4" Type="http://schemas.openxmlformats.org/officeDocument/2006/relationships/image" Target="../media/image134.emf"/><Relationship Id="rId9" Type="http://schemas.openxmlformats.org/officeDocument/2006/relationships/image" Target="../media/image137.png"/></Relationships>
</file>

<file path=ppt/slides/_rels/slide5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0.emf"/><Relationship Id="rId3" Type="http://schemas.openxmlformats.org/officeDocument/2006/relationships/oleObject" Target="../embeddings/oleObject133.bin"/><Relationship Id="rId7" Type="http://schemas.openxmlformats.org/officeDocument/2006/relationships/oleObject" Target="../embeddings/oleObject135.bin"/><Relationship Id="rId12" Type="http://schemas.openxmlformats.org/officeDocument/2006/relationships/image" Target="../media/image142.e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2.vml"/><Relationship Id="rId6" Type="http://schemas.openxmlformats.org/officeDocument/2006/relationships/image" Target="../media/image139.emf"/><Relationship Id="rId11" Type="http://schemas.openxmlformats.org/officeDocument/2006/relationships/oleObject" Target="../embeddings/oleObject137.bin"/><Relationship Id="rId5" Type="http://schemas.openxmlformats.org/officeDocument/2006/relationships/oleObject" Target="../embeddings/oleObject134.bin"/><Relationship Id="rId10" Type="http://schemas.openxmlformats.org/officeDocument/2006/relationships/image" Target="../media/image141.emf"/><Relationship Id="rId4" Type="http://schemas.openxmlformats.org/officeDocument/2006/relationships/image" Target="../media/image138.emf"/><Relationship Id="rId9" Type="http://schemas.openxmlformats.org/officeDocument/2006/relationships/oleObject" Target="../embeddings/oleObject136.bin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5.emf"/><Relationship Id="rId3" Type="http://schemas.openxmlformats.org/officeDocument/2006/relationships/oleObject" Target="../embeddings/oleObject138.bin"/><Relationship Id="rId7" Type="http://schemas.openxmlformats.org/officeDocument/2006/relationships/oleObject" Target="../embeddings/oleObject140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3.vml"/><Relationship Id="rId6" Type="http://schemas.openxmlformats.org/officeDocument/2006/relationships/image" Target="../media/image144.emf"/><Relationship Id="rId5" Type="http://schemas.openxmlformats.org/officeDocument/2006/relationships/oleObject" Target="../embeddings/oleObject139.bin"/><Relationship Id="rId4" Type="http://schemas.openxmlformats.org/officeDocument/2006/relationships/image" Target="../media/image143.emf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4.vml"/><Relationship Id="rId6" Type="http://schemas.openxmlformats.org/officeDocument/2006/relationships/image" Target="../media/image147.emf"/><Relationship Id="rId5" Type="http://schemas.openxmlformats.org/officeDocument/2006/relationships/oleObject" Target="../embeddings/oleObject142.bin"/><Relationship Id="rId4" Type="http://schemas.openxmlformats.org/officeDocument/2006/relationships/image" Target="../media/image146.emf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5.vml"/><Relationship Id="rId4" Type="http://schemas.openxmlformats.org/officeDocument/2006/relationships/image" Target="../media/image148.emf"/></Relationships>
</file>

<file path=ppt/slides/_rels/slide5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1.emf"/><Relationship Id="rId3" Type="http://schemas.openxmlformats.org/officeDocument/2006/relationships/oleObject" Target="../embeddings/oleObject144.bin"/><Relationship Id="rId7" Type="http://schemas.openxmlformats.org/officeDocument/2006/relationships/oleObject" Target="../embeddings/oleObject146.bin"/><Relationship Id="rId12" Type="http://schemas.openxmlformats.org/officeDocument/2006/relationships/image" Target="../media/image153.e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6.vml"/><Relationship Id="rId6" Type="http://schemas.openxmlformats.org/officeDocument/2006/relationships/image" Target="../media/image150.emf"/><Relationship Id="rId11" Type="http://schemas.openxmlformats.org/officeDocument/2006/relationships/oleObject" Target="../embeddings/oleObject148.bin"/><Relationship Id="rId5" Type="http://schemas.openxmlformats.org/officeDocument/2006/relationships/oleObject" Target="../embeddings/oleObject145.bin"/><Relationship Id="rId10" Type="http://schemas.openxmlformats.org/officeDocument/2006/relationships/image" Target="../media/image152.emf"/><Relationship Id="rId4" Type="http://schemas.openxmlformats.org/officeDocument/2006/relationships/image" Target="../media/image149.emf"/><Relationship Id="rId9" Type="http://schemas.openxmlformats.org/officeDocument/2006/relationships/oleObject" Target="../embeddings/oleObject147.bin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hyperlink" Target="http://www.google.com.hk/imgres?imgurl=http://www.lalizasimosigns.com/product-photos/12/3818.jpg&amp;imgrefurl=http://www.lalizasimosigns.com/product.php?selected_id=3818&amp;usg=__TpUYaPWQjaIsobbsXmt5uHvm1nA=&amp;h=800&amp;w=601&amp;sz=114&amp;hl=zh-CN&amp;start=25&amp;zoom=1&amp;tbnid=7WP1x19ohRzD0M:&amp;tbnh=143&amp;tbnw=107&amp;ei=NMwJUe_KOMeOiAfU3IH4Cg&amp;prev=/search?q=explosive&amp;start=20&amp;hl=zh-CN&amp;newwindow=1&amp;safe=strict&amp;sa=N&amp;tbo=d&amp;biw=1366&amp;bih=566&amp;site=imghp&amp;tbm=isch&amp;itbs=1" TargetMode="Externa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7.vml"/><Relationship Id="rId6" Type="http://schemas.openxmlformats.org/officeDocument/2006/relationships/image" Target="../media/image154.emf"/><Relationship Id="rId5" Type="http://schemas.openxmlformats.org/officeDocument/2006/relationships/oleObject" Target="../embeddings/oleObject149.bin"/><Relationship Id="rId4" Type="http://schemas.openxmlformats.org/officeDocument/2006/relationships/image" Target="../media/image155.jpe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50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8.vml"/><Relationship Id="rId5" Type="http://schemas.openxmlformats.org/officeDocument/2006/relationships/image" Target="../media/image157.png"/><Relationship Id="rId4" Type="http://schemas.openxmlformats.org/officeDocument/2006/relationships/image" Target="../media/image156.emf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5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9.vml"/><Relationship Id="rId6" Type="http://schemas.openxmlformats.org/officeDocument/2006/relationships/image" Target="../media/image159.emf"/><Relationship Id="rId5" Type="http://schemas.openxmlformats.org/officeDocument/2006/relationships/oleObject" Target="../embeddings/oleObject152.bin"/><Relationship Id="rId4" Type="http://schemas.openxmlformats.org/officeDocument/2006/relationships/image" Target="../media/image158.emf"/></Relationships>
</file>

<file path=ppt/slides/_rels/slide6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2.emf"/><Relationship Id="rId3" Type="http://schemas.openxmlformats.org/officeDocument/2006/relationships/oleObject" Target="../embeddings/oleObject153.bin"/><Relationship Id="rId7" Type="http://schemas.openxmlformats.org/officeDocument/2006/relationships/oleObject" Target="../embeddings/oleObject155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60.vml"/><Relationship Id="rId6" Type="http://schemas.openxmlformats.org/officeDocument/2006/relationships/image" Target="../media/image161.emf"/><Relationship Id="rId5" Type="http://schemas.openxmlformats.org/officeDocument/2006/relationships/oleObject" Target="../embeddings/oleObject154.bin"/><Relationship Id="rId4" Type="http://schemas.openxmlformats.org/officeDocument/2006/relationships/image" Target="../media/image160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1</a:t>
            </a:fld>
            <a:endParaRPr lang="zh-CN" altLang="en-US"/>
          </a:p>
        </p:txBody>
      </p:sp>
      <p:sp>
        <p:nvSpPr>
          <p:cNvPr id="5" name="TextBox 4"/>
          <p:cNvSpPr txBox="1"/>
          <p:nvPr/>
        </p:nvSpPr>
        <p:spPr>
          <a:xfrm>
            <a:off x="0" y="395953"/>
            <a:ext cx="12192000" cy="52322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u="sng" dirty="0"/>
              <a:t>Chapter 8</a:t>
            </a:r>
            <a:r>
              <a:rPr lang="en-US" altLang="zh-CN" sz="2800" b="1" dirty="0"/>
              <a:t> </a:t>
            </a:r>
            <a:r>
              <a:rPr lang="en-US" altLang="zh-C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Alcohols,</a:t>
            </a:r>
            <a:r>
              <a:rPr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altLang="zh-C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Phenol, and Ethers</a:t>
            </a:r>
            <a:endParaRPr lang="zh-CN" altLang="en-US" sz="28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0" y="1050307"/>
            <a:ext cx="4009431" cy="46166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altLang="zh-CN" sz="2400" b="1" u="sng" dirty="0"/>
              <a:t>8-1</a:t>
            </a:r>
            <a:r>
              <a:rPr lang="en-US" altLang="zh-CN" sz="2400" b="1" dirty="0"/>
              <a:t> Alcohols--</a:t>
            </a:r>
            <a:r>
              <a:rPr lang="en-US" altLang="zh-CN" sz="2400" b="1" dirty="0">
                <a:solidFill>
                  <a:srgbClr val="0000FF"/>
                </a:solidFill>
              </a:rPr>
              <a:t>Introduction</a:t>
            </a:r>
            <a:endParaRPr lang="zh-CN" altLang="en-US" sz="2400" b="1" dirty="0">
              <a:solidFill>
                <a:srgbClr val="0000FF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63351" y="1596416"/>
            <a:ext cx="1166529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000" b="1" dirty="0"/>
              <a:t>Alcohols are organic compounds containing </a:t>
            </a:r>
            <a:r>
              <a:rPr lang="en-US" altLang="zh-CN" sz="2000" b="1" dirty="0">
                <a:solidFill>
                  <a:srgbClr val="0000FF"/>
                </a:solidFill>
              </a:rPr>
              <a:t>hydroxyl functional groups </a:t>
            </a:r>
            <a:r>
              <a:rPr lang="en-US" altLang="zh-CN" sz="2000" b="1" dirty="0"/>
              <a:t>(</a:t>
            </a:r>
            <a:r>
              <a:rPr lang="en-US" altLang="zh-CN" sz="2000" b="1" dirty="0">
                <a:solidFill>
                  <a:srgbClr val="FF0000"/>
                </a:solidFill>
                <a:sym typeface="Symbol"/>
              </a:rPr>
              <a:t></a:t>
            </a:r>
            <a:r>
              <a:rPr lang="en-US" altLang="zh-CN" sz="2000" b="1" dirty="0">
                <a:solidFill>
                  <a:srgbClr val="FF0000"/>
                </a:solidFill>
              </a:rPr>
              <a:t>OH</a:t>
            </a:r>
            <a:r>
              <a:rPr lang="en-US" altLang="zh-CN" sz="2000" b="1" dirty="0"/>
              <a:t>).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000" b="1" dirty="0"/>
              <a:t>Alcohols are some of the most common and useful compounds in nature, in industry, and around the house.</a:t>
            </a:r>
            <a:endParaRPr lang="zh-CN" altLang="en-US" sz="2000" b="1" dirty="0"/>
          </a:p>
        </p:txBody>
      </p:sp>
      <p:sp>
        <p:nvSpPr>
          <p:cNvPr id="13" name="矩形 12"/>
          <p:cNvSpPr/>
          <p:nvPr/>
        </p:nvSpPr>
        <p:spPr>
          <a:xfrm>
            <a:off x="7414812" y="5061252"/>
            <a:ext cx="4038981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600" dirty="0">
                <a:latin typeface="Consolas" panose="020B0609020204030204" pitchFamily="49" charset="0"/>
              </a:rPr>
              <a:t>Taxol  is a cancer medication that interferes with the growth and spread of cancer cells in the body, used to treat breast cancer, ovarian cancer, and lung cancer</a:t>
            </a:r>
            <a:endParaRPr lang="zh-CN" altLang="en-US" sz="1600" dirty="0">
              <a:latin typeface="Consolas" panose="020B0609020204030204" pitchFamily="49" charset="0"/>
            </a:endParaRPr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67426652"/>
              </p:ext>
            </p:extLst>
          </p:nvPr>
        </p:nvGraphicFramePr>
        <p:xfrm>
          <a:off x="1717347" y="2617958"/>
          <a:ext cx="8757303" cy="17182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4" name="CS ChemDraw Drawing" r:id="rId3" imgW="5938964" imgH="1165464" progId="ChemDraw.Document.6.0">
                  <p:embed/>
                </p:oleObj>
              </mc:Choice>
              <mc:Fallback>
                <p:oleObj name="CS ChemDraw Drawing" r:id="rId3" imgW="5938964" imgH="1165464" progId="ChemDraw.Document.6.0">
                  <p:embed/>
                  <p:pic>
                    <p:nvPicPr>
                      <p:cNvPr id="2" name="对象 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717347" y="2617958"/>
                        <a:ext cx="8757303" cy="171822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71857742"/>
              </p:ext>
            </p:extLst>
          </p:nvPr>
        </p:nvGraphicFramePr>
        <p:xfrm>
          <a:off x="975790" y="4824051"/>
          <a:ext cx="2858115" cy="169792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5" name="CS ChemDraw Drawing" r:id="rId5" imgW="2302670" imgH="1368429" progId="ChemDraw.Document.6.0">
                  <p:embed/>
                </p:oleObj>
              </mc:Choice>
              <mc:Fallback>
                <p:oleObj name="CS ChemDraw Drawing" r:id="rId5" imgW="2302670" imgH="1368429" progId="ChemDraw.Document.6.0">
                  <p:embed/>
                  <p:pic>
                    <p:nvPicPr>
                      <p:cNvPr id="7" name="对象 6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975790" y="4824051"/>
                        <a:ext cx="2858115" cy="169792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8" name="图片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45487" y="4923965"/>
            <a:ext cx="903928" cy="1598015"/>
          </a:xfrm>
          <a:prstGeom prst="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125757" y="4637923"/>
            <a:ext cx="1735446" cy="201048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2</a:t>
            </a:fld>
            <a:endParaRPr lang="zh-CN" altLang="en-US"/>
          </a:p>
        </p:txBody>
      </p:sp>
      <p:sp>
        <p:nvSpPr>
          <p:cNvPr id="5" name="TextBox 4"/>
          <p:cNvSpPr txBox="1"/>
          <p:nvPr/>
        </p:nvSpPr>
        <p:spPr>
          <a:xfrm>
            <a:off x="0" y="264069"/>
            <a:ext cx="4406976" cy="46166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altLang="zh-CN" sz="2400" b="1" u="sng" dirty="0"/>
              <a:t>8-2</a:t>
            </a:r>
            <a:r>
              <a:rPr lang="en-US" altLang="zh-CN" sz="2400" b="1" dirty="0"/>
              <a:t> </a:t>
            </a:r>
            <a:r>
              <a:rPr lang="en-US" altLang="zh-CN" sz="2400" b="1" dirty="0">
                <a:solidFill>
                  <a:srgbClr val="0000FF"/>
                </a:solidFill>
              </a:rPr>
              <a:t>Nomenclature</a:t>
            </a:r>
            <a:r>
              <a:rPr lang="en-US" altLang="zh-CN" sz="2400" b="1" dirty="0"/>
              <a:t> of Alcohols</a:t>
            </a:r>
            <a:endParaRPr lang="zh-CN" altLang="en-US" sz="2400" b="1" dirty="0"/>
          </a:p>
        </p:txBody>
      </p:sp>
      <p:sp>
        <p:nvSpPr>
          <p:cNvPr id="6" name="TextBox 5"/>
          <p:cNvSpPr txBox="1"/>
          <p:nvPr/>
        </p:nvSpPr>
        <p:spPr>
          <a:xfrm>
            <a:off x="335360" y="1712875"/>
            <a:ext cx="705155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000" b="1" dirty="0"/>
              <a:t>The common name of an alcohol is derived from the common name of the alkyl group and the word alcohol.</a:t>
            </a:r>
            <a:r>
              <a:rPr lang="en-US" altLang="zh-CN" sz="2000" b="1" u="sng" dirty="0">
                <a:solidFill>
                  <a:srgbClr val="0000FF"/>
                </a:solidFill>
              </a:rPr>
              <a:t> </a:t>
            </a:r>
            <a:endParaRPr lang="zh-CN" altLang="en-US" sz="2000" b="1" dirty="0"/>
          </a:p>
        </p:txBody>
      </p:sp>
      <p:graphicFrame>
        <p:nvGraphicFramePr>
          <p:cNvPr id="15365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52399810"/>
              </p:ext>
            </p:extLst>
          </p:nvPr>
        </p:nvGraphicFramePr>
        <p:xfrm>
          <a:off x="7522595" y="1040246"/>
          <a:ext cx="3728771" cy="1419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8" name="CS ChemDraw Drawing" r:id="rId3" imgW="2093661" imgH="796574" progId="ChemDraw.Document.6.0">
                  <p:embed/>
                </p:oleObj>
              </mc:Choice>
              <mc:Fallback>
                <p:oleObj name="CS ChemDraw Drawing" r:id="rId3" imgW="2093661" imgH="796574" progId="ChemDraw.Document.6.0">
                  <p:embed/>
                  <p:pic>
                    <p:nvPicPr>
                      <p:cNvPr id="15365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22595" y="1040246"/>
                        <a:ext cx="3728771" cy="14191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矩形 2"/>
          <p:cNvSpPr/>
          <p:nvPr/>
        </p:nvSpPr>
        <p:spPr>
          <a:xfrm>
            <a:off x="0" y="829365"/>
            <a:ext cx="3774141" cy="46166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sz="2400" b="1" dirty="0"/>
              <a:t>8-2-1 Names of Alcohols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335360" y="1349705"/>
            <a:ext cx="217078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b="1" dirty="0"/>
              <a:t>1. </a:t>
            </a:r>
            <a:r>
              <a:rPr lang="en-US" altLang="zh-CN" sz="2000" b="1" dirty="0">
                <a:solidFill>
                  <a:srgbClr val="0000FF"/>
                </a:solidFill>
              </a:rPr>
              <a:t>Common names</a:t>
            </a:r>
            <a:endParaRPr lang="zh-CN" altLang="en-US" sz="2000" b="1" dirty="0">
              <a:solidFill>
                <a:srgbClr val="0000FF"/>
              </a:solidFill>
            </a:endParaRPr>
          </a:p>
        </p:txBody>
      </p:sp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16821073"/>
              </p:ext>
            </p:extLst>
          </p:nvPr>
        </p:nvGraphicFramePr>
        <p:xfrm>
          <a:off x="1029357" y="2605520"/>
          <a:ext cx="9756057" cy="118793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9" name="CS ChemDraw Drawing" r:id="rId5" imgW="6193063" imgH="754380" progId="ChemDraw.Document.6.0">
                  <p:embed/>
                </p:oleObj>
              </mc:Choice>
              <mc:Fallback>
                <p:oleObj name="CS ChemDraw Drawing" r:id="rId5" imgW="6193063" imgH="754380" progId="ChemDraw.Document.6.0">
                  <p:embed/>
                  <p:pic>
                    <p:nvPicPr>
                      <p:cNvPr id="7" name="对象 6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029357" y="2605520"/>
                        <a:ext cx="9756057" cy="118793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文本框 7"/>
          <p:cNvSpPr txBox="1"/>
          <p:nvPr/>
        </p:nvSpPr>
        <p:spPr>
          <a:xfrm>
            <a:off x="335360" y="4102913"/>
            <a:ext cx="184742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b="1" dirty="0"/>
              <a:t>2. </a:t>
            </a:r>
            <a:r>
              <a:rPr lang="en-US" altLang="zh-CN" sz="2000" b="1" dirty="0">
                <a:solidFill>
                  <a:srgbClr val="0000FF"/>
                </a:solidFill>
              </a:rPr>
              <a:t>IUPAC names</a:t>
            </a:r>
            <a:endParaRPr lang="zh-CN" altLang="en-US" sz="2000" b="1" dirty="0">
              <a:solidFill>
                <a:srgbClr val="0000FF"/>
              </a:solidFill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335360" y="4437239"/>
            <a:ext cx="1122658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000" b="1" dirty="0"/>
              <a:t>In general, the IUPAC name carries the –</a:t>
            </a:r>
            <a:r>
              <a:rPr lang="en-US" altLang="zh-CN" sz="2000" b="1" dirty="0" err="1"/>
              <a:t>ol</a:t>
            </a:r>
            <a:r>
              <a:rPr lang="en-US" altLang="zh-CN" sz="2000" b="1" dirty="0"/>
              <a:t> suffix, together with a number to give the location of the hydroxyl group.</a:t>
            </a:r>
            <a:endParaRPr lang="zh-CN" altLang="en-US" sz="2000" b="1" dirty="0"/>
          </a:p>
        </p:txBody>
      </p:sp>
      <p:sp>
        <p:nvSpPr>
          <p:cNvPr id="10" name="文本框 9"/>
          <p:cNvSpPr txBox="1"/>
          <p:nvPr/>
        </p:nvSpPr>
        <p:spPr>
          <a:xfrm>
            <a:off x="2567608" y="5338586"/>
            <a:ext cx="655179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b="1" dirty="0">
                <a:latin typeface="Consolas" panose="020B0609020204030204" pitchFamily="49" charset="0"/>
              </a:rPr>
              <a:t>Linear saturated alcohols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b="1" dirty="0">
                <a:latin typeface="Consolas" panose="020B0609020204030204" pitchFamily="49" charset="0"/>
              </a:rPr>
              <a:t>Cyclic alcohols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b="1" dirty="0">
                <a:latin typeface="Consolas" panose="020B0609020204030204" pitchFamily="49" charset="0"/>
              </a:rPr>
              <a:t>Alcohols containing double and triple bonds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b="1" dirty="0">
                <a:latin typeface="Consolas" panose="020B0609020204030204" pitchFamily="49" charset="0"/>
              </a:rPr>
              <a:t>Alcohols with a higher-priority functional group</a:t>
            </a:r>
            <a:endParaRPr lang="zh-CN" altLang="en-US" b="1" dirty="0">
              <a:latin typeface="Consolas" panose="020B0609020204030204" pitchFamily="49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标注 16"/>
          <p:cNvSpPr/>
          <p:nvPr/>
        </p:nvSpPr>
        <p:spPr>
          <a:xfrm>
            <a:off x="7110345" y="4423705"/>
            <a:ext cx="3888432" cy="584775"/>
          </a:xfrm>
          <a:prstGeom prst="wedgeRoundRectCallout">
            <a:avLst>
              <a:gd name="adj1" fmla="val -6635"/>
              <a:gd name="adj2" fmla="val 71351"/>
              <a:gd name="adj3" fmla="val 16667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3</a:t>
            </a:fld>
            <a:endParaRPr lang="zh-CN" altLang="en-US"/>
          </a:p>
        </p:txBody>
      </p:sp>
      <p:sp>
        <p:nvSpPr>
          <p:cNvPr id="4" name="TextBox 3"/>
          <p:cNvSpPr txBox="1"/>
          <p:nvPr/>
        </p:nvSpPr>
        <p:spPr>
          <a:xfrm>
            <a:off x="244511" y="739506"/>
            <a:ext cx="1129146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AutoNum type="arabicParenBoth"/>
            </a:pPr>
            <a:r>
              <a:rPr lang="en-US" altLang="zh-CN" b="1" dirty="0"/>
              <a:t>Name </a:t>
            </a:r>
            <a:r>
              <a:rPr lang="en-US" altLang="zh-CN" b="1" i="1" dirty="0"/>
              <a:t>the longest carbon chain</a:t>
            </a:r>
            <a:r>
              <a:rPr lang="en-US" altLang="zh-CN" b="1" dirty="0"/>
              <a:t> that </a:t>
            </a:r>
            <a:r>
              <a:rPr lang="en-US" altLang="zh-CN" b="1" i="1" dirty="0">
                <a:solidFill>
                  <a:srgbClr val="0000FF"/>
                </a:solidFill>
              </a:rPr>
              <a:t>contains</a:t>
            </a:r>
            <a:r>
              <a:rPr lang="en-US" altLang="zh-CN" b="1" dirty="0"/>
              <a:t> </a:t>
            </a:r>
            <a:r>
              <a:rPr lang="en-US" altLang="zh-CN" b="1" i="1" dirty="0">
                <a:solidFill>
                  <a:srgbClr val="0000FF"/>
                </a:solidFill>
              </a:rPr>
              <a:t>the carbon atom bearing the OH group</a:t>
            </a:r>
            <a:r>
              <a:rPr lang="en-US" altLang="zh-CN" b="1" dirty="0"/>
              <a:t>.</a:t>
            </a:r>
          </a:p>
          <a:p>
            <a:pPr marL="457200" indent="-457200">
              <a:buAutoNum type="arabicParenBoth"/>
            </a:pPr>
            <a:r>
              <a:rPr lang="en-US" altLang="zh-CN" b="1" dirty="0"/>
              <a:t>Drop the final –</a:t>
            </a:r>
            <a:r>
              <a:rPr lang="en-US" altLang="zh-CN" b="1" i="1" dirty="0"/>
              <a:t>e</a:t>
            </a:r>
            <a:r>
              <a:rPr lang="en-US" altLang="zh-CN" b="1" dirty="0"/>
              <a:t> from the </a:t>
            </a:r>
            <a:r>
              <a:rPr lang="en-US" altLang="zh-CN" b="1" i="1" dirty="0">
                <a:solidFill>
                  <a:srgbClr val="0000FF"/>
                </a:solidFill>
              </a:rPr>
              <a:t>alkane name </a:t>
            </a:r>
            <a:r>
              <a:rPr lang="en-US" altLang="zh-CN" b="1" dirty="0"/>
              <a:t>and add the suffix </a:t>
            </a:r>
            <a:r>
              <a:rPr lang="en-US" altLang="zh-CN" b="1" dirty="0">
                <a:solidFill>
                  <a:srgbClr val="FF0000"/>
                </a:solidFill>
              </a:rPr>
              <a:t>–</a:t>
            </a:r>
            <a:r>
              <a:rPr lang="en-US" altLang="zh-CN" b="1" i="1" dirty="0" err="1">
                <a:solidFill>
                  <a:srgbClr val="FF0000"/>
                </a:solidFill>
              </a:rPr>
              <a:t>ol</a:t>
            </a:r>
            <a:r>
              <a:rPr lang="en-US" altLang="zh-CN" b="1" dirty="0">
                <a:solidFill>
                  <a:srgbClr val="FF0000"/>
                </a:solidFill>
              </a:rPr>
              <a:t> </a:t>
            </a:r>
            <a:r>
              <a:rPr lang="en-US" altLang="zh-CN" b="1" dirty="0"/>
              <a:t>to give </a:t>
            </a:r>
            <a:r>
              <a:rPr lang="en-US" altLang="zh-CN" b="1" i="1" dirty="0">
                <a:solidFill>
                  <a:srgbClr val="FF0000"/>
                </a:solidFill>
              </a:rPr>
              <a:t>the root name</a:t>
            </a:r>
            <a:r>
              <a:rPr lang="en-US" altLang="zh-CN" b="1" dirty="0"/>
              <a:t>.</a:t>
            </a:r>
          </a:p>
          <a:p>
            <a:pPr marL="457200" indent="-457200">
              <a:buAutoNum type="arabicParenBoth"/>
            </a:pPr>
            <a:r>
              <a:rPr lang="en-US" altLang="zh-CN" b="1" dirty="0"/>
              <a:t>Number the longest carbon chain </a:t>
            </a:r>
            <a:r>
              <a:rPr lang="en-US" altLang="zh-CN" b="1" i="1" dirty="0">
                <a:solidFill>
                  <a:srgbClr val="FF0000"/>
                </a:solidFill>
              </a:rPr>
              <a:t>starting at the end nearest the OH group</a:t>
            </a:r>
            <a:r>
              <a:rPr lang="en-US" altLang="zh-CN" b="1" dirty="0"/>
              <a:t>, and use the appropriate number to indicate </a:t>
            </a:r>
            <a:r>
              <a:rPr lang="en-US" altLang="zh-CN" b="1" dirty="0">
                <a:solidFill>
                  <a:srgbClr val="FF0000"/>
                </a:solidFill>
              </a:rPr>
              <a:t>the position of the OH group</a:t>
            </a:r>
            <a:r>
              <a:rPr lang="en-US" altLang="zh-CN" b="1" dirty="0"/>
              <a:t>.</a:t>
            </a:r>
          </a:p>
          <a:p>
            <a:pPr marL="457200" indent="-457200">
              <a:buAutoNum type="arabicParenBoth"/>
            </a:pPr>
            <a:r>
              <a:rPr lang="en-US" altLang="zh-CN" b="1" dirty="0"/>
              <a:t>Name all the substituents and give their numbers. </a:t>
            </a:r>
            <a:endParaRPr lang="zh-CN" altLang="en-US" b="1" dirty="0"/>
          </a:p>
        </p:txBody>
      </p:sp>
      <p:sp>
        <p:nvSpPr>
          <p:cNvPr id="6" name="文本框 5"/>
          <p:cNvSpPr txBox="1"/>
          <p:nvPr/>
        </p:nvSpPr>
        <p:spPr>
          <a:xfrm>
            <a:off x="0" y="260648"/>
            <a:ext cx="7103227" cy="40011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chemeClr val="accent6">
                <a:lumMod val="60000"/>
                <a:lumOff val="40000"/>
              </a:schemeClr>
            </a:solidFill>
          </a:ln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000" b="1" dirty="0">
                <a:latin typeface="Consolas" panose="020B0609020204030204" pitchFamily="49" charset="0"/>
              </a:rPr>
              <a:t>IUPAC nomenclature of linear saturated alcohols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0" y="3720107"/>
            <a:ext cx="5692584" cy="40011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chemeClr val="accent6">
                <a:lumMod val="60000"/>
                <a:lumOff val="40000"/>
              </a:schemeClr>
            </a:solidFill>
          </a:ln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000" b="1" dirty="0">
                <a:latin typeface="Consolas" panose="020B0609020204030204" pitchFamily="49" charset="0"/>
              </a:rPr>
              <a:t>IUPAC nomenclature of </a:t>
            </a:r>
            <a:r>
              <a:rPr lang="en-US" altLang="zh-CN" sz="2000" b="1" u="sng" dirty="0">
                <a:latin typeface="Consolas" panose="020B0609020204030204" pitchFamily="49" charset="0"/>
              </a:rPr>
              <a:t>cyclic alcohols</a:t>
            </a:r>
          </a:p>
        </p:txBody>
      </p:sp>
      <p:sp>
        <p:nvSpPr>
          <p:cNvPr id="7" name="矩形 6"/>
          <p:cNvSpPr/>
          <p:nvPr/>
        </p:nvSpPr>
        <p:spPr>
          <a:xfrm>
            <a:off x="244511" y="4149731"/>
            <a:ext cx="641765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b="1" dirty="0"/>
              <a:t>(1)  Cyclic alcohols are named using the prefix </a:t>
            </a:r>
            <a:r>
              <a:rPr lang="en-US" altLang="zh-CN" b="1" i="1" dirty="0" err="1">
                <a:solidFill>
                  <a:srgbClr val="FF0000"/>
                </a:solidFill>
              </a:rPr>
              <a:t>cyclo</a:t>
            </a:r>
            <a:r>
              <a:rPr lang="en-US" altLang="zh-CN" b="1" i="1" dirty="0">
                <a:solidFill>
                  <a:srgbClr val="FF0000"/>
                </a:solidFill>
              </a:rPr>
              <a:t>-</a:t>
            </a:r>
            <a:r>
              <a:rPr lang="en-US" altLang="zh-CN" b="1" dirty="0"/>
              <a:t>.</a:t>
            </a:r>
          </a:p>
          <a:p>
            <a:r>
              <a:rPr lang="en-US" altLang="zh-CN" b="1" dirty="0"/>
              <a:t>(2)  The </a:t>
            </a:r>
            <a:r>
              <a:rPr lang="en-US" altLang="zh-CN" b="1" dirty="0">
                <a:solidFill>
                  <a:srgbClr val="FF0000"/>
                </a:solidFill>
              </a:rPr>
              <a:t>OH</a:t>
            </a:r>
            <a:r>
              <a:rPr lang="en-US" altLang="zh-CN" b="1" dirty="0"/>
              <a:t> is assumed to be </a:t>
            </a:r>
            <a:r>
              <a:rPr lang="en-US" altLang="zh-CN" b="1" dirty="0">
                <a:solidFill>
                  <a:srgbClr val="FF0000"/>
                </a:solidFill>
              </a:rPr>
              <a:t>on C1</a:t>
            </a:r>
            <a:r>
              <a:rPr lang="en-US" altLang="zh-CN" b="1" dirty="0"/>
              <a:t>.</a:t>
            </a:r>
          </a:p>
        </p:txBody>
      </p:sp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9527419"/>
              </p:ext>
            </p:extLst>
          </p:nvPr>
        </p:nvGraphicFramePr>
        <p:xfrm>
          <a:off x="533164" y="2385926"/>
          <a:ext cx="5688632" cy="85878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64" name="CS ChemDraw Drawing" r:id="rId3" imgW="4027700" imgH="607706" progId="ChemDraw.Document.6.0">
                  <p:embed/>
                </p:oleObj>
              </mc:Choice>
              <mc:Fallback>
                <p:oleObj name="CS ChemDraw Drawing" r:id="rId3" imgW="4027700" imgH="607706" progId="ChemDraw.Document.6.0">
                  <p:embed/>
                  <p:pic>
                    <p:nvPicPr>
                      <p:cNvPr id="9" name="对象 8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33164" y="2385926"/>
                        <a:ext cx="5688632" cy="85878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53453312"/>
              </p:ext>
            </p:extLst>
          </p:nvPr>
        </p:nvGraphicFramePr>
        <p:xfrm>
          <a:off x="6773272" y="2133954"/>
          <a:ext cx="4970492" cy="11089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65" name="CS ChemDraw Drawing" r:id="rId5" imgW="3558170" imgH="793625" progId="ChemDraw.Document.6.0">
                  <p:embed/>
                </p:oleObj>
              </mc:Choice>
              <mc:Fallback>
                <p:oleObj name="CS ChemDraw Drawing" r:id="rId5" imgW="3558170" imgH="793625" progId="ChemDraw.Document.6.0">
                  <p:embed/>
                  <p:pic>
                    <p:nvPicPr>
                      <p:cNvPr id="12" name="对象 1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773272" y="2133954"/>
                        <a:ext cx="4970492" cy="110899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75687303"/>
              </p:ext>
            </p:extLst>
          </p:nvPr>
        </p:nvGraphicFramePr>
        <p:xfrm>
          <a:off x="545816" y="5025233"/>
          <a:ext cx="5344427" cy="1422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66" name="CS ChemDraw Drawing" r:id="rId7" imgW="3518714" imgH="937128" progId="ChemDraw.Document.6.0">
                  <p:embed/>
                </p:oleObj>
              </mc:Choice>
              <mc:Fallback>
                <p:oleObj name="CS ChemDraw Drawing" r:id="rId7" imgW="3518714" imgH="937128" progId="ChemDraw.Document.6.0">
                  <p:embed/>
                  <p:pic>
                    <p:nvPicPr>
                      <p:cNvPr id="13" name="对象 12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45816" y="5025233"/>
                        <a:ext cx="5344427" cy="14222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/>
          <p:cNvGraphicFramePr>
            <a:graphicFrameLocks noChangeAspect="1"/>
          </p:cNvGraphicFramePr>
          <p:nvPr/>
        </p:nvGraphicFramePr>
        <p:xfrm>
          <a:off x="7835521" y="5123095"/>
          <a:ext cx="2104655" cy="143360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67" name="CS ChemDraw Drawing" r:id="rId9" imgW="1424373" imgH="970427" progId="ChemDraw.Document.6.0">
                  <p:embed/>
                </p:oleObj>
              </mc:Choice>
              <mc:Fallback>
                <p:oleObj name="CS ChemDraw Drawing" r:id="rId9" imgW="1424373" imgH="970427" progId="ChemDraw.Document.6.0">
                  <p:embed/>
                  <p:pic>
                    <p:nvPicPr>
                      <p:cNvPr id="14" name="对象 13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7835521" y="5123095"/>
                        <a:ext cx="2104655" cy="143360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文本框 14"/>
          <p:cNvSpPr txBox="1"/>
          <p:nvPr/>
        </p:nvSpPr>
        <p:spPr>
          <a:xfrm>
            <a:off x="7182353" y="4423705"/>
            <a:ext cx="403244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latin typeface="Consolas" panose="020B0609020204030204" pitchFamily="49" charset="0"/>
              </a:rPr>
              <a:t>the OH is not bonded to the ring carbon: it’s not a cyclic alcohol</a:t>
            </a:r>
            <a:endParaRPr lang="zh-CN" altLang="en-US" sz="1600" b="1" dirty="0">
              <a:latin typeface="Consolas" panose="020B0609020204030204" pitchFamily="49" charset="0"/>
            </a:endParaRPr>
          </a:p>
        </p:txBody>
      </p:sp>
      <p:sp>
        <p:nvSpPr>
          <p:cNvPr id="18" name="椭圆 17"/>
          <p:cNvSpPr/>
          <p:nvPr/>
        </p:nvSpPr>
        <p:spPr>
          <a:xfrm>
            <a:off x="7974441" y="5335812"/>
            <a:ext cx="792088" cy="851446"/>
          </a:xfrm>
          <a:prstGeom prst="ellipse">
            <a:avLst/>
          </a:prstGeom>
          <a:noFill/>
          <a:ln>
            <a:solidFill>
              <a:srgbClr val="00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99EDCC63-8C29-465D-BD58-1B22A529241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24994901"/>
              </p:ext>
            </p:extLst>
          </p:nvPr>
        </p:nvGraphicFramePr>
        <p:xfrm>
          <a:off x="7182353" y="3349558"/>
          <a:ext cx="2122998" cy="10168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68" name="CS ChemDraw Drawing" r:id="rId11" imgW="1471716" imgH="705146" progId="ChemDraw.Document.6.0">
                  <p:embed/>
                </p:oleObj>
              </mc:Choice>
              <mc:Fallback>
                <p:oleObj name="CS ChemDraw Drawing" r:id="rId11" imgW="1471716" imgH="705146" progId="ChemDraw.Document.6.0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7182353" y="3349558"/>
                        <a:ext cx="2122998" cy="101684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横卷形 11"/>
          <p:cNvSpPr/>
          <p:nvPr/>
        </p:nvSpPr>
        <p:spPr>
          <a:xfrm>
            <a:off x="286608" y="4653574"/>
            <a:ext cx="11618784" cy="1080120"/>
          </a:xfrm>
          <a:prstGeom prst="horizontalScroll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4</a:t>
            </a:fld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277141" y="688931"/>
            <a:ext cx="11780385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b="1" dirty="0"/>
              <a:t>In naming alcohols containing double and triple bonds, use the –</a:t>
            </a:r>
            <a:r>
              <a:rPr lang="en-US" altLang="zh-CN" b="1" dirty="0" err="1"/>
              <a:t>ol</a:t>
            </a:r>
            <a:r>
              <a:rPr lang="en-US" altLang="zh-CN" b="1" dirty="0"/>
              <a:t> suffix after the alkene or alkyne name.</a:t>
            </a:r>
            <a:endParaRPr lang="en-US" altLang="zh-CN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US" altLang="zh-CN" b="1" dirty="0"/>
              <a:t>(1) </a:t>
            </a:r>
            <a:r>
              <a:rPr lang="en-US" altLang="zh-CN" b="1" dirty="0">
                <a:solidFill>
                  <a:srgbClr val="FF0000"/>
                </a:solidFill>
              </a:rPr>
              <a:t>Choose the longest chain that contains the OH-bearing carbon as the main chain</a:t>
            </a:r>
            <a:r>
              <a:rPr lang="en-US" altLang="zh-CN" b="1" dirty="0"/>
              <a:t>.</a:t>
            </a:r>
          </a:p>
          <a:p>
            <a:r>
              <a:rPr lang="en-US" altLang="zh-CN" b="1" dirty="0"/>
              <a:t>(2) The chain is numbered to give the lowest possible number to the carbon atom bonded to the OH.</a:t>
            </a:r>
          </a:p>
          <a:p>
            <a:r>
              <a:rPr lang="en-US" altLang="zh-CN" b="1" dirty="0"/>
              <a:t>(3) The position of the OH group is given by putting its number before the –</a:t>
            </a:r>
            <a:r>
              <a:rPr lang="en-US" altLang="zh-CN" b="1" i="1" dirty="0" err="1"/>
              <a:t>ol</a:t>
            </a:r>
            <a:r>
              <a:rPr lang="en-US" altLang="zh-CN" b="1" i="1" dirty="0"/>
              <a:t> </a:t>
            </a:r>
            <a:r>
              <a:rPr lang="en-US" altLang="zh-CN" b="1" dirty="0"/>
              <a:t>suffix. The numbers for the multiple bonds are put before the –</a:t>
            </a:r>
            <a:r>
              <a:rPr lang="en-US" altLang="zh-CN" b="1" i="1" dirty="0" err="1"/>
              <a:t>en</a:t>
            </a:r>
            <a:r>
              <a:rPr lang="en-US" altLang="zh-CN" b="1" dirty="0"/>
              <a:t> or –</a:t>
            </a:r>
            <a:r>
              <a:rPr lang="en-US" altLang="zh-CN" b="1" i="1" dirty="0" err="1"/>
              <a:t>yn</a:t>
            </a:r>
            <a:r>
              <a:rPr lang="en-US" altLang="zh-CN" b="1" dirty="0"/>
              <a:t> suffix.</a:t>
            </a:r>
            <a:endParaRPr lang="zh-CN" altLang="en-US" b="1" dirty="0"/>
          </a:p>
        </p:txBody>
      </p:sp>
      <p:sp>
        <p:nvSpPr>
          <p:cNvPr id="5" name="文本框 4"/>
          <p:cNvSpPr txBox="1"/>
          <p:nvPr/>
        </p:nvSpPr>
        <p:spPr>
          <a:xfrm>
            <a:off x="-2249" y="260648"/>
            <a:ext cx="6397905" cy="40011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chemeClr val="accent6">
                <a:lumMod val="60000"/>
                <a:lumOff val="40000"/>
              </a:schemeClr>
            </a:solidFill>
          </a:ln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000" b="1" dirty="0">
                <a:latin typeface="Consolas" panose="020B0609020204030204" pitchFamily="49" charset="0"/>
              </a:rPr>
              <a:t>IUPAC nomenclature of unsaturated alcohols</a:t>
            </a: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99247322"/>
              </p:ext>
            </p:extLst>
          </p:nvPr>
        </p:nvGraphicFramePr>
        <p:xfrm>
          <a:off x="1849001" y="2274299"/>
          <a:ext cx="7874752" cy="146804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06" name="CS ChemDraw Drawing" r:id="rId3" imgW="4888637" imgH="911361" progId="ChemDraw.Document.6.0">
                  <p:embed/>
                </p:oleObj>
              </mc:Choice>
              <mc:Fallback>
                <p:oleObj name="CS ChemDraw Drawing" r:id="rId3" imgW="4888637" imgH="911361" progId="ChemDraw.Document.6.0">
                  <p:embed/>
                  <p:pic>
                    <p:nvPicPr>
                      <p:cNvPr id="3" name="对象 2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849001" y="2274299"/>
                        <a:ext cx="7874752" cy="146804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文本框 5"/>
          <p:cNvSpPr txBox="1"/>
          <p:nvPr/>
        </p:nvSpPr>
        <p:spPr>
          <a:xfrm>
            <a:off x="277141" y="4050578"/>
            <a:ext cx="111960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b="1" dirty="0"/>
              <a:t>In case the OH group appears on a structure with a higher-priority functional group, it is named as a </a:t>
            </a:r>
            <a:r>
              <a:rPr lang="en-US" altLang="zh-CN" b="1" dirty="0" err="1">
                <a:solidFill>
                  <a:srgbClr val="FF0000"/>
                </a:solidFill>
              </a:rPr>
              <a:t>hydroxy</a:t>
            </a:r>
            <a:r>
              <a:rPr lang="en-US" altLang="zh-CN" b="1" dirty="0"/>
              <a:t> substituent.</a:t>
            </a:r>
            <a:endParaRPr lang="zh-CN" altLang="en-US" b="1" dirty="0"/>
          </a:p>
        </p:txBody>
      </p:sp>
      <p:cxnSp>
        <p:nvCxnSpPr>
          <p:cNvPr id="8" name="直接连接符 7"/>
          <p:cNvCxnSpPr/>
          <p:nvPr/>
        </p:nvCxnSpPr>
        <p:spPr>
          <a:xfrm>
            <a:off x="169132" y="3949976"/>
            <a:ext cx="1152128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/>
          <p:cNvSpPr txBox="1"/>
          <p:nvPr/>
        </p:nvSpPr>
        <p:spPr>
          <a:xfrm>
            <a:off x="3505241" y="5176794"/>
            <a:ext cx="53241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Consolas" panose="020B0609020204030204" pitchFamily="49" charset="0"/>
                <a:sym typeface="Symbol" panose="05050102010706020507" pitchFamily="18" charset="2"/>
              </a:rPr>
              <a:t>CO</a:t>
            </a:r>
            <a:r>
              <a:rPr lang="en-US" altLang="zh-CN" b="1" baseline="-25000" dirty="0">
                <a:latin typeface="Consolas" panose="020B0609020204030204" pitchFamily="49" charset="0"/>
                <a:sym typeface="Symbol" panose="05050102010706020507" pitchFamily="18" charset="2"/>
              </a:rPr>
              <a:t>2</a:t>
            </a:r>
            <a:r>
              <a:rPr lang="en-US" altLang="zh-CN" b="1" dirty="0">
                <a:latin typeface="Consolas" panose="020B0609020204030204" pitchFamily="49" charset="0"/>
                <a:sym typeface="Symbol" panose="05050102010706020507" pitchFamily="18" charset="2"/>
              </a:rPr>
              <a:t>H  &gt;  CHO  &gt;  COR  &gt;  </a:t>
            </a:r>
            <a:r>
              <a:rPr lang="zh-CN" altLang="en-US" b="1" dirty="0">
                <a:latin typeface="Consolas" panose="020B0609020204030204" pitchFamily="49" charset="0"/>
                <a:sym typeface="Symbol" panose="05050102010706020507" pitchFamily="18" charset="2"/>
              </a:rPr>
              <a:t></a:t>
            </a:r>
            <a:r>
              <a:rPr lang="en-US" altLang="zh-CN" b="1" dirty="0">
                <a:latin typeface="Consolas" panose="020B0609020204030204" pitchFamily="49" charset="0"/>
                <a:sym typeface="Symbol" panose="05050102010706020507" pitchFamily="18" charset="2"/>
              </a:rPr>
              <a:t>OH  &gt;  NH</a:t>
            </a:r>
            <a:r>
              <a:rPr lang="en-US" altLang="zh-CN" b="1" baseline="-25000" dirty="0">
                <a:latin typeface="Consolas" panose="020B0609020204030204" pitchFamily="49" charset="0"/>
                <a:sym typeface="Symbol" panose="05050102010706020507" pitchFamily="18" charset="2"/>
              </a:rPr>
              <a:t>2</a:t>
            </a:r>
            <a:endParaRPr lang="zh-CN" altLang="en-US" b="1" dirty="0">
              <a:latin typeface="Consolas" panose="020B0609020204030204" pitchFamily="49" charset="0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2222071" y="4810193"/>
            <a:ext cx="74029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latin typeface="Consolas" panose="020B0609020204030204" pitchFamily="49" charset="0"/>
              </a:rPr>
              <a:t>Priority of functional groups in naming organic compounds</a:t>
            </a:r>
            <a:endParaRPr lang="zh-CN" altLang="en-US" b="1" dirty="0">
              <a:latin typeface="Consolas" panose="020B0609020204030204" pitchFamily="49" charset="0"/>
            </a:endParaRPr>
          </a:p>
        </p:txBody>
      </p:sp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8A18AA1C-6FBF-42AC-9AB0-25E6E0F256C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26820826"/>
              </p:ext>
            </p:extLst>
          </p:nvPr>
        </p:nvGraphicFramePr>
        <p:xfrm>
          <a:off x="4484705" y="5741302"/>
          <a:ext cx="2202966" cy="93257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07" name="CS ChemDraw Drawing" r:id="rId5" imgW="1470327" imgH="622781" progId="ChemDraw.Document.6.0">
                  <p:embed/>
                </p:oleObj>
              </mc:Choice>
              <mc:Fallback>
                <p:oleObj name="CS ChemDraw Drawing" r:id="rId5" imgW="1470327" imgH="622781" progId="ChemDraw.Document.6.0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484705" y="5741302"/>
                        <a:ext cx="2202966" cy="93257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椭圆 7"/>
          <p:cNvSpPr/>
          <p:nvPr/>
        </p:nvSpPr>
        <p:spPr>
          <a:xfrm>
            <a:off x="5891958" y="4355604"/>
            <a:ext cx="1224136" cy="811758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5</a:t>
            </a:fld>
            <a:endParaRPr lang="zh-CN" altLang="en-US"/>
          </a:p>
        </p:txBody>
      </p:sp>
      <p:sp>
        <p:nvSpPr>
          <p:cNvPr id="3" name="TextBox 2"/>
          <p:cNvSpPr txBox="1"/>
          <p:nvPr/>
        </p:nvSpPr>
        <p:spPr>
          <a:xfrm>
            <a:off x="222995" y="854866"/>
            <a:ext cx="1135940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b="1" dirty="0"/>
              <a:t>Alcohols with two OH groups are called </a:t>
            </a:r>
            <a:r>
              <a:rPr lang="en-US" altLang="zh-CN" b="1" dirty="0">
                <a:solidFill>
                  <a:srgbClr val="0000FF"/>
                </a:solidFill>
              </a:rPr>
              <a:t>diols</a:t>
            </a:r>
            <a:r>
              <a:rPr lang="en-US" altLang="zh-CN" b="1" dirty="0"/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b="1" dirty="0"/>
              <a:t>Diols are named like other alcohols, except that: (1) </a:t>
            </a:r>
            <a:r>
              <a:rPr lang="en-US" altLang="zh-CN" b="1" i="1" dirty="0"/>
              <a:t>the suffix </a:t>
            </a:r>
            <a:r>
              <a:rPr lang="en-US" altLang="zh-CN" b="1" dirty="0"/>
              <a:t>diol is used; (2) two numbers are needed to indicate the positions of the two OH groups.</a:t>
            </a:r>
            <a:endParaRPr lang="zh-CN" altLang="en-US" b="1" dirty="0"/>
          </a:p>
        </p:txBody>
      </p:sp>
      <p:sp>
        <p:nvSpPr>
          <p:cNvPr id="9" name="TextBox 8"/>
          <p:cNvSpPr txBox="1"/>
          <p:nvPr/>
        </p:nvSpPr>
        <p:spPr>
          <a:xfrm>
            <a:off x="222995" y="3513276"/>
            <a:ext cx="50738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b="1" dirty="0"/>
              <a:t>The term </a:t>
            </a:r>
            <a:r>
              <a:rPr lang="en-US" altLang="zh-CN" b="1" dirty="0">
                <a:solidFill>
                  <a:srgbClr val="0000FF"/>
                </a:solidFill>
              </a:rPr>
              <a:t>glycol</a:t>
            </a:r>
            <a:r>
              <a:rPr lang="en-US" altLang="zh-CN" b="1" dirty="0">
                <a:solidFill>
                  <a:srgbClr val="FF00FF"/>
                </a:solidFill>
              </a:rPr>
              <a:t> </a:t>
            </a:r>
            <a:r>
              <a:rPr lang="en-US" altLang="zh-CN" b="1" dirty="0"/>
              <a:t>generally means a </a:t>
            </a:r>
            <a:r>
              <a:rPr lang="en-US" altLang="zh-CN" b="1" dirty="0">
                <a:solidFill>
                  <a:srgbClr val="0000FF"/>
                </a:solidFill>
              </a:rPr>
              <a:t>1,2-diol</a:t>
            </a:r>
            <a:r>
              <a:rPr lang="en-US" altLang="zh-CN" b="1" dirty="0"/>
              <a:t>.</a:t>
            </a:r>
            <a:endParaRPr lang="zh-CN" altLang="en-US" b="1" dirty="0">
              <a:solidFill>
                <a:srgbClr val="0000FF"/>
              </a:solidFill>
            </a:endParaRPr>
          </a:p>
        </p:txBody>
      </p:sp>
      <p:sp>
        <p:nvSpPr>
          <p:cNvPr id="4" name="矩形 3"/>
          <p:cNvSpPr/>
          <p:nvPr/>
        </p:nvSpPr>
        <p:spPr>
          <a:xfrm>
            <a:off x="0" y="260648"/>
            <a:ext cx="3215945" cy="46166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none">
            <a:spAutoFit/>
          </a:bodyPr>
          <a:lstStyle/>
          <a:p>
            <a:r>
              <a:rPr lang="en-US" altLang="zh-CN" sz="2400" b="1" u="sng" dirty="0"/>
              <a:t>8-2-2</a:t>
            </a:r>
            <a:r>
              <a:rPr lang="en-US" altLang="zh-CN" sz="2400" b="1" dirty="0"/>
              <a:t> Names of </a:t>
            </a:r>
            <a:r>
              <a:rPr lang="en-US" altLang="zh-CN" sz="2400" b="1" dirty="0">
                <a:solidFill>
                  <a:srgbClr val="FF0000"/>
                </a:solidFill>
              </a:rPr>
              <a:t>Diols</a:t>
            </a:r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/>
        </p:nvGraphicFramePr>
        <p:xfrm>
          <a:off x="1055440" y="1856862"/>
          <a:ext cx="9936419" cy="15085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30" name="CS ChemDraw Drawing" r:id="rId3" imgW="6525285" imgH="990248" progId="ChemDraw.Document.6.0">
                  <p:embed/>
                </p:oleObj>
              </mc:Choice>
              <mc:Fallback>
                <p:oleObj name="CS ChemDraw Drawing" r:id="rId3" imgW="6525285" imgH="990248" progId="ChemDraw.Document.6.0">
                  <p:embed/>
                  <p:pic>
                    <p:nvPicPr>
                      <p:cNvPr id="6" name="对象 5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055440" y="1856862"/>
                        <a:ext cx="9936419" cy="150859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/>
        </p:nvGraphicFramePr>
        <p:xfrm>
          <a:off x="3863752" y="4505015"/>
          <a:ext cx="3767694" cy="165618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31" name="CS ChemDraw Drawing" r:id="rId5" imgW="2390658" imgH="1051296" progId="ChemDraw.Document.6.0">
                  <p:embed/>
                </p:oleObj>
              </mc:Choice>
              <mc:Fallback>
                <p:oleObj name="CS ChemDraw Drawing" r:id="rId5" imgW="2390658" imgH="1051296" progId="ChemDraw.Document.6.0">
                  <p:embed/>
                  <p:pic>
                    <p:nvPicPr>
                      <p:cNvPr id="7" name="对象 6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863752" y="4505015"/>
                        <a:ext cx="3767694" cy="165618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圆角矩形标注 9"/>
          <p:cNvSpPr/>
          <p:nvPr/>
        </p:nvSpPr>
        <p:spPr>
          <a:xfrm>
            <a:off x="7032104" y="2826720"/>
            <a:ext cx="2736304" cy="362488"/>
          </a:xfrm>
          <a:prstGeom prst="wedgeRoundRectCallout">
            <a:avLst>
              <a:gd name="adj1" fmla="val -69067"/>
              <a:gd name="adj2" fmla="val 67624"/>
              <a:gd name="adj3" fmla="val 16667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6</a:t>
            </a:fld>
            <a:endParaRPr lang="zh-CN" altLang="en-US"/>
          </a:p>
        </p:txBody>
      </p:sp>
      <p:sp>
        <p:nvSpPr>
          <p:cNvPr id="4" name="TextBox 3"/>
          <p:cNvSpPr txBox="1"/>
          <p:nvPr/>
        </p:nvSpPr>
        <p:spPr>
          <a:xfrm>
            <a:off x="0" y="245281"/>
            <a:ext cx="6221575" cy="46166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altLang="zh-CN" sz="2400" b="1" u="sng" dirty="0"/>
              <a:t>8-3</a:t>
            </a:r>
            <a:r>
              <a:rPr lang="en-US" altLang="zh-CN" sz="2400" b="1" dirty="0"/>
              <a:t> Structure and Classification of Alcohols</a:t>
            </a:r>
            <a:endParaRPr lang="zh-CN" altLang="en-US" sz="2400" b="1" dirty="0"/>
          </a:p>
        </p:txBody>
      </p:sp>
      <p:sp>
        <p:nvSpPr>
          <p:cNvPr id="6" name="TextBox 5"/>
          <p:cNvSpPr txBox="1"/>
          <p:nvPr/>
        </p:nvSpPr>
        <p:spPr>
          <a:xfrm>
            <a:off x="362979" y="4165202"/>
            <a:ext cx="113274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b="1" dirty="0"/>
              <a:t>Alcohols are classified according to the type of </a:t>
            </a:r>
            <a:r>
              <a:rPr lang="en-US" altLang="zh-CN" b="1" dirty="0">
                <a:solidFill>
                  <a:srgbClr val="FF0000"/>
                </a:solidFill>
              </a:rPr>
              <a:t>carbinol carbon atom</a:t>
            </a:r>
            <a:r>
              <a:rPr lang="en-US" altLang="zh-CN" b="1" dirty="0"/>
              <a:t>: (the C bonded to the OH group).</a:t>
            </a:r>
            <a:endParaRPr lang="zh-CN" altLang="en-US" b="1" dirty="0"/>
          </a:p>
        </p:txBody>
      </p:sp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19797412"/>
              </p:ext>
            </p:extLst>
          </p:nvPr>
        </p:nvGraphicFramePr>
        <p:xfrm>
          <a:off x="1277652" y="4674006"/>
          <a:ext cx="8286085" cy="199315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715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226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877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2528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7883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7574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>
                          <a:latin typeface="Consolas" panose="020B0609020204030204" pitchFamily="49" charset="0"/>
                        </a:rPr>
                        <a:t>Type</a:t>
                      </a:r>
                      <a:endParaRPr lang="zh-CN" altLang="en-US" sz="1800" b="1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Primary </a:t>
                      </a:r>
                      <a:r>
                        <a:rPr lang="en-US" altLang="zh-CN" sz="1800" b="1" dirty="0">
                          <a:latin typeface="Consolas" panose="020B0609020204030204" pitchFamily="49" charset="0"/>
                        </a:rPr>
                        <a:t>alcohol</a:t>
                      </a:r>
                      <a:endParaRPr lang="zh-CN" altLang="en-US" sz="1800" b="1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Secondary</a:t>
                      </a:r>
                      <a:r>
                        <a:rPr lang="en-US" altLang="zh-CN" sz="1800" b="1" baseline="0" dirty="0">
                          <a:latin typeface="Consolas" panose="020B0609020204030204" pitchFamily="49" charset="0"/>
                        </a:rPr>
                        <a:t> alcohol</a:t>
                      </a:r>
                      <a:endParaRPr lang="zh-CN" altLang="en-US" sz="1800" b="1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Tertiary </a:t>
                      </a:r>
                      <a:r>
                        <a:rPr lang="en-US" altLang="zh-CN" sz="1800" b="1" dirty="0">
                          <a:latin typeface="Consolas" panose="020B0609020204030204" pitchFamily="49" charset="0"/>
                        </a:rPr>
                        <a:t>alcohol</a:t>
                      </a:r>
                      <a:endParaRPr lang="zh-CN" altLang="en-US" sz="1800" b="1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Phenol</a:t>
                      </a:r>
                      <a:endParaRPr lang="zh-CN" altLang="en-US" sz="1800" b="1" dirty="0">
                        <a:solidFill>
                          <a:srgbClr val="FF0000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5307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>
                          <a:latin typeface="Consolas" panose="020B0609020204030204" pitchFamily="49" charset="0"/>
                        </a:rPr>
                        <a:t>Example</a:t>
                      </a:r>
                      <a:endParaRPr lang="zh-CN" altLang="en-US" sz="1800" b="1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altLang="zh-CN" sz="1800" b="1" dirty="0">
                        <a:latin typeface="Consolas" panose="020B0609020204030204" pitchFamily="49" charset="0"/>
                      </a:endParaRPr>
                    </a:p>
                    <a:p>
                      <a:endParaRPr lang="en-US" altLang="zh-CN" sz="1800" b="1" dirty="0">
                        <a:latin typeface="Consolas" panose="020B0609020204030204" pitchFamily="49" charset="0"/>
                      </a:endParaRPr>
                    </a:p>
                    <a:p>
                      <a:endParaRPr lang="en-US" altLang="zh-CN" sz="1800" b="1" dirty="0">
                        <a:latin typeface="Consolas" panose="020B0609020204030204" pitchFamily="49" charset="0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ctr"/>
                      <a:endParaRPr lang="en-US" altLang="zh-CN" sz="1800" b="1" dirty="0">
                        <a:latin typeface="Consolas" panose="020B0609020204030204" pitchFamily="49" charset="0"/>
                      </a:endParaRPr>
                    </a:p>
                    <a:p>
                      <a:pPr algn="ctr"/>
                      <a:endParaRPr lang="en-US" altLang="zh-CN" sz="1800" b="1" dirty="0">
                        <a:latin typeface="Consolas" panose="020B0609020204030204" pitchFamily="49" charset="0"/>
                      </a:endParaRPr>
                    </a:p>
                    <a:p>
                      <a:pPr algn="ctr"/>
                      <a:endParaRPr lang="en-US" altLang="zh-CN" sz="1800" b="1" dirty="0">
                        <a:latin typeface="Consolas" panose="020B0609020204030204" pitchFamily="49" charset="0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endParaRPr lang="en-US" altLang="zh-CN" sz="1800" b="1" dirty="0">
                        <a:latin typeface="Consolas" panose="020B0609020204030204" pitchFamily="49" charset="0"/>
                      </a:endParaRPr>
                    </a:p>
                    <a:p>
                      <a:endParaRPr lang="en-US" altLang="zh-CN" sz="1800" b="1" dirty="0">
                        <a:latin typeface="Consolas" panose="020B0609020204030204" pitchFamily="49" charset="0"/>
                      </a:endParaRPr>
                    </a:p>
                    <a:p>
                      <a:endParaRPr lang="en-US" altLang="zh-CN" sz="1800" b="1" dirty="0">
                        <a:latin typeface="Consolas" panose="020B0609020204030204" pitchFamily="49" charset="0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endParaRPr lang="en-US" altLang="zh-CN" sz="1800" b="1" dirty="0">
                        <a:latin typeface="Consolas" panose="020B0609020204030204" pitchFamily="49" charset="0"/>
                      </a:endParaRPr>
                    </a:p>
                    <a:p>
                      <a:endParaRPr lang="en-US" altLang="zh-CN" sz="1800" b="1" dirty="0">
                        <a:latin typeface="Consolas" panose="020B0609020204030204" pitchFamily="49" charset="0"/>
                      </a:endParaRPr>
                    </a:p>
                    <a:p>
                      <a:endParaRPr lang="en-US" altLang="zh-CN" sz="1800" b="1" dirty="0">
                        <a:latin typeface="Consolas" panose="020B0609020204030204" pitchFamily="49" charset="0"/>
                      </a:endParaRPr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9476" name="Object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88082464"/>
              </p:ext>
            </p:extLst>
          </p:nvPr>
        </p:nvGraphicFramePr>
        <p:xfrm>
          <a:off x="2465529" y="5649553"/>
          <a:ext cx="1785950" cy="88935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90" name="CS ChemDraw Drawing" r:id="rId3" imgW="1176132" imgH="586296" progId="ChemDraw.Document.6.0">
                  <p:embed/>
                </p:oleObj>
              </mc:Choice>
              <mc:Fallback>
                <p:oleObj name="CS ChemDraw Drawing" r:id="rId3" imgW="1176132" imgH="586296" progId="ChemDraw.Document.6.0">
                  <p:embed/>
                  <p:pic>
                    <p:nvPicPr>
                      <p:cNvPr id="19476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65529" y="5649553"/>
                        <a:ext cx="1785950" cy="88935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77" name="Object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45228593"/>
              </p:ext>
            </p:extLst>
          </p:nvPr>
        </p:nvGraphicFramePr>
        <p:xfrm>
          <a:off x="4651732" y="5670585"/>
          <a:ext cx="1428760" cy="899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91" name="CS ChemDraw Drawing" r:id="rId5" imgW="933725" imgH="587915" progId="ChemDraw.Document.6.0">
                  <p:embed/>
                </p:oleObj>
              </mc:Choice>
              <mc:Fallback>
                <p:oleObj name="CS ChemDraw Drawing" r:id="rId5" imgW="933725" imgH="587915" progId="ChemDraw.Document.6.0">
                  <p:embed/>
                  <p:pic>
                    <p:nvPicPr>
                      <p:cNvPr id="19477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51732" y="5670585"/>
                        <a:ext cx="1428760" cy="899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78" name="Object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9306804"/>
              </p:ext>
            </p:extLst>
          </p:nvPr>
        </p:nvGraphicFramePr>
        <p:xfrm>
          <a:off x="6237500" y="5447963"/>
          <a:ext cx="1748686" cy="114300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92" name="CS ChemDraw Drawing" r:id="rId7" imgW="1177482" imgH="770660" progId="ChemDraw.Document.6.0">
                  <p:embed/>
                </p:oleObj>
              </mc:Choice>
              <mc:Fallback>
                <p:oleObj name="CS ChemDraw Drawing" r:id="rId7" imgW="1177482" imgH="770660" progId="ChemDraw.Document.6.0">
                  <p:embed/>
                  <p:pic>
                    <p:nvPicPr>
                      <p:cNvPr id="19478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37500" y="5447963"/>
                        <a:ext cx="1748686" cy="114300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79" name="Object 23"/>
          <p:cNvGraphicFramePr>
            <a:graphicFrameLocks noChangeAspect="1"/>
          </p:cNvGraphicFramePr>
          <p:nvPr/>
        </p:nvGraphicFramePr>
        <p:xfrm>
          <a:off x="8296584" y="5555120"/>
          <a:ext cx="1119754" cy="92869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93" name="CS ChemDraw Drawing" r:id="rId9" imgW="735589" imgH="608970" progId="ChemDraw.Document.6.0">
                  <p:embed/>
                </p:oleObj>
              </mc:Choice>
              <mc:Fallback>
                <p:oleObj name="CS ChemDraw Drawing" r:id="rId9" imgW="735589" imgH="608970" progId="ChemDraw.Document.6.0">
                  <p:embed/>
                  <p:pic>
                    <p:nvPicPr>
                      <p:cNvPr id="19479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96584" y="5555120"/>
                        <a:ext cx="1119754" cy="92869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文本框 4"/>
          <p:cNvSpPr txBox="1"/>
          <p:nvPr/>
        </p:nvSpPr>
        <p:spPr>
          <a:xfrm>
            <a:off x="362979" y="785148"/>
            <a:ext cx="1070157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b="1" dirty="0"/>
              <a:t>Alcohols have tetrahedral oxygen atoms in the </a:t>
            </a:r>
            <a:r>
              <a:rPr lang="en-US" altLang="zh-CN" b="1" dirty="0">
                <a:sym typeface="Symbol" panose="05050102010706020507" pitchFamily="18" charset="2"/>
              </a:rPr>
              <a:t>OH groups (</a:t>
            </a:r>
            <a:r>
              <a:rPr lang="en-US" altLang="zh-CN" b="1" i="1" dirty="0"/>
              <a:t>sp</a:t>
            </a:r>
            <a:r>
              <a:rPr lang="en-US" altLang="zh-CN" b="1" baseline="30000" dirty="0"/>
              <a:t>3</a:t>
            </a:r>
            <a:r>
              <a:rPr lang="en-US" altLang="zh-CN" b="1" dirty="0"/>
              <a:t> hybridized oxygen atoms).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b="1" dirty="0"/>
              <a:t>Each </a:t>
            </a:r>
            <a:r>
              <a:rPr lang="en-US" altLang="zh-CN" b="1" i="1" dirty="0"/>
              <a:t>sp</a:t>
            </a:r>
            <a:r>
              <a:rPr lang="en-US" altLang="zh-CN" b="1" baseline="30000" dirty="0"/>
              <a:t>3</a:t>
            </a:r>
            <a:r>
              <a:rPr lang="en-US" altLang="zh-CN" b="1" dirty="0"/>
              <a:t> hybrid orbital has a lone pair.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b="1" dirty="0"/>
              <a:t>Both the C</a:t>
            </a:r>
            <a:r>
              <a:rPr lang="en-US" altLang="zh-CN" b="1" dirty="0">
                <a:sym typeface="Symbol" panose="05050102010706020507" pitchFamily="18" charset="2"/>
              </a:rPr>
              <a:t>O bond and HO bond are polar bonds.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b="1" dirty="0">
                <a:sym typeface="Symbol" panose="05050102010706020507" pitchFamily="18" charset="2"/>
              </a:rPr>
              <a:t>Alcohols are highly polar molecules with the H-bonding ability.</a:t>
            </a:r>
            <a:endParaRPr lang="zh-CN" altLang="en-US" b="1" dirty="0"/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/>
        </p:nvGraphicFramePr>
        <p:xfrm>
          <a:off x="5231904" y="2272058"/>
          <a:ext cx="2665071" cy="160468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94" name="CS ChemDraw Drawing" r:id="rId11" imgW="1950720" imgH="1174581" progId="ChemDraw.Document.6.0">
                  <p:embed/>
                </p:oleObj>
              </mc:Choice>
              <mc:Fallback>
                <p:oleObj name="CS ChemDraw Drawing" r:id="rId11" imgW="1950720" imgH="1174581" progId="ChemDraw.Document.6.0">
                  <p:embed/>
                  <p:pic>
                    <p:nvPicPr>
                      <p:cNvPr id="8" name="对象 7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5231904" y="2272058"/>
                        <a:ext cx="2665071" cy="160468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矩形 8"/>
          <p:cNvSpPr/>
          <p:nvPr/>
        </p:nvSpPr>
        <p:spPr>
          <a:xfrm>
            <a:off x="7032104" y="2819876"/>
            <a:ext cx="280237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i="1" dirty="0">
                <a:latin typeface="Consolas" panose="020B0609020204030204" pitchFamily="49" charset="0"/>
              </a:rPr>
              <a:t>sp</a:t>
            </a:r>
            <a:r>
              <a:rPr lang="en-US" altLang="zh-CN" b="1" baseline="30000" dirty="0">
                <a:latin typeface="Consolas" panose="020B0609020204030204" pitchFamily="49" charset="0"/>
              </a:rPr>
              <a:t>3</a:t>
            </a:r>
            <a:r>
              <a:rPr lang="en-US" altLang="zh-CN" b="1" dirty="0">
                <a:latin typeface="Consolas" panose="020B0609020204030204" pitchFamily="49" charset="0"/>
              </a:rPr>
              <a:t> hybridized oxygen</a:t>
            </a:r>
            <a:endParaRPr lang="zh-CN" altLang="en-US" b="1" dirty="0">
              <a:latin typeface="Consolas" panose="020B0609020204030204" pitchFamily="49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847528" y="2179387"/>
            <a:ext cx="2160240" cy="1812308"/>
          </a:xfrm>
          <a:prstGeom prst="rect">
            <a:avLst/>
          </a:prstGeom>
          <a:effectLst>
            <a:softEdge rad="317500"/>
          </a:effec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7</a:t>
            </a:fld>
            <a:endParaRPr lang="zh-CN" altLang="en-US"/>
          </a:p>
        </p:txBody>
      </p:sp>
      <p:sp>
        <p:nvSpPr>
          <p:cNvPr id="3" name="TextBox 2"/>
          <p:cNvSpPr txBox="1"/>
          <p:nvPr/>
        </p:nvSpPr>
        <p:spPr>
          <a:xfrm>
            <a:off x="0" y="199509"/>
            <a:ext cx="5046574" cy="46166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altLang="zh-CN" sz="2400" b="1" u="sng" dirty="0"/>
              <a:t>8-4</a:t>
            </a:r>
            <a:r>
              <a:rPr lang="en-US" altLang="zh-CN" sz="2400" b="1" dirty="0"/>
              <a:t> </a:t>
            </a:r>
            <a:r>
              <a:rPr lang="en-US" altLang="zh-CN" sz="2400" b="1" dirty="0">
                <a:solidFill>
                  <a:srgbClr val="0000FF"/>
                </a:solidFill>
              </a:rPr>
              <a:t>Physical Properties </a:t>
            </a:r>
            <a:r>
              <a:rPr lang="en-US" altLang="zh-CN" sz="2400" b="1" dirty="0"/>
              <a:t>of Alcohols</a:t>
            </a:r>
            <a:endParaRPr lang="zh-CN" altLang="en-US" sz="2400" b="1" dirty="0"/>
          </a:p>
        </p:txBody>
      </p:sp>
      <p:sp>
        <p:nvSpPr>
          <p:cNvPr id="4" name="TextBox 3"/>
          <p:cNvSpPr txBox="1"/>
          <p:nvPr/>
        </p:nvSpPr>
        <p:spPr>
          <a:xfrm>
            <a:off x="0" y="805646"/>
            <a:ext cx="4591321" cy="40011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altLang="zh-CN" sz="2000" b="1" dirty="0"/>
              <a:t> </a:t>
            </a:r>
            <a:r>
              <a:rPr lang="en-US" altLang="zh-CN" sz="2000" b="1" u="sng" dirty="0"/>
              <a:t>8-4-1</a:t>
            </a:r>
            <a:r>
              <a:rPr lang="en-US" altLang="zh-CN" sz="2000" b="1" dirty="0"/>
              <a:t> </a:t>
            </a:r>
            <a:r>
              <a:rPr lang="en-US" altLang="zh-CN" sz="2000" b="1" dirty="0">
                <a:solidFill>
                  <a:srgbClr val="FF0000"/>
                </a:solidFill>
              </a:rPr>
              <a:t>High boiling points </a:t>
            </a:r>
            <a:r>
              <a:rPr lang="en-US" altLang="zh-CN" sz="2000" b="1" dirty="0"/>
              <a:t>of alcohols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3352" y="3229634"/>
            <a:ext cx="1155728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b="1" dirty="0"/>
              <a:t>Such a large difference in boiling points suggests that </a:t>
            </a:r>
            <a:r>
              <a:rPr lang="en-US" altLang="zh-CN" b="1" dirty="0">
                <a:solidFill>
                  <a:srgbClr val="0000FF"/>
                </a:solidFill>
              </a:rPr>
              <a:t>ethanol molecules are attracted to each other much more strongly </a:t>
            </a:r>
            <a:r>
              <a:rPr lang="en-US" altLang="zh-CN" b="1" dirty="0"/>
              <a:t>than propane molecules and dimethyl ether molecules.</a:t>
            </a:r>
          </a:p>
          <a:p>
            <a:pPr>
              <a:buFont typeface="Arial" pitchFamily="34" charset="0"/>
              <a:buChar char="•"/>
            </a:pPr>
            <a:endParaRPr lang="en-US" altLang="zh-CN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b="1" dirty="0"/>
              <a:t>The major intermolecular force responsible for this high boiling point is </a:t>
            </a:r>
            <a:r>
              <a:rPr lang="en-US" altLang="zh-CN" b="1" dirty="0">
                <a:solidFill>
                  <a:srgbClr val="FF0000"/>
                </a:solidFill>
              </a:rPr>
              <a:t>hydrogen bonding</a:t>
            </a:r>
            <a:r>
              <a:rPr lang="en-US" altLang="zh-CN" dirty="0"/>
              <a:t>.</a:t>
            </a:r>
            <a:endParaRPr lang="zh-CN" alt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4194381" y="6168593"/>
            <a:ext cx="23256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0000FF"/>
                </a:solidFill>
                <a:latin typeface="Consolas" panose="020B0609020204030204" pitchFamily="49" charset="0"/>
              </a:rPr>
              <a:t>Hydrogen bonding</a:t>
            </a:r>
            <a:endParaRPr lang="zh-CN" altLang="en-US" b="1" dirty="0">
              <a:solidFill>
                <a:srgbClr val="0000FF"/>
              </a:solidFill>
              <a:latin typeface="Consolas" panose="020B0609020204030204" pitchFamily="49" charset="0"/>
            </a:endParaRPr>
          </a:p>
        </p:txBody>
      </p:sp>
      <p:cxnSp>
        <p:nvCxnSpPr>
          <p:cNvPr id="17" name="直接箭头连接符 16"/>
          <p:cNvCxnSpPr/>
          <p:nvPr/>
        </p:nvCxnSpPr>
        <p:spPr>
          <a:xfrm flipV="1">
            <a:off x="5386099" y="5408791"/>
            <a:ext cx="198635" cy="760730"/>
          </a:xfrm>
          <a:prstGeom prst="straightConnector1">
            <a:avLst/>
          </a:prstGeom>
          <a:ln w="28575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2567608" y="1590253"/>
          <a:ext cx="6725169" cy="133812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02" name="CS ChemDraw Drawing" r:id="rId3" imgW="4324806" imgH="860620" progId="ChemDraw.Document.6.0">
                  <p:embed/>
                </p:oleObj>
              </mc:Choice>
              <mc:Fallback>
                <p:oleObj name="CS ChemDraw Drawing" r:id="rId3" imgW="4324806" imgH="860620" progId="ChemDraw.Document.6.0">
                  <p:embed/>
                  <p:pic>
                    <p:nvPicPr>
                      <p:cNvPr id="5" name="对象 4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567608" y="1590253"/>
                        <a:ext cx="6725169" cy="133812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/>
        </p:nvGraphicFramePr>
        <p:xfrm>
          <a:off x="4017668" y="4797152"/>
          <a:ext cx="2915098" cy="144410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03" name="CS ChemDraw Drawing" r:id="rId5" imgW="1720295" imgH="851898" progId="ChemDraw.Document.6.0">
                  <p:embed/>
                </p:oleObj>
              </mc:Choice>
              <mc:Fallback>
                <p:oleObj name="CS ChemDraw Drawing" r:id="rId5" imgW="1720295" imgH="851898" progId="ChemDraw.Document.6.0">
                  <p:embed/>
                  <p:pic>
                    <p:nvPicPr>
                      <p:cNvPr id="6" name="对象 5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017668" y="4797152"/>
                        <a:ext cx="2915098" cy="144410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矩形 9"/>
          <p:cNvSpPr/>
          <p:nvPr/>
        </p:nvSpPr>
        <p:spPr>
          <a:xfrm>
            <a:off x="4377708" y="5166036"/>
            <a:ext cx="2142280" cy="400037"/>
          </a:xfrm>
          <a:prstGeom prst="rect">
            <a:avLst/>
          </a:prstGeom>
          <a:noFill/>
          <a:ln>
            <a:solidFill>
              <a:srgbClr val="00FFFF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椭圆形标注 13"/>
          <p:cNvSpPr/>
          <p:nvPr/>
        </p:nvSpPr>
        <p:spPr>
          <a:xfrm>
            <a:off x="8011059" y="4335646"/>
            <a:ext cx="791816" cy="461506"/>
          </a:xfrm>
          <a:prstGeom prst="wedgeEllipseCallout">
            <a:avLst>
              <a:gd name="adj1" fmla="val 59603"/>
              <a:gd name="adj2" fmla="val -35936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椭圆形标注 5"/>
          <p:cNvSpPr/>
          <p:nvPr/>
        </p:nvSpPr>
        <p:spPr>
          <a:xfrm>
            <a:off x="6328531" y="4725144"/>
            <a:ext cx="2258320" cy="1008112"/>
          </a:xfrm>
          <a:prstGeom prst="wedgeEllipseCallout">
            <a:avLst>
              <a:gd name="adj1" fmla="val -31911"/>
              <a:gd name="adj2" fmla="val 55654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8</a:t>
            </a:fld>
            <a:endParaRPr lang="zh-CN" altLang="en-US"/>
          </a:p>
        </p:txBody>
      </p:sp>
      <p:sp>
        <p:nvSpPr>
          <p:cNvPr id="9" name="TextBox 8"/>
          <p:cNvSpPr txBox="1"/>
          <p:nvPr/>
        </p:nvSpPr>
        <p:spPr>
          <a:xfrm>
            <a:off x="251496" y="764832"/>
            <a:ext cx="11420551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b="1" dirty="0">
                <a:solidFill>
                  <a:srgbClr val="FF0000"/>
                </a:solidFill>
              </a:rPr>
              <a:t>Alcohols form hydrogen bonds with water</a:t>
            </a:r>
            <a:r>
              <a:rPr lang="en-US" altLang="zh-CN" b="1" dirty="0"/>
              <a:t>. Several of the lower-molecular-weight alcohols (methanol, ethanol, propan-1-ol etc.) are miscible with water.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CN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b="1" dirty="0"/>
              <a:t>We call the </a:t>
            </a:r>
            <a:r>
              <a:rPr lang="en-US" altLang="zh-CN" b="1" dirty="0">
                <a:solidFill>
                  <a:srgbClr val="0000FF"/>
                </a:solidFill>
              </a:rPr>
              <a:t>hydroxyl group</a:t>
            </a:r>
            <a:r>
              <a:rPr lang="en-US" altLang="zh-CN" b="1" dirty="0"/>
              <a:t> </a:t>
            </a:r>
            <a:r>
              <a:rPr lang="en-US" altLang="zh-CN" b="1" dirty="0">
                <a:solidFill>
                  <a:srgbClr val="FF0000"/>
                </a:solidFill>
              </a:rPr>
              <a:t>hydrophilic</a:t>
            </a:r>
            <a:r>
              <a:rPr lang="en-US" altLang="zh-CN" b="1" dirty="0"/>
              <a:t>, meaning “water loving”. The </a:t>
            </a:r>
            <a:r>
              <a:rPr lang="en-US" altLang="zh-CN" b="1" dirty="0">
                <a:solidFill>
                  <a:srgbClr val="0000FF"/>
                </a:solidFill>
              </a:rPr>
              <a:t>alkyl group </a:t>
            </a:r>
            <a:r>
              <a:rPr lang="en-US" altLang="zh-CN" b="1" dirty="0"/>
              <a:t>in an alcohol makes it less hydrophilic, because alkyl group is </a:t>
            </a:r>
            <a:r>
              <a:rPr lang="en-US" altLang="zh-CN" b="1" dirty="0">
                <a:solidFill>
                  <a:srgbClr val="FF0000"/>
                </a:solidFill>
              </a:rPr>
              <a:t>hydrophobic</a:t>
            </a:r>
            <a:r>
              <a:rPr lang="en-US" altLang="zh-CN" b="1" dirty="0"/>
              <a:t>, meaning “water hating”.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CN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b="1" dirty="0"/>
              <a:t>The water solubility of alcohols increases with increasing number of the </a:t>
            </a:r>
            <a:r>
              <a:rPr lang="en-US" altLang="zh-CN" b="1" dirty="0">
                <a:sym typeface="Symbol" panose="05050102010706020507" pitchFamily="18" charset="2"/>
              </a:rPr>
              <a:t>OH groups, </a:t>
            </a:r>
            <a:r>
              <a:rPr lang="en-US" altLang="zh-CN" b="1" dirty="0"/>
              <a:t>decreases as the alkyl group becomes larger.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10" y="5834722"/>
            <a:ext cx="198002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b="1" dirty="0">
                <a:latin typeface="Consolas" panose="020B0609020204030204" pitchFamily="49" charset="0"/>
              </a:rPr>
              <a:t>hydrophobic part</a:t>
            </a:r>
            <a:endParaRPr lang="zh-CN" altLang="en-US" sz="1600" b="1" dirty="0">
              <a:latin typeface="Consolas" panose="020B0609020204030204" pitchFamily="49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8946891" y="4164423"/>
            <a:ext cx="198002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b="1" dirty="0">
                <a:latin typeface="Consolas" panose="020B0609020204030204" pitchFamily="49" charset="0"/>
              </a:rPr>
              <a:t>hydrophilic part</a:t>
            </a:r>
            <a:endParaRPr lang="zh-CN" altLang="en-US" sz="1600" b="1" dirty="0">
              <a:latin typeface="Consolas" panose="020B0609020204030204" pitchFamily="49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0" y="232340"/>
            <a:ext cx="3916457" cy="40011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>
            <a:spAutoFit/>
          </a:bodyPr>
          <a:lstStyle/>
          <a:p>
            <a:r>
              <a:rPr lang="en-US" altLang="zh-CN" sz="2000" b="1" u="sng" dirty="0"/>
              <a:t>8-4-2</a:t>
            </a:r>
            <a:r>
              <a:rPr lang="en-US" altLang="zh-CN" sz="2000" b="1" dirty="0"/>
              <a:t> </a:t>
            </a:r>
            <a:r>
              <a:rPr lang="en-US" altLang="zh-CN" sz="2000" b="1" dirty="0">
                <a:solidFill>
                  <a:srgbClr val="FF0000"/>
                </a:solidFill>
              </a:rPr>
              <a:t>Hydrophilicity </a:t>
            </a:r>
            <a:r>
              <a:rPr lang="en-US" altLang="zh-CN" sz="2000" b="1" dirty="0"/>
              <a:t>of alcohols</a:t>
            </a:r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1703512" y="3999842"/>
          <a:ext cx="2736304" cy="2236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26" name="CS ChemDraw Drawing" r:id="rId3" imgW="2348045" imgH="1918654" progId="ChemDraw.Document.6.0">
                  <p:embed/>
                </p:oleObj>
              </mc:Choice>
              <mc:Fallback>
                <p:oleObj name="CS ChemDraw Drawing" r:id="rId3" imgW="2348045" imgH="1918654" progId="ChemDraw.Document.6.0">
                  <p:embed/>
                  <p:pic>
                    <p:nvPicPr>
                      <p:cNvPr id="4" name="对象 3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703512" y="3999842"/>
                        <a:ext cx="2736304" cy="22367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6642635" y="4437112"/>
          <a:ext cx="2094965" cy="11829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27" name="CS ChemDraw Drawing" r:id="rId5" imgW="1141077" imgH="644176" progId="ChemDraw.Document.6.0">
                  <p:embed/>
                </p:oleObj>
              </mc:Choice>
              <mc:Fallback>
                <p:oleObj name="CS ChemDraw Drawing" r:id="rId5" imgW="1141077" imgH="644176" progId="ChemDraw.Document.6.0">
                  <p:embed/>
                  <p:pic>
                    <p:nvPicPr>
                      <p:cNvPr id="5" name="对象 4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642635" y="4437112"/>
                        <a:ext cx="2094965" cy="118297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椭圆 14"/>
          <p:cNvSpPr/>
          <p:nvPr/>
        </p:nvSpPr>
        <p:spPr>
          <a:xfrm>
            <a:off x="7320136" y="1364739"/>
            <a:ext cx="1512168" cy="1319306"/>
          </a:xfrm>
          <a:prstGeom prst="ellipse">
            <a:avLst/>
          </a:prstGeom>
          <a:solidFill>
            <a:srgbClr val="FFFF99"/>
          </a:solidFill>
          <a:ln>
            <a:solidFill>
              <a:srgbClr val="00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9</a:t>
            </a:fld>
            <a:endParaRPr lang="zh-CN" altLang="en-US"/>
          </a:p>
        </p:txBody>
      </p:sp>
      <p:sp>
        <p:nvSpPr>
          <p:cNvPr id="3" name="TextBox 2"/>
          <p:cNvSpPr txBox="1"/>
          <p:nvPr/>
        </p:nvSpPr>
        <p:spPr>
          <a:xfrm>
            <a:off x="-8330" y="165922"/>
            <a:ext cx="5179623" cy="46166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altLang="zh-CN" sz="2400" b="1" u="sng" dirty="0"/>
              <a:t>8-5</a:t>
            </a:r>
            <a:r>
              <a:rPr lang="en-US" altLang="zh-CN" sz="2400" b="1" dirty="0"/>
              <a:t> </a:t>
            </a:r>
            <a:r>
              <a:rPr lang="en-US" altLang="zh-CN" sz="2400" b="1" dirty="0">
                <a:solidFill>
                  <a:srgbClr val="FF0000"/>
                </a:solidFill>
              </a:rPr>
              <a:t>Acidity</a:t>
            </a:r>
            <a:r>
              <a:rPr lang="en-US" altLang="zh-CN" sz="2400" b="1" dirty="0"/>
              <a:t> of Alcohols and Phenols</a:t>
            </a:r>
            <a:endParaRPr lang="zh-CN" altLang="en-US" sz="2400" b="1" dirty="0"/>
          </a:p>
        </p:txBody>
      </p:sp>
      <p:sp>
        <p:nvSpPr>
          <p:cNvPr id="4" name="TextBox 3"/>
          <p:cNvSpPr txBox="1"/>
          <p:nvPr/>
        </p:nvSpPr>
        <p:spPr>
          <a:xfrm>
            <a:off x="412194" y="752704"/>
            <a:ext cx="84921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b="1" dirty="0"/>
              <a:t>Like the hydroxyl proton of H</a:t>
            </a:r>
            <a:r>
              <a:rPr lang="en-US" altLang="zh-CN" b="1" baseline="-25000" dirty="0"/>
              <a:t>2</a:t>
            </a:r>
            <a:r>
              <a:rPr lang="en-US" altLang="zh-CN" b="1" dirty="0"/>
              <a:t>O, the </a:t>
            </a:r>
            <a:r>
              <a:rPr lang="en-US" altLang="zh-CN" b="1" dirty="0">
                <a:solidFill>
                  <a:srgbClr val="FF0000"/>
                </a:solidFill>
              </a:rPr>
              <a:t>hydroxyl proton of an alcohol is acidic</a:t>
            </a:r>
            <a:r>
              <a:rPr lang="en-US" altLang="zh-CN" b="1" dirty="0"/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2195" y="3026963"/>
            <a:ext cx="84969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b="1" dirty="0"/>
              <a:t>The acidities of alcohols are measured by the </a:t>
            </a:r>
            <a:r>
              <a:rPr lang="en-US" altLang="zh-CN" b="1" dirty="0">
                <a:solidFill>
                  <a:srgbClr val="0000FF"/>
                </a:solidFill>
              </a:rPr>
              <a:t>acid-dissociation constant </a:t>
            </a:r>
            <a:r>
              <a:rPr lang="en-US" altLang="zh-CN" b="1" i="1" dirty="0">
                <a:solidFill>
                  <a:srgbClr val="0000FF"/>
                </a:solidFill>
              </a:rPr>
              <a:t>K</a:t>
            </a:r>
            <a:r>
              <a:rPr lang="en-US" altLang="zh-CN" b="1" baseline="-25000" dirty="0">
                <a:solidFill>
                  <a:srgbClr val="0000FF"/>
                </a:solidFill>
              </a:rPr>
              <a:t>a</a:t>
            </a:r>
            <a:r>
              <a:rPr lang="en-US" altLang="zh-CN" b="1" dirty="0"/>
              <a:t>.</a:t>
            </a:r>
            <a:endParaRPr lang="zh-CN" altLang="en-US" b="1" dirty="0"/>
          </a:p>
        </p:txBody>
      </p:sp>
      <p:graphicFrame>
        <p:nvGraphicFramePr>
          <p:cNvPr id="9" name="表格 8"/>
          <p:cNvGraphicFramePr>
            <a:graphicFrameLocks noGrp="1"/>
          </p:cNvGraphicFramePr>
          <p:nvPr/>
        </p:nvGraphicFramePr>
        <p:xfrm>
          <a:off x="3071664" y="5021437"/>
          <a:ext cx="4824536" cy="15290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121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22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601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latin typeface="Consolas" panose="020B0609020204030204" pitchFamily="49" charset="0"/>
                        </a:rPr>
                        <a:t>Compound</a:t>
                      </a:r>
                      <a:endParaRPr lang="zh-CN" altLang="en-US" sz="1600" b="1" dirty="0">
                        <a:latin typeface="Consolas" panose="020B0609020204030204" pitchFamily="49" charset="0"/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latin typeface="Consolas" panose="020B0609020204030204" pitchFamily="49" charset="0"/>
                        </a:rPr>
                        <a:t>Conjugate base</a:t>
                      </a:r>
                      <a:endParaRPr lang="zh-CN" altLang="en-US" sz="1600" b="1" dirty="0">
                        <a:latin typeface="Consolas" panose="020B0609020204030204" pitchFamily="49" charset="0"/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 err="1">
                          <a:latin typeface="Consolas" panose="020B0609020204030204" pitchFamily="49" charset="0"/>
                        </a:rPr>
                        <a:t>p</a:t>
                      </a:r>
                      <a:r>
                        <a:rPr lang="en-US" altLang="zh-CN" sz="1600" b="1" i="1" dirty="0" err="1">
                          <a:latin typeface="Consolas" panose="020B0609020204030204" pitchFamily="49" charset="0"/>
                        </a:rPr>
                        <a:t>K</a:t>
                      </a:r>
                      <a:r>
                        <a:rPr lang="en-US" altLang="zh-CN" sz="1600" b="1" baseline="-25000" dirty="0" err="1">
                          <a:latin typeface="Consolas" panose="020B0609020204030204" pitchFamily="49" charset="0"/>
                        </a:rPr>
                        <a:t>a</a:t>
                      </a:r>
                      <a:endParaRPr lang="zh-CN" altLang="en-US" sz="1600" b="1" baseline="-25000" dirty="0">
                        <a:latin typeface="Consolas" panose="020B0609020204030204" pitchFamily="49" charset="0"/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altLang="zh-CN" sz="1600" dirty="0">
                        <a:latin typeface="Consolas" panose="020B0609020204030204" pitchFamily="49" charset="0"/>
                      </a:endParaRPr>
                    </a:p>
                    <a:p>
                      <a:pPr algn="ctr"/>
                      <a:endParaRPr lang="zh-CN" altLang="en-US" sz="1600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latin typeface="Consolas" panose="020B0609020204030204" pitchFamily="49" charset="0"/>
                        </a:rPr>
                        <a:t>25</a:t>
                      </a:r>
                      <a:endParaRPr lang="zh-CN" altLang="en-US" sz="1600" b="1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altLang="zh-CN" sz="1600" dirty="0">
                        <a:latin typeface="Consolas" panose="020B0609020204030204" pitchFamily="49" charset="0"/>
                      </a:endParaRPr>
                    </a:p>
                    <a:p>
                      <a:pPr algn="ctr"/>
                      <a:endParaRPr lang="zh-CN" altLang="en-US" sz="1600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latin typeface="Consolas" panose="020B0609020204030204" pitchFamily="49" charset="0"/>
                        </a:rPr>
                        <a:t>16-18</a:t>
                      </a:r>
                      <a:endParaRPr lang="zh-CN" altLang="en-US" sz="1600" b="1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0" name="Object 5"/>
          <p:cNvGraphicFramePr>
            <a:graphicFrameLocks noChangeAspect="1"/>
          </p:cNvGraphicFramePr>
          <p:nvPr/>
        </p:nvGraphicFramePr>
        <p:xfrm>
          <a:off x="3223512" y="5605161"/>
          <a:ext cx="1152128" cy="2298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970" name="CS ChemDraw Drawing" r:id="rId3" imgW="683760" imgH="136856" progId="ChemDraw.Document.6.0">
                  <p:embed/>
                </p:oleObj>
              </mc:Choice>
              <mc:Fallback>
                <p:oleObj name="CS ChemDraw Drawing" r:id="rId3" imgW="683760" imgH="136856" progId="ChemDraw.Document.6.0">
                  <p:embed/>
                  <p:pic>
                    <p:nvPicPr>
                      <p:cNvPr id="1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23512" y="5605161"/>
                        <a:ext cx="1152128" cy="22989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6"/>
          <p:cNvGraphicFramePr>
            <a:graphicFrameLocks noChangeAspect="1"/>
          </p:cNvGraphicFramePr>
          <p:nvPr/>
        </p:nvGraphicFramePr>
        <p:xfrm>
          <a:off x="3403532" y="5987974"/>
          <a:ext cx="792088" cy="47422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971" name="CS ChemDraw Drawing" r:id="rId5" imgW="490213" imgH="293688" progId="ChemDraw.Document.6.0">
                  <p:embed/>
                </p:oleObj>
              </mc:Choice>
              <mc:Fallback>
                <p:oleObj name="CS ChemDraw Drawing" r:id="rId5" imgW="490213" imgH="293688" progId="ChemDraw.Document.6.0">
                  <p:embed/>
                  <p:pic>
                    <p:nvPicPr>
                      <p:cNvPr id="11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03532" y="5987974"/>
                        <a:ext cx="792088" cy="47422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7"/>
          <p:cNvGraphicFramePr>
            <a:graphicFrameLocks noChangeAspect="1"/>
          </p:cNvGraphicFramePr>
          <p:nvPr/>
        </p:nvGraphicFramePr>
        <p:xfrm>
          <a:off x="5155898" y="5535160"/>
          <a:ext cx="864096" cy="2998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972" name="CS ChemDraw Drawing" r:id="rId7" imgW="540422" imgH="187064" progId="ChemDraw.Document.6.0">
                  <p:embed/>
                </p:oleObj>
              </mc:Choice>
              <mc:Fallback>
                <p:oleObj name="CS ChemDraw Drawing" r:id="rId7" imgW="540422" imgH="187064" progId="ChemDraw.Document.6.0">
                  <p:embed/>
                  <p:pic>
                    <p:nvPicPr>
                      <p:cNvPr id="12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55898" y="5535160"/>
                        <a:ext cx="864096" cy="29989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8"/>
          <p:cNvGraphicFramePr>
            <a:graphicFrameLocks noChangeAspect="1"/>
          </p:cNvGraphicFramePr>
          <p:nvPr/>
        </p:nvGraphicFramePr>
        <p:xfrm>
          <a:off x="5431701" y="6083485"/>
          <a:ext cx="576064" cy="3243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973" name="CS ChemDraw Drawing" r:id="rId9" imgW="353083" imgH="197861" progId="ChemDraw.Document.6.0">
                  <p:embed/>
                </p:oleObj>
              </mc:Choice>
              <mc:Fallback>
                <p:oleObj name="CS ChemDraw Drawing" r:id="rId9" imgW="353083" imgH="197861" progId="ChemDraw.Document.6.0">
                  <p:embed/>
                  <p:pic>
                    <p:nvPicPr>
                      <p:cNvPr id="13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31701" y="6083485"/>
                        <a:ext cx="576064" cy="32436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412194" y="4469050"/>
            <a:ext cx="82040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b="1" dirty="0"/>
              <a:t>Normally, </a:t>
            </a:r>
            <a:r>
              <a:rPr lang="en-US" altLang="zh-CN" b="1" dirty="0">
                <a:solidFill>
                  <a:srgbClr val="0000FF"/>
                </a:solidFill>
              </a:rPr>
              <a:t>an alcohol </a:t>
            </a:r>
            <a:r>
              <a:rPr lang="en-US" altLang="zh-CN" b="1" dirty="0"/>
              <a:t>is </a:t>
            </a:r>
            <a:r>
              <a:rPr lang="en-US" altLang="zh-CN" b="1" i="1" dirty="0">
                <a:solidFill>
                  <a:srgbClr val="FF0000"/>
                </a:solidFill>
              </a:rPr>
              <a:t>much</a:t>
            </a:r>
            <a:r>
              <a:rPr lang="en-US" altLang="zh-CN" b="1" dirty="0"/>
              <a:t> </a:t>
            </a:r>
            <a:r>
              <a:rPr lang="en-US" altLang="zh-CN" b="1" i="1" dirty="0">
                <a:solidFill>
                  <a:srgbClr val="FF0000"/>
                </a:solidFill>
              </a:rPr>
              <a:t>more acidic than </a:t>
            </a:r>
            <a:r>
              <a:rPr lang="en-US" altLang="zh-CN" b="1" dirty="0"/>
              <a:t>a </a:t>
            </a:r>
            <a:r>
              <a:rPr lang="en-US" altLang="zh-CN" b="1" dirty="0">
                <a:solidFill>
                  <a:srgbClr val="0000FF"/>
                </a:solidFill>
              </a:rPr>
              <a:t>terminal alkyne</a:t>
            </a:r>
            <a:r>
              <a:rPr lang="en-US" altLang="zh-CN" b="1" dirty="0"/>
              <a:t>.</a:t>
            </a:r>
            <a:endParaRPr lang="zh-CN" altLang="en-US" b="1" dirty="0"/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/>
        </p:nvGraphicFramePr>
        <p:xfrm>
          <a:off x="1022163" y="1458358"/>
          <a:ext cx="3173457" cy="9862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974" name="CS ChemDraw Drawing" r:id="rId11" imgW="1972026" imgH="612463" progId="ChemDraw.Document.6.0">
                  <p:embed/>
                </p:oleObj>
              </mc:Choice>
              <mc:Fallback>
                <p:oleObj name="CS ChemDraw Drawing" r:id="rId11" imgW="1972026" imgH="612463" progId="ChemDraw.Document.6.0">
                  <p:embed/>
                  <p:pic>
                    <p:nvPicPr>
                      <p:cNvPr id="6" name="对象 5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022163" y="1458358"/>
                        <a:ext cx="3173457" cy="98627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/>
        </p:nvGraphicFramePr>
        <p:xfrm>
          <a:off x="4738326" y="1364739"/>
          <a:ext cx="5756972" cy="131930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975" name="CS ChemDraw Drawing" r:id="rId13" imgW="3657205" imgH="838024" progId="ChemDraw.Document.6.0">
                  <p:embed/>
                </p:oleObj>
              </mc:Choice>
              <mc:Fallback>
                <p:oleObj name="CS ChemDraw Drawing" r:id="rId13" imgW="3657205" imgH="838024" progId="ChemDraw.Document.6.0">
                  <p:embed/>
                  <p:pic>
                    <p:nvPicPr>
                      <p:cNvPr id="7" name="对象 6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4738326" y="1364739"/>
                        <a:ext cx="5756972" cy="1319306"/>
                      </a:xfrm>
                      <a:prstGeom prst="rect">
                        <a:avLst/>
                      </a:prstGeom>
                      <a:ln w="28575">
                        <a:solidFill>
                          <a:schemeClr val="bg1">
                            <a:lumMod val="75000"/>
                          </a:schemeClr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/>
          <p:cNvGraphicFramePr>
            <a:graphicFrameLocks noChangeAspect="1"/>
          </p:cNvGraphicFramePr>
          <p:nvPr/>
        </p:nvGraphicFramePr>
        <p:xfrm>
          <a:off x="2063552" y="3494693"/>
          <a:ext cx="8778949" cy="7412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976" name="CS ChemDraw Drawing" r:id="rId15" imgW="5283200" imgH="445968" progId="ChemDraw.Document.6.0">
                  <p:embed/>
                </p:oleObj>
              </mc:Choice>
              <mc:Fallback>
                <p:oleObj name="CS ChemDraw Drawing" r:id="rId15" imgW="5283200" imgH="445968" progId="ChemDraw.Document.6.0">
                  <p:embed/>
                  <p:pic>
                    <p:nvPicPr>
                      <p:cNvPr id="16" name="对象 15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2063552" y="3494693"/>
                        <a:ext cx="8778949" cy="74125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横卷形 5"/>
          <p:cNvSpPr/>
          <p:nvPr/>
        </p:nvSpPr>
        <p:spPr>
          <a:xfrm>
            <a:off x="3287688" y="2497794"/>
            <a:ext cx="8208912" cy="1513420"/>
          </a:xfrm>
          <a:prstGeom prst="horizontalScroll">
            <a:avLst/>
          </a:prstGeom>
          <a:solidFill>
            <a:srgbClr val="FFFF00"/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10</a:t>
            </a:fld>
            <a:endParaRPr lang="zh-CN" altLang="en-US"/>
          </a:p>
        </p:txBody>
      </p:sp>
      <p:sp>
        <p:nvSpPr>
          <p:cNvPr id="12" name="TextBox 11"/>
          <p:cNvSpPr txBox="1"/>
          <p:nvPr/>
        </p:nvSpPr>
        <p:spPr>
          <a:xfrm>
            <a:off x="3560699" y="2721384"/>
            <a:ext cx="8143235" cy="1107996"/>
          </a:xfrm>
          <a:prstGeom prst="rect">
            <a:avLst/>
          </a:prstGeom>
          <a:noFill/>
          <a:ln w="57150"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latin typeface="Consolas" panose="020B0609020204030204" pitchFamily="49" charset="0"/>
              </a:rPr>
              <a:t>It is helpful to predict the strength of the acidity of an alcohol by considering the stability of corresponding conjugate base alkoxide.</a:t>
            </a:r>
          </a:p>
          <a:p>
            <a:endParaRPr lang="en-US" altLang="zh-CN" sz="1600" b="1" dirty="0">
              <a:latin typeface="Consolas" panose="020B0609020204030204" pitchFamily="49" charset="0"/>
            </a:endParaRPr>
          </a:p>
          <a:p>
            <a:r>
              <a:rPr lang="en-US" altLang="zh-CN" b="1" dirty="0">
                <a:solidFill>
                  <a:srgbClr val="FF0000"/>
                </a:solidFill>
                <a:latin typeface="Consolas" panose="020B0609020204030204" pitchFamily="49" charset="0"/>
              </a:rPr>
              <a:t>More stable the alkoxide, more acidic the alcohol.</a:t>
            </a:r>
            <a:endParaRPr lang="zh-CN" altLang="en-US" b="1" dirty="0">
              <a:solidFill>
                <a:srgbClr val="FF0000"/>
              </a:solidFill>
              <a:latin typeface="Consolas" panose="020B0609020204030204" pitchFamily="49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911424" y="5701082"/>
            <a:ext cx="1049792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Consolas" panose="020B0609020204030204" pitchFamily="49" charset="0"/>
              </a:rPr>
              <a:t>The chlorine atom, as an </a:t>
            </a:r>
            <a:r>
              <a:rPr lang="en-US" altLang="zh-CN" b="1" dirty="0">
                <a:solidFill>
                  <a:srgbClr val="FF0000"/>
                </a:solidFill>
                <a:latin typeface="Consolas" panose="020B0609020204030204" pitchFamily="49" charset="0"/>
              </a:rPr>
              <a:t>EWG</a:t>
            </a:r>
            <a:r>
              <a:rPr lang="en-US" altLang="zh-CN" b="1" dirty="0">
                <a:latin typeface="Consolas" panose="020B0609020204030204" pitchFamily="49" charset="0"/>
              </a:rPr>
              <a:t>, helps to </a:t>
            </a:r>
            <a:r>
              <a:rPr lang="en-US" altLang="zh-CN" b="1" dirty="0">
                <a:solidFill>
                  <a:srgbClr val="FF0000"/>
                </a:solidFill>
                <a:latin typeface="Consolas" panose="020B0609020204030204" pitchFamily="49" charset="0"/>
              </a:rPr>
              <a:t>lower electron density</a:t>
            </a:r>
            <a:r>
              <a:rPr lang="en-US" altLang="zh-CN" b="1" dirty="0">
                <a:solidFill>
                  <a:srgbClr val="0000FF"/>
                </a:solidFill>
                <a:latin typeface="Consolas" panose="020B0609020204030204" pitchFamily="49" charset="0"/>
              </a:rPr>
              <a:t> of the oxygen atom of the alkoxide ion</a:t>
            </a:r>
            <a:r>
              <a:rPr lang="en-US" altLang="zh-CN" b="1" dirty="0">
                <a:latin typeface="Consolas" panose="020B0609020204030204" pitchFamily="49" charset="0"/>
              </a:rPr>
              <a:t> by </a:t>
            </a:r>
            <a:r>
              <a:rPr lang="en-US" altLang="zh-CN" b="1" dirty="0">
                <a:solidFill>
                  <a:srgbClr val="FF0000"/>
                </a:solidFill>
                <a:latin typeface="Consolas" panose="020B0609020204030204" pitchFamily="49" charset="0"/>
              </a:rPr>
              <a:t>electron-withdrawing</a:t>
            </a:r>
            <a:r>
              <a:rPr lang="en-US" altLang="zh-CN" b="1" dirty="0">
                <a:latin typeface="Consolas" panose="020B0609020204030204" pitchFamily="49" charset="0"/>
              </a:rPr>
              <a:t> </a:t>
            </a:r>
            <a:r>
              <a:rPr lang="en-US" altLang="zh-CN" b="1" dirty="0">
                <a:solidFill>
                  <a:srgbClr val="FF0000"/>
                </a:solidFill>
                <a:latin typeface="Consolas" panose="020B0609020204030204" pitchFamily="49" charset="0"/>
              </a:rPr>
              <a:t>inductive effect</a:t>
            </a:r>
            <a:r>
              <a:rPr lang="en-US" altLang="zh-CN" b="1" dirty="0">
                <a:latin typeface="Consolas" panose="020B0609020204030204" pitchFamily="49" charset="0"/>
              </a:rPr>
              <a:t>, thus </a:t>
            </a:r>
            <a:r>
              <a:rPr lang="en-US" altLang="zh-CN" b="1" dirty="0">
                <a:solidFill>
                  <a:srgbClr val="0000FF"/>
                </a:solidFill>
                <a:latin typeface="Consolas" panose="020B0609020204030204" pitchFamily="49" charset="0"/>
              </a:rPr>
              <a:t>stabilizing</a:t>
            </a:r>
            <a:r>
              <a:rPr lang="en-US" altLang="zh-CN" b="1" dirty="0">
                <a:latin typeface="Consolas" panose="020B0609020204030204" pitchFamily="49" charset="0"/>
              </a:rPr>
              <a:t> the alkoxide and increasing the tendency of ionization of the alcohol.</a:t>
            </a:r>
            <a:endParaRPr lang="zh-CN" altLang="en-US" b="1" dirty="0">
              <a:latin typeface="Consolas" panose="020B0609020204030204" pitchFamily="49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0" y="202646"/>
            <a:ext cx="8005718" cy="46166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none">
            <a:spAutoFit/>
          </a:bodyPr>
          <a:lstStyle/>
          <a:p>
            <a:r>
              <a:rPr lang="en-US" altLang="zh-CN" sz="2400" b="1" u="sng" dirty="0"/>
              <a:t>8-5-1</a:t>
            </a:r>
            <a:r>
              <a:rPr lang="en-US" altLang="zh-CN" sz="2400" b="1" dirty="0"/>
              <a:t> The effect of substituents on acidities of alcohols 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187097" y="805959"/>
            <a:ext cx="871296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b="1" dirty="0"/>
              <a:t>The acidities of alcohols vary widely, depending on their structures.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b="1" dirty="0"/>
              <a:t>The acidity decreases as the </a:t>
            </a:r>
            <a:r>
              <a:rPr lang="en-US" altLang="zh-CN" b="1" dirty="0">
                <a:solidFill>
                  <a:srgbClr val="0000FF"/>
                </a:solidFill>
              </a:rPr>
              <a:t>alkyl group </a:t>
            </a:r>
            <a:r>
              <a:rPr lang="en-US" altLang="zh-CN" b="1" dirty="0"/>
              <a:t>becomes more highly substituted.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b="1" dirty="0"/>
              <a:t>By contrast, substitution by </a:t>
            </a:r>
            <a:r>
              <a:rPr lang="en-US" altLang="zh-CN" b="1" dirty="0">
                <a:solidFill>
                  <a:srgbClr val="FF0000"/>
                </a:solidFill>
              </a:rPr>
              <a:t>EWG</a:t>
            </a:r>
            <a:r>
              <a:rPr lang="en-US" altLang="zh-CN" b="1" dirty="0"/>
              <a:t> enhances the acidity of alcohols.</a:t>
            </a:r>
            <a:endParaRPr lang="zh-CN" altLang="en-US" b="1" dirty="0"/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7606931"/>
              </p:ext>
            </p:extLst>
          </p:nvPr>
        </p:nvGraphicFramePr>
        <p:xfrm>
          <a:off x="9048328" y="477073"/>
          <a:ext cx="2448272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0160">
                  <a:extLst>
                    <a:ext uri="{9D8B030D-6E8A-4147-A177-3AD203B41FA5}">
                      <a16:colId xmlns:a16="http://schemas.microsoft.com/office/drawing/2014/main" val="3429073664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10280585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sz="1600" b="1" dirty="0"/>
                        <a:t>Alcohol</a:t>
                      </a:r>
                      <a:endParaRPr lang="zh-CN" altLang="en-US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b="1" dirty="0" err="1"/>
                        <a:t>p</a:t>
                      </a:r>
                      <a:r>
                        <a:rPr lang="en-US" altLang="zh-CN" sz="1600" b="1" i="1" dirty="0" err="1"/>
                        <a:t>K</a:t>
                      </a:r>
                      <a:r>
                        <a:rPr lang="en-US" altLang="zh-CN" sz="1600" b="1" baseline="-25000" dirty="0" err="1"/>
                        <a:t>a</a:t>
                      </a:r>
                      <a:endParaRPr lang="zh-CN" altLang="en-US" sz="1600" b="1" baseline="-25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71666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600" b="1" dirty="0"/>
                        <a:t>CH</a:t>
                      </a:r>
                      <a:r>
                        <a:rPr lang="en-US" altLang="zh-CN" sz="1600" b="1" baseline="-25000" dirty="0"/>
                        <a:t>3</a:t>
                      </a:r>
                      <a:r>
                        <a:rPr lang="en-US" altLang="zh-CN" sz="1600" b="1" dirty="0"/>
                        <a:t>OH</a:t>
                      </a:r>
                      <a:endParaRPr lang="zh-CN" altLang="en-US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b="1" dirty="0"/>
                        <a:t>15.5</a:t>
                      </a:r>
                      <a:endParaRPr lang="zh-CN" altLang="en-US" sz="16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42295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600" b="1" dirty="0">
                          <a:solidFill>
                            <a:srgbClr val="0000FF"/>
                          </a:solidFill>
                        </a:rPr>
                        <a:t>CH</a:t>
                      </a:r>
                      <a:r>
                        <a:rPr lang="en-US" altLang="zh-CN" sz="1600" b="1" baseline="-25000" dirty="0">
                          <a:solidFill>
                            <a:srgbClr val="0000FF"/>
                          </a:solidFill>
                        </a:rPr>
                        <a:t>3</a:t>
                      </a:r>
                      <a:r>
                        <a:rPr lang="en-US" altLang="zh-CN" sz="1600" b="1" dirty="0"/>
                        <a:t>CH</a:t>
                      </a:r>
                      <a:r>
                        <a:rPr lang="en-US" altLang="zh-CN" sz="1600" b="1" baseline="-25000" dirty="0"/>
                        <a:t>2</a:t>
                      </a:r>
                      <a:r>
                        <a:rPr lang="en-US" altLang="zh-CN" sz="1600" b="1" dirty="0"/>
                        <a:t>OH</a:t>
                      </a:r>
                      <a:endParaRPr lang="zh-CN" altLang="en-US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b="1" dirty="0"/>
                        <a:t>15.9</a:t>
                      </a:r>
                      <a:endParaRPr lang="zh-CN" altLang="en-US" sz="16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47423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600" b="1" dirty="0">
                          <a:solidFill>
                            <a:srgbClr val="0000FF"/>
                          </a:solidFill>
                        </a:rPr>
                        <a:t>(CH</a:t>
                      </a:r>
                      <a:r>
                        <a:rPr lang="en-US" altLang="zh-CN" sz="1600" b="1" baseline="-25000" dirty="0">
                          <a:solidFill>
                            <a:srgbClr val="0000FF"/>
                          </a:solidFill>
                        </a:rPr>
                        <a:t>3</a:t>
                      </a:r>
                      <a:r>
                        <a:rPr lang="en-US" altLang="zh-CN" sz="1600" b="1" dirty="0">
                          <a:solidFill>
                            <a:srgbClr val="0000FF"/>
                          </a:solidFill>
                        </a:rPr>
                        <a:t>)</a:t>
                      </a:r>
                      <a:r>
                        <a:rPr lang="en-US" altLang="zh-CN" sz="1600" b="1" baseline="-25000" dirty="0">
                          <a:solidFill>
                            <a:srgbClr val="0000FF"/>
                          </a:solidFill>
                        </a:rPr>
                        <a:t>2</a:t>
                      </a:r>
                      <a:r>
                        <a:rPr lang="en-US" altLang="zh-CN" sz="1600" b="1" dirty="0"/>
                        <a:t>CHOH</a:t>
                      </a:r>
                      <a:endParaRPr lang="zh-CN" altLang="en-US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b="1" dirty="0"/>
                        <a:t>16.5</a:t>
                      </a:r>
                      <a:endParaRPr lang="zh-CN" altLang="en-US" sz="16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35877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600" b="1" dirty="0">
                          <a:solidFill>
                            <a:srgbClr val="0000FF"/>
                          </a:solidFill>
                        </a:rPr>
                        <a:t>(CH</a:t>
                      </a:r>
                      <a:r>
                        <a:rPr lang="en-US" altLang="zh-CN" sz="1600" b="1" baseline="-25000" dirty="0">
                          <a:solidFill>
                            <a:srgbClr val="0000FF"/>
                          </a:solidFill>
                        </a:rPr>
                        <a:t>3</a:t>
                      </a:r>
                      <a:r>
                        <a:rPr lang="en-US" altLang="zh-CN" sz="1600" b="1" dirty="0">
                          <a:solidFill>
                            <a:srgbClr val="0000FF"/>
                          </a:solidFill>
                        </a:rPr>
                        <a:t>)</a:t>
                      </a:r>
                      <a:r>
                        <a:rPr lang="en-US" altLang="zh-CN" sz="1600" b="1" baseline="-25000" dirty="0">
                          <a:solidFill>
                            <a:srgbClr val="0000FF"/>
                          </a:solidFill>
                        </a:rPr>
                        <a:t>3</a:t>
                      </a:r>
                      <a:r>
                        <a:rPr lang="en-US" altLang="zh-CN" sz="1600" b="1" dirty="0"/>
                        <a:t>COH</a:t>
                      </a:r>
                      <a:endParaRPr lang="zh-CN" altLang="en-US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b="1" dirty="0"/>
                        <a:t>18.0</a:t>
                      </a:r>
                      <a:endParaRPr lang="zh-CN" altLang="en-US" sz="16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8079087"/>
                  </a:ext>
                </a:extLst>
              </a:tr>
            </a:tbl>
          </a:graphicData>
        </a:graphic>
      </p:graphicFrame>
      <p:graphicFrame>
        <p:nvGraphicFramePr>
          <p:cNvPr id="14" name="表格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9338554"/>
              </p:ext>
            </p:extLst>
          </p:nvPr>
        </p:nvGraphicFramePr>
        <p:xfrm>
          <a:off x="617395" y="2451815"/>
          <a:ext cx="2448272" cy="148336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440160">
                  <a:extLst>
                    <a:ext uri="{9D8B030D-6E8A-4147-A177-3AD203B41FA5}">
                      <a16:colId xmlns:a16="http://schemas.microsoft.com/office/drawing/2014/main" val="3429073664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10280585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sz="1600" b="1" dirty="0"/>
                        <a:t>Alcohol</a:t>
                      </a:r>
                      <a:endParaRPr lang="zh-CN" altLang="en-US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b="1" dirty="0" err="1"/>
                        <a:t>p</a:t>
                      </a:r>
                      <a:r>
                        <a:rPr lang="en-US" altLang="zh-CN" sz="1600" b="1" i="1" dirty="0" err="1"/>
                        <a:t>K</a:t>
                      </a:r>
                      <a:r>
                        <a:rPr lang="en-US" altLang="zh-CN" sz="1600" b="1" baseline="-25000" dirty="0" err="1"/>
                        <a:t>a</a:t>
                      </a:r>
                      <a:endParaRPr lang="zh-CN" altLang="en-US" sz="1600" b="1" baseline="-25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71666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600" b="1" dirty="0"/>
                        <a:t>CH</a:t>
                      </a:r>
                      <a:r>
                        <a:rPr lang="en-US" altLang="zh-CN" sz="1600" b="1" baseline="-25000" dirty="0"/>
                        <a:t>3</a:t>
                      </a:r>
                      <a:r>
                        <a:rPr lang="en-US" altLang="zh-CN" sz="1600" b="1" dirty="0"/>
                        <a:t>CH</a:t>
                      </a:r>
                      <a:r>
                        <a:rPr lang="en-US" altLang="zh-CN" sz="1600" b="1" baseline="-25000" dirty="0"/>
                        <a:t>2</a:t>
                      </a:r>
                      <a:r>
                        <a:rPr lang="en-US" altLang="zh-CN" sz="1600" b="1" dirty="0"/>
                        <a:t>OH</a:t>
                      </a:r>
                      <a:endParaRPr lang="zh-CN" altLang="en-US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b="1" dirty="0"/>
                        <a:t>15.9</a:t>
                      </a:r>
                      <a:endParaRPr lang="zh-CN" altLang="en-US" sz="16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47423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600" b="1" dirty="0">
                          <a:solidFill>
                            <a:srgbClr val="FF0000"/>
                          </a:solidFill>
                        </a:rPr>
                        <a:t>Cl</a:t>
                      </a:r>
                      <a:r>
                        <a:rPr lang="en-US" altLang="zh-CN" sz="1600" b="1" dirty="0"/>
                        <a:t>CH</a:t>
                      </a:r>
                      <a:r>
                        <a:rPr lang="en-US" altLang="zh-CN" sz="1600" b="1" baseline="-25000" dirty="0"/>
                        <a:t>2</a:t>
                      </a:r>
                      <a:r>
                        <a:rPr lang="en-US" altLang="zh-CN" sz="1600" b="1" dirty="0"/>
                        <a:t>CH</a:t>
                      </a:r>
                      <a:r>
                        <a:rPr lang="en-US" altLang="zh-CN" sz="1600" b="1" baseline="-25000" dirty="0"/>
                        <a:t>2</a:t>
                      </a:r>
                      <a:r>
                        <a:rPr lang="en-US" altLang="zh-CN" sz="1600" b="1" dirty="0"/>
                        <a:t>OH</a:t>
                      </a:r>
                      <a:endParaRPr lang="zh-CN" altLang="en-US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b="1" dirty="0"/>
                        <a:t>14.3</a:t>
                      </a:r>
                      <a:endParaRPr lang="zh-CN" altLang="en-US" sz="16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35877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600" b="1" dirty="0">
                          <a:solidFill>
                            <a:srgbClr val="FF0000"/>
                          </a:solidFill>
                        </a:rPr>
                        <a:t>Cl</a:t>
                      </a:r>
                      <a:r>
                        <a:rPr lang="en-US" altLang="zh-CN" sz="1600" b="1" baseline="-25000" dirty="0">
                          <a:solidFill>
                            <a:srgbClr val="FF0000"/>
                          </a:solidFill>
                        </a:rPr>
                        <a:t>3</a:t>
                      </a:r>
                      <a:r>
                        <a:rPr lang="en-US" altLang="zh-CN" sz="1600" b="1" dirty="0"/>
                        <a:t>CCH</a:t>
                      </a:r>
                      <a:r>
                        <a:rPr lang="en-US" altLang="zh-CN" sz="1600" b="1" baseline="-25000" dirty="0"/>
                        <a:t>2</a:t>
                      </a:r>
                      <a:r>
                        <a:rPr lang="en-US" altLang="zh-CN" sz="1600" b="1" dirty="0"/>
                        <a:t>OH</a:t>
                      </a:r>
                      <a:endParaRPr lang="zh-CN" altLang="en-US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b="1" dirty="0"/>
                        <a:t>12.2</a:t>
                      </a:r>
                      <a:endParaRPr lang="zh-CN" altLang="en-US" sz="16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8079087"/>
                  </a:ext>
                </a:extLst>
              </a:tr>
            </a:tbl>
          </a:graphicData>
        </a:graphic>
      </p:graphicFrame>
      <p:sp>
        <p:nvSpPr>
          <p:cNvPr id="10" name="文本框 9"/>
          <p:cNvSpPr txBox="1"/>
          <p:nvPr/>
        </p:nvSpPr>
        <p:spPr>
          <a:xfrm>
            <a:off x="-4155" y="4248913"/>
            <a:ext cx="2266967" cy="40011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altLang="zh-CN" sz="2000" b="1" dirty="0"/>
              <a:t>1. </a:t>
            </a:r>
            <a:r>
              <a:rPr lang="en-US" altLang="zh-CN" sz="2000" b="1" dirty="0">
                <a:solidFill>
                  <a:srgbClr val="FF0000"/>
                </a:solidFill>
              </a:rPr>
              <a:t>Inductive</a:t>
            </a:r>
            <a:r>
              <a:rPr lang="en-US" altLang="zh-CN" sz="2000" b="1" dirty="0"/>
              <a:t> effect</a:t>
            </a:r>
            <a:endParaRPr lang="zh-CN" altLang="en-US" sz="2000" b="1" dirty="0"/>
          </a:p>
        </p:txBody>
      </p:sp>
      <p:sp>
        <p:nvSpPr>
          <p:cNvPr id="7" name="文本框 6"/>
          <p:cNvSpPr txBox="1"/>
          <p:nvPr/>
        </p:nvSpPr>
        <p:spPr>
          <a:xfrm>
            <a:off x="3708645" y="4745043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b="1" dirty="0">
                <a:solidFill>
                  <a:srgbClr val="FF00FF"/>
                </a:solidFill>
              </a:rPr>
              <a:t>1</a:t>
            </a:r>
            <a:endParaRPr lang="zh-CN" altLang="en-US" sz="1400" b="1" dirty="0">
              <a:solidFill>
                <a:srgbClr val="FF00FF"/>
              </a:solidFill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2802279" y="4747679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b="1" dirty="0">
                <a:solidFill>
                  <a:srgbClr val="FF00FF"/>
                </a:solidFill>
              </a:rPr>
              <a:t>2</a:t>
            </a:r>
            <a:endParaRPr lang="zh-CN" altLang="en-US" sz="1400" b="1" dirty="0">
              <a:solidFill>
                <a:srgbClr val="FF00FF"/>
              </a:solidFill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8245537" y="4760310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b="1" dirty="0">
                <a:solidFill>
                  <a:srgbClr val="FF00FF"/>
                </a:solidFill>
              </a:rPr>
              <a:t>1</a:t>
            </a:r>
            <a:endParaRPr lang="zh-CN" altLang="en-US" sz="1400" b="1" dirty="0">
              <a:solidFill>
                <a:srgbClr val="FF00FF"/>
              </a:solidFill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7339171" y="4762946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b="1" dirty="0">
                <a:solidFill>
                  <a:srgbClr val="FF00FF"/>
                </a:solidFill>
              </a:rPr>
              <a:t>2</a:t>
            </a:r>
            <a:endParaRPr lang="zh-CN" altLang="en-US" sz="1400" b="1" dirty="0">
              <a:solidFill>
                <a:srgbClr val="FF00FF"/>
              </a:solidFill>
            </a:endParaRPr>
          </a:p>
        </p:txBody>
      </p:sp>
      <p:graphicFrame>
        <p:nvGraphicFramePr>
          <p:cNvPr id="11" name="对象 10"/>
          <p:cNvGraphicFramePr>
            <a:graphicFrameLocks noChangeAspect="1"/>
          </p:cNvGraphicFramePr>
          <p:nvPr/>
        </p:nvGraphicFramePr>
        <p:xfrm>
          <a:off x="1847528" y="4576196"/>
          <a:ext cx="8712968" cy="983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70" name="CS ChemDraw Drawing" r:id="rId3" imgW="5077633" imgH="572821" progId="ChemDraw.Document.6.0">
                  <p:embed/>
                </p:oleObj>
              </mc:Choice>
              <mc:Fallback>
                <p:oleObj name="CS ChemDraw Drawing" r:id="rId3" imgW="5077633" imgH="572821" progId="ChemDraw.Document.6.0">
                  <p:embed/>
                  <p:pic>
                    <p:nvPicPr>
                      <p:cNvPr id="11" name="对象 10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847528" y="4576196"/>
                        <a:ext cx="8712968" cy="9832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椭圆 19"/>
          <p:cNvSpPr/>
          <p:nvPr/>
        </p:nvSpPr>
        <p:spPr>
          <a:xfrm>
            <a:off x="7380470" y="4018196"/>
            <a:ext cx="504056" cy="384929"/>
          </a:xfrm>
          <a:prstGeom prst="ellipse">
            <a:avLst/>
          </a:prstGeom>
          <a:solidFill>
            <a:srgbClr val="FFFF00"/>
          </a:solidFill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椭圆 17"/>
          <p:cNvSpPr/>
          <p:nvPr/>
        </p:nvSpPr>
        <p:spPr>
          <a:xfrm>
            <a:off x="6444366" y="4587020"/>
            <a:ext cx="432048" cy="536184"/>
          </a:xfrm>
          <a:prstGeom prst="ellipse">
            <a:avLst/>
          </a:prstGeom>
          <a:solidFill>
            <a:srgbClr val="FFFF00"/>
          </a:solidFill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椭圆 16"/>
          <p:cNvSpPr/>
          <p:nvPr/>
        </p:nvSpPr>
        <p:spPr>
          <a:xfrm>
            <a:off x="5364246" y="4142418"/>
            <a:ext cx="504056" cy="260707"/>
          </a:xfrm>
          <a:prstGeom prst="ellipse">
            <a:avLst/>
          </a:prstGeom>
          <a:solidFill>
            <a:srgbClr val="FFFF00"/>
          </a:solidFill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椭圆 8"/>
          <p:cNvSpPr/>
          <p:nvPr/>
        </p:nvSpPr>
        <p:spPr>
          <a:xfrm>
            <a:off x="3564046" y="3683044"/>
            <a:ext cx="432048" cy="299881"/>
          </a:xfrm>
          <a:prstGeom prst="ellipse">
            <a:avLst/>
          </a:prstGeom>
          <a:solidFill>
            <a:srgbClr val="FFFF00"/>
          </a:solidFill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11</a:t>
            </a:fld>
            <a:endParaRPr lang="zh-CN" altLang="en-US"/>
          </a:p>
        </p:txBody>
      </p:sp>
      <p:sp>
        <p:nvSpPr>
          <p:cNvPr id="4" name="TextBox 3"/>
          <p:cNvSpPr txBox="1"/>
          <p:nvPr/>
        </p:nvSpPr>
        <p:spPr>
          <a:xfrm>
            <a:off x="299927" y="693060"/>
            <a:ext cx="1144927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b="1" dirty="0"/>
              <a:t>Phenol is much more acidic than cyclohexanol due to a different effect: </a:t>
            </a:r>
            <a:r>
              <a:rPr lang="en-US" altLang="zh-CN" b="1" dirty="0">
                <a:solidFill>
                  <a:srgbClr val="FF0000"/>
                </a:solidFill>
              </a:rPr>
              <a:t>resonance effect</a:t>
            </a:r>
            <a:r>
              <a:rPr lang="en-US" altLang="zh-CN" b="1" dirty="0"/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b="1" dirty="0"/>
              <a:t>The </a:t>
            </a:r>
            <a:r>
              <a:rPr lang="en-US" altLang="zh-CN" b="1" dirty="0" err="1"/>
              <a:t>phenoxide</a:t>
            </a:r>
            <a:r>
              <a:rPr lang="en-US" altLang="zh-CN" b="1" dirty="0"/>
              <a:t> ion is much more stable than a typical alkoxide ion because </a:t>
            </a:r>
            <a:r>
              <a:rPr lang="en-US" altLang="zh-CN" b="1" dirty="0">
                <a:solidFill>
                  <a:srgbClr val="0000FF"/>
                </a:solidFill>
              </a:rPr>
              <a:t>the negative charge is not confined to the oxygen atom </a:t>
            </a:r>
            <a:r>
              <a:rPr lang="en-US" altLang="zh-CN" b="1" i="1" dirty="0">
                <a:solidFill>
                  <a:srgbClr val="FF0000"/>
                </a:solidFill>
              </a:rPr>
              <a:t>but is delocalized over the oxygen and three carbon atoms of the ring</a:t>
            </a:r>
            <a:r>
              <a:rPr lang="en-US" altLang="zh-CN" b="1" i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altLang="zh-CN" b="1" dirty="0"/>
              <a:t>by resonance. </a:t>
            </a:r>
            <a:endParaRPr lang="zh-CN" altLang="en-US" b="1" dirty="0"/>
          </a:p>
        </p:txBody>
      </p:sp>
      <p:sp>
        <p:nvSpPr>
          <p:cNvPr id="14" name="文本框 13"/>
          <p:cNvSpPr txBox="1"/>
          <p:nvPr/>
        </p:nvSpPr>
        <p:spPr>
          <a:xfrm>
            <a:off x="0" y="225650"/>
            <a:ext cx="2443298" cy="40011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altLang="zh-CN" sz="2000" b="1" dirty="0"/>
              <a:t>2. </a:t>
            </a:r>
            <a:r>
              <a:rPr lang="en-US" altLang="zh-CN" sz="2000" b="1" dirty="0">
                <a:solidFill>
                  <a:srgbClr val="FF0000"/>
                </a:solidFill>
              </a:rPr>
              <a:t>Resonance</a:t>
            </a:r>
            <a:r>
              <a:rPr lang="en-US" altLang="zh-CN" sz="2000" b="1" dirty="0"/>
              <a:t> effect</a:t>
            </a:r>
            <a:endParaRPr lang="zh-CN" altLang="en-US" sz="2000" b="1" dirty="0"/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69311908"/>
              </p:ext>
            </p:extLst>
          </p:nvPr>
        </p:nvGraphicFramePr>
        <p:xfrm>
          <a:off x="1746220" y="2025757"/>
          <a:ext cx="8699560" cy="1360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602" name="CS ChemDraw Drawing" r:id="rId3" imgW="6161497" imgH="962895" progId="ChemDraw.Document.6.0">
                  <p:embed/>
                </p:oleObj>
              </mc:Choice>
              <mc:Fallback>
                <p:oleObj name="CS ChemDraw Drawing" r:id="rId3" imgW="6161497" imgH="962895" progId="ChemDraw.Document.6.0">
                  <p:embed/>
                  <p:pic>
                    <p:nvPicPr>
                      <p:cNvPr id="3" name="对象 2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746220" y="2025757"/>
                        <a:ext cx="8699560" cy="13606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7" name="直接连接符 6"/>
          <p:cNvCxnSpPr>
            <a:stCxn id="4" idx="2"/>
          </p:cNvCxnSpPr>
          <p:nvPr/>
        </p:nvCxnSpPr>
        <p:spPr>
          <a:xfrm>
            <a:off x="6024563" y="1893389"/>
            <a:ext cx="0" cy="1469918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82828392"/>
              </p:ext>
            </p:extLst>
          </p:nvPr>
        </p:nvGraphicFramePr>
        <p:xfrm>
          <a:off x="3204006" y="3627532"/>
          <a:ext cx="5351939" cy="187220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603" name="CS ChemDraw Drawing" r:id="rId5" imgW="3498986" imgH="1223737" progId="ChemDraw.Document.6.0">
                  <p:embed/>
                </p:oleObj>
              </mc:Choice>
              <mc:Fallback>
                <p:oleObj name="CS ChemDraw Drawing" r:id="rId5" imgW="3498986" imgH="1223737" progId="ChemDraw.Document.6.0">
                  <p:embed/>
                  <p:pic>
                    <p:nvPicPr>
                      <p:cNvPr id="8" name="对象 7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204006" y="3627532"/>
                        <a:ext cx="5351939" cy="187220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/>
        </p:nvGraphicFramePr>
        <p:xfrm>
          <a:off x="2164974" y="5805550"/>
          <a:ext cx="7430004" cy="75593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604" name="CS ChemDraw Drawing" r:id="rId7" imgW="4743832" imgH="482835" progId="ChemDraw.Document.6.0">
                  <p:embed/>
                </p:oleObj>
              </mc:Choice>
              <mc:Fallback>
                <p:oleObj name="CS ChemDraw Drawing" r:id="rId7" imgW="4743832" imgH="482835" progId="ChemDraw.Document.6.0">
                  <p:embed/>
                  <p:pic>
                    <p:nvPicPr>
                      <p:cNvPr id="10" name="对象 9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164974" y="5805550"/>
                        <a:ext cx="7430004" cy="75593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12</a:t>
            </a:fld>
            <a:endParaRPr lang="zh-CN" altLang="en-US"/>
          </a:p>
        </p:txBody>
      </p:sp>
      <p:sp>
        <p:nvSpPr>
          <p:cNvPr id="3" name="TextBox 2"/>
          <p:cNvSpPr txBox="1"/>
          <p:nvPr/>
        </p:nvSpPr>
        <p:spPr>
          <a:xfrm>
            <a:off x="0" y="247892"/>
            <a:ext cx="7625806" cy="46166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altLang="zh-CN" sz="2400" b="1" u="sng" dirty="0"/>
              <a:t>8-5-2</a:t>
            </a:r>
            <a:r>
              <a:rPr lang="en-US" altLang="zh-CN" sz="2400" b="1" dirty="0"/>
              <a:t> </a:t>
            </a:r>
            <a:r>
              <a:rPr lang="en-US" altLang="zh-CN" sz="2400" b="1" dirty="0">
                <a:solidFill>
                  <a:srgbClr val="0000FF"/>
                </a:solidFill>
              </a:rPr>
              <a:t>Formation of </a:t>
            </a:r>
            <a:r>
              <a:rPr lang="en-US" altLang="zh-CN" sz="2400" b="1" dirty="0"/>
              <a:t>Sodium and Potassium </a:t>
            </a:r>
            <a:r>
              <a:rPr lang="en-US" altLang="zh-CN" sz="2400" b="1" dirty="0">
                <a:solidFill>
                  <a:srgbClr val="0000FF"/>
                </a:solidFill>
              </a:rPr>
              <a:t>Alkoxides</a:t>
            </a:r>
            <a:endParaRPr lang="zh-CN" altLang="en-US" sz="2400" b="1" dirty="0">
              <a:solidFill>
                <a:srgbClr val="0000FF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87210" y="889903"/>
            <a:ext cx="1105560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SzPct val="80000"/>
              <a:buFont typeface="Arial" panose="020B0604020202020204" pitchFamily="34" charset="0"/>
              <a:buChar char="•"/>
            </a:pPr>
            <a:r>
              <a:rPr lang="en-US" altLang="zh-CN" b="1" dirty="0">
                <a:solidFill>
                  <a:srgbClr val="0000FF"/>
                </a:solidFill>
              </a:rPr>
              <a:t>Sodium and potassium alkoxides</a:t>
            </a:r>
            <a:r>
              <a:rPr lang="en-US" altLang="zh-CN" b="1" dirty="0"/>
              <a:t> can be formed by reaction of </a:t>
            </a:r>
            <a:r>
              <a:rPr lang="en-US" altLang="zh-CN" b="1" dirty="0">
                <a:solidFill>
                  <a:srgbClr val="0000FF"/>
                </a:solidFill>
              </a:rPr>
              <a:t>sodium hydride  (NaH) </a:t>
            </a:r>
            <a:r>
              <a:rPr lang="en-US" altLang="zh-CN" b="1" dirty="0"/>
              <a:t>with alcohols.</a:t>
            </a:r>
          </a:p>
          <a:p>
            <a:pPr marL="342900" indent="-342900">
              <a:buSzPct val="80000"/>
              <a:buFont typeface="Arial" panose="020B0604020202020204" pitchFamily="34" charset="0"/>
              <a:buChar char="•"/>
            </a:pPr>
            <a:endParaRPr lang="en-US" altLang="zh-CN" b="1" dirty="0"/>
          </a:p>
          <a:p>
            <a:pPr marL="342900" indent="-342900">
              <a:buSzPct val="80000"/>
              <a:buFont typeface="Arial" panose="020B0604020202020204" pitchFamily="34" charset="0"/>
              <a:buChar char="•"/>
            </a:pPr>
            <a:r>
              <a:rPr lang="en-US" altLang="zh-CN" b="1" dirty="0">
                <a:solidFill>
                  <a:srgbClr val="0000FF"/>
                </a:solidFill>
              </a:rPr>
              <a:t>Phenoxides</a:t>
            </a:r>
            <a:r>
              <a:rPr lang="en-US" altLang="zh-CN" b="1" dirty="0"/>
              <a:t> are prepared simple by adding the phenol to an aqueous solution of </a:t>
            </a:r>
            <a:r>
              <a:rPr lang="en-US" altLang="zh-CN" b="1" dirty="0" err="1">
                <a:solidFill>
                  <a:srgbClr val="0000FF"/>
                </a:solidFill>
              </a:rPr>
              <a:t>NaOH</a:t>
            </a:r>
            <a:r>
              <a:rPr lang="en-US" altLang="zh-CN" b="1" dirty="0">
                <a:solidFill>
                  <a:srgbClr val="0000FF"/>
                </a:solidFill>
              </a:rPr>
              <a:t> or KOH</a:t>
            </a:r>
            <a:r>
              <a:rPr lang="en-US" altLang="zh-CN" b="1" dirty="0"/>
              <a:t>.</a:t>
            </a:r>
          </a:p>
          <a:p>
            <a:pPr>
              <a:buSzPct val="80000"/>
              <a:buFont typeface="Arial" pitchFamily="34" charset="0"/>
              <a:buChar char="•"/>
            </a:pPr>
            <a:endParaRPr lang="en-US" altLang="zh-CN" b="1" dirty="0"/>
          </a:p>
          <a:p>
            <a:pPr marL="342900" indent="-342900">
              <a:buSzPct val="80000"/>
              <a:buFont typeface="Arial" panose="020B0604020202020204" pitchFamily="34" charset="0"/>
              <a:buChar char="•"/>
            </a:pPr>
            <a:r>
              <a:rPr lang="en-US" altLang="zh-CN" b="1" dirty="0"/>
              <a:t>Alkoxide ions are useful reagents in organic synthesis (as Base or Oxygen Nucleophile) .</a:t>
            </a:r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60822275"/>
              </p:ext>
            </p:extLst>
          </p:nvPr>
        </p:nvGraphicFramePr>
        <p:xfrm>
          <a:off x="2273094" y="3052589"/>
          <a:ext cx="6619963" cy="113404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522" name="CS ChemDraw Drawing" r:id="rId3" imgW="4105429" imgH="704035" progId="ChemDraw.Document.6.0">
                  <p:embed/>
                </p:oleObj>
              </mc:Choice>
              <mc:Fallback>
                <p:oleObj name="CS ChemDraw Drawing" r:id="rId3" imgW="4105429" imgH="704035" progId="ChemDraw.Document.6.0">
                  <p:embed/>
                  <p:pic>
                    <p:nvPicPr>
                      <p:cNvPr id="5" name="对象 4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273094" y="3052589"/>
                        <a:ext cx="6619963" cy="1134047"/>
                      </a:xfrm>
                      <a:prstGeom prst="rect">
                        <a:avLst/>
                      </a:prstGeom>
                      <a:ln w="28575">
                        <a:solidFill>
                          <a:schemeClr val="bg1">
                            <a:lumMod val="85000"/>
                          </a:schemeClr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49832296"/>
              </p:ext>
            </p:extLst>
          </p:nvPr>
        </p:nvGraphicFramePr>
        <p:xfrm>
          <a:off x="3656983" y="5153417"/>
          <a:ext cx="3852187" cy="112012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523" name="CS ChemDraw Drawing" r:id="rId5" imgW="2599382" imgH="755569" progId="ChemDraw.Document.6.0">
                  <p:embed/>
                </p:oleObj>
              </mc:Choice>
              <mc:Fallback>
                <p:oleObj name="CS ChemDraw Drawing" r:id="rId5" imgW="2599382" imgH="755569" progId="ChemDraw.Document.6.0">
                  <p:embed/>
                  <p:pic>
                    <p:nvPicPr>
                      <p:cNvPr id="6" name="对象 5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656983" y="5153417"/>
                        <a:ext cx="3852187" cy="112012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椭圆 6"/>
          <p:cNvSpPr/>
          <p:nvPr/>
        </p:nvSpPr>
        <p:spPr>
          <a:xfrm>
            <a:off x="3990651" y="3101502"/>
            <a:ext cx="2448272" cy="1440160"/>
          </a:xfrm>
          <a:prstGeom prst="ellipse">
            <a:avLst/>
          </a:prstGeom>
          <a:solidFill>
            <a:srgbClr val="FFFF99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13</a:t>
            </a:fld>
            <a:endParaRPr lang="zh-CN" altLang="en-US"/>
          </a:p>
        </p:txBody>
      </p:sp>
      <p:sp>
        <p:nvSpPr>
          <p:cNvPr id="3" name="TextBox 2"/>
          <p:cNvSpPr txBox="1"/>
          <p:nvPr/>
        </p:nvSpPr>
        <p:spPr>
          <a:xfrm>
            <a:off x="0" y="212031"/>
            <a:ext cx="7311617" cy="46166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altLang="zh-CN" sz="2400" b="1" u="sng" dirty="0"/>
              <a:t>8-6</a:t>
            </a:r>
            <a:r>
              <a:rPr lang="en-US" altLang="zh-CN" sz="2400" b="1" dirty="0"/>
              <a:t> </a:t>
            </a:r>
            <a:r>
              <a:rPr lang="en-US" altLang="zh-CN" sz="2400" b="1" dirty="0">
                <a:solidFill>
                  <a:srgbClr val="FF0000"/>
                </a:solidFill>
              </a:rPr>
              <a:t>Organometallic Reagents </a:t>
            </a:r>
            <a:r>
              <a:rPr lang="en-US" altLang="zh-CN" sz="2400" b="1" dirty="0"/>
              <a:t>for </a:t>
            </a:r>
            <a:r>
              <a:rPr lang="en-US" altLang="zh-CN" sz="2400" b="1" dirty="0">
                <a:solidFill>
                  <a:srgbClr val="0000FF"/>
                </a:solidFill>
              </a:rPr>
              <a:t>Alcohol Synthesis</a:t>
            </a:r>
            <a:endParaRPr lang="zh-CN" altLang="en-US" sz="2400" b="1" dirty="0">
              <a:solidFill>
                <a:srgbClr val="0000FF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36071" y="724341"/>
            <a:ext cx="11615270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b="1" dirty="0"/>
              <a:t>Organometallic compounds  contain bonds between carbon atoms and metal atoms.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CN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b="1" dirty="0"/>
              <a:t>The C</a:t>
            </a:r>
            <a:r>
              <a:rPr lang="zh-CN" altLang="en-US" b="1" dirty="0">
                <a:sym typeface="Symbol"/>
              </a:rPr>
              <a:t></a:t>
            </a:r>
            <a:r>
              <a:rPr lang="en-US" altLang="zh-CN" b="1" dirty="0">
                <a:sym typeface="Symbol"/>
              </a:rPr>
              <a:t>M bond is polarized with </a:t>
            </a:r>
            <a:r>
              <a:rPr lang="en-US" altLang="zh-CN" b="1" i="1" dirty="0">
                <a:sym typeface="Symbol"/>
              </a:rPr>
              <a:t>a partial positive charge on the metal</a:t>
            </a:r>
            <a:r>
              <a:rPr lang="en-US" altLang="zh-CN" b="1" dirty="0">
                <a:sym typeface="Symbol"/>
              </a:rPr>
              <a:t> and </a:t>
            </a:r>
            <a:r>
              <a:rPr lang="en-US" altLang="zh-CN" b="1" i="1" u="sng" dirty="0">
                <a:solidFill>
                  <a:srgbClr val="FF0000"/>
                </a:solidFill>
                <a:sym typeface="Symbol"/>
              </a:rPr>
              <a:t>a partial negative charge on the carbon</a:t>
            </a:r>
            <a:r>
              <a:rPr lang="en-US" altLang="zh-CN" b="1" dirty="0">
                <a:sym typeface="Symbol"/>
              </a:rPr>
              <a:t>, because carbon is more electronegative than most metals.</a:t>
            </a:r>
          </a:p>
          <a:p>
            <a:pPr>
              <a:buFont typeface="Arial" pitchFamily="34" charset="0"/>
              <a:buChar char="•"/>
            </a:pPr>
            <a:endParaRPr lang="en-US" altLang="zh-CN" b="1" dirty="0">
              <a:sym typeface="Symbol"/>
            </a:endParaRPr>
          </a:p>
          <a:p>
            <a:pPr>
              <a:buFont typeface="Arial" pitchFamily="34" charset="0"/>
              <a:buChar char="•"/>
            </a:pPr>
            <a:endParaRPr lang="en-US" altLang="zh-CN" b="1" dirty="0">
              <a:sym typeface="Symbol"/>
            </a:endParaRPr>
          </a:p>
          <a:p>
            <a:endParaRPr lang="en-US" altLang="zh-CN" b="1" dirty="0">
              <a:sym typeface="Symbol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b="1" dirty="0">
                <a:sym typeface="Symbol"/>
              </a:rPr>
              <a:t> </a:t>
            </a:r>
            <a:r>
              <a:rPr lang="en-US" altLang="zh-CN" b="1" dirty="0">
                <a:solidFill>
                  <a:srgbClr val="FF0000"/>
                </a:solidFill>
                <a:sym typeface="Symbol"/>
              </a:rPr>
              <a:t>Organometallic reagents R</a:t>
            </a:r>
            <a:r>
              <a:rPr lang="en-US" altLang="zh-CN" b="1" dirty="0">
                <a:solidFill>
                  <a:srgbClr val="FF0000"/>
                </a:solidFill>
                <a:sym typeface="Symbol" panose="05050102010706020507" pitchFamily="18" charset="2"/>
              </a:rPr>
              <a:t>M </a:t>
            </a:r>
            <a:r>
              <a:rPr lang="en-US" altLang="zh-CN" b="1" dirty="0">
                <a:solidFill>
                  <a:srgbClr val="FF0000"/>
                </a:solidFill>
                <a:sym typeface="Symbol"/>
              </a:rPr>
              <a:t>have nucleophilic carbon atoms</a:t>
            </a:r>
            <a:r>
              <a:rPr lang="en-US" altLang="zh-CN" b="1" dirty="0">
                <a:sym typeface="Symbol"/>
              </a:rPr>
              <a:t>, in contrast to the electrophilic carbon atoms of R</a:t>
            </a:r>
            <a:r>
              <a:rPr lang="en-US" altLang="zh-CN" b="1" dirty="0">
                <a:sym typeface="Symbol" panose="05050102010706020507" pitchFamily="18" charset="2"/>
              </a:rPr>
              <a:t>X.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CN" b="1" dirty="0">
              <a:sym typeface="Symbol"/>
            </a:endParaRPr>
          </a:p>
          <a:p>
            <a:endParaRPr lang="en-US" altLang="zh-CN" b="1" dirty="0">
              <a:sym typeface="Symbol"/>
            </a:endParaRPr>
          </a:p>
          <a:p>
            <a:endParaRPr lang="en-US" altLang="zh-CN" b="1" dirty="0">
              <a:sym typeface="Symbol"/>
            </a:endParaRPr>
          </a:p>
          <a:p>
            <a:endParaRPr lang="en-US" altLang="zh-CN" b="1" dirty="0">
              <a:sym typeface="Symbol"/>
            </a:endParaRPr>
          </a:p>
          <a:p>
            <a:pPr>
              <a:buFont typeface="Arial" pitchFamily="34" charset="0"/>
              <a:buChar char="•"/>
            </a:pPr>
            <a:endParaRPr lang="en-US" altLang="zh-CN" b="1" dirty="0">
              <a:sym typeface="Symbol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b="1" dirty="0"/>
              <a:t>Organometallic reagents provide some of our </a:t>
            </a:r>
            <a:r>
              <a:rPr lang="en-US" altLang="zh-CN" b="1" i="1" dirty="0"/>
              <a:t>best ways of forming carbon-carbon bonds</a:t>
            </a:r>
            <a:r>
              <a:rPr lang="en-US" altLang="zh-CN" b="1" dirty="0"/>
              <a:t>.</a:t>
            </a:r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43305543"/>
              </p:ext>
            </p:extLst>
          </p:nvPr>
        </p:nvGraphicFramePr>
        <p:xfrm>
          <a:off x="3107007" y="1930191"/>
          <a:ext cx="5503593" cy="7569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650" name="CS ChemDraw Drawing" r:id="rId3" imgW="2724853" imgH="374613" progId="ChemDraw.Document.6.0">
                  <p:embed/>
                </p:oleObj>
              </mc:Choice>
              <mc:Fallback>
                <p:oleObj name="CS ChemDraw Drawing" r:id="rId3" imgW="2724853" imgH="374613" progId="ChemDraw.Document.6.0">
                  <p:embed/>
                  <p:pic>
                    <p:nvPicPr>
                      <p:cNvPr id="5" name="对象 4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107007" y="1930191"/>
                        <a:ext cx="5503593" cy="75690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02613737"/>
              </p:ext>
            </p:extLst>
          </p:nvPr>
        </p:nvGraphicFramePr>
        <p:xfrm>
          <a:off x="4282811" y="3307016"/>
          <a:ext cx="1863951" cy="116217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651" name="CS ChemDraw Drawing" r:id="rId5" imgW="1188424" imgH="742091" progId="ChemDraw.Document.6.0">
                  <p:embed/>
                </p:oleObj>
              </mc:Choice>
              <mc:Fallback>
                <p:oleObj name="CS ChemDraw Drawing" r:id="rId5" imgW="1188424" imgH="742091" progId="ChemDraw.Document.6.0">
                  <p:embed/>
                  <p:pic>
                    <p:nvPicPr>
                      <p:cNvPr id="6" name="对象 5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282811" y="3307016"/>
                        <a:ext cx="1863951" cy="116217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54117278"/>
              </p:ext>
            </p:extLst>
          </p:nvPr>
        </p:nvGraphicFramePr>
        <p:xfrm>
          <a:off x="2095159" y="5177172"/>
          <a:ext cx="7527288" cy="128351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652" name="CS ChemDraw Drawing" r:id="rId7" imgW="4814064" imgH="820978" progId="ChemDraw.Document.6.0">
                  <p:embed/>
                </p:oleObj>
              </mc:Choice>
              <mc:Fallback>
                <p:oleObj name="CS ChemDraw Drawing" r:id="rId7" imgW="4814064" imgH="820978" progId="ChemDraw.Document.6.0">
                  <p:embed/>
                  <p:pic>
                    <p:nvPicPr>
                      <p:cNvPr id="8" name="对象 7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095159" y="5177172"/>
                        <a:ext cx="7527288" cy="128351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椭圆 17"/>
          <p:cNvSpPr/>
          <p:nvPr/>
        </p:nvSpPr>
        <p:spPr>
          <a:xfrm>
            <a:off x="8285181" y="1284404"/>
            <a:ext cx="313962" cy="504056"/>
          </a:xfrm>
          <a:prstGeom prst="ellipse">
            <a:avLst/>
          </a:prstGeom>
          <a:solidFill>
            <a:srgbClr val="FFFF99"/>
          </a:solidFill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313868" y="807677"/>
            <a:ext cx="11465848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b="1" dirty="0"/>
              <a:t>The </a:t>
            </a:r>
            <a:r>
              <a:rPr lang="en-US" altLang="zh-CN" b="1" dirty="0" err="1"/>
              <a:t>organomagnesium</a:t>
            </a:r>
            <a:r>
              <a:rPr lang="en-US" altLang="zh-CN" b="1" dirty="0"/>
              <a:t> halides (</a:t>
            </a:r>
            <a:r>
              <a:rPr lang="en-US" altLang="zh-CN" b="1" dirty="0" err="1"/>
              <a:t>R</a:t>
            </a:r>
            <a:r>
              <a:rPr lang="en-US" altLang="zh-CN" b="1" dirty="0" err="1">
                <a:sym typeface="Symbol" panose="05050102010706020507" pitchFamily="18" charset="2"/>
              </a:rPr>
              <a:t>MgX</a:t>
            </a:r>
            <a:r>
              <a:rPr lang="en-US" altLang="zh-CN" b="1" dirty="0">
                <a:sym typeface="Symbol" panose="05050102010706020507" pitchFamily="18" charset="2"/>
              </a:rPr>
              <a:t>) </a:t>
            </a:r>
            <a:r>
              <a:rPr lang="en-US" altLang="zh-CN" b="1" dirty="0"/>
              <a:t>are called Grignard reagents, in honor of the French chemist Victor Grignard.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b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b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b="1" dirty="0"/>
          </a:p>
          <a:p>
            <a:endParaRPr lang="en-US" altLang="zh-CN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b="1" dirty="0"/>
              <a:t>Grignard reagents result from the reaction of an alkyl halide with magnesium metal in an ether solvent. This reaction is an example of </a:t>
            </a:r>
            <a:r>
              <a:rPr lang="en-US" altLang="zh-CN" b="1" dirty="0">
                <a:solidFill>
                  <a:srgbClr val="FF0000"/>
                </a:solidFill>
              </a:rPr>
              <a:t>inversion of polarity</a:t>
            </a:r>
            <a:r>
              <a:rPr lang="en-US" altLang="zh-CN" b="1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b="1" dirty="0"/>
              <a:t>Grignard Reagents may be made from: </a:t>
            </a:r>
            <a:r>
              <a:rPr lang="en-US" altLang="zh-CN" b="1" dirty="0">
                <a:solidFill>
                  <a:srgbClr val="0000FF"/>
                </a:solidFill>
              </a:rPr>
              <a:t>methyl/1</a:t>
            </a:r>
            <a:r>
              <a:rPr lang="en-US" altLang="zh-CN" b="1" baseline="30000" dirty="0">
                <a:solidFill>
                  <a:srgbClr val="0000FF"/>
                </a:solidFill>
              </a:rPr>
              <a:t>o</a:t>
            </a:r>
            <a:r>
              <a:rPr lang="en-US" altLang="zh-CN" b="1" dirty="0">
                <a:solidFill>
                  <a:srgbClr val="0000FF"/>
                </a:solidFill>
              </a:rPr>
              <a:t>/2</a:t>
            </a:r>
            <a:r>
              <a:rPr lang="en-US" altLang="zh-CN" b="1" baseline="30000" dirty="0">
                <a:solidFill>
                  <a:srgbClr val="0000FF"/>
                </a:solidFill>
              </a:rPr>
              <a:t>o</a:t>
            </a:r>
            <a:r>
              <a:rPr lang="en-US" altLang="zh-CN" b="1" dirty="0">
                <a:solidFill>
                  <a:srgbClr val="0000FF"/>
                </a:solidFill>
              </a:rPr>
              <a:t>/3</a:t>
            </a:r>
            <a:r>
              <a:rPr lang="en-US" altLang="zh-CN" b="1" baseline="30000" dirty="0">
                <a:solidFill>
                  <a:srgbClr val="0000FF"/>
                </a:solidFill>
              </a:rPr>
              <a:t>o</a:t>
            </a:r>
            <a:r>
              <a:rPr lang="en-US" altLang="zh-CN" b="1" dirty="0">
                <a:solidFill>
                  <a:srgbClr val="0000FF"/>
                </a:solidFill>
              </a:rPr>
              <a:t> alkyl halides, </a:t>
            </a:r>
            <a:r>
              <a:rPr lang="en-US" altLang="zh-CN" b="1" dirty="0"/>
              <a:t>as well as from </a:t>
            </a:r>
            <a:r>
              <a:rPr lang="en-US" altLang="zh-CN" b="1" dirty="0">
                <a:solidFill>
                  <a:srgbClr val="0000FF"/>
                </a:solidFill>
              </a:rPr>
              <a:t>vinyl </a:t>
            </a:r>
            <a:r>
              <a:rPr lang="en-US" altLang="zh-CN" b="1" dirty="0"/>
              <a:t>and</a:t>
            </a:r>
            <a:r>
              <a:rPr lang="en-US" altLang="zh-CN" b="1" dirty="0">
                <a:solidFill>
                  <a:srgbClr val="0000FF"/>
                </a:solidFill>
              </a:rPr>
              <a:t> aryl halides</a:t>
            </a:r>
            <a:r>
              <a:rPr lang="en-US" altLang="zh-CN" b="1" dirty="0"/>
              <a:t>. </a:t>
            </a:r>
            <a:r>
              <a:rPr lang="en-US" altLang="zh-CN" b="1" dirty="0">
                <a:solidFill>
                  <a:srgbClr val="0000FF"/>
                </a:solidFill>
              </a:rPr>
              <a:t>RI</a:t>
            </a:r>
            <a:r>
              <a:rPr lang="en-US" altLang="zh-CN" b="1" dirty="0"/>
              <a:t> are the most reactive halides, followed by </a:t>
            </a:r>
            <a:r>
              <a:rPr lang="en-US" altLang="zh-CN" b="1" dirty="0" err="1">
                <a:solidFill>
                  <a:srgbClr val="0000FF"/>
                </a:solidFill>
              </a:rPr>
              <a:t>RBr</a:t>
            </a:r>
            <a:r>
              <a:rPr lang="en-US" altLang="zh-CN" b="1" dirty="0"/>
              <a:t> and </a:t>
            </a:r>
            <a:r>
              <a:rPr lang="en-US" altLang="zh-CN" b="1" dirty="0" err="1">
                <a:solidFill>
                  <a:srgbClr val="0000FF"/>
                </a:solidFill>
              </a:rPr>
              <a:t>RCl</a:t>
            </a:r>
            <a:r>
              <a:rPr lang="en-US" altLang="zh-CN" b="1" dirty="0"/>
              <a:t>. RF generally do not react.</a:t>
            </a:r>
          </a:p>
        </p:txBody>
      </p:sp>
      <p:sp>
        <p:nvSpPr>
          <p:cNvPr id="6" name="椭圆 5"/>
          <p:cNvSpPr/>
          <p:nvPr/>
        </p:nvSpPr>
        <p:spPr>
          <a:xfrm>
            <a:off x="3358123" y="1296410"/>
            <a:ext cx="313962" cy="504056"/>
          </a:xfrm>
          <a:prstGeom prst="ellipse">
            <a:avLst/>
          </a:prstGeom>
          <a:solidFill>
            <a:srgbClr val="FFFF99"/>
          </a:solidFill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14</a:t>
            </a:fld>
            <a:endParaRPr lang="zh-CN" altLang="en-US"/>
          </a:p>
        </p:txBody>
      </p:sp>
      <p:sp>
        <p:nvSpPr>
          <p:cNvPr id="10" name="TextBox 9"/>
          <p:cNvSpPr txBox="1"/>
          <p:nvPr/>
        </p:nvSpPr>
        <p:spPr>
          <a:xfrm>
            <a:off x="0" y="231032"/>
            <a:ext cx="7790329" cy="46166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CN" sz="2400" b="1" u="sng" dirty="0"/>
              <a:t>8-6-1</a:t>
            </a:r>
            <a:r>
              <a:rPr lang="en-US" altLang="zh-CN" sz="2400" b="1" dirty="0"/>
              <a:t> </a:t>
            </a:r>
            <a:r>
              <a:rPr lang="en-US" altLang="zh-CN" sz="2400" b="1" dirty="0">
                <a:solidFill>
                  <a:srgbClr val="FF0000"/>
                </a:solidFill>
              </a:rPr>
              <a:t>Grignard Reagents</a:t>
            </a:r>
            <a:r>
              <a:rPr lang="en-US" altLang="zh-CN" sz="2400" b="1" dirty="0"/>
              <a:t>: Organomagnesium halides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8220271" y="1296410"/>
            <a:ext cx="37221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b="1" i="1" dirty="0">
                <a:sym typeface="Symbol" panose="05050102010706020507" pitchFamily="18" charset="2"/>
              </a:rPr>
              <a:t></a:t>
            </a:r>
            <a:endParaRPr lang="zh-CN" altLang="en-US" sz="1400" b="1" i="1" dirty="0"/>
          </a:p>
        </p:txBody>
      </p:sp>
      <p:sp>
        <p:nvSpPr>
          <p:cNvPr id="14" name="文本框 13"/>
          <p:cNvSpPr txBox="1"/>
          <p:nvPr/>
        </p:nvSpPr>
        <p:spPr>
          <a:xfrm>
            <a:off x="3358123" y="1296410"/>
            <a:ext cx="3626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b="1" i="1" dirty="0">
                <a:sym typeface="Symbol" panose="05050102010706020507" pitchFamily="18" charset="2"/>
              </a:rPr>
              <a:t></a:t>
            </a:r>
            <a:r>
              <a:rPr lang="en-US" altLang="zh-CN" sz="1400" b="1" dirty="0">
                <a:sym typeface="Symbol" panose="05050102010706020507" pitchFamily="18" charset="2"/>
              </a:rPr>
              <a:t>+</a:t>
            </a:r>
            <a:endParaRPr lang="zh-CN" altLang="en-US" sz="1400" b="1" dirty="0"/>
          </a:p>
        </p:txBody>
      </p:sp>
      <p:graphicFrame>
        <p:nvGraphicFramePr>
          <p:cNvPr id="41997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42729841"/>
              </p:ext>
            </p:extLst>
          </p:nvPr>
        </p:nvGraphicFramePr>
        <p:xfrm>
          <a:off x="2856627" y="1380335"/>
          <a:ext cx="7428712" cy="1044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674" name="CS ChemDraw Drawing" r:id="rId3" imgW="4141703" imgH="583326" progId="ChemDraw.Document.6.0">
                  <p:embed/>
                </p:oleObj>
              </mc:Choice>
              <mc:Fallback>
                <p:oleObj name="CS ChemDraw Drawing" r:id="rId3" imgW="4141703" imgH="583326" progId="ChemDraw.Document.6.0">
                  <p:embed/>
                  <p:pic>
                    <p:nvPicPr>
                      <p:cNvPr id="41997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56627" y="1380335"/>
                        <a:ext cx="7428712" cy="1044975"/>
                      </a:xfrm>
                      <a:prstGeom prst="rect">
                        <a:avLst/>
                      </a:prstGeom>
                      <a:noFill/>
                      <a:ln w="28575">
                        <a:solidFill>
                          <a:schemeClr val="bg1">
                            <a:lumMod val="85000"/>
                          </a:schemeClr>
                        </a:solidFill>
                        <a:miter lim="800000"/>
                        <a:headEnd/>
                        <a:tailEnd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40862431"/>
              </p:ext>
            </p:extLst>
          </p:nvPr>
        </p:nvGraphicFramePr>
        <p:xfrm>
          <a:off x="2423882" y="4125574"/>
          <a:ext cx="6826666" cy="788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675" name="CS ChemDraw Drawing" r:id="rId5" imgW="4426998" imgH="510584" progId="ChemDraw.Document.6.0">
                  <p:embed/>
                </p:oleObj>
              </mc:Choice>
              <mc:Fallback>
                <p:oleObj name="CS ChemDraw Drawing" r:id="rId5" imgW="4426998" imgH="510584" progId="ChemDraw.Document.6.0">
                  <p:embed/>
                  <p:pic>
                    <p:nvPicPr>
                      <p:cNvPr id="7" name="对象 6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423882" y="4125574"/>
                        <a:ext cx="6826666" cy="7881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23055126"/>
              </p:ext>
            </p:extLst>
          </p:nvPr>
        </p:nvGraphicFramePr>
        <p:xfrm>
          <a:off x="2423882" y="5057216"/>
          <a:ext cx="7789739" cy="15389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676" name="CS ChemDraw Drawing" r:id="rId7" imgW="5737737" imgH="1133354" progId="ChemDraw.Document.6.0">
                  <p:embed/>
                </p:oleObj>
              </mc:Choice>
              <mc:Fallback>
                <p:oleObj name="CS ChemDraw Drawing" r:id="rId7" imgW="5737737" imgH="1133354" progId="ChemDraw.Document.6.0">
                  <p:embed/>
                  <p:pic>
                    <p:nvPicPr>
                      <p:cNvPr id="8" name="对象 7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423882" y="5057216"/>
                        <a:ext cx="7789739" cy="153898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圆角矩形 10"/>
          <p:cNvSpPr/>
          <p:nvPr/>
        </p:nvSpPr>
        <p:spPr>
          <a:xfrm>
            <a:off x="2855930" y="4193120"/>
            <a:ext cx="658477" cy="432048"/>
          </a:xfrm>
          <a:prstGeom prst="roundRect">
            <a:avLst/>
          </a:prstGeom>
          <a:noFill/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圆角矩形 20"/>
          <p:cNvSpPr/>
          <p:nvPr/>
        </p:nvSpPr>
        <p:spPr>
          <a:xfrm>
            <a:off x="2279867" y="4985140"/>
            <a:ext cx="1152128" cy="648139"/>
          </a:xfrm>
          <a:prstGeom prst="roundRect">
            <a:avLst/>
          </a:prstGeom>
          <a:noFill/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圆角矩形 21"/>
          <p:cNvSpPr/>
          <p:nvPr/>
        </p:nvSpPr>
        <p:spPr>
          <a:xfrm>
            <a:off x="6096290" y="5174531"/>
            <a:ext cx="1440160" cy="314734"/>
          </a:xfrm>
          <a:prstGeom prst="roundRect">
            <a:avLst/>
          </a:prstGeom>
          <a:noFill/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圆角矩形 22"/>
          <p:cNvSpPr/>
          <p:nvPr/>
        </p:nvSpPr>
        <p:spPr>
          <a:xfrm>
            <a:off x="2279866" y="5957369"/>
            <a:ext cx="792087" cy="547481"/>
          </a:xfrm>
          <a:prstGeom prst="roundRect">
            <a:avLst/>
          </a:prstGeom>
          <a:noFill/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圆角矩形 23"/>
          <p:cNvSpPr/>
          <p:nvPr/>
        </p:nvSpPr>
        <p:spPr>
          <a:xfrm>
            <a:off x="5837215" y="5878520"/>
            <a:ext cx="1004810" cy="717676"/>
          </a:xfrm>
          <a:prstGeom prst="roundRect">
            <a:avLst/>
          </a:prstGeom>
          <a:noFill/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横卷形 9"/>
          <p:cNvSpPr/>
          <p:nvPr/>
        </p:nvSpPr>
        <p:spPr>
          <a:xfrm>
            <a:off x="2141668" y="4365104"/>
            <a:ext cx="6690636" cy="864096"/>
          </a:xfrm>
          <a:prstGeom prst="horizontalScroll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椭圆 3"/>
          <p:cNvSpPr/>
          <p:nvPr/>
        </p:nvSpPr>
        <p:spPr>
          <a:xfrm>
            <a:off x="4223792" y="511080"/>
            <a:ext cx="504056" cy="757679"/>
          </a:xfrm>
          <a:prstGeom prst="ellipse">
            <a:avLst/>
          </a:prstGeom>
          <a:solidFill>
            <a:srgbClr val="FFFF99"/>
          </a:solidFill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15</a:t>
            </a:fld>
            <a:endParaRPr lang="zh-CN" altLang="en-US"/>
          </a:p>
        </p:txBody>
      </p:sp>
      <p:sp>
        <p:nvSpPr>
          <p:cNvPr id="9" name="TextBox 8"/>
          <p:cNvSpPr txBox="1"/>
          <p:nvPr/>
        </p:nvSpPr>
        <p:spPr>
          <a:xfrm>
            <a:off x="479376" y="1483073"/>
            <a:ext cx="1092473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b="1" dirty="0"/>
              <a:t>Grignard reagents are used as powerful carbon nucleophiles, resembling carbanions.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CN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b="1" dirty="0"/>
              <a:t>Though Grignard reagents are </a:t>
            </a:r>
            <a:r>
              <a:rPr lang="en-US" altLang="zh-CN" b="1" i="1" dirty="0"/>
              <a:t>also strong  bases</a:t>
            </a:r>
            <a:r>
              <a:rPr lang="en-US" altLang="zh-CN" b="1" dirty="0"/>
              <a:t>, </a:t>
            </a:r>
            <a:r>
              <a:rPr lang="en-US" altLang="zh-CN" b="1" i="1" dirty="0">
                <a:solidFill>
                  <a:srgbClr val="FF0000"/>
                </a:solidFill>
              </a:rPr>
              <a:t>we do not tend to use them as bases</a:t>
            </a:r>
            <a:r>
              <a:rPr lang="en-US" altLang="zh-CN" b="1" dirty="0"/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41880" y="4485629"/>
            <a:ext cx="658207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latin typeface="Consolas" panose="020B0609020204030204" pitchFamily="49" charset="0"/>
              </a:rPr>
              <a:t>Normally, we do not like this reaction! We try to avoid it because this reaction destroys the Grignard reagents.</a:t>
            </a:r>
            <a:endParaRPr lang="zh-CN" altLang="en-US" sz="1600" b="1" dirty="0">
              <a:latin typeface="Consolas" panose="020B0609020204030204" pitchFamily="49" charset="0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/>
        </p:nvGraphicFramePr>
        <p:xfrm>
          <a:off x="4367808" y="511081"/>
          <a:ext cx="1265109" cy="72336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594" name="CS ChemDraw Drawing" r:id="rId3" imgW="641560" imgH="367081" progId="ChemDraw.Document.6.0">
                  <p:embed/>
                </p:oleObj>
              </mc:Choice>
              <mc:Fallback>
                <p:oleObj name="CS ChemDraw Drawing" r:id="rId3" imgW="641560" imgH="367081" progId="ChemDraw.Document.6.0">
                  <p:embed/>
                  <p:pic>
                    <p:nvPicPr>
                      <p:cNvPr id="3" name="对象 2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367808" y="511081"/>
                        <a:ext cx="1265109" cy="72336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2141668" y="2852936"/>
          <a:ext cx="6953198" cy="122413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595" name="CS ChemDraw Drawing" r:id="rId5" imgW="4030857" imgH="709981" progId="ChemDraw.Document.6.0">
                  <p:embed/>
                </p:oleObj>
              </mc:Choice>
              <mc:Fallback>
                <p:oleObj name="CS ChemDraw Drawing" r:id="rId5" imgW="4030857" imgH="709981" progId="ChemDraw.Document.6.0">
                  <p:embed/>
                  <p:pic>
                    <p:nvPicPr>
                      <p:cNvPr id="5" name="对象 4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141668" y="2852936"/>
                        <a:ext cx="6953198" cy="122413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16</a:t>
            </a:fld>
            <a:endParaRPr lang="zh-CN" altLang="en-US"/>
          </a:p>
        </p:txBody>
      </p:sp>
      <p:sp>
        <p:nvSpPr>
          <p:cNvPr id="3" name="TextBox 2"/>
          <p:cNvSpPr txBox="1"/>
          <p:nvPr/>
        </p:nvSpPr>
        <p:spPr>
          <a:xfrm>
            <a:off x="0" y="238206"/>
            <a:ext cx="4504759" cy="46166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altLang="zh-CN" sz="2400" b="1" u="sng" dirty="0"/>
              <a:t>8-6-2</a:t>
            </a:r>
            <a:r>
              <a:rPr lang="en-US" altLang="zh-CN" sz="2400" b="1" dirty="0"/>
              <a:t> Organolithium Reagents</a:t>
            </a:r>
            <a:endParaRPr lang="zh-CN" altLang="en-US" sz="2400" b="1" dirty="0"/>
          </a:p>
        </p:txBody>
      </p:sp>
      <p:sp>
        <p:nvSpPr>
          <p:cNvPr id="4" name="文本框 3"/>
          <p:cNvSpPr txBox="1"/>
          <p:nvPr/>
        </p:nvSpPr>
        <p:spPr>
          <a:xfrm>
            <a:off x="318011" y="784128"/>
            <a:ext cx="114257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b="1" dirty="0"/>
              <a:t>Like magnesium, lithium reacts with alkyl halides, vinyl halides, and aryl halides to form organolithium reagents.</a:t>
            </a:r>
            <a:endParaRPr lang="zh-CN" altLang="en-US" b="1" dirty="0"/>
          </a:p>
        </p:txBody>
      </p:sp>
      <p:sp>
        <p:nvSpPr>
          <p:cNvPr id="5" name="矩形 4"/>
          <p:cNvSpPr/>
          <p:nvPr/>
        </p:nvSpPr>
        <p:spPr>
          <a:xfrm>
            <a:off x="479376" y="6169580"/>
            <a:ext cx="708399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b="1" dirty="0"/>
              <a:t>Organolithium reagents are also powerful carbon nucleophiles.</a:t>
            </a:r>
            <a:endParaRPr lang="zh-CN" altLang="en-US" b="1" dirty="0"/>
          </a:p>
        </p:txBody>
      </p:sp>
      <p:graphicFrame>
        <p:nvGraphicFramePr>
          <p:cNvPr id="7" name="对象 6"/>
          <p:cNvGraphicFramePr>
            <a:graphicFrameLocks noChangeAspect="1"/>
          </p:cNvGraphicFramePr>
          <p:nvPr/>
        </p:nvGraphicFramePr>
        <p:xfrm>
          <a:off x="2279576" y="1738995"/>
          <a:ext cx="7543346" cy="98205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620" name="CS ChemDraw Drawing" r:id="rId3" imgW="4475529" imgH="581939" progId="ChemDraw.Document.6.0">
                  <p:embed/>
                </p:oleObj>
              </mc:Choice>
              <mc:Fallback>
                <p:oleObj name="CS ChemDraw Drawing" r:id="rId3" imgW="4475529" imgH="581939" progId="ChemDraw.Document.6.0">
                  <p:embed/>
                  <p:pic>
                    <p:nvPicPr>
                      <p:cNvPr id="7" name="对象 6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279576" y="1738995"/>
                        <a:ext cx="7543346" cy="982054"/>
                      </a:xfrm>
                      <a:prstGeom prst="rect">
                        <a:avLst/>
                      </a:prstGeom>
                      <a:ln w="28575">
                        <a:solidFill>
                          <a:schemeClr val="bg1">
                            <a:lumMod val="85000"/>
                          </a:schemeClr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/>
        </p:nvGraphicFramePr>
        <p:xfrm>
          <a:off x="3575720" y="2924944"/>
          <a:ext cx="4753814" cy="297539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621" name="CS ChemDraw Drawing" r:id="rId5" imgW="3322221" imgH="2079996" progId="ChemDraw.Document.6.0">
                  <p:embed/>
                </p:oleObj>
              </mc:Choice>
              <mc:Fallback>
                <p:oleObj name="CS ChemDraw Drawing" r:id="rId5" imgW="3322221" imgH="2079996" progId="ChemDraw.Document.6.0">
                  <p:embed/>
                  <p:pic>
                    <p:nvPicPr>
                      <p:cNvPr id="6" name="对象 5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575720" y="2924944"/>
                        <a:ext cx="4753814" cy="297539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椭圆 6"/>
          <p:cNvSpPr/>
          <p:nvPr/>
        </p:nvSpPr>
        <p:spPr>
          <a:xfrm>
            <a:off x="8112224" y="188639"/>
            <a:ext cx="3024336" cy="1364111"/>
          </a:xfrm>
          <a:prstGeom prst="ellipse">
            <a:avLst/>
          </a:prstGeom>
          <a:solidFill>
            <a:srgbClr val="FFFF99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TextBox 3"/>
          <p:cNvSpPr txBox="1"/>
          <p:nvPr/>
        </p:nvSpPr>
        <p:spPr>
          <a:xfrm>
            <a:off x="292157" y="744072"/>
            <a:ext cx="1143548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b="1" dirty="0"/>
              <a:t>Grignard reagents are </a:t>
            </a:r>
            <a:r>
              <a:rPr lang="en-US" altLang="zh-CN" b="1" dirty="0">
                <a:solidFill>
                  <a:srgbClr val="FF0000"/>
                </a:solidFill>
              </a:rPr>
              <a:t>strong nucleophiles </a:t>
            </a:r>
            <a:r>
              <a:rPr lang="en-US" altLang="zh-CN" b="1" dirty="0"/>
              <a:t>resembling </a:t>
            </a:r>
            <a:r>
              <a:rPr lang="en-US" altLang="zh-CN" b="1" dirty="0">
                <a:solidFill>
                  <a:srgbClr val="FF0000"/>
                </a:solidFill>
              </a:rPr>
              <a:t>carbanions</a:t>
            </a:r>
            <a:r>
              <a:rPr lang="en-US" altLang="zh-CN" b="1" dirty="0"/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CN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b="1" dirty="0"/>
              <a:t>Grignard reagents undergo </a:t>
            </a:r>
            <a:r>
              <a:rPr lang="en-US" altLang="zh-CN" b="1" dirty="0">
                <a:solidFill>
                  <a:srgbClr val="FF00FF"/>
                </a:solidFill>
              </a:rPr>
              <a:t>nucleophilic additions</a:t>
            </a:r>
            <a:r>
              <a:rPr lang="en-US" altLang="zh-CN" b="1" dirty="0"/>
              <a:t> to </a:t>
            </a:r>
            <a:r>
              <a:rPr lang="en-US" altLang="zh-CN" b="1" dirty="0">
                <a:solidFill>
                  <a:srgbClr val="0000FF"/>
                </a:solidFill>
              </a:rPr>
              <a:t>aldehydes and ketones</a:t>
            </a:r>
            <a:r>
              <a:rPr lang="en-US" altLang="zh-CN" b="1" dirty="0"/>
              <a:t>, as well as </a:t>
            </a:r>
            <a:r>
              <a:rPr lang="en-US" altLang="zh-CN" b="1" dirty="0" err="1">
                <a:solidFill>
                  <a:srgbClr val="0000FF"/>
                </a:solidFill>
              </a:rPr>
              <a:t>oxiranes</a:t>
            </a:r>
            <a:r>
              <a:rPr lang="en-US" altLang="zh-CN" b="1" dirty="0"/>
              <a:t>, providing a versatile synthetic method for alcohols.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17</a:t>
            </a:fld>
            <a:endParaRPr lang="zh-CN" altLang="en-US"/>
          </a:p>
        </p:txBody>
      </p:sp>
      <p:sp>
        <p:nvSpPr>
          <p:cNvPr id="3" name="TextBox 2"/>
          <p:cNvSpPr txBox="1"/>
          <p:nvPr/>
        </p:nvSpPr>
        <p:spPr>
          <a:xfrm>
            <a:off x="-1795" y="2073484"/>
            <a:ext cx="11727637" cy="40011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CN" sz="2000" b="1" u="sng" dirty="0"/>
              <a:t>8-7-1</a:t>
            </a:r>
            <a:r>
              <a:rPr lang="en-US" altLang="zh-CN" sz="2000" b="1" dirty="0">
                <a:solidFill>
                  <a:srgbClr val="C00000"/>
                </a:solidFill>
              </a:rPr>
              <a:t> </a:t>
            </a:r>
            <a:r>
              <a:rPr lang="en-US" altLang="zh-CN" sz="2000" b="1" dirty="0">
                <a:solidFill>
                  <a:srgbClr val="FF0000"/>
                </a:solidFill>
              </a:rPr>
              <a:t>Nucleophilic Addition </a:t>
            </a:r>
            <a:r>
              <a:rPr lang="en-US" altLang="zh-CN" sz="2000" b="1" dirty="0"/>
              <a:t>of Organometallic Reagents to </a:t>
            </a:r>
            <a:r>
              <a:rPr lang="en-US" altLang="zh-CN" sz="2000" b="1" dirty="0">
                <a:solidFill>
                  <a:srgbClr val="0000FF"/>
                </a:solidFill>
              </a:rPr>
              <a:t>Aldehydes and ketones</a:t>
            </a:r>
            <a:endParaRPr lang="zh-CN" altLang="en-US" sz="2000" b="1" dirty="0">
              <a:solidFill>
                <a:srgbClr val="0000FF"/>
              </a:solidFill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204399"/>
            <a:ext cx="7273145" cy="46166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none">
            <a:spAutoFit/>
          </a:bodyPr>
          <a:lstStyle/>
          <a:p>
            <a:r>
              <a:rPr lang="en-US" altLang="zh-CN" sz="2400" b="1" u="sng" dirty="0"/>
              <a:t>8-7</a:t>
            </a:r>
            <a:r>
              <a:rPr lang="en-US" altLang="zh-CN" sz="2400" b="1" dirty="0"/>
              <a:t> </a:t>
            </a:r>
            <a:r>
              <a:rPr lang="en-US" altLang="zh-CN" sz="2400" b="1" dirty="0">
                <a:solidFill>
                  <a:srgbClr val="0000FF"/>
                </a:solidFill>
              </a:rPr>
              <a:t>Synthesis</a:t>
            </a:r>
            <a:r>
              <a:rPr lang="en-US" altLang="zh-CN" sz="2400" b="1" dirty="0"/>
              <a:t> of Alcohols by </a:t>
            </a:r>
            <a:r>
              <a:rPr lang="en-US" altLang="zh-CN" sz="2400" b="1" dirty="0">
                <a:solidFill>
                  <a:srgbClr val="FF0000"/>
                </a:solidFill>
              </a:rPr>
              <a:t>Nucleophilic Addition</a:t>
            </a:r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/>
        </p:nvGraphicFramePr>
        <p:xfrm>
          <a:off x="8328248" y="430092"/>
          <a:ext cx="2513618" cy="98117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897" name="CS ChemDraw Drawing" r:id="rId3" imgW="1578647" imgH="615634" progId="ChemDraw.Document.6.0">
                  <p:embed/>
                </p:oleObj>
              </mc:Choice>
              <mc:Fallback>
                <p:oleObj name="CS ChemDraw Drawing" r:id="rId3" imgW="1578647" imgH="615634" progId="ChemDraw.Document.6.0">
                  <p:embed/>
                  <p:pic>
                    <p:nvPicPr>
                      <p:cNvPr id="6" name="对象 5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8328248" y="430092"/>
                        <a:ext cx="2513618" cy="98117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文本框 8"/>
          <p:cNvSpPr txBox="1"/>
          <p:nvPr/>
        </p:nvSpPr>
        <p:spPr>
          <a:xfrm>
            <a:off x="-1795" y="2611871"/>
            <a:ext cx="7439857" cy="40011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altLang="zh-CN" sz="2000" b="1" dirty="0"/>
              <a:t>1. The structure of </a:t>
            </a:r>
            <a:r>
              <a:rPr lang="en-US" altLang="zh-CN" sz="2000" b="1" dirty="0">
                <a:solidFill>
                  <a:srgbClr val="0000FF"/>
                </a:solidFill>
              </a:rPr>
              <a:t>carbonyl group</a:t>
            </a:r>
            <a:r>
              <a:rPr lang="en-US" altLang="zh-CN" sz="2000" b="1" dirty="0"/>
              <a:t> and </a:t>
            </a:r>
            <a:r>
              <a:rPr lang="en-US" altLang="zh-CN" sz="2000" b="1" dirty="0">
                <a:solidFill>
                  <a:srgbClr val="0000FF"/>
                </a:solidFill>
              </a:rPr>
              <a:t>aldehydes and ketones</a:t>
            </a:r>
            <a:endParaRPr lang="zh-CN" altLang="en-US" sz="2000" b="1" dirty="0">
              <a:solidFill>
                <a:srgbClr val="0000FF"/>
              </a:solidFill>
            </a:endParaRPr>
          </a:p>
        </p:txBody>
      </p:sp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66546770"/>
              </p:ext>
            </p:extLst>
          </p:nvPr>
        </p:nvGraphicFramePr>
        <p:xfrm>
          <a:off x="394266" y="3232838"/>
          <a:ext cx="2223884" cy="155898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898" name="CS ChemDraw Drawing" r:id="rId5" imgW="1248003" imgH="874891" progId="ChemDraw.Document.6.0">
                  <p:embed/>
                </p:oleObj>
              </mc:Choice>
              <mc:Fallback>
                <p:oleObj name="CS ChemDraw Drawing" r:id="rId5" imgW="1248003" imgH="874891" progId="ChemDraw.Document.6.0">
                  <p:embed/>
                  <p:pic>
                    <p:nvPicPr>
                      <p:cNvPr id="10" name="对象 9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94266" y="3232838"/>
                        <a:ext cx="2223884" cy="155898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文本框 10"/>
          <p:cNvSpPr txBox="1"/>
          <p:nvPr/>
        </p:nvSpPr>
        <p:spPr>
          <a:xfrm>
            <a:off x="2882244" y="3232838"/>
            <a:ext cx="856792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b="1" dirty="0"/>
              <a:t>The carbonyl group is a C=O double bond.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b="1" dirty="0"/>
              <a:t>The C=O group consists of a </a:t>
            </a:r>
            <a:r>
              <a:rPr lang="en-US" altLang="zh-CN" b="1" dirty="0">
                <a:sym typeface="Symbol"/>
              </a:rPr>
              <a:t></a:t>
            </a:r>
            <a:r>
              <a:rPr lang="en-US" altLang="zh-CN" b="1" dirty="0"/>
              <a:t> bond (strong) and </a:t>
            </a:r>
            <a:r>
              <a:rPr lang="en-US" altLang="zh-CN" b="1" i="1" dirty="0"/>
              <a:t>a </a:t>
            </a:r>
            <a:r>
              <a:rPr lang="en-US" altLang="zh-CN" b="1" i="1" dirty="0">
                <a:sym typeface="Symbol"/>
              </a:rPr>
              <a:t> bond </a:t>
            </a:r>
            <a:r>
              <a:rPr lang="en-US" altLang="zh-CN" b="1" dirty="0">
                <a:sym typeface="Symbol"/>
              </a:rPr>
              <a:t>(relatively weak).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b="1" dirty="0">
                <a:sym typeface="Symbol"/>
              </a:rPr>
              <a:t>It is polarized, with </a:t>
            </a:r>
            <a:r>
              <a:rPr lang="en-US" altLang="zh-CN" b="1" i="1" dirty="0">
                <a:sym typeface="Symbol"/>
              </a:rPr>
              <a:t>the oxygen having a partial negative charge</a:t>
            </a:r>
            <a:r>
              <a:rPr lang="en-US" altLang="zh-CN" b="1" dirty="0">
                <a:sym typeface="Symbol"/>
              </a:rPr>
              <a:t> and </a:t>
            </a:r>
            <a:r>
              <a:rPr lang="en-US" altLang="zh-CN" b="1" dirty="0">
                <a:solidFill>
                  <a:srgbClr val="0000FF"/>
                </a:solidFill>
                <a:sym typeface="Symbol"/>
              </a:rPr>
              <a:t>the carbon atom having a partial positive charge </a:t>
            </a:r>
            <a:r>
              <a:rPr lang="en-US" altLang="zh-CN" b="1" dirty="0">
                <a:sym typeface="Symbol"/>
              </a:rPr>
              <a:t>(</a:t>
            </a:r>
            <a:r>
              <a:rPr lang="en-US" altLang="zh-CN" b="1" i="1" dirty="0">
                <a:solidFill>
                  <a:srgbClr val="0000FF"/>
                </a:solidFill>
                <a:sym typeface="Symbol"/>
              </a:rPr>
              <a:t>electrophilic carbon</a:t>
            </a:r>
            <a:r>
              <a:rPr lang="en-US" altLang="zh-CN" b="1" dirty="0">
                <a:sym typeface="Symbol"/>
              </a:rPr>
              <a:t>).</a:t>
            </a:r>
            <a:endParaRPr lang="en-US" altLang="zh-CN" b="1" dirty="0"/>
          </a:p>
        </p:txBody>
      </p:sp>
      <p:sp>
        <p:nvSpPr>
          <p:cNvPr id="13" name="椭圆 12"/>
          <p:cNvSpPr/>
          <p:nvPr/>
        </p:nvSpPr>
        <p:spPr>
          <a:xfrm>
            <a:off x="3598353" y="5405380"/>
            <a:ext cx="648072" cy="503632"/>
          </a:xfrm>
          <a:prstGeom prst="ellipse">
            <a:avLst/>
          </a:prstGeom>
          <a:noFill/>
          <a:ln>
            <a:solidFill>
              <a:srgbClr val="00B05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18" name="对象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42827516"/>
              </p:ext>
            </p:extLst>
          </p:nvPr>
        </p:nvGraphicFramePr>
        <p:xfrm>
          <a:off x="3598353" y="5225980"/>
          <a:ext cx="1443027" cy="11303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899" name="CS ChemDraw Drawing" r:id="rId7" imgW="667206" imgH="522477" progId="ChemDraw.Document.6.0">
                  <p:embed/>
                </p:oleObj>
              </mc:Choice>
              <mc:Fallback>
                <p:oleObj name="CS ChemDraw Drawing" r:id="rId7" imgW="667206" imgH="522477" progId="ChemDraw.Document.6.0">
                  <p:embed/>
                  <p:pic>
                    <p:nvPicPr>
                      <p:cNvPr id="18" name="对象 17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598353" y="5225980"/>
                        <a:ext cx="1443027" cy="113037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文本框 18"/>
          <p:cNvSpPr txBox="1"/>
          <p:nvPr/>
        </p:nvSpPr>
        <p:spPr>
          <a:xfrm>
            <a:off x="709340" y="5497164"/>
            <a:ext cx="27174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rgbClr val="00B050"/>
                </a:solidFill>
                <a:latin typeface="Consolas" panose="020B0609020204030204" pitchFamily="49" charset="0"/>
              </a:rPr>
              <a:t>Electrophilic carbon</a:t>
            </a:r>
            <a:endParaRPr lang="zh-CN" altLang="en-US" b="1" dirty="0">
              <a:solidFill>
                <a:srgbClr val="00B050"/>
              </a:solidFill>
              <a:latin typeface="Consolas" panose="020B0609020204030204" pitchFamily="49" charset="0"/>
            </a:endParaRPr>
          </a:p>
        </p:txBody>
      </p:sp>
      <p:graphicFrame>
        <p:nvGraphicFramePr>
          <p:cNvPr id="20" name="对象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8034719"/>
              </p:ext>
            </p:extLst>
          </p:nvPr>
        </p:nvGraphicFramePr>
        <p:xfrm>
          <a:off x="5804200" y="4898148"/>
          <a:ext cx="2937890" cy="159004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900" name="CS ChemDraw Drawing" r:id="rId9" imgW="1771983" imgH="958138" progId="ChemDraw.Document.6.0">
                  <p:embed/>
                </p:oleObj>
              </mc:Choice>
              <mc:Fallback>
                <p:oleObj name="CS ChemDraw Drawing" r:id="rId9" imgW="1771983" imgH="958138" progId="ChemDraw.Document.6.0">
                  <p:embed/>
                  <p:pic>
                    <p:nvPicPr>
                      <p:cNvPr id="20" name="对象 19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5804200" y="4898148"/>
                        <a:ext cx="2937890" cy="1590041"/>
                      </a:xfrm>
                      <a:prstGeom prst="rect">
                        <a:avLst/>
                      </a:prstGeom>
                      <a:ln>
                        <a:solidFill>
                          <a:schemeClr val="bg1">
                            <a:lumMod val="75000"/>
                          </a:schemeClr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横卷形 19"/>
          <p:cNvSpPr/>
          <p:nvPr/>
        </p:nvSpPr>
        <p:spPr>
          <a:xfrm>
            <a:off x="6717177" y="1925339"/>
            <a:ext cx="4255454" cy="886910"/>
          </a:xfrm>
          <a:prstGeom prst="horizontalScroll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18</a:t>
            </a:fld>
            <a:endParaRPr lang="zh-CN" altLang="en-US"/>
          </a:p>
        </p:txBody>
      </p:sp>
      <p:sp>
        <p:nvSpPr>
          <p:cNvPr id="12" name="TextBox 11"/>
          <p:cNvSpPr txBox="1"/>
          <p:nvPr/>
        </p:nvSpPr>
        <p:spPr>
          <a:xfrm>
            <a:off x="255767" y="647945"/>
            <a:ext cx="11616162" cy="1200329"/>
          </a:xfrm>
          <a:prstGeom prst="rect">
            <a:avLst/>
          </a:prstGeom>
          <a:noFill/>
          <a:ln w="57150">
            <a:noFill/>
          </a:ln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b="1" dirty="0">
                <a:solidFill>
                  <a:srgbClr val="FF0000"/>
                </a:solidFill>
              </a:rPr>
              <a:t>Grignard reagents</a:t>
            </a:r>
            <a:r>
              <a:rPr lang="en-US" altLang="zh-CN" b="1" dirty="0"/>
              <a:t> (and organolithium reagents) are strong nucleophiles, resembling carbanions.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b="1" dirty="0">
                <a:solidFill>
                  <a:srgbClr val="0000FF"/>
                </a:solidFill>
              </a:rPr>
              <a:t>Aldehydes and ketones </a:t>
            </a:r>
            <a:r>
              <a:rPr lang="en-US" altLang="zh-CN" b="1" dirty="0"/>
              <a:t>have carbonyl groups with electrophilic carbonyl carbon atoms.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b="1" dirty="0">
                <a:solidFill>
                  <a:srgbClr val="FF00FF"/>
                </a:solidFill>
              </a:rPr>
              <a:t>Nucleophilic Addition</a:t>
            </a:r>
            <a:r>
              <a:rPr lang="en-US" altLang="zh-CN" b="1" dirty="0"/>
              <a:t> occurs between the </a:t>
            </a:r>
            <a:r>
              <a:rPr lang="en-US" altLang="zh-CN" b="1" dirty="0">
                <a:solidFill>
                  <a:srgbClr val="0000FF"/>
                </a:solidFill>
              </a:rPr>
              <a:t>carbonyl carbon</a:t>
            </a:r>
            <a:r>
              <a:rPr lang="en-US" altLang="zh-CN" b="1" i="1" dirty="0">
                <a:solidFill>
                  <a:srgbClr val="0000FF"/>
                </a:solidFill>
              </a:rPr>
              <a:t> </a:t>
            </a:r>
            <a:r>
              <a:rPr lang="en-US" altLang="zh-CN" b="1" dirty="0">
                <a:solidFill>
                  <a:srgbClr val="0000FF"/>
                </a:solidFill>
              </a:rPr>
              <a:t>C</a:t>
            </a:r>
            <a:r>
              <a:rPr lang="en-US" altLang="zh-CN" b="1" baseline="30000" dirty="0">
                <a:solidFill>
                  <a:srgbClr val="0000FF"/>
                </a:solidFill>
                <a:sym typeface="Symbol"/>
              </a:rPr>
              <a:t>+</a:t>
            </a:r>
            <a:r>
              <a:rPr lang="en-US" altLang="zh-CN" b="1" dirty="0"/>
              <a:t> and </a:t>
            </a:r>
            <a:r>
              <a:rPr lang="en-US" altLang="zh-CN" b="1" dirty="0">
                <a:solidFill>
                  <a:srgbClr val="FF0000"/>
                </a:solidFill>
              </a:rPr>
              <a:t>the carbanion-like C</a:t>
            </a:r>
            <a:r>
              <a:rPr lang="en-US" altLang="zh-CN" b="1" baseline="30000" dirty="0">
                <a:solidFill>
                  <a:srgbClr val="FF0000"/>
                </a:solidFill>
                <a:sym typeface="Symbol"/>
              </a:rPr>
              <a:t>- </a:t>
            </a:r>
            <a:r>
              <a:rPr lang="en-US" altLang="zh-CN" b="1" dirty="0">
                <a:sym typeface="Symbol"/>
              </a:rPr>
              <a:t>of the </a:t>
            </a:r>
            <a:r>
              <a:rPr lang="en-US" altLang="zh-CN" b="1" dirty="0"/>
              <a:t>Grignard Reagent.</a:t>
            </a:r>
            <a:endParaRPr lang="zh-CN" altLang="en-US" b="1" dirty="0"/>
          </a:p>
        </p:txBody>
      </p:sp>
      <p:sp>
        <p:nvSpPr>
          <p:cNvPr id="11" name="文本框 10"/>
          <p:cNvSpPr txBox="1"/>
          <p:nvPr/>
        </p:nvSpPr>
        <p:spPr>
          <a:xfrm>
            <a:off x="0" y="221348"/>
            <a:ext cx="2989921" cy="40011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altLang="zh-CN" sz="2000" b="1" dirty="0"/>
              <a:t>2. Nucleophilic Addition</a:t>
            </a:r>
            <a:endParaRPr lang="zh-CN" altLang="en-US" sz="2000" b="1" dirty="0">
              <a:solidFill>
                <a:srgbClr val="0000FF"/>
              </a:solidFill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34006609"/>
              </p:ext>
            </p:extLst>
          </p:nvPr>
        </p:nvGraphicFramePr>
        <p:xfrm>
          <a:off x="1460593" y="2977357"/>
          <a:ext cx="8608240" cy="132653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62" name="CS ChemDraw Drawing" r:id="rId3" imgW="5285173" imgH="813842" progId="ChemDraw.Document.6.0">
                  <p:embed/>
                </p:oleObj>
              </mc:Choice>
              <mc:Fallback>
                <p:oleObj name="CS ChemDraw Drawing" r:id="rId3" imgW="5285173" imgH="813842" progId="ChemDraw.Document.6.0">
                  <p:embed/>
                  <p:pic>
                    <p:nvPicPr>
                      <p:cNvPr id="3" name="对象 2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460593" y="2977357"/>
                        <a:ext cx="8608240" cy="1326532"/>
                      </a:xfrm>
                      <a:prstGeom prst="rect">
                        <a:avLst/>
                      </a:prstGeom>
                      <a:ln w="28575">
                        <a:solidFill>
                          <a:schemeClr val="bg1">
                            <a:lumMod val="75000"/>
                          </a:schemeClr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椭圆 4"/>
          <p:cNvSpPr/>
          <p:nvPr/>
        </p:nvSpPr>
        <p:spPr>
          <a:xfrm>
            <a:off x="1964649" y="2279409"/>
            <a:ext cx="3312368" cy="556978"/>
          </a:xfrm>
          <a:prstGeom prst="ellipse">
            <a:avLst/>
          </a:prstGeom>
          <a:solidFill>
            <a:srgbClr val="FFFF99"/>
          </a:solidFill>
          <a:ln>
            <a:solidFill>
              <a:srgbClr val="FF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2280612" y="2387389"/>
            <a:ext cx="28440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rgbClr val="FF00FF"/>
                </a:solidFill>
                <a:latin typeface="Consolas" panose="020B0609020204030204" pitchFamily="49" charset="0"/>
              </a:rPr>
              <a:t>Nucleophilic Addition</a:t>
            </a:r>
            <a:endParaRPr lang="zh-CN" altLang="en-US" b="1" dirty="0">
              <a:solidFill>
                <a:srgbClr val="FF00FF"/>
              </a:solidFill>
              <a:latin typeface="Consolas" panose="020B0609020204030204" pitchFamily="49" charset="0"/>
            </a:endParaRPr>
          </a:p>
        </p:txBody>
      </p:sp>
      <p:cxnSp>
        <p:nvCxnSpPr>
          <p:cNvPr id="7" name="直接箭头连接符 6"/>
          <p:cNvCxnSpPr/>
          <p:nvPr/>
        </p:nvCxnSpPr>
        <p:spPr>
          <a:xfrm flipH="1" flipV="1">
            <a:off x="7221233" y="3459085"/>
            <a:ext cx="432048" cy="629517"/>
          </a:xfrm>
          <a:prstGeom prst="straightConnector1">
            <a:avLst/>
          </a:prstGeom>
          <a:ln w="28575">
            <a:solidFill>
              <a:srgbClr val="FF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椭圆 13"/>
          <p:cNvSpPr/>
          <p:nvPr/>
        </p:nvSpPr>
        <p:spPr>
          <a:xfrm>
            <a:off x="2496636" y="3459085"/>
            <a:ext cx="332109" cy="252028"/>
          </a:xfrm>
          <a:prstGeom prst="ellipse">
            <a:avLst/>
          </a:prstGeom>
          <a:noFill/>
          <a:ln w="19050">
            <a:solidFill>
              <a:srgbClr val="FF00FF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椭圆 18"/>
          <p:cNvSpPr/>
          <p:nvPr/>
        </p:nvSpPr>
        <p:spPr>
          <a:xfrm>
            <a:off x="3896074" y="3472308"/>
            <a:ext cx="444839" cy="238805"/>
          </a:xfrm>
          <a:prstGeom prst="ellipse">
            <a:avLst/>
          </a:prstGeom>
          <a:noFill/>
          <a:ln w="19050">
            <a:solidFill>
              <a:srgbClr val="FF00FF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/>
          <p:cNvSpPr txBox="1"/>
          <p:nvPr/>
        </p:nvSpPr>
        <p:spPr>
          <a:xfrm rot="20155628">
            <a:off x="6933211" y="4102454"/>
            <a:ext cx="19936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FF00FF"/>
                </a:solidFill>
                <a:latin typeface="Consolas" panose="020B0609020204030204" pitchFamily="49" charset="0"/>
              </a:rPr>
              <a:t>This C-C sigma bond is formed</a:t>
            </a:r>
            <a:endParaRPr lang="zh-CN" altLang="en-US" b="1" dirty="0">
              <a:solidFill>
                <a:srgbClr val="FF00FF"/>
              </a:solidFill>
              <a:latin typeface="Consolas" panose="020B0609020204030204" pitchFamily="49" charset="0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255767" y="5127275"/>
            <a:ext cx="1161616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b="1" dirty="0"/>
              <a:t>The nucleophilic additions of Grignard reagents to carbonyl compounds form </a:t>
            </a:r>
            <a:r>
              <a:rPr lang="en-US" altLang="zh-CN" b="1" dirty="0" err="1"/>
              <a:t>alkoxides</a:t>
            </a:r>
            <a:r>
              <a:rPr lang="en-US" altLang="zh-CN" b="1" dirty="0"/>
              <a:t>. In a separate step, the treatment of </a:t>
            </a:r>
            <a:r>
              <a:rPr lang="en-US" altLang="zh-CN" b="1" dirty="0" err="1"/>
              <a:t>alkoxides</a:t>
            </a:r>
            <a:r>
              <a:rPr lang="en-US" altLang="zh-CN" b="1" dirty="0"/>
              <a:t> with dilute acids protonates the </a:t>
            </a:r>
            <a:r>
              <a:rPr lang="en-US" altLang="zh-CN" b="1" dirty="0" err="1"/>
              <a:t>alkoxides</a:t>
            </a:r>
            <a:r>
              <a:rPr lang="en-US" altLang="zh-CN" b="1" dirty="0"/>
              <a:t> to give alcohols.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b="1" dirty="0"/>
              <a:t>Grignard and organolithium reagents provide some of </a:t>
            </a:r>
            <a:r>
              <a:rPr lang="en-US" altLang="zh-CN" b="1" dirty="0">
                <a:solidFill>
                  <a:srgbClr val="FF0000"/>
                </a:solidFill>
              </a:rPr>
              <a:t>the best methods for synthesis of alcohols</a:t>
            </a:r>
            <a:r>
              <a:rPr lang="en-US" altLang="zh-CN" b="1" dirty="0"/>
              <a:t>.</a:t>
            </a:r>
            <a:endParaRPr lang="zh-CN" altLang="en-US" b="1" dirty="0"/>
          </a:p>
        </p:txBody>
      </p:sp>
      <p:sp>
        <p:nvSpPr>
          <p:cNvPr id="18" name="文本框 17"/>
          <p:cNvSpPr txBox="1"/>
          <p:nvPr/>
        </p:nvSpPr>
        <p:spPr>
          <a:xfrm flipH="1">
            <a:off x="6917484" y="2085181"/>
            <a:ext cx="405514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Consolas" panose="020B0609020204030204" pitchFamily="49" charset="0"/>
              </a:rPr>
              <a:t>Protonation after nucleophilic addition is complete</a:t>
            </a:r>
            <a:endParaRPr lang="zh-CN" altLang="en-US" b="1" dirty="0">
              <a:latin typeface="Consolas" panose="020B0609020204030204" pitchFamily="49" charset="0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2476044" y="3678921"/>
            <a:ext cx="3369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baseline="30000" dirty="0">
                <a:solidFill>
                  <a:srgbClr val="0000FF"/>
                </a:solidFill>
                <a:sym typeface="Symbol"/>
              </a:rPr>
              <a:t>+</a:t>
            </a:r>
            <a:endParaRPr lang="zh-CN" altLang="en-US" dirty="0"/>
          </a:p>
        </p:txBody>
      </p:sp>
      <p:sp>
        <p:nvSpPr>
          <p:cNvPr id="23" name="文本框 22"/>
          <p:cNvSpPr txBox="1"/>
          <p:nvPr/>
        </p:nvSpPr>
        <p:spPr>
          <a:xfrm>
            <a:off x="4055049" y="3154960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baseline="30000" dirty="0">
                <a:solidFill>
                  <a:srgbClr val="FF0000"/>
                </a:solidFill>
                <a:sym typeface="Symbol"/>
              </a:rPr>
              <a:t>-</a:t>
            </a:r>
            <a:endParaRPr lang="zh-CN" altLang="en-US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>
          <a:xfrm>
            <a:off x="9624392" y="6381328"/>
            <a:ext cx="2133600" cy="365125"/>
          </a:xfrm>
        </p:spPr>
        <p:txBody>
          <a:bodyPr/>
          <a:lstStyle/>
          <a:p>
            <a:fld id="{0C913308-F349-4B6D-A68A-DD1791B4A57B}" type="slidenum">
              <a:rPr lang="zh-CN" altLang="en-US" smtClean="0"/>
              <a:pPr/>
              <a:t>19</a:t>
            </a:fld>
            <a:endParaRPr lang="zh-CN" altLang="en-US"/>
          </a:p>
        </p:txBody>
      </p:sp>
      <p:sp>
        <p:nvSpPr>
          <p:cNvPr id="12" name="TextBox 8"/>
          <p:cNvSpPr txBox="1"/>
          <p:nvPr/>
        </p:nvSpPr>
        <p:spPr>
          <a:xfrm>
            <a:off x="263352" y="225464"/>
            <a:ext cx="66967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b="1" dirty="0"/>
              <a:t>Grignard reactions can be used to form </a:t>
            </a:r>
            <a:r>
              <a:rPr lang="en-US" altLang="zh-CN" b="1" dirty="0">
                <a:solidFill>
                  <a:srgbClr val="FF0000"/>
                </a:solidFill>
              </a:rPr>
              <a:t>1</a:t>
            </a:r>
            <a:r>
              <a:rPr lang="en-US" altLang="zh-CN" b="1" baseline="30000" dirty="0">
                <a:solidFill>
                  <a:srgbClr val="FF0000"/>
                </a:solidFill>
              </a:rPr>
              <a:t>o</a:t>
            </a:r>
            <a:r>
              <a:rPr lang="en-US" altLang="zh-CN" b="1" dirty="0">
                <a:solidFill>
                  <a:srgbClr val="FF0000"/>
                </a:solidFill>
              </a:rPr>
              <a:t>/ 2</a:t>
            </a:r>
            <a:r>
              <a:rPr lang="en-US" altLang="zh-CN" b="1" baseline="30000" dirty="0">
                <a:solidFill>
                  <a:srgbClr val="FF0000"/>
                </a:solidFill>
              </a:rPr>
              <a:t>o</a:t>
            </a:r>
            <a:r>
              <a:rPr lang="en-US" altLang="zh-CN" b="1" dirty="0">
                <a:solidFill>
                  <a:srgbClr val="FF0000"/>
                </a:solidFill>
              </a:rPr>
              <a:t>/ 3</a:t>
            </a:r>
            <a:r>
              <a:rPr lang="en-US" altLang="zh-CN" b="1" baseline="30000" dirty="0">
                <a:solidFill>
                  <a:srgbClr val="FF0000"/>
                </a:solidFill>
              </a:rPr>
              <a:t>o</a:t>
            </a:r>
            <a:r>
              <a:rPr lang="en-US" altLang="zh-CN" b="1" dirty="0">
                <a:solidFill>
                  <a:srgbClr val="FF0000"/>
                </a:solidFill>
              </a:rPr>
              <a:t> alcohols</a:t>
            </a:r>
            <a:r>
              <a:rPr lang="en-US" altLang="zh-CN" b="1" dirty="0"/>
              <a:t>.</a:t>
            </a:r>
            <a:endParaRPr lang="zh-CN" altLang="en-US" b="1" dirty="0"/>
          </a:p>
        </p:txBody>
      </p:sp>
      <p:graphicFrame>
        <p:nvGraphicFramePr>
          <p:cNvPr id="13" name="对象 12"/>
          <p:cNvGraphicFramePr>
            <a:graphicFrameLocks noChangeAspect="1"/>
          </p:cNvGraphicFramePr>
          <p:nvPr/>
        </p:nvGraphicFramePr>
        <p:xfrm>
          <a:off x="1627294" y="709302"/>
          <a:ext cx="8608240" cy="132653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898" name="CS ChemDraw Drawing" r:id="rId3" imgW="5285173" imgH="813842" progId="ChemDraw.Document.6.0">
                  <p:embed/>
                </p:oleObj>
              </mc:Choice>
              <mc:Fallback>
                <p:oleObj name="CS ChemDraw Drawing" r:id="rId3" imgW="5285173" imgH="813842" progId="ChemDraw.Document.6.0">
                  <p:embed/>
                  <p:pic>
                    <p:nvPicPr>
                      <p:cNvPr id="13" name="对象 12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627294" y="709302"/>
                        <a:ext cx="8608240" cy="1326532"/>
                      </a:xfrm>
                      <a:prstGeom prst="rect">
                        <a:avLst/>
                      </a:prstGeom>
                      <a:ln w="28575">
                        <a:solidFill>
                          <a:schemeClr val="bg1">
                            <a:lumMod val="75000"/>
                          </a:schemeClr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2351584" y="2348880"/>
          <a:ext cx="6624736" cy="12322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899" name="CS ChemDraw Drawing" r:id="rId5" imgW="4129892" imgH="767858" progId="ChemDraw.Document.6.0">
                  <p:embed/>
                </p:oleObj>
              </mc:Choice>
              <mc:Fallback>
                <p:oleObj name="CS ChemDraw Drawing" r:id="rId5" imgW="4129892" imgH="767858" progId="ChemDraw.Document.6.0">
                  <p:embed/>
                  <p:pic>
                    <p:nvPicPr>
                      <p:cNvPr id="4" name="对象 3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351584" y="2348880"/>
                        <a:ext cx="6624736" cy="123227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椭圆 4"/>
          <p:cNvSpPr/>
          <p:nvPr/>
        </p:nvSpPr>
        <p:spPr>
          <a:xfrm>
            <a:off x="2554370" y="2804428"/>
            <a:ext cx="373278" cy="373278"/>
          </a:xfrm>
          <a:prstGeom prst="ellipse">
            <a:avLst/>
          </a:prstGeom>
          <a:noFill/>
          <a:ln>
            <a:solidFill>
              <a:srgbClr val="00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椭圆 14"/>
          <p:cNvSpPr/>
          <p:nvPr/>
        </p:nvSpPr>
        <p:spPr>
          <a:xfrm>
            <a:off x="3119471" y="2812819"/>
            <a:ext cx="373278" cy="373278"/>
          </a:xfrm>
          <a:prstGeom prst="ellipse">
            <a:avLst/>
          </a:prstGeom>
          <a:noFill/>
          <a:ln>
            <a:solidFill>
              <a:srgbClr val="00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椭圆 15"/>
          <p:cNvSpPr/>
          <p:nvPr/>
        </p:nvSpPr>
        <p:spPr>
          <a:xfrm>
            <a:off x="7487649" y="2617789"/>
            <a:ext cx="373278" cy="373278"/>
          </a:xfrm>
          <a:prstGeom prst="ellipse">
            <a:avLst/>
          </a:prstGeom>
          <a:noFill/>
          <a:ln>
            <a:solidFill>
              <a:srgbClr val="00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椭圆 16"/>
          <p:cNvSpPr/>
          <p:nvPr/>
        </p:nvSpPr>
        <p:spPr>
          <a:xfrm>
            <a:off x="7793702" y="2909328"/>
            <a:ext cx="373278" cy="373278"/>
          </a:xfrm>
          <a:prstGeom prst="ellipse">
            <a:avLst/>
          </a:prstGeom>
          <a:noFill/>
          <a:ln>
            <a:solidFill>
              <a:srgbClr val="00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/>
        </p:nvGraphicFramePr>
        <p:xfrm>
          <a:off x="2567481" y="3797291"/>
          <a:ext cx="6743566" cy="115189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900" name="CS ChemDraw Drawing" r:id="rId7" imgW="4210777" imgH="719099" progId="ChemDraw.Document.6.0">
                  <p:embed/>
                </p:oleObj>
              </mc:Choice>
              <mc:Fallback>
                <p:oleObj name="CS ChemDraw Drawing" r:id="rId7" imgW="4210777" imgH="719099" progId="ChemDraw.Document.6.0">
                  <p:embed/>
                  <p:pic>
                    <p:nvPicPr>
                      <p:cNvPr id="6" name="对象 5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567481" y="3797291"/>
                        <a:ext cx="6743566" cy="115189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椭圆 18"/>
          <p:cNvSpPr/>
          <p:nvPr/>
        </p:nvSpPr>
        <p:spPr>
          <a:xfrm>
            <a:off x="3236110" y="4186601"/>
            <a:ext cx="373278" cy="373278"/>
          </a:xfrm>
          <a:prstGeom prst="ellipse">
            <a:avLst/>
          </a:prstGeom>
          <a:noFill/>
          <a:ln>
            <a:solidFill>
              <a:srgbClr val="00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椭圆 19"/>
          <p:cNvSpPr/>
          <p:nvPr/>
        </p:nvSpPr>
        <p:spPr>
          <a:xfrm>
            <a:off x="8166980" y="4337919"/>
            <a:ext cx="373278" cy="373278"/>
          </a:xfrm>
          <a:prstGeom prst="ellipse">
            <a:avLst/>
          </a:prstGeom>
          <a:noFill/>
          <a:ln>
            <a:solidFill>
              <a:srgbClr val="00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7" name="对象 6"/>
          <p:cNvGraphicFramePr>
            <a:graphicFrameLocks noChangeAspect="1"/>
          </p:cNvGraphicFramePr>
          <p:nvPr/>
        </p:nvGraphicFramePr>
        <p:xfrm>
          <a:off x="2502532" y="5319109"/>
          <a:ext cx="6368469" cy="115054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901" name="CS ChemDraw Drawing" r:id="rId9" imgW="4120817" imgH="745262" progId="ChemDraw.Document.6.0">
                  <p:embed/>
                </p:oleObj>
              </mc:Choice>
              <mc:Fallback>
                <p:oleObj name="CS ChemDraw Drawing" r:id="rId9" imgW="4120817" imgH="745262" progId="ChemDraw.Document.6.0">
                  <p:embed/>
                  <p:pic>
                    <p:nvPicPr>
                      <p:cNvPr id="7" name="对象 6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502532" y="5319109"/>
                        <a:ext cx="6368469" cy="115054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0" name="直接箭头连接符 29"/>
          <p:cNvCxnSpPr/>
          <p:nvPr/>
        </p:nvCxnSpPr>
        <p:spPr>
          <a:xfrm>
            <a:off x="2020236" y="4968335"/>
            <a:ext cx="2130632" cy="624278"/>
          </a:xfrm>
          <a:prstGeom prst="straightConnector1">
            <a:avLst/>
          </a:prstGeom>
          <a:ln w="57150">
            <a:solidFill>
              <a:srgbClr val="00FF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箭头连接符 32"/>
          <p:cNvCxnSpPr/>
          <p:nvPr/>
        </p:nvCxnSpPr>
        <p:spPr>
          <a:xfrm>
            <a:off x="2784810" y="4764112"/>
            <a:ext cx="4172931" cy="968592"/>
          </a:xfrm>
          <a:prstGeom prst="straightConnector1">
            <a:avLst/>
          </a:prstGeom>
          <a:ln w="57150">
            <a:solidFill>
              <a:srgbClr val="00FF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箭头连接符 28"/>
          <p:cNvCxnSpPr/>
          <p:nvPr/>
        </p:nvCxnSpPr>
        <p:spPr>
          <a:xfrm flipH="1">
            <a:off x="1703513" y="3904921"/>
            <a:ext cx="4334696" cy="1838061"/>
          </a:xfrm>
          <a:prstGeom prst="straightConnector1">
            <a:avLst/>
          </a:prstGeom>
          <a:ln w="57150">
            <a:solidFill>
              <a:srgbClr val="00FF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/>
          <p:cNvSpPr txBox="1"/>
          <p:nvPr/>
        </p:nvSpPr>
        <p:spPr>
          <a:xfrm>
            <a:off x="0" y="221348"/>
            <a:ext cx="5686172" cy="40011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altLang="zh-CN" sz="2000" b="1" dirty="0"/>
              <a:t>3. Retrosynthetic Analysis and Synthetic Design</a:t>
            </a:r>
            <a:endParaRPr lang="zh-CN" altLang="en-US" sz="2000" b="1" dirty="0">
              <a:solidFill>
                <a:srgbClr val="0000FF"/>
              </a:solidFill>
            </a:endParaRPr>
          </a:p>
        </p:txBody>
      </p:sp>
      <p:graphicFrame>
        <p:nvGraphicFramePr>
          <p:cNvPr id="9" name="对象 8"/>
          <p:cNvGraphicFramePr>
            <a:graphicFrameLocks noChangeAspect="1"/>
          </p:cNvGraphicFramePr>
          <p:nvPr/>
        </p:nvGraphicFramePr>
        <p:xfrm>
          <a:off x="1882835" y="1399618"/>
          <a:ext cx="7663845" cy="118100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818" name="CS ChemDraw Drawing" r:id="rId3" imgW="5285173" imgH="813842" progId="ChemDraw.Document.6.0">
                  <p:embed/>
                </p:oleObj>
              </mc:Choice>
              <mc:Fallback>
                <p:oleObj name="CS ChemDraw Drawing" r:id="rId3" imgW="5285173" imgH="813842" progId="ChemDraw.Document.6.0">
                  <p:embed/>
                  <p:pic>
                    <p:nvPicPr>
                      <p:cNvPr id="9" name="对象 8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882835" y="1399618"/>
                        <a:ext cx="7663845" cy="1181001"/>
                      </a:xfrm>
                      <a:prstGeom prst="rect">
                        <a:avLst/>
                      </a:prstGeom>
                      <a:ln w="28575">
                        <a:solidFill>
                          <a:schemeClr val="bg1">
                            <a:lumMod val="75000"/>
                          </a:schemeClr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右箭头 9"/>
          <p:cNvSpPr/>
          <p:nvPr/>
        </p:nvSpPr>
        <p:spPr>
          <a:xfrm>
            <a:off x="1882834" y="637173"/>
            <a:ext cx="7663845" cy="669305"/>
          </a:xfrm>
          <a:prstGeom prst="rightArrow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右箭头 11"/>
          <p:cNvSpPr/>
          <p:nvPr/>
        </p:nvSpPr>
        <p:spPr>
          <a:xfrm flipH="1">
            <a:off x="1882834" y="2558797"/>
            <a:ext cx="7663845" cy="683977"/>
          </a:xfrm>
          <a:prstGeom prst="rightArrow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5056935" y="790332"/>
            <a:ext cx="10196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/>
              <a:t>Reaction</a:t>
            </a:r>
            <a:endParaRPr lang="zh-CN" altLang="en-US" b="1" dirty="0"/>
          </a:p>
        </p:txBody>
      </p:sp>
      <p:sp>
        <p:nvSpPr>
          <p:cNvPr id="14" name="文本框 13"/>
          <p:cNvSpPr txBox="1"/>
          <p:nvPr/>
        </p:nvSpPr>
        <p:spPr>
          <a:xfrm>
            <a:off x="4608150" y="2716119"/>
            <a:ext cx="18769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/>
              <a:t>Synthetic analysis</a:t>
            </a:r>
            <a:endParaRPr lang="zh-CN" altLang="en-US" b="1" dirty="0"/>
          </a:p>
        </p:txBody>
      </p:sp>
      <p:sp>
        <p:nvSpPr>
          <p:cNvPr id="18" name="文本框 17"/>
          <p:cNvSpPr txBox="1"/>
          <p:nvPr/>
        </p:nvSpPr>
        <p:spPr>
          <a:xfrm>
            <a:off x="8239168" y="4766273"/>
            <a:ext cx="7720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rgbClr val="FF00FF"/>
                </a:solidFill>
              </a:rPr>
              <a:t>step 1</a:t>
            </a:r>
            <a:endParaRPr lang="zh-CN" altLang="en-US" b="1" dirty="0">
              <a:solidFill>
                <a:srgbClr val="FF00FF"/>
              </a:solidFill>
            </a:endParaRPr>
          </a:p>
        </p:txBody>
      </p:sp>
      <p:sp>
        <p:nvSpPr>
          <p:cNvPr id="19" name="圆角矩形 18"/>
          <p:cNvSpPr/>
          <p:nvPr/>
        </p:nvSpPr>
        <p:spPr>
          <a:xfrm>
            <a:off x="2882843" y="3240611"/>
            <a:ext cx="2493078" cy="1280090"/>
          </a:xfrm>
          <a:prstGeom prst="round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文本框 19"/>
          <p:cNvSpPr txBox="1"/>
          <p:nvPr/>
        </p:nvSpPr>
        <p:spPr>
          <a:xfrm>
            <a:off x="7265435" y="3597371"/>
            <a:ext cx="316835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Consolas" panose="020B0609020204030204" pitchFamily="49" charset="0"/>
              </a:rPr>
              <a:t>disconnect the </a:t>
            </a:r>
            <a:r>
              <a:rPr lang="en-US" altLang="zh-CN" b="1" dirty="0">
                <a:solidFill>
                  <a:srgbClr val="FF00FF"/>
                </a:solidFill>
                <a:latin typeface="Consolas" panose="020B0609020204030204" pitchFamily="49" charset="0"/>
              </a:rPr>
              <a:t>O-H bond </a:t>
            </a:r>
            <a:r>
              <a:rPr lang="en-US" altLang="zh-CN" b="1" dirty="0">
                <a:latin typeface="Consolas" panose="020B0609020204030204" pitchFamily="49" charset="0"/>
              </a:rPr>
              <a:t>to separate the target alcohol into 2 parts</a:t>
            </a:r>
            <a:endParaRPr lang="zh-CN" altLang="en-US" b="1" dirty="0">
              <a:latin typeface="Consolas" panose="020B0609020204030204" pitchFamily="49" charset="0"/>
            </a:endParaRPr>
          </a:p>
        </p:txBody>
      </p:sp>
      <p:sp>
        <p:nvSpPr>
          <p:cNvPr id="21" name="圆角矩形 20"/>
          <p:cNvSpPr/>
          <p:nvPr/>
        </p:nvSpPr>
        <p:spPr>
          <a:xfrm>
            <a:off x="7265435" y="3563691"/>
            <a:ext cx="3024336" cy="965742"/>
          </a:xfrm>
          <a:prstGeom prst="round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矩形 21"/>
          <p:cNvSpPr/>
          <p:nvPr/>
        </p:nvSpPr>
        <p:spPr>
          <a:xfrm>
            <a:off x="2915733" y="3289993"/>
            <a:ext cx="2460188" cy="1200329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r>
              <a:rPr lang="en-US" altLang="zh-CN" b="1" dirty="0">
                <a:latin typeface="Consolas" panose="020B0609020204030204" pitchFamily="49" charset="0"/>
              </a:rPr>
              <a:t>disconnect the </a:t>
            </a:r>
            <a:r>
              <a:rPr lang="en-US" altLang="zh-CN" b="1" dirty="0">
                <a:solidFill>
                  <a:srgbClr val="FF00FF"/>
                </a:solidFill>
                <a:latin typeface="Consolas" panose="020B0609020204030204" pitchFamily="49" charset="0"/>
              </a:rPr>
              <a:t>C-C sigma bond</a:t>
            </a:r>
            <a:r>
              <a:rPr lang="en-US" altLang="zh-CN" b="1" dirty="0">
                <a:latin typeface="Consolas" panose="020B0609020204030204" pitchFamily="49" charset="0"/>
              </a:rPr>
              <a:t> </a:t>
            </a:r>
            <a:r>
              <a:rPr lang="en-US" altLang="zh-CN" b="1" dirty="0">
                <a:solidFill>
                  <a:srgbClr val="FF00FF"/>
                </a:solidFill>
                <a:latin typeface="Consolas" panose="020B0609020204030204" pitchFamily="49" charset="0"/>
              </a:rPr>
              <a:t>between the O-bearing C and its adjacent C</a:t>
            </a:r>
            <a:endParaRPr lang="zh-CN" altLang="en-US" b="1" dirty="0">
              <a:solidFill>
                <a:srgbClr val="FF00FF"/>
              </a:solidFill>
              <a:latin typeface="Consolas" panose="020B0609020204030204" pitchFamily="49" charset="0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3758685" y="4779081"/>
            <a:ext cx="7720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rgbClr val="FF00FF"/>
                </a:solidFill>
              </a:rPr>
              <a:t>step 2</a:t>
            </a:r>
            <a:endParaRPr lang="zh-CN" altLang="en-US" b="1" dirty="0">
              <a:solidFill>
                <a:srgbClr val="FF00FF"/>
              </a:solidFill>
            </a:endParaRPr>
          </a:p>
        </p:txBody>
      </p:sp>
      <p:graphicFrame>
        <p:nvGraphicFramePr>
          <p:cNvPr id="25" name="对象 24"/>
          <p:cNvGraphicFramePr>
            <a:graphicFrameLocks noChangeAspect="1"/>
          </p:cNvGraphicFramePr>
          <p:nvPr/>
        </p:nvGraphicFramePr>
        <p:xfrm>
          <a:off x="1487487" y="5406793"/>
          <a:ext cx="7755473" cy="943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819" name="CS ChemDraw Drawing" r:id="rId5" imgW="4686226" imgH="569650" progId="ChemDraw.Document.6.0">
                  <p:embed/>
                </p:oleObj>
              </mc:Choice>
              <mc:Fallback>
                <p:oleObj name="CS ChemDraw Drawing" r:id="rId5" imgW="4686226" imgH="569650" progId="ChemDraw.Document.6.0">
                  <p:embed/>
                  <p:pic>
                    <p:nvPicPr>
                      <p:cNvPr id="25" name="对象 24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487487" y="5406793"/>
                        <a:ext cx="7755473" cy="9431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" name="圆角矩形 25"/>
          <p:cNvSpPr/>
          <p:nvPr/>
        </p:nvSpPr>
        <p:spPr>
          <a:xfrm>
            <a:off x="1224764" y="5342032"/>
            <a:ext cx="8280920" cy="1327328"/>
          </a:xfrm>
          <a:prstGeom prst="round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文本框 26"/>
          <p:cNvSpPr txBox="1"/>
          <p:nvPr/>
        </p:nvSpPr>
        <p:spPr>
          <a:xfrm>
            <a:off x="1381901" y="6275064"/>
            <a:ext cx="55034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rgbClr val="FF00FF"/>
                </a:solidFill>
                <a:latin typeface="Consolas" panose="020B0609020204030204" pitchFamily="49" charset="0"/>
              </a:rPr>
              <a:t>step 3</a:t>
            </a:r>
            <a:r>
              <a:rPr lang="en-US" altLang="zh-CN" b="1" dirty="0">
                <a:latin typeface="Consolas" panose="020B0609020204030204" pitchFamily="49" charset="0"/>
              </a:rPr>
              <a:t>: find the reagents from the 3 parts</a:t>
            </a:r>
            <a:endParaRPr lang="zh-CN" altLang="en-US" b="1" dirty="0">
              <a:latin typeface="Consolas" panose="020B0609020204030204" pitchFamily="49" charset="0"/>
            </a:endParaRPr>
          </a:p>
        </p:txBody>
      </p:sp>
      <p:sp>
        <p:nvSpPr>
          <p:cNvPr id="35" name="灯片编号占位符 3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20</a:t>
            </a:fld>
            <a:endParaRPr lang="zh-CN" altLang="en-US"/>
          </a:p>
        </p:txBody>
      </p:sp>
      <p:cxnSp>
        <p:nvCxnSpPr>
          <p:cNvPr id="3" name="直接箭头连接符 2"/>
          <p:cNvCxnSpPr/>
          <p:nvPr/>
        </p:nvCxnSpPr>
        <p:spPr>
          <a:xfrm>
            <a:off x="9408368" y="2276872"/>
            <a:ext cx="1152128" cy="1603784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椭圆 1"/>
          <p:cNvSpPr/>
          <p:nvPr/>
        </p:nvSpPr>
        <p:spPr>
          <a:xfrm>
            <a:off x="6023992" y="3563691"/>
            <a:ext cx="504056" cy="441373"/>
          </a:xfrm>
          <a:prstGeom prst="ellipse">
            <a:avLst/>
          </a:prstGeom>
          <a:noFill/>
          <a:ln>
            <a:solidFill>
              <a:srgbClr val="00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椭圆 23"/>
          <p:cNvSpPr/>
          <p:nvPr/>
        </p:nvSpPr>
        <p:spPr>
          <a:xfrm>
            <a:off x="2303665" y="4468669"/>
            <a:ext cx="504056" cy="441373"/>
          </a:xfrm>
          <a:prstGeom prst="ellipse">
            <a:avLst/>
          </a:prstGeom>
          <a:noFill/>
          <a:ln>
            <a:solidFill>
              <a:srgbClr val="00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椭圆 27"/>
          <p:cNvSpPr/>
          <p:nvPr/>
        </p:nvSpPr>
        <p:spPr>
          <a:xfrm>
            <a:off x="743857" y="4109910"/>
            <a:ext cx="1365503" cy="1181176"/>
          </a:xfrm>
          <a:prstGeom prst="ellipse">
            <a:avLst/>
          </a:prstGeom>
          <a:noFill/>
          <a:ln>
            <a:solidFill>
              <a:srgbClr val="00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17" name="对象 16"/>
          <p:cNvGraphicFramePr>
            <a:graphicFrameLocks noChangeAspect="1"/>
          </p:cNvGraphicFramePr>
          <p:nvPr/>
        </p:nvGraphicFramePr>
        <p:xfrm>
          <a:off x="822344" y="3606866"/>
          <a:ext cx="10508458" cy="2136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820" name="CS ChemDraw Drawing" r:id="rId7" imgW="5428005" imgH="1103226" progId="ChemDraw.Document.6.0">
                  <p:embed/>
                </p:oleObj>
              </mc:Choice>
              <mc:Fallback>
                <p:oleObj name="CS ChemDraw Drawing" r:id="rId7" imgW="5428005" imgH="1103226" progId="ChemDraw.Document.6.0">
                  <p:embed/>
                  <p:pic>
                    <p:nvPicPr>
                      <p:cNvPr id="17" name="对象 16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822344" y="3606866"/>
                        <a:ext cx="10508458" cy="213611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37365830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21</a:t>
            </a:fld>
            <a:endParaRPr lang="zh-CN" altLang="en-US"/>
          </a:p>
        </p:txBody>
      </p:sp>
      <p:sp>
        <p:nvSpPr>
          <p:cNvPr id="11" name="TextBox 10"/>
          <p:cNvSpPr txBox="1"/>
          <p:nvPr/>
        </p:nvSpPr>
        <p:spPr>
          <a:xfrm>
            <a:off x="412567" y="3451885"/>
            <a:ext cx="30963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i="1" dirty="0">
                <a:latin typeface="Comic Sans MS" pitchFamily="66" charset="0"/>
              </a:rPr>
              <a:t>Synthetic design</a:t>
            </a:r>
            <a:endParaRPr lang="zh-CN" altLang="en-US" i="1" dirty="0">
              <a:latin typeface="Comic Sans MS" pitchFamily="66" charset="0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/>
        </p:nvGraphicFramePr>
        <p:xfrm>
          <a:off x="2351584" y="858548"/>
          <a:ext cx="7200800" cy="211986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738" name="CS ChemDraw Drawing" r:id="rId3" imgW="5095783" imgH="1500832" progId="ChemDraw.Document.6.0">
                  <p:embed/>
                </p:oleObj>
              </mc:Choice>
              <mc:Fallback>
                <p:oleObj name="CS ChemDraw Drawing" r:id="rId3" imgW="5095783" imgH="1500832" progId="ChemDraw.Document.6.0">
                  <p:embed/>
                  <p:pic>
                    <p:nvPicPr>
                      <p:cNvPr id="3" name="对象 2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351584" y="858548"/>
                        <a:ext cx="7200800" cy="211986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TextBox 10"/>
          <p:cNvSpPr txBox="1"/>
          <p:nvPr/>
        </p:nvSpPr>
        <p:spPr>
          <a:xfrm>
            <a:off x="412567" y="507547"/>
            <a:ext cx="45365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i="1" dirty="0">
                <a:latin typeface="Comic Sans MS" pitchFamily="66" charset="0"/>
              </a:rPr>
              <a:t>Retrosynthetic analysis of the target molecule (TM)</a:t>
            </a:r>
            <a:endParaRPr lang="zh-CN" altLang="en-US" i="1" dirty="0">
              <a:latin typeface="Comic Sans MS" pitchFamily="66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985628" y="2424411"/>
            <a:ext cx="7341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(TM)</a:t>
            </a:r>
            <a:endParaRPr lang="zh-CN" altLang="en-US" b="1" dirty="0"/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2567608" y="4159134"/>
          <a:ext cx="6612568" cy="745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739" name="CS ChemDraw Drawing" r:id="rId5" imgW="4492496" imgH="507016" progId="ChemDraw.Document.6.0">
                  <p:embed/>
                </p:oleObj>
              </mc:Choice>
              <mc:Fallback>
                <p:oleObj name="CS ChemDraw Drawing" r:id="rId5" imgW="4492496" imgH="507016" progId="ChemDraw.Document.6.0">
                  <p:embed/>
                  <p:pic>
                    <p:nvPicPr>
                      <p:cNvPr id="5" name="对象 4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567608" y="4159134"/>
                        <a:ext cx="6612568" cy="7453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22</a:t>
            </a:fld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-1" y="267040"/>
            <a:ext cx="8785413" cy="40011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sz="2000" b="1" i="1" u="sng" dirty="0"/>
              <a:t>8-7-2</a:t>
            </a:r>
            <a:r>
              <a:rPr lang="en-US" altLang="zh-CN" sz="2000" b="1" dirty="0">
                <a:solidFill>
                  <a:srgbClr val="C00000"/>
                </a:solidFill>
              </a:rPr>
              <a:t> </a:t>
            </a:r>
            <a:r>
              <a:rPr lang="en-US" altLang="zh-CN" sz="2000" b="1" dirty="0"/>
              <a:t>Nucleophilic Addition of Grignard Reagents to</a:t>
            </a:r>
            <a:r>
              <a:rPr lang="en-US" altLang="zh-CN" sz="2000" b="1" dirty="0">
                <a:solidFill>
                  <a:srgbClr val="FF0000"/>
                </a:solidFill>
              </a:rPr>
              <a:t> </a:t>
            </a:r>
            <a:r>
              <a:rPr lang="en-US" altLang="zh-CN" sz="2000" b="1" dirty="0">
                <a:solidFill>
                  <a:srgbClr val="0000FF"/>
                </a:solidFill>
              </a:rPr>
              <a:t>Epoxides (Oxiranes)</a:t>
            </a:r>
            <a:endParaRPr lang="zh-CN" altLang="en-US" sz="2000" b="1" dirty="0">
              <a:solidFill>
                <a:srgbClr val="0000FF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93772" y="789091"/>
            <a:ext cx="1034594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b="1" dirty="0"/>
              <a:t>Epoxides (</a:t>
            </a:r>
            <a:r>
              <a:rPr lang="en-US" altLang="zh-CN" b="1" dirty="0" err="1"/>
              <a:t>oxiranes</a:t>
            </a:r>
            <a:r>
              <a:rPr lang="en-US" altLang="zh-CN" b="1" dirty="0"/>
              <a:t>) are unusually reactive ethers because of their ring strain.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CN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b="1" dirty="0"/>
              <a:t>The C-O bonds are polarized in epoxides, the C atoms being electrophilic.</a:t>
            </a:r>
            <a:endParaRPr lang="zh-CN" altLang="en-US" b="1" dirty="0"/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911424" y="1804754"/>
          <a:ext cx="1190066" cy="170009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970" name="CS ChemDraw Drawing" r:id="rId3" imgW="732704" imgH="1048124" progId="ChemDraw.Document.6.0">
                  <p:embed/>
                </p:oleObj>
              </mc:Choice>
              <mc:Fallback>
                <p:oleObj name="CS ChemDraw Drawing" r:id="rId3" imgW="732704" imgH="1048124" progId="ChemDraw.Document.6.0">
                  <p:embed/>
                  <p:pic>
                    <p:nvPicPr>
                      <p:cNvPr id="4" name="对象 3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911424" y="1804754"/>
                        <a:ext cx="1190066" cy="170009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椭圆 5"/>
          <p:cNvSpPr/>
          <p:nvPr/>
        </p:nvSpPr>
        <p:spPr>
          <a:xfrm>
            <a:off x="1631504" y="2502940"/>
            <a:ext cx="360040" cy="360040"/>
          </a:xfrm>
          <a:prstGeom prst="ellipse">
            <a:avLst/>
          </a:prstGeom>
          <a:noFill/>
          <a:ln w="12700">
            <a:solidFill>
              <a:srgbClr val="00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椭圆 10"/>
          <p:cNvSpPr/>
          <p:nvPr/>
        </p:nvSpPr>
        <p:spPr>
          <a:xfrm>
            <a:off x="1068105" y="2502940"/>
            <a:ext cx="360040" cy="360040"/>
          </a:xfrm>
          <a:prstGeom prst="ellipse">
            <a:avLst/>
          </a:prstGeom>
          <a:noFill/>
          <a:ln w="12700">
            <a:solidFill>
              <a:srgbClr val="00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7" name="对象 6"/>
          <p:cNvGraphicFramePr>
            <a:graphicFrameLocks noChangeAspect="1"/>
          </p:cNvGraphicFramePr>
          <p:nvPr/>
        </p:nvGraphicFramePr>
        <p:xfrm>
          <a:off x="2711624" y="2052886"/>
          <a:ext cx="8712968" cy="12038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971" name="CS ChemDraw Drawing" r:id="rId5" imgW="5606347" imgH="775390" progId="ChemDraw.Document.6.0">
                  <p:embed/>
                </p:oleObj>
              </mc:Choice>
              <mc:Fallback>
                <p:oleObj name="CS ChemDraw Drawing" r:id="rId5" imgW="5606347" imgH="775390" progId="ChemDraw.Document.6.0">
                  <p:embed/>
                  <p:pic>
                    <p:nvPicPr>
                      <p:cNvPr id="7" name="对象 6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711624" y="2052886"/>
                        <a:ext cx="8712968" cy="1203830"/>
                      </a:xfrm>
                      <a:prstGeom prst="rect">
                        <a:avLst/>
                      </a:prstGeom>
                      <a:ln w="28575">
                        <a:solidFill>
                          <a:schemeClr val="bg1">
                            <a:lumMod val="85000"/>
                          </a:schemeClr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文本框 7"/>
          <p:cNvSpPr txBox="1"/>
          <p:nvPr/>
        </p:nvSpPr>
        <p:spPr>
          <a:xfrm>
            <a:off x="393772" y="3552925"/>
            <a:ext cx="1072280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b="1" dirty="0"/>
              <a:t>Epoxides react with Grignard reagents to give </a:t>
            </a:r>
            <a:r>
              <a:rPr lang="en-US" altLang="zh-CN" b="1" dirty="0">
                <a:solidFill>
                  <a:srgbClr val="FF0000"/>
                </a:solidFill>
              </a:rPr>
              <a:t>primary alcohols with two additional carbon atoms</a:t>
            </a:r>
            <a:r>
              <a:rPr lang="en-US" altLang="zh-CN" b="1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b="1" dirty="0"/>
              <a:t>Opening the three-membered ring relieves the ring strain.</a:t>
            </a:r>
            <a:endParaRPr lang="zh-CN" altLang="en-US" b="1" dirty="0"/>
          </a:p>
        </p:txBody>
      </p:sp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96467308"/>
              </p:ext>
            </p:extLst>
          </p:nvPr>
        </p:nvGraphicFramePr>
        <p:xfrm>
          <a:off x="4660742" y="4022683"/>
          <a:ext cx="6362258" cy="10801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972" name="CS ChemDraw Drawing" r:id="rId7" imgW="4347691" imgH="738920" progId="ChemDraw.Document.6.0">
                  <p:embed/>
                </p:oleObj>
              </mc:Choice>
              <mc:Fallback>
                <p:oleObj name="CS ChemDraw Drawing" r:id="rId7" imgW="4347691" imgH="738920" progId="ChemDraw.Document.6.0">
                  <p:embed/>
                  <p:pic>
                    <p:nvPicPr>
                      <p:cNvPr id="9" name="对象 8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660742" y="4022683"/>
                        <a:ext cx="6362258" cy="108012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TextBox 5"/>
          <p:cNvSpPr txBox="1"/>
          <p:nvPr/>
        </p:nvSpPr>
        <p:spPr>
          <a:xfrm>
            <a:off x="911424" y="5328812"/>
            <a:ext cx="227055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b="1" i="1" dirty="0"/>
              <a:t>Retrosynthetic analysis:</a:t>
            </a:r>
            <a:endParaRPr lang="zh-CN" altLang="en-US" sz="1600" b="1" i="1" dirty="0"/>
          </a:p>
        </p:txBody>
      </p:sp>
      <p:graphicFrame>
        <p:nvGraphicFramePr>
          <p:cNvPr id="12" name="对象 11"/>
          <p:cNvGraphicFramePr>
            <a:graphicFrameLocks noChangeAspect="1"/>
          </p:cNvGraphicFramePr>
          <p:nvPr/>
        </p:nvGraphicFramePr>
        <p:xfrm>
          <a:off x="911424" y="5336780"/>
          <a:ext cx="7498637" cy="139001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973" name="CS ChemDraw Drawing" r:id="rId9" imgW="5121824" imgH="949020" progId="ChemDraw.Document.6.0">
                  <p:embed/>
                </p:oleObj>
              </mc:Choice>
              <mc:Fallback>
                <p:oleObj name="CS ChemDraw Drawing" r:id="rId9" imgW="5121824" imgH="949020" progId="ChemDraw.Document.6.0">
                  <p:embed/>
                  <p:pic>
                    <p:nvPicPr>
                      <p:cNvPr id="12" name="对象 11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911424" y="5336780"/>
                        <a:ext cx="7498637" cy="1390014"/>
                      </a:xfrm>
                      <a:prstGeom prst="rect">
                        <a:avLst/>
                      </a:prstGeom>
                      <a:ln w="28575">
                        <a:solidFill>
                          <a:schemeClr val="bg1">
                            <a:lumMod val="85000"/>
                          </a:schemeClr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椭圆 9"/>
          <p:cNvSpPr/>
          <p:nvPr/>
        </p:nvSpPr>
        <p:spPr>
          <a:xfrm>
            <a:off x="9984432" y="2348880"/>
            <a:ext cx="1440160" cy="432048"/>
          </a:xfrm>
          <a:prstGeom prst="ellipse">
            <a:avLst/>
          </a:prstGeom>
          <a:noFill/>
          <a:ln>
            <a:solidFill>
              <a:srgbClr val="00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椭圆 13"/>
          <p:cNvSpPr/>
          <p:nvPr/>
        </p:nvSpPr>
        <p:spPr>
          <a:xfrm>
            <a:off x="4367807" y="2052885"/>
            <a:ext cx="1344319" cy="728043"/>
          </a:xfrm>
          <a:prstGeom prst="ellipse">
            <a:avLst/>
          </a:prstGeom>
          <a:noFill/>
          <a:ln>
            <a:solidFill>
              <a:srgbClr val="00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波形 18"/>
          <p:cNvSpPr/>
          <p:nvPr/>
        </p:nvSpPr>
        <p:spPr>
          <a:xfrm>
            <a:off x="7841611" y="3125380"/>
            <a:ext cx="3853594" cy="1725152"/>
          </a:xfrm>
          <a:prstGeom prst="wave">
            <a:avLst>
              <a:gd name="adj1" fmla="val 12500"/>
              <a:gd name="adj2" fmla="val 94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圆角矩形标注 16"/>
          <p:cNvSpPr/>
          <p:nvPr/>
        </p:nvSpPr>
        <p:spPr>
          <a:xfrm>
            <a:off x="10056440" y="5783525"/>
            <a:ext cx="946787" cy="338554"/>
          </a:xfrm>
          <a:prstGeom prst="wedgeRoundRectCallout">
            <a:avLst>
              <a:gd name="adj1" fmla="val -64867"/>
              <a:gd name="adj2" fmla="val -6905"/>
              <a:gd name="adj3" fmla="val 16667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23</a:t>
            </a:fld>
            <a:endParaRPr lang="zh-CN" altLang="en-US"/>
          </a:p>
        </p:txBody>
      </p:sp>
      <p:sp>
        <p:nvSpPr>
          <p:cNvPr id="3" name="TextBox 2"/>
          <p:cNvSpPr txBox="1"/>
          <p:nvPr/>
        </p:nvSpPr>
        <p:spPr>
          <a:xfrm>
            <a:off x="0" y="213329"/>
            <a:ext cx="10219765" cy="46166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CN" sz="2400" b="1" u="sng" dirty="0"/>
              <a:t>8-8</a:t>
            </a:r>
            <a:r>
              <a:rPr lang="en-US" altLang="zh-CN" sz="2400" b="1" dirty="0"/>
              <a:t> </a:t>
            </a:r>
            <a:r>
              <a:rPr lang="en-US" altLang="zh-CN" sz="2400" b="1" dirty="0">
                <a:solidFill>
                  <a:srgbClr val="0000FF"/>
                </a:solidFill>
              </a:rPr>
              <a:t>Synthesis of 1</a:t>
            </a:r>
            <a:r>
              <a:rPr lang="en-US" altLang="zh-CN" sz="2400" b="1" baseline="30000" dirty="0">
                <a:solidFill>
                  <a:srgbClr val="0000FF"/>
                </a:solidFill>
              </a:rPr>
              <a:t>o</a:t>
            </a:r>
            <a:r>
              <a:rPr lang="en-US" altLang="zh-CN" sz="2400" b="1" dirty="0">
                <a:solidFill>
                  <a:srgbClr val="0000FF"/>
                </a:solidFill>
              </a:rPr>
              <a:t> and 2</a:t>
            </a:r>
            <a:r>
              <a:rPr lang="en-US" altLang="zh-CN" sz="2400" b="1" baseline="30000" dirty="0">
                <a:solidFill>
                  <a:srgbClr val="0000FF"/>
                </a:solidFill>
              </a:rPr>
              <a:t>o</a:t>
            </a:r>
            <a:r>
              <a:rPr lang="en-US" altLang="zh-CN" sz="2400" b="1" dirty="0">
                <a:solidFill>
                  <a:srgbClr val="0000FF"/>
                </a:solidFill>
              </a:rPr>
              <a:t> Alcohols</a:t>
            </a:r>
            <a:r>
              <a:rPr lang="en-US" altLang="zh-CN" sz="2400" b="1" dirty="0"/>
              <a:t> by</a:t>
            </a:r>
            <a:r>
              <a:rPr lang="en-US" altLang="zh-CN" sz="2400" b="1" dirty="0">
                <a:solidFill>
                  <a:srgbClr val="FF0000"/>
                </a:solidFill>
              </a:rPr>
              <a:t> Reduction of the Carbonyl Group</a:t>
            </a:r>
            <a:r>
              <a:rPr lang="en-US" altLang="zh-CN" sz="2400" b="1" dirty="0">
                <a:solidFill>
                  <a:srgbClr val="0000FF"/>
                </a:solidFill>
              </a:rPr>
              <a:t> 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781048"/>
            <a:ext cx="3993401" cy="40011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altLang="zh-CN" sz="2000" b="1" u="sng" dirty="0"/>
              <a:t>8-8-1</a:t>
            </a:r>
            <a:r>
              <a:rPr lang="en-US" altLang="zh-CN" sz="2000" b="1" dirty="0"/>
              <a:t> Uses of </a:t>
            </a:r>
            <a:r>
              <a:rPr lang="en-US" altLang="zh-CN" sz="2000" b="1" dirty="0">
                <a:solidFill>
                  <a:srgbClr val="FF0000"/>
                </a:solidFill>
              </a:rPr>
              <a:t>Complex Hydrides</a:t>
            </a:r>
            <a:endParaRPr lang="zh-CN" altLang="en-US" sz="2000" b="1" dirty="0">
              <a:solidFill>
                <a:srgbClr val="FF0000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62486" y="2465947"/>
            <a:ext cx="103606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b="1" dirty="0"/>
              <a:t>They Provide </a:t>
            </a:r>
            <a:r>
              <a:rPr lang="en-US" altLang="zh-CN" b="1" dirty="0">
                <a:solidFill>
                  <a:srgbClr val="FF0000"/>
                </a:solidFill>
              </a:rPr>
              <a:t>H</a:t>
            </a:r>
            <a:r>
              <a:rPr lang="en-US" altLang="zh-CN" b="1" baseline="30000" dirty="0">
                <a:solidFill>
                  <a:srgbClr val="FF0000"/>
                </a:solidFill>
              </a:rPr>
              <a:t>-</a:t>
            </a:r>
            <a:r>
              <a:rPr lang="en-US" altLang="zh-CN" b="1" dirty="0">
                <a:solidFill>
                  <a:srgbClr val="FF0000"/>
                </a:solidFill>
              </a:rPr>
              <a:t> </a:t>
            </a:r>
            <a:r>
              <a:rPr lang="en-US" altLang="zh-CN" b="1" dirty="0"/>
              <a:t>(hydride ion) for the </a:t>
            </a:r>
            <a:r>
              <a:rPr lang="en-US" altLang="zh-CN" b="1" dirty="0">
                <a:solidFill>
                  <a:srgbClr val="FF00FF"/>
                </a:solidFill>
              </a:rPr>
              <a:t>Nucleophilic Addition </a:t>
            </a:r>
            <a:r>
              <a:rPr lang="en-US" altLang="zh-CN" b="1" dirty="0"/>
              <a:t>to Carbonyl group.</a:t>
            </a:r>
            <a:endParaRPr lang="zh-CN" altLang="en-US" b="1" dirty="0"/>
          </a:p>
        </p:txBody>
      </p:sp>
      <p:sp>
        <p:nvSpPr>
          <p:cNvPr id="7" name="文本框 6"/>
          <p:cNvSpPr txBox="1"/>
          <p:nvPr/>
        </p:nvSpPr>
        <p:spPr>
          <a:xfrm>
            <a:off x="262486" y="1242693"/>
            <a:ext cx="1153638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b="1" dirty="0"/>
              <a:t>Hydride reagents reduce the carbonyl group to an alkoxide ion, subsequent protonation gives the alcohol.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b="1" dirty="0">
                <a:solidFill>
                  <a:srgbClr val="FF0000"/>
                </a:solidFill>
              </a:rPr>
              <a:t>NaBH</a:t>
            </a:r>
            <a:r>
              <a:rPr lang="en-US" altLang="zh-CN" b="1" baseline="-25000" dirty="0">
                <a:solidFill>
                  <a:srgbClr val="FF0000"/>
                </a:solidFill>
              </a:rPr>
              <a:t>4</a:t>
            </a:r>
            <a:r>
              <a:rPr lang="en-US" altLang="zh-CN" b="1" dirty="0"/>
              <a:t> (sodium borohydride) and </a:t>
            </a:r>
            <a:r>
              <a:rPr lang="en-US" altLang="zh-CN" b="1" dirty="0">
                <a:solidFill>
                  <a:srgbClr val="FF0000"/>
                </a:solidFill>
              </a:rPr>
              <a:t>LiAlH</a:t>
            </a:r>
            <a:r>
              <a:rPr lang="en-US" altLang="zh-CN" b="1" baseline="-25000" dirty="0">
                <a:solidFill>
                  <a:srgbClr val="FF0000"/>
                </a:solidFill>
              </a:rPr>
              <a:t>4</a:t>
            </a:r>
            <a:r>
              <a:rPr lang="en-US" altLang="zh-CN" b="1" dirty="0">
                <a:solidFill>
                  <a:srgbClr val="FF0000"/>
                </a:solidFill>
              </a:rPr>
              <a:t> </a:t>
            </a:r>
            <a:r>
              <a:rPr lang="en-US" altLang="zh-CN" b="1" dirty="0"/>
              <a:t>(lithium aluminum hydride) are two most useful </a:t>
            </a:r>
            <a:r>
              <a:rPr lang="en-US" altLang="zh-CN" b="1" i="1" dirty="0"/>
              <a:t>complex hydride reagents</a:t>
            </a:r>
            <a:r>
              <a:rPr lang="en-US" altLang="zh-CN" b="1" dirty="0"/>
              <a:t>.</a:t>
            </a:r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75627876"/>
              </p:ext>
            </p:extLst>
          </p:nvPr>
        </p:nvGraphicFramePr>
        <p:xfrm>
          <a:off x="718981" y="3200603"/>
          <a:ext cx="6741091" cy="160198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890" name="CS ChemDraw Drawing" r:id="rId3" imgW="4368997" imgH="1039007" progId="ChemDraw.Document.6.0">
                  <p:embed/>
                </p:oleObj>
              </mc:Choice>
              <mc:Fallback>
                <p:oleObj name="CS ChemDraw Drawing" r:id="rId3" imgW="4368997" imgH="1039007" progId="ChemDraw.Document.6.0">
                  <p:embed/>
                  <p:pic>
                    <p:nvPicPr>
                      <p:cNvPr id="8" name="对象 7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718981" y="3200603"/>
                        <a:ext cx="6741091" cy="1601989"/>
                      </a:xfrm>
                      <a:prstGeom prst="rect">
                        <a:avLst/>
                      </a:prstGeom>
                      <a:ln w="28575">
                        <a:solidFill>
                          <a:schemeClr val="bg1">
                            <a:lumMod val="75000"/>
                          </a:schemeClr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椭圆 15"/>
          <p:cNvSpPr/>
          <p:nvPr/>
        </p:nvSpPr>
        <p:spPr>
          <a:xfrm>
            <a:off x="4823437" y="3026853"/>
            <a:ext cx="1512168" cy="750393"/>
          </a:xfrm>
          <a:prstGeom prst="ellipse">
            <a:avLst/>
          </a:prstGeom>
          <a:solidFill>
            <a:srgbClr val="FFFF99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4895445" y="3077440"/>
            <a:ext cx="164220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solidFill>
                  <a:srgbClr val="FF00FF"/>
                </a:solidFill>
                <a:latin typeface="Consolas" panose="020B0609020204030204" pitchFamily="49" charset="0"/>
              </a:rPr>
              <a:t>Step 2: </a:t>
            </a:r>
            <a:r>
              <a:rPr lang="en-US" altLang="zh-CN" sz="1600" b="1" dirty="0">
                <a:latin typeface="Consolas" panose="020B0609020204030204" pitchFamily="49" charset="0"/>
              </a:rPr>
              <a:t>Protonation</a:t>
            </a:r>
            <a:endParaRPr lang="zh-CN" altLang="en-US" sz="1600" dirty="0">
              <a:latin typeface="Consolas" panose="020B0609020204030204" pitchFamily="49" charset="0"/>
            </a:endParaRPr>
          </a:p>
        </p:txBody>
      </p:sp>
      <p:sp>
        <p:nvSpPr>
          <p:cNvPr id="10" name="椭圆 9"/>
          <p:cNvSpPr/>
          <p:nvPr/>
        </p:nvSpPr>
        <p:spPr>
          <a:xfrm>
            <a:off x="2565233" y="4090958"/>
            <a:ext cx="1512168" cy="1080120"/>
          </a:xfrm>
          <a:prstGeom prst="ellipse">
            <a:avLst/>
          </a:prstGeom>
          <a:solidFill>
            <a:srgbClr val="FFFF99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/>
          <p:cNvSpPr txBox="1"/>
          <p:nvPr/>
        </p:nvSpPr>
        <p:spPr>
          <a:xfrm>
            <a:off x="2619963" y="4217592"/>
            <a:ext cx="164220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solidFill>
                  <a:srgbClr val="FF00FF"/>
                </a:solidFill>
                <a:latin typeface="Consolas" panose="020B0609020204030204" pitchFamily="49" charset="0"/>
              </a:rPr>
              <a:t>Step 1: </a:t>
            </a:r>
            <a:r>
              <a:rPr lang="en-US" altLang="zh-CN" sz="1600" b="1" dirty="0">
                <a:solidFill>
                  <a:srgbClr val="FF0000"/>
                </a:solidFill>
                <a:latin typeface="Consolas" panose="020B0609020204030204" pitchFamily="49" charset="0"/>
              </a:rPr>
              <a:t>Nucleophilic Addition</a:t>
            </a:r>
            <a:endParaRPr lang="zh-CN" altLang="en-US" sz="1600" dirty="0">
              <a:solidFill>
                <a:srgbClr val="FF0000"/>
              </a:solidFill>
              <a:latin typeface="Consolas" panose="020B0609020204030204" pitchFamily="49" charset="0"/>
            </a:endParaRPr>
          </a:p>
        </p:txBody>
      </p:sp>
      <p:graphicFrame>
        <p:nvGraphicFramePr>
          <p:cNvPr id="11" name="对象 10"/>
          <p:cNvGraphicFramePr>
            <a:graphicFrameLocks noChangeAspect="1"/>
          </p:cNvGraphicFramePr>
          <p:nvPr/>
        </p:nvGraphicFramePr>
        <p:xfrm>
          <a:off x="1127448" y="5530735"/>
          <a:ext cx="4751417" cy="1182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891" name="CS ChemDraw Drawing" r:id="rId5" imgW="3283949" imgH="818203" progId="ChemDraw.Document.6.0">
                  <p:embed/>
                </p:oleObj>
              </mc:Choice>
              <mc:Fallback>
                <p:oleObj name="CS ChemDraw Drawing" r:id="rId5" imgW="3283949" imgH="818203" progId="ChemDraw.Document.6.0">
                  <p:embed/>
                  <p:pic>
                    <p:nvPicPr>
                      <p:cNvPr id="11" name="对象 10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127448" y="5530735"/>
                        <a:ext cx="4751417" cy="11826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/>
          <p:cNvGraphicFramePr>
            <a:graphicFrameLocks noChangeAspect="1"/>
          </p:cNvGraphicFramePr>
          <p:nvPr/>
        </p:nvGraphicFramePr>
        <p:xfrm>
          <a:off x="6621342" y="5421519"/>
          <a:ext cx="3765992" cy="12919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892" name="CS ChemDraw Drawing" r:id="rId7" imgW="2180356" imgH="748037" progId="ChemDraw.Document.6.0">
                  <p:embed/>
                </p:oleObj>
              </mc:Choice>
              <mc:Fallback>
                <p:oleObj name="CS ChemDraw Drawing" r:id="rId7" imgW="2180356" imgH="748037" progId="ChemDraw.Document.6.0">
                  <p:embed/>
                  <p:pic>
                    <p:nvPicPr>
                      <p:cNvPr id="13" name="对象 12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6621342" y="5421519"/>
                        <a:ext cx="3765992" cy="129190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文本框 14"/>
          <p:cNvSpPr txBox="1"/>
          <p:nvPr/>
        </p:nvSpPr>
        <p:spPr>
          <a:xfrm>
            <a:off x="10077871" y="5783525"/>
            <a:ext cx="97013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b="1" dirty="0">
                <a:latin typeface="Consolas" panose="020B0609020204030204" pitchFamily="49" charset="0"/>
              </a:rPr>
              <a:t>from H</a:t>
            </a:r>
            <a:r>
              <a:rPr lang="en-US" altLang="zh-CN" sz="1600" b="1" baseline="30000" dirty="0">
                <a:latin typeface="Consolas" panose="020B0609020204030204" pitchFamily="49" charset="0"/>
              </a:rPr>
              <a:t>-</a:t>
            </a:r>
            <a:endParaRPr lang="zh-CN" altLang="en-US" sz="1600" b="1" baseline="30000" dirty="0">
              <a:latin typeface="Consolas" panose="020B0609020204030204" pitchFamily="49" charset="0"/>
            </a:endParaRPr>
          </a:p>
        </p:txBody>
      </p:sp>
      <p:sp>
        <p:nvSpPr>
          <p:cNvPr id="21" name="圆角矩形标注 20"/>
          <p:cNvSpPr/>
          <p:nvPr/>
        </p:nvSpPr>
        <p:spPr>
          <a:xfrm>
            <a:off x="9773636" y="5088996"/>
            <a:ext cx="964909" cy="324468"/>
          </a:xfrm>
          <a:prstGeom prst="wedgeRoundRectCallout">
            <a:avLst>
              <a:gd name="adj1" fmla="val -51360"/>
              <a:gd name="adj2" fmla="val 84824"/>
              <a:gd name="adj3" fmla="val 16667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文本框 21"/>
          <p:cNvSpPr txBox="1"/>
          <p:nvPr/>
        </p:nvSpPr>
        <p:spPr>
          <a:xfrm>
            <a:off x="9768408" y="5084803"/>
            <a:ext cx="97013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b="1" dirty="0">
                <a:latin typeface="Consolas" panose="020B0609020204030204" pitchFamily="49" charset="0"/>
              </a:rPr>
              <a:t>from H</a:t>
            </a:r>
            <a:r>
              <a:rPr lang="en-US" altLang="zh-CN" sz="1600" b="1" baseline="30000" dirty="0">
                <a:latin typeface="Consolas" panose="020B0609020204030204" pitchFamily="49" charset="0"/>
              </a:rPr>
              <a:t>+</a:t>
            </a:r>
            <a:endParaRPr lang="zh-CN" altLang="en-US" sz="1600" b="1" baseline="30000" dirty="0">
              <a:latin typeface="Consolas" panose="020B0609020204030204" pitchFamily="49" charset="0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8009005" y="3492586"/>
            <a:ext cx="3686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Two H atoms are added across the C=O, one from H</a:t>
            </a:r>
            <a:r>
              <a:rPr lang="en-US" altLang="zh-CN" b="1" baseline="30000" dirty="0"/>
              <a:t>-</a:t>
            </a:r>
            <a:r>
              <a:rPr lang="en-US" altLang="zh-CN" b="1" dirty="0"/>
              <a:t>, the other from H</a:t>
            </a:r>
            <a:r>
              <a:rPr lang="en-US" altLang="zh-CN" b="1" baseline="30000" dirty="0"/>
              <a:t>+</a:t>
            </a:r>
            <a:r>
              <a:rPr lang="en-US" altLang="zh-CN" b="1" dirty="0"/>
              <a:t>, </a:t>
            </a:r>
            <a:r>
              <a:rPr lang="en-US" altLang="zh-CN" b="1" dirty="0">
                <a:solidFill>
                  <a:srgbClr val="FF0000"/>
                </a:solidFill>
              </a:rPr>
              <a:t>in two separate steps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24</a:t>
            </a:fld>
            <a:endParaRPr lang="zh-CN" altLang="en-US"/>
          </a:p>
        </p:txBody>
      </p:sp>
      <p:sp>
        <p:nvSpPr>
          <p:cNvPr id="5" name="TextBox 4"/>
          <p:cNvSpPr txBox="1"/>
          <p:nvPr/>
        </p:nvSpPr>
        <p:spPr>
          <a:xfrm>
            <a:off x="0" y="293398"/>
            <a:ext cx="6884894" cy="40011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CN" sz="2000" b="1" u="sng" dirty="0"/>
              <a:t>8-8-2</a:t>
            </a:r>
            <a:r>
              <a:rPr lang="en-US" altLang="zh-CN" sz="2000" b="1" dirty="0"/>
              <a:t> </a:t>
            </a:r>
            <a:r>
              <a:rPr lang="en-US" altLang="zh-CN" sz="2000" b="1" dirty="0">
                <a:solidFill>
                  <a:srgbClr val="0000FF"/>
                </a:solidFill>
              </a:rPr>
              <a:t>Catalytic Hydrogenation</a:t>
            </a:r>
            <a:r>
              <a:rPr lang="en-US" altLang="zh-CN" sz="2000" b="1" dirty="0">
                <a:solidFill>
                  <a:srgbClr val="FF00FF"/>
                </a:solidFill>
              </a:rPr>
              <a:t> </a:t>
            </a:r>
            <a:r>
              <a:rPr lang="en-US" altLang="zh-CN" sz="2000" b="1" dirty="0"/>
              <a:t>of Aldehydes and Ketones</a:t>
            </a:r>
            <a:endParaRPr lang="zh-CN" altLang="en-US" sz="2000" b="1" dirty="0"/>
          </a:p>
        </p:txBody>
      </p:sp>
      <p:sp>
        <p:nvSpPr>
          <p:cNvPr id="6" name="TextBox 5"/>
          <p:cNvSpPr txBox="1"/>
          <p:nvPr/>
        </p:nvSpPr>
        <p:spPr>
          <a:xfrm>
            <a:off x="264568" y="761621"/>
            <a:ext cx="1167642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b="1" dirty="0"/>
              <a:t>Reducing an aldehyde or a ketone to an alcohol involves adding two hydrogen atoms across the C=O bond.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b="1" dirty="0"/>
              <a:t>This addition can be accomplished by catalytic </a:t>
            </a:r>
            <a:r>
              <a:rPr lang="en-US" altLang="zh-CN" b="1" dirty="0">
                <a:solidFill>
                  <a:srgbClr val="FF0000"/>
                </a:solidFill>
              </a:rPr>
              <a:t>hydrogenation</a:t>
            </a:r>
            <a:r>
              <a:rPr lang="en-US" altLang="zh-CN" b="1" dirty="0"/>
              <a:t>.</a:t>
            </a:r>
            <a:endParaRPr lang="en-US" altLang="zh-CN" b="1" dirty="0">
              <a:solidFill>
                <a:srgbClr val="FF0000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b="1" dirty="0">
                <a:solidFill>
                  <a:srgbClr val="0000FF"/>
                </a:solidFill>
              </a:rPr>
              <a:t>Raney nickel </a:t>
            </a:r>
            <a:r>
              <a:rPr lang="en-US" altLang="zh-CN" b="1" dirty="0"/>
              <a:t>is an effective catalyst for hydrogenation of ketones and aldehydes to alcohols.</a:t>
            </a:r>
            <a:endParaRPr lang="zh-CN" altLang="en-US" b="1" dirty="0"/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70574073"/>
              </p:ext>
            </p:extLst>
          </p:nvPr>
        </p:nvGraphicFramePr>
        <p:xfrm>
          <a:off x="3676712" y="1963277"/>
          <a:ext cx="3931255" cy="123592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810" name="CS ChemDraw Drawing" r:id="rId3" imgW="2318058" imgH="728217" progId="ChemDraw.Document.6.0">
                  <p:embed/>
                </p:oleObj>
              </mc:Choice>
              <mc:Fallback>
                <p:oleObj name="CS ChemDraw Drawing" r:id="rId3" imgW="2318058" imgH="728217" progId="ChemDraw.Document.6.0">
                  <p:embed/>
                  <p:pic>
                    <p:nvPicPr>
                      <p:cNvPr id="3" name="对象 2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676712" y="1963277"/>
                        <a:ext cx="3931255" cy="1235923"/>
                      </a:xfrm>
                      <a:prstGeom prst="rect">
                        <a:avLst/>
                      </a:prstGeom>
                      <a:ln w="28575">
                        <a:solidFill>
                          <a:schemeClr val="bg1">
                            <a:lumMod val="75000"/>
                          </a:schemeClr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1056589"/>
              </p:ext>
            </p:extLst>
          </p:nvPr>
        </p:nvGraphicFramePr>
        <p:xfrm>
          <a:off x="838200" y="3667769"/>
          <a:ext cx="6340236" cy="289683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811" name="CS ChemDraw Drawing" r:id="rId5" imgW="4234846" imgH="1935304" progId="ChemDraw.Document.6.0">
                  <p:embed/>
                </p:oleObj>
              </mc:Choice>
              <mc:Fallback>
                <p:oleObj name="CS ChemDraw Drawing" r:id="rId5" imgW="4234846" imgH="1935304" progId="ChemDraw.Document.6.0">
                  <p:embed/>
                  <p:pic>
                    <p:nvPicPr>
                      <p:cNvPr id="4" name="对象 3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838200" y="3667769"/>
                        <a:ext cx="6340236" cy="289683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椭圆 6"/>
          <p:cNvSpPr/>
          <p:nvPr/>
        </p:nvSpPr>
        <p:spPr>
          <a:xfrm>
            <a:off x="5025498" y="3667768"/>
            <a:ext cx="565229" cy="297862"/>
          </a:xfrm>
          <a:prstGeom prst="ellipse">
            <a:avLst/>
          </a:prstGeom>
          <a:noFill/>
          <a:ln>
            <a:solidFill>
              <a:srgbClr val="00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椭圆 12"/>
          <p:cNvSpPr/>
          <p:nvPr/>
        </p:nvSpPr>
        <p:spPr>
          <a:xfrm>
            <a:off x="6811333" y="3599656"/>
            <a:ext cx="435579" cy="654006"/>
          </a:xfrm>
          <a:prstGeom prst="ellipse">
            <a:avLst/>
          </a:prstGeom>
          <a:noFill/>
          <a:ln>
            <a:solidFill>
              <a:srgbClr val="00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椭圆 13"/>
          <p:cNvSpPr/>
          <p:nvPr/>
        </p:nvSpPr>
        <p:spPr>
          <a:xfrm>
            <a:off x="6780626" y="5261774"/>
            <a:ext cx="432048" cy="682956"/>
          </a:xfrm>
          <a:prstGeom prst="ellipse">
            <a:avLst/>
          </a:prstGeom>
          <a:noFill/>
          <a:ln>
            <a:solidFill>
              <a:srgbClr val="00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7583436" y="3963997"/>
            <a:ext cx="30243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Consolas" panose="020B0609020204030204" pitchFamily="49" charset="0"/>
              </a:rPr>
              <a:t>C=C is also reduced under this condition</a:t>
            </a:r>
            <a:endParaRPr lang="zh-CN" altLang="en-US" b="1" dirty="0">
              <a:latin typeface="Consolas" panose="020B0609020204030204" pitchFamily="49" charset="0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7583436" y="5589240"/>
            <a:ext cx="25450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Consolas" panose="020B0609020204030204" pitchFamily="49" charset="0"/>
              </a:rPr>
              <a:t>C=C is not reduced by NaBH</a:t>
            </a:r>
            <a:r>
              <a:rPr lang="en-US" altLang="zh-CN" b="1" baseline="-25000" dirty="0">
                <a:latin typeface="Consolas" panose="020B0609020204030204" pitchFamily="49" charset="0"/>
              </a:rPr>
              <a:t>4</a:t>
            </a:r>
            <a:endParaRPr lang="zh-CN" altLang="en-US" b="1" baseline="-25000" dirty="0">
              <a:latin typeface="Consolas" panose="020B0609020204030204" pitchFamily="49" charset="0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25</a:t>
            </a:fld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263352" y="260648"/>
            <a:ext cx="28696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b="1" dirty="0"/>
              <a:t>Retrosynthetic analysis</a:t>
            </a:r>
            <a:endParaRPr lang="zh-CN" altLang="en-US" b="1" dirty="0"/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2855640" y="908720"/>
          <a:ext cx="4739595" cy="129614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834" name="CS ChemDraw Drawing" r:id="rId3" imgW="2907536" imgH="795211" progId="ChemDraw.Document.6.0">
                  <p:embed/>
                </p:oleObj>
              </mc:Choice>
              <mc:Fallback>
                <p:oleObj name="CS ChemDraw Drawing" r:id="rId3" imgW="2907536" imgH="795211" progId="ChemDraw.Document.6.0">
                  <p:embed/>
                  <p:pic>
                    <p:nvPicPr>
                      <p:cNvPr id="5" name="对象 4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855640" y="908720"/>
                        <a:ext cx="4739595" cy="1296144"/>
                      </a:xfrm>
                      <a:prstGeom prst="rect">
                        <a:avLst/>
                      </a:prstGeom>
                      <a:ln>
                        <a:solidFill>
                          <a:schemeClr val="bg1">
                            <a:lumMod val="85000"/>
                          </a:schemeClr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/>
        </p:nvGraphicFramePr>
        <p:xfrm>
          <a:off x="2711624" y="2708920"/>
          <a:ext cx="5447331" cy="14401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835" name="CS ChemDraw Drawing" r:id="rId5" imgW="3283949" imgH="868151" progId="ChemDraw.Document.6.0">
                  <p:embed/>
                </p:oleObj>
              </mc:Choice>
              <mc:Fallback>
                <p:oleObj name="CS ChemDraw Drawing" r:id="rId5" imgW="3283949" imgH="868151" progId="ChemDraw.Document.6.0">
                  <p:embed/>
                  <p:pic>
                    <p:nvPicPr>
                      <p:cNvPr id="6" name="对象 5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711624" y="2708920"/>
                        <a:ext cx="5447331" cy="144016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3728082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椭圆 18"/>
          <p:cNvSpPr/>
          <p:nvPr/>
        </p:nvSpPr>
        <p:spPr>
          <a:xfrm>
            <a:off x="8322422" y="5327255"/>
            <a:ext cx="1643399" cy="459242"/>
          </a:xfrm>
          <a:prstGeom prst="ellipse">
            <a:avLst/>
          </a:prstGeom>
          <a:solidFill>
            <a:srgbClr val="FFFFCC"/>
          </a:solidFill>
          <a:ln>
            <a:solidFill>
              <a:srgbClr val="00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椭圆 17"/>
          <p:cNvSpPr/>
          <p:nvPr/>
        </p:nvSpPr>
        <p:spPr>
          <a:xfrm>
            <a:off x="6104350" y="5310002"/>
            <a:ext cx="1236013" cy="465351"/>
          </a:xfrm>
          <a:prstGeom prst="ellipse">
            <a:avLst/>
          </a:prstGeom>
          <a:solidFill>
            <a:srgbClr val="FFFFCC"/>
          </a:solidFill>
          <a:ln>
            <a:solidFill>
              <a:srgbClr val="00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横卷形 10"/>
          <p:cNvSpPr/>
          <p:nvPr/>
        </p:nvSpPr>
        <p:spPr>
          <a:xfrm>
            <a:off x="292560" y="4401791"/>
            <a:ext cx="4032448" cy="2027285"/>
          </a:xfrm>
          <a:prstGeom prst="horizontalScroll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26</a:t>
            </a:fld>
            <a:endParaRPr lang="zh-CN" altLang="en-US"/>
          </a:p>
        </p:txBody>
      </p:sp>
      <p:sp>
        <p:nvSpPr>
          <p:cNvPr id="6" name="TextBox 5"/>
          <p:cNvSpPr txBox="1"/>
          <p:nvPr/>
        </p:nvSpPr>
        <p:spPr>
          <a:xfrm>
            <a:off x="0" y="1426256"/>
            <a:ext cx="9508634" cy="40011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CN" sz="2000" b="1" u="sng" dirty="0"/>
              <a:t>8-9-1</a:t>
            </a:r>
            <a:r>
              <a:rPr lang="en-US" altLang="zh-CN" sz="2000" b="1" dirty="0"/>
              <a:t> </a:t>
            </a:r>
            <a:r>
              <a:rPr lang="en-US" altLang="zh-CN" sz="2000" b="1" dirty="0">
                <a:solidFill>
                  <a:srgbClr val="0000FF"/>
                </a:solidFill>
              </a:rPr>
              <a:t>Oxidation States</a:t>
            </a:r>
            <a:r>
              <a:rPr lang="en-US" altLang="zh-CN" sz="2000" b="1" dirty="0">
                <a:solidFill>
                  <a:srgbClr val="FF0000"/>
                </a:solidFill>
              </a:rPr>
              <a:t> </a:t>
            </a:r>
            <a:r>
              <a:rPr lang="en-US" altLang="zh-CN" sz="2000" b="1" dirty="0"/>
              <a:t>of Alcohols and Related Functional Groups</a:t>
            </a:r>
            <a:endParaRPr lang="zh-CN" altLang="en-US" sz="2000" b="1" dirty="0"/>
          </a:p>
        </p:txBody>
      </p:sp>
      <p:sp>
        <p:nvSpPr>
          <p:cNvPr id="7" name="TextBox 6"/>
          <p:cNvSpPr txBox="1"/>
          <p:nvPr/>
        </p:nvSpPr>
        <p:spPr>
          <a:xfrm>
            <a:off x="245311" y="2618233"/>
            <a:ext cx="1137741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b="1" dirty="0"/>
              <a:t>Organic chemists tend to consider </a:t>
            </a:r>
            <a:r>
              <a:rPr lang="en-US" altLang="zh-CN" b="1" dirty="0">
                <a:solidFill>
                  <a:srgbClr val="FF0000"/>
                </a:solidFill>
              </a:rPr>
              <a:t>oxidation</a:t>
            </a:r>
            <a:r>
              <a:rPr lang="en-US" altLang="zh-CN" b="1" dirty="0"/>
              <a:t> as the result of </a:t>
            </a:r>
            <a:r>
              <a:rPr lang="en-US" altLang="zh-CN" b="1" dirty="0">
                <a:solidFill>
                  <a:srgbClr val="0000FF"/>
                </a:solidFill>
              </a:rPr>
              <a:t>adding an oxidizing agent (O</a:t>
            </a:r>
            <a:r>
              <a:rPr lang="en-US" altLang="zh-CN" b="1" baseline="-25000" dirty="0">
                <a:solidFill>
                  <a:srgbClr val="0000FF"/>
                </a:solidFill>
              </a:rPr>
              <a:t>2</a:t>
            </a:r>
            <a:r>
              <a:rPr lang="en-US" altLang="zh-CN" b="1" dirty="0">
                <a:solidFill>
                  <a:srgbClr val="0000FF"/>
                </a:solidFill>
              </a:rPr>
              <a:t>, Br</a:t>
            </a:r>
            <a:r>
              <a:rPr lang="en-US" altLang="zh-CN" b="1" baseline="-25000" dirty="0">
                <a:solidFill>
                  <a:srgbClr val="0000FF"/>
                </a:solidFill>
              </a:rPr>
              <a:t>2</a:t>
            </a:r>
            <a:r>
              <a:rPr lang="en-US" altLang="zh-CN" b="1" dirty="0">
                <a:solidFill>
                  <a:srgbClr val="0000FF"/>
                </a:solidFill>
              </a:rPr>
              <a:t>, etc.)</a:t>
            </a:r>
            <a:r>
              <a:rPr lang="en-US" altLang="zh-CN" b="1" dirty="0"/>
              <a:t> and </a:t>
            </a:r>
            <a:r>
              <a:rPr lang="en-US" altLang="zh-CN" b="1" dirty="0">
                <a:solidFill>
                  <a:srgbClr val="0000FF"/>
                </a:solidFill>
              </a:rPr>
              <a:t>reduction</a:t>
            </a:r>
            <a:r>
              <a:rPr lang="en-US" altLang="zh-CN" b="1" dirty="0"/>
              <a:t> as the result of </a:t>
            </a:r>
            <a:r>
              <a:rPr lang="en-US" altLang="zh-CN" b="1" dirty="0">
                <a:solidFill>
                  <a:srgbClr val="0000FF"/>
                </a:solidFill>
              </a:rPr>
              <a:t>adding a reducing agent (H</a:t>
            </a:r>
            <a:r>
              <a:rPr lang="en-US" altLang="zh-CN" b="1" baseline="-25000" dirty="0">
                <a:solidFill>
                  <a:srgbClr val="0000FF"/>
                </a:solidFill>
              </a:rPr>
              <a:t>2</a:t>
            </a:r>
            <a:r>
              <a:rPr lang="en-US" altLang="zh-CN" b="1" dirty="0">
                <a:solidFill>
                  <a:srgbClr val="0000FF"/>
                </a:solidFill>
              </a:rPr>
              <a:t>, NaBH</a:t>
            </a:r>
            <a:r>
              <a:rPr lang="en-US" altLang="zh-CN" b="1" baseline="-25000" dirty="0">
                <a:solidFill>
                  <a:srgbClr val="0000FF"/>
                </a:solidFill>
              </a:rPr>
              <a:t>4</a:t>
            </a:r>
            <a:r>
              <a:rPr lang="en-US" altLang="zh-CN" b="1" dirty="0">
                <a:solidFill>
                  <a:srgbClr val="0000FF"/>
                </a:solidFill>
              </a:rPr>
              <a:t>, </a:t>
            </a:r>
            <a:r>
              <a:rPr lang="en-US" altLang="zh-CN" b="1" dirty="0" err="1">
                <a:solidFill>
                  <a:srgbClr val="0000FF"/>
                </a:solidFill>
              </a:rPr>
              <a:t>etc</a:t>
            </a:r>
            <a:r>
              <a:rPr lang="en-US" altLang="zh-CN" b="1" dirty="0">
                <a:solidFill>
                  <a:srgbClr val="0000FF"/>
                </a:solidFill>
              </a:rPr>
              <a:t>)</a:t>
            </a:r>
            <a:r>
              <a:rPr lang="en-US" altLang="zh-CN" b="1" dirty="0"/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CN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b="1" dirty="0"/>
              <a:t>Organic chemists habitually have simple rules for Oxidation-Reduction Reaction: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263352" y="722387"/>
            <a:ext cx="110172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b="1" dirty="0"/>
              <a:t>Alcohols are important organic compounds because the </a:t>
            </a:r>
            <a:r>
              <a:rPr lang="en-US" altLang="zh-CN" b="1" dirty="0">
                <a:solidFill>
                  <a:srgbClr val="0000FF"/>
                </a:solidFill>
              </a:rPr>
              <a:t>hydroxyl group is easily converted to almost any other functional group</a:t>
            </a:r>
            <a:r>
              <a:rPr lang="en-US" altLang="zh-CN" b="1" dirty="0"/>
              <a:t>.</a:t>
            </a:r>
            <a:endParaRPr lang="zh-CN" altLang="en-US" b="1" dirty="0"/>
          </a:p>
        </p:txBody>
      </p:sp>
      <p:sp>
        <p:nvSpPr>
          <p:cNvPr id="3" name="文本框 2"/>
          <p:cNvSpPr txBox="1"/>
          <p:nvPr/>
        </p:nvSpPr>
        <p:spPr>
          <a:xfrm>
            <a:off x="245311" y="1936484"/>
            <a:ext cx="1137741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b="1" dirty="0"/>
              <a:t>Alcohol oxidations are some of the most common organic reactions. Oxidation of alcohols leads to ketones, aldehydes, and carboxylic acids.</a:t>
            </a:r>
            <a:endParaRPr lang="zh-CN" altLang="en-US" b="1" dirty="0"/>
          </a:p>
        </p:txBody>
      </p:sp>
      <p:sp>
        <p:nvSpPr>
          <p:cNvPr id="8" name="矩形 7"/>
          <p:cNvSpPr/>
          <p:nvPr/>
        </p:nvSpPr>
        <p:spPr>
          <a:xfrm>
            <a:off x="569861" y="4676769"/>
            <a:ext cx="5472608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  <a:latin typeface="Consolas" panose="020B0609020204030204" pitchFamily="49" charset="0"/>
              </a:rPr>
              <a:t>Oxidation</a:t>
            </a:r>
            <a:r>
              <a:rPr lang="en-US" altLang="zh-CN" b="1" dirty="0">
                <a:latin typeface="Consolas" panose="020B0609020204030204" pitchFamily="49" charset="0"/>
              </a:rPr>
              <a:t>: </a:t>
            </a:r>
          </a:p>
          <a:p>
            <a:r>
              <a:rPr lang="en-US" altLang="zh-CN" b="1" dirty="0">
                <a:latin typeface="Consolas" panose="020B0609020204030204" pitchFamily="49" charset="0"/>
              </a:rPr>
              <a:t>addition of O/O</a:t>
            </a:r>
            <a:r>
              <a:rPr lang="en-US" altLang="zh-CN" b="1" baseline="-25000" dirty="0">
                <a:latin typeface="Consolas" panose="020B0609020204030204" pitchFamily="49" charset="0"/>
              </a:rPr>
              <a:t>2</a:t>
            </a:r>
            <a:r>
              <a:rPr lang="en-US" altLang="zh-CN" b="1" dirty="0">
                <a:latin typeface="Consolas" panose="020B0609020204030204" pitchFamily="49" charset="0"/>
              </a:rPr>
              <a:t>; loss of H</a:t>
            </a:r>
            <a:r>
              <a:rPr lang="en-US" altLang="zh-CN" b="1" baseline="-25000" dirty="0">
                <a:latin typeface="Consolas" panose="020B0609020204030204" pitchFamily="49" charset="0"/>
              </a:rPr>
              <a:t>2</a:t>
            </a:r>
            <a:r>
              <a:rPr lang="en-US" altLang="zh-CN" b="1" dirty="0">
                <a:latin typeface="Consolas" panose="020B0609020204030204" pitchFamily="49" charset="0"/>
              </a:rPr>
              <a:t>. </a:t>
            </a:r>
          </a:p>
          <a:p>
            <a:endParaRPr lang="en-US" altLang="zh-CN" b="1" dirty="0">
              <a:latin typeface="Consolas" panose="020B0609020204030204" pitchFamily="49" charset="0"/>
            </a:endParaRPr>
          </a:p>
          <a:p>
            <a:r>
              <a:rPr lang="en-US" altLang="zh-CN" b="1" dirty="0">
                <a:solidFill>
                  <a:srgbClr val="0000FF"/>
                </a:solidFill>
                <a:latin typeface="Consolas" panose="020B0609020204030204" pitchFamily="49" charset="0"/>
              </a:rPr>
              <a:t>Reduction</a:t>
            </a:r>
            <a:r>
              <a:rPr lang="en-US" altLang="zh-CN" b="1" dirty="0">
                <a:latin typeface="Consolas" panose="020B0609020204030204" pitchFamily="49" charset="0"/>
              </a:rPr>
              <a:t>: </a:t>
            </a:r>
          </a:p>
          <a:p>
            <a:r>
              <a:rPr lang="en-US" altLang="zh-CN" b="1" dirty="0">
                <a:latin typeface="Consolas" panose="020B0609020204030204" pitchFamily="49" charset="0"/>
              </a:rPr>
              <a:t>addition of H</a:t>
            </a:r>
            <a:r>
              <a:rPr lang="en-US" altLang="zh-CN" b="1" baseline="-25000" dirty="0">
                <a:latin typeface="Consolas" panose="020B0609020204030204" pitchFamily="49" charset="0"/>
              </a:rPr>
              <a:t>2</a:t>
            </a:r>
            <a:r>
              <a:rPr lang="en-US" altLang="zh-CN" b="1" dirty="0">
                <a:latin typeface="Consolas" panose="020B0609020204030204" pitchFamily="49" charset="0"/>
              </a:rPr>
              <a:t>; loss of O/O</a:t>
            </a:r>
            <a:r>
              <a:rPr lang="en-US" altLang="zh-CN" b="1" baseline="-25000" dirty="0">
                <a:latin typeface="Consolas" panose="020B0609020204030204" pitchFamily="49" charset="0"/>
              </a:rPr>
              <a:t>2</a:t>
            </a:r>
            <a:r>
              <a:rPr lang="en-US" altLang="zh-CN" b="1" dirty="0">
                <a:latin typeface="Consolas" panose="020B0609020204030204" pitchFamily="49" charset="0"/>
              </a:rPr>
              <a:t>.</a:t>
            </a:r>
            <a:endParaRPr lang="zh-CN" altLang="en-US" b="1" dirty="0">
              <a:latin typeface="Consolas" panose="020B0609020204030204" pitchFamily="49" charset="0"/>
            </a:endParaRPr>
          </a:p>
        </p:txBody>
      </p:sp>
      <p:graphicFrame>
        <p:nvGraphicFramePr>
          <p:cNvPr id="12" name="对象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60916353"/>
              </p:ext>
            </p:extLst>
          </p:nvPr>
        </p:nvGraphicFramePr>
        <p:xfrm>
          <a:off x="5114201" y="4836337"/>
          <a:ext cx="5948084" cy="122413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802" name="CS ChemDraw Drawing" r:id="rId3" imgW="3556592" imgH="731388" progId="ChemDraw.Document.6.0">
                  <p:embed/>
                </p:oleObj>
              </mc:Choice>
              <mc:Fallback>
                <p:oleObj name="CS ChemDraw Drawing" r:id="rId3" imgW="3556592" imgH="731388" progId="ChemDraw.Document.6.0">
                  <p:embed/>
                  <p:pic>
                    <p:nvPicPr>
                      <p:cNvPr id="12" name="对象 1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114201" y="4836337"/>
                        <a:ext cx="5948084" cy="122413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右箭头 12"/>
          <p:cNvSpPr/>
          <p:nvPr/>
        </p:nvSpPr>
        <p:spPr>
          <a:xfrm>
            <a:off x="5258217" y="4191059"/>
            <a:ext cx="5544616" cy="707027"/>
          </a:xfrm>
          <a:prstGeom prst="rightArrow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rgbClr val="00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/>
          <p:cNvSpPr txBox="1"/>
          <p:nvPr/>
        </p:nvSpPr>
        <p:spPr>
          <a:xfrm>
            <a:off x="6043509" y="4372981"/>
            <a:ext cx="13244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  <a:latin typeface="Consolas" panose="020B0609020204030204" pitchFamily="49" charset="0"/>
              </a:rPr>
              <a:t>oxidation</a:t>
            </a:r>
            <a:endParaRPr lang="zh-CN" altLang="en-US" b="1" dirty="0">
              <a:solidFill>
                <a:srgbClr val="FF0000"/>
              </a:solidFill>
              <a:latin typeface="Consolas" panose="020B0609020204030204" pitchFamily="49" charset="0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8354561" y="4361137"/>
            <a:ext cx="13244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  <a:latin typeface="Consolas" panose="020B0609020204030204" pitchFamily="49" charset="0"/>
              </a:rPr>
              <a:t>oxidation</a:t>
            </a:r>
            <a:endParaRPr lang="zh-CN" altLang="en-US" b="1" dirty="0">
              <a:solidFill>
                <a:srgbClr val="FF0000"/>
              </a:solidFill>
              <a:latin typeface="Consolas" panose="020B0609020204030204" pitchFamily="49" charset="0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6086386" y="5374087"/>
            <a:ext cx="126989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b="1" dirty="0">
                <a:latin typeface="Consolas" panose="020B0609020204030204" pitchFamily="49" charset="0"/>
              </a:rPr>
              <a:t>loss of </a:t>
            </a:r>
            <a:r>
              <a:rPr lang="en-US" altLang="zh-CN" sz="1600" b="1" dirty="0">
                <a:solidFill>
                  <a:srgbClr val="0000FF"/>
                </a:solidFill>
                <a:latin typeface="Consolas" panose="020B0609020204030204" pitchFamily="49" charset="0"/>
              </a:rPr>
              <a:t>H</a:t>
            </a:r>
            <a:r>
              <a:rPr lang="en-US" altLang="zh-CN" sz="1600" b="1" baseline="-25000" dirty="0">
                <a:solidFill>
                  <a:srgbClr val="0000FF"/>
                </a:solidFill>
                <a:latin typeface="Consolas" panose="020B0609020204030204" pitchFamily="49" charset="0"/>
              </a:rPr>
              <a:t>2</a:t>
            </a:r>
            <a:endParaRPr lang="zh-CN" altLang="en-US" sz="1600" b="1" baseline="-25000" dirty="0">
              <a:solidFill>
                <a:srgbClr val="0000FF"/>
              </a:solidFill>
              <a:latin typeface="Consolas" panose="020B0609020204030204" pitchFamily="49" charset="0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8322422" y="5389305"/>
            <a:ext cx="164339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b="1" dirty="0">
                <a:latin typeface="Consolas" panose="020B0609020204030204" pitchFamily="49" charset="0"/>
              </a:rPr>
              <a:t>addition of </a:t>
            </a:r>
            <a:r>
              <a:rPr lang="en-US" altLang="zh-CN" sz="1600" b="1" dirty="0">
                <a:solidFill>
                  <a:srgbClr val="FF0000"/>
                </a:solidFill>
                <a:latin typeface="Consolas" panose="020B0609020204030204" pitchFamily="49" charset="0"/>
              </a:rPr>
              <a:t>O</a:t>
            </a:r>
            <a:endParaRPr lang="zh-CN" altLang="en-US" sz="1600" b="1" baseline="-25000" dirty="0">
              <a:solidFill>
                <a:srgbClr val="FF0000"/>
              </a:solidFill>
              <a:latin typeface="Consolas" panose="020B0609020204030204" pitchFamily="49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33E4C7CB-522C-4042-8ECA-BFB19FFC9018}"/>
              </a:ext>
            </a:extLst>
          </p:cNvPr>
          <p:cNvSpPr txBox="1"/>
          <p:nvPr/>
        </p:nvSpPr>
        <p:spPr>
          <a:xfrm>
            <a:off x="0" y="235375"/>
            <a:ext cx="3767378" cy="46166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altLang="zh-CN" sz="2400" b="1" dirty="0"/>
              <a:t>8-9 Reactions of Alcohols</a:t>
            </a:r>
            <a:endParaRPr lang="zh-CN" altLang="en-US" sz="2400" b="1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27</a:t>
            </a:fld>
            <a:endParaRPr lang="zh-CN" altLang="en-US"/>
          </a:p>
        </p:txBody>
      </p:sp>
      <p:sp>
        <p:nvSpPr>
          <p:cNvPr id="5" name="TextBox 4"/>
          <p:cNvSpPr txBox="1"/>
          <p:nvPr/>
        </p:nvSpPr>
        <p:spPr>
          <a:xfrm>
            <a:off x="392301" y="2750079"/>
            <a:ext cx="86409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b="1" dirty="0">
                <a:solidFill>
                  <a:srgbClr val="0000FF"/>
                </a:solidFill>
              </a:rPr>
              <a:t>2</a:t>
            </a:r>
            <a:r>
              <a:rPr lang="en-US" altLang="zh-CN" b="1" baseline="30000" dirty="0">
                <a:solidFill>
                  <a:srgbClr val="0000FF"/>
                </a:solidFill>
              </a:rPr>
              <a:t>o</a:t>
            </a:r>
            <a:r>
              <a:rPr lang="en-US" altLang="zh-CN" b="1" dirty="0">
                <a:solidFill>
                  <a:srgbClr val="0000FF"/>
                </a:solidFill>
              </a:rPr>
              <a:t> Alcohols </a:t>
            </a:r>
            <a:r>
              <a:rPr lang="en-US" altLang="zh-CN" b="1" dirty="0"/>
              <a:t>are easily oxidized to give excellent yields of </a:t>
            </a:r>
            <a:r>
              <a:rPr lang="en-US" altLang="zh-CN" b="1" dirty="0">
                <a:solidFill>
                  <a:srgbClr val="FF00FF"/>
                </a:solidFill>
              </a:rPr>
              <a:t>ketones</a:t>
            </a:r>
            <a:r>
              <a:rPr lang="en-US" altLang="zh-CN" b="1" dirty="0"/>
              <a:t>.</a:t>
            </a:r>
            <a:endParaRPr lang="zh-CN" altLang="en-US" b="1" dirty="0"/>
          </a:p>
        </p:txBody>
      </p:sp>
      <p:sp>
        <p:nvSpPr>
          <p:cNvPr id="4" name="矩形 3"/>
          <p:cNvSpPr/>
          <p:nvPr/>
        </p:nvSpPr>
        <p:spPr>
          <a:xfrm>
            <a:off x="0" y="274004"/>
            <a:ext cx="4112023" cy="46166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none">
            <a:spAutoFit/>
          </a:bodyPr>
          <a:lstStyle/>
          <a:p>
            <a:r>
              <a:rPr lang="en-US" altLang="zh-CN" sz="2400" b="1" u="sng" dirty="0"/>
              <a:t>8-9-2</a:t>
            </a:r>
            <a:r>
              <a:rPr lang="en-US" altLang="zh-CN" sz="2400" b="1" dirty="0"/>
              <a:t> </a:t>
            </a:r>
            <a:r>
              <a:rPr lang="en-US" altLang="zh-CN" sz="2400" b="1" dirty="0">
                <a:solidFill>
                  <a:srgbClr val="FF0000"/>
                </a:solidFill>
              </a:rPr>
              <a:t>Oxidation </a:t>
            </a:r>
            <a:r>
              <a:rPr lang="en-US" altLang="zh-CN" sz="2400" b="1" dirty="0"/>
              <a:t>of Alcohols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392301" y="812114"/>
            <a:ext cx="1130525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b="1" dirty="0"/>
              <a:t>Chromium reagents, permanganate, nitric acid and even household bleach (</a:t>
            </a:r>
            <a:r>
              <a:rPr lang="en-US" altLang="zh-CN" b="1" dirty="0" err="1"/>
              <a:t>NaOCl</a:t>
            </a:r>
            <a:r>
              <a:rPr lang="en-US" altLang="zh-CN" b="1" dirty="0"/>
              <a:t>, sodium hypochlorite) are commonly used oxidizing reagents.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b="1" dirty="0"/>
              <a:t>Different types of alcohols undergo oxidation reaction differently.</a:t>
            </a:r>
            <a:endParaRPr lang="zh-CN" altLang="en-US" b="1" dirty="0"/>
          </a:p>
        </p:txBody>
      </p:sp>
      <p:sp>
        <p:nvSpPr>
          <p:cNvPr id="9" name="矩形 8"/>
          <p:cNvSpPr/>
          <p:nvPr/>
        </p:nvSpPr>
        <p:spPr>
          <a:xfrm>
            <a:off x="0" y="2273539"/>
            <a:ext cx="3294492" cy="40011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none">
            <a:spAutoFit/>
          </a:bodyPr>
          <a:lstStyle/>
          <a:p>
            <a:r>
              <a:rPr lang="en-US" altLang="zh-CN" sz="2000" b="1" u="sng" dirty="0"/>
              <a:t>1.</a:t>
            </a:r>
            <a:r>
              <a:rPr lang="en-US" altLang="zh-CN" sz="2000" b="1" dirty="0"/>
              <a:t> Oxidation of </a:t>
            </a:r>
            <a:r>
              <a:rPr lang="en-US" altLang="zh-CN" sz="2000" b="1" dirty="0">
                <a:solidFill>
                  <a:srgbClr val="0000FF"/>
                </a:solidFill>
              </a:rPr>
              <a:t>2</a:t>
            </a:r>
            <a:r>
              <a:rPr lang="en-US" altLang="zh-CN" sz="2000" b="1" baseline="30000" dirty="0">
                <a:solidFill>
                  <a:srgbClr val="0000FF"/>
                </a:solidFill>
              </a:rPr>
              <a:t>o</a:t>
            </a:r>
            <a:r>
              <a:rPr lang="en-US" altLang="zh-CN" sz="2000" b="1" dirty="0">
                <a:solidFill>
                  <a:srgbClr val="0000FF"/>
                </a:solidFill>
              </a:rPr>
              <a:t> Alcohols</a:t>
            </a:r>
          </a:p>
        </p:txBody>
      </p:sp>
      <p:graphicFrame>
        <p:nvGraphicFramePr>
          <p:cNvPr id="10" name="对象 9"/>
          <p:cNvGraphicFramePr>
            <a:graphicFrameLocks noChangeAspect="1"/>
          </p:cNvGraphicFramePr>
          <p:nvPr/>
        </p:nvGraphicFramePr>
        <p:xfrm>
          <a:off x="3143672" y="3303095"/>
          <a:ext cx="3622692" cy="12613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30" name="CS ChemDraw Drawing" r:id="rId3" imgW="2211132" imgH="769444" progId="ChemDraw.Document.6.0">
                  <p:embed/>
                </p:oleObj>
              </mc:Choice>
              <mc:Fallback>
                <p:oleObj name="CS ChemDraw Drawing" r:id="rId3" imgW="2211132" imgH="769444" progId="ChemDraw.Document.6.0">
                  <p:embed/>
                  <p:pic>
                    <p:nvPicPr>
                      <p:cNvPr id="10" name="对象 9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143672" y="3303095"/>
                        <a:ext cx="3622692" cy="1261310"/>
                      </a:xfrm>
                      <a:prstGeom prst="rect">
                        <a:avLst/>
                      </a:prstGeom>
                      <a:ln w="28575">
                        <a:solidFill>
                          <a:schemeClr val="bg1">
                            <a:lumMod val="75000"/>
                          </a:schemeClr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椭圆 11"/>
          <p:cNvSpPr/>
          <p:nvPr/>
        </p:nvSpPr>
        <p:spPr>
          <a:xfrm>
            <a:off x="3791745" y="3150204"/>
            <a:ext cx="288031" cy="854860"/>
          </a:xfrm>
          <a:prstGeom prst="ellipse">
            <a:avLst/>
          </a:prstGeom>
          <a:noFill/>
          <a:ln w="19050">
            <a:solidFill>
              <a:srgbClr val="00FFFF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/>
          <p:cNvSpPr txBox="1"/>
          <p:nvPr/>
        </p:nvSpPr>
        <p:spPr>
          <a:xfrm>
            <a:off x="392301" y="4700221"/>
            <a:ext cx="110749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b="1" dirty="0"/>
              <a:t>Na</a:t>
            </a:r>
            <a:r>
              <a:rPr lang="en-US" altLang="zh-CN" b="1" baseline="-25000" dirty="0"/>
              <a:t>2</a:t>
            </a:r>
            <a:r>
              <a:rPr lang="en-US" altLang="zh-CN" b="1" dirty="0"/>
              <a:t>Cr</a:t>
            </a:r>
            <a:r>
              <a:rPr lang="en-US" altLang="zh-CN" b="1" baseline="-25000" dirty="0"/>
              <a:t>2</a:t>
            </a:r>
            <a:r>
              <a:rPr lang="en-US" altLang="zh-CN" b="1" dirty="0"/>
              <a:t>O</a:t>
            </a:r>
            <a:r>
              <a:rPr lang="en-US" altLang="zh-CN" b="1" baseline="-25000" dirty="0"/>
              <a:t>7</a:t>
            </a:r>
            <a:r>
              <a:rPr lang="en-US" altLang="zh-CN" b="1" dirty="0"/>
              <a:t> (sodium dichromate) / H</a:t>
            </a:r>
            <a:r>
              <a:rPr lang="en-US" altLang="zh-CN" b="1" baseline="-25000" dirty="0"/>
              <a:t>2</a:t>
            </a:r>
            <a:r>
              <a:rPr lang="en-US" altLang="zh-CN" b="1" dirty="0"/>
              <a:t>SO</a:t>
            </a:r>
            <a:r>
              <a:rPr lang="en-US" altLang="zh-CN" b="1" baseline="-25000" dirty="0"/>
              <a:t>4</a:t>
            </a:r>
            <a:r>
              <a:rPr lang="en-US" altLang="zh-CN" b="1" dirty="0"/>
              <a:t> or CrO</a:t>
            </a:r>
            <a:r>
              <a:rPr lang="en-US" altLang="zh-CN" b="1" baseline="-25000" dirty="0"/>
              <a:t>3</a:t>
            </a:r>
            <a:r>
              <a:rPr lang="en-US" altLang="zh-CN" b="1" dirty="0"/>
              <a:t> (chromium trioxide) / dilute H</a:t>
            </a:r>
            <a:r>
              <a:rPr lang="en-US" altLang="zh-CN" b="1" baseline="-25000" dirty="0"/>
              <a:t>2</a:t>
            </a:r>
            <a:r>
              <a:rPr lang="en-US" altLang="zh-CN" b="1" dirty="0"/>
              <a:t>SO</a:t>
            </a:r>
            <a:r>
              <a:rPr lang="en-US" altLang="zh-CN" b="1" baseline="-25000" dirty="0"/>
              <a:t>4 </a:t>
            </a:r>
            <a:r>
              <a:rPr lang="en-US" altLang="zh-CN" b="1" dirty="0"/>
              <a:t>is often the chromic acid reagent of choice.</a:t>
            </a:r>
            <a:endParaRPr lang="zh-CN" altLang="en-US" dirty="0"/>
          </a:p>
        </p:txBody>
      </p:sp>
      <p:graphicFrame>
        <p:nvGraphicFramePr>
          <p:cNvPr id="15" name="对象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93629972"/>
              </p:ext>
            </p:extLst>
          </p:nvPr>
        </p:nvGraphicFramePr>
        <p:xfrm>
          <a:off x="1037801" y="5417353"/>
          <a:ext cx="9564140" cy="116664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31" name="CS ChemDraw Drawing" r:id="rId5" imgW="6507135" imgH="793625" progId="ChemDraw.Document.6.0">
                  <p:embed/>
                </p:oleObj>
              </mc:Choice>
              <mc:Fallback>
                <p:oleObj name="CS ChemDraw Drawing" r:id="rId5" imgW="6507135" imgH="793625" progId="ChemDraw.Document.6.0">
                  <p:embed/>
                  <p:pic>
                    <p:nvPicPr>
                      <p:cNvPr id="15" name="对象 14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037801" y="5417353"/>
                        <a:ext cx="9564140" cy="116664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椭圆 13"/>
          <p:cNvSpPr/>
          <p:nvPr/>
        </p:nvSpPr>
        <p:spPr>
          <a:xfrm>
            <a:off x="8017968" y="5364912"/>
            <a:ext cx="2664296" cy="1368152"/>
          </a:xfrm>
          <a:prstGeom prst="ellipse">
            <a:avLst/>
          </a:prstGeom>
          <a:solidFill>
            <a:srgbClr val="FFFFCC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28</a:t>
            </a:fld>
            <a:endParaRPr lang="zh-CN" altLang="en-US"/>
          </a:p>
        </p:txBody>
      </p:sp>
      <p:sp>
        <p:nvSpPr>
          <p:cNvPr id="6" name="TextBox 5"/>
          <p:cNvSpPr txBox="1"/>
          <p:nvPr/>
        </p:nvSpPr>
        <p:spPr>
          <a:xfrm>
            <a:off x="178768" y="666031"/>
            <a:ext cx="111750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b="1" dirty="0"/>
              <a:t>Oxidation of a 1</a:t>
            </a:r>
            <a:r>
              <a:rPr lang="en-US" altLang="zh-CN" b="1" baseline="30000" dirty="0"/>
              <a:t>o</a:t>
            </a:r>
            <a:r>
              <a:rPr lang="en-US" altLang="zh-CN" b="1" dirty="0"/>
              <a:t> alcohol </a:t>
            </a:r>
            <a:r>
              <a:rPr lang="en-US" altLang="zh-CN" b="1" i="1" dirty="0">
                <a:solidFill>
                  <a:srgbClr val="0000FF"/>
                </a:solidFill>
              </a:rPr>
              <a:t>initially forms an aldehyde</a:t>
            </a:r>
            <a:r>
              <a:rPr lang="en-US" altLang="zh-CN" b="1" dirty="0"/>
              <a:t>. Unlike a ketone, however, </a:t>
            </a:r>
            <a:r>
              <a:rPr lang="en-US" altLang="zh-CN" b="1" dirty="0">
                <a:solidFill>
                  <a:srgbClr val="0000FF"/>
                </a:solidFill>
              </a:rPr>
              <a:t>the aldehyde is easily oxidized further</a:t>
            </a:r>
            <a:r>
              <a:rPr lang="en-US" altLang="zh-CN" b="1" dirty="0"/>
              <a:t> to give a </a:t>
            </a:r>
            <a:r>
              <a:rPr lang="en-US" altLang="zh-CN" b="1" i="1" dirty="0">
                <a:solidFill>
                  <a:srgbClr val="FF00FF"/>
                </a:solidFill>
              </a:rPr>
              <a:t>carboxylic acid</a:t>
            </a:r>
            <a:r>
              <a:rPr lang="en-US" altLang="zh-CN" b="1" dirty="0"/>
              <a:t>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3352" y="2932090"/>
            <a:ext cx="109452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b="1" dirty="0"/>
              <a:t>Most oxidizing agents are strong enough to oxidize a 1</a:t>
            </a:r>
            <a:r>
              <a:rPr lang="en-US" altLang="zh-CN" b="1" dirty="0">
                <a:sym typeface="Symbol" panose="05050102010706020507" pitchFamily="18" charset="2"/>
              </a:rPr>
              <a:t></a:t>
            </a:r>
            <a:r>
              <a:rPr lang="en-US" altLang="zh-CN" b="1" dirty="0"/>
              <a:t> alcohol all the way to the carboxylic acid.</a:t>
            </a:r>
            <a:endParaRPr lang="zh-CN" altLang="en-US" b="1" dirty="0"/>
          </a:p>
        </p:txBody>
      </p:sp>
      <p:sp>
        <p:nvSpPr>
          <p:cNvPr id="8" name="矩形 7"/>
          <p:cNvSpPr/>
          <p:nvPr/>
        </p:nvSpPr>
        <p:spPr>
          <a:xfrm>
            <a:off x="0" y="260648"/>
            <a:ext cx="3294492" cy="40011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none">
            <a:spAutoFit/>
          </a:bodyPr>
          <a:lstStyle/>
          <a:p>
            <a:r>
              <a:rPr lang="en-US" altLang="zh-CN" sz="2000" b="1" u="sng" dirty="0"/>
              <a:t>2.</a:t>
            </a:r>
            <a:r>
              <a:rPr lang="en-US" altLang="zh-CN" sz="2000" b="1" dirty="0"/>
              <a:t> Oxidation of </a:t>
            </a:r>
            <a:r>
              <a:rPr lang="en-US" altLang="zh-CN" sz="2000" b="1" dirty="0">
                <a:solidFill>
                  <a:srgbClr val="0000FF"/>
                </a:solidFill>
              </a:rPr>
              <a:t>1</a:t>
            </a:r>
            <a:r>
              <a:rPr lang="en-US" altLang="zh-CN" sz="2000" b="1" baseline="30000" dirty="0">
                <a:solidFill>
                  <a:srgbClr val="0000FF"/>
                </a:solidFill>
              </a:rPr>
              <a:t>o</a:t>
            </a:r>
            <a:r>
              <a:rPr lang="en-US" altLang="zh-CN" sz="2000" b="1" dirty="0">
                <a:solidFill>
                  <a:srgbClr val="0000FF"/>
                </a:solidFill>
              </a:rPr>
              <a:t> Alcohols</a:t>
            </a: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47855106"/>
              </p:ext>
            </p:extLst>
          </p:nvPr>
        </p:nvGraphicFramePr>
        <p:xfrm>
          <a:off x="3015663" y="1542237"/>
          <a:ext cx="5670409" cy="124472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222" name="CS ChemDraw Drawing" r:id="rId3" imgW="3384562" imgH="743280" progId="ChemDraw.Document.6.0">
                  <p:embed/>
                </p:oleObj>
              </mc:Choice>
              <mc:Fallback>
                <p:oleObj name="CS ChemDraw Drawing" r:id="rId3" imgW="3384562" imgH="743280" progId="ChemDraw.Document.6.0">
                  <p:embed/>
                  <p:pic>
                    <p:nvPicPr>
                      <p:cNvPr id="3" name="对象 2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015663" y="1542237"/>
                        <a:ext cx="5670409" cy="1244724"/>
                      </a:xfrm>
                      <a:prstGeom prst="rect">
                        <a:avLst/>
                      </a:prstGeom>
                      <a:ln w="28575">
                        <a:solidFill>
                          <a:schemeClr val="bg1">
                            <a:lumMod val="85000"/>
                          </a:schemeClr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椭圆 10"/>
          <p:cNvSpPr/>
          <p:nvPr/>
        </p:nvSpPr>
        <p:spPr>
          <a:xfrm>
            <a:off x="3655790" y="1424590"/>
            <a:ext cx="295978" cy="854860"/>
          </a:xfrm>
          <a:prstGeom prst="ellipse">
            <a:avLst/>
          </a:prstGeom>
          <a:noFill/>
          <a:ln w="19050">
            <a:solidFill>
              <a:srgbClr val="00FFFF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83469389"/>
              </p:ext>
            </p:extLst>
          </p:nvPr>
        </p:nvGraphicFramePr>
        <p:xfrm>
          <a:off x="905994" y="3326026"/>
          <a:ext cx="5446965" cy="1535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223" name="CS ChemDraw Drawing" r:id="rId5" imgW="3739669" imgH="1054071" progId="ChemDraw.Document.6.0">
                  <p:embed/>
                </p:oleObj>
              </mc:Choice>
              <mc:Fallback>
                <p:oleObj name="CS ChemDraw Drawing" r:id="rId5" imgW="3739669" imgH="1054071" progId="ChemDraw.Document.6.0">
                  <p:embed/>
                  <p:pic>
                    <p:nvPicPr>
                      <p:cNvPr id="4" name="对象 3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905994" y="3326026"/>
                        <a:ext cx="5446965" cy="15351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6672064" y="3648413"/>
          <a:ext cx="4613942" cy="99100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224" name="CS ChemDraw Drawing" r:id="rId7" imgW="3177417" imgH="682629" progId="ChemDraw.Document.6.0">
                  <p:embed/>
                </p:oleObj>
              </mc:Choice>
              <mc:Fallback>
                <p:oleObj name="CS ChemDraw Drawing" r:id="rId7" imgW="3177417" imgH="682629" progId="ChemDraw.Document.6.0">
                  <p:embed/>
                  <p:pic>
                    <p:nvPicPr>
                      <p:cNvPr id="5" name="对象 4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6672064" y="3648413"/>
                        <a:ext cx="4613942" cy="99100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251404" y="4782286"/>
            <a:ext cx="116052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b="1" dirty="0"/>
              <a:t>A good reagent </a:t>
            </a:r>
            <a:r>
              <a:rPr lang="en-US" altLang="zh-CN" b="1" dirty="0">
                <a:solidFill>
                  <a:srgbClr val="0000FF"/>
                </a:solidFill>
              </a:rPr>
              <a:t>for </a:t>
            </a:r>
            <a:r>
              <a:rPr lang="en-US" altLang="zh-CN" b="1" i="1" dirty="0">
                <a:solidFill>
                  <a:srgbClr val="0000FF"/>
                </a:solidFill>
              </a:rPr>
              <a:t>the limited oxidation of 1</a:t>
            </a:r>
            <a:r>
              <a:rPr lang="en-US" altLang="zh-CN" b="1" i="1" baseline="30000" dirty="0">
                <a:solidFill>
                  <a:srgbClr val="0000FF"/>
                </a:solidFill>
              </a:rPr>
              <a:t>o</a:t>
            </a:r>
            <a:r>
              <a:rPr lang="en-US" altLang="zh-CN" b="1" i="1" dirty="0">
                <a:solidFill>
                  <a:srgbClr val="0000FF"/>
                </a:solidFill>
              </a:rPr>
              <a:t> alcohols to aldehydes</a:t>
            </a:r>
            <a:r>
              <a:rPr lang="en-US" altLang="zh-CN" b="1" i="1" dirty="0">
                <a:solidFill>
                  <a:srgbClr val="FF00FF"/>
                </a:solidFill>
              </a:rPr>
              <a:t> </a:t>
            </a:r>
            <a:r>
              <a:rPr lang="en-US" altLang="zh-CN" b="1" dirty="0"/>
              <a:t>is </a:t>
            </a:r>
            <a:r>
              <a:rPr lang="en-US" altLang="zh-CN" b="1" dirty="0" err="1">
                <a:solidFill>
                  <a:srgbClr val="FF0000"/>
                </a:solidFill>
              </a:rPr>
              <a:t>p</a:t>
            </a:r>
            <a:r>
              <a:rPr lang="en-US" altLang="zh-CN" b="1" dirty="0" err="1"/>
              <a:t>yridinium</a:t>
            </a:r>
            <a:r>
              <a:rPr lang="en-US" altLang="zh-CN" b="1" dirty="0">
                <a:solidFill>
                  <a:srgbClr val="FF0000"/>
                </a:solidFill>
              </a:rPr>
              <a:t> </a:t>
            </a:r>
            <a:r>
              <a:rPr lang="en-US" altLang="zh-CN" b="1" dirty="0" err="1">
                <a:solidFill>
                  <a:srgbClr val="FF0000"/>
                </a:solidFill>
              </a:rPr>
              <a:t>c</a:t>
            </a:r>
            <a:r>
              <a:rPr lang="en-US" altLang="zh-CN" b="1" dirty="0" err="1"/>
              <a:t>hloro</a:t>
            </a:r>
            <a:r>
              <a:rPr lang="en-US" altLang="zh-CN" b="1" dirty="0" err="1">
                <a:solidFill>
                  <a:srgbClr val="FF0000"/>
                </a:solidFill>
              </a:rPr>
              <a:t>c</a:t>
            </a:r>
            <a:r>
              <a:rPr lang="en-US" altLang="zh-CN" b="1" dirty="0" err="1"/>
              <a:t>hromate</a:t>
            </a:r>
            <a:r>
              <a:rPr lang="en-US" altLang="zh-CN" b="1" dirty="0">
                <a:solidFill>
                  <a:srgbClr val="FF0000"/>
                </a:solidFill>
              </a:rPr>
              <a:t> </a:t>
            </a:r>
            <a:r>
              <a:rPr lang="en-US" altLang="zh-CN" b="1" dirty="0"/>
              <a:t>(</a:t>
            </a:r>
            <a:r>
              <a:rPr lang="en-US" altLang="zh-CN" b="1" dirty="0">
                <a:solidFill>
                  <a:srgbClr val="FF0000"/>
                </a:solidFill>
              </a:rPr>
              <a:t>PCC</a:t>
            </a:r>
            <a:r>
              <a:rPr lang="en-US" altLang="zh-CN" b="1" dirty="0"/>
              <a:t>)</a:t>
            </a:r>
            <a:r>
              <a:rPr lang="en-US" altLang="zh-CN" dirty="0"/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b="1" dirty="0"/>
              <a:t>PCC is a complex of chromium trioxide with pyridine and HCl, soluble in CH</a:t>
            </a:r>
            <a:r>
              <a:rPr lang="en-US" altLang="zh-CN" b="1" baseline="-25000" dirty="0"/>
              <a:t>2</a:t>
            </a:r>
            <a:r>
              <a:rPr lang="en-US" altLang="zh-CN" b="1" dirty="0"/>
              <a:t>Cl</a:t>
            </a:r>
            <a:r>
              <a:rPr lang="en-US" altLang="zh-CN" b="1" baseline="-25000" dirty="0"/>
              <a:t>2</a:t>
            </a:r>
            <a:r>
              <a:rPr lang="en-US" altLang="zh-CN" b="1" dirty="0"/>
              <a:t>.</a:t>
            </a:r>
          </a:p>
        </p:txBody>
      </p:sp>
      <p:graphicFrame>
        <p:nvGraphicFramePr>
          <p:cNvPr id="12" name="对象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75592248"/>
              </p:ext>
            </p:extLst>
          </p:nvPr>
        </p:nvGraphicFramePr>
        <p:xfrm>
          <a:off x="2176495" y="5498685"/>
          <a:ext cx="4176464" cy="1170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225" name="CS ChemDraw Drawing" r:id="rId9" imgW="2724853" imgH="763101" progId="ChemDraw.Document.6.0">
                  <p:embed/>
                </p:oleObj>
              </mc:Choice>
              <mc:Fallback>
                <p:oleObj name="CS ChemDraw Drawing" r:id="rId9" imgW="2724853" imgH="763101" progId="ChemDraw.Document.6.0">
                  <p:embed/>
                  <p:pic>
                    <p:nvPicPr>
                      <p:cNvPr id="12" name="对象 11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176495" y="5498685"/>
                        <a:ext cx="4176464" cy="11706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矩形 15"/>
          <p:cNvSpPr/>
          <p:nvPr/>
        </p:nvSpPr>
        <p:spPr>
          <a:xfrm>
            <a:off x="8215772" y="5633490"/>
            <a:ext cx="2675622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600" b="1" dirty="0">
                <a:latin typeface="Consolas" panose="020B0609020204030204" pitchFamily="49" charset="0"/>
              </a:rPr>
              <a:t>PCC oxidizes most 1</a:t>
            </a:r>
            <a:r>
              <a:rPr lang="en-US" altLang="zh-CN" sz="1600" b="1" baseline="30000" dirty="0">
                <a:latin typeface="Consolas" panose="020B0609020204030204" pitchFamily="49" charset="0"/>
              </a:rPr>
              <a:t>o</a:t>
            </a:r>
            <a:r>
              <a:rPr lang="en-US" altLang="zh-CN" sz="1600" b="1" dirty="0">
                <a:latin typeface="Consolas" panose="020B0609020204030204" pitchFamily="49" charset="0"/>
              </a:rPr>
              <a:t> alcohols to aldehydes in excellent yields</a:t>
            </a:r>
            <a:endParaRPr lang="zh-CN" altLang="en-US" sz="1600" dirty="0">
              <a:latin typeface="Consolas" panose="020B0609020204030204" pitchFamily="49" charset="0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29</a:t>
            </a:fld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0" y="260648"/>
            <a:ext cx="4900701" cy="40011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none">
            <a:spAutoFit/>
          </a:bodyPr>
          <a:lstStyle/>
          <a:p>
            <a:r>
              <a:rPr lang="en-US" altLang="zh-CN" sz="2000" b="1" u="sng" dirty="0"/>
              <a:t>3.</a:t>
            </a:r>
            <a:r>
              <a:rPr lang="en-US" altLang="zh-CN" sz="2000" b="1" dirty="0"/>
              <a:t> </a:t>
            </a:r>
            <a:r>
              <a:rPr lang="en-US" altLang="zh-CN" sz="2000" b="1" dirty="0">
                <a:solidFill>
                  <a:srgbClr val="FF0000"/>
                </a:solidFill>
              </a:rPr>
              <a:t>Resistance</a:t>
            </a:r>
            <a:r>
              <a:rPr lang="en-US" altLang="zh-CN" sz="2000" b="1" dirty="0"/>
              <a:t> of </a:t>
            </a:r>
            <a:r>
              <a:rPr lang="en-US" altLang="zh-CN" sz="2000" b="1" dirty="0">
                <a:solidFill>
                  <a:srgbClr val="0000FF"/>
                </a:solidFill>
              </a:rPr>
              <a:t>3</a:t>
            </a:r>
            <a:r>
              <a:rPr lang="en-US" altLang="zh-CN" sz="2000" b="1" baseline="30000" dirty="0">
                <a:solidFill>
                  <a:srgbClr val="0000FF"/>
                </a:solidFill>
              </a:rPr>
              <a:t>o</a:t>
            </a:r>
            <a:r>
              <a:rPr lang="en-US" altLang="zh-CN" sz="2000" b="1" dirty="0">
                <a:solidFill>
                  <a:srgbClr val="0000FF"/>
                </a:solidFill>
              </a:rPr>
              <a:t> Alcohols </a:t>
            </a:r>
            <a:r>
              <a:rPr lang="en-US" altLang="zh-CN" sz="2000" b="1" dirty="0"/>
              <a:t>to Oxidation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263351" y="843677"/>
            <a:ext cx="11319048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b="1" dirty="0"/>
              <a:t>3</a:t>
            </a:r>
            <a:r>
              <a:rPr lang="en-US" altLang="zh-CN" b="1" dirty="0">
                <a:sym typeface="Symbol" panose="05050102010706020507" pitchFamily="18" charset="2"/>
              </a:rPr>
              <a:t> Alcohols </a:t>
            </a:r>
            <a:r>
              <a:rPr lang="en-US" altLang="zh-CN" b="1" dirty="0">
                <a:solidFill>
                  <a:srgbClr val="0000FF"/>
                </a:solidFill>
                <a:sym typeface="Symbol" panose="05050102010706020507" pitchFamily="18" charset="2"/>
              </a:rPr>
              <a:t>do not have H atoms on the carbinol carbon atom</a:t>
            </a:r>
            <a:r>
              <a:rPr lang="en-US" altLang="zh-CN" b="1" dirty="0">
                <a:sym typeface="Symbol" panose="05050102010706020507" pitchFamily="18" charset="2"/>
              </a:rPr>
              <a:t>, so they </a:t>
            </a:r>
            <a:r>
              <a:rPr lang="en-US" altLang="zh-CN" b="1" dirty="0">
                <a:solidFill>
                  <a:srgbClr val="FF0000"/>
                </a:solidFill>
                <a:sym typeface="Symbol" panose="05050102010706020507" pitchFamily="18" charset="2"/>
              </a:rPr>
              <a:t>resist oxidation </a:t>
            </a:r>
            <a:r>
              <a:rPr lang="en-US" altLang="zh-CN" b="1" dirty="0">
                <a:sym typeface="Symbol" panose="05050102010706020507" pitchFamily="18" charset="2"/>
              </a:rPr>
              <a:t>under normal conditions.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b="1" dirty="0">
              <a:sym typeface="Symbol" panose="05050102010706020507" pitchFamily="18" charset="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b="1" dirty="0">
              <a:sym typeface="Symbol" panose="05050102010706020507" pitchFamily="18" charset="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b="1" dirty="0">
              <a:sym typeface="Symbol" panose="05050102010706020507" pitchFamily="18" charset="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b="1" dirty="0">
              <a:sym typeface="Symbol" panose="05050102010706020507" pitchFamily="18" charset="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b="1" dirty="0">
              <a:sym typeface="Symbol" panose="05050102010706020507" pitchFamily="18" charset="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b="1" dirty="0">
                <a:sym typeface="Symbol" panose="05050102010706020507" pitchFamily="18" charset="2"/>
              </a:rPr>
              <a:t>Under severe conditions, oxidation of 3 alcohols results in cleaving C-C bonds, giving mixtures of products. So oxidation of 3 alcohols is not an important reaction in organic chemistry.</a:t>
            </a:r>
          </a:p>
        </p:txBody>
      </p:sp>
      <p:sp>
        <p:nvSpPr>
          <p:cNvPr id="9" name="矩形 8"/>
          <p:cNvSpPr/>
          <p:nvPr/>
        </p:nvSpPr>
        <p:spPr>
          <a:xfrm>
            <a:off x="0" y="4152372"/>
            <a:ext cx="2940228" cy="40011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none">
            <a:spAutoFit/>
          </a:bodyPr>
          <a:lstStyle/>
          <a:p>
            <a:r>
              <a:rPr lang="en-US" altLang="zh-CN" sz="2000" b="1" u="sng" dirty="0"/>
              <a:t>4.</a:t>
            </a:r>
            <a:r>
              <a:rPr lang="en-US" altLang="zh-CN" sz="2000" b="1" dirty="0"/>
              <a:t> The chromic acid test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263351" y="4715752"/>
            <a:ext cx="1148937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b="1" dirty="0"/>
              <a:t>The progress of a chromic acid oxidation can be observed from the color changes.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b="1" dirty="0"/>
              <a:t>When a </a:t>
            </a:r>
            <a:r>
              <a:rPr lang="en-US" altLang="zh-CN" b="1" u="sng" dirty="0"/>
              <a:t>1</a:t>
            </a:r>
            <a:r>
              <a:rPr lang="en-US" altLang="zh-CN" b="1" u="sng" dirty="0">
                <a:sym typeface="Symbol" panose="05050102010706020507" pitchFamily="18" charset="2"/>
              </a:rPr>
              <a:t> or 2 alcohol is added to the chromic acid reagent</a:t>
            </a:r>
            <a:r>
              <a:rPr lang="en-US" altLang="zh-CN" b="1" dirty="0">
                <a:sym typeface="Symbol" panose="05050102010706020507" pitchFamily="18" charset="2"/>
              </a:rPr>
              <a:t>, the </a:t>
            </a:r>
            <a:r>
              <a:rPr lang="en-US" altLang="zh-CN" b="1" dirty="0">
                <a:solidFill>
                  <a:srgbClr val="FF6600"/>
                </a:solidFill>
                <a:sym typeface="Symbol" panose="05050102010706020507" pitchFamily="18" charset="2"/>
              </a:rPr>
              <a:t>orange color</a:t>
            </a:r>
            <a:r>
              <a:rPr lang="en-US" altLang="zh-CN" b="1" dirty="0">
                <a:sym typeface="Symbol" panose="05050102010706020507" pitchFamily="18" charset="2"/>
              </a:rPr>
              <a:t> changes to </a:t>
            </a:r>
            <a:r>
              <a:rPr lang="en-US" altLang="zh-CN" b="1" dirty="0">
                <a:solidFill>
                  <a:srgbClr val="00B050"/>
                </a:solidFill>
                <a:sym typeface="Symbol" panose="05050102010706020507" pitchFamily="18" charset="2"/>
              </a:rPr>
              <a:t>green</a:t>
            </a:r>
            <a:r>
              <a:rPr lang="en-US" altLang="zh-CN" b="1" dirty="0">
                <a:sym typeface="Symbol" panose="05050102010706020507" pitchFamily="18" charset="2"/>
              </a:rPr>
              <a:t> or </a:t>
            </a:r>
            <a:r>
              <a:rPr lang="en-US" altLang="zh-CN" b="1" dirty="0">
                <a:solidFill>
                  <a:srgbClr val="0000FF"/>
                </a:solidFill>
                <a:sym typeface="Symbol" panose="05050102010706020507" pitchFamily="18" charset="2"/>
              </a:rPr>
              <a:t>blue</a:t>
            </a:r>
            <a:r>
              <a:rPr lang="en-US" altLang="zh-CN" b="1" dirty="0">
                <a:sym typeface="Symbol" panose="05050102010706020507" pitchFamily="18" charset="2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b="1" dirty="0">
              <a:sym typeface="Symbol" panose="05050102010706020507" pitchFamily="18" charset="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b="1" dirty="0">
                <a:sym typeface="Symbol" panose="05050102010706020507" pitchFamily="18" charset="2"/>
              </a:rPr>
              <a:t>When a 3 alcohol is added to the reagent,  no immediate color change occurs.</a:t>
            </a:r>
            <a:r>
              <a:rPr lang="en-US" altLang="zh-CN" b="1" dirty="0"/>
              <a:t> </a:t>
            </a:r>
            <a:endParaRPr lang="zh-CN" altLang="en-US" b="1" dirty="0"/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/>
        </p:nvGraphicFramePr>
        <p:xfrm>
          <a:off x="4799856" y="1340768"/>
          <a:ext cx="1368152" cy="14776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74" name="CS ChemDraw Drawing" r:id="rId3" imgW="952081" imgH="1028304" progId="ChemDraw.Document.6.0">
                  <p:embed/>
                </p:oleObj>
              </mc:Choice>
              <mc:Fallback>
                <p:oleObj name="CS ChemDraw Drawing" r:id="rId3" imgW="952081" imgH="1028304" progId="ChemDraw.Document.6.0">
                  <p:embed/>
                  <p:pic>
                    <p:nvPicPr>
                      <p:cNvPr id="6" name="对象 5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799856" y="1340768"/>
                        <a:ext cx="1368152" cy="147760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椭圆 14"/>
          <p:cNvSpPr/>
          <p:nvPr/>
        </p:nvSpPr>
        <p:spPr>
          <a:xfrm>
            <a:off x="6424353" y="1965708"/>
            <a:ext cx="787772" cy="626065"/>
          </a:xfrm>
          <a:prstGeom prst="ellipse">
            <a:avLst/>
          </a:prstGeom>
          <a:solidFill>
            <a:srgbClr val="FFFFCC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椭圆 6"/>
          <p:cNvSpPr/>
          <p:nvPr/>
        </p:nvSpPr>
        <p:spPr>
          <a:xfrm>
            <a:off x="3706624" y="1965708"/>
            <a:ext cx="733192" cy="599196"/>
          </a:xfrm>
          <a:prstGeom prst="ellipse">
            <a:avLst/>
          </a:prstGeom>
          <a:solidFill>
            <a:srgbClr val="FFFFCC"/>
          </a:solidFill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30</a:t>
            </a:fld>
            <a:endParaRPr lang="zh-CN" altLang="en-US"/>
          </a:p>
        </p:txBody>
      </p:sp>
      <p:sp>
        <p:nvSpPr>
          <p:cNvPr id="4" name="TextBox 3"/>
          <p:cNvSpPr txBox="1"/>
          <p:nvPr/>
        </p:nvSpPr>
        <p:spPr>
          <a:xfrm>
            <a:off x="0" y="203735"/>
            <a:ext cx="7212231" cy="46166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altLang="zh-CN" sz="2400" b="1" u="sng" dirty="0"/>
              <a:t>8-9-3</a:t>
            </a:r>
            <a:r>
              <a:rPr lang="en-US" altLang="zh-CN" sz="2400" b="1" dirty="0"/>
              <a:t> Reactions of Alcohols with </a:t>
            </a:r>
            <a:r>
              <a:rPr lang="en-US" altLang="zh-CN" sz="2400" b="1" dirty="0">
                <a:solidFill>
                  <a:srgbClr val="0000FF"/>
                </a:solidFill>
              </a:rPr>
              <a:t>Hydrohalic Acids</a:t>
            </a:r>
            <a:endParaRPr lang="zh-CN" altLang="en-US" sz="2400" b="1" dirty="0">
              <a:solidFill>
                <a:srgbClr val="0000FF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29680" y="817773"/>
            <a:ext cx="11305256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b="1" dirty="0"/>
              <a:t>HO</a:t>
            </a:r>
            <a:r>
              <a:rPr lang="en-US" altLang="zh-CN" b="1" baseline="30000" dirty="0"/>
              <a:t>-</a:t>
            </a:r>
            <a:r>
              <a:rPr lang="en-US" altLang="zh-CN" b="1" dirty="0"/>
              <a:t> is not a leaving group in S</a:t>
            </a:r>
            <a:r>
              <a:rPr lang="en-US" altLang="zh-CN" b="1" baseline="-25000" dirty="0"/>
              <a:t>N</a:t>
            </a:r>
            <a:r>
              <a:rPr lang="en-US" altLang="zh-CN" b="1" dirty="0"/>
              <a:t>2 reactions, but H</a:t>
            </a:r>
            <a:r>
              <a:rPr lang="en-US" altLang="zh-CN" b="1" baseline="-25000" dirty="0"/>
              <a:t>2</a:t>
            </a:r>
            <a:r>
              <a:rPr lang="en-US" altLang="zh-CN" b="1" dirty="0"/>
              <a:t>O is a good leaving group.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CN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b="1" dirty="0"/>
              <a:t>Acidic conditions protonate the OH group of an alcohol to make it easy to leave.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CN" b="1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CN" b="1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CN" b="1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CN" b="1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CN" b="1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CN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b="1" dirty="0"/>
              <a:t>Once the alcohol is protonated, all the usual substitution reactions (and elimination reactions) are feasible, depending on the structure (1</a:t>
            </a:r>
            <a:r>
              <a:rPr lang="en-US" altLang="zh-CN" b="1" dirty="0">
                <a:sym typeface="Symbol" panose="05050102010706020507" pitchFamily="18" charset="2"/>
              </a:rPr>
              <a:t>, 2, or 3) of the alcohol.</a:t>
            </a:r>
            <a:endParaRPr lang="en-US" altLang="zh-CN" b="1" dirty="0"/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/>
        </p:nvGraphicFramePr>
        <p:xfrm>
          <a:off x="3287688" y="1965708"/>
          <a:ext cx="3898524" cy="10846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002" name="CS ChemDraw Drawing" r:id="rId3" imgW="2361855" imgH="656465" progId="ChemDraw.Document.6.0">
                  <p:embed/>
                </p:oleObj>
              </mc:Choice>
              <mc:Fallback>
                <p:oleObj name="CS ChemDraw Drawing" r:id="rId3" imgW="2361855" imgH="656465" progId="ChemDraw.Document.6.0">
                  <p:embed/>
                  <p:pic>
                    <p:nvPicPr>
                      <p:cNvPr id="3" name="对象 2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287688" y="1965708"/>
                        <a:ext cx="3898524" cy="108467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文本框 7"/>
          <p:cNvSpPr txBox="1"/>
          <p:nvPr/>
        </p:nvSpPr>
        <p:spPr>
          <a:xfrm>
            <a:off x="1763463" y="1992577"/>
            <a:ext cx="19431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b="1" dirty="0">
                <a:solidFill>
                  <a:srgbClr val="FF6600"/>
                </a:solidFill>
                <a:latin typeface="Consolas" panose="020B0609020204030204" pitchFamily="49" charset="0"/>
              </a:rPr>
              <a:t>HO</a:t>
            </a:r>
            <a:r>
              <a:rPr lang="en-US" altLang="zh-CN" sz="1600" b="1" baseline="30000" dirty="0">
                <a:solidFill>
                  <a:srgbClr val="FF6600"/>
                </a:solidFill>
                <a:latin typeface="Consolas" panose="020B0609020204030204" pitchFamily="49" charset="0"/>
              </a:rPr>
              <a:t>-</a:t>
            </a:r>
            <a:r>
              <a:rPr lang="en-US" altLang="zh-CN" sz="1600" b="1" dirty="0">
                <a:solidFill>
                  <a:srgbClr val="FF6600"/>
                </a:solidFill>
                <a:latin typeface="Consolas" panose="020B0609020204030204" pitchFamily="49" charset="0"/>
              </a:rPr>
              <a:t> is a poor LG</a:t>
            </a:r>
            <a:endParaRPr lang="zh-CN" altLang="en-US" sz="1600" b="1" dirty="0">
              <a:solidFill>
                <a:srgbClr val="FF6600"/>
              </a:solidFill>
              <a:latin typeface="Consolas" panose="020B0609020204030204" pitchFamily="49" charset="0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7320136" y="2037059"/>
            <a:ext cx="19431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b="1" dirty="0">
                <a:solidFill>
                  <a:srgbClr val="FF6600"/>
                </a:solidFill>
                <a:latin typeface="Consolas" panose="020B0609020204030204" pitchFamily="49" charset="0"/>
              </a:rPr>
              <a:t>H</a:t>
            </a:r>
            <a:r>
              <a:rPr lang="en-US" altLang="zh-CN" sz="1600" b="1" baseline="-25000" dirty="0">
                <a:solidFill>
                  <a:srgbClr val="FF6600"/>
                </a:solidFill>
                <a:latin typeface="Consolas" panose="020B0609020204030204" pitchFamily="49" charset="0"/>
              </a:rPr>
              <a:t>2</a:t>
            </a:r>
            <a:r>
              <a:rPr lang="en-US" altLang="zh-CN" sz="1600" b="1" dirty="0">
                <a:solidFill>
                  <a:srgbClr val="FF6600"/>
                </a:solidFill>
                <a:latin typeface="Consolas" panose="020B0609020204030204" pitchFamily="49" charset="0"/>
              </a:rPr>
              <a:t>O is a good LG</a:t>
            </a:r>
            <a:endParaRPr lang="zh-CN" altLang="en-US" sz="1600" b="1" dirty="0">
              <a:solidFill>
                <a:srgbClr val="FF6600"/>
              </a:solidFill>
              <a:latin typeface="Consolas" panose="020B0609020204030204" pitchFamily="49" charset="0"/>
            </a:endParaRPr>
          </a:p>
        </p:txBody>
      </p:sp>
      <p:graphicFrame>
        <p:nvGraphicFramePr>
          <p:cNvPr id="12" name="对象 11"/>
          <p:cNvGraphicFramePr>
            <a:graphicFrameLocks noChangeAspect="1"/>
          </p:cNvGraphicFramePr>
          <p:nvPr/>
        </p:nvGraphicFramePr>
        <p:xfrm>
          <a:off x="2013185" y="4164607"/>
          <a:ext cx="7250112" cy="237430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003" name="CS ChemDraw Drawing" r:id="rId5" imgW="4885875" imgH="1600332" progId="ChemDraw.Document.6.0">
                  <p:embed/>
                </p:oleObj>
              </mc:Choice>
              <mc:Fallback>
                <p:oleObj name="CS ChemDraw Drawing" r:id="rId5" imgW="4885875" imgH="1600332" progId="ChemDraw.Document.6.0">
                  <p:embed/>
                  <p:pic>
                    <p:nvPicPr>
                      <p:cNvPr id="12" name="对象 1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013185" y="4164607"/>
                        <a:ext cx="7250112" cy="237430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椭圆 12"/>
          <p:cNvSpPr/>
          <p:nvPr/>
        </p:nvSpPr>
        <p:spPr>
          <a:xfrm>
            <a:off x="6099174" y="1971384"/>
            <a:ext cx="432048" cy="446551"/>
          </a:xfrm>
          <a:prstGeom prst="ellipse">
            <a:avLst/>
          </a:prstGeom>
          <a:solidFill>
            <a:srgbClr val="FFFFCC"/>
          </a:solidFill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椭圆 11"/>
          <p:cNvSpPr/>
          <p:nvPr/>
        </p:nvSpPr>
        <p:spPr>
          <a:xfrm>
            <a:off x="3642586" y="1971385"/>
            <a:ext cx="432048" cy="446551"/>
          </a:xfrm>
          <a:prstGeom prst="ellipse">
            <a:avLst/>
          </a:prstGeom>
          <a:solidFill>
            <a:srgbClr val="FFFFCC"/>
          </a:solidFill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31</a:t>
            </a:fld>
            <a:endParaRPr lang="zh-CN" altLang="en-US"/>
          </a:p>
        </p:txBody>
      </p:sp>
      <p:sp>
        <p:nvSpPr>
          <p:cNvPr id="3" name="TextBox 4"/>
          <p:cNvSpPr txBox="1"/>
          <p:nvPr/>
        </p:nvSpPr>
        <p:spPr>
          <a:xfrm>
            <a:off x="0" y="325964"/>
            <a:ext cx="4955203" cy="40011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altLang="zh-CN" sz="2000" b="1" u="sng" dirty="0"/>
              <a:t>1.</a:t>
            </a:r>
            <a:r>
              <a:rPr lang="en-US" altLang="zh-CN" sz="2000" b="1" dirty="0"/>
              <a:t> Reactions with </a:t>
            </a:r>
            <a:r>
              <a:rPr lang="en-US" altLang="zh-CN" sz="2000" b="1" dirty="0">
                <a:solidFill>
                  <a:srgbClr val="0000FF"/>
                </a:solidFill>
              </a:rPr>
              <a:t>HBr</a:t>
            </a:r>
            <a:r>
              <a:rPr lang="en-US" altLang="zh-CN" sz="2000" b="1" dirty="0"/>
              <a:t> (hydrobromic acid)</a:t>
            </a:r>
            <a:endParaRPr lang="zh-CN" altLang="en-US" sz="2000" b="1" dirty="0"/>
          </a:p>
        </p:txBody>
      </p:sp>
      <p:sp>
        <p:nvSpPr>
          <p:cNvPr id="10" name="文本框 9"/>
          <p:cNvSpPr txBox="1"/>
          <p:nvPr/>
        </p:nvSpPr>
        <p:spPr>
          <a:xfrm>
            <a:off x="247936" y="867776"/>
            <a:ext cx="111058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b="1" dirty="0"/>
              <a:t>Solutions of </a:t>
            </a:r>
            <a:r>
              <a:rPr lang="en-US" altLang="zh-CN" b="1" dirty="0" err="1"/>
              <a:t>HBr</a:t>
            </a:r>
            <a:r>
              <a:rPr lang="en-US" altLang="zh-CN" b="1" dirty="0"/>
              <a:t> and </a:t>
            </a:r>
            <a:r>
              <a:rPr lang="en-US" altLang="zh-CN" b="1" dirty="0" err="1"/>
              <a:t>HCl</a:t>
            </a:r>
            <a:r>
              <a:rPr lang="en-US" altLang="zh-CN" b="1" dirty="0"/>
              <a:t> contain both H</a:t>
            </a:r>
            <a:r>
              <a:rPr lang="en-US" altLang="zh-CN" b="1" baseline="30000" dirty="0"/>
              <a:t>+</a:t>
            </a:r>
            <a:r>
              <a:rPr lang="en-US" altLang="zh-CN" b="1" dirty="0"/>
              <a:t> and nucleophilic Br</a:t>
            </a:r>
            <a:r>
              <a:rPr lang="en-US" altLang="zh-CN" b="1" baseline="30000" dirty="0"/>
              <a:t>-</a:t>
            </a:r>
            <a:r>
              <a:rPr lang="en-US" altLang="zh-CN" b="1" dirty="0"/>
              <a:t> or Cl</a:t>
            </a:r>
            <a:r>
              <a:rPr lang="en-US" altLang="zh-CN" b="1" baseline="30000" dirty="0"/>
              <a:t>-</a:t>
            </a:r>
            <a:r>
              <a:rPr lang="en-US" altLang="zh-CN" b="1" dirty="0"/>
              <a:t> ions, which are commonly used to convert alcohols to the corresponding </a:t>
            </a:r>
            <a:r>
              <a:rPr lang="en-US" altLang="zh-CN" b="1" dirty="0" err="1"/>
              <a:t>RBr</a:t>
            </a:r>
            <a:r>
              <a:rPr lang="en-US" altLang="zh-CN" b="1" dirty="0"/>
              <a:t> or </a:t>
            </a:r>
            <a:r>
              <a:rPr lang="en-US" altLang="zh-CN" b="1" dirty="0" err="1"/>
              <a:t>RCl</a:t>
            </a:r>
            <a:r>
              <a:rPr lang="en-US" altLang="zh-CN" b="1" dirty="0"/>
              <a:t>.</a:t>
            </a:r>
            <a:endParaRPr lang="zh-CN" altLang="en-US" b="1" dirty="0"/>
          </a:p>
        </p:txBody>
      </p:sp>
      <p:graphicFrame>
        <p:nvGraphicFramePr>
          <p:cNvPr id="11" name="对象 10"/>
          <p:cNvGraphicFramePr>
            <a:graphicFrameLocks noChangeAspect="1"/>
          </p:cNvGraphicFramePr>
          <p:nvPr/>
        </p:nvGraphicFramePr>
        <p:xfrm>
          <a:off x="3282545" y="1846237"/>
          <a:ext cx="4762813" cy="96363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026" name="CS ChemDraw Drawing" r:id="rId3" imgW="2730771" imgH="553001" progId="ChemDraw.Document.6.0">
                  <p:embed/>
                </p:oleObj>
              </mc:Choice>
              <mc:Fallback>
                <p:oleObj name="CS ChemDraw Drawing" r:id="rId3" imgW="2730771" imgH="553001" progId="ChemDraw.Document.6.0">
                  <p:embed/>
                  <p:pic>
                    <p:nvPicPr>
                      <p:cNvPr id="11" name="对象 10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282545" y="1846237"/>
                        <a:ext cx="4762813" cy="963639"/>
                      </a:xfrm>
                      <a:prstGeom prst="rect">
                        <a:avLst/>
                      </a:prstGeom>
                      <a:ln w="28575">
                        <a:solidFill>
                          <a:schemeClr val="bg1">
                            <a:lumMod val="75000"/>
                          </a:schemeClr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/>
          <p:cNvGraphicFramePr>
            <a:graphicFrameLocks noChangeAspect="1"/>
          </p:cNvGraphicFramePr>
          <p:nvPr/>
        </p:nvGraphicFramePr>
        <p:xfrm>
          <a:off x="2480038" y="3284984"/>
          <a:ext cx="6969388" cy="31929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027" name="CS ChemDraw Drawing" r:id="rId5" imgW="4303500" imgH="1971774" progId="ChemDraw.Document.6.0">
                  <p:embed/>
                </p:oleObj>
              </mc:Choice>
              <mc:Fallback>
                <p:oleObj name="CS ChemDraw Drawing" r:id="rId5" imgW="4303500" imgH="1971774" progId="ChemDraw.Document.6.0">
                  <p:embed/>
                  <p:pic>
                    <p:nvPicPr>
                      <p:cNvPr id="15" name="对象 14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480038" y="3284984"/>
                        <a:ext cx="6969388" cy="319291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圆角矩形 15"/>
          <p:cNvSpPr/>
          <p:nvPr/>
        </p:nvSpPr>
        <p:spPr>
          <a:xfrm>
            <a:off x="5663952" y="3645024"/>
            <a:ext cx="504056" cy="864096"/>
          </a:xfrm>
          <a:prstGeom prst="roundRect">
            <a:avLst/>
          </a:prstGeom>
          <a:noFill/>
          <a:ln>
            <a:solidFill>
              <a:srgbClr val="00FFFF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圆角矩形 16"/>
          <p:cNvSpPr/>
          <p:nvPr/>
        </p:nvSpPr>
        <p:spPr>
          <a:xfrm>
            <a:off x="5093030" y="5156521"/>
            <a:ext cx="504056" cy="864096"/>
          </a:xfrm>
          <a:prstGeom prst="roundRect">
            <a:avLst/>
          </a:prstGeom>
          <a:noFill/>
          <a:ln>
            <a:solidFill>
              <a:srgbClr val="00FFFF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9699326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32</a:t>
            </a:fld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551384" y="3212976"/>
            <a:ext cx="818920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b="1" dirty="0"/>
              <a:t>1</a:t>
            </a:r>
            <a:r>
              <a:rPr lang="en-US" altLang="zh-CN" b="1" dirty="0">
                <a:sym typeface="Symbol" panose="05050102010706020507" pitchFamily="18" charset="2"/>
              </a:rPr>
              <a:t> Alcohols usually react with </a:t>
            </a:r>
            <a:r>
              <a:rPr lang="en-US" altLang="zh-CN" b="1" dirty="0" err="1">
                <a:sym typeface="Symbol" panose="05050102010706020507" pitchFamily="18" charset="2"/>
              </a:rPr>
              <a:t>HBr</a:t>
            </a:r>
            <a:r>
              <a:rPr lang="en-US" altLang="zh-CN" b="1" dirty="0">
                <a:sym typeface="Symbol" panose="05050102010706020507" pitchFamily="18" charset="2"/>
              </a:rPr>
              <a:t> by the S</a:t>
            </a:r>
            <a:r>
              <a:rPr lang="en-US" altLang="zh-CN" b="1" baseline="-25000" dirty="0">
                <a:sym typeface="Symbol" panose="05050102010706020507" pitchFamily="18" charset="2"/>
              </a:rPr>
              <a:t>N</a:t>
            </a:r>
            <a:r>
              <a:rPr lang="en-US" altLang="zh-CN" b="1" dirty="0">
                <a:sym typeface="Symbol" panose="05050102010706020507" pitchFamily="18" charset="2"/>
              </a:rPr>
              <a:t>2 mechanism.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b="1" dirty="0">
              <a:sym typeface="Symbol" panose="05050102010706020507" pitchFamily="18" charset="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b="1" dirty="0">
                <a:sym typeface="Symbol" panose="05050102010706020507" pitchFamily="18" charset="2"/>
              </a:rPr>
              <a:t>2 and 3 Alcohols usually react with </a:t>
            </a:r>
            <a:r>
              <a:rPr lang="en-US" altLang="zh-CN" b="1" dirty="0" err="1">
                <a:sym typeface="Symbol" panose="05050102010706020507" pitchFamily="18" charset="2"/>
              </a:rPr>
              <a:t>HBr</a:t>
            </a:r>
            <a:r>
              <a:rPr lang="en-US" altLang="zh-CN" b="1" dirty="0">
                <a:sym typeface="Symbol" panose="05050102010706020507" pitchFamily="18" charset="2"/>
              </a:rPr>
              <a:t> by the S</a:t>
            </a:r>
            <a:r>
              <a:rPr lang="en-US" altLang="zh-CN" b="1" baseline="-25000" dirty="0">
                <a:sym typeface="Symbol" panose="05050102010706020507" pitchFamily="18" charset="2"/>
              </a:rPr>
              <a:t>N</a:t>
            </a:r>
            <a:r>
              <a:rPr lang="en-US" altLang="zh-CN" b="1" dirty="0">
                <a:sym typeface="Symbol" panose="05050102010706020507" pitchFamily="18" charset="2"/>
              </a:rPr>
              <a:t>1 mechanism.</a:t>
            </a:r>
            <a:endParaRPr lang="zh-CN" altLang="en-US" b="1" dirty="0"/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/>
        </p:nvGraphicFramePr>
        <p:xfrm>
          <a:off x="2639616" y="620688"/>
          <a:ext cx="5889737" cy="23042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946" name="CS ChemDraw Drawing" r:id="rId3" imgW="3838704" imgH="1502417" progId="ChemDraw.Document.6.0">
                  <p:embed/>
                </p:oleObj>
              </mc:Choice>
              <mc:Fallback>
                <p:oleObj name="CS ChemDraw Drawing" r:id="rId3" imgW="3838704" imgH="1502417" progId="ChemDraw.Document.6.0">
                  <p:embed/>
                  <p:pic>
                    <p:nvPicPr>
                      <p:cNvPr id="6" name="对象 5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639616" y="620688"/>
                        <a:ext cx="5889737" cy="230425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椭圆 13"/>
          <p:cNvSpPr/>
          <p:nvPr/>
        </p:nvSpPr>
        <p:spPr>
          <a:xfrm>
            <a:off x="6815179" y="1431001"/>
            <a:ext cx="432048" cy="446551"/>
          </a:xfrm>
          <a:prstGeom prst="ellipse">
            <a:avLst/>
          </a:prstGeom>
          <a:solidFill>
            <a:srgbClr val="FFFFCC"/>
          </a:solidFill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椭圆 12"/>
          <p:cNvSpPr/>
          <p:nvPr/>
        </p:nvSpPr>
        <p:spPr>
          <a:xfrm>
            <a:off x="3358795" y="1431002"/>
            <a:ext cx="432048" cy="446551"/>
          </a:xfrm>
          <a:prstGeom prst="ellipse">
            <a:avLst/>
          </a:prstGeom>
          <a:solidFill>
            <a:srgbClr val="FFFFCC"/>
          </a:solidFill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33</a:t>
            </a:fld>
            <a:endParaRPr lang="zh-CN" altLang="en-US"/>
          </a:p>
        </p:txBody>
      </p:sp>
      <p:sp>
        <p:nvSpPr>
          <p:cNvPr id="9" name="TextBox 8"/>
          <p:cNvSpPr txBox="1"/>
          <p:nvPr/>
        </p:nvSpPr>
        <p:spPr>
          <a:xfrm>
            <a:off x="0" y="220579"/>
            <a:ext cx="4886274" cy="40011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altLang="zh-CN" sz="2000" b="1" u="sng" dirty="0"/>
              <a:t>2.</a:t>
            </a:r>
            <a:r>
              <a:rPr lang="en-US" altLang="zh-CN" sz="2000" b="1" dirty="0"/>
              <a:t> Reactions with </a:t>
            </a:r>
            <a:r>
              <a:rPr lang="en-US" altLang="zh-CN" sz="2000" b="1" dirty="0">
                <a:solidFill>
                  <a:srgbClr val="0000FF"/>
                </a:solidFill>
              </a:rPr>
              <a:t>HCl</a:t>
            </a:r>
            <a:r>
              <a:rPr lang="en-US" altLang="zh-CN" sz="2000" b="1" dirty="0"/>
              <a:t> (hydrochloric acid)</a:t>
            </a:r>
            <a:endParaRPr lang="zh-CN" altLang="en-US" sz="2000" b="1" dirty="0"/>
          </a:p>
        </p:txBody>
      </p:sp>
      <p:sp>
        <p:nvSpPr>
          <p:cNvPr id="11" name="TextBox 10"/>
          <p:cNvSpPr txBox="1"/>
          <p:nvPr/>
        </p:nvSpPr>
        <p:spPr>
          <a:xfrm>
            <a:off x="362835" y="725805"/>
            <a:ext cx="85689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b="1" dirty="0" err="1"/>
              <a:t>HCl</a:t>
            </a:r>
            <a:r>
              <a:rPr lang="en-US" altLang="zh-CN" b="1" dirty="0"/>
              <a:t> reacts with alcohols in much the same way that </a:t>
            </a:r>
            <a:r>
              <a:rPr lang="en-US" altLang="zh-CN" b="1" dirty="0" err="1"/>
              <a:t>HBr</a:t>
            </a:r>
            <a:r>
              <a:rPr lang="en-US" altLang="zh-CN" b="1" dirty="0"/>
              <a:t> does.</a:t>
            </a:r>
          </a:p>
        </p:txBody>
      </p:sp>
      <p:sp>
        <p:nvSpPr>
          <p:cNvPr id="8" name="矩形 7"/>
          <p:cNvSpPr/>
          <p:nvPr/>
        </p:nvSpPr>
        <p:spPr>
          <a:xfrm>
            <a:off x="5976311" y="5130624"/>
            <a:ext cx="5472608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rgbClr val="0000FF"/>
                </a:solidFill>
                <a:latin typeface="Consolas" panose="020B0609020204030204" pitchFamily="49" charset="0"/>
              </a:rPr>
              <a:t>The Lucas test </a:t>
            </a:r>
            <a:r>
              <a:rPr lang="en-US" altLang="zh-CN" b="1" dirty="0">
                <a:latin typeface="Consolas" panose="020B0609020204030204" pitchFamily="49" charset="0"/>
              </a:rPr>
              <a:t>involves adding the Lucas reagent to an unknown alcohol and watching for the second phase to separate.</a:t>
            </a:r>
            <a:endParaRPr lang="zh-CN" altLang="en-US" b="1" dirty="0">
              <a:latin typeface="Consolas" panose="020B0609020204030204" pitchFamily="49" charset="0"/>
            </a:endParaRPr>
          </a:p>
        </p:txBody>
      </p:sp>
      <p:graphicFrame>
        <p:nvGraphicFramePr>
          <p:cNvPr id="10" name="表格 9"/>
          <p:cNvGraphicFramePr>
            <a:graphicFrameLocks noGrp="1"/>
          </p:cNvGraphicFramePr>
          <p:nvPr/>
        </p:nvGraphicFramePr>
        <p:xfrm>
          <a:off x="1271464" y="4850609"/>
          <a:ext cx="4032448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32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792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sz="1800" b="1" dirty="0"/>
                        <a:t>Alcohol Type</a:t>
                      </a:r>
                      <a:endParaRPr lang="zh-CN" altLang="en-US" sz="1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b="1" dirty="0"/>
                        <a:t>Time to React/min</a:t>
                      </a:r>
                      <a:endParaRPr lang="zh-CN" altLang="en-US" sz="18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800" b="1" dirty="0"/>
                        <a:t>primary</a:t>
                      </a:r>
                      <a:endParaRPr lang="zh-CN" altLang="en-US" sz="1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b="1" dirty="0"/>
                        <a:t>&gt; 6      slow</a:t>
                      </a:r>
                      <a:endParaRPr lang="zh-CN" altLang="en-US" sz="18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800" b="1" dirty="0"/>
                        <a:t>secondary</a:t>
                      </a:r>
                      <a:endParaRPr lang="zh-CN" altLang="en-US" sz="1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b="1" dirty="0"/>
                        <a:t>1-5</a:t>
                      </a:r>
                      <a:endParaRPr lang="zh-CN" altLang="en-US" sz="18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800" b="1" dirty="0"/>
                        <a:t>tertiary</a:t>
                      </a:r>
                      <a:endParaRPr lang="zh-CN" altLang="en-US" sz="1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b="1" dirty="0"/>
                        <a:t>&lt; 1      fast</a:t>
                      </a:r>
                      <a:endParaRPr lang="zh-CN" altLang="en-US" sz="18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" name="矩形 2"/>
          <p:cNvSpPr/>
          <p:nvPr/>
        </p:nvSpPr>
        <p:spPr>
          <a:xfrm>
            <a:off x="467699" y="2551837"/>
            <a:ext cx="11017224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b="1" dirty="0">
                <a:solidFill>
                  <a:srgbClr val="0000FF"/>
                </a:solidFill>
              </a:rPr>
              <a:t>Zinc chloride</a:t>
            </a:r>
            <a:r>
              <a:rPr lang="en-US" altLang="zh-CN" b="1" dirty="0"/>
              <a:t> (a Lewis acid)  is sometimes necessary to </a:t>
            </a:r>
            <a:r>
              <a:rPr lang="en-US" altLang="zh-CN" b="1" i="1" dirty="0">
                <a:solidFill>
                  <a:srgbClr val="0000FF"/>
                </a:solidFill>
              </a:rPr>
              <a:t>promote the reaction of </a:t>
            </a:r>
            <a:r>
              <a:rPr lang="en-US" altLang="zh-CN" b="1" i="1" dirty="0" err="1">
                <a:solidFill>
                  <a:srgbClr val="0000FF"/>
                </a:solidFill>
              </a:rPr>
              <a:t>HCl</a:t>
            </a:r>
            <a:r>
              <a:rPr lang="en-US" altLang="zh-CN" b="1" i="1" dirty="0">
                <a:solidFill>
                  <a:srgbClr val="0000FF"/>
                </a:solidFill>
              </a:rPr>
              <a:t> with 1</a:t>
            </a:r>
            <a:r>
              <a:rPr lang="en-US" altLang="zh-CN" b="1" i="1" baseline="30000" dirty="0">
                <a:solidFill>
                  <a:srgbClr val="0000FF"/>
                </a:solidFill>
              </a:rPr>
              <a:t>o</a:t>
            </a:r>
            <a:r>
              <a:rPr lang="en-US" altLang="zh-CN" b="1" i="1" dirty="0">
                <a:solidFill>
                  <a:srgbClr val="0000FF"/>
                </a:solidFill>
              </a:rPr>
              <a:t> and 2</a:t>
            </a:r>
            <a:r>
              <a:rPr lang="en-US" altLang="zh-CN" b="1" i="1" baseline="30000" dirty="0">
                <a:solidFill>
                  <a:srgbClr val="0000FF"/>
                </a:solidFill>
              </a:rPr>
              <a:t>o</a:t>
            </a:r>
            <a:r>
              <a:rPr lang="en-US" altLang="zh-CN" b="1" i="1" dirty="0">
                <a:solidFill>
                  <a:srgbClr val="0000FF"/>
                </a:solidFill>
              </a:rPr>
              <a:t> alcohols</a:t>
            </a:r>
            <a:r>
              <a:rPr lang="en-US" altLang="zh-CN" b="1" dirty="0"/>
              <a:t>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b="1" dirty="0"/>
              <a:t>The reagent composed of </a:t>
            </a:r>
            <a:r>
              <a:rPr lang="en-US" altLang="zh-CN" b="1" dirty="0" err="1"/>
              <a:t>HCl</a:t>
            </a:r>
            <a:r>
              <a:rPr lang="en-US" altLang="zh-CN" b="1" dirty="0"/>
              <a:t> and ZnCl</a:t>
            </a:r>
            <a:r>
              <a:rPr lang="en-US" altLang="zh-CN" b="1" baseline="-25000" dirty="0"/>
              <a:t>2</a:t>
            </a:r>
            <a:r>
              <a:rPr lang="en-US" altLang="zh-CN" b="1" dirty="0"/>
              <a:t> is called </a:t>
            </a:r>
            <a:r>
              <a:rPr lang="en-US" altLang="zh-CN" b="1" dirty="0">
                <a:solidFill>
                  <a:srgbClr val="0000FF"/>
                </a:solidFill>
              </a:rPr>
              <a:t>the Lucas reagent</a:t>
            </a:r>
            <a:r>
              <a:rPr lang="en-US" altLang="zh-CN" b="1" dirty="0"/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b="1" dirty="0"/>
              <a:t>1</a:t>
            </a:r>
            <a:r>
              <a:rPr lang="en-US" altLang="zh-CN" b="1" dirty="0">
                <a:sym typeface="Symbol" panose="05050102010706020507" pitchFamily="18" charset="2"/>
              </a:rPr>
              <a:t> alcohols react by S</a:t>
            </a:r>
            <a:r>
              <a:rPr lang="en-US" altLang="zh-CN" b="1" baseline="-25000" dirty="0">
                <a:sym typeface="Symbol" panose="05050102010706020507" pitchFamily="18" charset="2"/>
              </a:rPr>
              <a:t>N</a:t>
            </a:r>
            <a:r>
              <a:rPr lang="en-US" altLang="zh-CN" b="1" dirty="0">
                <a:sym typeface="Symbol" panose="05050102010706020507" pitchFamily="18" charset="2"/>
              </a:rPr>
              <a:t>2 mechanism, slower than the S</a:t>
            </a:r>
            <a:r>
              <a:rPr lang="en-US" altLang="zh-CN" b="1" baseline="-25000" dirty="0">
                <a:sym typeface="Symbol" panose="05050102010706020507" pitchFamily="18" charset="2"/>
              </a:rPr>
              <a:t>N</a:t>
            </a:r>
            <a:r>
              <a:rPr lang="en-US" altLang="zh-CN" b="1" dirty="0">
                <a:sym typeface="Symbol" panose="05050102010706020507" pitchFamily="18" charset="2"/>
              </a:rPr>
              <a:t>1 reaction of 2 and 3 alcohols.</a:t>
            </a:r>
            <a:endParaRPr lang="en-US" altLang="zh-CN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b="1" dirty="0"/>
              <a:t>The Lucas reagent reacts with 1</a:t>
            </a:r>
            <a:r>
              <a:rPr lang="en-US" altLang="zh-CN" b="1" baseline="30000" dirty="0"/>
              <a:t>o</a:t>
            </a:r>
            <a:r>
              <a:rPr lang="en-US" altLang="zh-CN" b="1" dirty="0"/>
              <a:t>, 2</a:t>
            </a:r>
            <a:r>
              <a:rPr lang="en-US" altLang="zh-CN" b="1" baseline="30000" dirty="0"/>
              <a:t>o</a:t>
            </a:r>
            <a:r>
              <a:rPr lang="en-US" altLang="zh-CN" b="1" dirty="0"/>
              <a:t>, and 3</a:t>
            </a:r>
            <a:r>
              <a:rPr lang="en-US" altLang="zh-CN" b="1" baseline="30000" dirty="0"/>
              <a:t>o</a:t>
            </a:r>
            <a:r>
              <a:rPr lang="en-US" altLang="zh-CN" b="1" dirty="0"/>
              <a:t> alcohols at fairly predictable rates, which can be used to </a:t>
            </a:r>
            <a:r>
              <a:rPr lang="en-US" altLang="zh-CN" b="1" dirty="0">
                <a:solidFill>
                  <a:srgbClr val="0000FF"/>
                </a:solidFill>
              </a:rPr>
              <a:t>distinguish among the three types of alcohols</a:t>
            </a:r>
            <a:r>
              <a:rPr lang="en-US" altLang="zh-CN" b="1" dirty="0"/>
              <a:t>.</a:t>
            </a:r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3071664" y="1322363"/>
          <a:ext cx="5470805" cy="92392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970" name="CS ChemDraw Drawing" r:id="rId3" imgW="3224764" imgH="545072" progId="ChemDraw.Document.6.0">
                  <p:embed/>
                </p:oleObj>
              </mc:Choice>
              <mc:Fallback>
                <p:oleObj name="CS ChemDraw Drawing" r:id="rId3" imgW="3224764" imgH="545072" progId="ChemDraw.Document.6.0">
                  <p:embed/>
                  <p:pic>
                    <p:nvPicPr>
                      <p:cNvPr id="4" name="对象 3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071664" y="1322363"/>
                        <a:ext cx="5470805" cy="923923"/>
                      </a:xfrm>
                      <a:prstGeom prst="rect">
                        <a:avLst/>
                      </a:prstGeom>
                      <a:ln w="28575">
                        <a:solidFill>
                          <a:schemeClr val="bg1">
                            <a:lumMod val="85000"/>
                          </a:schemeClr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椭圆 9"/>
          <p:cNvSpPr/>
          <p:nvPr/>
        </p:nvSpPr>
        <p:spPr>
          <a:xfrm>
            <a:off x="4583832" y="4633580"/>
            <a:ext cx="1872208" cy="378069"/>
          </a:xfrm>
          <a:prstGeom prst="ellipse">
            <a:avLst/>
          </a:prstGeom>
          <a:solidFill>
            <a:srgbClr val="FFFFCC"/>
          </a:solidFill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34</a:t>
            </a:fld>
            <a:endParaRPr lang="zh-CN" altLang="en-US"/>
          </a:p>
        </p:txBody>
      </p:sp>
      <p:sp>
        <p:nvSpPr>
          <p:cNvPr id="3" name="TextBox 11"/>
          <p:cNvSpPr txBox="1"/>
          <p:nvPr/>
        </p:nvSpPr>
        <p:spPr>
          <a:xfrm>
            <a:off x="263352" y="910748"/>
            <a:ext cx="11274224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b="1" dirty="0">
                <a:solidFill>
                  <a:srgbClr val="0000FF"/>
                </a:solidFill>
              </a:rPr>
              <a:t>Poor yields</a:t>
            </a:r>
            <a:r>
              <a:rPr lang="en-US" altLang="zh-CN" b="1" dirty="0"/>
              <a:t> due to the </a:t>
            </a:r>
            <a:r>
              <a:rPr lang="en-US" altLang="zh-CN" b="1" dirty="0">
                <a:solidFill>
                  <a:srgbClr val="0000FF"/>
                </a:solidFill>
              </a:rPr>
              <a:t>side reactions </a:t>
            </a:r>
            <a:r>
              <a:rPr lang="en-US" altLang="zh-CN" b="1" dirty="0"/>
              <a:t>such as elimination, rearrangements, etc.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CN" b="1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CN" b="1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CN" b="1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CN" b="1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CN" b="1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CN" b="1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CN" b="1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CN" b="1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CN" b="1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CN" b="1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CN" b="1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CN" b="1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CN" b="1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CN" b="1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CN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b="1" dirty="0"/>
              <a:t>Limited ability to make RI. Many alcohols do not react wit HI to give acceptable yields of RI.</a:t>
            </a:r>
            <a:endParaRPr lang="zh-CN" altLang="en-US" b="1" dirty="0"/>
          </a:p>
        </p:txBody>
      </p:sp>
      <p:sp>
        <p:nvSpPr>
          <p:cNvPr id="4" name="TextBox 8"/>
          <p:cNvSpPr txBox="1"/>
          <p:nvPr/>
        </p:nvSpPr>
        <p:spPr>
          <a:xfrm>
            <a:off x="0" y="332656"/>
            <a:ext cx="6837128" cy="40011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altLang="zh-CN" sz="2000" b="1" u="sng" dirty="0"/>
              <a:t>3.</a:t>
            </a:r>
            <a:r>
              <a:rPr lang="en-US" altLang="zh-CN" sz="2000" b="1" dirty="0"/>
              <a:t> </a:t>
            </a:r>
            <a:r>
              <a:rPr lang="en-US" altLang="zh-CN" sz="2000" b="1" dirty="0">
                <a:solidFill>
                  <a:srgbClr val="FF0000"/>
                </a:solidFill>
              </a:rPr>
              <a:t>Limitations </a:t>
            </a:r>
            <a:r>
              <a:rPr lang="en-US" altLang="zh-CN" sz="2000" b="1" dirty="0"/>
              <a:t>on the use of hydrohalic acids with alcohols</a:t>
            </a:r>
            <a:endParaRPr lang="zh-CN" altLang="en-US" sz="2000" b="1" dirty="0"/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2639616" y="1703688"/>
          <a:ext cx="5545442" cy="151284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098" name="CS ChemDraw Drawing" r:id="rId3" imgW="3549095" imgH="968841" progId="ChemDraw.Document.6.0">
                  <p:embed/>
                </p:oleObj>
              </mc:Choice>
              <mc:Fallback>
                <p:oleObj name="CS ChemDraw Drawing" r:id="rId3" imgW="3549095" imgH="968841" progId="ChemDraw.Document.6.0">
                  <p:embed/>
                  <p:pic>
                    <p:nvPicPr>
                      <p:cNvPr id="5" name="对象 4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639616" y="1703688"/>
                        <a:ext cx="5545442" cy="151284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/>
        </p:nvGraphicFramePr>
        <p:xfrm>
          <a:off x="767408" y="3861048"/>
          <a:ext cx="9865096" cy="101199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099" name="CS ChemDraw Drawing" r:id="rId5" imgW="6268030" imgH="642987" progId="ChemDraw.Document.6.0">
                  <p:embed/>
                </p:oleObj>
              </mc:Choice>
              <mc:Fallback>
                <p:oleObj name="CS ChemDraw Drawing" r:id="rId5" imgW="6268030" imgH="642987" progId="ChemDraw.Document.6.0">
                  <p:embed/>
                  <p:pic>
                    <p:nvPicPr>
                      <p:cNvPr id="6" name="对象 5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767408" y="3861048"/>
                        <a:ext cx="9865096" cy="101199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椭圆 6"/>
          <p:cNvSpPr/>
          <p:nvPr/>
        </p:nvSpPr>
        <p:spPr>
          <a:xfrm>
            <a:off x="3647728" y="4435585"/>
            <a:ext cx="576064" cy="437459"/>
          </a:xfrm>
          <a:prstGeom prst="ellipse">
            <a:avLst/>
          </a:prstGeom>
          <a:noFill/>
          <a:ln>
            <a:solidFill>
              <a:srgbClr val="00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椭圆 7"/>
          <p:cNvSpPr/>
          <p:nvPr/>
        </p:nvSpPr>
        <p:spPr>
          <a:xfrm>
            <a:off x="7320136" y="4075545"/>
            <a:ext cx="576064" cy="436328"/>
          </a:xfrm>
          <a:prstGeom prst="ellipse">
            <a:avLst/>
          </a:prstGeom>
          <a:noFill/>
          <a:ln>
            <a:solidFill>
              <a:srgbClr val="00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4727848" y="4633580"/>
            <a:ext cx="164339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b="1" dirty="0">
                <a:latin typeface="Consolas" panose="020B0609020204030204" pitchFamily="49" charset="0"/>
              </a:rPr>
              <a:t>rearrangement</a:t>
            </a:r>
            <a:endParaRPr lang="zh-CN" altLang="en-US" sz="1600" b="1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5541157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35</a:t>
            </a:fld>
            <a:endParaRPr lang="zh-CN" altLang="en-US"/>
          </a:p>
        </p:txBody>
      </p:sp>
      <p:sp>
        <p:nvSpPr>
          <p:cNvPr id="3" name="TextBox 2"/>
          <p:cNvSpPr txBox="1"/>
          <p:nvPr/>
        </p:nvSpPr>
        <p:spPr>
          <a:xfrm>
            <a:off x="0" y="260648"/>
            <a:ext cx="7879976" cy="46166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CN" sz="2400" b="1" u="sng" dirty="0"/>
              <a:t>8-9-4</a:t>
            </a:r>
            <a:r>
              <a:rPr lang="en-US" altLang="zh-CN" sz="2400" b="1" dirty="0"/>
              <a:t> Reactions of Alcohols with </a:t>
            </a:r>
            <a:r>
              <a:rPr lang="en-US" altLang="zh-CN" sz="2400" b="1" dirty="0">
                <a:solidFill>
                  <a:srgbClr val="0000FF"/>
                </a:solidFill>
              </a:rPr>
              <a:t>Phosphorus Halides</a:t>
            </a:r>
            <a:endParaRPr lang="zh-CN" altLang="en-US" sz="2400" b="1" dirty="0">
              <a:solidFill>
                <a:srgbClr val="0000FF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53289" y="864701"/>
            <a:ext cx="11089232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b="1" dirty="0"/>
              <a:t>Several phosphorus halides are useful for </a:t>
            </a:r>
            <a:r>
              <a:rPr lang="en-US" altLang="zh-CN" b="1" dirty="0">
                <a:solidFill>
                  <a:srgbClr val="0000FF"/>
                </a:solidFill>
              </a:rPr>
              <a:t>converting alcohols to alkyl halides</a:t>
            </a:r>
            <a:r>
              <a:rPr lang="en-US" altLang="zh-CN" b="1" dirty="0"/>
              <a:t>, including PBr</a:t>
            </a:r>
            <a:r>
              <a:rPr lang="en-US" altLang="zh-CN" b="1" baseline="-25000" dirty="0"/>
              <a:t>3</a:t>
            </a:r>
            <a:r>
              <a:rPr lang="en-US" altLang="zh-CN" b="1" dirty="0"/>
              <a:t>, PCl</a:t>
            </a:r>
            <a:r>
              <a:rPr lang="en-US" altLang="zh-CN" b="1" baseline="-25000" dirty="0"/>
              <a:t>3</a:t>
            </a:r>
            <a:r>
              <a:rPr lang="en-US" altLang="zh-CN" b="1" dirty="0"/>
              <a:t>, and PCl</a:t>
            </a:r>
            <a:r>
              <a:rPr lang="en-US" altLang="zh-CN" b="1" baseline="-25000" dirty="0"/>
              <a:t>5</a:t>
            </a:r>
            <a:r>
              <a:rPr lang="en-US" altLang="zh-CN" b="1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b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b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b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b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b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b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b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b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b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b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b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b="1" dirty="0"/>
              <a:t>PI</a:t>
            </a:r>
            <a:r>
              <a:rPr lang="en-US" altLang="zh-CN" b="1" baseline="-25000" dirty="0"/>
              <a:t>3</a:t>
            </a:r>
            <a:r>
              <a:rPr lang="en-US" altLang="zh-CN" b="1" dirty="0"/>
              <a:t> is not sufficiently stable to be stored, but it can be generated in situ by the reaction of P with I</a:t>
            </a:r>
            <a:r>
              <a:rPr lang="en-US" altLang="zh-CN" b="1" baseline="-25000" dirty="0"/>
              <a:t>2</a:t>
            </a:r>
            <a:r>
              <a:rPr lang="en-US" altLang="zh-CN" b="1" dirty="0"/>
              <a:t>.</a:t>
            </a:r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58533020"/>
              </p:ext>
            </p:extLst>
          </p:nvPr>
        </p:nvGraphicFramePr>
        <p:xfrm>
          <a:off x="3025818" y="1476191"/>
          <a:ext cx="5744174" cy="302433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122" name="CS ChemDraw Drawing" r:id="rId3" imgW="3534102" imgH="1860381" progId="ChemDraw.Document.6.0">
                  <p:embed/>
                </p:oleObj>
              </mc:Choice>
              <mc:Fallback>
                <p:oleObj name="CS ChemDraw Drawing" r:id="rId3" imgW="3534102" imgH="1860381" progId="ChemDraw.Document.6.0">
                  <p:embed/>
                  <p:pic>
                    <p:nvPicPr>
                      <p:cNvPr id="5" name="对象 4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025818" y="1476191"/>
                        <a:ext cx="5744174" cy="3024336"/>
                      </a:xfrm>
                      <a:prstGeom prst="rect">
                        <a:avLst/>
                      </a:prstGeom>
                      <a:ln w="28575">
                        <a:solidFill>
                          <a:schemeClr val="bg1">
                            <a:lumMod val="85000"/>
                          </a:schemeClr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40617951"/>
              </p:ext>
            </p:extLst>
          </p:nvPr>
        </p:nvGraphicFramePr>
        <p:xfrm>
          <a:off x="3939988" y="5523378"/>
          <a:ext cx="4279219" cy="93984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123" name="CS ChemDraw Drawing" r:id="rId5" imgW="2653042" imgH="583128" progId="ChemDraw.Document.6.0">
                  <p:embed/>
                </p:oleObj>
              </mc:Choice>
              <mc:Fallback>
                <p:oleObj name="CS ChemDraw Drawing" r:id="rId5" imgW="2653042" imgH="583128" progId="ChemDraw.Document.6.0">
                  <p:embed/>
                  <p:pic>
                    <p:nvPicPr>
                      <p:cNvPr id="8" name="对象 7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939988" y="5523378"/>
                        <a:ext cx="4279219" cy="93984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竖卷形 10"/>
          <p:cNvSpPr/>
          <p:nvPr/>
        </p:nvSpPr>
        <p:spPr>
          <a:xfrm>
            <a:off x="1206749" y="3933056"/>
            <a:ext cx="4509349" cy="954257"/>
          </a:xfrm>
          <a:prstGeom prst="verticalScroll">
            <a:avLst/>
          </a:prstGeom>
          <a:solidFill>
            <a:srgbClr val="FFFF00"/>
          </a:solidFill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云形标注 8"/>
          <p:cNvSpPr/>
          <p:nvPr/>
        </p:nvSpPr>
        <p:spPr>
          <a:xfrm>
            <a:off x="8400256" y="1772816"/>
            <a:ext cx="3384376" cy="1224136"/>
          </a:xfrm>
          <a:prstGeom prst="cloudCallout">
            <a:avLst>
              <a:gd name="adj1" fmla="val -59831"/>
              <a:gd name="adj2" fmla="val -7969"/>
            </a:avLst>
          </a:prstGeom>
          <a:solidFill>
            <a:schemeClr val="bg1">
              <a:lumMod val="95000"/>
            </a:schemeClr>
          </a:solidFill>
          <a:ln>
            <a:solidFill>
              <a:srgbClr val="00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36</a:t>
            </a:fld>
            <a:endParaRPr lang="zh-CN" altLang="en-US"/>
          </a:p>
        </p:txBody>
      </p:sp>
      <p:sp>
        <p:nvSpPr>
          <p:cNvPr id="3" name="TextBox 2"/>
          <p:cNvSpPr txBox="1"/>
          <p:nvPr/>
        </p:nvSpPr>
        <p:spPr>
          <a:xfrm>
            <a:off x="349152" y="244339"/>
            <a:ext cx="1143548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b="1" dirty="0"/>
              <a:t>Phosphorus halides </a:t>
            </a:r>
            <a:r>
              <a:rPr lang="en-US" altLang="zh-CN" b="1" i="1" dirty="0">
                <a:solidFill>
                  <a:srgbClr val="0000FF"/>
                </a:solidFill>
              </a:rPr>
              <a:t>produce good yields of most 1</a:t>
            </a:r>
            <a:r>
              <a:rPr lang="en-US" altLang="zh-CN" b="1" i="1" baseline="30000" dirty="0">
                <a:solidFill>
                  <a:srgbClr val="0000FF"/>
                </a:solidFill>
              </a:rPr>
              <a:t>o</a:t>
            </a:r>
            <a:r>
              <a:rPr lang="en-US" altLang="zh-CN" b="1" i="1" dirty="0">
                <a:solidFill>
                  <a:srgbClr val="0000FF"/>
                </a:solidFill>
              </a:rPr>
              <a:t> and 2</a:t>
            </a:r>
            <a:r>
              <a:rPr lang="en-US" altLang="zh-CN" b="1" i="1" baseline="30000" dirty="0">
                <a:solidFill>
                  <a:srgbClr val="0000FF"/>
                </a:solidFill>
              </a:rPr>
              <a:t>o</a:t>
            </a:r>
            <a:r>
              <a:rPr lang="en-US" altLang="zh-CN" b="1" i="1" dirty="0">
                <a:solidFill>
                  <a:srgbClr val="0000FF"/>
                </a:solidFill>
              </a:rPr>
              <a:t> alkyl halides</a:t>
            </a:r>
            <a:r>
              <a:rPr lang="en-US" altLang="zh-CN" b="1" dirty="0"/>
              <a:t>, but none works well with 3</a:t>
            </a:r>
            <a:r>
              <a:rPr lang="en-US" altLang="zh-CN" b="1" baseline="30000" dirty="0"/>
              <a:t>o</a:t>
            </a:r>
            <a:r>
              <a:rPr lang="en-US" altLang="zh-CN" b="1" dirty="0"/>
              <a:t> alcohols.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CN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b="1" dirty="0"/>
              <a:t>PBr</a:t>
            </a:r>
            <a:r>
              <a:rPr lang="en-US" altLang="zh-CN" b="1" baseline="-25000" dirty="0"/>
              <a:t>3</a:t>
            </a:r>
            <a:r>
              <a:rPr lang="en-US" altLang="zh-CN" b="1" dirty="0"/>
              <a:t> and P/I</a:t>
            </a:r>
            <a:r>
              <a:rPr lang="en-US" altLang="zh-CN" b="1" baseline="-25000" dirty="0"/>
              <a:t>2</a:t>
            </a:r>
            <a:r>
              <a:rPr lang="en-US" altLang="zh-CN" b="1" dirty="0"/>
              <a:t> are </a:t>
            </a:r>
            <a:r>
              <a:rPr lang="en-US" altLang="zh-CN" b="1" i="1" dirty="0"/>
              <a:t>often the best </a:t>
            </a:r>
            <a:r>
              <a:rPr lang="en-US" altLang="zh-CN" b="1" dirty="0"/>
              <a:t>reagents for </a:t>
            </a:r>
            <a:r>
              <a:rPr lang="en-US" altLang="zh-CN" b="1" i="1" dirty="0"/>
              <a:t>converting 1</a:t>
            </a:r>
            <a:r>
              <a:rPr lang="en-US" altLang="zh-CN" b="1" i="1" baseline="30000" dirty="0"/>
              <a:t>o</a:t>
            </a:r>
            <a:r>
              <a:rPr lang="en-US" altLang="zh-CN" b="1" i="1" dirty="0"/>
              <a:t>/2</a:t>
            </a:r>
            <a:r>
              <a:rPr lang="en-US" altLang="zh-CN" b="1" i="1" baseline="30000" dirty="0"/>
              <a:t>o</a:t>
            </a:r>
            <a:r>
              <a:rPr lang="en-US" altLang="zh-CN" b="1" i="1" dirty="0"/>
              <a:t> alcohols to corresponding alkyl bromides and alkyl iodides</a:t>
            </a:r>
            <a:r>
              <a:rPr lang="en-US" altLang="zh-CN" b="1" dirty="0"/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CN" b="1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CN" b="1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CN" b="1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CN" b="1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CN" b="1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CN" b="1" dirty="0"/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596458" y="2137165"/>
          <a:ext cx="5430111" cy="14401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250" name="CS ChemDraw Drawing" r:id="rId3" imgW="3651287" imgH="968841" progId="ChemDraw.Document.6.0">
                  <p:embed/>
                </p:oleObj>
              </mc:Choice>
              <mc:Fallback>
                <p:oleObj name="CS ChemDraw Drawing" r:id="rId3" imgW="3651287" imgH="968841" progId="ChemDraw.Document.6.0">
                  <p:embed/>
                  <p:pic>
                    <p:nvPicPr>
                      <p:cNvPr id="5" name="对象 4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96458" y="2137165"/>
                        <a:ext cx="5430111" cy="144016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35509868"/>
              </p:ext>
            </p:extLst>
          </p:nvPr>
        </p:nvGraphicFramePr>
        <p:xfrm>
          <a:off x="3137467" y="5158073"/>
          <a:ext cx="4934491" cy="10992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251" name="CS ChemDraw Drawing" r:id="rId5" imgW="3177417" imgH="708396" progId="ChemDraw.Document.6.0">
                  <p:embed/>
                </p:oleObj>
              </mc:Choice>
              <mc:Fallback>
                <p:oleObj name="CS ChemDraw Drawing" r:id="rId5" imgW="3177417" imgH="708396" progId="ChemDraw.Document.6.0">
                  <p:embed/>
                  <p:pic>
                    <p:nvPicPr>
                      <p:cNvPr id="6" name="对象 5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137467" y="5158073"/>
                        <a:ext cx="4934491" cy="109929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8" name="直接连接符 7"/>
          <p:cNvCxnSpPr/>
          <p:nvPr/>
        </p:nvCxnSpPr>
        <p:spPr>
          <a:xfrm>
            <a:off x="6168008" y="2018752"/>
            <a:ext cx="0" cy="1296144"/>
          </a:xfrm>
          <a:prstGeom prst="line">
            <a:avLst/>
          </a:prstGeom>
          <a:ln>
            <a:solidFill>
              <a:srgbClr val="FF0000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对象 6"/>
          <p:cNvGraphicFramePr>
            <a:graphicFrameLocks noChangeAspect="1"/>
          </p:cNvGraphicFramePr>
          <p:nvPr/>
        </p:nvGraphicFramePr>
        <p:xfrm>
          <a:off x="6456040" y="2128709"/>
          <a:ext cx="5200618" cy="1186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252" name="CS ChemDraw Drawing" r:id="rId7" imgW="3549095" imgH="809085" progId="ChemDraw.Document.6.0">
                  <p:embed/>
                </p:oleObj>
              </mc:Choice>
              <mc:Fallback>
                <p:oleObj name="CS ChemDraw Drawing" r:id="rId7" imgW="3549095" imgH="809085" progId="ChemDraw.Document.6.0">
                  <p:embed/>
                  <p:pic>
                    <p:nvPicPr>
                      <p:cNvPr id="7" name="对象 6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6456040" y="2128709"/>
                        <a:ext cx="5200618" cy="11861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矩形 9"/>
          <p:cNvSpPr/>
          <p:nvPr/>
        </p:nvSpPr>
        <p:spPr>
          <a:xfrm>
            <a:off x="1350765" y="3933056"/>
            <a:ext cx="424847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b="1" dirty="0"/>
              <a:t>Rearrangements are </a:t>
            </a:r>
            <a:r>
              <a:rPr lang="en-US" altLang="zh-CN" b="1" i="1" dirty="0"/>
              <a:t>uncommon</a:t>
            </a:r>
            <a:r>
              <a:rPr lang="en-US" altLang="zh-CN" b="1" dirty="0"/>
              <a:t> because no carbocation is involved in the reactions.</a:t>
            </a:r>
            <a:endParaRPr lang="zh-CN" altLang="en-US" b="1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37</a:t>
            </a:fld>
            <a:endParaRPr lang="zh-CN" altLang="en-US"/>
          </a:p>
        </p:txBody>
      </p:sp>
      <p:sp>
        <p:nvSpPr>
          <p:cNvPr id="5" name="TextBox 4"/>
          <p:cNvSpPr txBox="1"/>
          <p:nvPr/>
        </p:nvSpPr>
        <p:spPr>
          <a:xfrm>
            <a:off x="0" y="277489"/>
            <a:ext cx="7159332" cy="46166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altLang="zh-CN" sz="2400" b="1" u="sng" dirty="0"/>
              <a:t>8-9-5</a:t>
            </a:r>
            <a:r>
              <a:rPr lang="en-US" altLang="zh-CN" sz="2400" b="1" dirty="0"/>
              <a:t> Reactions of Alcohols with </a:t>
            </a:r>
            <a:r>
              <a:rPr lang="en-US" altLang="zh-CN" sz="2400" b="1" dirty="0">
                <a:solidFill>
                  <a:srgbClr val="0000FF"/>
                </a:solidFill>
              </a:rPr>
              <a:t>Thionyl Chloride</a:t>
            </a:r>
            <a:endParaRPr lang="zh-CN" altLang="en-US" sz="2400" b="1" dirty="0">
              <a:solidFill>
                <a:srgbClr val="0000FF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94693" y="892804"/>
            <a:ext cx="1130525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b="1" dirty="0">
                <a:solidFill>
                  <a:srgbClr val="FF0000"/>
                </a:solidFill>
              </a:rPr>
              <a:t>SOCl</a:t>
            </a:r>
            <a:r>
              <a:rPr lang="en-US" altLang="zh-CN" b="1" baseline="-25000" dirty="0">
                <a:solidFill>
                  <a:srgbClr val="FF0000"/>
                </a:solidFill>
              </a:rPr>
              <a:t>2</a:t>
            </a:r>
            <a:r>
              <a:rPr lang="en-US" altLang="zh-CN" b="1" dirty="0"/>
              <a:t> (thionyl chloride) is </a:t>
            </a:r>
            <a:r>
              <a:rPr lang="en-US" altLang="zh-CN" b="1" dirty="0">
                <a:solidFill>
                  <a:srgbClr val="FF0000"/>
                </a:solidFill>
              </a:rPr>
              <a:t>often the best </a:t>
            </a:r>
            <a:r>
              <a:rPr lang="en-US" altLang="zh-CN" b="1" dirty="0"/>
              <a:t>reagent for </a:t>
            </a:r>
            <a:r>
              <a:rPr lang="en-US" altLang="zh-CN" b="1" dirty="0">
                <a:solidFill>
                  <a:srgbClr val="0000FF"/>
                </a:solidFill>
              </a:rPr>
              <a:t>converting an alcohol to an alkyl chloride</a:t>
            </a:r>
            <a:r>
              <a:rPr lang="en-US" altLang="zh-CN" b="1" dirty="0"/>
              <a:t>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CN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b="1" dirty="0"/>
              <a:t>It generally gives better yields than PCl</a:t>
            </a:r>
            <a:r>
              <a:rPr lang="en-US" altLang="zh-CN" b="1" baseline="-25000" dirty="0"/>
              <a:t>3</a:t>
            </a:r>
            <a:r>
              <a:rPr lang="en-US" altLang="zh-CN" b="1" dirty="0"/>
              <a:t> or PCl</a:t>
            </a:r>
            <a:r>
              <a:rPr lang="en-US" altLang="zh-CN" b="1" baseline="-25000" dirty="0"/>
              <a:t>5</a:t>
            </a:r>
            <a:r>
              <a:rPr lang="en-US" altLang="zh-CN" b="1" dirty="0"/>
              <a:t>, especially with 3</a:t>
            </a:r>
            <a:r>
              <a:rPr lang="en-US" altLang="zh-CN" b="1" dirty="0">
                <a:sym typeface="Symbol" panose="05050102010706020507" pitchFamily="18" charset="2"/>
              </a:rPr>
              <a:t> alcohols.</a:t>
            </a:r>
            <a:endParaRPr lang="en-US" altLang="zh-CN" b="1" dirty="0"/>
          </a:p>
          <a:p>
            <a:pPr>
              <a:buFont typeface="Arial" pitchFamily="34" charset="0"/>
              <a:buChar char="•"/>
            </a:pPr>
            <a:endParaRPr lang="en-US" altLang="zh-CN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b="1" dirty="0"/>
              <a:t>The byproducts are gaseous SO</a:t>
            </a:r>
            <a:r>
              <a:rPr lang="en-US" altLang="zh-CN" b="1" baseline="-25000" dirty="0"/>
              <a:t>2</a:t>
            </a:r>
            <a:r>
              <a:rPr lang="en-US" altLang="zh-CN" b="1" dirty="0"/>
              <a:t> and HCl, which leave the reaction mixture and ensure there can be no reverse reaction.</a:t>
            </a:r>
            <a:endParaRPr lang="zh-CN" altLang="en-US" b="1" dirty="0"/>
          </a:p>
        </p:txBody>
      </p:sp>
      <p:sp>
        <p:nvSpPr>
          <p:cNvPr id="12" name="TextBox 11"/>
          <p:cNvSpPr txBox="1"/>
          <p:nvPr/>
        </p:nvSpPr>
        <p:spPr>
          <a:xfrm>
            <a:off x="8688288" y="3135234"/>
            <a:ext cx="230425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b="1" i="1" dirty="0">
                <a:latin typeface="Comic Sans MS" pitchFamily="66" charset="0"/>
              </a:rPr>
              <a:t>gaseous byproducts</a:t>
            </a:r>
            <a:endParaRPr lang="zh-CN" altLang="en-US" sz="1600" b="1" i="1" dirty="0">
              <a:latin typeface="Comic Sans MS" pitchFamily="66" charset="0"/>
            </a:endParaRPr>
          </a:p>
        </p:txBody>
      </p:sp>
      <p:sp>
        <p:nvSpPr>
          <p:cNvPr id="11" name="矩形标注 10"/>
          <p:cNvSpPr/>
          <p:nvPr/>
        </p:nvSpPr>
        <p:spPr>
          <a:xfrm>
            <a:off x="6456040" y="3304511"/>
            <a:ext cx="1944216" cy="576064"/>
          </a:xfrm>
          <a:prstGeom prst="wedgeRectCallout">
            <a:avLst>
              <a:gd name="adj1" fmla="val 67944"/>
              <a:gd name="adj2" fmla="val -38175"/>
            </a:avLst>
          </a:prstGeom>
          <a:noFill/>
          <a:ln w="38100">
            <a:solidFill>
              <a:srgbClr val="00FFFF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/>
        </p:nvGraphicFramePr>
        <p:xfrm>
          <a:off x="1343472" y="3212976"/>
          <a:ext cx="6866966" cy="1008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170" name="CS ChemDraw Drawing" r:id="rId3" imgW="4249839" imgH="623166" progId="ChemDraw.Document.6.0">
                  <p:embed/>
                </p:oleObj>
              </mc:Choice>
              <mc:Fallback>
                <p:oleObj name="CS ChemDraw Drawing" r:id="rId3" imgW="4249839" imgH="623166" progId="ChemDraw.Document.6.0">
                  <p:embed/>
                  <p:pic>
                    <p:nvPicPr>
                      <p:cNvPr id="3" name="对象 2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343472" y="3212976"/>
                        <a:ext cx="6866966" cy="1008112"/>
                      </a:xfrm>
                      <a:prstGeom prst="rect">
                        <a:avLst/>
                      </a:prstGeom>
                      <a:ln w="28575">
                        <a:solidFill>
                          <a:schemeClr val="bg1">
                            <a:lumMod val="85000"/>
                          </a:schemeClr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3287688" y="4709192"/>
          <a:ext cx="4486823" cy="100804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171" name="CS ChemDraw Drawing" r:id="rId5" imgW="2741424" imgH="615634" progId="ChemDraw.Document.6.0">
                  <p:embed/>
                </p:oleObj>
              </mc:Choice>
              <mc:Fallback>
                <p:oleObj name="CS ChemDraw Drawing" r:id="rId5" imgW="2741424" imgH="615634" progId="ChemDraw.Document.6.0">
                  <p:embed/>
                  <p:pic>
                    <p:nvPicPr>
                      <p:cNvPr id="4" name="对象 3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287688" y="4709192"/>
                        <a:ext cx="4486823" cy="100804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圆角矩形 7"/>
          <p:cNvSpPr/>
          <p:nvPr/>
        </p:nvSpPr>
        <p:spPr>
          <a:xfrm>
            <a:off x="4220608" y="4073200"/>
            <a:ext cx="504056" cy="1008112"/>
          </a:xfrm>
          <a:prstGeom prst="roundRect">
            <a:avLst/>
          </a:prstGeom>
          <a:noFill/>
          <a:ln w="19050">
            <a:solidFill>
              <a:srgbClr val="00FFFF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38</a:t>
            </a:fld>
            <a:endParaRPr lang="zh-CN" alt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0" y="196193"/>
            <a:ext cx="5913798" cy="46166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altLang="zh-CN" sz="2400" b="1" u="sng" dirty="0"/>
              <a:t>8-9-6</a:t>
            </a:r>
            <a:r>
              <a:rPr lang="en-US" altLang="zh-CN" sz="2400" b="1" dirty="0"/>
              <a:t> </a:t>
            </a:r>
            <a:r>
              <a:rPr lang="en-US" altLang="zh-CN" sz="2400" b="1" dirty="0">
                <a:solidFill>
                  <a:srgbClr val="FF00FF"/>
                </a:solidFill>
              </a:rPr>
              <a:t>Dehydration</a:t>
            </a:r>
            <a:r>
              <a:rPr lang="en-US" altLang="zh-CN" sz="2400" b="1" dirty="0"/>
              <a:t> Reactions of Alcohols</a:t>
            </a:r>
            <a:endParaRPr lang="zh-CN" altLang="en-US" sz="2400" b="1" dirty="0"/>
          </a:p>
        </p:txBody>
      </p:sp>
      <p:sp>
        <p:nvSpPr>
          <p:cNvPr id="4" name="TextBox 3"/>
          <p:cNvSpPr txBox="1"/>
          <p:nvPr/>
        </p:nvSpPr>
        <p:spPr>
          <a:xfrm>
            <a:off x="0" y="821902"/>
            <a:ext cx="8794376" cy="40011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CN" sz="2000" b="1" u="sng" dirty="0"/>
              <a:t>1.</a:t>
            </a:r>
            <a:r>
              <a:rPr lang="en-US" altLang="zh-CN" sz="2000" b="1" dirty="0"/>
              <a:t> </a:t>
            </a:r>
            <a:r>
              <a:rPr lang="en-US" altLang="zh-CN" sz="2000" b="1" dirty="0">
                <a:solidFill>
                  <a:srgbClr val="0000FF"/>
                </a:solidFill>
              </a:rPr>
              <a:t>Formation of Alkenes</a:t>
            </a:r>
            <a:r>
              <a:rPr lang="en-US" altLang="zh-CN" sz="2000" b="1" dirty="0"/>
              <a:t> by </a:t>
            </a:r>
            <a:r>
              <a:rPr lang="en-US" altLang="zh-CN" sz="2000" b="1" dirty="0">
                <a:solidFill>
                  <a:srgbClr val="FF0000"/>
                </a:solidFill>
              </a:rPr>
              <a:t>Intra</a:t>
            </a:r>
            <a:r>
              <a:rPr lang="en-US" altLang="zh-CN" sz="2000" b="1" dirty="0"/>
              <a:t>molecular Dehydration</a:t>
            </a:r>
            <a:endParaRPr lang="zh-CN" altLang="en-US" sz="2000" b="1" dirty="0"/>
          </a:p>
        </p:txBody>
      </p:sp>
      <p:sp>
        <p:nvSpPr>
          <p:cNvPr id="9" name="TextBox 8"/>
          <p:cNvSpPr txBox="1"/>
          <p:nvPr/>
        </p:nvSpPr>
        <p:spPr>
          <a:xfrm>
            <a:off x="254677" y="3391795"/>
            <a:ext cx="111683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b="1" dirty="0"/>
              <a:t>Alcohols undergo intramolecular dehydration under acidic conditions to produce alkenes, generally through the E1 mechanism.</a:t>
            </a:r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/>
        </p:nvGraphicFramePr>
        <p:xfrm>
          <a:off x="3589981" y="4187166"/>
          <a:ext cx="4881929" cy="13046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194" name="CS ChemDraw Drawing" r:id="rId3" imgW="3107184" imgH="830492" progId="ChemDraw.Document.6.0">
                  <p:embed/>
                </p:oleObj>
              </mc:Choice>
              <mc:Fallback>
                <p:oleObj name="CS ChemDraw Drawing" r:id="rId3" imgW="3107184" imgH="830492" progId="ChemDraw.Document.6.0">
                  <p:embed/>
                  <p:pic>
                    <p:nvPicPr>
                      <p:cNvPr id="6" name="对象 5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589981" y="4187166"/>
                        <a:ext cx="4881929" cy="130467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矩形 6"/>
          <p:cNvSpPr/>
          <p:nvPr/>
        </p:nvSpPr>
        <p:spPr>
          <a:xfrm>
            <a:off x="254677" y="5884743"/>
            <a:ext cx="1056780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b="1" dirty="0"/>
              <a:t>To drive the reaction to the right, we often use a combination of distilling the products out of the reaction mixture and adding a dehydrating agent to remove water.</a:t>
            </a:r>
          </a:p>
        </p:txBody>
      </p:sp>
      <p:graphicFrame>
        <p:nvGraphicFramePr>
          <p:cNvPr id="10" name="对象 9"/>
          <p:cNvGraphicFramePr>
            <a:graphicFrameLocks noChangeAspect="1"/>
          </p:cNvGraphicFramePr>
          <p:nvPr/>
        </p:nvGraphicFramePr>
        <p:xfrm>
          <a:off x="2423592" y="1468025"/>
          <a:ext cx="5834433" cy="189205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195" name="CS ChemDraw Drawing" r:id="rId5" imgW="3980353" imgH="1290335" progId="ChemDraw.Document.6.0">
                  <p:embed/>
                </p:oleObj>
              </mc:Choice>
              <mc:Fallback>
                <p:oleObj name="CS ChemDraw Drawing" r:id="rId5" imgW="3980353" imgH="1290335" progId="ChemDraw.Document.6.0">
                  <p:embed/>
                  <p:pic>
                    <p:nvPicPr>
                      <p:cNvPr id="10" name="对象 9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423592" y="1468025"/>
                        <a:ext cx="5834433" cy="189205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竖卷形 5"/>
          <p:cNvSpPr/>
          <p:nvPr/>
        </p:nvSpPr>
        <p:spPr>
          <a:xfrm>
            <a:off x="7104112" y="836712"/>
            <a:ext cx="4608512" cy="1709264"/>
          </a:xfrm>
          <a:prstGeom prst="verticalScroll">
            <a:avLst/>
          </a:prstGeom>
          <a:solidFill>
            <a:srgbClr val="FFFF00"/>
          </a:solidFill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39</a:t>
            </a:fld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407368" y="402135"/>
            <a:ext cx="10945216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b="1" dirty="0">
                <a:sym typeface="Symbol" panose="05050102010706020507" pitchFamily="18" charset="2"/>
              </a:rPr>
              <a:t>Intramolecular dehydration </a:t>
            </a:r>
            <a:r>
              <a:rPr lang="en-US" altLang="zh-CN" b="1" dirty="0">
                <a:solidFill>
                  <a:srgbClr val="0000FF"/>
                </a:solidFill>
                <a:sym typeface="Symbol" panose="05050102010706020507" pitchFamily="18" charset="2"/>
              </a:rPr>
              <a:t>works best with 3 alcohols and almost as well with 2 alcohols</a:t>
            </a:r>
            <a:r>
              <a:rPr lang="en-US" altLang="zh-CN" b="1" dirty="0">
                <a:sym typeface="Symbol" panose="05050102010706020507" pitchFamily="18" charset="2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b="1" dirty="0">
              <a:sym typeface="Symbol" panose="05050102010706020507" pitchFamily="18" charset="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b="1" dirty="0">
              <a:sym typeface="Symbol" panose="05050102010706020507" pitchFamily="18" charset="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b="1" dirty="0">
              <a:sym typeface="Symbol" panose="05050102010706020507" pitchFamily="18" charset="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b="1" dirty="0">
              <a:sym typeface="Symbol" panose="05050102010706020507" pitchFamily="18" charset="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b="1" dirty="0">
              <a:sym typeface="Symbol" panose="05050102010706020507" pitchFamily="18" charset="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b="1" dirty="0">
              <a:sym typeface="Symbol" panose="05050102010706020507" pitchFamily="18" charset="2"/>
            </a:endParaRPr>
          </a:p>
          <a:p>
            <a:r>
              <a:rPr lang="en-US" altLang="zh-CN" b="1" dirty="0">
                <a:sym typeface="Symbol" panose="05050102010706020507" pitchFamily="18" charset="2"/>
              </a:rPr>
              <a:t> </a:t>
            </a:r>
          </a:p>
          <a:p>
            <a:endParaRPr lang="en-US" altLang="zh-CN" b="1" dirty="0">
              <a:sym typeface="Symbol" panose="05050102010706020507" pitchFamily="18" charset="2"/>
            </a:endParaRPr>
          </a:p>
          <a:p>
            <a:endParaRPr lang="en-US" altLang="zh-CN" b="1" dirty="0">
              <a:sym typeface="Symbol" panose="05050102010706020507" pitchFamily="18" charset="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b="1" dirty="0">
                <a:sym typeface="Symbol" panose="05050102010706020507" pitchFamily="18" charset="2"/>
              </a:rPr>
              <a:t>Rearrangements and poor yields are common with 1 alcohols.</a:t>
            </a:r>
            <a:endParaRPr lang="en-US" altLang="zh-CN" b="1" dirty="0"/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/>
        </p:nvGraphicFramePr>
        <p:xfrm>
          <a:off x="593417" y="1002744"/>
          <a:ext cx="6175335" cy="147732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218" name="CS ChemDraw Drawing" r:id="rId3" imgW="3796092" imgH="908189" progId="ChemDraw.Document.6.0">
                  <p:embed/>
                </p:oleObj>
              </mc:Choice>
              <mc:Fallback>
                <p:oleObj name="CS ChemDraw Drawing" r:id="rId3" imgW="3796092" imgH="908189" progId="ChemDraw.Document.6.0">
                  <p:embed/>
                  <p:pic>
                    <p:nvPicPr>
                      <p:cNvPr id="3" name="对象 2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93417" y="1002744"/>
                        <a:ext cx="6175335" cy="147732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文本框 3"/>
          <p:cNvSpPr txBox="1"/>
          <p:nvPr/>
        </p:nvSpPr>
        <p:spPr>
          <a:xfrm>
            <a:off x="7464152" y="1004824"/>
            <a:ext cx="403244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If two or more alkenes might be formed by deprotonation of the carbocation, the most highly substituted alkene (Zaitsev product) usually predominates.</a:t>
            </a:r>
            <a:endParaRPr lang="zh-CN" altLang="en-US" b="1" dirty="0"/>
          </a:p>
        </p:txBody>
      </p:sp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06050968"/>
              </p:ext>
            </p:extLst>
          </p:nvPr>
        </p:nvGraphicFramePr>
        <p:xfrm>
          <a:off x="2463958" y="3709568"/>
          <a:ext cx="6146642" cy="1008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219" name="CS ChemDraw Drawing" r:id="rId5" imgW="3783860" imgH="619995" progId="ChemDraw.Document.6.0">
                  <p:embed/>
                </p:oleObj>
              </mc:Choice>
              <mc:Fallback>
                <p:oleObj name="CS ChemDraw Drawing" r:id="rId5" imgW="3783860" imgH="619995" progId="ChemDraw.Document.6.0">
                  <p:embed/>
                  <p:pic>
                    <p:nvPicPr>
                      <p:cNvPr id="7" name="对象 6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463958" y="3709568"/>
                        <a:ext cx="6146642" cy="10081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云形标注 10"/>
          <p:cNvSpPr/>
          <p:nvPr/>
        </p:nvSpPr>
        <p:spPr>
          <a:xfrm>
            <a:off x="7806774" y="1412776"/>
            <a:ext cx="4265890" cy="1080120"/>
          </a:xfrm>
          <a:prstGeom prst="cloudCallout">
            <a:avLst>
              <a:gd name="adj1" fmla="val -51570"/>
              <a:gd name="adj2" fmla="val -5386"/>
            </a:avLst>
          </a:prstGeom>
          <a:solidFill>
            <a:schemeClr val="bg1"/>
          </a:solidFill>
          <a:ln>
            <a:solidFill>
              <a:srgbClr val="00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横卷形 8"/>
          <p:cNvSpPr/>
          <p:nvPr/>
        </p:nvSpPr>
        <p:spPr>
          <a:xfrm>
            <a:off x="5951984" y="4768511"/>
            <a:ext cx="5630416" cy="1252777"/>
          </a:xfrm>
          <a:prstGeom prst="horizontalScroll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40</a:t>
            </a:fld>
            <a:endParaRPr lang="zh-CN" alt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0" y="207918"/>
            <a:ext cx="6402715" cy="40011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altLang="zh-CN" sz="2000" b="1" u="sng" dirty="0"/>
              <a:t>2.</a:t>
            </a:r>
            <a:r>
              <a:rPr lang="en-US" altLang="zh-CN" sz="2000" b="1" dirty="0"/>
              <a:t> </a:t>
            </a:r>
            <a:r>
              <a:rPr lang="en-US" altLang="zh-CN" sz="2000" b="1" dirty="0">
                <a:solidFill>
                  <a:srgbClr val="0000FF"/>
                </a:solidFill>
              </a:rPr>
              <a:t>Formation of Ethers </a:t>
            </a:r>
            <a:r>
              <a:rPr lang="en-US" altLang="zh-CN" sz="2000" b="1" dirty="0"/>
              <a:t>by </a:t>
            </a:r>
            <a:r>
              <a:rPr lang="en-US" altLang="zh-CN" sz="2000" b="1" dirty="0">
                <a:solidFill>
                  <a:srgbClr val="FF0000"/>
                </a:solidFill>
              </a:rPr>
              <a:t>Inter</a:t>
            </a:r>
            <a:r>
              <a:rPr lang="en-US" altLang="zh-CN" sz="2000" b="1" dirty="0"/>
              <a:t>molecular Dehydration</a:t>
            </a:r>
            <a:endParaRPr lang="zh-CN" altLang="en-US" sz="2000" b="1" dirty="0"/>
          </a:p>
        </p:txBody>
      </p:sp>
      <p:sp>
        <p:nvSpPr>
          <p:cNvPr id="12" name="TextBox 11"/>
          <p:cNvSpPr txBox="1"/>
          <p:nvPr/>
        </p:nvSpPr>
        <p:spPr>
          <a:xfrm>
            <a:off x="280770" y="4060625"/>
            <a:ext cx="11301630" cy="646331"/>
          </a:xfrm>
          <a:prstGeom prst="rect">
            <a:avLst/>
          </a:prstGeom>
          <a:noFill/>
          <a:ln w="38100">
            <a:noFill/>
          </a:ln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b="1" dirty="0"/>
              <a:t>Intermolecular dehydration can be used to synthesize </a:t>
            </a:r>
            <a:r>
              <a:rPr lang="en-US" altLang="zh-CN" b="1" dirty="0">
                <a:solidFill>
                  <a:srgbClr val="FF00FF"/>
                </a:solidFill>
              </a:rPr>
              <a:t>symmetrical </a:t>
            </a:r>
            <a:r>
              <a:rPr lang="en-US" altLang="zh-CN" b="1" dirty="0" err="1">
                <a:solidFill>
                  <a:srgbClr val="FF00FF"/>
                </a:solidFill>
              </a:rPr>
              <a:t>dialkyl</a:t>
            </a:r>
            <a:r>
              <a:rPr lang="en-US" altLang="zh-CN" b="1" dirty="0">
                <a:solidFill>
                  <a:srgbClr val="FF00FF"/>
                </a:solidFill>
              </a:rPr>
              <a:t> ethers </a:t>
            </a:r>
            <a:r>
              <a:rPr lang="en-US" altLang="zh-CN" b="1" dirty="0"/>
              <a:t>from</a:t>
            </a:r>
            <a:r>
              <a:rPr lang="en-US" altLang="zh-CN" b="1" dirty="0">
                <a:solidFill>
                  <a:srgbClr val="0000FF"/>
                </a:solidFill>
              </a:rPr>
              <a:t> simple, unhindered 1</a:t>
            </a:r>
            <a:r>
              <a:rPr lang="en-US" altLang="zh-CN" b="1" baseline="30000" dirty="0">
                <a:solidFill>
                  <a:srgbClr val="0000FF"/>
                </a:solidFill>
              </a:rPr>
              <a:t>o</a:t>
            </a:r>
            <a:r>
              <a:rPr lang="en-US" altLang="zh-CN" b="1" dirty="0">
                <a:solidFill>
                  <a:srgbClr val="0000FF"/>
                </a:solidFill>
              </a:rPr>
              <a:t> alcohols or methanol</a:t>
            </a:r>
            <a:r>
              <a:rPr lang="en-US" altLang="zh-CN" b="1" dirty="0"/>
              <a:t>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07568" y="3530222"/>
            <a:ext cx="1418978" cy="338554"/>
          </a:xfrm>
          <a:prstGeom prst="rect">
            <a:avLst/>
          </a:prstGeom>
          <a:noFill/>
          <a:ln>
            <a:solidFill>
              <a:srgbClr val="FF00FF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CN" sz="1600" b="1" dirty="0" err="1">
                <a:latin typeface="Consolas" panose="020B0609020204030204" pitchFamily="49" charset="0"/>
              </a:rPr>
              <a:t>protonation</a:t>
            </a:r>
            <a:endParaRPr lang="zh-CN" altLang="en-US" sz="1600" b="1" dirty="0">
              <a:latin typeface="Consolas" panose="020B0609020204030204" pitchFamily="49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375920" y="2845691"/>
            <a:ext cx="484428" cy="338554"/>
          </a:xfrm>
          <a:prstGeom prst="rect">
            <a:avLst/>
          </a:prstGeom>
          <a:noFill/>
          <a:ln>
            <a:solidFill>
              <a:srgbClr val="FF00FF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CN" sz="1600" b="1" dirty="0">
                <a:latin typeface="Consolas" panose="020B0609020204030204" pitchFamily="49" charset="0"/>
              </a:rPr>
              <a:t>S</a:t>
            </a:r>
            <a:r>
              <a:rPr lang="en-US" altLang="zh-CN" sz="1600" b="1" baseline="-25000" dirty="0">
                <a:latin typeface="Consolas" panose="020B0609020204030204" pitchFamily="49" charset="0"/>
              </a:rPr>
              <a:t>N</a:t>
            </a:r>
            <a:r>
              <a:rPr lang="en-US" altLang="zh-CN" sz="1600" b="1" dirty="0">
                <a:latin typeface="Consolas" panose="020B0609020204030204" pitchFamily="49" charset="0"/>
              </a:rPr>
              <a:t>2</a:t>
            </a:r>
            <a:endParaRPr lang="zh-CN" altLang="en-US" sz="1600" b="1" dirty="0">
              <a:latin typeface="Consolas" panose="020B0609020204030204" pitchFamily="49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806774" y="2697705"/>
            <a:ext cx="1643399" cy="338554"/>
          </a:xfrm>
          <a:prstGeom prst="rect">
            <a:avLst/>
          </a:prstGeom>
          <a:noFill/>
          <a:ln>
            <a:solidFill>
              <a:srgbClr val="FF00FF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CN" sz="1600" b="1" dirty="0" err="1">
                <a:latin typeface="Consolas" panose="020B0609020204030204" pitchFamily="49" charset="0"/>
              </a:rPr>
              <a:t>deprotonation</a:t>
            </a:r>
            <a:endParaRPr lang="zh-CN" altLang="en-US" sz="1600" b="1" dirty="0">
              <a:latin typeface="Consolas" panose="020B0609020204030204" pitchFamily="49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80770" y="742727"/>
            <a:ext cx="1152128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b="1" dirty="0"/>
              <a:t>A protonated </a:t>
            </a:r>
            <a:r>
              <a:rPr lang="en-US" altLang="zh-CN" b="1" dirty="0">
                <a:solidFill>
                  <a:srgbClr val="0000FF"/>
                </a:solidFill>
              </a:rPr>
              <a:t>methanol or 1</a:t>
            </a:r>
            <a:r>
              <a:rPr lang="en-US" altLang="zh-CN" b="1" dirty="0">
                <a:solidFill>
                  <a:srgbClr val="0000FF"/>
                </a:solidFill>
                <a:sym typeface="Symbol" panose="05050102010706020507" pitchFamily="18" charset="2"/>
              </a:rPr>
              <a:t> alcohol </a:t>
            </a:r>
            <a:r>
              <a:rPr lang="en-US" altLang="zh-CN" b="1" dirty="0">
                <a:sym typeface="Symbol" panose="05050102010706020507" pitchFamily="18" charset="2"/>
              </a:rPr>
              <a:t>may be attacked by another molecule of the same alcohol and undergo an </a:t>
            </a:r>
            <a:r>
              <a:rPr lang="en-US" altLang="zh-CN" b="1" dirty="0">
                <a:solidFill>
                  <a:srgbClr val="FF0000"/>
                </a:solidFill>
                <a:sym typeface="Symbol" panose="05050102010706020507" pitchFamily="18" charset="2"/>
              </a:rPr>
              <a:t>S</a:t>
            </a:r>
            <a:r>
              <a:rPr lang="en-US" altLang="zh-CN" b="1" baseline="-25000" dirty="0">
                <a:solidFill>
                  <a:srgbClr val="FF0000"/>
                </a:solidFill>
                <a:sym typeface="Symbol" panose="05050102010706020507" pitchFamily="18" charset="2"/>
              </a:rPr>
              <a:t>N</a:t>
            </a:r>
            <a:r>
              <a:rPr lang="en-US" altLang="zh-CN" b="1" dirty="0">
                <a:solidFill>
                  <a:srgbClr val="FF0000"/>
                </a:solidFill>
                <a:sym typeface="Symbol" panose="05050102010706020507" pitchFamily="18" charset="2"/>
              </a:rPr>
              <a:t>2 displacement</a:t>
            </a:r>
            <a:r>
              <a:rPr lang="en-US" altLang="zh-CN" b="1" dirty="0">
                <a:sym typeface="Symbol" panose="05050102010706020507" pitchFamily="18" charset="2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b="1" dirty="0">
              <a:sym typeface="Symbol" panose="05050102010706020507" pitchFamily="18" charset="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b="1" dirty="0">
                <a:sym typeface="Symbol" panose="05050102010706020507" pitchFamily="18" charset="2"/>
              </a:rPr>
              <a:t>The net reaction is an intermolecular dehydration to form an ether.</a:t>
            </a:r>
            <a:endParaRPr lang="zh-CN" altLang="en-US" b="1" dirty="0"/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1260380" y="2222458"/>
          <a:ext cx="9815255" cy="147704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346" name="CS ChemDraw Drawing" r:id="rId3" imgW="6392711" imgH="961309" progId="ChemDraw.Document.6.0">
                  <p:embed/>
                </p:oleObj>
              </mc:Choice>
              <mc:Fallback>
                <p:oleObj name="CS ChemDraw Drawing" r:id="rId3" imgW="6392711" imgH="961309" progId="ChemDraw.Document.6.0">
                  <p:embed/>
                  <p:pic>
                    <p:nvPicPr>
                      <p:cNvPr id="5" name="对象 4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260380" y="2222458"/>
                        <a:ext cx="9815255" cy="147704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29610740"/>
              </p:ext>
            </p:extLst>
          </p:nvPr>
        </p:nvGraphicFramePr>
        <p:xfrm>
          <a:off x="602210" y="4956854"/>
          <a:ext cx="6048672" cy="17187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347" name="CS ChemDraw Drawing" r:id="rId5" imgW="4207621" imgH="1195988" progId="ChemDraw.Document.6.0">
                  <p:embed/>
                </p:oleObj>
              </mc:Choice>
              <mc:Fallback>
                <p:oleObj name="CS ChemDraw Drawing" r:id="rId5" imgW="4207621" imgH="1195988" progId="ChemDraw.Document.6.0">
                  <p:embed/>
                  <p:pic>
                    <p:nvPicPr>
                      <p:cNvPr id="6" name="对象 5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02210" y="4956854"/>
                        <a:ext cx="6048672" cy="171873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文本框 6"/>
          <p:cNvSpPr txBox="1"/>
          <p:nvPr/>
        </p:nvSpPr>
        <p:spPr>
          <a:xfrm>
            <a:off x="6236065" y="4985225"/>
            <a:ext cx="534633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b="1" dirty="0">
                <a:latin typeface="Consolas" panose="020B0609020204030204" pitchFamily="49" charset="0"/>
              </a:rPr>
              <a:t>Relatively high temperature favors elimination</a:t>
            </a:r>
            <a:endParaRPr lang="zh-CN" altLang="en-US" sz="1600" b="1" dirty="0">
              <a:latin typeface="Consolas" panose="020B0609020204030204" pitchFamily="49" charset="0"/>
            </a:endParaRPr>
          </a:p>
          <a:p>
            <a:endParaRPr lang="en-US" altLang="zh-CN" sz="1600" b="1" dirty="0">
              <a:latin typeface="Consolas" panose="020B0609020204030204" pitchFamily="49" charset="0"/>
            </a:endParaRPr>
          </a:p>
          <a:p>
            <a:r>
              <a:rPr lang="en-US" altLang="zh-CN" sz="1600" b="1" dirty="0">
                <a:latin typeface="Consolas" panose="020B0609020204030204" pitchFamily="49" charset="0"/>
              </a:rPr>
              <a:t>Relatively low temperature favors substitution</a:t>
            </a:r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/>
        </p:nvGraphicFramePr>
        <p:xfrm>
          <a:off x="7896200" y="1799997"/>
          <a:ext cx="4103617" cy="25318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348" name="CS ChemDraw Drawing" r:id="rId7" imgW="3216873" imgH="197812" progId="ChemDraw.Document.6.0">
                  <p:embed/>
                </p:oleObj>
              </mc:Choice>
              <mc:Fallback>
                <p:oleObj name="CS ChemDraw Drawing" r:id="rId7" imgW="3216873" imgH="197812" progId="ChemDraw.Document.6.0">
                  <p:embed/>
                  <p:pic>
                    <p:nvPicPr>
                      <p:cNvPr id="8" name="对象 7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7896200" y="1799997"/>
                        <a:ext cx="4103617" cy="25318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圆角矩形 9"/>
          <p:cNvSpPr/>
          <p:nvPr/>
        </p:nvSpPr>
        <p:spPr>
          <a:xfrm>
            <a:off x="8544272" y="1741519"/>
            <a:ext cx="504056" cy="311662"/>
          </a:xfrm>
          <a:prstGeom prst="roundRect">
            <a:avLst/>
          </a:prstGeom>
          <a:noFill/>
          <a:ln>
            <a:solidFill>
              <a:srgbClr val="00FFFF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云形标注 12"/>
          <p:cNvSpPr/>
          <p:nvPr/>
        </p:nvSpPr>
        <p:spPr>
          <a:xfrm>
            <a:off x="8184232" y="1615493"/>
            <a:ext cx="3596679" cy="1147011"/>
          </a:xfrm>
          <a:prstGeom prst="cloudCallout">
            <a:avLst>
              <a:gd name="adj1" fmla="val -58489"/>
              <a:gd name="adj2" fmla="val 29409"/>
            </a:avLst>
          </a:prstGeom>
          <a:solidFill>
            <a:srgbClr val="FFFFCC"/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41</a:t>
            </a:fld>
            <a:endParaRPr lang="zh-CN" altLang="en-US"/>
          </a:p>
        </p:txBody>
      </p:sp>
      <p:sp>
        <p:nvSpPr>
          <p:cNvPr id="3" name="TextBox 2"/>
          <p:cNvSpPr txBox="1"/>
          <p:nvPr/>
        </p:nvSpPr>
        <p:spPr>
          <a:xfrm>
            <a:off x="0" y="218652"/>
            <a:ext cx="4549643" cy="46166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altLang="zh-CN" sz="2400" b="1" u="sng" dirty="0"/>
              <a:t>8-9-7</a:t>
            </a:r>
            <a:r>
              <a:rPr lang="en-US" altLang="zh-CN" sz="2400" b="1" dirty="0"/>
              <a:t> </a:t>
            </a:r>
            <a:r>
              <a:rPr lang="en-US" altLang="zh-CN" sz="2400" b="1" dirty="0">
                <a:solidFill>
                  <a:srgbClr val="FF0000"/>
                </a:solidFill>
              </a:rPr>
              <a:t>Esterification</a:t>
            </a:r>
            <a:r>
              <a:rPr lang="en-US" altLang="zh-CN" sz="2400" b="1" dirty="0"/>
              <a:t> of Alcohols</a:t>
            </a:r>
            <a:endParaRPr lang="zh-CN" altLang="en-US" sz="2400" b="1" dirty="0"/>
          </a:p>
        </p:txBody>
      </p:sp>
      <p:sp>
        <p:nvSpPr>
          <p:cNvPr id="9" name="矩形 8"/>
          <p:cNvSpPr/>
          <p:nvPr/>
        </p:nvSpPr>
        <p:spPr>
          <a:xfrm>
            <a:off x="1559495" y="1861072"/>
            <a:ext cx="1828977" cy="427488"/>
          </a:xfrm>
          <a:prstGeom prst="rect">
            <a:avLst/>
          </a:prstGeom>
          <a:solidFill>
            <a:srgbClr val="FFFF00"/>
          </a:solidFill>
          <a:ln w="38100">
            <a:solidFill>
              <a:srgbClr val="00FFFF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ctr">
              <a:buFont typeface="Arial" panose="020B0604020202020204" pitchFamily="34" charset="0"/>
              <a:buChar char="•"/>
            </a:pPr>
            <a:endParaRPr lang="zh-CN" altLang="en-US"/>
          </a:p>
        </p:txBody>
      </p:sp>
      <p:sp>
        <p:nvSpPr>
          <p:cNvPr id="8" name="TextBox 7"/>
          <p:cNvSpPr txBox="1"/>
          <p:nvPr/>
        </p:nvSpPr>
        <p:spPr>
          <a:xfrm>
            <a:off x="8573470" y="1773499"/>
            <a:ext cx="339816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latin typeface="Consolas" panose="020B0609020204030204" pitchFamily="49" charset="0"/>
              </a:rPr>
              <a:t>We will discuss the mechanism of esterification in later chapter.</a:t>
            </a:r>
            <a:endParaRPr lang="zh-CN" altLang="en-US" sz="1600" b="1" dirty="0">
              <a:latin typeface="Consolas" panose="020B0609020204030204" pitchFamily="49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33306" y="772217"/>
            <a:ext cx="117673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b="1" dirty="0"/>
              <a:t>Alcohols react with carboxylic acids under acidic conditions to produce esters, accompanied by loss of H</a:t>
            </a:r>
            <a:r>
              <a:rPr lang="en-US" altLang="zh-CN" b="1" baseline="-25000" dirty="0"/>
              <a:t>2</a:t>
            </a:r>
            <a:r>
              <a:rPr lang="en-US" altLang="zh-CN" b="1" dirty="0"/>
              <a:t>O.</a:t>
            </a:r>
            <a:endParaRPr lang="zh-CN" altLang="en-US" b="1" dirty="0"/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911424" y="1615493"/>
          <a:ext cx="7204663" cy="114701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370" name="CS ChemDraw Drawing" r:id="rId3" imgW="3829630" imgH="609292" progId="ChemDraw.Document.6.0">
                  <p:embed/>
                </p:oleObj>
              </mc:Choice>
              <mc:Fallback>
                <p:oleObj name="CS ChemDraw Drawing" r:id="rId3" imgW="3829630" imgH="609292" progId="ChemDraw.Document.6.0">
                  <p:embed/>
                  <p:pic>
                    <p:nvPicPr>
                      <p:cNvPr id="5" name="对象 4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911424" y="1615493"/>
                        <a:ext cx="7204663" cy="1147011"/>
                      </a:xfrm>
                      <a:prstGeom prst="rect">
                        <a:avLst/>
                      </a:prstGeom>
                      <a:ln w="28575">
                        <a:solidFill>
                          <a:schemeClr val="bg1">
                            <a:lumMod val="85000"/>
                          </a:schemeClr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/>
        </p:nvGraphicFramePr>
        <p:xfrm>
          <a:off x="1847528" y="2950245"/>
          <a:ext cx="5832648" cy="115888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371" name="CS ChemDraw Drawing" r:id="rId5" imgW="3875004" imgH="769444" progId="ChemDraw.Document.6.0">
                  <p:embed/>
                </p:oleObj>
              </mc:Choice>
              <mc:Fallback>
                <p:oleObj name="CS ChemDraw Drawing" r:id="rId5" imgW="3875004" imgH="769444" progId="ChemDraw.Document.6.0">
                  <p:embed/>
                  <p:pic>
                    <p:nvPicPr>
                      <p:cNvPr id="6" name="对象 5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847528" y="2950245"/>
                        <a:ext cx="5832648" cy="115888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/>
        </p:nvGraphicFramePr>
        <p:xfrm>
          <a:off x="479376" y="4946304"/>
          <a:ext cx="4493272" cy="17230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372" name="CS ChemDraw Drawing" r:id="rId7" imgW="2997496" imgH="1148814" progId="ChemDraw.Document.6.0">
                  <p:embed/>
                </p:oleObj>
              </mc:Choice>
              <mc:Fallback>
                <p:oleObj name="CS ChemDraw Drawing" r:id="rId7" imgW="2997496" imgH="1148814" progId="ChemDraw.Document.6.0">
                  <p:embed/>
                  <p:pic>
                    <p:nvPicPr>
                      <p:cNvPr id="7" name="对象 6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79376" y="4946304"/>
                        <a:ext cx="4493272" cy="172305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文本框 11"/>
          <p:cNvSpPr txBox="1"/>
          <p:nvPr/>
        </p:nvSpPr>
        <p:spPr>
          <a:xfrm>
            <a:off x="233306" y="4327661"/>
            <a:ext cx="117673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b="1" dirty="0"/>
              <a:t>Alcohols can also react with inorganic acids under acidic conditions to produce corresponding esters.</a:t>
            </a:r>
            <a:endParaRPr lang="zh-CN" altLang="en-US" b="1" dirty="0"/>
          </a:p>
        </p:txBody>
      </p:sp>
      <p:sp>
        <p:nvSpPr>
          <p:cNvPr id="10" name="文本框 9"/>
          <p:cNvSpPr txBox="1"/>
          <p:nvPr/>
        </p:nvSpPr>
        <p:spPr>
          <a:xfrm>
            <a:off x="5201144" y="5061779"/>
            <a:ext cx="374441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600" b="1" dirty="0">
                <a:solidFill>
                  <a:srgbClr val="0000FF"/>
                </a:solidFill>
                <a:latin typeface="Consolas" panose="020B0609020204030204" pitchFamily="49" charset="0"/>
              </a:rPr>
              <a:t>a vasodilator drug</a:t>
            </a:r>
            <a:r>
              <a:rPr lang="en-US" altLang="zh-CN" sz="1600" b="1" dirty="0">
                <a:latin typeface="Consolas" panose="020B0609020204030204" pitchFamily="49" charset="0"/>
              </a:rPr>
              <a:t> used for the treatment of chest pain and high blood pressure</a:t>
            </a:r>
          </a:p>
          <a:p>
            <a:endParaRPr lang="en-US" altLang="zh-CN" sz="1600" b="1" dirty="0">
              <a:latin typeface="Consolas" panose="020B0609020204030204" pitchFamily="49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600" b="1" dirty="0">
                <a:latin typeface="Consolas" panose="020B0609020204030204" pitchFamily="49" charset="0"/>
              </a:rPr>
              <a:t>also used to make dynamite</a:t>
            </a:r>
            <a:endParaRPr lang="zh-CN" altLang="en-US" sz="1600" b="1" dirty="0">
              <a:latin typeface="Consolas" panose="020B0609020204030204" pitchFamily="49" charset="0"/>
            </a:endParaRPr>
          </a:p>
        </p:txBody>
      </p:sp>
      <p:sp>
        <p:nvSpPr>
          <p:cNvPr id="11" name="椭圆 10"/>
          <p:cNvSpPr/>
          <p:nvPr/>
        </p:nvSpPr>
        <p:spPr>
          <a:xfrm>
            <a:off x="3503712" y="4946304"/>
            <a:ext cx="1684960" cy="1718330"/>
          </a:xfrm>
          <a:prstGeom prst="ellipse">
            <a:avLst/>
          </a:prstGeom>
          <a:noFill/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9934" name="Picture 238" descr="https://gimg2.baidu.com/image_search/src=http%3A%2F%2Fimagepphcloud.thepaper.cn%2Fpph%2Fimage%2F63%2F593%2F772.jpg&amp;refer=http%3A%2F%2Fimagepphcloud.thepaper.cn&amp;app=2002&amp;size=f9999,10000&amp;q=a80&amp;n=0&amp;g=0n&amp;fmt=jpeg?sec=1613699759&amp;t=68279a3c106fe54d0a6d2436b688342e"/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37600" y="5006875"/>
            <a:ext cx="1879518" cy="1344154"/>
          </a:xfrm>
          <a:prstGeom prst="rect">
            <a:avLst/>
          </a:prstGeom>
          <a:noFill/>
          <a:effectLst>
            <a:softEdge rad="1270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936" name="Picture 240" descr="https://ss3.bdstatic.com/70cFv8Sh_Q1YnxGkpoWK1HF6hhy/it/u=1155674348,1265857591&amp;fm=26&amp;gp=0.jpg"/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57375" y="5025720"/>
            <a:ext cx="925025" cy="1203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直接箭头连接符 11"/>
          <p:cNvCxnSpPr/>
          <p:nvPr/>
        </p:nvCxnSpPr>
        <p:spPr>
          <a:xfrm flipH="1">
            <a:off x="4129562" y="4171802"/>
            <a:ext cx="247836" cy="326938"/>
          </a:xfrm>
          <a:prstGeom prst="straightConnector1">
            <a:avLst/>
          </a:prstGeom>
          <a:ln w="5715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箭头连接符 17"/>
          <p:cNvCxnSpPr/>
          <p:nvPr/>
        </p:nvCxnSpPr>
        <p:spPr>
          <a:xfrm flipV="1">
            <a:off x="4237574" y="4215410"/>
            <a:ext cx="279648" cy="317636"/>
          </a:xfrm>
          <a:prstGeom prst="straightConnector1">
            <a:avLst/>
          </a:prstGeom>
          <a:ln w="5715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椭圆 9"/>
          <p:cNvSpPr/>
          <p:nvPr/>
        </p:nvSpPr>
        <p:spPr>
          <a:xfrm>
            <a:off x="3863752" y="4524578"/>
            <a:ext cx="504056" cy="360040"/>
          </a:xfrm>
          <a:prstGeom prst="ellipse">
            <a:avLst/>
          </a:prstGeom>
          <a:solidFill>
            <a:srgbClr val="FFFF00"/>
          </a:solidFill>
          <a:ln>
            <a:solidFill>
              <a:srgbClr val="00FFFF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椭圆 8"/>
          <p:cNvSpPr/>
          <p:nvPr/>
        </p:nvSpPr>
        <p:spPr>
          <a:xfrm>
            <a:off x="4345586" y="3871654"/>
            <a:ext cx="504056" cy="360040"/>
          </a:xfrm>
          <a:prstGeom prst="ellipse">
            <a:avLst/>
          </a:prstGeom>
          <a:solidFill>
            <a:srgbClr val="FFFF00"/>
          </a:solidFill>
          <a:ln>
            <a:solidFill>
              <a:srgbClr val="00FFFF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42</a:t>
            </a:fld>
            <a:endParaRPr lang="zh-CN" altLang="en-US"/>
          </a:p>
        </p:txBody>
      </p:sp>
      <p:sp>
        <p:nvSpPr>
          <p:cNvPr id="3" name="TextBox 2"/>
          <p:cNvSpPr txBox="1"/>
          <p:nvPr/>
        </p:nvSpPr>
        <p:spPr>
          <a:xfrm>
            <a:off x="0" y="898751"/>
            <a:ext cx="4293163" cy="40011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altLang="zh-CN" sz="2000" b="1" u="sng" dirty="0"/>
              <a:t>8-10-1</a:t>
            </a:r>
            <a:r>
              <a:rPr lang="en-US" altLang="zh-CN" sz="2000" b="1" dirty="0"/>
              <a:t> </a:t>
            </a:r>
            <a:r>
              <a:rPr lang="en-US" altLang="zh-CN" sz="2000" b="1" dirty="0">
                <a:solidFill>
                  <a:srgbClr val="0000FF"/>
                </a:solidFill>
              </a:rPr>
              <a:t>The Pinacol Rearrangement</a:t>
            </a:r>
            <a:endParaRPr lang="zh-CN" altLang="en-US" sz="2000" b="1" dirty="0">
              <a:solidFill>
                <a:srgbClr val="0000FF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99356" y="3374052"/>
            <a:ext cx="71287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b="1" dirty="0">
                <a:latin typeface="+mn-ea"/>
                <a:cs typeface="Calibri" panose="020F0502020204030204" pitchFamily="34" charset="0"/>
              </a:rPr>
              <a:t>A shortcut to predicting the </a:t>
            </a:r>
            <a:r>
              <a:rPr lang="en-US" altLang="zh-CN" b="1" dirty="0" err="1">
                <a:latin typeface="+mn-ea"/>
                <a:cs typeface="Calibri" panose="020F0502020204030204" pitchFamily="34" charset="0"/>
              </a:rPr>
              <a:t>pinacol</a:t>
            </a:r>
            <a:r>
              <a:rPr lang="en-US" altLang="zh-CN" b="1" dirty="0">
                <a:latin typeface="+mn-ea"/>
                <a:cs typeface="Calibri" panose="020F0502020204030204" pitchFamily="34" charset="0"/>
              </a:rPr>
              <a:t> rearrangement product:</a:t>
            </a:r>
            <a:endParaRPr lang="zh-CN" altLang="en-US" b="1" dirty="0">
              <a:latin typeface="+mn-ea"/>
              <a:cs typeface="Calibri" panose="020F0502020204030204" pitchFamily="34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0" y="277253"/>
            <a:ext cx="5105885" cy="46166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none">
            <a:spAutoFit/>
          </a:bodyPr>
          <a:lstStyle/>
          <a:p>
            <a:r>
              <a:rPr lang="en-US" altLang="zh-CN" sz="2400" b="1" u="sng" dirty="0"/>
              <a:t>8-10</a:t>
            </a:r>
            <a:r>
              <a:rPr lang="en-US" altLang="zh-CN" sz="2400" b="1" dirty="0">
                <a:solidFill>
                  <a:srgbClr val="0000FF"/>
                </a:solidFill>
              </a:rPr>
              <a:t> </a:t>
            </a:r>
            <a:r>
              <a:rPr lang="en-US" altLang="zh-CN" sz="2400" b="1" dirty="0"/>
              <a:t>Unique Reactions of </a:t>
            </a:r>
            <a:r>
              <a:rPr lang="en-US" altLang="zh-CN" sz="2400" b="1" dirty="0">
                <a:solidFill>
                  <a:srgbClr val="FF0000"/>
                </a:solidFill>
              </a:rPr>
              <a:t>1,2-Diols</a:t>
            </a:r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869504"/>
              </p:ext>
            </p:extLst>
          </p:nvPr>
        </p:nvGraphicFramePr>
        <p:xfrm>
          <a:off x="2747192" y="1575406"/>
          <a:ext cx="6408711" cy="156829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394" name="CS ChemDraw Drawing" r:id="rId3" imgW="4204464" imgH="1028304" progId="ChemDraw.Document.6.0">
                  <p:embed/>
                </p:oleObj>
              </mc:Choice>
              <mc:Fallback>
                <p:oleObj name="CS ChemDraw Drawing" r:id="rId3" imgW="4204464" imgH="1028304" progId="ChemDraw.Document.6.0">
                  <p:embed/>
                  <p:pic>
                    <p:nvPicPr>
                      <p:cNvPr id="6" name="对象 5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747192" y="1575406"/>
                        <a:ext cx="6408711" cy="1568294"/>
                      </a:xfrm>
                      <a:prstGeom prst="rect">
                        <a:avLst/>
                      </a:prstGeom>
                      <a:ln w="28575">
                        <a:solidFill>
                          <a:schemeClr val="bg1">
                            <a:lumMod val="85000"/>
                          </a:schemeClr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/>
        </p:nvGraphicFramePr>
        <p:xfrm>
          <a:off x="1127448" y="3915262"/>
          <a:ext cx="10030784" cy="94351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395" name="CS ChemDraw Drawing" r:id="rId5" imgW="5720770" imgH="537937" progId="ChemDraw.Document.6.0">
                  <p:embed/>
                </p:oleObj>
              </mc:Choice>
              <mc:Fallback>
                <p:oleObj name="CS ChemDraw Drawing" r:id="rId5" imgW="5720770" imgH="537937" progId="ChemDraw.Document.6.0">
                  <p:embed/>
                  <p:pic>
                    <p:nvPicPr>
                      <p:cNvPr id="7" name="对象 6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127448" y="3915262"/>
                        <a:ext cx="10030784" cy="94351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椭圆 7"/>
          <p:cNvSpPr/>
          <p:nvPr/>
        </p:nvSpPr>
        <p:spPr>
          <a:xfrm>
            <a:off x="1343471" y="4524578"/>
            <a:ext cx="1107851" cy="334202"/>
          </a:xfrm>
          <a:prstGeom prst="ellipse">
            <a:avLst/>
          </a:prstGeom>
          <a:noFill/>
          <a:ln w="1270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椭圆 19"/>
          <p:cNvSpPr/>
          <p:nvPr/>
        </p:nvSpPr>
        <p:spPr>
          <a:xfrm>
            <a:off x="7627348" y="3747417"/>
            <a:ext cx="484876" cy="1270349"/>
          </a:xfrm>
          <a:prstGeom prst="ellipse">
            <a:avLst/>
          </a:prstGeom>
          <a:noFill/>
          <a:ln w="19050">
            <a:solidFill>
              <a:srgbClr val="00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22" name="对象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39156703"/>
              </p:ext>
            </p:extLst>
          </p:nvPr>
        </p:nvGraphicFramePr>
        <p:xfrm>
          <a:off x="1584317" y="4799369"/>
          <a:ext cx="5994046" cy="188384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396" name="CS ChemDraw Drawing" r:id="rId7" imgW="4445543" imgH="1396971" progId="ChemDraw.Document.6.0">
                  <p:embed/>
                </p:oleObj>
              </mc:Choice>
              <mc:Fallback>
                <p:oleObj name="CS ChemDraw Drawing" r:id="rId7" imgW="4445543" imgH="1396971" progId="ChemDraw.Document.6.0">
                  <p:embed/>
                  <p:pic>
                    <p:nvPicPr>
                      <p:cNvPr id="22" name="对象 21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4317" y="4799369"/>
                        <a:ext cx="5994046" cy="188384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椭圆 15"/>
          <p:cNvSpPr/>
          <p:nvPr/>
        </p:nvSpPr>
        <p:spPr>
          <a:xfrm>
            <a:off x="5966775" y="4568954"/>
            <a:ext cx="5112568" cy="1039100"/>
          </a:xfrm>
          <a:prstGeom prst="ellipse">
            <a:avLst/>
          </a:prstGeom>
          <a:solidFill>
            <a:srgbClr val="FFFFCC"/>
          </a:solidFill>
          <a:ln>
            <a:solidFill>
              <a:srgbClr val="00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椭圆 6"/>
          <p:cNvSpPr/>
          <p:nvPr/>
        </p:nvSpPr>
        <p:spPr>
          <a:xfrm>
            <a:off x="4534563" y="4119206"/>
            <a:ext cx="225105" cy="232967"/>
          </a:xfrm>
          <a:prstGeom prst="ellipse">
            <a:avLst/>
          </a:prstGeom>
          <a:solidFill>
            <a:srgbClr val="FFFFCC"/>
          </a:solidFill>
          <a:ln w="12700">
            <a:solidFill>
              <a:srgbClr val="00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椭圆 16"/>
          <p:cNvSpPr/>
          <p:nvPr/>
        </p:nvSpPr>
        <p:spPr>
          <a:xfrm>
            <a:off x="2148841" y="3646855"/>
            <a:ext cx="225105" cy="232967"/>
          </a:xfrm>
          <a:prstGeom prst="ellipse">
            <a:avLst/>
          </a:prstGeom>
          <a:solidFill>
            <a:srgbClr val="FFFFCC"/>
          </a:solidFill>
          <a:ln w="12700">
            <a:solidFill>
              <a:srgbClr val="00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43</a:t>
            </a:fld>
            <a:endParaRPr lang="zh-CN" altLang="en-US"/>
          </a:p>
        </p:txBody>
      </p:sp>
      <p:sp>
        <p:nvSpPr>
          <p:cNvPr id="4" name="TextBox 3"/>
          <p:cNvSpPr txBox="1"/>
          <p:nvPr/>
        </p:nvSpPr>
        <p:spPr>
          <a:xfrm>
            <a:off x="0" y="214864"/>
            <a:ext cx="1633781" cy="40011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altLang="zh-CN" sz="2000" b="1" dirty="0"/>
              <a:t> Mechanism:</a:t>
            </a:r>
            <a:endParaRPr lang="zh-CN" altLang="en-US" sz="2000" b="1" dirty="0"/>
          </a:p>
        </p:txBody>
      </p:sp>
      <p:sp>
        <p:nvSpPr>
          <p:cNvPr id="5" name="TextBox 4"/>
          <p:cNvSpPr txBox="1"/>
          <p:nvPr/>
        </p:nvSpPr>
        <p:spPr>
          <a:xfrm>
            <a:off x="5339310" y="769476"/>
            <a:ext cx="2858705" cy="646331"/>
          </a:xfrm>
          <a:prstGeom prst="rect">
            <a:avLst/>
          </a:prstGeom>
          <a:noFill/>
          <a:ln w="28575">
            <a:solidFill>
              <a:schemeClr val="bg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b="1" i="1" u="sng" dirty="0">
                <a:solidFill>
                  <a:srgbClr val="0000FF"/>
                </a:solidFill>
                <a:latin typeface="Consolas" panose="020B0609020204030204" pitchFamily="49" charset="0"/>
              </a:rPr>
              <a:t>Step 2</a:t>
            </a:r>
            <a:r>
              <a:rPr lang="en-US" altLang="zh-CN" b="1" dirty="0">
                <a:latin typeface="Consolas" panose="020B0609020204030204" pitchFamily="49" charset="0"/>
              </a:rPr>
              <a:t>: Loss of water gives a carbocation.</a:t>
            </a:r>
            <a:endParaRPr lang="zh-CN" altLang="en-US" b="1" dirty="0">
              <a:latin typeface="Consolas" panose="020B0609020204030204" pitchFamily="49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304400" y="215478"/>
            <a:ext cx="3711199" cy="1200329"/>
          </a:xfrm>
          <a:prstGeom prst="rect">
            <a:avLst/>
          </a:prstGeom>
          <a:noFill/>
          <a:ln w="28575">
            <a:solidFill>
              <a:schemeClr val="bg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b="1" i="1" u="sng" dirty="0">
                <a:solidFill>
                  <a:srgbClr val="0000FF"/>
                </a:solidFill>
                <a:latin typeface="Consolas" panose="020B0609020204030204" pitchFamily="49" charset="0"/>
              </a:rPr>
              <a:t>Step 3</a:t>
            </a:r>
            <a:r>
              <a:rPr lang="en-US" altLang="zh-CN" b="1" dirty="0">
                <a:latin typeface="Consolas" panose="020B0609020204030204" pitchFamily="49" charset="0"/>
              </a:rPr>
              <a:t>: Methyl migration forms a more stable resonance-stabilized carbocation (</a:t>
            </a:r>
            <a:r>
              <a:rPr lang="en-US" altLang="zh-CN" b="1" dirty="0">
                <a:solidFill>
                  <a:srgbClr val="FF0000"/>
                </a:solidFill>
                <a:latin typeface="Consolas" panose="020B0609020204030204" pitchFamily="49" charset="0"/>
              </a:rPr>
              <a:t>rearrangement</a:t>
            </a:r>
            <a:r>
              <a:rPr lang="en-US" altLang="zh-CN" b="1" dirty="0">
                <a:latin typeface="Consolas" panose="020B0609020204030204" pitchFamily="49" charset="0"/>
              </a:rPr>
              <a:t>).</a:t>
            </a:r>
            <a:endParaRPr lang="zh-CN" altLang="en-US" b="1" dirty="0">
              <a:latin typeface="Consolas" panose="020B0609020204030204" pitchFamily="49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110791" y="4799547"/>
            <a:ext cx="50543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latin typeface="Consolas" panose="020B0609020204030204" pitchFamily="49" charset="0"/>
              </a:rPr>
              <a:t>The positive charge is delocalized over a carbon and an oxygen: resonance-stabilized</a:t>
            </a:r>
            <a:endParaRPr lang="zh-CN" altLang="en-US" sz="1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anose="020B0609020204030204" pitchFamily="49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775558" y="5134736"/>
            <a:ext cx="2977598" cy="646331"/>
          </a:xfrm>
          <a:prstGeom prst="rect">
            <a:avLst/>
          </a:prstGeom>
          <a:noFill/>
          <a:ln w="28575">
            <a:solidFill>
              <a:schemeClr val="bg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b="1" i="1" u="sng" dirty="0">
                <a:solidFill>
                  <a:srgbClr val="0000FF"/>
                </a:solidFill>
                <a:latin typeface="Consolas" panose="020B0609020204030204" pitchFamily="49" charset="0"/>
              </a:rPr>
              <a:t>Step 4</a:t>
            </a:r>
            <a:r>
              <a:rPr lang="en-US" altLang="zh-CN" b="1" dirty="0">
                <a:latin typeface="Consolas" panose="020B0609020204030204" pitchFamily="49" charset="0"/>
              </a:rPr>
              <a:t>: </a:t>
            </a:r>
            <a:r>
              <a:rPr lang="en-US" altLang="zh-CN" b="1" dirty="0" err="1">
                <a:latin typeface="Consolas" panose="020B0609020204030204" pitchFamily="49" charset="0"/>
              </a:rPr>
              <a:t>Deprotonation</a:t>
            </a:r>
            <a:r>
              <a:rPr lang="en-US" altLang="zh-CN" b="1" dirty="0">
                <a:latin typeface="Consolas" panose="020B0609020204030204" pitchFamily="49" charset="0"/>
              </a:rPr>
              <a:t> gives the product.</a:t>
            </a:r>
            <a:endParaRPr lang="zh-CN" altLang="en-US" b="1" dirty="0">
              <a:latin typeface="Consolas" panose="020B0609020204030204" pitchFamily="49" charset="0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/>
        </p:nvGraphicFramePr>
        <p:xfrm>
          <a:off x="1270858" y="1563537"/>
          <a:ext cx="9706605" cy="165674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522" name="CS ChemDraw Drawing" r:id="rId3" imgW="6258955" imgH="1067945" progId="ChemDraw.Document.6.0">
                  <p:embed/>
                </p:oleObj>
              </mc:Choice>
              <mc:Fallback>
                <p:oleObj name="CS ChemDraw Drawing" r:id="rId3" imgW="6258955" imgH="1067945" progId="ChemDraw.Document.6.0">
                  <p:embed/>
                  <p:pic>
                    <p:nvPicPr>
                      <p:cNvPr id="3" name="对象 2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270858" y="1563537"/>
                        <a:ext cx="9706605" cy="165674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/>
        </p:nvGraphicFramePr>
        <p:xfrm>
          <a:off x="1394257" y="3386449"/>
          <a:ext cx="4620431" cy="1463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523" name="CS ChemDraw Drawing" r:id="rId5" imgW="2837303" imgH="898675" progId="ChemDraw.Document.6.0">
                  <p:embed/>
                </p:oleObj>
              </mc:Choice>
              <mc:Fallback>
                <p:oleObj name="CS ChemDraw Drawing" r:id="rId5" imgW="2837303" imgH="898675" progId="ChemDraw.Document.6.0">
                  <p:embed/>
                  <p:pic>
                    <p:nvPicPr>
                      <p:cNvPr id="6" name="对象 5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394257" y="3386449"/>
                        <a:ext cx="4620431" cy="14634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1" name="直接箭头连接符 10"/>
          <p:cNvCxnSpPr/>
          <p:nvPr/>
        </p:nvCxnSpPr>
        <p:spPr>
          <a:xfrm flipH="1">
            <a:off x="4850641" y="2566868"/>
            <a:ext cx="4629735" cy="961646"/>
          </a:xfrm>
          <a:prstGeom prst="straightConnector1">
            <a:avLst/>
          </a:prstGeom>
          <a:ln w="7620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8" name="对象 17"/>
          <p:cNvGraphicFramePr>
            <a:graphicFrameLocks noChangeAspect="1"/>
          </p:cNvGraphicFramePr>
          <p:nvPr/>
        </p:nvGraphicFramePr>
        <p:xfrm>
          <a:off x="6650841" y="3315165"/>
          <a:ext cx="3827060" cy="122117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524" name="CS ChemDraw Drawing" r:id="rId7" imgW="2304249" imgH="735748" progId="ChemDraw.Document.6.0">
                  <p:embed/>
                </p:oleObj>
              </mc:Choice>
              <mc:Fallback>
                <p:oleObj name="CS ChemDraw Drawing" r:id="rId7" imgW="2304249" imgH="735748" progId="ChemDraw.Document.6.0">
                  <p:embed/>
                  <p:pic>
                    <p:nvPicPr>
                      <p:cNvPr id="18" name="对象 17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6650841" y="3315165"/>
                        <a:ext cx="3827060" cy="122117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文本框 18"/>
          <p:cNvSpPr txBox="1"/>
          <p:nvPr/>
        </p:nvSpPr>
        <p:spPr>
          <a:xfrm>
            <a:off x="2373946" y="775622"/>
            <a:ext cx="2633141" cy="646331"/>
          </a:xfrm>
          <a:prstGeom prst="rect">
            <a:avLst/>
          </a:prstGeom>
          <a:noFill/>
          <a:ln w="28575">
            <a:solidFill>
              <a:schemeClr val="bg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b="1" i="1" u="sng" dirty="0">
                <a:solidFill>
                  <a:srgbClr val="0000FF"/>
                </a:solidFill>
                <a:latin typeface="Consolas" panose="020B0609020204030204" pitchFamily="49" charset="0"/>
              </a:rPr>
              <a:t>Step 1</a:t>
            </a:r>
            <a:r>
              <a:rPr lang="en-US" altLang="zh-CN" b="1" dirty="0">
                <a:latin typeface="Consolas" panose="020B0609020204030204" pitchFamily="49" charset="0"/>
              </a:rPr>
              <a:t>: Protonation of a hydroxyl group.</a:t>
            </a:r>
          </a:p>
        </p:txBody>
      </p:sp>
      <p:graphicFrame>
        <p:nvGraphicFramePr>
          <p:cNvPr id="20" name="对象 19"/>
          <p:cNvGraphicFramePr>
            <a:graphicFrameLocks noChangeAspect="1"/>
          </p:cNvGraphicFramePr>
          <p:nvPr/>
        </p:nvGraphicFramePr>
        <p:xfrm>
          <a:off x="4310021" y="4941168"/>
          <a:ext cx="1571560" cy="168062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525" name="CS ChemDraw Drawing" r:id="rId9" imgW="1005741" imgH="1075874" progId="ChemDraw.Document.6.0">
                  <p:embed/>
                </p:oleObj>
              </mc:Choice>
              <mc:Fallback>
                <p:oleObj name="CS ChemDraw Drawing" r:id="rId9" imgW="1005741" imgH="1075874" progId="ChemDraw.Document.6.0">
                  <p:embed/>
                  <p:pic>
                    <p:nvPicPr>
                      <p:cNvPr id="20" name="对象 19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4310021" y="4941168"/>
                        <a:ext cx="1571560" cy="168062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横卷形 14"/>
          <p:cNvSpPr/>
          <p:nvPr/>
        </p:nvSpPr>
        <p:spPr>
          <a:xfrm>
            <a:off x="6888088" y="4869160"/>
            <a:ext cx="4536504" cy="1080120"/>
          </a:xfrm>
          <a:prstGeom prst="horizontalScroll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44</a:t>
            </a:fld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0" y="208120"/>
            <a:ext cx="4943982" cy="40011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none">
            <a:spAutoFit/>
          </a:bodyPr>
          <a:lstStyle/>
          <a:p>
            <a:r>
              <a:rPr lang="en-US" altLang="zh-CN" sz="2000" b="1" u="sng" dirty="0"/>
              <a:t>8-10-2</a:t>
            </a:r>
            <a:r>
              <a:rPr lang="en-US" altLang="zh-CN" sz="2000" b="1" dirty="0"/>
              <a:t> </a:t>
            </a:r>
            <a:r>
              <a:rPr lang="en-US" altLang="zh-CN" sz="2000" b="1" dirty="0">
                <a:solidFill>
                  <a:srgbClr val="0000FF"/>
                </a:solidFill>
              </a:rPr>
              <a:t>Periodic Acid Cleavage</a:t>
            </a:r>
            <a:r>
              <a:rPr lang="en-US" altLang="zh-CN" sz="2000" b="1" dirty="0">
                <a:solidFill>
                  <a:srgbClr val="FF00FF"/>
                </a:solidFill>
              </a:rPr>
              <a:t> </a:t>
            </a:r>
            <a:r>
              <a:rPr lang="en-US" altLang="zh-CN" sz="2000" b="1" dirty="0"/>
              <a:t>of Glycols</a:t>
            </a:r>
            <a:endParaRPr lang="zh-CN" altLang="en-US" sz="2000" b="1" dirty="0"/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3719736" y="1064328"/>
          <a:ext cx="4896544" cy="1189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546" name="CS ChemDraw Drawing" r:id="rId3" imgW="2875576" imgH="699278" progId="ChemDraw.Document.6.0">
                  <p:embed/>
                </p:oleObj>
              </mc:Choice>
              <mc:Fallback>
                <p:oleObj name="CS ChemDraw Drawing" r:id="rId3" imgW="2875576" imgH="699278" progId="ChemDraw.Document.6.0">
                  <p:embed/>
                  <p:pic>
                    <p:nvPicPr>
                      <p:cNvPr id="5" name="对象 4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719736" y="1064328"/>
                        <a:ext cx="4896544" cy="1189663"/>
                      </a:xfrm>
                      <a:prstGeom prst="rect">
                        <a:avLst/>
                      </a:prstGeom>
                      <a:ln w="28575">
                        <a:solidFill>
                          <a:schemeClr val="bg1">
                            <a:lumMod val="85000"/>
                          </a:schemeClr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/>
        </p:nvGraphicFramePr>
        <p:xfrm>
          <a:off x="4223792" y="646285"/>
          <a:ext cx="375798" cy="44789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547" name="CS ChemDraw Drawing" r:id="rId5" imgW="272643" imgH="325854" progId="ChemDraw.Document.6.0">
                  <p:embed/>
                </p:oleObj>
              </mc:Choice>
              <mc:Fallback>
                <p:oleObj name="CS ChemDraw Drawing" r:id="rId5" imgW="272643" imgH="325854" progId="ChemDraw.Document.6.0">
                  <p:embed/>
                  <p:pic>
                    <p:nvPicPr>
                      <p:cNvPr id="6" name="对象 5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223792" y="646285"/>
                        <a:ext cx="375798" cy="44789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文本框 6"/>
          <p:cNvSpPr txBox="1"/>
          <p:nvPr/>
        </p:nvSpPr>
        <p:spPr>
          <a:xfrm>
            <a:off x="326634" y="2412029"/>
            <a:ext cx="72186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b="1" dirty="0"/>
              <a:t>1,2-diols are cleaved by HIO</a:t>
            </a:r>
            <a:r>
              <a:rPr lang="en-US" altLang="zh-CN" b="1" baseline="-25000" dirty="0"/>
              <a:t>4</a:t>
            </a:r>
            <a:r>
              <a:rPr lang="en-US" altLang="zh-CN" b="1" dirty="0"/>
              <a:t> to produce ketones and aldehydes</a:t>
            </a:r>
            <a:endParaRPr lang="zh-CN" altLang="en-US" b="1" dirty="0"/>
          </a:p>
        </p:txBody>
      </p:sp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50296147"/>
              </p:ext>
            </p:extLst>
          </p:nvPr>
        </p:nvGraphicFramePr>
        <p:xfrm>
          <a:off x="623392" y="4275575"/>
          <a:ext cx="5775220" cy="2468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548" name="CS ChemDraw Drawing" r:id="rId7" imgW="4260887" imgH="1821136" progId="ChemDraw.Document.6.0">
                  <p:embed/>
                </p:oleObj>
              </mc:Choice>
              <mc:Fallback>
                <p:oleObj name="CS ChemDraw Drawing" r:id="rId7" imgW="4260887" imgH="1821136" progId="ChemDraw.Document.6.0">
                  <p:embed/>
                  <p:pic>
                    <p:nvPicPr>
                      <p:cNvPr id="9" name="对象 8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623392" y="4275575"/>
                        <a:ext cx="5775220" cy="24680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文本框 9"/>
          <p:cNvSpPr txBox="1"/>
          <p:nvPr/>
        </p:nvSpPr>
        <p:spPr>
          <a:xfrm>
            <a:off x="7142578" y="4982489"/>
            <a:ext cx="407269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latin typeface="Consolas" panose="020B0609020204030204" pitchFamily="49" charset="0"/>
              </a:rPr>
              <a:t>Hydroxylation of an alkene followed by periodic acid cleavage serves as a useful alternative to ozonolysis.</a:t>
            </a:r>
            <a:endParaRPr lang="zh-CN" altLang="en-US" sz="1600" b="1" dirty="0">
              <a:latin typeface="Consolas" panose="020B0609020204030204" pitchFamily="49" charset="0"/>
            </a:endParaRPr>
          </a:p>
        </p:txBody>
      </p:sp>
      <p:cxnSp>
        <p:nvCxnSpPr>
          <p:cNvPr id="11" name="直接连接符 10"/>
          <p:cNvCxnSpPr/>
          <p:nvPr/>
        </p:nvCxnSpPr>
        <p:spPr>
          <a:xfrm>
            <a:off x="479376" y="4005064"/>
            <a:ext cx="10617898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2" name="对象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99152443"/>
              </p:ext>
            </p:extLst>
          </p:nvPr>
        </p:nvGraphicFramePr>
        <p:xfrm>
          <a:off x="2454955" y="2852936"/>
          <a:ext cx="7282090" cy="114280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549" name="CS ChemDraw Drawing" r:id="rId9" imgW="4785261" imgH="751209" progId="ChemDraw.Document.6.0">
                  <p:embed/>
                </p:oleObj>
              </mc:Choice>
              <mc:Fallback>
                <p:oleObj name="CS ChemDraw Drawing" r:id="rId9" imgW="4785261" imgH="751209" progId="ChemDraw.Document.6.0">
                  <p:embed/>
                  <p:pic>
                    <p:nvPicPr>
                      <p:cNvPr id="12" name="对象 11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454955" y="2852936"/>
                        <a:ext cx="7282090" cy="114280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45</a:t>
            </a:fld>
            <a:endParaRPr lang="zh-CN" altLang="en-US"/>
          </a:p>
        </p:txBody>
      </p:sp>
      <p:sp>
        <p:nvSpPr>
          <p:cNvPr id="3" name="TextBox 2"/>
          <p:cNvSpPr txBox="1"/>
          <p:nvPr/>
        </p:nvSpPr>
        <p:spPr>
          <a:xfrm>
            <a:off x="263352" y="811681"/>
            <a:ext cx="86439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b="1" dirty="0"/>
              <a:t>Much of the chemistry of phenols is like that of aliphatic alcohols.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3352" y="2397078"/>
            <a:ext cx="115212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b="1" dirty="0"/>
              <a:t>However,</a:t>
            </a:r>
            <a:r>
              <a:rPr lang="en-US" altLang="zh-CN" b="1" dirty="0">
                <a:solidFill>
                  <a:srgbClr val="FF0000"/>
                </a:solidFill>
              </a:rPr>
              <a:t> phenols also undergo reactions that are not possible with aliphatic alcohols</a:t>
            </a:r>
            <a:r>
              <a:rPr lang="en-US" altLang="zh-CN" b="1" dirty="0"/>
              <a:t>.</a:t>
            </a:r>
            <a:endParaRPr lang="zh-CN" altLang="en-US" b="1" dirty="0"/>
          </a:p>
        </p:txBody>
      </p:sp>
      <p:sp>
        <p:nvSpPr>
          <p:cNvPr id="9" name="TextBox 8"/>
          <p:cNvSpPr txBox="1"/>
          <p:nvPr/>
        </p:nvSpPr>
        <p:spPr>
          <a:xfrm>
            <a:off x="263352" y="3498154"/>
            <a:ext cx="1136482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b="1" dirty="0"/>
              <a:t>Chromic acid oxidation of phenol gives a </a:t>
            </a:r>
            <a:r>
              <a:rPr lang="en-US" altLang="zh-CN" b="1" dirty="0">
                <a:solidFill>
                  <a:srgbClr val="0000FF"/>
                </a:solidFill>
              </a:rPr>
              <a:t>conjugated 1,4-diketone </a:t>
            </a:r>
            <a:r>
              <a:rPr lang="en-US" altLang="zh-CN" b="1" dirty="0"/>
              <a:t>called a </a:t>
            </a:r>
            <a:r>
              <a:rPr lang="en-US" altLang="zh-CN" b="1" i="1" dirty="0" err="1">
                <a:solidFill>
                  <a:srgbClr val="FF0000"/>
                </a:solidFill>
              </a:rPr>
              <a:t>quinone</a:t>
            </a:r>
            <a:r>
              <a:rPr lang="en-US" altLang="zh-CN" b="1" dirty="0"/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CN" b="1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CN" b="1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CN" b="1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CN" b="1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CN" b="1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CN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b="1" dirty="0"/>
              <a:t>Benzene-1,4-diol is easily oxidized with very weak oxidants like </a:t>
            </a:r>
            <a:r>
              <a:rPr lang="en-US" altLang="zh-CN" b="1" dirty="0" err="1"/>
              <a:t>AgBr</a:t>
            </a:r>
            <a:r>
              <a:rPr lang="en-US" altLang="zh-CN" b="1" dirty="0"/>
              <a:t>.</a:t>
            </a:r>
            <a:endParaRPr lang="zh-CN" altLang="en-US" b="1" dirty="0"/>
          </a:p>
        </p:txBody>
      </p:sp>
      <p:sp>
        <p:nvSpPr>
          <p:cNvPr id="10" name="TextBox 9"/>
          <p:cNvSpPr txBox="1"/>
          <p:nvPr/>
        </p:nvSpPr>
        <p:spPr>
          <a:xfrm>
            <a:off x="5159025" y="4329149"/>
            <a:ext cx="56886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i="1" dirty="0">
                <a:latin typeface="Comic Sans MS" pitchFamily="66" charset="0"/>
              </a:rPr>
              <a:t>In the presence of air, many phenols slowly autoxidize to dark mixtures containing </a:t>
            </a:r>
            <a:r>
              <a:rPr lang="en-US" altLang="zh-CN" b="1" i="1" dirty="0" err="1">
                <a:latin typeface="Comic Sans MS" pitchFamily="66" charset="0"/>
              </a:rPr>
              <a:t>quinones</a:t>
            </a:r>
            <a:r>
              <a:rPr lang="en-US" altLang="zh-CN" b="1" i="1" dirty="0">
                <a:latin typeface="Comic Sans MS" pitchFamily="66" charset="0"/>
              </a:rPr>
              <a:t>.</a:t>
            </a:r>
            <a:endParaRPr lang="zh-CN" altLang="en-US" b="1" i="1" dirty="0">
              <a:latin typeface="Comic Sans MS" pitchFamily="66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0" y="231031"/>
            <a:ext cx="4913525" cy="46166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none">
            <a:spAutoFit/>
          </a:bodyPr>
          <a:lstStyle/>
          <a:p>
            <a:r>
              <a:rPr lang="en-US" altLang="zh-CN" sz="2400" b="1" u="sng" dirty="0">
                <a:solidFill>
                  <a:srgbClr val="000000"/>
                </a:solidFill>
              </a:rPr>
              <a:t>8-11</a:t>
            </a:r>
            <a:r>
              <a:rPr lang="en-US" altLang="zh-CN" sz="2400" b="1" dirty="0">
                <a:solidFill>
                  <a:srgbClr val="000000"/>
                </a:solidFill>
              </a:rPr>
              <a:t> </a:t>
            </a:r>
            <a:r>
              <a:rPr lang="en-US" altLang="zh-CN" sz="2400" b="1" dirty="0"/>
              <a:t>Special Reactions of </a:t>
            </a:r>
            <a:r>
              <a:rPr lang="en-US" altLang="zh-CN" sz="2400" b="1" dirty="0">
                <a:solidFill>
                  <a:srgbClr val="0000FF"/>
                </a:solidFill>
              </a:rPr>
              <a:t>Phenols</a:t>
            </a:r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16505080"/>
              </p:ext>
            </p:extLst>
          </p:nvPr>
        </p:nvGraphicFramePr>
        <p:xfrm>
          <a:off x="3402074" y="1290060"/>
          <a:ext cx="5387852" cy="87274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466" name="CS ChemDraw Drawing" r:id="rId3" imgW="3841861" imgH="622770" progId="ChemDraw.Document.6.0">
                  <p:embed/>
                </p:oleObj>
              </mc:Choice>
              <mc:Fallback>
                <p:oleObj name="CS ChemDraw Drawing" r:id="rId3" imgW="3841861" imgH="622770" progId="ChemDraw.Document.6.0">
                  <p:embed/>
                  <p:pic>
                    <p:nvPicPr>
                      <p:cNvPr id="5" name="对象 4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402074" y="1290060"/>
                        <a:ext cx="5387852" cy="87274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矩形 5"/>
          <p:cNvSpPr/>
          <p:nvPr/>
        </p:nvSpPr>
        <p:spPr>
          <a:xfrm>
            <a:off x="0" y="2959736"/>
            <a:ext cx="5020926" cy="40011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none">
            <a:spAutoFit/>
          </a:bodyPr>
          <a:lstStyle/>
          <a:p>
            <a:r>
              <a:rPr lang="en-US" altLang="zh-CN" sz="2000" b="1" u="sng" dirty="0"/>
              <a:t>8-11-1</a:t>
            </a:r>
            <a:r>
              <a:rPr lang="en-US" altLang="zh-CN" sz="2000" b="1" dirty="0"/>
              <a:t> </a:t>
            </a:r>
            <a:r>
              <a:rPr lang="en-US" altLang="zh-CN" sz="2000" b="1" dirty="0">
                <a:solidFill>
                  <a:srgbClr val="0000FF"/>
                </a:solidFill>
              </a:rPr>
              <a:t>Oxidation of Phenols </a:t>
            </a:r>
            <a:r>
              <a:rPr lang="en-US" altLang="zh-CN" sz="2000" b="1" dirty="0"/>
              <a:t>to</a:t>
            </a:r>
            <a:r>
              <a:rPr lang="en-US" altLang="zh-CN" sz="2000" b="1" dirty="0">
                <a:solidFill>
                  <a:srgbClr val="0000FF"/>
                </a:solidFill>
              </a:rPr>
              <a:t> </a:t>
            </a:r>
            <a:r>
              <a:rPr lang="en-US" altLang="zh-CN" sz="2000" b="1" dirty="0">
                <a:solidFill>
                  <a:srgbClr val="FF0000"/>
                </a:solidFill>
              </a:rPr>
              <a:t>Quinones</a:t>
            </a:r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4115974"/>
              </p:ext>
            </p:extLst>
          </p:nvPr>
        </p:nvGraphicFramePr>
        <p:xfrm>
          <a:off x="1996789" y="3892932"/>
          <a:ext cx="2588546" cy="151876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467" name="CS ChemDraw Drawing" r:id="rId5" imgW="1793684" imgH="1052881" progId="ChemDraw.Document.6.0">
                  <p:embed/>
                </p:oleObj>
              </mc:Choice>
              <mc:Fallback>
                <p:oleObj name="CS ChemDraw Drawing" r:id="rId5" imgW="1793684" imgH="1052881" progId="ChemDraw.Document.6.0">
                  <p:embed/>
                  <p:pic>
                    <p:nvPicPr>
                      <p:cNvPr id="8" name="对象 7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996789" y="3892932"/>
                        <a:ext cx="2588546" cy="151876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76649451"/>
              </p:ext>
            </p:extLst>
          </p:nvPr>
        </p:nvGraphicFramePr>
        <p:xfrm>
          <a:off x="3581401" y="6057248"/>
          <a:ext cx="3960440" cy="59820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468" name="CS ChemDraw Drawing" r:id="rId7" imgW="2659355" imgH="401966" progId="ChemDraw.Document.6.0">
                  <p:embed/>
                </p:oleObj>
              </mc:Choice>
              <mc:Fallback>
                <p:oleObj name="CS ChemDraw Drawing" r:id="rId7" imgW="2659355" imgH="401966" progId="ChemDraw.Document.6.0">
                  <p:embed/>
                  <p:pic>
                    <p:nvPicPr>
                      <p:cNvPr id="11" name="对象 10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581401" y="6057248"/>
                        <a:ext cx="3960440" cy="59820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46</a:t>
            </a:fld>
            <a:endParaRPr lang="zh-CN" altLang="en-US"/>
          </a:p>
        </p:txBody>
      </p:sp>
      <p:sp>
        <p:nvSpPr>
          <p:cNvPr id="11" name="TextBox 10"/>
          <p:cNvSpPr txBox="1"/>
          <p:nvPr/>
        </p:nvSpPr>
        <p:spPr>
          <a:xfrm>
            <a:off x="335360" y="762694"/>
            <a:ext cx="1137726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b="1" dirty="0"/>
              <a:t>Phenols are </a:t>
            </a:r>
            <a:r>
              <a:rPr lang="en-US" altLang="zh-CN" b="1" dirty="0">
                <a:solidFill>
                  <a:srgbClr val="0000FF"/>
                </a:solidFill>
              </a:rPr>
              <a:t>highly reactive substrates for EAS </a:t>
            </a:r>
            <a:r>
              <a:rPr lang="en-US" altLang="zh-CN" b="1" dirty="0"/>
              <a:t>because hydroxyl group is strongly activating and ortho, para-directing.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CN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b="1" dirty="0"/>
              <a:t>Phenols are excellent substrates for halogenation, nitration, </a:t>
            </a:r>
            <a:r>
              <a:rPr lang="en-US" altLang="zh-CN" b="1" dirty="0" err="1"/>
              <a:t>sulfonation</a:t>
            </a:r>
            <a:r>
              <a:rPr lang="en-US" altLang="zh-CN" b="1" dirty="0"/>
              <a:t>, an some F-C reactions.</a:t>
            </a:r>
          </a:p>
        </p:txBody>
      </p:sp>
      <p:graphicFrame>
        <p:nvGraphicFramePr>
          <p:cNvPr id="57352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49103197"/>
              </p:ext>
            </p:extLst>
          </p:nvPr>
        </p:nvGraphicFramePr>
        <p:xfrm>
          <a:off x="2810236" y="2013864"/>
          <a:ext cx="5328592" cy="1270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386" name="CS ChemDraw Drawing" r:id="rId3" imgW="3800498" imgH="906437" progId="ChemDraw.Document.6.0">
                  <p:embed/>
                </p:oleObj>
              </mc:Choice>
              <mc:Fallback>
                <p:oleObj name="CS ChemDraw Drawing" r:id="rId3" imgW="3800498" imgH="906437" progId="ChemDraw.Document.6.0">
                  <p:embed/>
                  <p:pic>
                    <p:nvPicPr>
                      <p:cNvPr id="57352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0236" y="2013864"/>
                        <a:ext cx="5328592" cy="12709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45392" y="4033379"/>
            <a:ext cx="110310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b="1" dirty="0">
                <a:solidFill>
                  <a:srgbClr val="FF0000"/>
                </a:solidFill>
              </a:rPr>
              <a:t>Phenoxide ions </a:t>
            </a:r>
            <a:r>
              <a:rPr lang="en-US" altLang="zh-CN" b="1" dirty="0">
                <a:solidFill>
                  <a:srgbClr val="0000FF"/>
                </a:solidFill>
              </a:rPr>
              <a:t>are even more reactive than phenols </a:t>
            </a:r>
            <a:r>
              <a:rPr lang="en-US" altLang="zh-CN" b="1" dirty="0"/>
              <a:t>toward electrophilic aromatic substitution.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b="1" dirty="0"/>
              <a:t>They undergo electrophilic aromatic substitution with </a:t>
            </a:r>
            <a:r>
              <a:rPr lang="en-US" altLang="zh-CN" b="1" dirty="0">
                <a:solidFill>
                  <a:srgbClr val="0000FF"/>
                </a:solidFill>
              </a:rPr>
              <a:t>CO</a:t>
            </a:r>
            <a:r>
              <a:rPr lang="en-US" altLang="zh-CN" b="1" baseline="-25000" dirty="0">
                <a:solidFill>
                  <a:srgbClr val="0000FF"/>
                </a:solidFill>
              </a:rPr>
              <a:t>2</a:t>
            </a:r>
            <a:r>
              <a:rPr lang="en-US" altLang="zh-CN" b="1" dirty="0">
                <a:solidFill>
                  <a:srgbClr val="0000FF"/>
                </a:solidFill>
              </a:rPr>
              <a:t>, a weak electrophile</a:t>
            </a:r>
            <a:r>
              <a:rPr lang="en-US" altLang="zh-CN" b="1" dirty="0"/>
              <a:t>.</a:t>
            </a:r>
            <a:endParaRPr lang="zh-CN" altLang="en-US" b="1" dirty="0"/>
          </a:p>
        </p:txBody>
      </p:sp>
      <p:sp>
        <p:nvSpPr>
          <p:cNvPr id="3" name="矩形 2"/>
          <p:cNvSpPr/>
          <p:nvPr/>
        </p:nvSpPr>
        <p:spPr>
          <a:xfrm>
            <a:off x="0" y="260648"/>
            <a:ext cx="6428363" cy="40011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none">
            <a:spAutoFit/>
          </a:bodyPr>
          <a:lstStyle/>
          <a:p>
            <a:r>
              <a:rPr lang="en-US" altLang="zh-CN" sz="2000" b="1" u="sng" dirty="0"/>
              <a:t>8-11-2</a:t>
            </a:r>
            <a:r>
              <a:rPr lang="en-US" altLang="zh-CN" sz="2000" b="1" dirty="0"/>
              <a:t> Electrophilic Aromatic Substitution of Phenols</a:t>
            </a:r>
          </a:p>
        </p:txBody>
      </p:sp>
      <p:sp>
        <p:nvSpPr>
          <p:cNvPr id="9" name="矩形 8"/>
          <p:cNvSpPr/>
          <p:nvPr/>
        </p:nvSpPr>
        <p:spPr>
          <a:xfrm>
            <a:off x="0" y="3538414"/>
            <a:ext cx="7287572" cy="40011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none">
            <a:spAutoFit/>
          </a:bodyPr>
          <a:lstStyle/>
          <a:p>
            <a:r>
              <a:rPr lang="en-US" altLang="zh-CN" sz="2000" b="1" u="sng" dirty="0"/>
              <a:t>8-11-3</a:t>
            </a:r>
            <a:r>
              <a:rPr lang="en-US" altLang="zh-CN" sz="2000" b="1" dirty="0"/>
              <a:t> Electrophilic Aromatic Substitution of Phenoxide ions</a:t>
            </a:r>
          </a:p>
        </p:txBody>
      </p:sp>
      <p:sp>
        <p:nvSpPr>
          <p:cNvPr id="6" name="圆角矩形 5"/>
          <p:cNvSpPr/>
          <p:nvPr/>
        </p:nvSpPr>
        <p:spPr>
          <a:xfrm>
            <a:off x="479376" y="5157192"/>
            <a:ext cx="5112568" cy="1368152"/>
          </a:xfrm>
          <a:prstGeom prst="roundRect">
            <a:avLst/>
          </a:prstGeom>
          <a:noFill/>
          <a:ln>
            <a:solidFill>
              <a:srgbClr val="00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7821" name="Picture 477" descr="https://gimg2.baidu.com/image_search/src=http%3A%2F%2F5b0988e595225.cdn.sohucs.com%2Fimages%2F20171120%2F5838df0271694c0dbaa27e6d87772526.jpeg&amp;refer=http%3A%2F%2F5b0988e595225.cdn.sohucs.com&amp;app=2002&amp;size=f9999,10000&amp;q=a80&amp;n=0&amp;g=0n&amp;fmt=jpeg?sec=1614420811&amp;t=d3eeff859da53e8c4ad092c892e8f71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97976" y="4817993"/>
            <a:ext cx="2113186" cy="1404889"/>
          </a:xfrm>
          <a:prstGeom prst="rect">
            <a:avLst/>
          </a:prstGeom>
          <a:noFill/>
          <a:effectLst>
            <a:softEdge rad="1270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551384" y="4930976"/>
          <a:ext cx="8518300" cy="172303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387" name="CS ChemDraw Drawing" r:id="rId6" imgW="6420331" imgH="1298263" progId="ChemDraw.Document.6.0">
                  <p:embed/>
                </p:oleObj>
              </mc:Choice>
              <mc:Fallback>
                <p:oleObj name="CS ChemDraw Drawing" r:id="rId6" imgW="6420331" imgH="1298263" progId="ChemDraw.Document.6.0">
                  <p:embed/>
                  <p:pic>
                    <p:nvPicPr>
                      <p:cNvPr id="4" name="对象 3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551384" y="4930976"/>
                        <a:ext cx="8518300" cy="172303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椭圆 11"/>
          <p:cNvSpPr/>
          <p:nvPr/>
        </p:nvSpPr>
        <p:spPr>
          <a:xfrm>
            <a:off x="6729171" y="2553523"/>
            <a:ext cx="662973" cy="504056"/>
          </a:xfrm>
          <a:prstGeom prst="ellipse">
            <a:avLst/>
          </a:prstGeom>
          <a:solidFill>
            <a:srgbClr val="FFFF99"/>
          </a:solidFill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椭圆 2"/>
          <p:cNvSpPr/>
          <p:nvPr/>
        </p:nvSpPr>
        <p:spPr>
          <a:xfrm>
            <a:off x="4670685" y="2553523"/>
            <a:ext cx="618326" cy="504056"/>
          </a:xfrm>
          <a:prstGeom prst="ellipse">
            <a:avLst/>
          </a:prstGeom>
          <a:solidFill>
            <a:srgbClr val="FFFF99"/>
          </a:solidFill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47</a:t>
            </a:fld>
            <a:endParaRPr lang="zh-CN" altLang="en-US"/>
          </a:p>
        </p:txBody>
      </p:sp>
      <p:sp>
        <p:nvSpPr>
          <p:cNvPr id="5" name="TextBox 4"/>
          <p:cNvSpPr txBox="1"/>
          <p:nvPr/>
        </p:nvSpPr>
        <p:spPr>
          <a:xfrm>
            <a:off x="-3690" y="243002"/>
            <a:ext cx="4028843" cy="46166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CN" sz="2400" b="1" u="sng" dirty="0"/>
              <a:t>8-12 </a:t>
            </a:r>
            <a:r>
              <a:rPr lang="en-US" altLang="zh-CN" sz="2400" b="1" dirty="0"/>
              <a:t>Ethers, and Epoxides</a:t>
            </a:r>
            <a:endParaRPr lang="zh-CN" altLang="en-US" sz="2400" b="1" dirty="0"/>
          </a:p>
        </p:txBody>
      </p:sp>
      <p:sp>
        <p:nvSpPr>
          <p:cNvPr id="7" name="TextBox 6"/>
          <p:cNvSpPr txBox="1"/>
          <p:nvPr/>
        </p:nvSpPr>
        <p:spPr>
          <a:xfrm>
            <a:off x="0" y="864427"/>
            <a:ext cx="2534668" cy="40011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altLang="zh-CN" sz="2000" b="1" u="sng" dirty="0"/>
              <a:t>8-12-1</a:t>
            </a:r>
            <a:r>
              <a:rPr lang="en-US" altLang="zh-CN" sz="2000" b="1" dirty="0"/>
              <a:t> Introduction</a:t>
            </a:r>
            <a:endParaRPr lang="zh-CN" altLang="en-US" sz="2000" b="1" dirty="0"/>
          </a:p>
        </p:txBody>
      </p:sp>
      <p:sp>
        <p:nvSpPr>
          <p:cNvPr id="8" name="TextBox 7"/>
          <p:cNvSpPr txBox="1"/>
          <p:nvPr/>
        </p:nvSpPr>
        <p:spPr>
          <a:xfrm>
            <a:off x="392434" y="1359237"/>
            <a:ext cx="1153959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b="1" dirty="0"/>
              <a:t>Ethers are compounds of the formula R</a:t>
            </a:r>
            <a:r>
              <a:rPr lang="en-US" altLang="zh-CN" b="1" dirty="0">
                <a:sym typeface="Symbol"/>
              </a:rPr>
              <a:t>OR’ (R = alkyl or aryl groups).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CN" b="1" dirty="0">
              <a:sym typeface="Symbol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b="1" dirty="0">
                <a:sym typeface="Symbol"/>
              </a:rPr>
              <a:t>Alcohols have hydroxyl groups as their functional groups, while ethers have </a:t>
            </a:r>
            <a:r>
              <a:rPr lang="en-US" altLang="zh-CN" b="1" dirty="0" err="1">
                <a:sym typeface="Symbol"/>
              </a:rPr>
              <a:t>alkoxyl</a:t>
            </a:r>
            <a:r>
              <a:rPr lang="en-US" altLang="zh-CN" b="1" dirty="0">
                <a:sym typeface="Symbol"/>
              </a:rPr>
              <a:t> groups as their functional groups.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CN" b="1" dirty="0">
              <a:sym typeface="Symbol"/>
            </a:endParaRPr>
          </a:p>
          <a:p>
            <a:endParaRPr lang="en-US" altLang="zh-CN" b="1" dirty="0">
              <a:sym typeface="Symbol"/>
            </a:endParaRPr>
          </a:p>
          <a:p>
            <a:endParaRPr lang="en-US" altLang="zh-CN" b="1" dirty="0">
              <a:sym typeface="Symbol"/>
            </a:endParaRPr>
          </a:p>
          <a:p>
            <a:endParaRPr lang="en-US" altLang="zh-CN" b="1" dirty="0">
              <a:sym typeface="Symbol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b="1" dirty="0">
                <a:sym typeface="Symbol"/>
              </a:rPr>
              <a:t>Ethers generally are relatively unreactive. Because they are stable with many types of reagents, ethers are commonly used as solvents for organic reactions.</a:t>
            </a:r>
            <a:endParaRPr lang="zh-CN" altLang="en-US" b="1" dirty="0"/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38680905"/>
              </p:ext>
            </p:extLst>
          </p:nvPr>
        </p:nvGraphicFramePr>
        <p:xfrm>
          <a:off x="4352907" y="2553523"/>
          <a:ext cx="3039237" cy="93862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82" name="CS ChemDraw Drawing" r:id="rId3" imgW="1706485" imgH="526837" progId="ChemDraw.Document.6.0">
                  <p:embed/>
                </p:oleObj>
              </mc:Choice>
              <mc:Fallback>
                <p:oleObj name="CS ChemDraw Drawing" r:id="rId3" imgW="1706485" imgH="526837" progId="ChemDraw.Document.6.0">
                  <p:embed/>
                  <p:pic>
                    <p:nvPicPr>
                      <p:cNvPr id="2" name="对象 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352907" y="2553523"/>
                        <a:ext cx="3039237" cy="93862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21879642"/>
              </p:ext>
            </p:extLst>
          </p:nvPr>
        </p:nvGraphicFramePr>
        <p:xfrm>
          <a:off x="1847237" y="4251865"/>
          <a:ext cx="8040962" cy="238511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83" name="CS ChemDraw Drawing" r:id="rId5" imgW="6155184" imgH="1825497" progId="ChemDraw.Document.6.0">
                  <p:embed/>
                </p:oleObj>
              </mc:Choice>
              <mc:Fallback>
                <p:oleObj name="CS ChemDraw Drawing" r:id="rId5" imgW="6155184" imgH="1825497" progId="ChemDraw.Document.6.0">
                  <p:embed/>
                  <p:pic>
                    <p:nvPicPr>
                      <p:cNvPr id="9" name="对象 8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847237" y="4251865"/>
                        <a:ext cx="8040962" cy="238511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椭圆 9"/>
          <p:cNvSpPr/>
          <p:nvPr/>
        </p:nvSpPr>
        <p:spPr>
          <a:xfrm>
            <a:off x="4799565" y="5318407"/>
            <a:ext cx="648072" cy="288032"/>
          </a:xfrm>
          <a:prstGeom prst="ellipse">
            <a:avLst/>
          </a:prstGeom>
          <a:noFill/>
          <a:ln w="12700">
            <a:solidFill>
              <a:srgbClr val="00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椭圆 14"/>
          <p:cNvSpPr/>
          <p:nvPr/>
        </p:nvSpPr>
        <p:spPr>
          <a:xfrm>
            <a:off x="7463861" y="5021071"/>
            <a:ext cx="792088" cy="729383"/>
          </a:xfrm>
          <a:prstGeom prst="ellipse">
            <a:avLst/>
          </a:prstGeom>
          <a:noFill/>
          <a:ln w="12700">
            <a:solidFill>
              <a:srgbClr val="00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椭圆 15"/>
          <p:cNvSpPr/>
          <p:nvPr/>
        </p:nvSpPr>
        <p:spPr>
          <a:xfrm>
            <a:off x="8183940" y="4886360"/>
            <a:ext cx="625377" cy="360040"/>
          </a:xfrm>
          <a:prstGeom prst="ellipse">
            <a:avLst/>
          </a:prstGeom>
          <a:noFill/>
          <a:ln w="12700">
            <a:solidFill>
              <a:srgbClr val="00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椭圆 16"/>
          <p:cNvSpPr/>
          <p:nvPr/>
        </p:nvSpPr>
        <p:spPr>
          <a:xfrm>
            <a:off x="8723380" y="4886359"/>
            <a:ext cx="684697" cy="432047"/>
          </a:xfrm>
          <a:prstGeom prst="ellipse">
            <a:avLst/>
          </a:prstGeom>
          <a:noFill/>
          <a:ln w="12700">
            <a:solidFill>
              <a:srgbClr val="00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48</a:t>
            </a:fld>
            <a:endParaRPr lang="zh-CN" altLang="en-US"/>
          </a:p>
        </p:txBody>
      </p:sp>
      <p:sp>
        <p:nvSpPr>
          <p:cNvPr id="3" name="TextBox 2"/>
          <p:cNvSpPr txBox="1"/>
          <p:nvPr/>
        </p:nvSpPr>
        <p:spPr>
          <a:xfrm>
            <a:off x="0" y="794281"/>
            <a:ext cx="5413661" cy="40011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altLang="zh-CN" sz="2000" b="1" u="sng" dirty="0"/>
              <a:t>1.</a:t>
            </a:r>
            <a:r>
              <a:rPr lang="en-US" altLang="zh-CN" sz="2000" b="1" dirty="0"/>
              <a:t> Common Names (Alkyl Alkyl Ether Names)</a:t>
            </a:r>
            <a:endParaRPr lang="zh-CN" altLang="en-US" sz="2000" b="1" dirty="0"/>
          </a:p>
        </p:txBody>
      </p:sp>
      <p:sp>
        <p:nvSpPr>
          <p:cNvPr id="4" name="TextBox 3"/>
          <p:cNvSpPr txBox="1"/>
          <p:nvPr/>
        </p:nvSpPr>
        <p:spPr>
          <a:xfrm>
            <a:off x="119336" y="4813445"/>
            <a:ext cx="120726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b="1" dirty="0"/>
              <a:t>IUPAC Names </a:t>
            </a:r>
            <a:r>
              <a:rPr lang="en-US" altLang="zh-CN" b="1" i="1" dirty="0">
                <a:solidFill>
                  <a:srgbClr val="FF0000"/>
                </a:solidFill>
              </a:rPr>
              <a:t>use the more complex alkyl group as the root name</a:t>
            </a:r>
            <a:r>
              <a:rPr lang="en-US" altLang="zh-CN" b="1" dirty="0"/>
              <a:t>, and </a:t>
            </a:r>
            <a:r>
              <a:rPr lang="en-US" altLang="zh-CN" b="1" dirty="0">
                <a:solidFill>
                  <a:srgbClr val="0000FF"/>
                </a:solidFill>
              </a:rPr>
              <a:t>the rest of the ether as an alkoxy group</a:t>
            </a:r>
            <a:r>
              <a:rPr lang="en-US" altLang="zh-CN" b="1" dirty="0"/>
              <a:t>.</a:t>
            </a:r>
            <a:endParaRPr lang="zh-CN" altLang="en-US" b="1" dirty="0"/>
          </a:p>
        </p:txBody>
      </p:sp>
      <p:graphicFrame>
        <p:nvGraphicFramePr>
          <p:cNvPr id="2059" name="Object 11"/>
          <p:cNvGraphicFramePr>
            <a:graphicFrameLocks noChangeAspect="1"/>
          </p:cNvGraphicFramePr>
          <p:nvPr/>
        </p:nvGraphicFramePr>
        <p:xfrm>
          <a:off x="7820257" y="374775"/>
          <a:ext cx="1834685" cy="67300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586" name="CS ChemDraw Drawing" r:id="rId3" imgW="679654" imgH="249912" progId="ChemDraw.Document.6.0">
                  <p:embed/>
                </p:oleObj>
              </mc:Choice>
              <mc:Fallback>
                <p:oleObj name="CS ChemDraw Drawing" r:id="rId3" imgW="679654" imgH="249912" progId="ChemDraw.Document.6.0">
                  <p:embed/>
                  <p:pic>
                    <p:nvPicPr>
                      <p:cNvPr id="2059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20257" y="374775"/>
                        <a:ext cx="1834685" cy="673003"/>
                      </a:xfrm>
                      <a:prstGeom prst="rect">
                        <a:avLst/>
                      </a:prstGeom>
                      <a:noFill/>
                      <a:ln w="12700">
                        <a:noFill/>
                        <a:miter lim="800000"/>
                        <a:headEnd/>
                        <a:tailEnd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矩形 4"/>
          <p:cNvSpPr/>
          <p:nvPr/>
        </p:nvSpPr>
        <p:spPr>
          <a:xfrm>
            <a:off x="0" y="239743"/>
            <a:ext cx="4570482" cy="46166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none">
            <a:spAutoFit/>
          </a:bodyPr>
          <a:lstStyle/>
          <a:p>
            <a:r>
              <a:rPr lang="en-US" altLang="zh-CN" sz="2400" b="1" u="sng" dirty="0"/>
              <a:t>8-12-2</a:t>
            </a:r>
            <a:r>
              <a:rPr lang="en-US" altLang="zh-CN" sz="2400" b="1" dirty="0"/>
              <a:t> </a:t>
            </a:r>
            <a:r>
              <a:rPr lang="en-US" altLang="zh-CN" sz="2400" b="1" dirty="0">
                <a:solidFill>
                  <a:srgbClr val="0000FF"/>
                </a:solidFill>
              </a:rPr>
              <a:t>Nomenclature</a:t>
            </a:r>
            <a:r>
              <a:rPr lang="en-US" altLang="zh-CN" sz="2400" b="1" dirty="0"/>
              <a:t> of Ethers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262871" y="1295315"/>
            <a:ext cx="1137822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b="1" dirty="0"/>
              <a:t>Common names of ethers are formed by naming the two alkyl groups on oxygen and adding the word ether. The alkyl groups are put in alphabetical order.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b="1" dirty="0"/>
              <a:t>Common names are used for simple ethers.</a:t>
            </a:r>
            <a:endParaRPr lang="zh-CN" altLang="en-US" b="1" dirty="0"/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12805575"/>
              </p:ext>
            </p:extLst>
          </p:nvPr>
        </p:nvGraphicFramePr>
        <p:xfrm>
          <a:off x="1139060" y="2669539"/>
          <a:ext cx="9625845" cy="14523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587" name="CS ChemDraw Drawing" r:id="rId5" imgW="6586442" imgH="993419" progId="ChemDraw.Document.6.0">
                  <p:embed/>
                </p:oleObj>
              </mc:Choice>
              <mc:Fallback>
                <p:oleObj name="CS ChemDraw Drawing" r:id="rId5" imgW="6586442" imgH="993419" progId="ChemDraw.Document.6.0">
                  <p:embed/>
                  <p:pic>
                    <p:nvPicPr>
                      <p:cNvPr id="8" name="对象 7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139060" y="2669539"/>
                        <a:ext cx="9625845" cy="145234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TextBox 2"/>
          <p:cNvSpPr txBox="1"/>
          <p:nvPr/>
        </p:nvSpPr>
        <p:spPr>
          <a:xfrm>
            <a:off x="-1" y="4380234"/>
            <a:ext cx="4841390" cy="40011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altLang="zh-CN" sz="2000" b="1" u="sng" dirty="0"/>
              <a:t>2.</a:t>
            </a:r>
            <a:r>
              <a:rPr lang="en-US" altLang="zh-CN" sz="2000" b="1" dirty="0"/>
              <a:t> IUPAC Names (Alkoxy Alkane Names)</a:t>
            </a:r>
            <a:endParaRPr lang="zh-CN" altLang="en-US" sz="2000" b="1" dirty="0"/>
          </a:p>
        </p:txBody>
      </p:sp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23034358"/>
              </p:ext>
            </p:extLst>
          </p:nvPr>
        </p:nvGraphicFramePr>
        <p:xfrm>
          <a:off x="2706830" y="5261864"/>
          <a:ext cx="2989652" cy="14892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588" name="CS ChemDraw Drawing" r:id="rId7" imgW="2116437" imgH="1054071" progId="ChemDraw.Document.6.0">
                  <p:embed/>
                </p:oleObj>
              </mc:Choice>
              <mc:Fallback>
                <p:oleObj name="CS ChemDraw Drawing" r:id="rId7" imgW="2116437" imgH="1054071" progId="ChemDraw.Document.6.0">
                  <p:embed/>
                  <p:pic>
                    <p:nvPicPr>
                      <p:cNvPr id="10" name="对象 9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706830" y="5261864"/>
                        <a:ext cx="2989652" cy="148922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0916394"/>
              </p:ext>
            </p:extLst>
          </p:nvPr>
        </p:nvGraphicFramePr>
        <p:xfrm>
          <a:off x="6860904" y="6095636"/>
          <a:ext cx="1584176" cy="6554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589" name="CS ChemDraw Drawing" r:id="rId9" imgW="1177771" imgH="487195" progId="ChemDraw.Document.6.0">
                  <p:embed/>
                </p:oleObj>
              </mc:Choice>
              <mc:Fallback>
                <p:oleObj name="CS ChemDraw Drawing" r:id="rId9" imgW="1177771" imgH="487195" progId="ChemDraw.Document.6.0">
                  <p:embed/>
                  <p:pic>
                    <p:nvPicPr>
                      <p:cNvPr id="11" name="对象 10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6860904" y="6095636"/>
                        <a:ext cx="1584176" cy="65544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49</a:t>
            </a:fld>
            <a:endParaRPr lang="zh-CN" altLang="en-US"/>
          </a:p>
        </p:txBody>
      </p:sp>
      <p:sp>
        <p:nvSpPr>
          <p:cNvPr id="6" name="TextBox 5"/>
          <p:cNvSpPr txBox="1"/>
          <p:nvPr/>
        </p:nvSpPr>
        <p:spPr>
          <a:xfrm>
            <a:off x="335360" y="1219341"/>
            <a:ext cx="1124704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b="1" dirty="0"/>
              <a:t>Epoxides are </a:t>
            </a:r>
            <a:r>
              <a:rPr lang="en-US" altLang="zh-CN" b="1" dirty="0">
                <a:solidFill>
                  <a:srgbClr val="FF0000"/>
                </a:solidFill>
              </a:rPr>
              <a:t>three-membered cyclic ethers</a:t>
            </a:r>
            <a:r>
              <a:rPr lang="en-US" altLang="zh-CN" b="1" dirty="0"/>
              <a:t>, usually formed by </a:t>
            </a:r>
            <a:r>
              <a:rPr lang="en-US" altLang="zh-CN" b="1" dirty="0">
                <a:solidFill>
                  <a:srgbClr val="0000FF"/>
                </a:solidFill>
              </a:rPr>
              <a:t>peroxyacid oxidation </a:t>
            </a:r>
            <a:r>
              <a:rPr lang="en-US" altLang="zh-CN" b="1" dirty="0"/>
              <a:t>of the </a:t>
            </a:r>
            <a:r>
              <a:rPr lang="en-US" altLang="zh-CN" b="1" dirty="0">
                <a:solidFill>
                  <a:srgbClr val="0000FF"/>
                </a:solidFill>
              </a:rPr>
              <a:t>alkenes</a:t>
            </a:r>
            <a:r>
              <a:rPr lang="en-US" altLang="zh-CN" b="1" dirty="0"/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CN" b="1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CN" b="1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CN" b="1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CN" b="1" dirty="0"/>
          </a:p>
          <a:p>
            <a:endParaRPr lang="en-US" altLang="zh-CN" b="1" dirty="0"/>
          </a:p>
          <a:p>
            <a:endParaRPr lang="en-US" altLang="zh-CN" b="1" dirty="0"/>
          </a:p>
          <a:p>
            <a:r>
              <a:rPr lang="en-US" altLang="zh-CN" b="1" i="1" u="sng" dirty="0"/>
              <a:t>Common names</a:t>
            </a:r>
            <a:r>
              <a:rPr lang="en-US" altLang="zh-CN" b="1" dirty="0"/>
              <a:t>: adding “</a:t>
            </a:r>
            <a:r>
              <a:rPr lang="en-US" altLang="zh-CN" b="1" dirty="0">
                <a:solidFill>
                  <a:srgbClr val="0000FF"/>
                </a:solidFill>
              </a:rPr>
              <a:t>oxide</a:t>
            </a:r>
            <a:r>
              <a:rPr lang="en-US" altLang="zh-CN" b="1" dirty="0"/>
              <a:t>” to the name of the </a:t>
            </a:r>
            <a:r>
              <a:rPr lang="en-US" altLang="zh-CN" b="1" dirty="0">
                <a:solidFill>
                  <a:srgbClr val="0000FF"/>
                </a:solidFill>
              </a:rPr>
              <a:t>alkene</a:t>
            </a:r>
            <a:r>
              <a:rPr lang="en-US" altLang="zh-CN" b="1" dirty="0"/>
              <a:t> that is oxidized.</a:t>
            </a:r>
            <a:endParaRPr lang="zh-CN" altLang="en-US" b="1" dirty="0"/>
          </a:p>
        </p:txBody>
      </p:sp>
      <p:sp>
        <p:nvSpPr>
          <p:cNvPr id="10" name="TextBox 9"/>
          <p:cNvSpPr txBox="1"/>
          <p:nvPr/>
        </p:nvSpPr>
        <p:spPr>
          <a:xfrm>
            <a:off x="335360" y="3955445"/>
            <a:ext cx="115212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i="1" u="sng" dirty="0"/>
              <a:t>IUPAC names</a:t>
            </a:r>
            <a:r>
              <a:rPr lang="en-US" altLang="zh-CN" b="1" dirty="0"/>
              <a:t>: name epoxides </a:t>
            </a:r>
            <a:r>
              <a:rPr lang="en-US" altLang="zh-CN" b="1" i="1" dirty="0"/>
              <a:t>as derivatives of </a:t>
            </a:r>
            <a:r>
              <a:rPr lang="en-US" altLang="zh-CN" b="1" dirty="0">
                <a:solidFill>
                  <a:srgbClr val="FF0000"/>
                </a:solidFill>
              </a:rPr>
              <a:t>the parent compound </a:t>
            </a:r>
            <a:r>
              <a:rPr lang="en-US" altLang="zh-CN" b="1" dirty="0"/>
              <a:t>“</a:t>
            </a:r>
            <a:r>
              <a:rPr lang="en-US" altLang="zh-CN" b="1" dirty="0" err="1">
                <a:solidFill>
                  <a:srgbClr val="FF0000"/>
                </a:solidFill>
              </a:rPr>
              <a:t>oxirane</a:t>
            </a:r>
            <a:r>
              <a:rPr lang="en-US" altLang="zh-CN" b="1" dirty="0"/>
              <a:t>”.</a:t>
            </a:r>
            <a:r>
              <a:rPr lang="en-US" altLang="zh-CN" b="1" dirty="0">
                <a:solidFill>
                  <a:srgbClr val="0000FF"/>
                </a:solidFill>
              </a:rPr>
              <a:t> The ring atoms are numbered starting with the oxygen atom </a:t>
            </a:r>
            <a:r>
              <a:rPr lang="en-US" altLang="zh-CN" b="1" dirty="0"/>
              <a:t>and going in the direction to give the lowest substituent numbers.</a:t>
            </a:r>
            <a:endParaRPr lang="zh-CN" altLang="en-US" b="1" dirty="0"/>
          </a:p>
        </p:txBody>
      </p:sp>
      <p:sp>
        <p:nvSpPr>
          <p:cNvPr id="3" name="矩形 2"/>
          <p:cNvSpPr/>
          <p:nvPr/>
        </p:nvSpPr>
        <p:spPr>
          <a:xfrm>
            <a:off x="573" y="294095"/>
            <a:ext cx="3953326" cy="40011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>
            <a:spAutoFit/>
          </a:bodyPr>
          <a:lstStyle/>
          <a:p>
            <a:r>
              <a:rPr lang="en-US" altLang="zh-CN" sz="2000" b="1" u="sng" dirty="0"/>
              <a:t>3. </a:t>
            </a:r>
            <a:r>
              <a:rPr lang="en-US" altLang="zh-CN" sz="2000" b="1" dirty="0"/>
              <a:t>Nomenclature of </a:t>
            </a:r>
            <a:r>
              <a:rPr lang="en-US" altLang="zh-CN" sz="2000" b="1" dirty="0">
                <a:solidFill>
                  <a:srgbClr val="0000FF"/>
                </a:solidFill>
              </a:rPr>
              <a:t>Cyclic Ethers</a:t>
            </a:r>
            <a:endParaRPr lang="en-US" altLang="zh-CN" sz="2000" b="1" dirty="0"/>
          </a:p>
        </p:txBody>
      </p:sp>
      <p:sp>
        <p:nvSpPr>
          <p:cNvPr id="4" name="文本框 3"/>
          <p:cNvSpPr txBox="1"/>
          <p:nvPr/>
        </p:nvSpPr>
        <p:spPr>
          <a:xfrm>
            <a:off x="573" y="803628"/>
            <a:ext cx="2922595" cy="40011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altLang="zh-CN" sz="2000" b="1" dirty="0"/>
              <a:t>(1). Epoxides (</a:t>
            </a:r>
            <a:r>
              <a:rPr lang="en-US" altLang="zh-CN" sz="2000" b="1" dirty="0" err="1"/>
              <a:t>Oxiranes</a:t>
            </a:r>
            <a:r>
              <a:rPr lang="en-US" altLang="zh-CN" sz="2000" b="1" dirty="0"/>
              <a:t>)</a:t>
            </a:r>
            <a:endParaRPr lang="zh-CN" altLang="en-US" sz="2000" b="1" dirty="0"/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4009419" y="1844824"/>
          <a:ext cx="3898921" cy="113337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520" name="CS ChemDraw Drawing" r:id="rId3" imgW="2506659" imgH="729406" progId="ChemDraw.Document.6.0">
                  <p:embed/>
                </p:oleObj>
              </mc:Choice>
              <mc:Fallback>
                <p:oleObj name="CS ChemDraw Drawing" r:id="rId3" imgW="2506659" imgH="729406" progId="ChemDraw.Document.6.0">
                  <p:embed/>
                  <p:pic>
                    <p:nvPicPr>
                      <p:cNvPr id="5" name="对象 4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009419" y="1844824"/>
                        <a:ext cx="3898921" cy="113337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/>
        </p:nvGraphicFramePr>
        <p:xfrm>
          <a:off x="3431704" y="5187618"/>
          <a:ext cx="1340554" cy="13512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521" name="CS ChemDraw Drawing" r:id="rId5" imgW="990353" imgH="997780" progId="ChemDraw.Document.6.0">
                  <p:embed/>
                </p:oleObj>
              </mc:Choice>
              <mc:Fallback>
                <p:oleObj name="CS ChemDraw Drawing" r:id="rId5" imgW="990353" imgH="997780" progId="ChemDraw.Document.6.0">
                  <p:embed/>
                  <p:pic>
                    <p:nvPicPr>
                      <p:cNvPr id="7" name="对象 6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431704" y="5187618"/>
                        <a:ext cx="1340554" cy="135129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>
            <a:graphicFrameLocks noChangeAspect="1"/>
          </p:cNvGraphicFramePr>
          <p:nvPr/>
        </p:nvGraphicFramePr>
        <p:xfrm>
          <a:off x="5411486" y="5151238"/>
          <a:ext cx="2686885" cy="136184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522" name="CS ChemDraw Drawing" r:id="rId7" imgW="1854447" imgH="940299" progId="ChemDraw.Document.6.0">
                  <p:embed/>
                </p:oleObj>
              </mc:Choice>
              <mc:Fallback>
                <p:oleObj name="CS ChemDraw Drawing" r:id="rId7" imgW="1854447" imgH="940299" progId="ChemDraw.Document.6.0">
                  <p:embed/>
                  <p:pic>
                    <p:nvPicPr>
                      <p:cNvPr id="11" name="对象 10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411486" y="5151238"/>
                        <a:ext cx="2686885" cy="136184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椭圆 5"/>
          <p:cNvSpPr/>
          <p:nvPr/>
        </p:nvSpPr>
        <p:spPr>
          <a:xfrm>
            <a:off x="3863752" y="1183340"/>
            <a:ext cx="1872208" cy="1389531"/>
          </a:xfrm>
          <a:prstGeom prst="ellipse">
            <a:avLst/>
          </a:prstGeom>
          <a:solidFill>
            <a:srgbClr val="FFFF00"/>
          </a:solidFill>
          <a:ln>
            <a:solidFill>
              <a:srgbClr val="00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50</a:t>
            </a:fld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0" y="260648"/>
            <a:ext cx="6072496" cy="40011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altLang="zh-CN" sz="2000" b="1" dirty="0"/>
              <a:t>(2) Tetrahydrofuran, Tetrahydropyran and Dioxane</a:t>
            </a:r>
            <a:endParaRPr lang="zh-CN" altLang="en-US" sz="2000" b="1" dirty="0"/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2783632" y="1268760"/>
          <a:ext cx="5640640" cy="42484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364" name="CS ChemDraw Drawing" r:id="rId3" imgW="3608280" imgH="2717037" progId="ChemDraw.Document.6.0">
                  <p:embed/>
                </p:oleObj>
              </mc:Choice>
              <mc:Fallback>
                <p:oleObj name="CS ChemDraw Drawing" r:id="rId3" imgW="3608280" imgH="2717037" progId="ChemDraw.Document.6.0">
                  <p:embed/>
                  <p:pic>
                    <p:nvPicPr>
                      <p:cNvPr id="4" name="对象 3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783632" y="1268760"/>
                        <a:ext cx="5640640" cy="424847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文本框 4"/>
          <p:cNvSpPr txBox="1"/>
          <p:nvPr/>
        </p:nvSpPr>
        <p:spPr>
          <a:xfrm>
            <a:off x="479376" y="5972177"/>
            <a:ext cx="59442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b="1" dirty="0"/>
              <a:t>THF and 1,4-dioxane are excellent organic solvents.</a:t>
            </a:r>
            <a:endParaRPr lang="zh-CN" altLang="en-US" b="1" dirty="0"/>
          </a:p>
        </p:txBody>
      </p:sp>
    </p:spTree>
    <p:extLst>
      <p:ext uri="{BB962C8B-B14F-4D97-AF65-F5344CB8AC3E}">
        <p14:creationId xmlns:p14="http://schemas.microsoft.com/office/powerpoint/2010/main" val="188715115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51</a:t>
            </a:fld>
            <a:endParaRPr lang="zh-CN" altLang="en-US"/>
          </a:p>
        </p:txBody>
      </p:sp>
      <p:sp>
        <p:nvSpPr>
          <p:cNvPr id="3" name="TextBox 2"/>
          <p:cNvSpPr txBox="1"/>
          <p:nvPr/>
        </p:nvSpPr>
        <p:spPr>
          <a:xfrm>
            <a:off x="0" y="3420886"/>
            <a:ext cx="5210081" cy="46166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altLang="zh-CN" sz="2400" b="1" u="sng" dirty="0"/>
              <a:t>8-12-4</a:t>
            </a:r>
            <a:r>
              <a:rPr lang="en-US" altLang="zh-CN" sz="2400" b="1" dirty="0"/>
              <a:t> </a:t>
            </a:r>
            <a:r>
              <a:rPr lang="en-US" altLang="zh-CN" sz="2400" b="1" dirty="0">
                <a:solidFill>
                  <a:srgbClr val="0000FF"/>
                </a:solidFill>
              </a:rPr>
              <a:t>Physical Properties </a:t>
            </a:r>
            <a:r>
              <a:rPr lang="en-US" altLang="zh-CN" sz="2400" b="1" dirty="0"/>
              <a:t>of Ethers</a:t>
            </a:r>
            <a:endParaRPr lang="zh-CN" altLang="en-US" sz="2400" b="1" dirty="0"/>
          </a:p>
        </p:txBody>
      </p:sp>
      <p:sp>
        <p:nvSpPr>
          <p:cNvPr id="8" name="TextBox 7"/>
          <p:cNvSpPr txBox="1"/>
          <p:nvPr/>
        </p:nvSpPr>
        <p:spPr>
          <a:xfrm>
            <a:off x="335360" y="4052712"/>
            <a:ext cx="11453464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b="1" dirty="0"/>
              <a:t>Ethers are strongly polar molecules, but they lack the hydroxyl group of alcohols.</a:t>
            </a:r>
          </a:p>
          <a:p>
            <a:pPr>
              <a:buFont typeface="Arial" pitchFamily="34" charset="0"/>
              <a:buChar char="•"/>
            </a:pPr>
            <a:endParaRPr lang="en-US" altLang="zh-CN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b="1" dirty="0">
                <a:solidFill>
                  <a:srgbClr val="0000FF"/>
                </a:solidFill>
              </a:rPr>
              <a:t>Boiling points</a:t>
            </a:r>
            <a:r>
              <a:rPr lang="en-US" altLang="zh-CN" b="1" dirty="0">
                <a:solidFill>
                  <a:srgbClr val="FF0000"/>
                </a:solidFill>
              </a:rPr>
              <a:t> </a:t>
            </a:r>
            <a:r>
              <a:rPr lang="en-US" altLang="zh-CN" b="1" dirty="0"/>
              <a:t>lower than alcohols with similar molecular weights.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b="1" dirty="0">
                <a:solidFill>
                  <a:srgbClr val="0000FF"/>
                </a:solidFill>
              </a:rPr>
              <a:t>Water solubility </a:t>
            </a:r>
            <a:r>
              <a:rPr lang="en-US" altLang="zh-CN" b="1" dirty="0"/>
              <a:t>lower than alcohols.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b="1" dirty="0">
                <a:solidFill>
                  <a:srgbClr val="0000FF"/>
                </a:solidFill>
              </a:rPr>
              <a:t>Densities</a:t>
            </a:r>
            <a:r>
              <a:rPr lang="en-US" altLang="zh-CN" b="1" dirty="0"/>
              <a:t>: from 0.66-1.07 g/</a:t>
            </a:r>
            <a:r>
              <a:rPr lang="en-US" altLang="zh-CN" b="1" dirty="0" err="1"/>
              <a:t>mL.</a:t>
            </a:r>
            <a:endParaRPr lang="en-US" altLang="zh-CN" b="1" dirty="0"/>
          </a:p>
          <a:p>
            <a:pPr>
              <a:buFont typeface="Arial" pitchFamily="34" charset="0"/>
              <a:buChar char="•"/>
            </a:pPr>
            <a:endParaRPr lang="en-US" altLang="zh-CN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b="1" dirty="0"/>
              <a:t>Ethers are ideal solvents for many organic reactions because they dissolve a wide range of polar and nonpolar substances, and their relatively low boiling points simplify their evaporation from the reaction products.</a:t>
            </a:r>
          </a:p>
        </p:txBody>
      </p:sp>
      <p:sp>
        <p:nvSpPr>
          <p:cNvPr id="9" name="TextBox 2"/>
          <p:cNvSpPr txBox="1"/>
          <p:nvPr/>
        </p:nvSpPr>
        <p:spPr>
          <a:xfrm>
            <a:off x="-1" y="272253"/>
            <a:ext cx="5628464" cy="46166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altLang="zh-CN" sz="2400" b="1" u="sng" dirty="0"/>
              <a:t>8-12-3</a:t>
            </a:r>
            <a:r>
              <a:rPr lang="en-US" altLang="zh-CN" sz="2400" b="1" dirty="0"/>
              <a:t> </a:t>
            </a:r>
            <a:r>
              <a:rPr lang="en-US" altLang="zh-CN" sz="2400" b="1" dirty="0">
                <a:solidFill>
                  <a:srgbClr val="0000FF"/>
                </a:solidFill>
              </a:rPr>
              <a:t>Structure and Polarity </a:t>
            </a:r>
            <a:r>
              <a:rPr lang="en-US" altLang="zh-CN" sz="2400" b="1" dirty="0"/>
              <a:t>of Ethers</a:t>
            </a:r>
            <a:endParaRPr lang="zh-CN" altLang="en-US" sz="2400" b="1" dirty="0"/>
          </a:p>
        </p:txBody>
      </p:sp>
      <p:sp>
        <p:nvSpPr>
          <p:cNvPr id="4" name="文本框 3"/>
          <p:cNvSpPr txBox="1"/>
          <p:nvPr/>
        </p:nvSpPr>
        <p:spPr>
          <a:xfrm>
            <a:off x="335360" y="834679"/>
            <a:ext cx="11017760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b="1" dirty="0"/>
              <a:t>Ethers have </a:t>
            </a:r>
            <a:r>
              <a:rPr lang="en-US" altLang="zh-CN" b="1" dirty="0">
                <a:solidFill>
                  <a:srgbClr val="0000FF"/>
                </a:solidFill>
              </a:rPr>
              <a:t>a bent structure</a:t>
            </a:r>
            <a:r>
              <a:rPr lang="en-US" altLang="zh-CN" b="1" dirty="0"/>
              <a:t>, with an </a:t>
            </a:r>
            <a:r>
              <a:rPr lang="en-US" altLang="zh-CN" b="1" i="1" dirty="0">
                <a:solidFill>
                  <a:srgbClr val="0000FF"/>
                </a:solidFill>
              </a:rPr>
              <a:t>sp</a:t>
            </a:r>
            <a:r>
              <a:rPr lang="en-US" altLang="zh-CN" b="1" baseline="30000" dirty="0">
                <a:solidFill>
                  <a:srgbClr val="0000FF"/>
                </a:solidFill>
              </a:rPr>
              <a:t>3</a:t>
            </a:r>
            <a:r>
              <a:rPr lang="en-US" altLang="zh-CN" b="1" dirty="0">
                <a:solidFill>
                  <a:srgbClr val="0000FF"/>
                </a:solidFill>
              </a:rPr>
              <a:t> hybrid oxygen atom </a:t>
            </a:r>
            <a:r>
              <a:rPr lang="en-US" altLang="zh-CN" b="1" dirty="0"/>
              <a:t>giving a nearly tetrahedral bond angle.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b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b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b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b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b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b="1" dirty="0"/>
              <a:t>Ethers are strongly polar compounds. </a:t>
            </a:r>
          </a:p>
        </p:txBody>
      </p:sp>
      <p:graphicFrame>
        <p:nvGraphicFramePr>
          <p:cNvPr id="11" name="对象 10"/>
          <p:cNvGraphicFramePr>
            <a:graphicFrameLocks noChangeAspect="1"/>
          </p:cNvGraphicFramePr>
          <p:nvPr/>
        </p:nvGraphicFramePr>
        <p:xfrm>
          <a:off x="3571327" y="1349633"/>
          <a:ext cx="1638660" cy="122159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592" name="CS ChemDraw Drawing" r:id="rId3" imgW="967469" imgH="720685" progId="ChemDraw.Document.6.0">
                  <p:embed/>
                </p:oleObj>
              </mc:Choice>
              <mc:Fallback>
                <p:oleObj name="CS ChemDraw Drawing" r:id="rId3" imgW="967469" imgH="720685" progId="ChemDraw.Document.6.0">
                  <p:embed/>
                  <p:pic>
                    <p:nvPicPr>
                      <p:cNvPr id="11" name="对象 10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571327" y="1349633"/>
                        <a:ext cx="1638660" cy="122159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/>
          <p:cNvGraphicFramePr>
            <a:graphicFrameLocks noChangeAspect="1"/>
          </p:cNvGraphicFramePr>
          <p:nvPr/>
        </p:nvGraphicFramePr>
        <p:xfrm>
          <a:off x="6408373" y="1358817"/>
          <a:ext cx="1360454" cy="161065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593" name="CS ChemDraw Drawing" r:id="rId5" imgW="967469" imgH="1144057" progId="ChemDraw.Document.6.0">
                  <p:embed/>
                </p:oleObj>
              </mc:Choice>
              <mc:Fallback>
                <p:oleObj name="CS ChemDraw Drawing" r:id="rId5" imgW="967469" imgH="1144057" progId="ChemDraw.Document.6.0">
                  <p:embed/>
                  <p:pic>
                    <p:nvPicPr>
                      <p:cNvPr id="12" name="对象 1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408373" y="1358817"/>
                        <a:ext cx="1360454" cy="161065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文本框 12"/>
          <p:cNvSpPr txBox="1"/>
          <p:nvPr/>
        </p:nvSpPr>
        <p:spPr>
          <a:xfrm>
            <a:off x="8150748" y="1862512"/>
            <a:ext cx="287931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b="1" dirty="0">
                <a:latin typeface="Consolas" panose="020B0609020204030204" pitchFamily="49" charset="0"/>
              </a:rPr>
              <a:t>Two polar C</a:t>
            </a:r>
            <a:r>
              <a:rPr lang="en-US" altLang="zh-CN" b="1" dirty="0">
                <a:latin typeface="Consolas" panose="020B0609020204030204" pitchFamily="49" charset="0"/>
                <a:sym typeface="Symbol" panose="05050102010706020507" pitchFamily="18" charset="2"/>
              </a:rPr>
              <a:t>O bonds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b="1" dirty="0">
                <a:latin typeface="Consolas" panose="020B0609020204030204" pitchFamily="49" charset="0"/>
                <a:sym typeface="Symbol" panose="05050102010706020507" pitchFamily="18" charset="2"/>
              </a:rPr>
              <a:t>Two long pairs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b="1" dirty="0">
                <a:latin typeface="Consolas" panose="020B0609020204030204" pitchFamily="49" charset="0"/>
                <a:sym typeface="Symbol" panose="05050102010706020507" pitchFamily="18" charset="2"/>
              </a:rPr>
              <a:t>Tetrahedral shape </a:t>
            </a:r>
            <a:endParaRPr lang="zh-CN" altLang="en-US" b="1" dirty="0">
              <a:latin typeface="Consolas" panose="020B0609020204030204" pitchFamily="49" charset="0"/>
            </a:endParaRPr>
          </a:p>
        </p:txBody>
      </p:sp>
      <p:graphicFrame>
        <p:nvGraphicFramePr>
          <p:cNvPr id="14" name="对象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38977333"/>
              </p:ext>
            </p:extLst>
          </p:nvPr>
        </p:nvGraphicFramePr>
        <p:xfrm>
          <a:off x="8005656" y="4740759"/>
          <a:ext cx="3955998" cy="6380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594" name="CS ChemDraw Drawing" r:id="rId7" imgW="2706308" imgH="436851" progId="ChemDraw.Document.6.0">
                  <p:embed/>
                </p:oleObj>
              </mc:Choice>
              <mc:Fallback>
                <p:oleObj name="CS ChemDraw Drawing" r:id="rId7" imgW="2706308" imgH="436851" progId="ChemDraw.Document.6.0">
                  <p:embed/>
                  <p:pic>
                    <p:nvPicPr>
                      <p:cNvPr id="14" name="对象 13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8005656" y="4740759"/>
                        <a:ext cx="3955998" cy="63806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" name="图片 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87924" y="1124744"/>
            <a:ext cx="2587704" cy="1811392"/>
          </a:xfrm>
          <a:prstGeom prst="rect">
            <a:avLst/>
          </a:prstGeom>
          <a:effectLst>
            <a:softEdge rad="317500"/>
          </a:effectLst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椭圆 12"/>
          <p:cNvSpPr/>
          <p:nvPr/>
        </p:nvSpPr>
        <p:spPr>
          <a:xfrm>
            <a:off x="9223856" y="2714035"/>
            <a:ext cx="2692506" cy="1775223"/>
          </a:xfrm>
          <a:prstGeom prst="ellipse">
            <a:avLst/>
          </a:prstGeom>
          <a:solidFill>
            <a:srgbClr val="FFFF99"/>
          </a:solidFill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52</a:t>
            </a:fld>
            <a:endParaRPr lang="zh-CN" altLang="en-US"/>
          </a:p>
        </p:txBody>
      </p:sp>
      <p:sp>
        <p:nvSpPr>
          <p:cNvPr id="3" name="TextBox 2"/>
          <p:cNvSpPr txBox="1"/>
          <p:nvPr/>
        </p:nvSpPr>
        <p:spPr>
          <a:xfrm>
            <a:off x="140350" y="1340633"/>
            <a:ext cx="1180044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b="1" dirty="0"/>
              <a:t>The Williamson ether synthesis is </a:t>
            </a:r>
            <a:r>
              <a:rPr lang="en-US" altLang="zh-CN" b="1" i="1" dirty="0"/>
              <a:t>the most </a:t>
            </a:r>
            <a:r>
              <a:rPr lang="en-US" altLang="zh-CN" b="1" i="1" dirty="0">
                <a:solidFill>
                  <a:srgbClr val="0000FF"/>
                </a:solidFill>
              </a:rPr>
              <a:t>reliable and versatile</a:t>
            </a:r>
            <a:r>
              <a:rPr lang="en-US" altLang="zh-CN" b="1" i="1" dirty="0"/>
              <a:t> ether synthesis</a:t>
            </a:r>
            <a:r>
              <a:rPr lang="en-US" altLang="zh-CN" b="1" dirty="0"/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b="1" dirty="0"/>
              <a:t>This method involves the </a:t>
            </a:r>
            <a:r>
              <a:rPr lang="en-US" altLang="zh-CN" b="1" dirty="0">
                <a:solidFill>
                  <a:srgbClr val="0000FF"/>
                </a:solidFill>
              </a:rPr>
              <a:t>S</a:t>
            </a:r>
            <a:r>
              <a:rPr lang="en-US" altLang="zh-CN" b="1" baseline="-25000" dirty="0">
                <a:solidFill>
                  <a:srgbClr val="0000FF"/>
                </a:solidFill>
              </a:rPr>
              <a:t>N</a:t>
            </a:r>
            <a:r>
              <a:rPr lang="en-US" altLang="zh-CN" b="1" dirty="0">
                <a:solidFill>
                  <a:srgbClr val="0000FF"/>
                </a:solidFill>
              </a:rPr>
              <a:t>2</a:t>
            </a:r>
            <a:r>
              <a:rPr lang="en-US" altLang="zh-CN" b="1" dirty="0"/>
              <a:t> attack of an </a:t>
            </a:r>
            <a:r>
              <a:rPr lang="en-US" altLang="zh-CN" b="1" dirty="0">
                <a:solidFill>
                  <a:srgbClr val="FF0000"/>
                </a:solidFill>
              </a:rPr>
              <a:t>alkoxide</a:t>
            </a:r>
            <a:r>
              <a:rPr lang="en-US" altLang="zh-CN" b="1" dirty="0"/>
              <a:t> ion on </a:t>
            </a:r>
            <a:r>
              <a:rPr lang="en-US" altLang="zh-CN" b="1" i="1" dirty="0">
                <a:solidFill>
                  <a:srgbClr val="0000FF"/>
                </a:solidFill>
              </a:rPr>
              <a:t>methyl halide </a:t>
            </a:r>
            <a:r>
              <a:rPr lang="en-US" altLang="zh-CN" b="1" dirty="0"/>
              <a:t>or an </a:t>
            </a:r>
            <a:r>
              <a:rPr lang="en-US" altLang="zh-CN" b="1" i="1" dirty="0">
                <a:solidFill>
                  <a:srgbClr val="0000FF"/>
                </a:solidFill>
              </a:rPr>
              <a:t>unhindered 1</a:t>
            </a:r>
            <a:r>
              <a:rPr lang="en-US" altLang="zh-CN" b="1" i="1" baseline="30000" dirty="0">
                <a:solidFill>
                  <a:srgbClr val="0000FF"/>
                </a:solidFill>
              </a:rPr>
              <a:t>o</a:t>
            </a:r>
            <a:r>
              <a:rPr lang="en-US" altLang="zh-CN" b="1" i="1" dirty="0">
                <a:solidFill>
                  <a:srgbClr val="0000FF"/>
                </a:solidFill>
              </a:rPr>
              <a:t> alkyl halide </a:t>
            </a:r>
            <a:r>
              <a:rPr lang="en-US" altLang="zh-CN" b="1" dirty="0"/>
              <a:t>(or tosylate).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b="1" dirty="0"/>
              <a:t>2</a:t>
            </a:r>
            <a:r>
              <a:rPr lang="en-US" altLang="zh-CN" b="1" dirty="0">
                <a:sym typeface="Symbol" panose="05050102010706020507" pitchFamily="18" charset="2"/>
              </a:rPr>
              <a:t> Alkyl halides and tosylates are occasionally used, but elimination competes, and the yields are often poor.</a:t>
            </a:r>
            <a:endParaRPr lang="en-US" altLang="zh-CN" b="1" dirty="0"/>
          </a:p>
        </p:txBody>
      </p:sp>
      <p:sp>
        <p:nvSpPr>
          <p:cNvPr id="4" name="矩形 3"/>
          <p:cNvSpPr/>
          <p:nvPr/>
        </p:nvSpPr>
        <p:spPr>
          <a:xfrm>
            <a:off x="0" y="266461"/>
            <a:ext cx="3887603" cy="46166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none">
            <a:spAutoFit/>
          </a:bodyPr>
          <a:lstStyle/>
          <a:p>
            <a:r>
              <a:rPr lang="en-US" altLang="zh-CN" sz="2400" b="1" u="sng" dirty="0"/>
              <a:t>8-12-5</a:t>
            </a:r>
            <a:r>
              <a:rPr lang="en-US" altLang="zh-CN" sz="2400" b="1" dirty="0"/>
              <a:t> </a:t>
            </a:r>
            <a:r>
              <a:rPr lang="en-US" altLang="zh-CN" sz="2400" b="1" dirty="0">
                <a:solidFill>
                  <a:srgbClr val="FF0000"/>
                </a:solidFill>
              </a:rPr>
              <a:t>Synthesis</a:t>
            </a:r>
            <a:r>
              <a:rPr lang="en-US" altLang="zh-CN" sz="2400" b="1" dirty="0"/>
              <a:t> of Ethers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0" y="862446"/>
            <a:ext cx="4190571" cy="40011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altLang="zh-CN" sz="2000" b="1" u="sng" dirty="0"/>
              <a:t>(1)</a:t>
            </a:r>
            <a:r>
              <a:rPr lang="en-US" altLang="zh-CN" sz="2000" b="1" dirty="0"/>
              <a:t> The Williamson Ether Synthesis</a:t>
            </a:r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50901772"/>
              </p:ext>
            </p:extLst>
          </p:nvPr>
        </p:nvGraphicFramePr>
        <p:xfrm>
          <a:off x="708384" y="2945067"/>
          <a:ext cx="5805506" cy="140925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796" name="CS ChemDraw Drawing" r:id="rId3" imgW="3610252" imgH="875683" progId="ChemDraw.Document.6.0">
                  <p:embed/>
                </p:oleObj>
              </mc:Choice>
              <mc:Fallback>
                <p:oleObj name="CS ChemDraw Drawing" r:id="rId3" imgW="3610252" imgH="875683" progId="ChemDraw.Document.6.0">
                  <p:embed/>
                  <p:pic>
                    <p:nvPicPr>
                      <p:cNvPr id="6" name="对象 5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708384" y="2945067"/>
                        <a:ext cx="5805506" cy="1409252"/>
                      </a:xfrm>
                      <a:prstGeom prst="rect">
                        <a:avLst/>
                      </a:prstGeom>
                      <a:ln w="28575">
                        <a:solidFill>
                          <a:schemeClr val="bg1">
                            <a:lumMod val="85000"/>
                          </a:schemeClr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21199934"/>
              </p:ext>
            </p:extLst>
          </p:nvPr>
        </p:nvGraphicFramePr>
        <p:xfrm>
          <a:off x="6989024" y="3160719"/>
          <a:ext cx="1775520" cy="107849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797" name="CS ChemDraw Drawing" r:id="rId5" imgW="1410958" imgH="857448" progId="ChemDraw.Document.6.0">
                  <p:embed/>
                </p:oleObj>
              </mc:Choice>
              <mc:Fallback>
                <p:oleObj name="CS ChemDraw Drawing" r:id="rId5" imgW="1410958" imgH="857448" progId="ChemDraw.Document.6.0">
                  <p:embed/>
                  <p:pic>
                    <p:nvPicPr>
                      <p:cNvPr id="7" name="对象 6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989024" y="3160719"/>
                        <a:ext cx="1775520" cy="107849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剪去对角的矩形 8"/>
          <p:cNvSpPr/>
          <p:nvPr/>
        </p:nvSpPr>
        <p:spPr>
          <a:xfrm>
            <a:off x="6666280" y="3001366"/>
            <a:ext cx="2304256" cy="1352953"/>
          </a:xfrm>
          <a:prstGeom prst="snip2Diag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圆角矩形 9"/>
          <p:cNvSpPr/>
          <p:nvPr/>
        </p:nvSpPr>
        <p:spPr>
          <a:xfrm>
            <a:off x="7242344" y="3082642"/>
            <a:ext cx="1597968" cy="854828"/>
          </a:xfrm>
          <a:prstGeom prst="roundRect">
            <a:avLst/>
          </a:prstGeom>
          <a:noFill/>
          <a:ln w="12700">
            <a:solidFill>
              <a:srgbClr val="FF0000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11" name="对象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66555704"/>
              </p:ext>
            </p:extLst>
          </p:nvPr>
        </p:nvGraphicFramePr>
        <p:xfrm>
          <a:off x="9779370" y="2830021"/>
          <a:ext cx="1679809" cy="73672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798" name="CS ChemDraw Drawing" r:id="rId7" imgW="1220384" imgH="520891" progId="ChemDraw.Document.6.0">
                  <p:embed/>
                </p:oleObj>
              </mc:Choice>
              <mc:Fallback>
                <p:oleObj name="CS ChemDraw Drawing" r:id="rId7" imgW="1220384" imgH="520891" progId="ChemDraw.Document.6.0">
                  <p:embed/>
                  <p:pic>
                    <p:nvPicPr>
                      <p:cNvPr id="11" name="对象 10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9779370" y="2830021"/>
                        <a:ext cx="1679809" cy="73672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文本框 11"/>
          <p:cNvSpPr txBox="1"/>
          <p:nvPr/>
        </p:nvSpPr>
        <p:spPr>
          <a:xfrm>
            <a:off x="9590280" y="3735614"/>
            <a:ext cx="232608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latin typeface="Consolas" panose="020B0609020204030204" pitchFamily="49" charset="0"/>
              </a:rPr>
              <a:t>Tosylate is a good leaving group</a:t>
            </a:r>
            <a:endParaRPr lang="zh-CN" altLang="en-US" sz="1600" b="1" dirty="0">
              <a:latin typeface="Consolas" panose="020B0609020204030204" pitchFamily="49" charset="0"/>
            </a:endParaRPr>
          </a:p>
        </p:txBody>
      </p:sp>
      <p:graphicFrame>
        <p:nvGraphicFramePr>
          <p:cNvPr id="14" name="对象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23517390"/>
              </p:ext>
            </p:extLst>
          </p:nvPr>
        </p:nvGraphicFramePr>
        <p:xfrm>
          <a:off x="340216" y="5232910"/>
          <a:ext cx="5400600" cy="12772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799" name="CS ChemDraw Drawing" r:id="rId9" imgW="4000081" imgH="946245" progId="ChemDraw.Document.6.0">
                  <p:embed/>
                </p:oleObj>
              </mc:Choice>
              <mc:Fallback>
                <p:oleObj name="CS ChemDraw Drawing" r:id="rId9" imgW="4000081" imgH="946245" progId="ChemDraw.Document.6.0">
                  <p:embed/>
                  <p:pic>
                    <p:nvPicPr>
                      <p:cNvPr id="14" name="对象 13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340216" y="5232910"/>
                        <a:ext cx="5400600" cy="127728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30516470"/>
              </p:ext>
            </p:extLst>
          </p:nvPr>
        </p:nvGraphicFramePr>
        <p:xfrm>
          <a:off x="6376601" y="5287526"/>
          <a:ext cx="5539760" cy="9581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800" name="CS ChemDraw Drawing" r:id="rId11" imgW="4167770" imgH="720685" progId="ChemDraw.Document.6.0">
                  <p:embed/>
                </p:oleObj>
              </mc:Choice>
              <mc:Fallback>
                <p:oleObj name="CS ChemDraw Drawing" r:id="rId11" imgW="4167770" imgH="720685" progId="ChemDraw.Document.6.0">
                  <p:embed/>
                  <p:pic>
                    <p:nvPicPr>
                      <p:cNvPr id="15" name="对象 14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6376601" y="5287526"/>
                        <a:ext cx="5539760" cy="95811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>
          <a:xfrm>
            <a:off x="8077200" y="6232228"/>
            <a:ext cx="2133600" cy="365125"/>
          </a:xfrm>
        </p:spPr>
        <p:txBody>
          <a:bodyPr/>
          <a:lstStyle/>
          <a:p>
            <a:fld id="{0C913308-F349-4B6D-A68A-DD1791B4A57B}" type="slidenum">
              <a:rPr lang="zh-CN" altLang="en-US" smtClean="0"/>
              <a:pPr/>
              <a:t>53</a:t>
            </a:fld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277729" y="263849"/>
            <a:ext cx="1152128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b="1" dirty="0"/>
              <a:t>The Williamson ether syntheses </a:t>
            </a:r>
            <a:r>
              <a:rPr lang="en-US" altLang="zh-CN" b="1" dirty="0">
                <a:solidFill>
                  <a:srgbClr val="FF0000"/>
                </a:solidFill>
              </a:rPr>
              <a:t>fail with most 2</a:t>
            </a:r>
            <a:r>
              <a:rPr lang="en-US" altLang="zh-CN" b="1" baseline="30000" dirty="0">
                <a:solidFill>
                  <a:srgbClr val="FF0000"/>
                </a:solidFill>
              </a:rPr>
              <a:t>o</a:t>
            </a:r>
            <a:r>
              <a:rPr lang="en-US" altLang="zh-CN" b="1" dirty="0">
                <a:solidFill>
                  <a:srgbClr val="FF0000"/>
                </a:solidFill>
              </a:rPr>
              <a:t> and all 3</a:t>
            </a:r>
            <a:r>
              <a:rPr lang="en-US" altLang="zh-CN" b="1" baseline="30000" dirty="0">
                <a:solidFill>
                  <a:srgbClr val="FF0000"/>
                </a:solidFill>
              </a:rPr>
              <a:t>o</a:t>
            </a:r>
            <a:r>
              <a:rPr lang="en-US" altLang="zh-CN" b="1" dirty="0">
                <a:solidFill>
                  <a:srgbClr val="FF0000"/>
                </a:solidFill>
              </a:rPr>
              <a:t> alkyl halides (or tosylates) </a:t>
            </a:r>
            <a:r>
              <a:rPr lang="en-US" altLang="zh-CN" b="1" dirty="0">
                <a:solidFill>
                  <a:srgbClr val="0000FF"/>
                </a:solidFill>
              </a:rPr>
              <a:t>due to Elimination</a:t>
            </a:r>
            <a:r>
              <a:rPr lang="en-US" altLang="zh-CN" b="1" dirty="0"/>
              <a:t>.</a:t>
            </a:r>
            <a:endParaRPr lang="zh-CN" altLang="en-US" b="1" dirty="0"/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/>
        </p:nvGraphicFramePr>
        <p:xfrm>
          <a:off x="2495600" y="980728"/>
          <a:ext cx="6314052" cy="255301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640" name="CS ChemDraw Drawing" r:id="rId3" imgW="4024544" imgH="1627288" progId="ChemDraw.Document.6.0">
                  <p:embed/>
                </p:oleObj>
              </mc:Choice>
              <mc:Fallback>
                <p:oleObj name="CS ChemDraw Drawing" r:id="rId3" imgW="4024544" imgH="1627288" progId="ChemDraw.Document.6.0">
                  <p:embed/>
                  <p:pic>
                    <p:nvPicPr>
                      <p:cNvPr id="3" name="对象 2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495600" y="980728"/>
                        <a:ext cx="6314052" cy="255301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文本框 3"/>
          <p:cNvSpPr txBox="1"/>
          <p:nvPr/>
        </p:nvSpPr>
        <p:spPr>
          <a:xfrm>
            <a:off x="335360" y="4077072"/>
            <a:ext cx="51555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b="1" dirty="0"/>
              <a:t>Retrosynthetic analysis and synthetic design:</a:t>
            </a:r>
            <a:endParaRPr lang="zh-CN" altLang="en-US" b="1" dirty="0"/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623392" y="4869161"/>
          <a:ext cx="4680520" cy="132943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641" name="CS ChemDraw Drawing" r:id="rId5" imgW="3918012" imgH="1112344" progId="ChemDraw.Document.6.0">
                  <p:embed/>
                </p:oleObj>
              </mc:Choice>
              <mc:Fallback>
                <p:oleObj name="CS ChemDraw Drawing" r:id="rId5" imgW="3918012" imgH="1112344" progId="ChemDraw.Document.6.0">
                  <p:embed/>
                  <p:pic>
                    <p:nvPicPr>
                      <p:cNvPr id="5" name="对象 4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23392" y="4869161"/>
                        <a:ext cx="4680520" cy="132943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椭圆 5"/>
          <p:cNvSpPr/>
          <p:nvPr/>
        </p:nvSpPr>
        <p:spPr>
          <a:xfrm>
            <a:off x="1127448" y="5301208"/>
            <a:ext cx="360040" cy="360040"/>
          </a:xfrm>
          <a:prstGeom prst="ellipse">
            <a:avLst/>
          </a:prstGeom>
          <a:noFill/>
          <a:ln>
            <a:solidFill>
              <a:srgbClr val="00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椭圆 8"/>
          <p:cNvSpPr/>
          <p:nvPr/>
        </p:nvSpPr>
        <p:spPr>
          <a:xfrm>
            <a:off x="335360" y="5277036"/>
            <a:ext cx="612068" cy="612068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954169" y="4909229"/>
            <a:ext cx="137409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b="1" i="1" dirty="0">
                <a:solidFill>
                  <a:srgbClr val="00FF00"/>
                </a:solidFill>
              </a:rPr>
              <a:t>1</a:t>
            </a:r>
            <a:r>
              <a:rPr lang="en-US" altLang="zh-CN" sz="1600" b="1" i="1" dirty="0">
                <a:solidFill>
                  <a:srgbClr val="00FF00"/>
                </a:solidFill>
                <a:sym typeface="Symbol" panose="05050102010706020507" pitchFamily="18" charset="2"/>
              </a:rPr>
              <a:t> alkyl group</a:t>
            </a:r>
            <a:endParaRPr lang="zh-CN" altLang="en-US" sz="1600" b="1" i="1" dirty="0">
              <a:solidFill>
                <a:srgbClr val="00FF00"/>
              </a:solidFill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113394" y="6039661"/>
            <a:ext cx="137409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b="1" i="1" dirty="0">
                <a:solidFill>
                  <a:schemeClr val="bg1">
                    <a:lumMod val="75000"/>
                  </a:schemeClr>
                </a:solidFill>
              </a:rPr>
              <a:t>3</a:t>
            </a:r>
            <a:r>
              <a:rPr lang="en-US" altLang="zh-CN" sz="1600" b="1" i="1" dirty="0">
                <a:solidFill>
                  <a:schemeClr val="bg1">
                    <a:lumMod val="75000"/>
                  </a:schemeClr>
                </a:solidFill>
                <a:sym typeface="Symbol" panose="05050102010706020507" pitchFamily="18" charset="2"/>
              </a:rPr>
              <a:t> alkyl group</a:t>
            </a:r>
            <a:endParaRPr lang="zh-CN" altLang="en-US" sz="1600" b="1" i="1" dirty="0">
              <a:solidFill>
                <a:schemeClr val="bg1">
                  <a:lumMod val="75000"/>
                </a:schemeClr>
              </a:solidFill>
            </a:endParaRPr>
          </a:p>
        </p:txBody>
      </p:sp>
      <p:cxnSp>
        <p:nvCxnSpPr>
          <p:cNvPr id="12" name="直接连接符 11"/>
          <p:cNvCxnSpPr/>
          <p:nvPr/>
        </p:nvCxnSpPr>
        <p:spPr>
          <a:xfrm>
            <a:off x="5652626" y="4477182"/>
            <a:ext cx="0" cy="2192178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3" name="对象 12"/>
          <p:cNvGraphicFramePr>
            <a:graphicFrameLocks noChangeAspect="1"/>
          </p:cNvGraphicFramePr>
          <p:nvPr/>
        </p:nvGraphicFramePr>
        <p:xfrm>
          <a:off x="5828287" y="4706432"/>
          <a:ext cx="5970722" cy="1471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642" name="CS ChemDraw Drawing" r:id="rId7" imgW="4720948" imgH="1163878" progId="ChemDraw.Document.6.0">
                  <p:embed/>
                </p:oleObj>
              </mc:Choice>
              <mc:Fallback>
                <p:oleObj name="CS ChemDraw Drawing" r:id="rId7" imgW="4720948" imgH="1163878" progId="ChemDraw.Document.6.0">
                  <p:embed/>
                  <p:pic>
                    <p:nvPicPr>
                      <p:cNvPr id="13" name="对象 12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828287" y="4706432"/>
                        <a:ext cx="5970722" cy="1471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54</a:t>
            </a:fld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331630" y="877065"/>
            <a:ext cx="1152874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b="1" dirty="0"/>
              <a:t>It is the least expensive method for synthesizing </a:t>
            </a:r>
            <a:r>
              <a:rPr lang="en-US" altLang="zh-CN" b="1" dirty="0">
                <a:solidFill>
                  <a:srgbClr val="FF0000"/>
                </a:solidFill>
              </a:rPr>
              <a:t>simple symmetrical ethers</a:t>
            </a:r>
            <a:r>
              <a:rPr lang="en-US" altLang="zh-CN" b="1" dirty="0"/>
              <a:t>.</a:t>
            </a:r>
          </a:p>
          <a:p>
            <a:pPr>
              <a:buFont typeface="Arial" pitchFamily="34" charset="0"/>
              <a:buChar char="•"/>
            </a:pPr>
            <a:endParaRPr lang="en-US" altLang="zh-CN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b="1" i="1" dirty="0">
                <a:solidFill>
                  <a:srgbClr val="FF0000"/>
                </a:solidFill>
              </a:rPr>
              <a:t>Unhindered 1</a:t>
            </a:r>
            <a:r>
              <a:rPr lang="en-US" altLang="zh-CN" b="1" i="1" dirty="0">
                <a:solidFill>
                  <a:srgbClr val="FF0000"/>
                </a:solidFill>
                <a:sym typeface="Symbol" panose="05050102010706020507" pitchFamily="18" charset="2"/>
              </a:rPr>
              <a:t></a:t>
            </a:r>
            <a:r>
              <a:rPr lang="en-US" altLang="zh-CN" b="1" i="1" dirty="0">
                <a:solidFill>
                  <a:srgbClr val="FF0000"/>
                </a:solidFill>
              </a:rPr>
              <a:t> alcohols </a:t>
            </a:r>
            <a:r>
              <a:rPr lang="en-US" altLang="zh-CN" b="1" i="1" dirty="0"/>
              <a:t>and</a:t>
            </a:r>
            <a:r>
              <a:rPr lang="en-US" altLang="zh-CN" b="1" i="1" dirty="0">
                <a:solidFill>
                  <a:srgbClr val="FF0000"/>
                </a:solidFill>
              </a:rPr>
              <a:t> low temperature </a:t>
            </a:r>
            <a:r>
              <a:rPr lang="en-US" altLang="zh-CN" b="1" dirty="0"/>
              <a:t>must be used </a:t>
            </a:r>
            <a:r>
              <a:rPr lang="en-US" altLang="zh-CN" b="1" i="1" dirty="0"/>
              <a:t>to </a:t>
            </a:r>
            <a:r>
              <a:rPr lang="en-US" altLang="zh-CN" b="1" dirty="0"/>
              <a:t>produce ethers</a:t>
            </a:r>
            <a:r>
              <a:rPr lang="en-US" altLang="zh-CN" b="1" dirty="0">
                <a:solidFill>
                  <a:srgbClr val="FF0000"/>
                </a:solidFill>
              </a:rPr>
              <a:t> </a:t>
            </a:r>
            <a:r>
              <a:rPr lang="en-US" altLang="zh-CN" b="1" dirty="0"/>
              <a:t>(S</a:t>
            </a:r>
            <a:r>
              <a:rPr lang="en-US" altLang="zh-CN" b="1" baseline="-25000" dirty="0"/>
              <a:t>N</a:t>
            </a:r>
            <a:r>
              <a:rPr lang="en-US" altLang="zh-CN" b="1" dirty="0"/>
              <a:t>2 mechanism).</a:t>
            </a:r>
          </a:p>
          <a:p>
            <a:pPr>
              <a:buFont typeface="Arial" pitchFamily="34" charset="0"/>
              <a:buChar char="•"/>
            </a:pPr>
            <a:endParaRPr lang="en-US" altLang="zh-CN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b="1" dirty="0"/>
              <a:t>Branched, secondary/tertiary alcohols and temperature too high give alkene products (intramolecular dehydration, E1 mechanism).</a:t>
            </a:r>
            <a:endParaRPr lang="zh-CN" altLang="en-US" b="1" dirty="0"/>
          </a:p>
        </p:txBody>
      </p:sp>
      <p:sp>
        <p:nvSpPr>
          <p:cNvPr id="4" name="矩形 3"/>
          <p:cNvSpPr/>
          <p:nvPr/>
        </p:nvSpPr>
        <p:spPr>
          <a:xfrm>
            <a:off x="0" y="260648"/>
            <a:ext cx="8724292" cy="40011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sz="2000" b="1" u="sng" dirty="0"/>
              <a:t>(2)</a:t>
            </a:r>
            <a:r>
              <a:rPr lang="en-US" altLang="zh-CN" sz="2000" b="1" dirty="0"/>
              <a:t> Industrial Synthesis: Intermolecular Dehydration of Alcohols</a:t>
            </a:r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69753879"/>
              </p:ext>
            </p:extLst>
          </p:nvPr>
        </p:nvGraphicFramePr>
        <p:xfrm>
          <a:off x="3125743" y="3356992"/>
          <a:ext cx="4838181" cy="10801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574" name="CS ChemDraw Drawing" r:id="rId3" imgW="3263826" imgH="728217" progId="ChemDraw.Document.6.0">
                  <p:embed/>
                </p:oleObj>
              </mc:Choice>
              <mc:Fallback>
                <p:oleObj name="CS ChemDraw Drawing" r:id="rId3" imgW="3263826" imgH="728217" progId="ChemDraw.Document.6.0">
                  <p:embed/>
                  <p:pic>
                    <p:nvPicPr>
                      <p:cNvPr id="5" name="对象 4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125743" y="3356992"/>
                        <a:ext cx="4838181" cy="108012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77978143"/>
              </p:ext>
            </p:extLst>
          </p:nvPr>
        </p:nvGraphicFramePr>
        <p:xfrm>
          <a:off x="3242864" y="4796571"/>
          <a:ext cx="4898391" cy="115212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575" name="CS ChemDraw Drawing" r:id="rId5" imgW="3165185" imgH="744866" progId="ChemDraw.Document.6.0">
                  <p:embed/>
                </p:oleObj>
              </mc:Choice>
              <mc:Fallback>
                <p:oleObj name="CS ChemDraw Drawing" r:id="rId5" imgW="3165185" imgH="744866" progId="ChemDraw.Document.6.0">
                  <p:embed/>
                  <p:pic>
                    <p:nvPicPr>
                      <p:cNvPr id="6" name="对象 5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242864" y="4796571"/>
                        <a:ext cx="4898391" cy="115212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圆角矩形 19"/>
          <p:cNvSpPr/>
          <p:nvPr/>
        </p:nvSpPr>
        <p:spPr>
          <a:xfrm>
            <a:off x="8495482" y="2916175"/>
            <a:ext cx="720080" cy="843795"/>
          </a:xfrm>
          <a:prstGeom prst="roundRect">
            <a:avLst/>
          </a:prstGeom>
          <a:solidFill>
            <a:srgbClr val="FFFF99"/>
          </a:solidFill>
          <a:ln>
            <a:solidFill>
              <a:srgbClr val="00FFFF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圆角矩形 18"/>
          <p:cNvSpPr/>
          <p:nvPr/>
        </p:nvSpPr>
        <p:spPr>
          <a:xfrm>
            <a:off x="8988521" y="4258473"/>
            <a:ext cx="720080" cy="843795"/>
          </a:xfrm>
          <a:prstGeom prst="roundRect">
            <a:avLst/>
          </a:prstGeom>
          <a:solidFill>
            <a:srgbClr val="FFFF99"/>
          </a:solidFill>
          <a:ln>
            <a:solidFill>
              <a:srgbClr val="00FFFF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横卷形 12"/>
          <p:cNvSpPr/>
          <p:nvPr/>
        </p:nvSpPr>
        <p:spPr>
          <a:xfrm>
            <a:off x="1919536" y="5416562"/>
            <a:ext cx="3983468" cy="1080120"/>
          </a:xfrm>
          <a:prstGeom prst="horizontalScroll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椭圆 10"/>
          <p:cNvSpPr/>
          <p:nvPr/>
        </p:nvSpPr>
        <p:spPr>
          <a:xfrm>
            <a:off x="3022874" y="4428343"/>
            <a:ext cx="1368152" cy="504056"/>
          </a:xfrm>
          <a:prstGeom prst="ellipse">
            <a:avLst/>
          </a:prstGeom>
          <a:solidFill>
            <a:srgbClr val="FFFF99"/>
          </a:solidFill>
          <a:ln>
            <a:solidFill>
              <a:srgbClr val="FF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55</a:t>
            </a:fld>
            <a:endParaRPr lang="zh-CN" altLang="en-US"/>
          </a:p>
        </p:txBody>
      </p:sp>
      <p:sp>
        <p:nvSpPr>
          <p:cNvPr id="3" name="TextBox 2"/>
          <p:cNvSpPr txBox="1"/>
          <p:nvPr/>
        </p:nvSpPr>
        <p:spPr>
          <a:xfrm>
            <a:off x="0" y="234715"/>
            <a:ext cx="5892960" cy="46166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altLang="zh-CN" sz="2400" b="1" u="sng" dirty="0"/>
              <a:t>8-12-6</a:t>
            </a:r>
            <a:r>
              <a:rPr lang="en-US" altLang="zh-CN" sz="2400" b="1" dirty="0"/>
              <a:t> </a:t>
            </a:r>
            <a:r>
              <a:rPr lang="en-US" altLang="zh-CN" sz="2400" b="1" dirty="0">
                <a:solidFill>
                  <a:srgbClr val="FF0000"/>
                </a:solidFill>
              </a:rPr>
              <a:t>Cleavage </a:t>
            </a:r>
            <a:r>
              <a:rPr lang="en-US" altLang="zh-CN" sz="2400" b="1" dirty="0"/>
              <a:t>of Ethers by </a:t>
            </a:r>
            <a:r>
              <a:rPr lang="en-US" altLang="zh-CN" sz="2400" b="1" dirty="0">
                <a:solidFill>
                  <a:srgbClr val="0000FF"/>
                </a:solidFill>
              </a:rPr>
              <a:t>HBr and HI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6686" y="794313"/>
            <a:ext cx="11488796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b="1" dirty="0"/>
              <a:t>Ethers are quite unreactive compared with alcohols. 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CN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b="1" dirty="0"/>
              <a:t>However, ethers do undergo a limited number of characteristic reactions.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CN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b="1" dirty="0">
                <a:solidFill>
                  <a:srgbClr val="0000FF"/>
                </a:solidFill>
              </a:rPr>
              <a:t>Ethers are unreactive toward most bases,</a:t>
            </a:r>
            <a:r>
              <a:rPr lang="en-US" altLang="zh-CN" b="1" dirty="0">
                <a:solidFill>
                  <a:srgbClr val="FF0000"/>
                </a:solidFill>
              </a:rPr>
              <a:t> but they can react under acidic conditions</a:t>
            </a:r>
            <a:r>
              <a:rPr lang="en-US" altLang="zh-CN" b="1" dirty="0"/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CN" b="1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CN" b="1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CN" b="1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CN" b="1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CN" b="1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CN" b="1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CN" b="1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CN" b="1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CN" b="1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CN" b="1" dirty="0"/>
          </a:p>
          <a:p>
            <a:r>
              <a:rPr lang="en-US" altLang="zh-CN" b="1" dirty="0"/>
              <a:t> 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3022874" y="4500351"/>
            <a:ext cx="141897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b="1" dirty="0">
                <a:latin typeface="Consolas" panose="020B0609020204030204" pitchFamily="49" charset="0"/>
              </a:rPr>
              <a:t>protonation</a:t>
            </a:r>
            <a:endParaRPr lang="zh-CN" altLang="en-US" sz="1600" b="1" dirty="0">
              <a:latin typeface="Consolas" panose="020B0609020204030204" pitchFamily="49" charset="0"/>
            </a:endParaRPr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/>
        </p:nvGraphicFramePr>
        <p:xfrm>
          <a:off x="2086580" y="2924944"/>
          <a:ext cx="7632848" cy="2779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508" name="CS ChemDraw Drawing" r:id="rId3" imgW="4873249" imgH="1775152" progId="ChemDraw.Document.6.0">
                  <p:embed/>
                </p:oleObj>
              </mc:Choice>
              <mc:Fallback>
                <p:oleObj name="CS ChemDraw Drawing" r:id="rId3" imgW="4873249" imgH="1775152" progId="ChemDraw.Document.6.0">
                  <p:embed/>
                  <p:pic>
                    <p:nvPicPr>
                      <p:cNvPr id="8" name="对象 7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086580" y="2924944"/>
                        <a:ext cx="7632848" cy="27796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文本框 11"/>
          <p:cNvSpPr txBox="1"/>
          <p:nvPr/>
        </p:nvSpPr>
        <p:spPr>
          <a:xfrm>
            <a:off x="2135560" y="5545480"/>
            <a:ext cx="376744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latin typeface="Consolas" panose="020B0609020204030204" pitchFamily="49" charset="0"/>
              </a:rPr>
              <a:t>protonation increases the polarity of the C</a:t>
            </a:r>
            <a:r>
              <a:rPr lang="en-US" altLang="zh-CN" sz="1600" b="1" dirty="0">
                <a:latin typeface="Consolas" panose="020B0609020204030204" pitchFamily="49" charset="0"/>
                <a:sym typeface="Symbol" panose="05050102010706020507" pitchFamily="18" charset="2"/>
              </a:rPr>
              <a:t></a:t>
            </a:r>
            <a:r>
              <a:rPr lang="en-US" altLang="zh-CN" sz="1600" b="1" dirty="0">
                <a:latin typeface="Consolas" panose="020B0609020204030204" pitchFamily="49" charset="0"/>
              </a:rPr>
              <a:t>O bonds and turns R’O</a:t>
            </a:r>
            <a:r>
              <a:rPr lang="en-US" altLang="zh-CN" sz="1600" b="1" baseline="30000" dirty="0">
                <a:latin typeface="Consolas" panose="020B0609020204030204" pitchFamily="49" charset="0"/>
              </a:rPr>
              <a:t>-</a:t>
            </a:r>
            <a:r>
              <a:rPr lang="en-US" altLang="zh-CN" sz="1600" b="1" dirty="0">
                <a:latin typeface="Consolas" panose="020B0609020204030204" pitchFamily="49" charset="0"/>
              </a:rPr>
              <a:t> into a better LG R’OH</a:t>
            </a:r>
            <a:endParaRPr lang="zh-CN" altLang="en-US" sz="1600" b="1" dirty="0">
              <a:latin typeface="Consolas" panose="020B0609020204030204" pitchFamily="49" charset="0"/>
            </a:endParaRPr>
          </a:p>
        </p:txBody>
      </p:sp>
      <p:sp>
        <p:nvSpPr>
          <p:cNvPr id="14" name="圆角矩形 13"/>
          <p:cNvSpPr/>
          <p:nvPr/>
        </p:nvSpPr>
        <p:spPr>
          <a:xfrm>
            <a:off x="4823074" y="3008484"/>
            <a:ext cx="720080" cy="843795"/>
          </a:xfrm>
          <a:prstGeom prst="roundRect">
            <a:avLst/>
          </a:prstGeom>
          <a:noFill/>
          <a:ln>
            <a:solidFill>
              <a:srgbClr val="00FFFF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圆角矩形 17"/>
          <p:cNvSpPr/>
          <p:nvPr/>
        </p:nvSpPr>
        <p:spPr>
          <a:xfrm>
            <a:off x="4823074" y="4200648"/>
            <a:ext cx="720080" cy="843795"/>
          </a:xfrm>
          <a:prstGeom prst="roundRect">
            <a:avLst/>
          </a:prstGeom>
          <a:noFill/>
          <a:ln>
            <a:solidFill>
              <a:srgbClr val="00FFFF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横卷形 17"/>
          <p:cNvSpPr/>
          <p:nvPr/>
        </p:nvSpPr>
        <p:spPr>
          <a:xfrm>
            <a:off x="8472824" y="4795697"/>
            <a:ext cx="2880320" cy="1091958"/>
          </a:xfrm>
          <a:prstGeom prst="horizontalScroll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椭圆 15"/>
          <p:cNvSpPr/>
          <p:nvPr/>
        </p:nvSpPr>
        <p:spPr>
          <a:xfrm>
            <a:off x="2831062" y="4425274"/>
            <a:ext cx="2880320" cy="959084"/>
          </a:xfrm>
          <a:prstGeom prst="ellipse">
            <a:avLst/>
          </a:prstGeom>
          <a:solidFill>
            <a:srgbClr val="FFFF99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56</a:t>
            </a:fld>
            <a:endParaRPr lang="zh-CN" altLang="en-US"/>
          </a:p>
        </p:txBody>
      </p:sp>
      <p:sp>
        <p:nvSpPr>
          <p:cNvPr id="6" name="TextBox 5"/>
          <p:cNvSpPr txBox="1"/>
          <p:nvPr/>
        </p:nvSpPr>
        <p:spPr>
          <a:xfrm>
            <a:off x="383060" y="3749612"/>
            <a:ext cx="114015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b="1" dirty="0">
                <a:solidFill>
                  <a:srgbClr val="FF0000"/>
                </a:solidFill>
              </a:rPr>
              <a:t>phenyl ethers </a:t>
            </a:r>
            <a:r>
              <a:rPr lang="en-US" altLang="zh-CN" b="1" dirty="0">
                <a:solidFill>
                  <a:srgbClr val="0000FF"/>
                </a:solidFill>
              </a:rPr>
              <a:t>with a benzene ring bonded to oxygen </a:t>
            </a:r>
            <a:r>
              <a:rPr lang="en-US" altLang="zh-CN" b="1" dirty="0"/>
              <a:t>react with HBr or HI to give alkyl halides and </a:t>
            </a:r>
            <a:r>
              <a:rPr lang="en-US" altLang="zh-CN" b="1" dirty="0">
                <a:solidFill>
                  <a:srgbClr val="FF0000"/>
                </a:solidFill>
              </a:rPr>
              <a:t>phenols</a:t>
            </a:r>
            <a:r>
              <a:rPr lang="en-US" altLang="zh-CN" b="1" dirty="0"/>
              <a:t>.</a:t>
            </a:r>
            <a:endParaRPr lang="zh-CN" altLang="en-US" b="1" dirty="0"/>
          </a:p>
        </p:txBody>
      </p:sp>
      <p:sp>
        <p:nvSpPr>
          <p:cNvPr id="3" name="矩形 2"/>
          <p:cNvSpPr/>
          <p:nvPr/>
        </p:nvSpPr>
        <p:spPr>
          <a:xfrm>
            <a:off x="167680" y="184242"/>
            <a:ext cx="1161695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b="1" dirty="0"/>
              <a:t>Ethers are cleaved by heating with </a:t>
            </a:r>
            <a:r>
              <a:rPr lang="en-US" altLang="zh-CN" b="1" dirty="0" err="1"/>
              <a:t>HBr</a:t>
            </a:r>
            <a:r>
              <a:rPr lang="en-US" altLang="zh-CN" b="1" dirty="0"/>
              <a:t> or HI to give alkyl bromides or alkyl iodides, together with alcohols. In most cases, the alcohols react further to give alkyl bromides or alkyl iodides.</a:t>
            </a:r>
            <a:endParaRPr lang="zh-CN" altLang="en-US" b="1" dirty="0"/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2849736" y="1398811"/>
          <a:ext cx="5916463" cy="88522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892" name="CS ChemDraw Drawing" r:id="rId3" imgW="3553830" imgH="531594" progId="ChemDraw.Document.6.0">
                  <p:embed/>
                </p:oleObj>
              </mc:Choice>
              <mc:Fallback>
                <p:oleObj name="CS ChemDraw Drawing" r:id="rId3" imgW="3553830" imgH="531594" progId="ChemDraw.Document.6.0">
                  <p:embed/>
                  <p:pic>
                    <p:nvPicPr>
                      <p:cNvPr id="4" name="对象 3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849736" y="1398811"/>
                        <a:ext cx="5916463" cy="885224"/>
                      </a:xfrm>
                      <a:prstGeom prst="rect">
                        <a:avLst/>
                      </a:prstGeom>
                      <a:ln w="28575">
                        <a:solidFill>
                          <a:schemeClr val="bg1">
                            <a:lumMod val="85000"/>
                          </a:schemeClr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2697353" y="1052736"/>
          <a:ext cx="1294319" cy="44822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893" name="CS ChemDraw Drawing" r:id="rId5" imgW="816746" imgH="281852" progId="ChemDraw.Document.6.0">
                  <p:embed/>
                </p:oleObj>
              </mc:Choice>
              <mc:Fallback>
                <p:oleObj name="CS ChemDraw Drawing" r:id="rId5" imgW="816746" imgH="281852" progId="ChemDraw.Document.6.0">
                  <p:embed/>
                  <p:pic>
                    <p:nvPicPr>
                      <p:cNvPr id="5" name="对象 4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697353" y="1052736"/>
                        <a:ext cx="1294319" cy="44822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/>
        </p:nvGraphicFramePr>
        <p:xfrm>
          <a:off x="2567608" y="2506198"/>
          <a:ext cx="6536827" cy="964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894" name="CS ChemDraw Drawing" r:id="rId7" imgW="4294030" imgH="633869" progId="ChemDraw.Document.6.0">
                  <p:embed/>
                </p:oleObj>
              </mc:Choice>
              <mc:Fallback>
                <p:oleObj name="CS ChemDraw Drawing" r:id="rId7" imgW="4294030" imgH="633869" progId="ChemDraw.Document.6.0">
                  <p:embed/>
                  <p:pic>
                    <p:nvPicPr>
                      <p:cNvPr id="7" name="对象 6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567608" y="2506198"/>
                        <a:ext cx="6536827" cy="9642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/>
        </p:nvGraphicFramePr>
        <p:xfrm>
          <a:off x="1251162" y="5162440"/>
          <a:ext cx="6570744" cy="141459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895" name="CS ChemDraw Drawing" r:id="rId9" imgW="4527612" imgH="975184" progId="ChemDraw.Document.6.0">
                  <p:embed/>
                </p:oleObj>
              </mc:Choice>
              <mc:Fallback>
                <p:oleObj name="CS ChemDraw Drawing" r:id="rId9" imgW="4527612" imgH="975184" progId="ChemDraw.Document.6.0">
                  <p:embed/>
                  <p:pic>
                    <p:nvPicPr>
                      <p:cNvPr id="8" name="对象 7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251162" y="5162440"/>
                        <a:ext cx="6570744" cy="141459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/>
          <p:cNvGraphicFramePr>
            <a:graphicFrameLocks noChangeAspect="1"/>
          </p:cNvGraphicFramePr>
          <p:nvPr/>
        </p:nvGraphicFramePr>
        <p:xfrm>
          <a:off x="2305404" y="4750089"/>
          <a:ext cx="346056" cy="41438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896" name="CS ChemDraw Drawing" r:id="rId11" imgW="249758" imgH="298501" progId="ChemDraw.Document.6.0">
                  <p:embed/>
                </p:oleObj>
              </mc:Choice>
              <mc:Fallback>
                <p:oleObj name="CS ChemDraw Drawing" r:id="rId11" imgW="249758" imgH="298501" progId="ChemDraw.Document.6.0">
                  <p:embed/>
                  <p:pic>
                    <p:nvPicPr>
                      <p:cNvPr id="14" name="对象 13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2305404" y="4750089"/>
                        <a:ext cx="346056" cy="41438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文本框 14"/>
          <p:cNvSpPr txBox="1"/>
          <p:nvPr/>
        </p:nvSpPr>
        <p:spPr>
          <a:xfrm>
            <a:off x="2907717" y="4612429"/>
            <a:ext cx="29201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latin typeface="Consolas" panose="020B0609020204030204" pitchFamily="49" charset="0"/>
              </a:rPr>
              <a:t>only the bond between O and the alkyl C breaks</a:t>
            </a:r>
            <a:endParaRPr lang="zh-CN" altLang="en-US" sz="1600" b="1" dirty="0">
              <a:latin typeface="Consolas" panose="020B0609020204030204" pitchFamily="49" charset="0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8604328" y="4923784"/>
            <a:ext cx="297807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latin typeface="Consolas" panose="020B0609020204030204" pitchFamily="49" charset="0"/>
              </a:rPr>
              <a:t>the bond between O and the benzene carbon is strong enough to remain</a:t>
            </a:r>
            <a:endParaRPr lang="zh-CN" altLang="en-US" sz="1600" b="1" dirty="0">
              <a:latin typeface="Consolas" panose="020B0609020204030204" pitchFamily="49" charset="0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57</a:t>
            </a:fld>
            <a:endParaRPr lang="zh-CN" altLang="en-US"/>
          </a:p>
        </p:txBody>
      </p:sp>
      <p:sp>
        <p:nvSpPr>
          <p:cNvPr id="3" name="TextBox 2"/>
          <p:cNvSpPr txBox="1"/>
          <p:nvPr/>
        </p:nvSpPr>
        <p:spPr>
          <a:xfrm>
            <a:off x="0" y="265509"/>
            <a:ext cx="4398961" cy="46166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altLang="zh-CN" sz="2400" b="1" u="sng" dirty="0"/>
              <a:t>8-12-7</a:t>
            </a:r>
            <a:r>
              <a:rPr lang="en-US" altLang="zh-CN" sz="2400" b="1" dirty="0"/>
              <a:t> </a:t>
            </a:r>
            <a:r>
              <a:rPr lang="en-US" altLang="zh-CN" sz="2400" b="1" dirty="0">
                <a:solidFill>
                  <a:srgbClr val="0000FF"/>
                </a:solidFill>
              </a:rPr>
              <a:t>Autoxidation </a:t>
            </a:r>
            <a:r>
              <a:rPr lang="en-US" altLang="zh-CN" sz="2400" b="1" dirty="0"/>
              <a:t>of Ethers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46358" y="818117"/>
            <a:ext cx="1159328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b="1" dirty="0"/>
              <a:t>When ethers are exposed to atmospheric oxygen, they slowly oxidize to produce </a:t>
            </a:r>
            <a:r>
              <a:rPr lang="en-US" altLang="zh-CN" b="1" dirty="0" err="1"/>
              <a:t>hydroperoxides</a:t>
            </a:r>
            <a:r>
              <a:rPr lang="en-US" altLang="zh-CN" b="1" dirty="0"/>
              <a:t> and </a:t>
            </a:r>
            <a:r>
              <a:rPr lang="en-US" altLang="zh-CN" b="1" dirty="0" err="1"/>
              <a:t>dialkyl</a:t>
            </a:r>
            <a:r>
              <a:rPr lang="en-US" altLang="zh-CN" b="1" dirty="0"/>
              <a:t> peroxides.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CN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b="1" dirty="0"/>
              <a:t>Such a </a:t>
            </a:r>
            <a:r>
              <a:rPr lang="en-US" altLang="zh-CN" b="1" dirty="0">
                <a:solidFill>
                  <a:srgbClr val="0000FF"/>
                </a:solidFill>
              </a:rPr>
              <a:t>spontaneous oxidation by atmospheric oxygen</a:t>
            </a:r>
            <a:r>
              <a:rPr lang="en-US" altLang="zh-CN" b="1" dirty="0"/>
              <a:t> is called an autoxidation.</a:t>
            </a:r>
            <a:endParaRPr lang="zh-CN" altLang="en-US" b="1" dirty="0"/>
          </a:p>
        </p:txBody>
      </p:sp>
      <p:sp>
        <p:nvSpPr>
          <p:cNvPr id="7" name="TextBox 6"/>
          <p:cNvSpPr txBox="1"/>
          <p:nvPr/>
        </p:nvSpPr>
        <p:spPr>
          <a:xfrm>
            <a:off x="246358" y="4034828"/>
            <a:ext cx="11785213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b="1" i="1" dirty="0" err="1"/>
              <a:t>Hydroperoxides</a:t>
            </a:r>
            <a:r>
              <a:rPr lang="en-US" altLang="zh-CN" b="1" i="1" dirty="0"/>
              <a:t> and </a:t>
            </a:r>
            <a:r>
              <a:rPr lang="en-US" altLang="zh-CN" b="1" i="1" dirty="0" err="1"/>
              <a:t>dialkyl</a:t>
            </a:r>
            <a:r>
              <a:rPr lang="en-US" altLang="zh-CN" b="1" i="1" dirty="0"/>
              <a:t> peroxides are </a:t>
            </a:r>
            <a:r>
              <a:rPr lang="en-US" altLang="zh-CN" b="1" i="1" dirty="0">
                <a:solidFill>
                  <a:srgbClr val="FF0000"/>
                </a:solidFill>
              </a:rPr>
              <a:t>potentially explosive</a:t>
            </a:r>
            <a:r>
              <a:rPr lang="en-US" altLang="zh-CN" b="1" dirty="0"/>
              <a:t>.</a:t>
            </a:r>
          </a:p>
          <a:p>
            <a:pPr>
              <a:buFont typeface="Arial" pitchFamily="34" charset="0"/>
              <a:buChar char="•"/>
            </a:pPr>
            <a:endParaRPr lang="en-US" altLang="zh-CN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b="1" dirty="0"/>
              <a:t>Ethers should be brought in small quantities, kept in tightly sealed containers, and used promptly.</a:t>
            </a:r>
          </a:p>
          <a:p>
            <a:pPr>
              <a:buFont typeface="Arial" pitchFamily="34" charset="0"/>
              <a:buChar char="•"/>
            </a:pPr>
            <a:endParaRPr lang="en-US" altLang="zh-CN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b="1" dirty="0">
                <a:solidFill>
                  <a:srgbClr val="0000FF"/>
                </a:solidFill>
              </a:rPr>
              <a:t>Any procedure requiring evaporation or distillation should use peroxide-free ether. Otherwise, these operations concentrate the peroxides and an explosion may occur</a:t>
            </a:r>
            <a:r>
              <a:rPr lang="en-US" altLang="zh-CN" b="1" dirty="0"/>
              <a:t>.</a:t>
            </a:r>
          </a:p>
          <a:p>
            <a:pPr>
              <a:buFont typeface="Arial" pitchFamily="34" charset="0"/>
              <a:buChar char="•"/>
            </a:pPr>
            <a:endParaRPr lang="en-US" altLang="zh-CN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b="1" dirty="0"/>
              <a:t>Any ether that might be contaminated with peroxides should be discarded or treated to destroy the peroxides.</a:t>
            </a:r>
            <a:endParaRPr lang="zh-CN" altLang="en-US" b="1" dirty="0"/>
          </a:p>
        </p:txBody>
      </p:sp>
      <p:pic>
        <p:nvPicPr>
          <p:cNvPr id="24580" name="Picture 4" descr="http://t1.gstatic.com/images?q=tbn:ANd9GcT0EMJIWHLZMCkeojOai5U9TAhEmMgL3QsPRmO-7TYeMRDjAzrs0mpk3jw">
            <a:hlinkClick r:id="rId3"/>
          </p:cNvPr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9672704" y="2512009"/>
            <a:ext cx="864096" cy="1154819"/>
          </a:xfrm>
          <a:prstGeom prst="rect">
            <a:avLst/>
          </a:prstGeom>
          <a:noFill/>
        </p:spPr>
      </p:pic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2063552" y="2362952"/>
          <a:ext cx="7221336" cy="145293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556" name="CS ChemDraw Drawing" r:id="rId5" imgW="4497230" imgH="905018" progId="ChemDraw.Document.6.0">
                  <p:embed/>
                </p:oleObj>
              </mc:Choice>
              <mc:Fallback>
                <p:oleObj name="CS ChemDraw Drawing" r:id="rId5" imgW="4497230" imgH="905018" progId="ChemDraw.Document.6.0">
                  <p:embed/>
                  <p:pic>
                    <p:nvPicPr>
                      <p:cNvPr id="5" name="对象 4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063552" y="2362952"/>
                        <a:ext cx="7221336" cy="1452934"/>
                      </a:xfrm>
                      <a:prstGeom prst="rect">
                        <a:avLst/>
                      </a:prstGeom>
                      <a:ln w="28575">
                        <a:solidFill>
                          <a:schemeClr val="bg1">
                            <a:lumMod val="85000"/>
                          </a:schemeClr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椭圆 5"/>
          <p:cNvSpPr/>
          <p:nvPr/>
        </p:nvSpPr>
        <p:spPr>
          <a:xfrm rot="3239807">
            <a:off x="5782406" y="2313924"/>
            <a:ext cx="603492" cy="807212"/>
          </a:xfrm>
          <a:prstGeom prst="ellipse">
            <a:avLst/>
          </a:prstGeom>
          <a:noFill/>
          <a:ln>
            <a:solidFill>
              <a:srgbClr val="00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椭圆 9"/>
          <p:cNvSpPr/>
          <p:nvPr/>
        </p:nvSpPr>
        <p:spPr>
          <a:xfrm rot="5400000">
            <a:off x="7966120" y="2838850"/>
            <a:ext cx="436224" cy="720080"/>
          </a:xfrm>
          <a:prstGeom prst="ellipse">
            <a:avLst/>
          </a:prstGeom>
          <a:noFill/>
          <a:ln>
            <a:solidFill>
              <a:srgbClr val="00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横卷形 9"/>
          <p:cNvSpPr/>
          <p:nvPr/>
        </p:nvSpPr>
        <p:spPr>
          <a:xfrm>
            <a:off x="6338281" y="4941168"/>
            <a:ext cx="5574630" cy="1597745"/>
          </a:xfrm>
          <a:prstGeom prst="horizontalScroll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58</a:t>
            </a:fld>
            <a:endParaRPr lang="zh-CN" altLang="en-US"/>
          </a:p>
        </p:txBody>
      </p:sp>
      <p:sp>
        <p:nvSpPr>
          <p:cNvPr id="3" name="TextBox 2"/>
          <p:cNvSpPr txBox="1"/>
          <p:nvPr/>
        </p:nvSpPr>
        <p:spPr>
          <a:xfrm>
            <a:off x="0" y="231903"/>
            <a:ext cx="4015843" cy="46166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altLang="zh-CN" sz="2400" b="1" u="sng" dirty="0"/>
              <a:t>8-12-8</a:t>
            </a:r>
            <a:r>
              <a:rPr lang="en-US" altLang="zh-CN" sz="2400" b="1" dirty="0"/>
              <a:t> Epoxides (Oxiranes)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73616" y="914528"/>
            <a:ext cx="1153929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b="1" dirty="0"/>
              <a:t>Epoxides are oxygen-containing three-membered rings.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CN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b="1" dirty="0"/>
              <a:t>Epoxides have great </a:t>
            </a:r>
            <a:r>
              <a:rPr lang="en-US" altLang="zh-CN" b="1" dirty="0">
                <a:solidFill>
                  <a:srgbClr val="FF0000"/>
                </a:solidFill>
              </a:rPr>
              <a:t>ring strain</a:t>
            </a:r>
            <a:r>
              <a:rPr lang="en-US" altLang="zh-CN" b="1" dirty="0"/>
              <a:t>. The </a:t>
            </a:r>
            <a:r>
              <a:rPr lang="en-US" altLang="zh-CN" b="1" dirty="0">
                <a:solidFill>
                  <a:srgbClr val="FF0000"/>
                </a:solidFill>
              </a:rPr>
              <a:t>polar C-O bonds </a:t>
            </a:r>
            <a:r>
              <a:rPr lang="en-US" altLang="zh-CN" b="1" dirty="0"/>
              <a:t>are prone to nucleophiles and break. The cleavage of the C-O bond opens the ring and releases the ring strain.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CN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b="1" dirty="0"/>
              <a:t>Epoxides are </a:t>
            </a:r>
            <a:r>
              <a:rPr lang="en-US" altLang="zh-CN" b="1" dirty="0">
                <a:solidFill>
                  <a:srgbClr val="0000FF"/>
                </a:solidFill>
              </a:rPr>
              <a:t>reactive electrophiles</a:t>
            </a:r>
            <a:r>
              <a:rPr lang="en-US" altLang="zh-CN" b="1" dirty="0"/>
              <a:t> and valuable synthetic intermediates.</a:t>
            </a:r>
            <a:endParaRPr lang="zh-CN" altLang="en-US" b="1" dirty="0"/>
          </a:p>
        </p:txBody>
      </p:sp>
      <p:sp>
        <p:nvSpPr>
          <p:cNvPr id="6" name="TextBox 5"/>
          <p:cNvSpPr txBox="1"/>
          <p:nvPr/>
        </p:nvSpPr>
        <p:spPr>
          <a:xfrm>
            <a:off x="4464395" y="3724748"/>
            <a:ext cx="335773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000" b="1" dirty="0"/>
              <a:t>Peroxyacid epoxidation</a:t>
            </a:r>
          </a:p>
        </p:txBody>
      </p:sp>
      <p:sp>
        <p:nvSpPr>
          <p:cNvPr id="7" name="矩形 6"/>
          <p:cNvSpPr/>
          <p:nvPr/>
        </p:nvSpPr>
        <p:spPr>
          <a:xfrm>
            <a:off x="0" y="2828837"/>
            <a:ext cx="3036409" cy="40011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none">
            <a:spAutoFit/>
          </a:bodyPr>
          <a:lstStyle/>
          <a:p>
            <a:r>
              <a:rPr lang="en-US" altLang="zh-CN" sz="2000" b="1" dirty="0"/>
              <a:t>1. </a:t>
            </a:r>
            <a:r>
              <a:rPr lang="en-US" altLang="zh-CN" sz="2000" b="1" dirty="0">
                <a:solidFill>
                  <a:srgbClr val="0000FF"/>
                </a:solidFill>
              </a:rPr>
              <a:t>Synthesis</a:t>
            </a:r>
            <a:r>
              <a:rPr lang="en-US" altLang="zh-CN" sz="2000" b="1" dirty="0"/>
              <a:t> of Epoxides </a:t>
            </a:r>
            <a:endParaRPr lang="zh-CN" altLang="en-US" sz="2000" dirty="0"/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34716584"/>
              </p:ext>
            </p:extLst>
          </p:nvPr>
        </p:nvGraphicFramePr>
        <p:xfrm>
          <a:off x="296785" y="3456834"/>
          <a:ext cx="5988348" cy="3276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580" name="CS ChemDraw Drawing" r:id="rId3" imgW="4487761" imgH="2456195" progId="ChemDraw.Document.6.0">
                  <p:embed/>
                </p:oleObj>
              </mc:Choice>
              <mc:Fallback>
                <p:oleObj name="CS ChemDraw Drawing" r:id="rId3" imgW="4487761" imgH="2456195" progId="ChemDraw.Document.6.0">
                  <p:embed/>
                  <p:pic>
                    <p:nvPicPr>
                      <p:cNvPr id="8" name="对象 7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96785" y="3456834"/>
                        <a:ext cx="5988348" cy="32769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TextBox 5"/>
          <p:cNvSpPr txBox="1"/>
          <p:nvPr/>
        </p:nvSpPr>
        <p:spPr>
          <a:xfrm>
            <a:off x="4464395" y="4695205"/>
            <a:ext cx="50405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000" b="1" dirty="0"/>
              <a:t>Base-promoted cyclization of </a:t>
            </a:r>
            <a:r>
              <a:rPr lang="en-US" altLang="zh-CN" sz="2000" b="1" dirty="0" err="1"/>
              <a:t>halohydrins</a:t>
            </a:r>
            <a:endParaRPr lang="en-US" altLang="zh-CN" sz="2000" b="1" dirty="0"/>
          </a:p>
        </p:txBody>
      </p:sp>
      <p:sp>
        <p:nvSpPr>
          <p:cNvPr id="9" name="文本框 8"/>
          <p:cNvSpPr txBox="1"/>
          <p:nvPr/>
        </p:nvSpPr>
        <p:spPr>
          <a:xfrm>
            <a:off x="6477735" y="5202270"/>
            <a:ext cx="5435175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latin typeface="Consolas" panose="020B0609020204030204" pitchFamily="49" charset="0"/>
              </a:rPr>
              <a:t>It is a variation of the Williamson ether synthesis, where an alkoxide ion and a halogen atom are located in the same molecule. The alkoxide displaces a halide ion and form a ring.</a:t>
            </a:r>
            <a:endParaRPr lang="zh-CN" altLang="en-US" sz="1600" b="1" dirty="0">
              <a:latin typeface="Consolas" panose="020B0609020204030204" pitchFamily="49" charset="0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76120" y="183073"/>
            <a:ext cx="1816733" cy="1469416"/>
          </a:xfrm>
          <a:prstGeom prst="rect">
            <a:avLst/>
          </a:prstGeom>
          <a:effectLst>
            <a:softEdge rad="127000"/>
          </a:effectLst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直接箭头连接符 14"/>
          <p:cNvCxnSpPr/>
          <p:nvPr/>
        </p:nvCxnSpPr>
        <p:spPr>
          <a:xfrm flipV="1">
            <a:off x="6744072" y="3811576"/>
            <a:ext cx="1296144" cy="1119631"/>
          </a:xfrm>
          <a:prstGeom prst="straightConnector1">
            <a:avLst/>
          </a:prstGeom>
          <a:ln w="7620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59</a:t>
            </a:fld>
            <a:endParaRPr lang="zh-CN" altLang="en-US"/>
          </a:p>
        </p:txBody>
      </p:sp>
      <p:sp>
        <p:nvSpPr>
          <p:cNvPr id="3" name="TextBox 2"/>
          <p:cNvSpPr txBox="1"/>
          <p:nvPr/>
        </p:nvSpPr>
        <p:spPr>
          <a:xfrm>
            <a:off x="0" y="209837"/>
            <a:ext cx="3485249" cy="40011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altLang="zh-CN" sz="2000" b="1" u="sng" dirty="0"/>
              <a:t>2.</a:t>
            </a:r>
            <a:r>
              <a:rPr lang="en-US" altLang="zh-CN" sz="2000" b="1" dirty="0"/>
              <a:t> </a:t>
            </a:r>
            <a:r>
              <a:rPr lang="en-US" altLang="zh-CN" sz="2000" b="1" dirty="0">
                <a:solidFill>
                  <a:srgbClr val="FF0000"/>
                </a:solidFill>
              </a:rPr>
              <a:t>Ring Opening </a:t>
            </a:r>
            <a:r>
              <a:rPr lang="en-US" altLang="zh-CN" sz="2000" b="1" dirty="0"/>
              <a:t>of Epoxides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0336" y="710020"/>
            <a:ext cx="1159328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b="1" dirty="0"/>
              <a:t>Epoxides are much more </a:t>
            </a:r>
            <a:r>
              <a:rPr lang="en-US" altLang="zh-CN" b="1" dirty="0">
                <a:solidFill>
                  <a:srgbClr val="FF0000"/>
                </a:solidFill>
              </a:rPr>
              <a:t>reactive</a:t>
            </a:r>
            <a:r>
              <a:rPr lang="en-US" altLang="zh-CN" b="1" dirty="0"/>
              <a:t> than common dialkyl ethers due to </a:t>
            </a:r>
            <a:r>
              <a:rPr lang="en-US" altLang="zh-CN" b="1" i="1" dirty="0">
                <a:solidFill>
                  <a:srgbClr val="0000FF"/>
                </a:solidFill>
              </a:rPr>
              <a:t>the large strain associated with the three-membered ring</a:t>
            </a:r>
            <a:r>
              <a:rPr lang="en-US" altLang="zh-CN" b="1" dirty="0"/>
              <a:t>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CN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b="1" dirty="0"/>
              <a:t>Ring Opening of epoxides takes place under </a:t>
            </a:r>
            <a:r>
              <a:rPr lang="en-US" altLang="zh-CN" b="1" i="1" dirty="0">
                <a:solidFill>
                  <a:srgbClr val="0000FF"/>
                </a:solidFill>
              </a:rPr>
              <a:t>nucleophilic (basic) conditions </a:t>
            </a:r>
            <a:r>
              <a:rPr lang="en-US" altLang="zh-CN" b="1" dirty="0"/>
              <a:t>(and also acidic conditions).</a:t>
            </a:r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/>
        </p:nvGraphicFramePr>
        <p:xfrm>
          <a:off x="2495600" y="3080051"/>
          <a:ext cx="5927528" cy="14630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694" name="CS ChemDraw Drawing" r:id="rId3" imgW="4122001" imgH="1017600" progId="ChemDraw.Document.6.0">
                  <p:embed/>
                </p:oleObj>
              </mc:Choice>
              <mc:Fallback>
                <p:oleObj name="CS ChemDraw Drawing" r:id="rId3" imgW="4122001" imgH="1017600" progId="ChemDraw.Document.6.0">
                  <p:embed/>
                  <p:pic>
                    <p:nvPicPr>
                      <p:cNvPr id="6" name="对象 5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495600" y="3080051"/>
                        <a:ext cx="5927528" cy="146305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文本框 6"/>
          <p:cNvSpPr txBox="1"/>
          <p:nvPr/>
        </p:nvSpPr>
        <p:spPr>
          <a:xfrm>
            <a:off x="0" y="2138494"/>
            <a:ext cx="4488729" cy="36933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altLang="zh-CN" b="1" dirty="0"/>
              <a:t>(1) The use of </a:t>
            </a:r>
            <a:r>
              <a:rPr lang="en-US" altLang="zh-CN" b="1" dirty="0">
                <a:solidFill>
                  <a:srgbClr val="FF0000"/>
                </a:solidFill>
              </a:rPr>
              <a:t>hydroxide</a:t>
            </a:r>
            <a:r>
              <a:rPr lang="en-US" altLang="zh-CN" b="1" dirty="0"/>
              <a:t> as a </a:t>
            </a:r>
            <a:r>
              <a:rPr lang="en-US" altLang="zh-CN" b="1" dirty="0">
                <a:solidFill>
                  <a:srgbClr val="FF0000"/>
                </a:solidFill>
              </a:rPr>
              <a:t>nucleophile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graphicFrame>
        <p:nvGraphicFramePr>
          <p:cNvPr id="12" name="对象 11"/>
          <p:cNvGraphicFramePr>
            <a:graphicFrameLocks noChangeAspect="1"/>
          </p:cNvGraphicFramePr>
          <p:nvPr/>
        </p:nvGraphicFramePr>
        <p:xfrm>
          <a:off x="1199456" y="4931207"/>
          <a:ext cx="6418891" cy="142514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695" name="CS ChemDraw Drawing" r:id="rId5" imgW="4440808" imgH="985887" progId="ChemDraw.Document.6.0">
                  <p:embed/>
                </p:oleObj>
              </mc:Choice>
              <mc:Fallback>
                <p:oleObj name="CS ChemDraw Drawing" r:id="rId5" imgW="4440808" imgH="985887" progId="ChemDraw.Document.6.0">
                  <p:embed/>
                  <p:pic>
                    <p:nvPicPr>
                      <p:cNvPr id="12" name="对象 1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199456" y="4931207"/>
                        <a:ext cx="6418891" cy="142514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椭圆 15"/>
          <p:cNvSpPr/>
          <p:nvPr/>
        </p:nvSpPr>
        <p:spPr>
          <a:xfrm>
            <a:off x="1559496" y="5344018"/>
            <a:ext cx="216024" cy="216024"/>
          </a:xfrm>
          <a:prstGeom prst="ellipse">
            <a:avLst/>
          </a:prstGeom>
          <a:noFill/>
          <a:ln>
            <a:solidFill>
              <a:srgbClr val="00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椭圆 16"/>
          <p:cNvSpPr/>
          <p:nvPr/>
        </p:nvSpPr>
        <p:spPr>
          <a:xfrm>
            <a:off x="1921011" y="5344018"/>
            <a:ext cx="216024" cy="216024"/>
          </a:xfrm>
          <a:prstGeom prst="ellipse">
            <a:avLst/>
          </a:prstGeom>
          <a:noFill/>
          <a:ln>
            <a:solidFill>
              <a:srgbClr val="00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文本框 19"/>
          <p:cNvSpPr txBox="1"/>
          <p:nvPr/>
        </p:nvSpPr>
        <p:spPr>
          <a:xfrm>
            <a:off x="3175350" y="5987019"/>
            <a:ext cx="55832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/>
              <a:t>Backside attack by the Nu results in </a:t>
            </a:r>
            <a:r>
              <a:rPr lang="en-US" altLang="zh-CN" b="1" i="1" dirty="0">
                <a:solidFill>
                  <a:srgbClr val="0000FF"/>
                </a:solidFill>
              </a:rPr>
              <a:t>anti</a:t>
            </a:r>
            <a:r>
              <a:rPr lang="en-US" altLang="zh-CN" b="1" dirty="0">
                <a:solidFill>
                  <a:srgbClr val="0000FF"/>
                </a:solidFill>
              </a:rPr>
              <a:t> stereochemistry</a:t>
            </a:r>
            <a:endParaRPr lang="zh-CN" altLang="en-US" b="1" dirty="0">
              <a:solidFill>
                <a:srgbClr val="0000FF"/>
              </a:solidFill>
            </a:endParaRPr>
          </a:p>
        </p:txBody>
      </p:sp>
      <p:sp>
        <p:nvSpPr>
          <p:cNvPr id="22" name="椭圆 21"/>
          <p:cNvSpPr/>
          <p:nvPr/>
        </p:nvSpPr>
        <p:spPr>
          <a:xfrm>
            <a:off x="6265894" y="4977028"/>
            <a:ext cx="432048" cy="288032"/>
          </a:xfrm>
          <a:prstGeom prst="ellipse">
            <a:avLst/>
          </a:prstGeom>
          <a:noFill/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椭圆 24"/>
          <p:cNvSpPr/>
          <p:nvPr/>
        </p:nvSpPr>
        <p:spPr>
          <a:xfrm>
            <a:off x="5647289" y="5598914"/>
            <a:ext cx="432048" cy="288032"/>
          </a:xfrm>
          <a:prstGeom prst="ellipse">
            <a:avLst/>
          </a:prstGeom>
          <a:noFill/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横卷形 10"/>
          <p:cNvSpPr/>
          <p:nvPr/>
        </p:nvSpPr>
        <p:spPr>
          <a:xfrm>
            <a:off x="4079776" y="2782667"/>
            <a:ext cx="5544616" cy="934365"/>
          </a:xfrm>
          <a:prstGeom prst="horizontalScroll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60</a:t>
            </a:fld>
            <a:endParaRPr lang="zh-CN" altLang="en-US"/>
          </a:p>
        </p:txBody>
      </p:sp>
      <p:sp>
        <p:nvSpPr>
          <p:cNvPr id="19" name="文本框 18"/>
          <p:cNvSpPr txBox="1"/>
          <p:nvPr/>
        </p:nvSpPr>
        <p:spPr>
          <a:xfrm>
            <a:off x="0" y="393633"/>
            <a:ext cx="4812536" cy="36933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altLang="zh-CN" b="1" dirty="0"/>
              <a:t>(2) The use of </a:t>
            </a:r>
            <a:r>
              <a:rPr lang="en-US" altLang="zh-CN" b="1" dirty="0">
                <a:solidFill>
                  <a:srgbClr val="FF0000"/>
                </a:solidFill>
              </a:rPr>
              <a:t>alkoxide ions</a:t>
            </a:r>
            <a:r>
              <a:rPr lang="en-US" altLang="zh-CN" b="1" dirty="0"/>
              <a:t> as a </a:t>
            </a:r>
            <a:r>
              <a:rPr lang="en-US" altLang="zh-CN" b="1" dirty="0">
                <a:solidFill>
                  <a:srgbClr val="FF0000"/>
                </a:solidFill>
              </a:rPr>
              <a:t>nucleophile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/>
        </p:nvGraphicFramePr>
        <p:xfrm>
          <a:off x="2495600" y="1196752"/>
          <a:ext cx="5594696" cy="115212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808" name="CS ChemDraw Drawing" r:id="rId3" imgW="3745982" imgH="772219" progId="ChemDraw.Document.6.0">
                  <p:embed/>
                </p:oleObj>
              </mc:Choice>
              <mc:Fallback>
                <p:oleObj name="CS ChemDraw Drawing" r:id="rId3" imgW="3745982" imgH="772219" progId="ChemDraw.Document.6.0">
                  <p:embed/>
                  <p:pic>
                    <p:nvPicPr>
                      <p:cNvPr id="3" name="对象 2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495600" y="1196752"/>
                        <a:ext cx="5594696" cy="115212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1703512" y="2634338"/>
          <a:ext cx="2223734" cy="792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809" name="CS ChemDraw Drawing" r:id="rId5" imgW="1319419" imgH="470546" progId="ChemDraw.Document.6.0">
                  <p:embed/>
                </p:oleObj>
              </mc:Choice>
              <mc:Fallback>
                <p:oleObj name="CS ChemDraw Drawing" r:id="rId5" imgW="1319419" imgH="470546" progId="ChemDraw.Document.6.0">
                  <p:embed/>
                  <p:pic>
                    <p:nvPicPr>
                      <p:cNvPr id="5" name="对象 4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703512" y="2634338"/>
                        <a:ext cx="2223734" cy="7920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矩形 6"/>
          <p:cNvSpPr/>
          <p:nvPr/>
        </p:nvSpPr>
        <p:spPr>
          <a:xfrm>
            <a:off x="4223792" y="2924944"/>
            <a:ext cx="54006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rgbClr val="0000FF"/>
                </a:solidFill>
                <a:latin typeface="Consolas" panose="020B0609020204030204" pitchFamily="49" charset="0"/>
              </a:rPr>
              <a:t>backside attack the less hindered C atom </a:t>
            </a:r>
            <a:r>
              <a:rPr lang="en-US" altLang="zh-CN" b="1" dirty="0">
                <a:latin typeface="Consolas" panose="020B0609020204030204" pitchFamily="49" charset="0"/>
              </a:rPr>
              <a:t>in an S</a:t>
            </a:r>
            <a:r>
              <a:rPr lang="en-US" altLang="zh-CN" b="1" baseline="-25000" dirty="0">
                <a:latin typeface="Consolas" panose="020B0609020204030204" pitchFamily="49" charset="0"/>
              </a:rPr>
              <a:t>N</a:t>
            </a:r>
            <a:r>
              <a:rPr lang="en-US" altLang="zh-CN" b="1" dirty="0">
                <a:latin typeface="Consolas" panose="020B0609020204030204" pitchFamily="49" charset="0"/>
              </a:rPr>
              <a:t>2 displacement</a:t>
            </a:r>
            <a:endParaRPr lang="zh-CN" altLang="en-US" b="1" dirty="0">
              <a:latin typeface="Consolas" panose="020B0609020204030204" pitchFamily="49" charset="0"/>
            </a:endParaRPr>
          </a:p>
        </p:txBody>
      </p:sp>
      <p:sp>
        <p:nvSpPr>
          <p:cNvPr id="10" name="椭圆 9"/>
          <p:cNvSpPr/>
          <p:nvPr/>
        </p:nvSpPr>
        <p:spPr>
          <a:xfrm>
            <a:off x="2423592" y="2886366"/>
            <a:ext cx="288032" cy="288032"/>
          </a:xfrm>
          <a:prstGeom prst="ellipse">
            <a:avLst/>
          </a:prstGeom>
          <a:noFill/>
          <a:ln w="1270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/>
          <p:cNvSpPr txBox="1"/>
          <p:nvPr/>
        </p:nvSpPr>
        <p:spPr>
          <a:xfrm>
            <a:off x="0" y="4121529"/>
            <a:ext cx="5333511" cy="36933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altLang="zh-CN" b="1" dirty="0"/>
              <a:t>(3) The use of </a:t>
            </a:r>
            <a:r>
              <a:rPr lang="en-US" altLang="zh-CN" b="1" dirty="0">
                <a:solidFill>
                  <a:srgbClr val="FF0000"/>
                </a:solidFill>
              </a:rPr>
              <a:t>Grignard reagents</a:t>
            </a:r>
            <a:r>
              <a:rPr lang="en-US" altLang="zh-CN" b="1" dirty="0"/>
              <a:t> as a </a:t>
            </a:r>
            <a:r>
              <a:rPr lang="en-US" altLang="zh-CN" b="1" dirty="0">
                <a:solidFill>
                  <a:srgbClr val="FF0000"/>
                </a:solidFill>
              </a:rPr>
              <a:t>nucleophile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graphicFrame>
        <p:nvGraphicFramePr>
          <p:cNvPr id="12" name="对象 11"/>
          <p:cNvGraphicFramePr>
            <a:graphicFrameLocks noChangeAspect="1"/>
          </p:cNvGraphicFramePr>
          <p:nvPr/>
        </p:nvGraphicFramePr>
        <p:xfrm>
          <a:off x="1907013" y="4853473"/>
          <a:ext cx="7750376" cy="16486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810" name="CS ChemDraw Drawing" r:id="rId7" imgW="5492318" imgH="1169031" progId="ChemDraw.Document.6.0">
                  <p:embed/>
                </p:oleObj>
              </mc:Choice>
              <mc:Fallback>
                <p:oleObj name="CS ChemDraw Drawing" r:id="rId7" imgW="5492318" imgH="1169031" progId="ChemDraw.Document.6.0">
                  <p:embed/>
                  <p:pic>
                    <p:nvPicPr>
                      <p:cNvPr id="12" name="对象 11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907013" y="4853473"/>
                        <a:ext cx="7750376" cy="164863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134</TotalTime>
  <Words>4384</Words>
  <Application>Microsoft Office PowerPoint</Application>
  <PresentationFormat>宽屏</PresentationFormat>
  <Paragraphs>579</Paragraphs>
  <Slides>60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60</vt:i4>
      </vt:variant>
    </vt:vector>
  </HeadingPairs>
  <TitlesOfParts>
    <vt:vector size="67" baseType="lpstr">
      <vt:lpstr>等线</vt:lpstr>
      <vt:lpstr>等线 Light</vt:lpstr>
      <vt:lpstr>Arial</vt:lpstr>
      <vt:lpstr>Comic Sans MS</vt:lpstr>
      <vt:lpstr>Consolas</vt:lpstr>
      <vt:lpstr>Office 主题​​</vt:lpstr>
      <vt:lpstr>CS ChemDraw Drawing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luo</dc:creator>
  <cp:lastModifiedBy>luo</cp:lastModifiedBy>
  <cp:revision>95</cp:revision>
  <dcterms:created xsi:type="dcterms:W3CDTF">2026-10-15T06:06:48Z</dcterms:created>
  <dcterms:modified xsi:type="dcterms:W3CDTF">2026-10-21T08:18:10Z</dcterms:modified>
</cp:coreProperties>
</file>