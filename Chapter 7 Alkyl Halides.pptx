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handoutMasterIdLst>
    <p:handoutMasterId r:id="rId39"/>
  </p:handoutMasterIdLst>
  <p:sldIdLst>
    <p:sldId id="256" r:id="rId2"/>
    <p:sldId id="257" r:id="rId3"/>
    <p:sldId id="258" r:id="rId4"/>
    <p:sldId id="259" r:id="rId5"/>
    <p:sldId id="260" r:id="rId6"/>
    <p:sldId id="303" r:id="rId7"/>
    <p:sldId id="304" r:id="rId8"/>
    <p:sldId id="264" r:id="rId9"/>
    <p:sldId id="263" r:id="rId10"/>
    <p:sldId id="265" r:id="rId11"/>
    <p:sldId id="266" r:id="rId12"/>
    <p:sldId id="267" r:id="rId13"/>
    <p:sldId id="268" r:id="rId14"/>
    <p:sldId id="269" r:id="rId15"/>
    <p:sldId id="274" r:id="rId16"/>
    <p:sldId id="275" r:id="rId17"/>
    <p:sldId id="277" r:id="rId18"/>
    <p:sldId id="279" r:id="rId19"/>
    <p:sldId id="281" r:id="rId20"/>
    <p:sldId id="282" r:id="rId21"/>
    <p:sldId id="284" r:id="rId22"/>
    <p:sldId id="285" r:id="rId23"/>
    <p:sldId id="288" r:id="rId24"/>
    <p:sldId id="289" r:id="rId25"/>
    <p:sldId id="290" r:id="rId26"/>
    <p:sldId id="291" r:id="rId27"/>
    <p:sldId id="294" r:id="rId28"/>
    <p:sldId id="307" r:id="rId29"/>
    <p:sldId id="298" r:id="rId30"/>
    <p:sldId id="308" r:id="rId31"/>
    <p:sldId id="299" r:id="rId32"/>
    <p:sldId id="309" r:id="rId33"/>
    <p:sldId id="300" r:id="rId34"/>
    <p:sldId id="302" r:id="rId35"/>
    <p:sldId id="280" r:id="rId36"/>
    <p:sldId id="312" r:id="rId37"/>
  </p:sldIdLst>
  <p:sldSz cx="12192000" cy="6858000"/>
  <p:notesSz cx="9144000" cy="6858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479" autoAdjust="0"/>
    <p:restoredTop sz="94660"/>
  </p:normalViewPr>
  <p:slideViewPr>
    <p:cSldViewPr>
      <p:cViewPr varScale="1">
        <p:scale>
          <a:sx n="72" d="100"/>
          <a:sy n="72" d="100"/>
        </p:scale>
        <p:origin x="760" y="52"/>
      </p:cViewPr>
      <p:guideLst>
        <p:guide orient="horz" pos="2160"/>
        <p:guide pos="3840"/>
      </p:guideLst>
    </p:cSldViewPr>
  </p:slideViewPr>
  <p:notesTextViewPr>
    <p:cViewPr>
      <p:scale>
        <a:sx n="100" d="100"/>
        <a:sy n="100" d="100"/>
      </p:scale>
      <p:origin x="0" y="0"/>
    </p:cViewPr>
  </p:notesTextViewPr>
  <p:sorterViewPr>
    <p:cViewPr>
      <p:scale>
        <a:sx n="66" d="100"/>
        <a:sy n="66" d="100"/>
      </p:scale>
      <p:origin x="0" y="-497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image" Target="../media/image3.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image" Target="../media/image5.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image" Target="../media/image7.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image" Target="../media/image12.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image" Target="../media/image15.e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image" Target="../media/image17.e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image" Target="../media/image19.e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2.emf"/><Relationship Id="rId1" Type="http://schemas.openxmlformats.org/officeDocument/2006/relationships/image" Target="../media/image21.emf"/><Relationship Id="rId5" Type="http://schemas.openxmlformats.org/officeDocument/2006/relationships/image" Target="../media/image25.emf"/><Relationship Id="rId4" Type="http://schemas.openxmlformats.org/officeDocument/2006/relationships/image" Target="../media/image24.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6.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7.e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image" Target="../media/image28.e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image" Target="../media/image31.emf"/><Relationship Id="rId1" Type="http://schemas.openxmlformats.org/officeDocument/2006/relationships/image" Target="../media/image30.emf"/><Relationship Id="rId4" Type="http://schemas.openxmlformats.org/officeDocument/2006/relationships/image" Target="../media/image33.e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image" Target="../media/image34.e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image" Target="../media/image36.e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image" Target="../media/image39.emf"/><Relationship Id="rId1" Type="http://schemas.openxmlformats.org/officeDocument/2006/relationships/image" Target="../media/image38.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41.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42.e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44.emf"/><Relationship Id="rId2" Type="http://schemas.openxmlformats.org/officeDocument/2006/relationships/image" Target="../media/image43.emf"/><Relationship Id="rId1" Type="http://schemas.openxmlformats.org/officeDocument/2006/relationships/image" Target="../media/image42.emf"/></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46.emf"/><Relationship Id="rId1" Type="http://schemas.openxmlformats.org/officeDocument/2006/relationships/image" Target="../media/image45.e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48.emf"/><Relationship Id="rId1" Type="http://schemas.openxmlformats.org/officeDocument/2006/relationships/image" Target="../media/image47.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49.e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50.e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51.emf"/></Relationships>
</file>

<file path=ppt/drawings/_rels/vmlDrawing27.vml.rels><?xml version="1.0" encoding="UTF-8" standalone="yes"?>
<Relationships xmlns="http://schemas.openxmlformats.org/package/2006/relationships"><Relationship Id="rId2" Type="http://schemas.openxmlformats.org/officeDocument/2006/relationships/image" Target="../media/image53.emf"/><Relationship Id="rId1" Type="http://schemas.openxmlformats.org/officeDocument/2006/relationships/image" Target="../media/image52.emf"/></Relationships>
</file>

<file path=ppt/drawings/_rels/vmlDrawing28.vml.rels><?xml version="1.0" encoding="UTF-8" standalone="yes"?>
<Relationships xmlns="http://schemas.openxmlformats.org/package/2006/relationships"><Relationship Id="rId2" Type="http://schemas.openxmlformats.org/officeDocument/2006/relationships/image" Target="../media/image55.emf"/><Relationship Id="rId1" Type="http://schemas.openxmlformats.org/officeDocument/2006/relationships/image" Target="../media/image54.emf"/></Relationships>
</file>

<file path=ppt/drawings/_rels/vmlDrawing29.vml.rels><?xml version="1.0" encoding="UTF-8" standalone="yes"?>
<Relationships xmlns="http://schemas.openxmlformats.org/package/2006/relationships"><Relationship Id="rId2" Type="http://schemas.openxmlformats.org/officeDocument/2006/relationships/image" Target="../media/image57.emf"/><Relationship Id="rId1" Type="http://schemas.openxmlformats.org/officeDocument/2006/relationships/image" Target="../media/image56.emf"/></Relationships>
</file>

<file path=ppt/drawings/_rels/vmlDrawing30.vml.rels><?xml version="1.0" encoding="UTF-8" standalone="yes"?>
<Relationships xmlns="http://schemas.openxmlformats.org/package/2006/relationships"><Relationship Id="rId2" Type="http://schemas.openxmlformats.org/officeDocument/2006/relationships/image" Target="../media/image59.emf"/><Relationship Id="rId1" Type="http://schemas.openxmlformats.org/officeDocument/2006/relationships/image" Target="../media/image58.emf"/></Relationships>
</file>

<file path=ppt/drawings/_rels/vmlDrawing31.vml.rels><?xml version="1.0" encoding="UTF-8" standalone="yes"?>
<Relationships xmlns="http://schemas.openxmlformats.org/package/2006/relationships"><Relationship Id="rId2" Type="http://schemas.openxmlformats.org/officeDocument/2006/relationships/image" Target="../media/image57.emf"/><Relationship Id="rId1" Type="http://schemas.openxmlformats.org/officeDocument/2006/relationships/image" Target="../media/image60.e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61.emf"/></Relationships>
</file>

<file path=ppt/drawings/_rels/vmlDrawing33.vml.rels><?xml version="1.0" encoding="UTF-8" standalone="yes"?>
<Relationships xmlns="http://schemas.openxmlformats.org/package/2006/relationships"><Relationship Id="rId3" Type="http://schemas.openxmlformats.org/officeDocument/2006/relationships/image" Target="../media/image64.emf"/><Relationship Id="rId2" Type="http://schemas.openxmlformats.org/officeDocument/2006/relationships/image" Target="../media/image63.emf"/><Relationship Id="rId1" Type="http://schemas.openxmlformats.org/officeDocument/2006/relationships/image" Target="../media/image62.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5179484" y="0"/>
            <a:ext cx="3962400" cy="342900"/>
          </a:xfrm>
          <a:prstGeom prst="rect">
            <a:avLst/>
          </a:prstGeom>
        </p:spPr>
        <p:txBody>
          <a:bodyPr vert="horz" lIns="91440" tIns="45720" rIns="91440" bIns="45720" rtlCol="0"/>
          <a:lstStyle>
            <a:lvl1pPr algn="r">
              <a:defRPr sz="1200"/>
            </a:lvl1pPr>
          </a:lstStyle>
          <a:p>
            <a:fld id="{5CF18460-20B8-4BB5-994D-87E11EBB9D04}" type="datetimeFigureOut">
              <a:rPr lang="zh-CN" altLang="en-US" smtClean="0"/>
              <a:pPr/>
              <a:t>2026/10/14</a:t>
            </a:fld>
            <a:endParaRPr lang="zh-CN" altLang="en-US"/>
          </a:p>
        </p:txBody>
      </p:sp>
      <p:sp>
        <p:nvSpPr>
          <p:cNvPr id="4" name="页脚占位符 3"/>
          <p:cNvSpPr>
            <a:spLocks noGrp="1"/>
          </p:cNvSpPr>
          <p:nvPr>
            <p:ph type="ftr" sz="quarter" idx="2"/>
          </p:nvPr>
        </p:nvSpPr>
        <p:spPr>
          <a:xfrm>
            <a:off x="0" y="6513910"/>
            <a:ext cx="3962400" cy="3429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5179484" y="6513910"/>
            <a:ext cx="3962400" cy="342900"/>
          </a:xfrm>
          <a:prstGeom prst="rect">
            <a:avLst/>
          </a:prstGeom>
        </p:spPr>
        <p:txBody>
          <a:bodyPr vert="horz" lIns="91440" tIns="45720" rIns="91440" bIns="45720" rtlCol="0" anchor="b"/>
          <a:lstStyle>
            <a:lvl1pPr algn="r">
              <a:defRPr sz="1200"/>
            </a:lvl1pPr>
          </a:lstStyle>
          <a:p>
            <a:fld id="{DD3E6B49-FC7E-4AD2-BDB7-EC275B14210B}" type="slidenum">
              <a:rPr lang="zh-CN" altLang="en-US" smtClean="0"/>
              <a:pPr/>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5179484" y="0"/>
            <a:ext cx="3962400" cy="342900"/>
          </a:xfrm>
          <a:prstGeom prst="rect">
            <a:avLst/>
          </a:prstGeom>
        </p:spPr>
        <p:txBody>
          <a:bodyPr vert="horz" lIns="91440" tIns="45720" rIns="91440" bIns="45720" rtlCol="0"/>
          <a:lstStyle>
            <a:lvl1pPr algn="r">
              <a:defRPr sz="1200"/>
            </a:lvl1pPr>
          </a:lstStyle>
          <a:p>
            <a:fld id="{DDFA257A-5DE3-4C3F-B691-CE6B87475888}" type="datetimeFigureOut">
              <a:rPr lang="zh-CN" altLang="en-US" smtClean="0"/>
              <a:pPr/>
              <a:t>2026/10/14</a:t>
            </a:fld>
            <a:endParaRPr lang="zh-CN" altLang="en-US"/>
          </a:p>
        </p:txBody>
      </p:sp>
      <p:sp>
        <p:nvSpPr>
          <p:cNvPr id="4" name="幻灯片图像占位符 3"/>
          <p:cNvSpPr>
            <a:spLocks noGrp="1" noRot="1" noChangeAspect="1"/>
          </p:cNvSpPr>
          <p:nvPr>
            <p:ph type="sldImg" idx="2"/>
          </p:nvPr>
        </p:nvSpPr>
        <p:spPr>
          <a:xfrm>
            <a:off x="2286000" y="514350"/>
            <a:ext cx="4572000" cy="257175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6513910"/>
            <a:ext cx="3962400" cy="3429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179484" y="6513910"/>
            <a:ext cx="3962400" cy="342900"/>
          </a:xfrm>
          <a:prstGeom prst="rect">
            <a:avLst/>
          </a:prstGeom>
        </p:spPr>
        <p:txBody>
          <a:bodyPr vert="horz" lIns="91440" tIns="45720" rIns="91440" bIns="45720" rtlCol="0" anchor="b"/>
          <a:lstStyle>
            <a:lvl1pPr algn="r">
              <a:defRPr sz="1200"/>
            </a:lvl1pPr>
          </a:lstStyle>
          <a:p>
            <a:fld id="{CD398AB1-A23A-4CA5-8A77-A98D0DA4D186}"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B268972D-11FA-4D09-BB19-9D7804AA4331}" type="datetime1">
              <a:rPr lang="zh-CN" altLang="en-US" smtClean="0"/>
              <a:pPr/>
              <a:t>2026/10/14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C0F0F471-FBD8-4361-AE62-2C076580FC03}" type="datetime1">
              <a:rPr lang="zh-CN" altLang="en-US" smtClean="0"/>
              <a:pPr/>
              <a:t>2026/10/14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EDC38CD7-916C-4099-A09B-2418F579AC5A}" type="datetime1">
              <a:rPr lang="zh-CN" altLang="en-US" smtClean="0"/>
              <a:pPr/>
              <a:t>2026/10/14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B55DADDE-F556-428A-BB00-6371DF1485EF}" type="datetime1">
              <a:rPr lang="zh-CN" altLang="en-US" smtClean="0"/>
              <a:pPr/>
              <a:t>2026/10/14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625CC0A8-4DB3-4873-BFF4-A0F1F0F95CF2}" type="datetime1">
              <a:rPr lang="zh-CN" altLang="en-US" smtClean="0"/>
              <a:pPr/>
              <a:t>2026/10/14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F1A5AD16-D091-42E2-9165-3BE7950F8925}" type="datetime1">
              <a:rPr lang="zh-CN" altLang="en-US" smtClean="0"/>
              <a:pPr/>
              <a:t>2026/10/14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8E339A6-1836-480D-A10C-869E0E3BF9B8}" type="datetime1">
              <a:rPr lang="zh-CN" altLang="en-US" smtClean="0"/>
              <a:pPr/>
              <a:t>2026/10/14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C960448-3EDA-4CFA-B272-B9CAB1FDFE98}" type="datetime1">
              <a:rPr lang="zh-CN" altLang="en-US" smtClean="0"/>
              <a:pPr/>
              <a:t>2026/10/14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A26434A-3411-4A94-9443-25B83B042DF3}" type="datetime1">
              <a:rPr lang="zh-CN" altLang="en-US" smtClean="0"/>
              <a:pPr/>
              <a:t>2026/10/14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D67C728-ECB2-4098-91E2-FE508D9939E6}" type="datetime1">
              <a:rPr lang="zh-CN" altLang="en-US" smtClean="0"/>
              <a:pPr/>
              <a:t>2026/10/14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D3F6C5A-FB60-4C41-BE94-7FD5B3745608}" type="datetime1">
              <a:rPr lang="zh-CN" altLang="en-US" smtClean="0"/>
              <a:pPr/>
              <a:t>2026/10/14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244B8CA-781C-4803-B767-9B48CE9E592A}" type="datetime1">
              <a:rPr lang="zh-CN" altLang="en-US" smtClean="0"/>
              <a:pPr/>
              <a:t>2026/10/14</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2.emf"/><Relationship Id="rId5" Type="http://schemas.openxmlformats.org/officeDocument/2006/relationships/oleObject" Target="../embeddings/oleObject2.bin"/><Relationship Id="rId4" Type="http://schemas.openxmlformats.org/officeDocument/2006/relationships/image" Target="../media/image1.emf"/></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4.emf"/><Relationship Id="rId5" Type="http://schemas.openxmlformats.org/officeDocument/2006/relationships/oleObject" Target="../embeddings/oleObject4.bin"/><Relationship Id="rId4" Type="http://schemas.openxmlformats.org/officeDocument/2006/relationships/image" Target="../media/image3.em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6.emf"/><Relationship Id="rId5" Type="http://schemas.openxmlformats.org/officeDocument/2006/relationships/oleObject" Target="../embeddings/oleObject6.bin"/><Relationship Id="rId4" Type="http://schemas.openxmlformats.org/officeDocument/2006/relationships/image" Target="../media/image5.e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8.emf"/><Relationship Id="rId5" Type="http://schemas.openxmlformats.org/officeDocument/2006/relationships/oleObject" Target="../embeddings/oleObject8.bin"/><Relationship Id="rId4" Type="http://schemas.openxmlformats.org/officeDocument/2006/relationships/image" Target="../media/image7.emf"/></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7.xml"/><Relationship Id="rId1" Type="http://schemas.openxmlformats.org/officeDocument/2006/relationships/vmlDrawing" Target="../drawings/vmlDrawing5.vml"/><Relationship Id="rId4" Type="http://schemas.openxmlformats.org/officeDocument/2006/relationships/image" Target="../media/image11.e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13.emf"/><Relationship Id="rId5" Type="http://schemas.openxmlformats.org/officeDocument/2006/relationships/oleObject" Target="../embeddings/oleObject11.bin"/><Relationship Id="rId4" Type="http://schemas.openxmlformats.org/officeDocument/2006/relationships/image" Target="../media/image12.e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7.xml"/><Relationship Id="rId1" Type="http://schemas.openxmlformats.org/officeDocument/2006/relationships/vmlDrawing" Target="../drawings/vmlDrawing7.vml"/><Relationship Id="rId4" Type="http://schemas.openxmlformats.org/officeDocument/2006/relationships/image" Target="../media/image14.e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16.emf"/><Relationship Id="rId5" Type="http://schemas.openxmlformats.org/officeDocument/2006/relationships/oleObject" Target="../embeddings/oleObject14.bin"/><Relationship Id="rId4" Type="http://schemas.openxmlformats.org/officeDocument/2006/relationships/image" Target="../media/image15.e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18.emf"/><Relationship Id="rId5" Type="http://schemas.openxmlformats.org/officeDocument/2006/relationships/oleObject" Target="../embeddings/oleObject16.bin"/><Relationship Id="rId4" Type="http://schemas.openxmlformats.org/officeDocument/2006/relationships/image" Target="../media/image17.e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image" Target="../media/image20.emf"/><Relationship Id="rId5" Type="http://schemas.openxmlformats.org/officeDocument/2006/relationships/oleObject" Target="../embeddings/oleObject18.bin"/><Relationship Id="rId4" Type="http://schemas.openxmlformats.org/officeDocument/2006/relationships/image" Target="../media/image19.emf"/></Relationships>
</file>

<file path=ppt/slides/_rels/slide13.xml.rels><?xml version="1.0" encoding="UTF-8" standalone="yes"?>
<Relationships xmlns="http://schemas.openxmlformats.org/package/2006/relationships"><Relationship Id="rId8" Type="http://schemas.openxmlformats.org/officeDocument/2006/relationships/image" Target="../media/image23.emf"/><Relationship Id="rId3" Type="http://schemas.openxmlformats.org/officeDocument/2006/relationships/oleObject" Target="../embeddings/oleObject19.bin"/><Relationship Id="rId7" Type="http://schemas.openxmlformats.org/officeDocument/2006/relationships/oleObject" Target="../embeddings/oleObject21.bin"/><Relationship Id="rId12" Type="http://schemas.openxmlformats.org/officeDocument/2006/relationships/image" Target="../media/image25.emf"/><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22.emf"/><Relationship Id="rId11" Type="http://schemas.openxmlformats.org/officeDocument/2006/relationships/oleObject" Target="../embeddings/oleObject23.bin"/><Relationship Id="rId5" Type="http://schemas.openxmlformats.org/officeDocument/2006/relationships/oleObject" Target="../embeddings/oleObject20.bin"/><Relationship Id="rId10" Type="http://schemas.openxmlformats.org/officeDocument/2006/relationships/image" Target="../media/image24.emf"/><Relationship Id="rId4" Type="http://schemas.openxmlformats.org/officeDocument/2006/relationships/image" Target="../media/image21.emf"/><Relationship Id="rId9" Type="http://schemas.openxmlformats.org/officeDocument/2006/relationships/oleObject" Target="../embeddings/oleObject22.bin"/></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7.xml"/><Relationship Id="rId1" Type="http://schemas.openxmlformats.org/officeDocument/2006/relationships/vmlDrawing" Target="../drawings/vmlDrawing12.vml"/><Relationship Id="rId4" Type="http://schemas.openxmlformats.org/officeDocument/2006/relationships/image" Target="../media/image26.e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7.xml"/><Relationship Id="rId1" Type="http://schemas.openxmlformats.org/officeDocument/2006/relationships/vmlDrawing" Target="../drawings/vmlDrawing13.vml"/><Relationship Id="rId4" Type="http://schemas.openxmlformats.org/officeDocument/2006/relationships/image" Target="../media/image27.e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image" Target="../media/image29.emf"/><Relationship Id="rId5" Type="http://schemas.openxmlformats.org/officeDocument/2006/relationships/oleObject" Target="../embeddings/oleObject27.bin"/><Relationship Id="rId4" Type="http://schemas.openxmlformats.org/officeDocument/2006/relationships/image" Target="../media/image28.emf"/></Relationships>
</file>

<file path=ppt/slides/_rels/slide17.xml.rels><?xml version="1.0" encoding="UTF-8" standalone="yes"?>
<Relationships xmlns="http://schemas.openxmlformats.org/package/2006/relationships"><Relationship Id="rId8" Type="http://schemas.openxmlformats.org/officeDocument/2006/relationships/image" Target="../media/image32.emf"/><Relationship Id="rId3" Type="http://schemas.openxmlformats.org/officeDocument/2006/relationships/oleObject" Target="../embeddings/oleObject28.bin"/><Relationship Id="rId7" Type="http://schemas.openxmlformats.org/officeDocument/2006/relationships/oleObject" Target="../embeddings/oleObject30.bin"/><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image" Target="../media/image31.emf"/><Relationship Id="rId5" Type="http://schemas.openxmlformats.org/officeDocument/2006/relationships/oleObject" Target="../embeddings/oleObject29.bin"/><Relationship Id="rId10" Type="http://schemas.openxmlformats.org/officeDocument/2006/relationships/image" Target="../media/image33.emf"/><Relationship Id="rId4" Type="http://schemas.openxmlformats.org/officeDocument/2006/relationships/image" Target="../media/image30.emf"/><Relationship Id="rId9" Type="http://schemas.openxmlformats.org/officeDocument/2006/relationships/oleObject" Target="../embeddings/oleObject31.bin"/></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image" Target="../media/image35.emf"/><Relationship Id="rId5" Type="http://schemas.openxmlformats.org/officeDocument/2006/relationships/oleObject" Target="../embeddings/oleObject33.bin"/><Relationship Id="rId4" Type="http://schemas.openxmlformats.org/officeDocument/2006/relationships/image" Target="../media/image34.e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image" Target="../media/image37.emf"/><Relationship Id="rId5" Type="http://schemas.openxmlformats.org/officeDocument/2006/relationships/oleObject" Target="../embeddings/oleObject35.bin"/><Relationship Id="rId4" Type="http://schemas.openxmlformats.org/officeDocument/2006/relationships/image" Target="../media/image36.emf"/></Relationships>
</file>

<file path=ppt/slides/_rels/slide20.xml.rels><?xml version="1.0" encoding="UTF-8" standalone="yes"?>
<Relationships xmlns="http://schemas.openxmlformats.org/package/2006/relationships"><Relationship Id="rId8" Type="http://schemas.openxmlformats.org/officeDocument/2006/relationships/image" Target="../media/image40.emf"/><Relationship Id="rId3" Type="http://schemas.openxmlformats.org/officeDocument/2006/relationships/oleObject" Target="../embeddings/oleObject36.bin"/><Relationship Id="rId7" Type="http://schemas.openxmlformats.org/officeDocument/2006/relationships/oleObject" Target="../embeddings/oleObject38.bin"/><Relationship Id="rId2" Type="http://schemas.openxmlformats.org/officeDocument/2006/relationships/slideLayout" Target="../slideLayouts/slideLayout7.xml"/><Relationship Id="rId1" Type="http://schemas.openxmlformats.org/officeDocument/2006/relationships/vmlDrawing" Target="../drawings/vmlDrawing18.vml"/><Relationship Id="rId6" Type="http://schemas.openxmlformats.org/officeDocument/2006/relationships/image" Target="../media/image39.emf"/><Relationship Id="rId5" Type="http://schemas.openxmlformats.org/officeDocument/2006/relationships/oleObject" Target="../embeddings/oleObject37.bin"/><Relationship Id="rId4" Type="http://schemas.openxmlformats.org/officeDocument/2006/relationships/image" Target="../media/image38.e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Layout" Target="../slideLayouts/slideLayout7.xml"/><Relationship Id="rId1" Type="http://schemas.openxmlformats.org/officeDocument/2006/relationships/vmlDrawing" Target="../drawings/vmlDrawing19.vml"/><Relationship Id="rId4" Type="http://schemas.openxmlformats.org/officeDocument/2006/relationships/image" Target="../media/image41.e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Layout" Target="../slideLayouts/slideLayout7.xml"/><Relationship Id="rId1" Type="http://schemas.openxmlformats.org/officeDocument/2006/relationships/vmlDrawing" Target="../drawings/vmlDrawing20.vml"/><Relationship Id="rId4" Type="http://schemas.openxmlformats.org/officeDocument/2006/relationships/image" Target="../media/image42.emf"/></Relationships>
</file>

<file path=ppt/slides/_rels/slide24.xml.rels><?xml version="1.0" encoding="UTF-8" standalone="yes"?>
<Relationships xmlns="http://schemas.openxmlformats.org/package/2006/relationships"><Relationship Id="rId8" Type="http://schemas.openxmlformats.org/officeDocument/2006/relationships/image" Target="../media/image44.emf"/><Relationship Id="rId3" Type="http://schemas.openxmlformats.org/officeDocument/2006/relationships/oleObject" Target="../embeddings/oleObject40.bin"/><Relationship Id="rId7" Type="http://schemas.openxmlformats.org/officeDocument/2006/relationships/oleObject" Target="../embeddings/oleObject42.bin"/><Relationship Id="rId2" Type="http://schemas.openxmlformats.org/officeDocument/2006/relationships/slideLayout" Target="../slideLayouts/slideLayout7.xml"/><Relationship Id="rId1" Type="http://schemas.openxmlformats.org/officeDocument/2006/relationships/vmlDrawing" Target="../drawings/vmlDrawing21.vml"/><Relationship Id="rId6" Type="http://schemas.openxmlformats.org/officeDocument/2006/relationships/image" Target="../media/image43.emf"/><Relationship Id="rId5" Type="http://schemas.openxmlformats.org/officeDocument/2006/relationships/oleObject" Target="../embeddings/oleObject41.bin"/><Relationship Id="rId4" Type="http://schemas.openxmlformats.org/officeDocument/2006/relationships/image" Target="../media/image42.e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slideLayout" Target="../slideLayouts/slideLayout7.xml"/><Relationship Id="rId1" Type="http://schemas.openxmlformats.org/officeDocument/2006/relationships/vmlDrawing" Target="../drawings/vmlDrawing22.vml"/><Relationship Id="rId6" Type="http://schemas.openxmlformats.org/officeDocument/2006/relationships/image" Target="../media/image46.emf"/><Relationship Id="rId5" Type="http://schemas.openxmlformats.org/officeDocument/2006/relationships/oleObject" Target="../embeddings/oleObject44.bin"/><Relationship Id="rId4" Type="http://schemas.openxmlformats.org/officeDocument/2006/relationships/image" Target="../media/image45.e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slideLayout" Target="../slideLayouts/slideLayout7.xml"/><Relationship Id="rId1" Type="http://schemas.openxmlformats.org/officeDocument/2006/relationships/vmlDrawing" Target="../drawings/vmlDrawing23.vml"/><Relationship Id="rId6" Type="http://schemas.openxmlformats.org/officeDocument/2006/relationships/image" Target="../media/image48.emf"/><Relationship Id="rId5" Type="http://schemas.openxmlformats.org/officeDocument/2006/relationships/oleObject" Target="../embeddings/oleObject46.bin"/><Relationship Id="rId4" Type="http://schemas.openxmlformats.org/officeDocument/2006/relationships/image" Target="../media/image47.e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47.bin"/><Relationship Id="rId2" Type="http://schemas.openxmlformats.org/officeDocument/2006/relationships/slideLayout" Target="../slideLayouts/slideLayout7.xml"/><Relationship Id="rId1" Type="http://schemas.openxmlformats.org/officeDocument/2006/relationships/vmlDrawing" Target="../drawings/vmlDrawing24.vml"/><Relationship Id="rId4" Type="http://schemas.openxmlformats.org/officeDocument/2006/relationships/image" Target="../media/image49.e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slideLayout" Target="../slideLayouts/slideLayout7.xml"/><Relationship Id="rId1" Type="http://schemas.openxmlformats.org/officeDocument/2006/relationships/vmlDrawing" Target="../drawings/vmlDrawing25.vml"/><Relationship Id="rId4" Type="http://schemas.openxmlformats.org/officeDocument/2006/relationships/image" Target="../media/image50.e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49.bin"/><Relationship Id="rId2" Type="http://schemas.openxmlformats.org/officeDocument/2006/relationships/slideLayout" Target="../slideLayouts/slideLayout7.xml"/><Relationship Id="rId1" Type="http://schemas.openxmlformats.org/officeDocument/2006/relationships/vmlDrawing" Target="../drawings/vmlDrawing26.vml"/><Relationship Id="rId4" Type="http://schemas.openxmlformats.org/officeDocument/2006/relationships/image" Target="../media/image51.emf"/></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50.bin"/><Relationship Id="rId2" Type="http://schemas.openxmlformats.org/officeDocument/2006/relationships/slideLayout" Target="../slideLayouts/slideLayout7.xml"/><Relationship Id="rId1" Type="http://schemas.openxmlformats.org/officeDocument/2006/relationships/vmlDrawing" Target="../drawings/vmlDrawing27.vml"/><Relationship Id="rId6" Type="http://schemas.openxmlformats.org/officeDocument/2006/relationships/image" Target="../media/image53.emf"/><Relationship Id="rId5" Type="http://schemas.openxmlformats.org/officeDocument/2006/relationships/oleObject" Target="../embeddings/oleObject51.bin"/><Relationship Id="rId4" Type="http://schemas.openxmlformats.org/officeDocument/2006/relationships/image" Target="../media/image52.e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slideLayout" Target="../slideLayouts/slideLayout7.xml"/><Relationship Id="rId1" Type="http://schemas.openxmlformats.org/officeDocument/2006/relationships/vmlDrawing" Target="../drawings/vmlDrawing28.vml"/><Relationship Id="rId6" Type="http://schemas.openxmlformats.org/officeDocument/2006/relationships/image" Target="../media/image55.emf"/><Relationship Id="rId5" Type="http://schemas.openxmlformats.org/officeDocument/2006/relationships/oleObject" Target="../embeddings/oleObject53.bin"/><Relationship Id="rId4" Type="http://schemas.openxmlformats.org/officeDocument/2006/relationships/image" Target="../media/image54.emf"/></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54.bin"/><Relationship Id="rId2" Type="http://schemas.openxmlformats.org/officeDocument/2006/relationships/slideLayout" Target="../slideLayouts/slideLayout7.xml"/><Relationship Id="rId1" Type="http://schemas.openxmlformats.org/officeDocument/2006/relationships/vmlDrawing" Target="../drawings/vmlDrawing29.vml"/><Relationship Id="rId6" Type="http://schemas.openxmlformats.org/officeDocument/2006/relationships/image" Target="../media/image57.emf"/><Relationship Id="rId5" Type="http://schemas.openxmlformats.org/officeDocument/2006/relationships/oleObject" Target="../embeddings/oleObject55.bin"/><Relationship Id="rId4" Type="http://schemas.openxmlformats.org/officeDocument/2006/relationships/image" Target="../media/image56.emf"/></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56.bin"/><Relationship Id="rId2" Type="http://schemas.openxmlformats.org/officeDocument/2006/relationships/slideLayout" Target="../slideLayouts/slideLayout7.xml"/><Relationship Id="rId1" Type="http://schemas.openxmlformats.org/officeDocument/2006/relationships/vmlDrawing" Target="../drawings/vmlDrawing30.vml"/><Relationship Id="rId6" Type="http://schemas.openxmlformats.org/officeDocument/2006/relationships/image" Target="../media/image59.emf"/><Relationship Id="rId5" Type="http://schemas.openxmlformats.org/officeDocument/2006/relationships/oleObject" Target="../embeddings/oleObject57.bin"/><Relationship Id="rId4" Type="http://schemas.openxmlformats.org/officeDocument/2006/relationships/image" Target="../media/image58.emf"/></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58.bin"/><Relationship Id="rId2" Type="http://schemas.openxmlformats.org/officeDocument/2006/relationships/slideLayout" Target="../slideLayouts/slideLayout7.xml"/><Relationship Id="rId1" Type="http://schemas.openxmlformats.org/officeDocument/2006/relationships/vmlDrawing" Target="../drawings/vmlDrawing31.vml"/><Relationship Id="rId6" Type="http://schemas.openxmlformats.org/officeDocument/2006/relationships/image" Target="../media/image57.emf"/><Relationship Id="rId5" Type="http://schemas.openxmlformats.org/officeDocument/2006/relationships/oleObject" Target="../embeddings/oleObject55.bin"/><Relationship Id="rId4" Type="http://schemas.openxmlformats.org/officeDocument/2006/relationships/image" Target="../media/image60.emf"/></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59.bin"/><Relationship Id="rId2" Type="http://schemas.openxmlformats.org/officeDocument/2006/relationships/slideLayout" Target="../slideLayouts/slideLayout7.xml"/><Relationship Id="rId1" Type="http://schemas.openxmlformats.org/officeDocument/2006/relationships/vmlDrawing" Target="../drawings/vmlDrawing32.vml"/><Relationship Id="rId4" Type="http://schemas.openxmlformats.org/officeDocument/2006/relationships/image" Target="../media/image61.emf"/></Relationships>
</file>

<file path=ppt/slides/_rels/slide36.xml.rels><?xml version="1.0" encoding="UTF-8" standalone="yes"?>
<Relationships xmlns="http://schemas.openxmlformats.org/package/2006/relationships"><Relationship Id="rId8" Type="http://schemas.openxmlformats.org/officeDocument/2006/relationships/image" Target="../media/image64.emf"/><Relationship Id="rId3" Type="http://schemas.openxmlformats.org/officeDocument/2006/relationships/oleObject" Target="../embeddings/oleObject60.bin"/><Relationship Id="rId7" Type="http://schemas.openxmlformats.org/officeDocument/2006/relationships/oleObject" Target="../embeddings/oleObject62.bin"/><Relationship Id="rId2" Type="http://schemas.openxmlformats.org/officeDocument/2006/relationships/slideLayout" Target="../slideLayouts/slideLayout7.xml"/><Relationship Id="rId1" Type="http://schemas.openxmlformats.org/officeDocument/2006/relationships/vmlDrawing" Target="../drawings/vmlDrawing33.vml"/><Relationship Id="rId6" Type="http://schemas.openxmlformats.org/officeDocument/2006/relationships/image" Target="../media/image63.emf"/><Relationship Id="rId5" Type="http://schemas.openxmlformats.org/officeDocument/2006/relationships/oleObject" Target="../embeddings/oleObject61.bin"/><Relationship Id="rId4" Type="http://schemas.openxmlformats.org/officeDocument/2006/relationships/image" Target="../media/image62.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0C913308-F349-4B6D-A68A-DD1791B4A57B}" type="slidenum">
              <a:rPr lang="zh-CN" altLang="en-US" smtClean="0"/>
              <a:pPr/>
              <a:t>1</a:t>
            </a:fld>
            <a:endParaRPr lang="zh-CN" altLang="en-US"/>
          </a:p>
        </p:txBody>
      </p:sp>
      <p:sp>
        <p:nvSpPr>
          <p:cNvPr id="5" name="TextBox 4"/>
          <p:cNvSpPr txBox="1"/>
          <p:nvPr/>
        </p:nvSpPr>
        <p:spPr>
          <a:xfrm>
            <a:off x="0" y="264203"/>
            <a:ext cx="12192000" cy="954107"/>
          </a:xfrm>
          <a:prstGeom prst="rect">
            <a:avLst/>
          </a:prstGeom>
          <a:solidFill>
            <a:schemeClr val="tx2">
              <a:lumMod val="20000"/>
              <a:lumOff val="80000"/>
            </a:schemeClr>
          </a:solidFill>
        </p:spPr>
        <p:txBody>
          <a:bodyPr wrap="square" rtlCol="0">
            <a:spAutoFit/>
          </a:bodyPr>
          <a:lstStyle/>
          <a:p>
            <a:pPr algn="ctr"/>
            <a:r>
              <a:rPr lang="en-US" altLang="zh-CN" sz="2800" b="1" dirty="0">
                <a:latin typeface="Microsoft Sans Serif" pitchFamily="34" charset="0"/>
                <a:cs typeface="Microsoft Sans Serif" pitchFamily="34" charset="0"/>
              </a:rPr>
              <a:t>Chapter 7 Alkyl Halides: </a:t>
            </a:r>
          </a:p>
          <a:p>
            <a:pPr algn="ctr"/>
            <a:r>
              <a:rPr lang="en-US" altLang="zh-CN" sz="2800" b="1" dirty="0">
                <a:latin typeface="Microsoft Sans Serif" pitchFamily="34" charset="0"/>
                <a:cs typeface="Microsoft Sans Serif" pitchFamily="34" charset="0"/>
              </a:rPr>
              <a:t>Nucleophilic Substitution and Elimination</a:t>
            </a:r>
            <a:endParaRPr lang="zh-CN" altLang="en-US" sz="2800" b="1" dirty="0">
              <a:latin typeface="Microsoft Sans Serif" pitchFamily="34" charset="0"/>
              <a:cs typeface="Microsoft Sans Serif" pitchFamily="34" charset="0"/>
            </a:endParaRPr>
          </a:p>
        </p:txBody>
      </p:sp>
      <p:sp>
        <p:nvSpPr>
          <p:cNvPr id="6" name="TextBox 5"/>
          <p:cNvSpPr txBox="1"/>
          <p:nvPr/>
        </p:nvSpPr>
        <p:spPr>
          <a:xfrm>
            <a:off x="335360" y="3617671"/>
            <a:ext cx="11247040" cy="1015663"/>
          </a:xfrm>
          <a:prstGeom prst="rect">
            <a:avLst/>
          </a:prstGeom>
          <a:noFill/>
        </p:spPr>
        <p:txBody>
          <a:bodyPr wrap="square" rtlCol="0">
            <a:spAutoFit/>
          </a:bodyPr>
          <a:lstStyle/>
          <a:p>
            <a:pPr>
              <a:buFont typeface="Arial" pitchFamily="34" charset="0"/>
              <a:buChar char="•"/>
            </a:pPr>
            <a:r>
              <a:rPr lang="en-US" altLang="zh-CN" sz="2000" b="1" dirty="0">
                <a:latin typeface="Microsoft Sans Serif" pitchFamily="34" charset="0"/>
                <a:cs typeface="Microsoft Sans Serif" pitchFamily="34" charset="0"/>
              </a:rPr>
              <a:t>  An </a:t>
            </a:r>
            <a:r>
              <a:rPr lang="en-US" altLang="zh-CN" sz="2000" b="1" dirty="0">
                <a:highlight>
                  <a:srgbClr val="FFFF00"/>
                </a:highlight>
                <a:latin typeface="Microsoft Sans Serif" pitchFamily="34" charset="0"/>
                <a:cs typeface="Microsoft Sans Serif" pitchFamily="34" charset="0"/>
              </a:rPr>
              <a:t>alkyl halide</a:t>
            </a:r>
            <a:r>
              <a:rPr lang="en-US" altLang="zh-CN" sz="2000" b="1" dirty="0">
                <a:latin typeface="Microsoft Sans Serif" pitchFamily="34" charset="0"/>
                <a:cs typeface="Microsoft Sans Serif" pitchFamily="34" charset="0"/>
              </a:rPr>
              <a:t> simply has </a:t>
            </a:r>
            <a:r>
              <a:rPr lang="en-US" altLang="zh-CN" sz="2000" b="1" dirty="0">
                <a:highlight>
                  <a:srgbClr val="00FFFF"/>
                </a:highlight>
                <a:latin typeface="Microsoft Sans Serif" pitchFamily="34" charset="0"/>
                <a:cs typeface="Microsoft Sans Serif" pitchFamily="34" charset="0"/>
              </a:rPr>
              <a:t>a halogen atom bonded to</a:t>
            </a:r>
            <a:r>
              <a:rPr lang="en-US" altLang="zh-CN" sz="2000" b="1" dirty="0">
                <a:latin typeface="Microsoft Sans Serif" pitchFamily="34" charset="0"/>
                <a:cs typeface="Microsoft Sans Serif" pitchFamily="34" charset="0"/>
              </a:rPr>
              <a:t> one of the </a:t>
            </a:r>
            <a:r>
              <a:rPr lang="en-US" altLang="zh-CN" sz="2000" b="1" i="1" dirty="0">
                <a:highlight>
                  <a:srgbClr val="00FFFF"/>
                </a:highlight>
                <a:latin typeface="Microsoft Sans Serif" pitchFamily="34" charset="0"/>
                <a:cs typeface="Microsoft Sans Serif" pitchFamily="34" charset="0"/>
              </a:rPr>
              <a:t>sp</a:t>
            </a:r>
            <a:r>
              <a:rPr lang="en-US" altLang="zh-CN" sz="2000" b="1" baseline="30000" dirty="0">
                <a:highlight>
                  <a:srgbClr val="00FFFF"/>
                </a:highlight>
                <a:latin typeface="Microsoft Sans Serif" pitchFamily="34" charset="0"/>
                <a:cs typeface="Microsoft Sans Serif" pitchFamily="34" charset="0"/>
              </a:rPr>
              <a:t>3</a:t>
            </a:r>
            <a:r>
              <a:rPr lang="en-US" altLang="zh-CN" sz="2000" b="1" dirty="0">
                <a:highlight>
                  <a:srgbClr val="00FFFF"/>
                </a:highlight>
                <a:latin typeface="Microsoft Sans Serif" pitchFamily="34" charset="0"/>
                <a:cs typeface="Microsoft Sans Serif" pitchFamily="34" charset="0"/>
              </a:rPr>
              <a:t> hybrid carbon</a:t>
            </a:r>
            <a:r>
              <a:rPr lang="en-US" altLang="zh-CN" sz="2000" b="1" dirty="0">
                <a:latin typeface="Microsoft Sans Serif" pitchFamily="34" charset="0"/>
                <a:cs typeface="Microsoft Sans Serif" pitchFamily="34" charset="0"/>
              </a:rPr>
              <a:t> atoms of an alkyl group.</a:t>
            </a:r>
          </a:p>
          <a:p>
            <a:pPr>
              <a:buFont typeface="Arial" pitchFamily="34" charset="0"/>
              <a:buChar char="•"/>
            </a:pPr>
            <a:r>
              <a:rPr lang="en-US" altLang="zh-CN" sz="2000" b="1" dirty="0">
                <a:latin typeface="Microsoft Sans Serif" pitchFamily="34" charset="0"/>
                <a:cs typeface="Microsoft Sans Serif" pitchFamily="34" charset="0"/>
              </a:rPr>
              <a:t> </a:t>
            </a:r>
            <a:r>
              <a:rPr lang="en-US" altLang="zh-CN" sz="2000" b="1" dirty="0">
                <a:highlight>
                  <a:srgbClr val="00FF00"/>
                </a:highlight>
                <a:latin typeface="Microsoft Sans Serif" pitchFamily="34" charset="0"/>
                <a:cs typeface="Microsoft Sans Serif" pitchFamily="34" charset="0"/>
              </a:rPr>
              <a:t>Halogen atom</a:t>
            </a:r>
            <a:r>
              <a:rPr lang="en-US" altLang="zh-CN" sz="2000" b="1" dirty="0">
                <a:latin typeface="Microsoft Sans Serif" pitchFamily="34" charset="0"/>
                <a:cs typeface="Microsoft Sans Serif" pitchFamily="34" charset="0"/>
              </a:rPr>
              <a:t> is the </a:t>
            </a:r>
            <a:r>
              <a:rPr lang="en-US" altLang="zh-CN" sz="2000" b="1" dirty="0">
                <a:highlight>
                  <a:srgbClr val="00FFFF"/>
                </a:highlight>
                <a:latin typeface="Microsoft Sans Serif" pitchFamily="34" charset="0"/>
                <a:cs typeface="Microsoft Sans Serif" pitchFamily="34" charset="0"/>
              </a:rPr>
              <a:t>functional group</a:t>
            </a:r>
            <a:r>
              <a:rPr lang="en-US" altLang="zh-CN" sz="2000" b="1" dirty="0">
                <a:latin typeface="Microsoft Sans Serif" pitchFamily="34" charset="0"/>
                <a:cs typeface="Microsoft Sans Serif" pitchFamily="34" charset="0"/>
              </a:rPr>
              <a:t> of alkyl halides.</a:t>
            </a:r>
            <a:endParaRPr lang="zh-CN" altLang="en-US" sz="2000" b="1" dirty="0">
              <a:latin typeface="Microsoft Sans Serif" pitchFamily="34" charset="0"/>
              <a:cs typeface="Microsoft Sans Serif" pitchFamily="34" charset="0"/>
            </a:endParaRPr>
          </a:p>
        </p:txBody>
      </p:sp>
      <p:sp>
        <p:nvSpPr>
          <p:cNvPr id="7" name="矩形 6"/>
          <p:cNvSpPr/>
          <p:nvPr/>
        </p:nvSpPr>
        <p:spPr>
          <a:xfrm>
            <a:off x="0" y="1350791"/>
            <a:ext cx="2323072" cy="461665"/>
          </a:xfrm>
          <a:prstGeom prst="rect">
            <a:avLst/>
          </a:prstGeom>
          <a:solidFill>
            <a:schemeClr val="tx2">
              <a:lumMod val="20000"/>
              <a:lumOff val="80000"/>
            </a:schemeClr>
          </a:solidFill>
        </p:spPr>
        <p:txBody>
          <a:bodyPr wrap="none">
            <a:spAutoFit/>
          </a:bodyPr>
          <a:lstStyle/>
          <a:p>
            <a:r>
              <a:rPr lang="en-US" altLang="zh-CN" sz="2400" b="1" dirty="0">
                <a:latin typeface="Microsoft Sans Serif" pitchFamily="34" charset="0"/>
                <a:cs typeface="Microsoft Sans Serif" pitchFamily="34" charset="0"/>
              </a:rPr>
              <a:t>7-1 Introduction</a:t>
            </a:r>
          </a:p>
        </p:txBody>
      </p:sp>
      <p:graphicFrame>
        <p:nvGraphicFramePr>
          <p:cNvPr id="8" name="Object 4"/>
          <p:cNvGraphicFramePr>
            <a:graphicFrameLocks noChangeAspect="1"/>
          </p:cNvGraphicFramePr>
          <p:nvPr>
            <p:extLst>
              <p:ext uri="{D42A27DB-BD31-4B8C-83A1-F6EECF244321}">
                <p14:modId xmlns:p14="http://schemas.microsoft.com/office/powerpoint/2010/main" val="1230653864"/>
              </p:ext>
            </p:extLst>
          </p:nvPr>
        </p:nvGraphicFramePr>
        <p:xfrm>
          <a:off x="2721022" y="1951672"/>
          <a:ext cx="6749955" cy="1477328"/>
        </p:xfrm>
        <a:graphic>
          <a:graphicData uri="http://schemas.openxmlformats.org/presentationml/2006/ole">
            <mc:AlternateContent xmlns:mc="http://schemas.openxmlformats.org/markup-compatibility/2006">
              <mc:Choice xmlns:v="urn:schemas-microsoft-com:vml" Requires="v">
                <p:oleObj spid="_x0000_s1886" name="CS ChemDraw Drawing" r:id="rId3" imgW="3887418" imgH="851640" progId="ChemDraw.Document.6.0">
                  <p:embed/>
                </p:oleObj>
              </mc:Choice>
              <mc:Fallback>
                <p:oleObj name="CS ChemDraw Drawing" r:id="rId3" imgW="3887418" imgH="851640" progId="ChemDraw.Document.6.0">
                  <p:embed/>
                  <p:pic>
                    <p:nvPicPr>
                      <p:cNvPr id="9"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21022" y="1951672"/>
                        <a:ext cx="6749955" cy="1477328"/>
                      </a:xfrm>
                      <a:prstGeom prst="rect">
                        <a:avLst/>
                      </a:prstGeom>
                      <a:noFill/>
                      <a:ln w="38100">
                        <a:solidFill>
                          <a:schemeClr val="accent1"/>
                        </a:solidFill>
                        <a:miter lim="800000"/>
                        <a:headEnd/>
                        <a:tailEnd/>
                      </a:ln>
                      <a:effectLst/>
                    </p:spPr>
                  </p:pic>
                </p:oleObj>
              </mc:Fallback>
            </mc:AlternateContent>
          </a:graphicData>
        </a:graphic>
      </p:graphicFrame>
      <p:sp>
        <p:nvSpPr>
          <p:cNvPr id="2" name="椭圆 1"/>
          <p:cNvSpPr/>
          <p:nvPr/>
        </p:nvSpPr>
        <p:spPr>
          <a:xfrm>
            <a:off x="6680201" y="1950203"/>
            <a:ext cx="1065087" cy="864096"/>
          </a:xfrm>
          <a:prstGeom prst="ellipse">
            <a:avLst/>
          </a:prstGeom>
          <a:no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3" name="对象 2"/>
          <p:cNvGraphicFramePr>
            <a:graphicFrameLocks noChangeAspect="1"/>
          </p:cNvGraphicFramePr>
          <p:nvPr>
            <p:extLst>
              <p:ext uri="{D42A27DB-BD31-4B8C-83A1-F6EECF244321}">
                <p14:modId xmlns:p14="http://schemas.microsoft.com/office/powerpoint/2010/main" val="2483520531"/>
              </p:ext>
            </p:extLst>
          </p:nvPr>
        </p:nvGraphicFramePr>
        <p:xfrm>
          <a:off x="1199456" y="4526256"/>
          <a:ext cx="9707496" cy="2136798"/>
        </p:xfrm>
        <a:graphic>
          <a:graphicData uri="http://schemas.openxmlformats.org/presentationml/2006/ole">
            <mc:AlternateContent xmlns:mc="http://schemas.openxmlformats.org/markup-compatibility/2006">
              <mc:Choice xmlns:v="urn:schemas-microsoft-com:vml" Requires="v">
                <p:oleObj spid="_x0000_s1887" name="CS ChemDraw Drawing" r:id="rId5" imgW="5365664" imgH="1180924" progId="ChemDraw.Document.6.0">
                  <p:embed/>
                </p:oleObj>
              </mc:Choice>
              <mc:Fallback>
                <p:oleObj name="CS ChemDraw Drawing" r:id="rId5" imgW="5365664" imgH="1180924" progId="ChemDraw.Document.6.0">
                  <p:embed/>
                  <p:pic>
                    <p:nvPicPr>
                      <p:cNvPr id="0" name=""/>
                      <p:cNvPicPr/>
                      <p:nvPr/>
                    </p:nvPicPr>
                    <p:blipFill>
                      <a:blip r:embed="rId6"/>
                      <a:stretch>
                        <a:fillRect/>
                      </a:stretch>
                    </p:blipFill>
                    <p:spPr>
                      <a:xfrm>
                        <a:off x="1199456" y="4526256"/>
                        <a:ext cx="9707496" cy="2136798"/>
                      </a:xfrm>
                      <a:prstGeom prst="rect">
                        <a:avLst/>
                      </a:prstGeom>
                    </p:spPr>
                  </p:pic>
                </p:oleObj>
              </mc:Fallback>
            </mc:AlternateContent>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2</a:t>
            </a:fld>
            <a:endParaRPr lang="zh-CN" altLang="en-US"/>
          </a:p>
        </p:txBody>
      </p:sp>
      <p:sp>
        <p:nvSpPr>
          <p:cNvPr id="3" name="TextBox 2"/>
          <p:cNvSpPr txBox="1"/>
          <p:nvPr/>
        </p:nvSpPr>
        <p:spPr>
          <a:xfrm>
            <a:off x="479376" y="1160620"/>
            <a:ext cx="10681488" cy="1015663"/>
          </a:xfrm>
          <a:prstGeom prst="rect">
            <a:avLst/>
          </a:prstGeom>
          <a:noFill/>
        </p:spPr>
        <p:txBody>
          <a:bodyPr wrap="square" rtlCol="0">
            <a:spAutoFit/>
          </a:bodyPr>
          <a:lstStyle/>
          <a:p>
            <a:pPr>
              <a:buFont typeface="Arial" pitchFamily="34" charset="0"/>
              <a:buChar char="•"/>
            </a:pPr>
            <a:r>
              <a:rPr lang="en-US" altLang="zh-CN" sz="2000" b="1" dirty="0">
                <a:latin typeface="Microsoft Sans Serif" pitchFamily="34" charset="0"/>
                <a:cs typeface="Microsoft Sans Serif" pitchFamily="34" charset="0"/>
              </a:rPr>
              <a:t> Constructed by </a:t>
            </a:r>
            <a:r>
              <a:rPr lang="en-US" altLang="zh-CN" sz="2000" b="1" dirty="0">
                <a:solidFill>
                  <a:srgbClr val="0000FF"/>
                </a:solidFill>
                <a:highlight>
                  <a:srgbClr val="FFFF00"/>
                </a:highlight>
                <a:latin typeface="Microsoft Sans Serif" pitchFamily="34" charset="0"/>
                <a:cs typeface="Microsoft Sans Serif" pitchFamily="34" charset="0"/>
              </a:rPr>
              <a:t>naming the alkyl group </a:t>
            </a:r>
            <a:r>
              <a:rPr lang="en-US" altLang="zh-CN" sz="2000" b="1" dirty="0">
                <a:latin typeface="Microsoft Sans Serif" pitchFamily="34" charset="0"/>
                <a:cs typeface="Microsoft Sans Serif" pitchFamily="34" charset="0"/>
              </a:rPr>
              <a:t>and then </a:t>
            </a:r>
            <a:r>
              <a:rPr lang="en-US" altLang="zh-CN" sz="2000" b="1" dirty="0">
                <a:solidFill>
                  <a:srgbClr val="0000FF"/>
                </a:solidFill>
                <a:highlight>
                  <a:srgbClr val="FFFF00"/>
                </a:highlight>
                <a:latin typeface="Microsoft Sans Serif" pitchFamily="34" charset="0"/>
                <a:cs typeface="Microsoft Sans Serif" pitchFamily="34" charset="0"/>
              </a:rPr>
              <a:t>the halide</a:t>
            </a:r>
            <a:r>
              <a:rPr lang="en-US" altLang="zh-CN" sz="2000" b="1" dirty="0">
                <a:latin typeface="Microsoft Sans Serif" pitchFamily="34" charset="0"/>
                <a:cs typeface="Microsoft Sans Serif" pitchFamily="34" charset="0"/>
              </a:rPr>
              <a:t>. </a:t>
            </a:r>
          </a:p>
          <a:p>
            <a:pPr>
              <a:buFont typeface="Arial" pitchFamily="34" charset="0"/>
              <a:buChar char="•"/>
            </a:pPr>
            <a:r>
              <a:rPr lang="en-US" altLang="zh-CN" sz="2000" b="1" dirty="0">
                <a:latin typeface="Microsoft Sans Serif" pitchFamily="34" charset="0"/>
                <a:cs typeface="Microsoft Sans Serif" pitchFamily="34" charset="0"/>
              </a:rPr>
              <a:t> This is the origin of the term </a:t>
            </a:r>
            <a:r>
              <a:rPr lang="en-US" altLang="zh-CN" sz="2000" b="1" dirty="0">
                <a:highlight>
                  <a:srgbClr val="FFFF00"/>
                </a:highlight>
                <a:latin typeface="Microsoft Sans Serif" pitchFamily="34" charset="0"/>
                <a:cs typeface="Microsoft Sans Serif" pitchFamily="34" charset="0"/>
              </a:rPr>
              <a:t>alkyl halide</a:t>
            </a:r>
            <a:r>
              <a:rPr lang="en-US" altLang="zh-CN" sz="2000" b="1" dirty="0">
                <a:latin typeface="Microsoft Sans Serif" pitchFamily="34" charset="0"/>
                <a:cs typeface="Microsoft Sans Serif" pitchFamily="34" charset="0"/>
              </a:rPr>
              <a:t>. </a:t>
            </a:r>
          </a:p>
          <a:p>
            <a:pPr>
              <a:buFont typeface="Arial" pitchFamily="34" charset="0"/>
              <a:buChar char="•"/>
            </a:pPr>
            <a:r>
              <a:rPr lang="en-US" altLang="zh-CN" sz="2000" b="1" dirty="0">
                <a:latin typeface="Microsoft Sans Serif" pitchFamily="34" charset="0"/>
                <a:cs typeface="Microsoft Sans Serif" pitchFamily="34" charset="0"/>
              </a:rPr>
              <a:t> Common names are useful only for simple alkyl halides.</a:t>
            </a:r>
          </a:p>
        </p:txBody>
      </p:sp>
      <p:sp>
        <p:nvSpPr>
          <p:cNvPr id="6" name="矩形 5"/>
          <p:cNvSpPr/>
          <p:nvPr/>
        </p:nvSpPr>
        <p:spPr>
          <a:xfrm>
            <a:off x="0" y="160265"/>
            <a:ext cx="2632452" cy="461665"/>
          </a:xfrm>
          <a:prstGeom prst="rect">
            <a:avLst/>
          </a:prstGeom>
          <a:solidFill>
            <a:schemeClr val="tx2">
              <a:lumMod val="20000"/>
              <a:lumOff val="80000"/>
            </a:schemeClr>
          </a:solidFill>
        </p:spPr>
        <p:txBody>
          <a:bodyPr wrap="none">
            <a:spAutoFit/>
          </a:bodyPr>
          <a:lstStyle/>
          <a:p>
            <a:r>
              <a:rPr lang="en-US" altLang="zh-CN" sz="2400" b="1" dirty="0">
                <a:latin typeface="Microsoft Sans Serif" pitchFamily="34" charset="0"/>
                <a:cs typeface="Microsoft Sans Serif" pitchFamily="34" charset="0"/>
              </a:rPr>
              <a:t>7-2 Nomenclature</a:t>
            </a:r>
          </a:p>
        </p:txBody>
      </p:sp>
      <p:sp>
        <p:nvSpPr>
          <p:cNvPr id="7" name="矩形 6"/>
          <p:cNvSpPr/>
          <p:nvPr/>
        </p:nvSpPr>
        <p:spPr>
          <a:xfrm>
            <a:off x="0" y="715342"/>
            <a:ext cx="3719736" cy="400110"/>
          </a:xfrm>
          <a:prstGeom prst="rect">
            <a:avLst/>
          </a:prstGeom>
          <a:solidFill>
            <a:schemeClr val="tx2">
              <a:lumMod val="20000"/>
              <a:lumOff val="80000"/>
            </a:schemeClr>
          </a:solidFill>
        </p:spPr>
        <p:txBody>
          <a:bodyPr wrap="square">
            <a:spAutoFit/>
          </a:bodyPr>
          <a:lstStyle/>
          <a:p>
            <a:r>
              <a:rPr lang="en-US" altLang="zh-CN" sz="2000" b="1" dirty="0">
                <a:latin typeface="Microsoft Sans Serif" pitchFamily="34" charset="0"/>
                <a:cs typeface="Microsoft Sans Serif" pitchFamily="34" charset="0"/>
              </a:rPr>
              <a:t>7-2-1</a:t>
            </a:r>
            <a:r>
              <a:rPr lang="en-US" altLang="zh-CN" sz="2000" b="1" dirty="0">
                <a:solidFill>
                  <a:srgbClr val="FF0000"/>
                </a:solidFill>
                <a:latin typeface="Microsoft Sans Serif" pitchFamily="34" charset="0"/>
                <a:cs typeface="Microsoft Sans Serif" pitchFamily="34" charset="0"/>
              </a:rPr>
              <a:t> </a:t>
            </a:r>
            <a:r>
              <a:rPr lang="en-US" altLang="zh-CN" sz="2000" b="1" dirty="0">
                <a:latin typeface="Microsoft Sans Serif" pitchFamily="34" charset="0"/>
                <a:cs typeface="Microsoft Sans Serif" pitchFamily="34" charset="0"/>
              </a:rPr>
              <a:t>Common or trivial names</a:t>
            </a:r>
          </a:p>
        </p:txBody>
      </p:sp>
      <p:sp>
        <p:nvSpPr>
          <p:cNvPr id="8" name="矩形 7"/>
          <p:cNvSpPr/>
          <p:nvPr/>
        </p:nvSpPr>
        <p:spPr>
          <a:xfrm>
            <a:off x="479376" y="2677010"/>
            <a:ext cx="11233248" cy="707886"/>
          </a:xfrm>
          <a:prstGeom prst="rect">
            <a:avLst/>
          </a:prstGeom>
        </p:spPr>
        <p:txBody>
          <a:bodyPr wrap="square">
            <a:spAutoFit/>
          </a:bodyPr>
          <a:lstStyle/>
          <a:p>
            <a:pPr>
              <a:buFont typeface="Arial" pitchFamily="34" charset="0"/>
              <a:buChar char="•"/>
            </a:pPr>
            <a:r>
              <a:rPr lang="en-US" altLang="zh-CN" sz="2000" b="1" dirty="0">
                <a:latin typeface="Microsoft Sans Serif" pitchFamily="34" charset="0"/>
                <a:cs typeface="Microsoft Sans Serif" pitchFamily="34" charset="0"/>
              </a:rPr>
              <a:t> Treating an alkyl halide as </a:t>
            </a:r>
            <a:r>
              <a:rPr lang="en-US" altLang="zh-CN" sz="2000" b="1" dirty="0">
                <a:highlight>
                  <a:srgbClr val="00FFFF"/>
                </a:highlight>
                <a:latin typeface="Microsoft Sans Serif" pitchFamily="34" charset="0"/>
                <a:cs typeface="Microsoft Sans Serif" pitchFamily="34" charset="0"/>
              </a:rPr>
              <a:t>an alkane (base name) with a halo-substituent</a:t>
            </a:r>
            <a:r>
              <a:rPr lang="en-US" altLang="zh-CN" sz="2000" b="1" dirty="0">
                <a:latin typeface="Microsoft Sans Serif" pitchFamily="34" charset="0"/>
                <a:cs typeface="Microsoft Sans Serif" pitchFamily="34" charset="0"/>
              </a:rPr>
              <a:t>. The result is a systematic </a:t>
            </a:r>
            <a:r>
              <a:rPr lang="en-US" altLang="zh-CN" sz="2000" b="1" dirty="0" err="1">
                <a:highlight>
                  <a:srgbClr val="00FFFF"/>
                </a:highlight>
                <a:latin typeface="Microsoft Sans Serif" pitchFamily="34" charset="0"/>
                <a:cs typeface="Microsoft Sans Serif" pitchFamily="34" charset="0"/>
              </a:rPr>
              <a:t>haloalkane</a:t>
            </a:r>
            <a:r>
              <a:rPr lang="en-US" altLang="zh-CN" sz="2000" b="1" dirty="0">
                <a:solidFill>
                  <a:srgbClr val="FF0000"/>
                </a:solidFill>
                <a:latin typeface="Microsoft Sans Serif" pitchFamily="34" charset="0"/>
                <a:cs typeface="Microsoft Sans Serif" pitchFamily="34" charset="0"/>
              </a:rPr>
              <a:t> </a:t>
            </a:r>
            <a:r>
              <a:rPr lang="en-US" altLang="zh-CN" sz="2000" b="1" dirty="0">
                <a:latin typeface="Microsoft Sans Serif" pitchFamily="34" charset="0"/>
                <a:cs typeface="Microsoft Sans Serif" pitchFamily="34" charset="0"/>
              </a:rPr>
              <a:t>name.</a:t>
            </a:r>
          </a:p>
        </p:txBody>
      </p:sp>
      <p:sp>
        <p:nvSpPr>
          <p:cNvPr id="9" name="矩形 8"/>
          <p:cNvSpPr/>
          <p:nvPr/>
        </p:nvSpPr>
        <p:spPr>
          <a:xfrm>
            <a:off x="0" y="2227965"/>
            <a:ext cx="3775393" cy="400110"/>
          </a:xfrm>
          <a:prstGeom prst="rect">
            <a:avLst/>
          </a:prstGeom>
          <a:solidFill>
            <a:schemeClr val="tx2">
              <a:lumMod val="20000"/>
              <a:lumOff val="80000"/>
            </a:schemeClr>
          </a:solidFill>
        </p:spPr>
        <p:txBody>
          <a:bodyPr wrap="none">
            <a:spAutoFit/>
          </a:bodyPr>
          <a:lstStyle/>
          <a:p>
            <a:r>
              <a:rPr lang="en-US" altLang="zh-CN" sz="2000" b="1" dirty="0">
                <a:latin typeface="Microsoft Sans Serif" pitchFamily="34" charset="0"/>
                <a:cs typeface="Microsoft Sans Serif" pitchFamily="34" charset="0"/>
              </a:rPr>
              <a:t>7-2-2 The IUPAC nomenclature</a:t>
            </a:r>
          </a:p>
        </p:txBody>
      </p:sp>
      <p:graphicFrame>
        <p:nvGraphicFramePr>
          <p:cNvPr id="12" name="对象 11"/>
          <p:cNvGraphicFramePr>
            <a:graphicFrameLocks noChangeAspect="1"/>
          </p:cNvGraphicFramePr>
          <p:nvPr>
            <p:extLst>
              <p:ext uri="{D42A27DB-BD31-4B8C-83A1-F6EECF244321}">
                <p14:modId xmlns:p14="http://schemas.microsoft.com/office/powerpoint/2010/main" val="302198391"/>
              </p:ext>
            </p:extLst>
          </p:nvPr>
        </p:nvGraphicFramePr>
        <p:xfrm>
          <a:off x="1237938" y="5302471"/>
          <a:ext cx="9168751" cy="1259473"/>
        </p:xfrm>
        <a:graphic>
          <a:graphicData uri="http://schemas.openxmlformats.org/presentationml/2006/ole">
            <mc:AlternateContent xmlns:mc="http://schemas.openxmlformats.org/markup-compatibility/2006">
              <mc:Choice xmlns:v="urn:schemas-microsoft-com:vml" Requires="v">
                <p:oleObj spid="_x0000_s2889" name="CS ChemDraw Drawing" r:id="rId3" imgW="5327786" imgH="731388" progId="ChemDraw.Document.6.0">
                  <p:embed/>
                </p:oleObj>
              </mc:Choice>
              <mc:Fallback>
                <p:oleObj name="CS ChemDraw Drawing" r:id="rId3" imgW="5327786" imgH="731388" progId="ChemDraw.Document.6.0">
                  <p:embed/>
                  <p:pic>
                    <p:nvPicPr>
                      <p:cNvPr id="0" name=""/>
                      <p:cNvPicPr/>
                      <p:nvPr/>
                    </p:nvPicPr>
                    <p:blipFill>
                      <a:blip r:embed="rId4"/>
                      <a:stretch>
                        <a:fillRect/>
                      </a:stretch>
                    </p:blipFill>
                    <p:spPr>
                      <a:xfrm>
                        <a:off x="1237938" y="5302471"/>
                        <a:ext cx="9168751" cy="1259473"/>
                      </a:xfrm>
                      <a:prstGeom prst="rect">
                        <a:avLst/>
                      </a:prstGeom>
                    </p:spPr>
                  </p:pic>
                </p:oleObj>
              </mc:Fallback>
            </mc:AlternateContent>
          </a:graphicData>
        </a:graphic>
      </p:graphicFrame>
      <p:sp>
        <p:nvSpPr>
          <p:cNvPr id="4" name="椭圆 3"/>
          <p:cNvSpPr/>
          <p:nvPr/>
        </p:nvSpPr>
        <p:spPr>
          <a:xfrm>
            <a:off x="5966572" y="5752187"/>
            <a:ext cx="720080" cy="36004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5" name="对象 4">
            <a:extLst>
              <a:ext uri="{FF2B5EF4-FFF2-40B4-BE49-F238E27FC236}">
                <a16:creationId xmlns:a16="http://schemas.microsoft.com/office/drawing/2014/main" id="{F382278B-3EC5-4641-ADD9-1C2B53690DB2}"/>
              </a:ext>
            </a:extLst>
          </p:cNvPr>
          <p:cNvGraphicFramePr>
            <a:graphicFrameLocks noChangeAspect="1"/>
          </p:cNvGraphicFramePr>
          <p:nvPr>
            <p:extLst>
              <p:ext uri="{D42A27DB-BD31-4B8C-83A1-F6EECF244321}">
                <p14:modId xmlns:p14="http://schemas.microsoft.com/office/powerpoint/2010/main" val="214469581"/>
              </p:ext>
            </p:extLst>
          </p:nvPr>
        </p:nvGraphicFramePr>
        <p:xfrm>
          <a:off x="1271464" y="3448654"/>
          <a:ext cx="9390217" cy="1503253"/>
        </p:xfrm>
        <a:graphic>
          <a:graphicData uri="http://schemas.openxmlformats.org/presentationml/2006/ole">
            <mc:AlternateContent xmlns:mc="http://schemas.openxmlformats.org/markup-compatibility/2006">
              <mc:Choice xmlns:v="urn:schemas-microsoft-com:vml" Requires="v">
                <p:oleObj spid="_x0000_s2890" name="CS ChemDraw Drawing" r:id="rId5" imgW="5830854" imgH="933957" progId="ChemDraw.Document.6.0">
                  <p:embed/>
                </p:oleObj>
              </mc:Choice>
              <mc:Fallback>
                <p:oleObj name="CS ChemDraw Drawing" r:id="rId5" imgW="5830854" imgH="933957" progId="ChemDraw.Document.6.0">
                  <p:embed/>
                  <p:pic>
                    <p:nvPicPr>
                      <p:cNvPr id="0" name=""/>
                      <p:cNvPicPr/>
                      <p:nvPr/>
                    </p:nvPicPr>
                    <p:blipFill>
                      <a:blip r:embed="rId6"/>
                      <a:stretch>
                        <a:fillRect/>
                      </a:stretch>
                    </p:blipFill>
                    <p:spPr>
                      <a:xfrm>
                        <a:off x="1271464" y="3448654"/>
                        <a:ext cx="9390217" cy="1503253"/>
                      </a:xfrm>
                      <a:prstGeom prst="rect">
                        <a:avLst/>
                      </a:prstGeom>
                    </p:spPr>
                  </p:pic>
                </p:oleObj>
              </mc:Fallback>
            </mc:AlternateContent>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3</a:t>
            </a:fld>
            <a:endParaRPr lang="zh-CN" altLang="en-US"/>
          </a:p>
        </p:txBody>
      </p:sp>
      <p:sp>
        <p:nvSpPr>
          <p:cNvPr id="3" name="矩形 2"/>
          <p:cNvSpPr/>
          <p:nvPr/>
        </p:nvSpPr>
        <p:spPr>
          <a:xfrm>
            <a:off x="407368" y="899033"/>
            <a:ext cx="8640960" cy="1631216"/>
          </a:xfrm>
          <a:prstGeom prst="rect">
            <a:avLst/>
          </a:prstGeom>
        </p:spPr>
        <p:txBody>
          <a:bodyPr wrap="square">
            <a:spAutoFit/>
          </a:bodyPr>
          <a:lstStyle/>
          <a:p>
            <a:pPr marL="285750" indent="-285750">
              <a:buFont typeface="Arial" panose="020B0604020202020204" pitchFamily="34" charset="0"/>
              <a:buChar char="•"/>
            </a:pPr>
            <a:r>
              <a:rPr lang="en-US" altLang="zh-CN" sz="2000" b="1" dirty="0">
                <a:latin typeface="Microsoft Sans Serif" pitchFamily="34" charset="0"/>
                <a:cs typeface="Microsoft Sans Serif" pitchFamily="34" charset="0"/>
              </a:rPr>
              <a:t>A compound of formula </a:t>
            </a:r>
            <a:r>
              <a:rPr lang="en-US" altLang="zh-CN" sz="2000" b="1" dirty="0">
                <a:solidFill>
                  <a:srgbClr val="0000FF"/>
                </a:solidFill>
                <a:latin typeface="Microsoft Sans Serif" pitchFamily="34" charset="0"/>
                <a:cs typeface="Microsoft Sans Serif" pitchFamily="34" charset="0"/>
              </a:rPr>
              <a:t>CH</a:t>
            </a:r>
            <a:r>
              <a:rPr lang="en-US" altLang="zh-CN" sz="2000" b="1" baseline="-25000" dirty="0">
                <a:solidFill>
                  <a:srgbClr val="0000FF"/>
                </a:solidFill>
                <a:latin typeface="Microsoft Sans Serif" pitchFamily="34" charset="0"/>
                <a:cs typeface="Microsoft Sans Serif" pitchFamily="34" charset="0"/>
              </a:rPr>
              <a:t>2</a:t>
            </a:r>
            <a:r>
              <a:rPr lang="en-US" altLang="zh-CN" sz="2000" b="1" dirty="0">
                <a:solidFill>
                  <a:srgbClr val="0000FF"/>
                </a:solidFill>
                <a:latin typeface="Microsoft Sans Serif" pitchFamily="34" charset="0"/>
                <a:cs typeface="Microsoft Sans Serif" pitchFamily="34" charset="0"/>
              </a:rPr>
              <a:t>X</a:t>
            </a:r>
            <a:r>
              <a:rPr lang="en-US" altLang="zh-CN" sz="2000" b="1" baseline="-25000" dirty="0">
                <a:solidFill>
                  <a:srgbClr val="0000FF"/>
                </a:solidFill>
                <a:latin typeface="Microsoft Sans Serif" pitchFamily="34" charset="0"/>
                <a:cs typeface="Microsoft Sans Serif" pitchFamily="34" charset="0"/>
              </a:rPr>
              <a:t>2</a:t>
            </a:r>
            <a:r>
              <a:rPr lang="en-US" altLang="zh-CN" sz="2000" b="1" dirty="0">
                <a:solidFill>
                  <a:srgbClr val="FF0000"/>
                </a:solidFill>
                <a:latin typeface="Microsoft Sans Serif" pitchFamily="34" charset="0"/>
                <a:cs typeface="Microsoft Sans Serif" pitchFamily="34" charset="0"/>
              </a:rPr>
              <a:t> </a:t>
            </a:r>
            <a:r>
              <a:rPr lang="en-US" altLang="zh-CN" sz="2000" b="1" dirty="0">
                <a:latin typeface="Microsoft Sans Serif" pitchFamily="34" charset="0"/>
                <a:cs typeface="Microsoft Sans Serif" pitchFamily="34" charset="0"/>
              </a:rPr>
              <a:t>is called a </a:t>
            </a:r>
            <a:r>
              <a:rPr lang="en-US" altLang="zh-CN" sz="2000" b="1" dirty="0">
                <a:solidFill>
                  <a:srgbClr val="0000FF"/>
                </a:solidFill>
                <a:latin typeface="Microsoft Sans Serif" pitchFamily="34" charset="0"/>
                <a:cs typeface="Microsoft Sans Serif" pitchFamily="34" charset="0"/>
              </a:rPr>
              <a:t>methylene halide</a:t>
            </a:r>
            <a:r>
              <a:rPr lang="en-US" altLang="zh-CN" sz="2000" b="1" dirty="0">
                <a:latin typeface="Microsoft Sans Serif" pitchFamily="34" charset="0"/>
                <a:cs typeface="Microsoft Sans Serif" pitchFamily="34" charset="0"/>
              </a:rPr>
              <a:t>.</a:t>
            </a:r>
          </a:p>
          <a:p>
            <a:pPr marL="514350" indent="-514350"/>
            <a:r>
              <a:rPr lang="en-US" altLang="zh-CN" sz="2000" b="1" dirty="0">
                <a:latin typeface="Microsoft Sans Serif" pitchFamily="34" charset="0"/>
                <a:cs typeface="Microsoft Sans Serif" pitchFamily="34" charset="0"/>
              </a:rPr>
              <a:t> </a:t>
            </a:r>
          </a:p>
          <a:p>
            <a:pPr marL="285750" indent="-285750">
              <a:buFont typeface="Arial" panose="020B0604020202020204" pitchFamily="34" charset="0"/>
              <a:buChar char="•"/>
            </a:pPr>
            <a:r>
              <a:rPr lang="en-US" altLang="zh-CN" sz="2000" b="1" dirty="0">
                <a:latin typeface="Microsoft Sans Serif" pitchFamily="34" charset="0"/>
                <a:cs typeface="Microsoft Sans Serif" pitchFamily="34" charset="0"/>
              </a:rPr>
              <a:t>A compound of formula </a:t>
            </a:r>
            <a:r>
              <a:rPr lang="en-US" altLang="zh-CN" sz="2000" b="1" dirty="0">
                <a:solidFill>
                  <a:srgbClr val="0000FF"/>
                </a:solidFill>
                <a:highlight>
                  <a:srgbClr val="FFFF00"/>
                </a:highlight>
                <a:latin typeface="Microsoft Sans Serif" pitchFamily="34" charset="0"/>
                <a:cs typeface="Microsoft Sans Serif" pitchFamily="34" charset="0"/>
              </a:rPr>
              <a:t>CHX</a:t>
            </a:r>
            <a:r>
              <a:rPr lang="en-US" altLang="zh-CN" sz="2000" b="1" baseline="-25000" dirty="0">
                <a:solidFill>
                  <a:srgbClr val="0000FF"/>
                </a:solidFill>
                <a:highlight>
                  <a:srgbClr val="FFFF00"/>
                </a:highlight>
                <a:latin typeface="Microsoft Sans Serif" pitchFamily="34" charset="0"/>
                <a:cs typeface="Microsoft Sans Serif" pitchFamily="34" charset="0"/>
              </a:rPr>
              <a:t>3</a:t>
            </a:r>
            <a:r>
              <a:rPr lang="en-US" altLang="zh-CN" sz="2000" b="1" dirty="0">
                <a:latin typeface="Microsoft Sans Serif" pitchFamily="34" charset="0"/>
                <a:cs typeface="Microsoft Sans Serif" pitchFamily="34" charset="0"/>
              </a:rPr>
              <a:t> is called a </a:t>
            </a:r>
            <a:r>
              <a:rPr lang="en-US" altLang="zh-CN" sz="2000" b="1" dirty="0" err="1">
                <a:solidFill>
                  <a:srgbClr val="0000FF"/>
                </a:solidFill>
                <a:highlight>
                  <a:srgbClr val="FFFF00"/>
                </a:highlight>
                <a:latin typeface="Microsoft Sans Serif" pitchFamily="34" charset="0"/>
                <a:cs typeface="Microsoft Sans Serif" pitchFamily="34" charset="0"/>
              </a:rPr>
              <a:t>haloform</a:t>
            </a:r>
            <a:r>
              <a:rPr lang="en-US" altLang="zh-CN" sz="2000" b="1" dirty="0">
                <a:latin typeface="Microsoft Sans Serif" pitchFamily="34" charset="0"/>
                <a:cs typeface="Microsoft Sans Serif" pitchFamily="34" charset="0"/>
              </a:rPr>
              <a:t>.</a:t>
            </a:r>
          </a:p>
          <a:p>
            <a:pPr marL="514350" indent="-514350"/>
            <a:endParaRPr lang="en-US" altLang="zh-CN" sz="2000" b="1" dirty="0">
              <a:latin typeface="Microsoft Sans Serif" pitchFamily="34" charset="0"/>
              <a:cs typeface="Microsoft Sans Serif" pitchFamily="34" charset="0"/>
            </a:endParaRPr>
          </a:p>
          <a:p>
            <a:pPr marL="285750" indent="-285750">
              <a:buFont typeface="Arial" panose="020B0604020202020204" pitchFamily="34" charset="0"/>
              <a:buChar char="•"/>
            </a:pPr>
            <a:r>
              <a:rPr lang="en-US" altLang="zh-CN" sz="2000" b="1" dirty="0">
                <a:latin typeface="Microsoft Sans Serif" pitchFamily="34" charset="0"/>
                <a:cs typeface="Microsoft Sans Serif" pitchFamily="34" charset="0"/>
              </a:rPr>
              <a:t>A compound of formula</a:t>
            </a:r>
            <a:r>
              <a:rPr lang="en-US" altLang="zh-CN" sz="2000" b="1" dirty="0">
                <a:solidFill>
                  <a:srgbClr val="FF0000"/>
                </a:solidFill>
                <a:latin typeface="Microsoft Sans Serif" pitchFamily="34" charset="0"/>
                <a:cs typeface="Microsoft Sans Serif" pitchFamily="34" charset="0"/>
              </a:rPr>
              <a:t> </a:t>
            </a:r>
            <a:r>
              <a:rPr lang="en-US" altLang="zh-CN" sz="2000" b="1" dirty="0">
                <a:solidFill>
                  <a:srgbClr val="0000FF"/>
                </a:solidFill>
                <a:latin typeface="Microsoft Sans Serif" pitchFamily="34" charset="0"/>
                <a:cs typeface="Microsoft Sans Serif" pitchFamily="34" charset="0"/>
              </a:rPr>
              <a:t>CX</a:t>
            </a:r>
            <a:r>
              <a:rPr lang="en-US" altLang="zh-CN" sz="2000" b="1" baseline="-25000" dirty="0">
                <a:solidFill>
                  <a:srgbClr val="0000FF"/>
                </a:solidFill>
                <a:latin typeface="Microsoft Sans Serif" pitchFamily="34" charset="0"/>
                <a:cs typeface="Microsoft Sans Serif" pitchFamily="34" charset="0"/>
              </a:rPr>
              <a:t>4</a:t>
            </a:r>
            <a:r>
              <a:rPr lang="en-US" altLang="zh-CN" sz="2000" b="1" dirty="0">
                <a:solidFill>
                  <a:srgbClr val="FF0000"/>
                </a:solidFill>
                <a:latin typeface="Microsoft Sans Serif" pitchFamily="34" charset="0"/>
                <a:cs typeface="Microsoft Sans Serif" pitchFamily="34" charset="0"/>
              </a:rPr>
              <a:t> </a:t>
            </a:r>
            <a:r>
              <a:rPr lang="en-US" altLang="zh-CN" sz="2000" b="1" dirty="0">
                <a:latin typeface="Microsoft Sans Serif" pitchFamily="34" charset="0"/>
                <a:cs typeface="Microsoft Sans Serif" pitchFamily="34" charset="0"/>
              </a:rPr>
              <a:t>is called a </a:t>
            </a:r>
            <a:r>
              <a:rPr lang="en-US" altLang="zh-CN" sz="2000" b="1" dirty="0">
                <a:solidFill>
                  <a:srgbClr val="0000FF"/>
                </a:solidFill>
                <a:latin typeface="Microsoft Sans Serif" pitchFamily="34" charset="0"/>
                <a:cs typeface="Microsoft Sans Serif" pitchFamily="34" charset="0"/>
              </a:rPr>
              <a:t>carbon </a:t>
            </a:r>
            <a:r>
              <a:rPr lang="en-US" altLang="zh-CN" sz="2000" b="1" dirty="0" err="1">
                <a:solidFill>
                  <a:srgbClr val="0000FF"/>
                </a:solidFill>
                <a:latin typeface="Microsoft Sans Serif" pitchFamily="34" charset="0"/>
                <a:cs typeface="Microsoft Sans Serif" pitchFamily="34" charset="0"/>
              </a:rPr>
              <a:t>tetrahalide</a:t>
            </a:r>
            <a:r>
              <a:rPr lang="en-US" altLang="zh-CN" sz="2000" b="1" dirty="0">
                <a:latin typeface="Microsoft Sans Serif" pitchFamily="34" charset="0"/>
                <a:cs typeface="Microsoft Sans Serif" pitchFamily="34" charset="0"/>
              </a:rPr>
              <a:t>.</a:t>
            </a:r>
            <a:endParaRPr lang="zh-CN" altLang="en-US" sz="2000" dirty="0">
              <a:latin typeface="Microsoft Sans Serif" pitchFamily="34" charset="0"/>
              <a:cs typeface="Microsoft Sans Serif" pitchFamily="34" charset="0"/>
            </a:endParaRPr>
          </a:p>
        </p:txBody>
      </p:sp>
      <p:sp>
        <p:nvSpPr>
          <p:cNvPr id="5" name="矩形 4"/>
          <p:cNvSpPr/>
          <p:nvPr/>
        </p:nvSpPr>
        <p:spPr>
          <a:xfrm>
            <a:off x="0" y="262565"/>
            <a:ext cx="3647728" cy="400110"/>
          </a:xfrm>
          <a:prstGeom prst="rect">
            <a:avLst/>
          </a:prstGeom>
          <a:solidFill>
            <a:schemeClr val="tx2">
              <a:lumMod val="20000"/>
              <a:lumOff val="80000"/>
            </a:schemeClr>
          </a:solidFill>
        </p:spPr>
        <p:txBody>
          <a:bodyPr wrap="square">
            <a:spAutoFit/>
          </a:bodyPr>
          <a:lstStyle/>
          <a:p>
            <a:r>
              <a:rPr lang="en-US" altLang="zh-CN" sz="2000" b="1" dirty="0">
                <a:latin typeface="Microsoft Sans Serif" pitchFamily="34" charset="0"/>
                <a:cs typeface="Microsoft Sans Serif" pitchFamily="34" charset="0"/>
              </a:rPr>
              <a:t>7-2-3</a:t>
            </a:r>
            <a:r>
              <a:rPr lang="en-US" altLang="zh-CN" sz="2000" b="1" dirty="0">
                <a:solidFill>
                  <a:srgbClr val="FF0000"/>
                </a:solidFill>
                <a:latin typeface="Microsoft Sans Serif" pitchFamily="34" charset="0"/>
                <a:cs typeface="Microsoft Sans Serif" pitchFamily="34" charset="0"/>
              </a:rPr>
              <a:t> </a:t>
            </a:r>
            <a:r>
              <a:rPr lang="en-US" altLang="zh-CN" sz="2000" b="1" dirty="0">
                <a:latin typeface="Microsoft Sans Serif" pitchFamily="34" charset="0"/>
                <a:cs typeface="Microsoft Sans Serif" pitchFamily="34" charset="0"/>
              </a:rPr>
              <a:t>Special common names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4</a:t>
            </a:fld>
            <a:endParaRPr lang="zh-CN" altLang="en-US"/>
          </a:p>
        </p:txBody>
      </p:sp>
      <p:sp>
        <p:nvSpPr>
          <p:cNvPr id="3" name="TextBox 2"/>
          <p:cNvSpPr txBox="1"/>
          <p:nvPr/>
        </p:nvSpPr>
        <p:spPr>
          <a:xfrm>
            <a:off x="407368" y="884726"/>
            <a:ext cx="10858555" cy="2862322"/>
          </a:xfrm>
          <a:prstGeom prst="rect">
            <a:avLst/>
          </a:prstGeom>
          <a:noFill/>
        </p:spPr>
        <p:txBody>
          <a:bodyPr wrap="square" rtlCol="0">
            <a:spAutoFit/>
          </a:bodyPr>
          <a:lstStyle/>
          <a:p>
            <a:pPr>
              <a:buFont typeface="Arial" pitchFamily="34" charset="0"/>
              <a:buChar char="•"/>
            </a:pPr>
            <a:r>
              <a:rPr lang="en-US" altLang="zh-CN" sz="2000" b="1" dirty="0">
                <a:latin typeface="Microsoft Sans Serif" pitchFamily="34" charset="0"/>
                <a:cs typeface="Microsoft Sans Serif" pitchFamily="34" charset="0"/>
              </a:rPr>
              <a:t> Alkyl halides are </a:t>
            </a:r>
            <a:r>
              <a:rPr lang="en-US" altLang="zh-CN" sz="2000" b="1" dirty="0">
                <a:solidFill>
                  <a:srgbClr val="0000FF"/>
                </a:solidFill>
                <a:latin typeface="Microsoft Sans Serif" pitchFamily="34" charset="0"/>
                <a:cs typeface="Microsoft Sans Serif" pitchFamily="34" charset="0"/>
              </a:rPr>
              <a:t>classified </a:t>
            </a:r>
            <a:r>
              <a:rPr lang="en-US" altLang="zh-CN" sz="2000" b="1" dirty="0">
                <a:latin typeface="Microsoft Sans Serif" pitchFamily="34" charset="0"/>
                <a:cs typeface="Microsoft Sans Serif" pitchFamily="34" charset="0"/>
              </a:rPr>
              <a:t>according to</a:t>
            </a:r>
            <a:r>
              <a:rPr lang="en-US" altLang="zh-CN" sz="2000" b="1" dirty="0">
                <a:solidFill>
                  <a:srgbClr val="0000FF"/>
                </a:solidFill>
                <a:latin typeface="Microsoft Sans Serif" pitchFamily="34" charset="0"/>
                <a:cs typeface="Microsoft Sans Serif" pitchFamily="34" charset="0"/>
              </a:rPr>
              <a:t> </a:t>
            </a:r>
            <a:r>
              <a:rPr lang="en-US" altLang="zh-CN" sz="2000" b="1" dirty="0">
                <a:solidFill>
                  <a:srgbClr val="FF0000"/>
                </a:solidFill>
                <a:latin typeface="Microsoft Sans Serif" pitchFamily="34" charset="0"/>
                <a:cs typeface="Microsoft Sans Serif" pitchFamily="34" charset="0"/>
              </a:rPr>
              <a:t>the nature of the carbon atom bonded to the halogen</a:t>
            </a:r>
            <a:r>
              <a:rPr lang="en-US" altLang="zh-CN" sz="2000" b="1" dirty="0">
                <a:latin typeface="Microsoft Sans Serif" pitchFamily="34" charset="0"/>
                <a:cs typeface="Microsoft Sans Serif" pitchFamily="34" charset="0"/>
              </a:rPr>
              <a:t>.</a:t>
            </a:r>
          </a:p>
          <a:p>
            <a:pPr>
              <a:buFont typeface="Arial" pitchFamily="34" charset="0"/>
              <a:buChar char="•"/>
            </a:pPr>
            <a:endParaRPr lang="en-US" altLang="zh-CN" sz="2000" b="1" dirty="0">
              <a:latin typeface="Microsoft Sans Serif" pitchFamily="34" charset="0"/>
              <a:cs typeface="Microsoft Sans Serif" pitchFamily="34" charset="0"/>
            </a:endParaRPr>
          </a:p>
          <a:p>
            <a:pPr>
              <a:buFont typeface="Arial" pitchFamily="34" charset="0"/>
              <a:buChar char="•"/>
            </a:pPr>
            <a:r>
              <a:rPr lang="en-US" altLang="zh-CN" sz="2000" b="1" dirty="0">
                <a:latin typeface="Microsoft Sans Serif" pitchFamily="34" charset="0"/>
                <a:cs typeface="Microsoft Sans Serif" pitchFamily="34" charset="0"/>
              </a:rPr>
              <a:t> </a:t>
            </a:r>
            <a:r>
              <a:rPr lang="en-US" altLang="zh-CN" sz="2000" b="1" dirty="0">
                <a:solidFill>
                  <a:srgbClr val="0000FF"/>
                </a:solidFill>
                <a:latin typeface="Microsoft Sans Serif" pitchFamily="34" charset="0"/>
                <a:cs typeface="Microsoft Sans Serif" pitchFamily="34" charset="0"/>
              </a:rPr>
              <a:t>Methyl halide</a:t>
            </a:r>
            <a:r>
              <a:rPr lang="en-US" altLang="zh-CN" sz="2000" b="1" dirty="0">
                <a:latin typeface="Microsoft Sans Serif" pitchFamily="34" charset="0"/>
                <a:cs typeface="Microsoft Sans Serif" pitchFamily="34" charset="0"/>
              </a:rPr>
              <a:t>: the </a:t>
            </a:r>
            <a:r>
              <a:rPr lang="en-US" altLang="zh-CN" sz="2000" b="1" u="sng" dirty="0">
                <a:latin typeface="Microsoft Sans Serif" pitchFamily="34" charset="0"/>
                <a:cs typeface="Microsoft Sans Serif" pitchFamily="34" charset="0"/>
              </a:rPr>
              <a:t>halogen-bearing carbon atom</a:t>
            </a:r>
            <a:r>
              <a:rPr lang="en-US" altLang="zh-CN" sz="2000" b="1" dirty="0">
                <a:latin typeface="Microsoft Sans Serif" pitchFamily="34" charset="0"/>
                <a:cs typeface="Microsoft Sans Serif" pitchFamily="34" charset="0"/>
              </a:rPr>
              <a:t> is a methyl group.</a:t>
            </a:r>
          </a:p>
          <a:p>
            <a:pPr>
              <a:buFont typeface="Arial" pitchFamily="34" charset="0"/>
              <a:buChar char="•"/>
            </a:pPr>
            <a:endParaRPr lang="en-US" altLang="zh-CN" sz="2000" b="1" dirty="0">
              <a:latin typeface="Microsoft Sans Serif" pitchFamily="34" charset="0"/>
              <a:cs typeface="Microsoft Sans Serif" pitchFamily="34" charset="0"/>
            </a:endParaRPr>
          </a:p>
          <a:p>
            <a:pPr>
              <a:buFont typeface="Arial" pitchFamily="34" charset="0"/>
              <a:buChar char="•"/>
            </a:pPr>
            <a:r>
              <a:rPr lang="en-US" altLang="zh-CN" sz="2000" dirty="0">
                <a:latin typeface="Microsoft Sans Serif" pitchFamily="34" charset="0"/>
                <a:cs typeface="Microsoft Sans Serif" pitchFamily="34" charset="0"/>
              </a:rPr>
              <a:t> </a:t>
            </a:r>
            <a:r>
              <a:rPr lang="en-US" altLang="zh-CN" sz="2000" b="1" dirty="0">
                <a:solidFill>
                  <a:srgbClr val="0000FF"/>
                </a:solidFill>
                <a:latin typeface="Microsoft Sans Serif" pitchFamily="34" charset="0"/>
                <a:cs typeface="Microsoft Sans Serif" pitchFamily="34" charset="0"/>
              </a:rPr>
              <a:t>Primary halide</a:t>
            </a:r>
            <a:r>
              <a:rPr lang="en-US" altLang="zh-CN" sz="2000" b="1" dirty="0">
                <a:latin typeface="Microsoft Sans Serif" pitchFamily="34" charset="0"/>
                <a:cs typeface="Microsoft Sans Serif" pitchFamily="34" charset="0"/>
              </a:rPr>
              <a:t>: the </a:t>
            </a:r>
            <a:r>
              <a:rPr lang="en-US" altLang="zh-CN" sz="2000" b="1" u="sng" dirty="0">
                <a:latin typeface="Microsoft Sans Serif" pitchFamily="34" charset="0"/>
                <a:cs typeface="Microsoft Sans Serif" pitchFamily="34" charset="0"/>
              </a:rPr>
              <a:t>halogen-bearing carbon</a:t>
            </a:r>
            <a:r>
              <a:rPr lang="en-US" altLang="zh-CN" sz="2000" b="1" dirty="0">
                <a:latin typeface="Microsoft Sans Serif" pitchFamily="34" charset="0"/>
                <a:cs typeface="Microsoft Sans Serif" pitchFamily="34" charset="0"/>
              </a:rPr>
              <a:t> is bonded to </a:t>
            </a:r>
            <a:r>
              <a:rPr lang="en-US" altLang="zh-CN" sz="2000" b="1" dirty="0">
                <a:solidFill>
                  <a:srgbClr val="FF0000"/>
                </a:solidFill>
                <a:latin typeface="Microsoft Sans Serif" pitchFamily="34" charset="0"/>
                <a:cs typeface="Microsoft Sans Serif" pitchFamily="34" charset="0"/>
              </a:rPr>
              <a:t>one</a:t>
            </a:r>
            <a:r>
              <a:rPr lang="en-US" altLang="zh-CN" sz="2000" b="1" dirty="0">
                <a:latin typeface="Microsoft Sans Serif" pitchFamily="34" charset="0"/>
                <a:cs typeface="Microsoft Sans Serif" pitchFamily="34" charset="0"/>
              </a:rPr>
              <a:t> carbon atom.</a:t>
            </a:r>
          </a:p>
          <a:p>
            <a:pPr>
              <a:buFont typeface="Arial" pitchFamily="34" charset="0"/>
              <a:buChar char="•"/>
            </a:pPr>
            <a:endParaRPr lang="en-US" altLang="zh-CN" sz="2000" b="1" dirty="0">
              <a:latin typeface="Microsoft Sans Serif" pitchFamily="34" charset="0"/>
              <a:cs typeface="Microsoft Sans Serif" pitchFamily="34" charset="0"/>
            </a:endParaRPr>
          </a:p>
          <a:p>
            <a:pPr>
              <a:buFont typeface="Arial" pitchFamily="34" charset="0"/>
              <a:buChar char="•"/>
            </a:pPr>
            <a:r>
              <a:rPr lang="en-US" altLang="zh-CN" sz="2000" b="1" dirty="0">
                <a:latin typeface="Microsoft Sans Serif" pitchFamily="34" charset="0"/>
                <a:cs typeface="Microsoft Sans Serif" pitchFamily="34" charset="0"/>
              </a:rPr>
              <a:t> </a:t>
            </a:r>
            <a:r>
              <a:rPr lang="en-US" altLang="zh-CN" sz="2000" b="1" dirty="0">
                <a:solidFill>
                  <a:srgbClr val="0000FF"/>
                </a:solidFill>
                <a:latin typeface="Microsoft Sans Serif" pitchFamily="34" charset="0"/>
                <a:cs typeface="Microsoft Sans Serif" pitchFamily="34" charset="0"/>
              </a:rPr>
              <a:t>Secondary halide</a:t>
            </a:r>
            <a:r>
              <a:rPr lang="en-US" altLang="zh-CN" sz="2000" b="1" dirty="0">
                <a:latin typeface="Microsoft Sans Serif" pitchFamily="34" charset="0"/>
                <a:cs typeface="Microsoft Sans Serif" pitchFamily="34" charset="0"/>
              </a:rPr>
              <a:t>: </a:t>
            </a:r>
            <a:r>
              <a:rPr lang="en-US" altLang="zh-CN" sz="2000" b="1" dirty="0">
                <a:solidFill>
                  <a:srgbClr val="FF0000"/>
                </a:solidFill>
                <a:latin typeface="Microsoft Sans Serif" pitchFamily="34" charset="0"/>
                <a:cs typeface="Microsoft Sans Serif" pitchFamily="34" charset="0"/>
              </a:rPr>
              <a:t>two</a:t>
            </a:r>
            <a:r>
              <a:rPr lang="en-US" altLang="zh-CN" sz="2000" b="1" dirty="0">
                <a:latin typeface="Microsoft Sans Serif" pitchFamily="34" charset="0"/>
                <a:cs typeface="Microsoft Sans Serif" pitchFamily="34" charset="0"/>
              </a:rPr>
              <a:t> carbon atoms are bonded to the </a:t>
            </a:r>
            <a:r>
              <a:rPr lang="en-US" altLang="zh-CN" sz="2000" b="1" u="sng" dirty="0">
                <a:latin typeface="Microsoft Sans Serif" pitchFamily="34" charset="0"/>
                <a:cs typeface="Microsoft Sans Serif" pitchFamily="34" charset="0"/>
              </a:rPr>
              <a:t>halogen-bearing carbon</a:t>
            </a:r>
            <a:r>
              <a:rPr lang="en-US" altLang="zh-CN" sz="2000" b="1" dirty="0">
                <a:latin typeface="Microsoft Sans Serif" pitchFamily="34" charset="0"/>
                <a:cs typeface="Microsoft Sans Serif" pitchFamily="34" charset="0"/>
              </a:rPr>
              <a:t>.</a:t>
            </a:r>
          </a:p>
          <a:p>
            <a:pPr>
              <a:buFont typeface="Arial" pitchFamily="34" charset="0"/>
              <a:buChar char="•"/>
            </a:pPr>
            <a:endParaRPr lang="en-US" altLang="zh-CN" sz="2000" b="1" dirty="0">
              <a:latin typeface="Microsoft Sans Serif" pitchFamily="34" charset="0"/>
              <a:cs typeface="Microsoft Sans Serif" pitchFamily="34" charset="0"/>
            </a:endParaRPr>
          </a:p>
          <a:p>
            <a:pPr>
              <a:buFont typeface="Arial" pitchFamily="34" charset="0"/>
              <a:buChar char="•"/>
            </a:pPr>
            <a:r>
              <a:rPr lang="en-US" altLang="zh-CN" sz="2000" dirty="0">
                <a:latin typeface="Microsoft Sans Serif" pitchFamily="34" charset="0"/>
                <a:cs typeface="Microsoft Sans Serif" pitchFamily="34" charset="0"/>
              </a:rPr>
              <a:t> </a:t>
            </a:r>
            <a:r>
              <a:rPr lang="en-US" altLang="zh-CN" sz="2000" b="1" dirty="0">
                <a:solidFill>
                  <a:srgbClr val="0000FF"/>
                </a:solidFill>
                <a:latin typeface="Microsoft Sans Serif" pitchFamily="34" charset="0"/>
                <a:cs typeface="Microsoft Sans Serif" pitchFamily="34" charset="0"/>
              </a:rPr>
              <a:t>Tertiary halide</a:t>
            </a:r>
            <a:r>
              <a:rPr lang="en-US" altLang="zh-CN" sz="2000" b="1" dirty="0">
                <a:latin typeface="Microsoft Sans Serif" pitchFamily="34" charset="0"/>
                <a:cs typeface="Microsoft Sans Serif" pitchFamily="34" charset="0"/>
              </a:rPr>
              <a:t>: </a:t>
            </a:r>
            <a:r>
              <a:rPr lang="en-US" altLang="zh-CN" sz="2000" b="1" dirty="0">
                <a:solidFill>
                  <a:srgbClr val="FF0000"/>
                </a:solidFill>
                <a:latin typeface="Microsoft Sans Serif" pitchFamily="34" charset="0"/>
                <a:cs typeface="Microsoft Sans Serif" pitchFamily="34" charset="0"/>
              </a:rPr>
              <a:t>three</a:t>
            </a:r>
            <a:r>
              <a:rPr lang="en-US" altLang="zh-CN" sz="2000" b="1" dirty="0">
                <a:latin typeface="Microsoft Sans Serif" pitchFamily="34" charset="0"/>
                <a:cs typeface="Microsoft Sans Serif" pitchFamily="34" charset="0"/>
              </a:rPr>
              <a:t> other carbon atoms are bonded to the </a:t>
            </a:r>
            <a:r>
              <a:rPr lang="en-US" altLang="zh-CN" sz="2000" b="1" u="sng" dirty="0">
                <a:latin typeface="Microsoft Sans Serif" pitchFamily="34" charset="0"/>
                <a:cs typeface="Microsoft Sans Serif" pitchFamily="34" charset="0"/>
              </a:rPr>
              <a:t>halogen-bearing carbon</a:t>
            </a:r>
            <a:r>
              <a:rPr lang="en-US" altLang="zh-CN" sz="2000" b="1" dirty="0">
                <a:latin typeface="Microsoft Sans Serif" pitchFamily="34" charset="0"/>
                <a:cs typeface="Microsoft Sans Serif" pitchFamily="34" charset="0"/>
              </a:rPr>
              <a:t> atom.</a:t>
            </a:r>
          </a:p>
        </p:txBody>
      </p:sp>
      <p:sp>
        <p:nvSpPr>
          <p:cNvPr id="5" name="矩形 4"/>
          <p:cNvSpPr/>
          <p:nvPr/>
        </p:nvSpPr>
        <p:spPr>
          <a:xfrm>
            <a:off x="0" y="308864"/>
            <a:ext cx="2534668" cy="461665"/>
          </a:xfrm>
          <a:prstGeom prst="rect">
            <a:avLst/>
          </a:prstGeom>
          <a:solidFill>
            <a:schemeClr val="tx2">
              <a:lumMod val="20000"/>
              <a:lumOff val="80000"/>
            </a:schemeClr>
          </a:solidFill>
        </p:spPr>
        <p:txBody>
          <a:bodyPr wrap="none">
            <a:spAutoFit/>
          </a:bodyPr>
          <a:lstStyle/>
          <a:p>
            <a:r>
              <a:rPr lang="en-US" altLang="zh-CN" sz="2400" b="1" dirty="0">
                <a:latin typeface="Microsoft Sans Serif" pitchFamily="34" charset="0"/>
                <a:cs typeface="Microsoft Sans Serif" pitchFamily="34" charset="0"/>
              </a:rPr>
              <a:t>7-3</a:t>
            </a:r>
            <a:r>
              <a:rPr lang="en-US" altLang="zh-CN" sz="2400" b="1" dirty="0">
                <a:solidFill>
                  <a:srgbClr val="0000FF"/>
                </a:solidFill>
                <a:latin typeface="Microsoft Sans Serif" pitchFamily="34" charset="0"/>
                <a:cs typeface="Microsoft Sans Serif" pitchFamily="34" charset="0"/>
              </a:rPr>
              <a:t> </a:t>
            </a:r>
            <a:r>
              <a:rPr lang="en-US" altLang="zh-CN" sz="2400" b="1" dirty="0">
                <a:latin typeface="Microsoft Sans Serif" pitchFamily="34" charset="0"/>
                <a:cs typeface="Microsoft Sans Serif" pitchFamily="34" charset="0"/>
              </a:rPr>
              <a:t>Classification</a:t>
            </a:r>
          </a:p>
        </p:txBody>
      </p:sp>
      <p:graphicFrame>
        <p:nvGraphicFramePr>
          <p:cNvPr id="4100" name="Object 4"/>
          <p:cNvGraphicFramePr>
            <a:graphicFrameLocks noChangeAspect="1"/>
          </p:cNvGraphicFramePr>
          <p:nvPr>
            <p:extLst>
              <p:ext uri="{D42A27DB-BD31-4B8C-83A1-F6EECF244321}">
                <p14:modId xmlns:p14="http://schemas.microsoft.com/office/powerpoint/2010/main" val="634300120"/>
              </p:ext>
            </p:extLst>
          </p:nvPr>
        </p:nvGraphicFramePr>
        <p:xfrm>
          <a:off x="2568816" y="3749000"/>
          <a:ext cx="6535657" cy="1405956"/>
        </p:xfrm>
        <a:graphic>
          <a:graphicData uri="http://schemas.openxmlformats.org/presentationml/2006/ole">
            <mc:AlternateContent xmlns:mc="http://schemas.openxmlformats.org/markup-compatibility/2006">
              <mc:Choice xmlns:v="urn:schemas-microsoft-com:vml" Requires="v">
                <p:oleObj spid="_x0000_s4937" name="CS ChemDraw Drawing" r:id="rId3" imgW="4073605" imgH="876312" progId="ChemDraw.Document.6.0">
                  <p:embed/>
                </p:oleObj>
              </mc:Choice>
              <mc:Fallback>
                <p:oleObj name="CS ChemDraw Drawing" r:id="rId3" imgW="4073605" imgH="876312" progId="ChemDraw.Document.6.0">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68816" y="3749000"/>
                        <a:ext cx="6535657" cy="1405956"/>
                      </a:xfrm>
                      <a:prstGeom prst="rect">
                        <a:avLst/>
                      </a:prstGeom>
                      <a:noFill/>
                      <a:ln>
                        <a:noFill/>
                      </a:ln>
                      <a:effectLst/>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1707650152"/>
              </p:ext>
            </p:extLst>
          </p:nvPr>
        </p:nvGraphicFramePr>
        <p:xfrm>
          <a:off x="1395625" y="5359517"/>
          <a:ext cx="9400750" cy="1334380"/>
        </p:xfrm>
        <a:graphic>
          <a:graphicData uri="http://schemas.openxmlformats.org/presentationml/2006/ole">
            <mc:AlternateContent xmlns:mc="http://schemas.openxmlformats.org/markup-compatibility/2006">
              <mc:Choice xmlns:v="urn:schemas-microsoft-com:vml" Requires="v">
                <p:oleObj spid="_x0000_s4938" name="CS ChemDraw Drawing" r:id="rId5" imgW="5960270" imgH="845556" progId="ChemDraw.Document.6.0">
                  <p:embed/>
                </p:oleObj>
              </mc:Choice>
              <mc:Fallback>
                <p:oleObj name="CS ChemDraw Drawing" r:id="rId5" imgW="5960270" imgH="845556" progId="ChemDraw.Document.6.0">
                  <p:embed/>
                  <p:pic>
                    <p:nvPicPr>
                      <p:cNvPr id="0" name=""/>
                      <p:cNvPicPr/>
                      <p:nvPr/>
                    </p:nvPicPr>
                    <p:blipFill>
                      <a:blip r:embed="rId6"/>
                      <a:stretch>
                        <a:fillRect/>
                      </a:stretch>
                    </p:blipFill>
                    <p:spPr>
                      <a:xfrm>
                        <a:off x="1395625" y="5359517"/>
                        <a:ext cx="9400750" cy="1334380"/>
                      </a:xfrm>
                      <a:prstGeom prst="rect">
                        <a:avLst/>
                      </a:prstGeom>
                    </p:spPr>
                  </p:pic>
                </p:oleObj>
              </mc:Fallback>
            </mc:AlternateContent>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5</a:t>
            </a:fld>
            <a:endParaRPr lang="zh-CN" altLang="en-US"/>
          </a:p>
        </p:txBody>
      </p:sp>
      <p:sp>
        <p:nvSpPr>
          <p:cNvPr id="3" name="矩形 2"/>
          <p:cNvSpPr/>
          <p:nvPr/>
        </p:nvSpPr>
        <p:spPr>
          <a:xfrm>
            <a:off x="263352" y="208920"/>
            <a:ext cx="8712968" cy="954107"/>
          </a:xfrm>
          <a:prstGeom prst="rect">
            <a:avLst/>
          </a:prstGeom>
        </p:spPr>
        <p:txBody>
          <a:bodyPr wrap="square">
            <a:spAutoFit/>
          </a:bodyPr>
          <a:lstStyle/>
          <a:p>
            <a:pPr>
              <a:buFont typeface="Arial" pitchFamily="34" charset="0"/>
              <a:buChar char="•"/>
            </a:pPr>
            <a:r>
              <a:rPr lang="en-US" altLang="zh-CN" b="1" dirty="0">
                <a:latin typeface="Microsoft Sans Serif" pitchFamily="34" charset="0"/>
                <a:cs typeface="Microsoft Sans Serif" pitchFamily="34" charset="0"/>
              </a:rPr>
              <a:t> </a:t>
            </a:r>
            <a:r>
              <a:rPr lang="en-US" altLang="zh-CN" b="1" dirty="0">
                <a:solidFill>
                  <a:srgbClr val="0000FF"/>
                </a:solidFill>
                <a:latin typeface="Microsoft Sans Serif" pitchFamily="34" charset="0"/>
                <a:cs typeface="Microsoft Sans Serif" pitchFamily="34" charset="0"/>
              </a:rPr>
              <a:t>Geminal dihalide</a:t>
            </a:r>
            <a:r>
              <a:rPr lang="en-US" altLang="zh-CN" b="1" dirty="0">
                <a:latin typeface="Microsoft Sans Serif" pitchFamily="34" charset="0"/>
                <a:cs typeface="Microsoft Sans Serif" pitchFamily="34" charset="0"/>
              </a:rPr>
              <a:t>: the two halogen </a:t>
            </a:r>
            <a:r>
              <a:rPr lang="en-US" altLang="zh-CN" sz="2000" b="1" dirty="0">
                <a:latin typeface="Microsoft Sans Serif" pitchFamily="34" charset="0"/>
                <a:cs typeface="Microsoft Sans Serif" pitchFamily="34" charset="0"/>
              </a:rPr>
              <a:t>atoms</a:t>
            </a:r>
            <a:r>
              <a:rPr lang="en-US" altLang="zh-CN" b="1" dirty="0">
                <a:latin typeface="Microsoft Sans Serif" pitchFamily="34" charset="0"/>
                <a:cs typeface="Microsoft Sans Serif" pitchFamily="34" charset="0"/>
              </a:rPr>
              <a:t> are bonded to </a:t>
            </a:r>
            <a:r>
              <a:rPr lang="en-US" altLang="zh-CN" b="1" dirty="0">
                <a:solidFill>
                  <a:srgbClr val="0000FF"/>
                </a:solidFill>
                <a:latin typeface="Microsoft Sans Serif" pitchFamily="34" charset="0"/>
                <a:cs typeface="Microsoft Sans Serif" pitchFamily="34" charset="0"/>
              </a:rPr>
              <a:t>the same carbon atom</a:t>
            </a:r>
            <a:r>
              <a:rPr lang="en-US" altLang="zh-CN" b="1" dirty="0">
                <a:latin typeface="Microsoft Sans Serif" pitchFamily="34" charset="0"/>
                <a:cs typeface="Microsoft Sans Serif" pitchFamily="34" charset="0"/>
              </a:rPr>
              <a:t>. </a:t>
            </a:r>
          </a:p>
          <a:p>
            <a:pPr>
              <a:buFont typeface="Arial" pitchFamily="34" charset="0"/>
              <a:buChar char="•"/>
            </a:pPr>
            <a:endParaRPr lang="en-US" altLang="zh-CN" b="1" dirty="0">
              <a:latin typeface="Microsoft Sans Serif" pitchFamily="34" charset="0"/>
              <a:cs typeface="Microsoft Sans Serif" pitchFamily="34" charset="0"/>
            </a:endParaRPr>
          </a:p>
          <a:p>
            <a:pPr>
              <a:buFont typeface="Arial" pitchFamily="34" charset="0"/>
              <a:buChar char="•"/>
            </a:pPr>
            <a:r>
              <a:rPr lang="en-US" altLang="zh-CN" b="1" dirty="0">
                <a:latin typeface="Microsoft Sans Serif" pitchFamily="34" charset="0"/>
                <a:cs typeface="Microsoft Sans Serif" pitchFamily="34" charset="0"/>
              </a:rPr>
              <a:t> </a:t>
            </a:r>
            <a:r>
              <a:rPr lang="en-US" altLang="zh-CN" b="1" dirty="0">
                <a:solidFill>
                  <a:srgbClr val="0000FF"/>
                </a:solidFill>
                <a:latin typeface="Microsoft Sans Serif" pitchFamily="34" charset="0"/>
                <a:cs typeface="Microsoft Sans Serif" pitchFamily="34" charset="0"/>
              </a:rPr>
              <a:t>Vicinal dihalide</a:t>
            </a:r>
            <a:r>
              <a:rPr lang="en-US" altLang="zh-CN" b="1" dirty="0">
                <a:latin typeface="Microsoft Sans Serif" pitchFamily="34" charset="0"/>
                <a:cs typeface="Microsoft Sans Serif" pitchFamily="34" charset="0"/>
              </a:rPr>
              <a:t>: the two halogens are bonded to </a:t>
            </a:r>
            <a:r>
              <a:rPr lang="en-US" altLang="zh-CN" b="1" dirty="0">
                <a:solidFill>
                  <a:srgbClr val="0000FF"/>
                </a:solidFill>
                <a:latin typeface="Microsoft Sans Serif" pitchFamily="34" charset="0"/>
                <a:cs typeface="Microsoft Sans Serif" pitchFamily="34" charset="0"/>
              </a:rPr>
              <a:t>adjacent carbon atoms</a:t>
            </a:r>
            <a:r>
              <a:rPr lang="en-US" altLang="zh-CN" b="1" dirty="0">
                <a:latin typeface="Microsoft Sans Serif" pitchFamily="34" charset="0"/>
                <a:cs typeface="Microsoft Sans Serif" pitchFamily="34" charset="0"/>
              </a:rPr>
              <a:t>.</a:t>
            </a:r>
            <a:endParaRPr lang="zh-CN" altLang="en-US" dirty="0">
              <a:latin typeface="Microsoft Sans Serif" pitchFamily="34" charset="0"/>
              <a:cs typeface="Microsoft Sans Serif" pitchFamily="34"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562391895"/>
              </p:ext>
            </p:extLst>
          </p:nvPr>
        </p:nvGraphicFramePr>
        <p:xfrm>
          <a:off x="3215680" y="1340768"/>
          <a:ext cx="5043328" cy="1224136"/>
        </p:xfrm>
        <a:graphic>
          <a:graphicData uri="http://schemas.openxmlformats.org/presentationml/2006/ole">
            <mc:AlternateContent xmlns:mc="http://schemas.openxmlformats.org/markup-compatibility/2006">
              <mc:Choice xmlns:v="urn:schemas-microsoft-com:vml" Requires="v">
                <p:oleObj spid="_x0000_s5957" name="CS ChemDraw Drawing" r:id="rId3" imgW="2890964" imgH="702449" progId="ChemDraw.Document.6.0">
                  <p:embed/>
                </p:oleObj>
              </mc:Choice>
              <mc:Fallback>
                <p:oleObj name="CS ChemDraw Drawing" r:id="rId3" imgW="2890964" imgH="702449" progId="ChemDraw.Document.6.0">
                  <p:embed/>
                  <p:pic>
                    <p:nvPicPr>
                      <p:cNvPr id="0" name=""/>
                      <p:cNvPicPr/>
                      <p:nvPr/>
                    </p:nvPicPr>
                    <p:blipFill>
                      <a:blip r:embed="rId4"/>
                      <a:stretch>
                        <a:fillRect/>
                      </a:stretch>
                    </p:blipFill>
                    <p:spPr>
                      <a:xfrm>
                        <a:off x="3215680" y="1340768"/>
                        <a:ext cx="5043328" cy="1224136"/>
                      </a:xfrm>
                      <a:prstGeom prst="rect">
                        <a:avLst/>
                      </a:prstGeom>
                    </p:spPr>
                  </p:pic>
                </p:oleObj>
              </mc:Fallback>
            </mc:AlternateContent>
          </a:graphicData>
        </a:graphic>
      </p:graphicFrame>
      <p:sp>
        <p:nvSpPr>
          <p:cNvPr id="6" name="矩形 5"/>
          <p:cNvSpPr/>
          <p:nvPr/>
        </p:nvSpPr>
        <p:spPr>
          <a:xfrm>
            <a:off x="0" y="3198167"/>
            <a:ext cx="1960793" cy="461665"/>
          </a:xfrm>
          <a:prstGeom prst="rect">
            <a:avLst/>
          </a:prstGeom>
          <a:solidFill>
            <a:schemeClr val="tx2">
              <a:lumMod val="20000"/>
              <a:lumOff val="80000"/>
            </a:schemeClr>
          </a:solidFill>
        </p:spPr>
        <p:txBody>
          <a:bodyPr wrap="none">
            <a:spAutoFit/>
          </a:bodyPr>
          <a:lstStyle/>
          <a:p>
            <a:r>
              <a:rPr lang="en-US" altLang="zh-CN" sz="2400" b="1" dirty="0">
                <a:latin typeface="Microsoft Sans Serif" pitchFamily="34" charset="0"/>
                <a:cs typeface="Microsoft Sans Serif" pitchFamily="34" charset="0"/>
              </a:rPr>
              <a:t>7-4</a:t>
            </a:r>
            <a:r>
              <a:rPr lang="en-US" altLang="zh-CN" sz="2400" b="1" dirty="0">
                <a:solidFill>
                  <a:srgbClr val="0000FF"/>
                </a:solidFill>
                <a:latin typeface="Microsoft Sans Serif" pitchFamily="34" charset="0"/>
                <a:cs typeface="Microsoft Sans Serif" pitchFamily="34" charset="0"/>
              </a:rPr>
              <a:t> </a:t>
            </a:r>
            <a:r>
              <a:rPr lang="en-US" altLang="zh-CN" sz="2400" b="1" dirty="0">
                <a:latin typeface="Microsoft Sans Serif" pitchFamily="34" charset="0"/>
                <a:cs typeface="Microsoft Sans Serif" pitchFamily="34" charset="0"/>
              </a:rPr>
              <a:t>Structure</a:t>
            </a:r>
          </a:p>
        </p:txBody>
      </p:sp>
      <p:graphicFrame>
        <p:nvGraphicFramePr>
          <p:cNvPr id="5" name="对象 4"/>
          <p:cNvGraphicFramePr>
            <a:graphicFrameLocks noChangeAspect="1"/>
          </p:cNvGraphicFramePr>
          <p:nvPr>
            <p:extLst>
              <p:ext uri="{D42A27DB-BD31-4B8C-83A1-F6EECF244321}">
                <p14:modId xmlns:p14="http://schemas.microsoft.com/office/powerpoint/2010/main" val="2825362872"/>
              </p:ext>
            </p:extLst>
          </p:nvPr>
        </p:nvGraphicFramePr>
        <p:xfrm>
          <a:off x="9552384" y="3789040"/>
          <a:ext cx="1941587" cy="2113854"/>
        </p:xfrm>
        <a:graphic>
          <a:graphicData uri="http://schemas.openxmlformats.org/presentationml/2006/ole">
            <mc:AlternateContent xmlns:mc="http://schemas.openxmlformats.org/markup-compatibility/2006">
              <mc:Choice xmlns:v="urn:schemas-microsoft-com:vml" Requires="v">
                <p:oleObj spid="_x0000_s5958" name="CS ChemDraw Drawing" r:id="rId5" imgW="859358" imgH="935542" progId="ChemDraw.Document.6.0">
                  <p:embed/>
                </p:oleObj>
              </mc:Choice>
              <mc:Fallback>
                <p:oleObj name="CS ChemDraw Drawing" r:id="rId5" imgW="859358" imgH="935542" progId="ChemDraw.Document.6.0">
                  <p:embed/>
                  <p:pic>
                    <p:nvPicPr>
                      <p:cNvPr id="0" name=""/>
                      <p:cNvPicPr/>
                      <p:nvPr/>
                    </p:nvPicPr>
                    <p:blipFill>
                      <a:blip r:embed="rId6"/>
                      <a:stretch>
                        <a:fillRect/>
                      </a:stretch>
                    </p:blipFill>
                    <p:spPr>
                      <a:xfrm>
                        <a:off x="9552384" y="3789040"/>
                        <a:ext cx="1941587" cy="2113854"/>
                      </a:xfrm>
                      <a:prstGeom prst="rect">
                        <a:avLst/>
                      </a:prstGeom>
                    </p:spPr>
                  </p:pic>
                </p:oleObj>
              </mc:Fallback>
            </mc:AlternateContent>
          </a:graphicData>
        </a:graphic>
      </p:graphicFrame>
      <p:sp>
        <p:nvSpPr>
          <p:cNvPr id="7" name="文本框 6"/>
          <p:cNvSpPr txBox="1"/>
          <p:nvPr/>
        </p:nvSpPr>
        <p:spPr>
          <a:xfrm>
            <a:off x="263352" y="4236136"/>
            <a:ext cx="9001000" cy="1938992"/>
          </a:xfrm>
          <a:prstGeom prst="rect">
            <a:avLst/>
          </a:prstGeom>
          <a:noFill/>
        </p:spPr>
        <p:txBody>
          <a:bodyPr wrap="square" rtlCol="0">
            <a:spAutoFit/>
          </a:bodyPr>
          <a:lstStyle/>
          <a:p>
            <a:pPr marL="285750" indent="-28575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In an alkyl halide, the halogen atom is bonded to an </a:t>
            </a:r>
            <a:r>
              <a:rPr lang="en-US" altLang="zh-CN" sz="2000" b="1" i="1" dirty="0">
                <a:solidFill>
                  <a:srgbClr val="0000FF"/>
                </a:solidFill>
                <a:latin typeface="Microsoft Sans Serif" panose="020B0604020202020204" pitchFamily="34" charset="0"/>
                <a:ea typeface="Microsoft Sans Serif" panose="020B0604020202020204" pitchFamily="34" charset="0"/>
                <a:cs typeface="Microsoft Sans Serif" panose="020B0604020202020204" pitchFamily="34" charset="0"/>
              </a:rPr>
              <a:t>sp</a:t>
            </a:r>
            <a:r>
              <a:rPr lang="en-US" altLang="zh-CN" sz="2000" b="1" baseline="30000" dirty="0">
                <a:solidFill>
                  <a:srgbClr val="0000FF"/>
                </a:solidFill>
                <a:latin typeface="Microsoft Sans Serif" panose="020B0604020202020204" pitchFamily="34" charset="0"/>
                <a:ea typeface="Microsoft Sans Serif" panose="020B0604020202020204" pitchFamily="34" charset="0"/>
                <a:cs typeface="Microsoft Sans Serif" panose="020B0604020202020204" pitchFamily="34" charset="0"/>
              </a:rPr>
              <a:t>3</a:t>
            </a:r>
            <a:r>
              <a:rPr lang="en-US" altLang="zh-CN" sz="2000" b="1" dirty="0">
                <a:solidFill>
                  <a:srgbClr val="0000FF"/>
                </a:solidFill>
                <a:latin typeface="Microsoft Sans Serif" panose="020B0604020202020204" pitchFamily="34" charset="0"/>
                <a:ea typeface="Microsoft Sans Serif" panose="020B0604020202020204" pitchFamily="34" charset="0"/>
                <a:cs typeface="Microsoft Sans Serif" panose="020B0604020202020204" pitchFamily="34" charset="0"/>
              </a:rPr>
              <a:t> hybrid carbon atom</a:t>
            </a:r>
          </a:p>
          <a:p>
            <a:pPr marL="285750" indent="-285750">
              <a:buFont typeface="Arial" panose="020B0604020202020204" pitchFamily="34" charset="0"/>
              <a:buChar char="•"/>
            </a:pPr>
            <a:endPar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285750" indent="-28575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The C</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sym typeface="Symbol" panose="05050102010706020507" pitchFamily="18" charset="2"/>
              </a:rPr>
              <a:t>X bond is </a:t>
            </a:r>
            <a:r>
              <a:rPr lang="en-US" altLang="zh-CN" sz="20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sym typeface="Symbol" panose="05050102010706020507" pitchFamily="18" charset="2"/>
              </a:rPr>
              <a:t>polar</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sym typeface="Symbol" panose="05050102010706020507" pitchFamily="18" charset="2"/>
              </a:rPr>
              <a:t>,</a:t>
            </a:r>
            <a:r>
              <a:rPr lang="en-US" altLang="zh-CN" sz="20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sym typeface="Symbol" panose="05050102010706020507" pitchFamily="18" charset="2"/>
              </a:rPr>
              <a:t> </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sym typeface="Symbol" panose="05050102010706020507" pitchFamily="18" charset="2"/>
              </a:rPr>
              <a:t>but the molecule as a whole may be polar or nonpolar.</a:t>
            </a:r>
          </a:p>
          <a:p>
            <a:pPr marL="285750" indent="-285750">
              <a:buFont typeface="Arial" panose="020B0604020202020204" pitchFamily="34" charset="0"/>
              <a:buChar char="•"/>
            </a:pPr>
            <a:endPar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sym typeface="Symbol" panose="05050102010706020507" pitchFamily="18" charset="2"/>
            </a:endParaRPr>
          </a:p>
          <a:p>
            <a:pPr marL="285750" indent="-28575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sym typeface="Symbol" panose="05050102010706020507" pitchFamily="18" charset="2"/>
              </a:rPr>
              <a:t>Most reactions of alkyl halides result from </a:t>
            </a:r>
            <a:r>
              <a:rPr lang="en-US" altLang="zh-CN" sz="20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sym typeface="Symbol" panose="05050102010706020507" pitchFamily="18" charset="2"/>
              </a:rPr>
              <a:t>breaking this polarized </a:t>
            </a:r>
            <a:r>
              <a:rPr lang="en-US" altLang="zh-CN" sz="20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C</a:t>
            </a:r>
            <a:r>
              <a:rPr lang="en-US" altLang="zh-CN" sz="20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sym typeface="Symbol" panose="05050102010706020507" pitchFamily="18" charset="2"/>
              </a:rPr>
              <a:t>X bond</a:t>
            </a:r>
            <a:endParaRPr lang="zh-CN" altLang="en-US" sz="2000" b="1" dirty="0">
              <a:solidFill>
                <a:srgbClr val="FF0000"/>
              </a:solidFill>
              <a:latin typeface="Microsoft Sans Serif" panose="020B0604020202020204" pitchFamily="34" charset="0"/>
              <a:cs typeface="Microsoft Sans Serif"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1871218" y="1690446"/>
            <a:ext cx="3672408" cy="1728535"/>
          </a:xfrm>
          <a:prstGeom prst="rect">
            <a:avLst/>
          </a:prstGeom>
        </p:spPr>
      </p:pic>
      <p:sp>
        <p:nvSpPr>
          <p:cNvPr id="14" name="矩形: 圆角 13">
            <a:extLst>
              <a:ext uri="{FF2B5EF4-FFF2-40B4-BE49-F238E27FC236}">
                <a16:creationId xmlns:a16="http://schemas.microsoft.com/office/drawing/2014/main" id="{C2B5A380-646D-4D85-BBD0-41AC198A26F9}"/>
              </a:ext>
            </a:extLst>
          </p:cNvPr>
          <p:cNvSpPr/>
          <p:nvPr/>
        </p:nvSpPr>
        <p:spPr>
          <a:xfrm>
            <a:off x="7189475" y="5085183"/>
            <a:ext cx="4683589" cy="707887"/>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圆角 11">
            <a:extLst>
              <a:ext uri="{FF2B5EF4-FFF2-40B4-BE49-F238E27FC236}">
                <a16:creationId xmlns:a16="http://schemas.microsoft.com/office/drawing/2014/main" id="{C12F403F-6082-4B85-8310-0F8686BFA662}"/>
              </a:ext>
            </a:extLst>
          </p:cNvPr>
          <p:cNvSpPr/>
          <p:nvPr/>
        </p:nvSpPr>
        <p:spPr>
          <a:xfrm>
            <a:off x="6978687" y="1717149"/>
            <a:ext cx="5034283" cy="2254549"/>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灯片编号占位符 1"/>
          <p:cNvSpPr>
            <a:spLocks noGrp="1"/>
          </p:cNvSpPr>
          <p:nvPr>
            <p:ph type="sldNum" sz="quarter" idx="12"/>
          </p:nvPr>
        </p:nvSpPr>
        <p:spPr/>
        <p:txBody>
          <a:bodyPr/>
          <a:lstStyle/>
          <a:p>
            <a:fld id="{0C913308-F349-4B6D-A68A-DD1791B4A57B}" type="slidenum">
              <a:rPr lang="zh-CN" altLang="en-US" smtClean="0"/>
              <a:pPr/>
              <a:t>6</a:t>
            </a:fld>
            <a:endParaRPr lang="zh-CN" altLang="en-US"/>
          </a:p>
        </p:txBody>
      </p:sp>
      <p:sp>
        <p:nvSpPr>
          <p:cNvPr id="3" name="矩形 2"/>
          <p:cNvSpPr/>
          <p:nvPr/>
        </p:nvSpPr>
        <p:spPr>
          <a:xfrm>
            <a:off x="0" y="188156"/>
            <a:ext cx="5538696" cy="461665"/>
          </a:xfrm>
          <a:prstGeom prst="rect">
            <a:avLst/>
          </a:prstGeom>
          <a:solidFill>
            <a:schemeClr val="tx2">
              <a:lumMod val="20000"/>
              <a:lumOff val="80000"/>
            </a:schemeClr>
          </a:solidFill>
        </p:spPr>
        <p:txBody>
          <a:bodyPr wrap="none">
            <a:spAutoFit/>
          </a:bodyPr>
          <a:lstStyle/>
          <a:p>
            <a:r>
              <a:rPr lang="en-US" altLang="zh-CN" sz="2400" b="1" dirty="0">
                <a:latin typeface="Microsoft Sans Serif" pitchFamily="34" charset="0"/>
                <a:cs typeface="Microsoft Sans Serif" pitchFamily="34" charset="0"/>
              </a:rPr>
              <a:t>7-5</a:t>
            </a:r>
            <a:r>
              <a:rPr lang="en-US" altLang="zh-CN" sz="2400" b="1" dirty="0">
                <a:solidFill>
                  <a:srgbClr val="0000FF"/>
                </a:solidFill>
                <a:latin typeface="Microsoft Sans Serif" pitchFamily="34" charset="0"/>
                <a:cs typeface="Microsoft Sans Serif" pitchFamily="34" charset="0"/>
              </a:rPr>
              <a:t> </a:t>
            </a:r>
            <a:r>
              <a:rPr lang="en-US" altLang="zh-CN" sz="2400" b="1" dirty="0">
                <a:latin typeface="Microsoft Sans Serif" pitchFamily="34" charset="0"/>
                <a:cs typeface="Microsoft Sans Serif" pitchFamily="34" charset="0"/>
              </a:rPr>
              <a:t>Physical Properties of Alkyl Halides</a:t>
            </a:r>
          </a:p>
        </p:txBody>
      </p:sp>
      <p:sp>
        <p:nvSpPr>
          <p:cNvPr id="4" name="矩形 3"/>
          <p:cNvSpPr/>
          <p:nvPr/>
        </p:nvSpPr>
        <p:spPr>
          <a:xfrm>
            <a:off x="0" y="723812"/>
            <a:ext cx="2423592" cy="400110"/>
          </a:xfrm>
          <a:prstGeom prst="rect">
            <a:avLst/>
          </a:prstGeom>
          <a:solidFill>
            <a:schemeClr val="tx2">
              <a:lumMod val="20000"/>
              <a:lumOff val="80000"/>
            </a:schemeClr>
          </a:solidFill>
        </p:spPr>
        <p:txBody>
          <a:bodyPr wrap="square">
            <a:spAutoFit/>
          </a:bodyPr>
          <a:lstStyle/>
          <a:p>
            <a:r>
              <a:rPr lang="en-US" altLang="zh-CN" sz="2000" b="1" dirty="0">
                <a:latin typeface="Microsoft Sans Serif" pitchFamily="34" charset="0"/>
                <a:cs typeface="Microsoft Sans Serif" pitchFamily="34" charset="0"/>
              </a:rPr>
              <a:t>7-5-1</a:t>
            </a:r>
            <a:r>
              <a:rPr lang="en-US" altLang="zh-CN" sz="2000" b="1" dirty="0">
                <a:solidFill>
                  <a:srgbClr val="FF0000"/>
                </a:solidFill>
                <a:latin typeface="Microsoft Sans Serif" pitchFamily="34" charset="0"/>
                <a:cs typeface="Microsoft Sans Serif" pitchFamily="34" charset="0"/>
              </a:rPr>
              <a:t> </a:t>
            </a:r>
            <a:r>
              <a:rPr lang="en-US" altLang="zh-CN" sz="2000" b="1" dirty="0">
                <a:latin typeface="Microsoft Sans Serif" pitchFamily="34" charset="0"/>
                <a:cs typeface="Microsoft Sans Serif" pitchFamily="34" charset="0"/>
              </a:rPr>
              <a:t>Boiling points</a:t>
            </a:r>
          </a:p>
        </p:txBody>
      </p:sp>
      <p:sp>
        <p:nvSpPr>
          <p:cNvPr id="5" name="文本框 4"/>
          <p:cNvSpPr txBox="1"/>
          <p:nvPr/>
        </p:nvSpPr>
        <p:spPr>
          <a:xfrm>
            <a:off x="227348" y="1197913"/>
            <a:ext cx="11737304" cy="707886"/>
          </a:xfrm>
          <a:prstGeom prst="rect">
            <a:avLst/>
          </a:prstGeom>
          <a:noFill/>
        </p:spPr>
        <p:txBody>
          <a:bodyPr wrap="square" rtlCol="0">
            <a:spAutoFit/>
          </a:bodyPr>
          <a:lstStyle/>
          <a:p>
            <a:pPr marL="285750" indent="-28575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Two types of intermolecular forces influence the </a:t>
            </a:r>
            <a:r>
              <a:rPr lang="en-US" altLang="zh-CN" sz="2000" b="1" dirty="0" err="1">
                <a:latin typeface="Microsoft Sans Serif" panose="020B0604020202020204" pitchFamily="34" charset="0"/>
                <a:ea typeface="Microsoft Sans Serif" panose="020B0604020202020204" pitchFamily="34" charset="0"/>
                <a:cs typeface="Microsoft Sans Serif" panose="020B0604020202020204" pitchFamily="34" charset="0"/>
              </a:rPr>
              <a:t>b.p</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of alkyl halides: </a:t>
            </a:r>
            <a:r>
              <a:rPr lang="en-US" altLang="zh-CN" sz="20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the London force</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and </a:t>
            </a:r>
            <a:r>
              <a:rPr lang="en-US" altLang="zh-CN" sz="20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dipole-dipole attractions</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t>
            </a:r>
          </a:p>
        </p:txBody>
      </p:sp>
      <p:sp>
        <p:nvSpPr>
          <p:cNvPr id="7" name="椭圆 6"/>
          <p:cNvSpPr/>
          <p:nvPr/>
        </p:nvSpPr>
        <p:spPr>
          <a:xfrm>
            <a:off x="1919536" y="2246667"/>
            <a:ext cx="1022100" cy="1022100"/>
          </a:xfrm>
          <a:prstGeom prst="ellipse">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3890903" y="1905799"/>
            <a:ext cx="1625064" cy="1625064"/>
          </a:xfrm>
          <a:prstGeom prst="ellipse">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205402" y="3298184"/>
            <a:ext cx="5503430" cy="923330"/>
          </a:xfrm>
          <a:prstGeom prst="rect">
            <a:avLst/>
          </a:prstGeom>
          <a:noFill/>
        </p:spPr>
        <p:txBody>
          <a:bodyPr wrap="none" rtlCol="0">
            <a:spAutoFit/>
          </a:bodyPr>
          <a:lstStyle/>
          <a:p>
            <a:pPr algn="ctr"/>
            <a:r>
              <a:rPr lang="en-US" altLang="zh-CN" b="1" dirty="0">
                <a:latin typeface="Consolas" panose="020B0609020204030204" pitchFamily="49" charset="0"/>
              </a:rPr>
              <a:t>CH</a:t>
            </a:r>
            <a:r>
              <a:rPr lang="en-US" altLang="zh-CN" b="1" baseline="-25000" dirty="0">
                <a:latin typeface="Consolas" panose="020B0609020204030204" pitchFamily="49" charset="0"/>
              </a:rPr>
              <a:t>4</a:t>
            </a:r>
            <a:r>
              <a:rPr lang="en-US" altLang="zh-CN" b="1" dirty="0">
                <a:latin typeface="Consolas" panose="020B0609020204030204" pitchFamily="49" charset="0"/>
              </a:rPr>
              <a:t>                     CCl</a:t>
            </a:r>
            <a:r>
              <a:rPr lang="en-US" altLang="zh-CN" b="1" baseline="-25000" dirty="0">
                <a:latin typeface="Consolas" panose="020B0609020204030204" pitchFamily="49" charset="0"/>
              </a:rPr>
              <a:t>4</a:t>
            </a:r>
          </a:p>
          <a:p>
            <a:pPr algn="ctr"/>
            <a:r>
              <a:rPr lang="en-US" altLang="zh-CN" b="1" dirty="0">
                <a:solidFill>
                  <a:srgbClr val="0000FF"/>
                </a:solidFill>
                <a:latin typeface="Consolas" panose="020B0609020204030204" pitchFamily="49" charset="0"/>
              </a:rPr>
              <a:t>nonpolar</a:t>
            </a:r>
            <a:r>
              <a:rPr lang="en-US" altLang="zh-CN" b="1" dirty="0">
                <a:latin typeface="Consolas" panose="020B0609020204030204" pitchFamily="49" charset="0"/>
              </a:rPr>
              <a:t> molecule        </a:t>
            </a:r>
            <a:r>
              <a:rPr lang="en-US" altLang="zh-CN" b="1" dirty="0">
                <a:solidFill>
                  <a:srgbClr val="0000FF"/>
                </a:solidFill>
                <a:latin typeface="Consolas" panose="020B0609020204030204" pitchFamily="49" charset="0"/>
              </a:rPr>
              <a:t>nonpolar</a:t>
            </a:r>
            <a:r>
              <a:rPr lang="en-US" altLang="zh-CN" b="1" dirty="0">
                <a:latin typeface="Consolas" panose="020B0609020204030204" pitchFamily="49" charset="0"/>
              </a:rPr>
              <a:t> molecule</a:t>
            </a:r>
          </a:p>
          <a:p>
            <a:pPr algn="ctr"/>
            <a:r>
              <a:rPr lang="en-US" altLang="zh-CN" b="1" dirty="0" err="1">
                <a:latin typeface="Consolas" panose="020B0609020204030204" pitchFamily="49" charset="0"/>
              </a:rPr>
              <a:t>b.p</a:t>
            </a:r>
            <a:r>
              <a:rPr lang="en-US" altLang="zh-CN" b="1" dirty="0">
                <a:latin typeface="Consolas" panose="020B0609020204030204" pitchFamily="49" charset="0"/>
              </a:rPr>
              <a:t>. -164 </a:t>
            </a:r>
            <a:r>
              <a:rPr lang="en-US" altLang="zh-CN" b="1" dirty="0">
                <a:latin typeface="Consolas" panose="020B0609020204030204" pitchFamily="49" charset="0"/>
                <a:sym typeface="Symbol" panose="05050102010706020507" pitchFamily="18" charset="2"/>
              </a:rPr>
              <a:t>C              </a:t>
            </a:r>
            <a:r>
              <a:rPr lang="en-US" altLang="zh-CN" b="1" dirty="0" err="1">
                <a:latin typeface="Consolas" panose="020B0609020204030204" pitchFamily="49" charset="0"/>
              </a:rPr>
              <a:t>b.p</a:t>
            </a:r>
            <a:r>
              <a:rPr lang="en-US" altLang="zh-CN" b="1" dirty="0">
                <a:latin typeface="Consolas" panose="020B0609020204030204" pitchFamily="49" charset="0"/>
              </a:rPr>
              <a:t>. 77 </a:t>
            </a:r>
            <a:r>
              <a:rPr lang="en-US" altLang="zh-CN" b="1" dirty="0">
                <a:latin typeface="Consolas" panose="020B0609020204030204" pitchFamily="49" charset="0"/>
                <a:sym typeface="Symbol" panose="05050102010706020507" pitchFamily="18" charset="2"/>
              </a:rPr>
              <a:t>C</a:t>
            </a:r>
            <a:endParaRPr lang="zh-CN" altLang="en-US" b="1" dirty="0">
              <a:latin typeface="Consolas" panose="020B0609020204030204" pitchFamily="49" charset="0"/>
            </a:endParaRPr>
          </a:p>
        </p:txBody>
      </p:sp>
      <p:sp>
        <p:nvSpPr>
          <p:cNvPr id="11" name="文本框 10">
            <a:extLst>
              <a:ext uri="{FF2B5EF4-FFF2-40B4-BE49-F238E27FC236}">
                <a16:creationId xmlns:a16="http://schemas.microsoft.com/office/drawing/2014/main" id="{0D10E379-5A89-4BA9-A2F5-506F5577D916}"/>
              </a:ext>
            </a:extLst>
          </p:cNvPr>
          <p:cNvSpPr txBox="1"/>
          <p:nvPr/>
        </p:nvSpPr>
        <p:spPr>
          <a:xfrm>
            <a:off x="7104112" y="1724929"/>
            <a:ext cx="4908858" cy="2246769"/>
          </a:xfrm>
          <a:prstGeom prst="rect">
            <a:avLst/>
          </a:prstGeom>
          <a:noFill/>
        </p:spPr>
        <p:txBody>
          <a:bodyPr wrap="square">
            <a:spAutoFit/>
          </a:bodyPr>
          <a:lstStyle/>
          <a:p>
            <a:r>
              <a:rPr lang="en-US" altLang="zh-CN" sz="2000" b="1" dirty="0">
                <a:solidFill>
                  <a:srgbClr val="0000FF"/>
                </a:solidFill>
                <a:latin typeface="Microsoft Sans Serif" panose="020B0604020202020204" pitchFamily="34" charset="0"/>
                <a:ea typeface="Microsoft Sans Serif" panose="020B0604020202020204" pitchFamily="34" charset="0"/>
                <a:cs typeface="Microsoft Sans Serif" panose="020B0604020202020204" pitchFamily="34" charset="0"/>
              </a:rPr>
              <a:t>London forces are surface attractions</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resulting from </a:t>
            </a:r>
            <a:r>
              <a:rPr lang="en-US" altLang="zh-CN" sz="2000" b="1" dirty="0">
                <a:solidFill>
                  <a:srgbClr val="0000FF"/>
                </a:solidFill>
                <a:latin typeface="Microsoft Sans Serif" panose="020B0604020202020204" pitchFamily="34" charset="0"/>
                <a:ea typeface="Microsoft Sans Serif" panose="020B0604020202020204" pitchFamily="34" charset="0"/>
                <a:cs typeface="Microsoft Sans Serif" panose="020B0604020202020204" pitchFamily="34" charset="0"/>
              </a:rPr>
              <a:t>induced temporary dipoles of all molecules</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a:t>
            </a:r>
          </a:p>
          <a:p>
            <a:endParaRPr lang="en-US" altLang="zh-CN" sz="2000" b="1" dirty="0">
              <a:solidFill>
                <a:srgbClr val="0000FF"/>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r>
              <a:rPr lang="en-US" altLang="zh-CN" sz="2000" b="1" dirty="0">
                <a:solidFill>
                  <a:srgbClr val="0000FF"/>
                </a:solidFill>
                <a:latin typeface="Microsoft Sans Serif" panose="020B0604020202020204" pitchFamily="34" charset="0"/>
                <a:ea typeface="Microsoft Sans Serif" panose="020B0604020202020204" pitchFamily="34" charset="0"/>
                <a:cs typeface="Microsoft Sans Serif" panose="020B0604020202020204" pitchFamily="34" charset="0"/>
              </a:rPr>
              <a:t>Molecules with larger surface areas have larger London attractions, resulting in higher boiling points</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t>
            </a:r>
          </a:p>
        </p:txBody>
      </p:sp>
      <p:sp>
        <p:nvSpPr>
          <p:cNvPr id="13" name="文本框 12">
            <a:extLst>
              <a:ext uri="{FF2B5EF4-FFF2-40B4-BE49-F238E27FC236}">
                <a16:creationId xmlns:a16="http://schemas.microsoft.com/office/drawing/2014/main" id="{83D4E4AD-55B1-4ACB-8EEF-13EF6A0DBC4D}"/>
              </a:ext>
            </a:extLst>
          </p:cNvPr>
          <p:cNvSpPr txBox="1"/>
          <p:nvPr/>
        </p:nvSpPr>
        <p:spPr>
          <a:xfrm>
            <a:off x="7307264" y="5085184"/>
            <a:ext cx="4768953" cy="707886"/>
          </a:xfrm>
          <a:prstGeom prst="rect">
            <a:avLst/>
          </a:prstGeom>
          <a:noFill/>
        </p:spPr>
        <p:txBody>
          <a:bodyPr wrap="square" rtlCol="0">
            <a:spAutoFit/>
          </a:bodyPr>
          <a:lstStyle/>
          <a:p>
            <a:r>
              <a:rPr lang="en-US" altLang="zh-CN" sz="2000" b="1" dirty="0">
                <a:solidFill>
                  <a:srgbClr val="0000FF"/>
                </a:solidFill>
                <a:latin typeface="Microsoft Sans Serif" panose="020B0604020202020204" pitchFamily="34" charset="0"/>
                <a:ea typeface="Microsoft Sans Serif" panose="020B0604020202020204" pitchFamily="34" charset="0"/>
                <a:cs typeface="Microsoft Sans Serif" panose="020B0604020202020204" pitchFamily="34" charset="0"/>
              </a:rPr>
              <a:t>Dipole-dipole attractions in polar alkyl halides</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sym typeface="Symbol" panose="05050102010706020507" pitchFamily="18" charset="2"/>
              </a:rPr>
              <a:t> also affect the boiling points.</a:t>
            </a:r>
            <a:endParaRPr lang="zh-CN" altLang="en-US" sz="2000" b="1" dirty="0">
              <a:latin typeface="Microsoft Sans Serif" panose="020B0604020202020204" pitchFamily="34" charset="0"/>
              <a:cs typeface="Microsoft Sans Serif" panose="020B0604020202020204" pitchFamily="34" charset="0"/>
            </a:endParaRPr>
          </a:p>
        </p:txBody>
      </p:sp>
      <p:pic>
        <p:nvPicPr>
          <p:cNvPr id="15" name="图片 14">
            <a:extLst>
              <a:ext uri="{FF2B5EF4-FFF2-40B4-BE49-F238E27FC236}">
                <a16:creationId xmlns:a16="http://schemas.microsoft.com/office/drawing/2014/main" id="{18C3D5B0-C679-41E4-A6F3-B23C3F90558C}"/>
              </a:ext>
            </a:extLst>
          </p:cNvPr>
          <p:cNvPicPr>
            <a:picLocks noChangeAspect="1"/>
          </p:cNvPicPr>
          <p:nvPr/>
        </p:nvPicPr>
        <p:blipFill>
          <a:blip r:embed="rId3"/>
          <a:stretch>
            <a:fillRect/>
          </a:stretch>
        </p:blipFill>
        <p:spPr>
          <a:xfrm>
            <a:off x="1527543" y="4240305"/>
            <a:ext cx="5055864" cy="2095926"/>
          </a:xfrm>
          <a:prstGeom prst="rect">
            <a:avLst/>
          </a:prstGeom>
        </p:spPr>
      </p:pic>
      <p:sp>
        <p:nvSpPr>
          <p:cNvPr id="16" name="文本框 15">
            <a:extLst>
              <a:ext uri="{FF2B5EF4-FFF2-40B4-BE49-F238E27FC236}">
                <a16:creationId xmlns:a16="http://schemas.microsoft.com/office/drawing/2014/main" id="{34682302-60B8-4AE5-905A-3C3621862C0A}"/>
              </a:ext>
            </a:extLst>
          </p:cNvPr>
          <p:cNvSpPr txBox="1"/>
          <p:nvPr/>
        </p:nvSpPr>
        <p:spPr>
          <a:xfrm>
            <a:off x="695400" y="5949860"/>
            <a:ext cx="7318748" cy="923330"/>
          </a:xfrm>
          <a:prstGeom prst="rect">
            <a:avLst/>
          </a:prstGeom>
          <a:noFill/>
        </p:spPr>
        <p:txBody>
          <a:bodyPr wrap="square" rtlCol="0">
            <a:spAutoFit/>
          </a:bodyPr>
          <a:lstStyle/>
          <a:p>
            <a:pPr algn="ctr"/>
            <a:r>
              <a:rPr lang="en-US" altLang="zh-CN" b="1" i="1" dirty="0">
                <a:latin typeface="Consolas" panose="020B0609020204030204" pitchFamily="49" charset="0"/>
              </a:rPr>
              <a:t>    </a:t>
            </a:r>
            <a:r>
              <a:rPr lang="en-US" altLang="zh-CN" b="1" i="1" dirty="0">
                <a:solidFill>
                  <a:schemeClr val="bg1"/>
                </a:solidFill>
                <a:latin typeface="Consolas" panose="020B0609020204030204" pitchFamily="49" charset="0"/>
              </a:rPr>
              <a:t>n</a:t>
            </a:r>
            <a:r>
              <a:rPr lang="en-US" altLang="zh-CN" b="1" dirty="0">
                <a:solidFill>
                  <a:schemeClr val="bg1"/>
                </a:solidFill>
                <a:latin typeface="Consolas" panose="020B0609020204030204" pitchFamily="49" charset="0"/>
              </a:rPr>
              <a:t>-butane  </a:t>
            </a:r>
            <a:r>
              <a:rPr lang="en-US" altLang="zh-CN" b="1" dirty="0">
                <a:latin typeface="Consolas" panose="020B0609020204030204" pitchFamily="49" charset="0"/>
              </a:rPr>
              <a:t>                       </a:t>
            </a:r>
            <a:r>
              <a:rPr lang="en-US" altLang="zh-CN" b="1" dirty="0">
                <a:solidFill>
                  <a:schemeClr val="bg1"/>
                </a:solidFill>
                <a:latin typeface="Consolas" panose="020B0609020204030204" pitchFamily="49" charset="0"/>
              </a:rPr>
              <a:t>n-butyl </a:t>
            </a:r>
            <a:r>
              <a:rPr lang="en-US" altLang="zh-CN" b="1" dirty="0">
                <a:latin typeface="Consolas" panose="020B0609020204030204" pitchFamily="49" charset="0"/>
              </a:rPr>
              <a:t>fluoride</a:t>
            </a:r>
            <a:endParaRPr lang="en-US" altLang="zh-CN" b="1" baseline="-25000" dirty="0">
              <a:latin typeface="Consolas" panose="020B0609020204030204" pitchFamily="49" charset="0"/>
            </a:endParaRPr>
          </a:p>
          <a:p>
            <a:pPr algn="ctr"/>
            <a:r>
              <a:rPr lang="en-US" altLang="zh-CN" b="1" dirty="0">
                <a:solidFill>
                  <a:srgbClr val="0000FF"/>
                </a:solidFill>
                <a:latin typeface="Consolas" panose="020B0609020204030204" pitchFamily="49" charset="0"/>
              </a:rPr>
              <a:t>nonpolar</a:t>
            </a:r>
            <a:r>
              <a:rPr lang="en-US" altLang="zh-CN" b="1" dirty="0">
                <a:latin typeface="Consolas" panose="020B0609020204030204" pitchFamily="49" charset="0"/>
              </a:rPr>
              <a:t> molecule                    </a:t>
            </a:r>
            <a:r>
              <a:rPr lang="en-US" altLang="zh-CN" b="1" dirty="0">
                <a:solidFill>
                  <a:srgbClr val="FF0000"/>
                </a:solidFill>
                <a:latin typeface="Consolas" panose="020B0609020204030204" pitchFamily="49" charset="0"/>
              </a:rPr>
              <a:t>polar</a:t>
            </a:r>
            <a:r>
              <a:rPr lang="en-US" altLang="zh-CN" b="1" dirty="0">
                <a:latin typeface="Consolas" panose="020B0609020204030204" pitchFamily="49" charset="0"/>
              </a:rPr>
              <a:t> molecule</a:t>
            </a:r>
          </a:p>
          <a:p>
            <a:pPr algn="ctr"/>
            <a:r>
              <a:rPr lang="en-US" altLang="zh-CN" b="1" dirty="0" err="1">
                <a:latin typeface="Consolas" panose="020B0609020204030204" pitchFamily="49" charset="0"/>
              </a:rPr>
              <a:t>b.p</a:t>
            </a:r>
            <a:r>
              <a:rPr lang="en-US" altLang="zh-CN" b="1" dirty="0">
                <a:latin typeface="Consolas" panose="020B0609020204030204" pitchFamily="49" charset="0"/>
              </a:rPr>
              <a:t>. 0 </a:t>
            </a:r>
            <a:r>
              <a:rPr lang="en-US" altLang="zh-CN" b="1" dirty="0">
                <a:latin typeface="Consolas" panose="020B0609020204030204" pitchFamily="49" charset="0"/>
                <a:sym typeface="Symbol" panose="05050102010706020507" pitchFamily="18" charset="2"/>
              </a:rPr>
              <a:t>C                        </a:t>
            </a:r>
            <a:r>
              <a:rPr lang="en-US" altLang="zh-CN" b="1" dirty="0" err="1">
                <a:latin typeface="Consolas" panose="020B0609020204030204" pitchFamily="49" charset="0"/>
              </a:rPr>
              <a:t>b.p.</a:t>
            </a:r>
            <a:r>
              <a:rPr lang="en-US" altLang="zh-CN" b="1" dirty="0">
                <a:latin typeface="Consolas" panose="020B0609020204030204" pitchFamily="49" charset="0"/>
              </a:rPr>
              <a:t> 33 </a:t>
            </a:r>
            <a:r>
              <a:rPr lang="en-US" altLang="zh-CN" b="1" dirty="0">
                <a:latin typeface="Consolas" panose="020B0609020204030204" pitchFamily="49" charset="0"/>
                <a:sym typeface="Symbol" panose="05050102010706020507" pitchFamily="18" charset="2"/>
              </a:rPr>
              <a:t>C</a:t>
            </a:r>
            <a:endParaRPr lang="zh-CN" altLang="en-US" b="1" dirty="0">
              <a:latin typeface="Consolas" panose="020B0609020204030204" pitchFamily="49" charset="0"/>
            </a:endParaRPr>
          </a:p>
        </p:txBody>
      </p:sp>
    </p:spTree>
    <p:extLst>
      <p:ext uri="{BB962C8B-B14F-4D97-AF65-F5344CB8AC3E}">
        <p14:creationId xmlns:p14="http://schemas.microsoft.com/office/powerpoint/2010/main" val="23666470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7</a:t>
            </a:fld>
            <a:endParaRPr lang="zh-CN" altLang="en-US"/>
          </a:p>
        </p:txBody>
      </p:sp>
      <p:sp>
        <p:nvSpPr>
          <p:cNvPr id="6" name="椭圆 5"/>
          <p:cNvSpPr/>
          <p:nvPr/>
        </p:nvSpPr>
        <p:spPr>
          <a:xfrm>
            <a:off x="2613738" y="1088740"/>
            <a:ext cx="2376264" cy="23762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6225390" y="1124744"/>
            <a:ext cx="2520280" cy="252028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4916" y="222309"/>
            <a:ext cx="2058635" cy="400110"/>
          </a:xfrm>
          <a:prstGeom prst="rect">
            <a:avLst/>
          </a:prstGeom>
          <a:solidFill>
            <a:schemeClr val="tx2">
              <a:lumMod val="20000"/>
              <a:lumOff val="80000"/>
            </a:schemeClr>
          </a:solidFill>
        </p:spPr>
        <p:txBody>
          <a:bodyPr wrap="square">
            <a:spAutoFit/>
          </a:bodyPr>
          <a:lstStyle/>
          <a:p>
            <a:r>
              <a:rPr lang="en-US" altLang="zh-CN" sz="2000" b="1" dirty="0">
                <a:latin typeface="Microsoft Sans Serif" pitchFamily="34" charset="0"/>
                <a:cs typeface="Microsoft Sans Serif" pitchFamily="34" charset="0"/>
              </a:rPr>
              <a:t>7-5-2</a:t>
            </a:r>
            <a:r>
              <a:rPr lang="en-US" altLang="zh-CN" sz="2000" b="1" dirty="0">
                <a:solidFill>
                  <a:srgbClr val="FF0000"/>
                </a:solidFill>
                <a:latin typeface="Microsoft Sans Serif" pitchFamily="34" charset="0"/>
                <a:cs typeface="Microsoft Sans Serif" pitchFamily="34" charset="0"/>
              </a:rPr>
              <a:t> </a:t>
            </a:r>
            <a:r>
              <a:rPr lang="en-US" altLang="zh-CN" sz="2000" b="1" dirty="0">
                <a:latin typeface="Microsoft Sans Serif" pitchFamily="34" charset="0"/>
                <a:cs typeface="Microsoft Sans Serif" pitchFamily="34" charset="0"/>
              </a:rPr>
              <a:t>Densities</a:t>
            </a:r>
          </a:p>
        </p:txBody>
      </p:sp>
      <p:sp>
        <p:nvSpPr>
          <p:cNvPr id="10" name="文本框 9"/>
          <p:cNvSpPr txBox="1"/>
          <p:nvPr/>
        </p:nvSpPr>
        <p:spPr>
          <a:xfrm>
            <a:off x="263352" y="637755"/>
            <a:ext cx="8717451" cy="400110"/>
          </a:xfrm>
          <a:prstGeom prst="rect">
            <a:avLst/>
          </a:prstGeom>
          <a:noFill/>
        </p:spPr>
        <p:txBody>
          <a:bodyPr wrap="none" rtlCol="0">
            <a:spAutoFit/>
          </a:bodyPr>
          <a:lstStyle/>
          <a:p>
            <a:pPr marL="285750" indent="-28575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The presence of halogen atoms in alkyl halides increases their densities.</a:t>
            </a:r>
            <a:endParaRPr lang="zh-CN" altLang="en-US" sz="2000" b="1" dirty="0">
              <a:latin typeface="Microsoft Sans Serif" panose="020B0604020202020204" pitchFamily="34" charset="0"/>
              <a:cs typeface="Microsoft Sans Serif" panose="020B0604020202020204" pitchFamily="34" charset="0"/>
            </a:endParaRPr>
          </a:p>
        </p:txBody>
      </p:sp>
      <p:sp>
        <p:nvSpPr>
          <p:cNvPr id="13" name="文本框 12"/>
          <p:cNvSpPr txBox="1"/>
          <p:nvPr/>
        </p:nvSpPr>
        <p:spPr>
          <a:xfrm>
            <a:off x="263352" y="2415103"/>
            <a:ext cx="10234045" cy="707886"/>
          </a:xfrm>
          <a:prstGeom prst="rect">
            <a:avLst/>
          </a:prstGeom>
          <a:noFill/>
        </p:spPr>
        <p:txBody>
          <a:bodyPr wrap="square" rtlCol="0">
            <a:spAutoFit/>
          </a:bodyPr>
          <a:lstStyle/>
          <a:p>
            <a:pPr marL="342900" indent="-34290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Alkyl chlorides with two or more chlorine atoms are denser than water. </a:t>
            </a:r>
          </a:p>
          <a:p>
            <a:pPr marL="342900" indent="-34290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All alkyl bromides and alkyl iodides are denser than water.</a:t>
            </a:r>
            <a:endParaRPr lang="zh-CN" altLang="en-US" sz="2000" b="1" dirty="0">
              <a:latin typeface="Microsoft Sans Serif" panose="020B0604020202020204" pitchFamily="34" charset="0"/>
              <a:cs typeface="Microsoft Sans Serif" panose="020B0604020202020204" pitchFamily="34" charset="0"/>
            </a:endParaRPr>
          </a:p>
        </p:txBody>
      </p:sp>
      <p:graphicFrame>
        <p:nvGraphicFramePr>
          <p:cNvPr id="4" name="对象 3">
            <a:extLst>
              <a:ext uri="{FF2B5EF4-FFF2-40B4-BE49-F238E27FC236}">
                <a16:creationId xmlns:a16="http://schemas.microsoft.com/office/drawing/2014/main" id="{994CA479-1308-455E-8B32-A9CD3B22F392}"/>
              </a:ext>
            </a:extLst>
          </p:cNvPr>
          <p:cNvGraphicFramePr>
            <a:graphicFrameLocks noChangeAspect="1"/>
          </p:cNvGraphicFramePr>
          <p:nvPr>
            <p:extLst>
              <p:ext uri="{D42A27DB-BD31-4B8C-83A1-F6EECF244321}">
                <p14:modId xmlns:p14="http://schemas.microsoft.com/office/powerpoint/2010/main" val="3109012772"/>
              </p:ext>
            </p:extLst>
          </p:nvPr>
        </p:nvGraphicFramePr>
        <p:xfrm>
          <a:off x="407368" y="1147672"/>
          <a:ext cx="8163995" cy="1197385"/>
        </p:xfrm>
        <a:graphic>
          <a:graphicData uri="http://schemas.openxmlformats.org/presentationml/2006/ole">
            <mc:AlternateContent xmlns:mc="http://schemas.openxmlformats.org/markup-compatibility/2006">
              <mc:Choice xmlns:v="urn:schemas-microsoft-com:vml" Requires="v">
                <p:oleObj spid="_x0000_s67973" name="CS ChemDraw Drawing" r:id="rId3" imgW="4167770" imgH="610877" progId="ChemDraw.Document.6.0">
                  <p:embed/>
                </p:oleObj>
              </mc:Choice>
              <mc:Fallback>
                <p:oleObj name="CS ChemDraw Drawing" r:id="rId3" imgW="4167770" imgH="610877" progId="ChemDraw.Document.6.0">
                  <p:embed/>
                  <p:pic>
                    <p:nvPicPr>
                      <p:cNvPr id="0" name=""/>
                      <p:cNvPicPr/>
                      <p:nvPr/>
                    </p:nvPicPr>
                    <p:blipFill>
                      <a:blip r:embed="rId4"/>
                      <a:stretch>
                        <a:fillRect/>
                      </a:stretch>
                    </p:blipFill>
                    <p:spPr>
                      <a:xfrm>
                        <a:off x="407368" y="1147672"/>
                        <a:ext cx="8163995" cy="1197385"/>
                      </a:xfrm>
                      <a:prstGeom prst="rect">
                        <a:avLst/>
                      </a:prstGeom>
                    </p:spPr>
                  </p:pic>
                </p:oleObj>
              </mc:Fallback>
            </mc:AlternateContent>
          </a:graphicData>
        </a:graphic>
      </p:graphicFrame>
      <p:sp>
        <p:nvSpPr>
          <p:cNvPr id="14" name="矩形 13">
            <a:extLst>
              <a:ext uri="{FF2B5EF4-FFF2-40B4-BE49-F238E27FC236}">
                <a16:creationId xmlns:a16="http://schemas.microsoft.com/office/drawing/2014/main" id="{763BFB6F-4FF9-40A6-A679-C27E95EE8227}"/>
              </a:ext>
            </a:extLst>
          </p:cNvPr>
          <p:cNvSpPr/>
          <p:nvPr/>
        </p:nvSpPr>
        <p:spPr>
          <a:xfrm>
            <a:off x="-11852" y="3506912"/>
            <a:ext cx="2075403" cy="400110"/>
          </a:xfrm>
          <a:prstGeom prst="rect">
            <a:avLst/>
          </a:prstGeom>
          <a:solidFill>
            <a:schemeClr val="tx2">
              <a:lumMod val="20000"/>
              <a:lumOff val="80000"/>
            </a:schemeClr>
          </a:solidFill>
        </p:spPr>
        <p:txBody>
          <a:bodyPr wrap="square">
            <a:spAutoFit/>
          </a:bodyPr>
          <a:lstStyle/>
          <a:p>
            <a:r>
              <a:rPr lang="en-US" altLang="zh-CN" sz="2000" b="1" dirty="0">
                <a:latin typeface="Microsoft Sans Serif" pitchFamily="34" charset="0"/>
                <a:cs typeface="Microsoft Sans Serif" pitchFamily="34" charset="0"/>
              </a:rPr>
              <a:t>7-5-3</a:t>
            </a:r>
            <a:r>
              <a:rPr lang="en-US" altLang="zh-CN" sz="2000" b="1" dirty="0">
                <a:solidFill>
                  <a:srgbClr val="FF0000"/>
                </a:solidFill>
                <a:latin typeface="Microsoft Sans Serif" pitchFamily="34" charset="0"/>
                <a:cs typeface="Microsoft Sans Serif" pitchFamily="34" charset="0"/>
              </a:rPr>
              <a:t> </a:t>
            </a:r>
            <a:r>
              <a:rPr lang="en-US" altLang="zh-CN" sz="2000" b="1" dirty="0">
                <a:latin typeface="Microsoft Sans Serif" pitchFamily="34" charset="0"/>
                <a:cs typeface="Microsoft Sans Serif" pitchFamily="34" charset="0"/>
              </a:rPr>
              <a:t>Solubilities</a:t>
            </a:r>
          </a:p>
        </p:txBody>
      </p:sp>
      <p:sp>
        <p:nvSpPr>
          <p:cNvPr id="15" name="文本框 14">
            <a:extLst>
              <a:ext uri="{FF2B5EF4-FFF2-40B4-BE49-F238E27FC236}">
                <a16:creationId xmlns:a16="http://schemas.microsoft.com/office/drawing/2014/main" id="{81D88767-6DE5-47D9-B491-A7EC47CDCEA7}"/>
              </a:ext>
            </a:extLst>
          </p:cNvPr>
          <p:cNvSpPr txBox="1"/>
          <p:nvPr/>
        </p:nvSpPr>
        <p:spPr>
          <a:xfrm>
            <a:off x="263352" y="4010968"/>
            <a:ext cx="11593288" cy="1323439"/>
          </a:xfrm>
          <a:prstGeom prst="rect">
            <a:avLst/>
          </a:prstGeom>
          <a:noFill/>
        </p:spPr>
        <p:txBody>
          <a:bodyPr wrap="square" rtlCol="0">
            <a:spAutoFit/>
          </a:bodyPr>
          <a:lstStyle/>
          <a:p>
            <a:pPr marL="285750" indent="-28575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Alkyl halides are hydrophobic (or lipophilic). They do not dissolve in water, though most of them are polar molecules.</a:t>
            </a:r>
          </a:p>
          <a:p>
            <a:pPr marL="285750" indent="-285750">
              <a:buFont typeface="Arial" panose="020B0604020202020204" pitchFamily="34" charset="0"/>
              <a:buChar char="•"/>
            </a:pPr>
            <a:endPar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285750" indent="-285750">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Alkyl halides are </a:t>
            </a:r>
            <a:r>
              <a:rPr lang="en-US" altLang="zh-CN" sz="2000" b="1" dirty="0">
                <a:solidFill>
                  <a:srgbClr val="0000FF"/>
                </a:solidFill>
                <a:latin typeface="Microsoft Sans Serif" panose="020B0604020202020204" pitchFamily="34" charset="0"/>
                <a:ea typeface="Microsoft Sans Serif" panose="020B0604020202020204" pitchFamily="34" charset="0"/>
                <a:cs typeface="Microsoft Sans Serif" panose="020B0604020202020204" pitchFamily="34" charset="0"/>
              </a:rPr>
              <a:t>soluble in organic solvents</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such as alcohols, ethers and alkanes.</a:t>
            </a:r>
            <a:endParaRPr lang="zh-CN" altLang="en-US" sz="2000" b="1" dirty="0">
              <a:latin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23471715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8</a:t>
            </a:fld>
            <a:endParaRPr lang="zh-CN" altLang="en-US"/>
          </a:p>
        </p:txBody>
      </p:sp>
      <p:sp>
        <p:nvSpPr>
          <p:cNvPr id="3" name="TextBox 2"/>
          <p:cNvSpPr txBox="1"/>
          <p:nvPr/>
        </p:nvSpPr>
        <p:spPr>
          <a:xfrm>
            <a:off x="0" y="280498"/>
            <a:ext cx="8616280" cy="461665"/>
          </a:xfrm>
          <a:prstGeom prst="rect">
            <a:avLst/>
          </a:prstGeom>
          <a:solidFill>
            <a:schemeClr val="tx2">
              <a:lumMod val="20000"/>
              <a:lumOff val="80000"/>
            </a:schemeClr>
          </a:solidFill>
        </p:spPr>
        <p:txBody>
          <a:bodyPr wrap="square" rtlCol="0">
            <a:spAutoFit/>
          </a:bodyPr>
          <a:lstStyle/>
          <a:p>
            <a:r>
              <a:rPr lang="en-US" altLang="zh-CN" sz="2400" b="1" dirty="0">
                <a:latin typeface="Microsoft Sans Serif" pitchFamily="34" charset="0"/>
                <a:cs typeface="Microsoft Sans Serif" pitchFamily="34" charset="0"/>
              </a:rPr>
              <a:t>7-6 Second-Order Nucleophilic Substitution: The </a:t>
            </a:r>
            <a:r>
              <a:rPr lang="en-US" altLang="zh-CN" sz="2400" b="1" dirty="0">
                <a:solidFill>
                  <a:srgbClr val="FF0000"/>
                </a:solidFill>
                <a:latin typeface="Microsoft Sans Serif" pitchFamily="34" charset="0"/>
                <a:cs typeface="Microsoft Sans Serif" pitchFamily="34" charset="0"/>
              </a:rPr>
              <a:t>S</a:t>
            </a:r>
            <a:r>
              <a:rPr lang="en-US" altLang="zh-CN" sz="2400" b="1" baseline="-25000" dirty="0">
                <a:solidFill>
                  <a:srgbClr val="FF0000"/>
                </a:solidFill>
                <a:latin typeface="Microsoft Sans Serif" pitchFamily="34" charset="0"/>
                <a:cs typeface="Microsoft Sans Serif" pitchFamily="34" charset="0"/>
              </a:rPr>
              <a:t>N</a:t>
            </a:r>
            <a:r>
              <a:rPr lang="en-US" altLang="zh-CN" sz="2400" b="1" dirty="0">
                <a:solidFill>
                  <a:srgbClr val="FF0000"/>
                </a:solidFill>
                <a:latin typeface="Microsoft Sans Serif" pitchFamily="34" charset="0"/>
                <a:cs typeface="Microsoft Sans Serif" pitchFamily="34" charset="0"/>
              </a:rPr>
              <a:t>2 Reaction</a:t>
            </a:r>
          </a:p>
        </p:txBody>
      </p:sp>
      <p:sp>
        <p:nvSpPr>
          <p:cNvPr id="5" name="TextBox 4"/>
          <p:cNvSpPr txBox="1"/>
          <p:nvPr/>
        </p:nvSpPr>
        <p:spPr>
          <a:xfrm>
            <a:off x="335360" y="2925554"/>
            <a:ext cx="11377264" cy="1631216"/>
          </a:xfrm>
          <a:prstGeom prst="rect">
            <a:avLst/>
          </a:prstGeom>
          <a:noFill/>
        </p:spPr>
        <p:txBody>
          <a:bodyPr wrap="square" rtlCol="0">
            <a:spAutoFit/>
          </a:bodyPr>
          <a:lstStyle/>
          <a:p>
            <a:pPr marL="342900" indent="-342900">
              <a:buFont typeface="Arial" panose="020B0604020202020204" pitchFamily="34" charset="0"/>
              <a:buChar char="•"/>
            </a:pPr>
            <a:r>
              <a:rPr lang="en-US" altLang="zh-CN" sz="2000" b="1" dirty="0">
                <a:solidFill>
                  <a:srgbClr val="FF0000"/>
                </a:solidFill>
                <a:latin typeface="Microsoft Sans Serif" pitchFamily="34" charset="0"/>
                <a:cs typeface="Microsoft Sans Serif" pitchFamily="34" charset="0"/>
              </a:rPr>
              <a:t>Nucleophile</a:t>
            </a:r>
            <a:r>
              <a:rPr lang="en-US" altLang="zh-CN" sz="2000" b="1" dirty="0">
                <a:latin typeface="Microsoft Sans Serif" pitchFamily="34" charset="0"/>
                <a:cs typeface="Microsoft Sans Serif" pitchFamily="34" charset="0"/>
              </a:rPr>
              <a:t>: the species with unshared pairs of electrons</a:t>
            </a:r>
            <a:r>
              <a:rPr lang="en-US" altLang="zh-CN" sz="2000" b="1" dirty="0">
                <a:solidFill>
                  <a:srgbClr val="0000FF"/>
                </a:solidFill>
                <a:latin typeface="Microsoft Sans Serif" pitchFamily="34" charset="0"/>
                <a:cs typeface="Microsoft Sans Serif" pitchFamily="34" charset="0"/>
              </a:rPr>
              <a:t> </a:t>
            </a:r>
            <a:r>
              <a:rPr lang="en-US" altLang="zh-CN" sz="2000" b="1" dirty="0">
                <a:latin typeface="Microsoft Sans Serif" pitchFamily="34" charset="0"/>
                <a:cs typeface="Microsoft Sans Serif" pitchFamily="34" charset="0"/>
              </a:rPr>
              <a:t>or a negative charge.</a:t>
            </a:r>
          </a:p>
          <a:p>
            <a:pPr>
              <a:buFont typeface="Arial" pitchFamily="34" charset="0"/>
              <a:buChar char="•"/>
            </a:pPr>
            <a:endParaRPr lang="en-US" altLang="zh-CN" sz="2000" b="1" dirty="0">
              <a:latin typeface="Microsoft Sans Serif" pitchFamily="34" charset="0"/>
              <a:cs typeface="Microsoft Sans Serif" pitchFamily="34" charset="0"/>
            </a:endParaRPr>
          </a:p>
          <a:p>
            <a:pPr marL="342900" indent="-342900">
              <a:buFont typeface="Arial" panose="020B0604020202020204" pitchFamily="34" charset="0"/>
              <a:buChar char="•"/>
            </a:pPr>
            <a:r>
              <a:rPr lang="en-US" altLang="zh-CN" sz="2000" b="1" dirty="0">
                <a:solidFill>
                  <a:srgbClr val="0000FF"/>
                </a:solidFill>
                <a:latin typeface="Microsoft Sans Serif" pitchFamily="34" charset="0"/>
                <a:cs typeface="Microsoft Sans Serif" pitchFamily="34" charset="0"/>
              </a:rPr>
              <a:t>Substrate</a:t>
            </a:r>
            <a:r>
              <a:rPr lang="en-US" altLang="zh-CN" sz="2000" b="1" dirty="0">
                <a:latin typeface="Microsoft Sans Serif" pitchFamily="34" charset="0"/>
                <a:cs typeface="Microsoft Sans Serif" pitchFamily="34" charset="0"/>
              </a:rPr>
              <a:t>: the compound (alkyl halide) that is attacked by the reagent. </a:t>
            </a:r>
            <a:r>
              <a:rPr lang="en-US" altLang="zh-CN" sz="2000" b="1" dirty="0">
                <a:solidFill>
                  <a:srgbClr val="0000FF"/>
                </a:solidFill>
                <a:latin typeface="Microsoft Sans Serif" pitchFamily="34" charset="0"/>
                <a:cs typeface="Microsoft Sans Serif" pitchFamily="34" charset="0"/>
              </a:rPr>
              <a:t>Alkyl halide is an electrophile</a:t>
            </a:r>
            <a:r>
              <a:rPr lang="en-US" altLang="zh-CN" sz="2000" b="1" dirty="0">
                <a:latin typeface="Microsoft Sans Serif" pitchFamily="34" charset="0"/>
                <a:cs typeface="Microsoft Sans Serif" pitchFamily="34" charset="0"/>
              </a:rPr>
              <a:t> in this reaction, because the carbon atom bonded to halogen is electrophilic, bearing a partial positive charge.</a:t>
            </a:r>
            <a:endParaRPr lang="zh-CN" altLang="en-US" sz="2000" b="1" dirty="0">
              <a:latin typeface="Microsoft Sans Serif" pitchFamily="34" charset="0"/>
              <a:cs typeface="Microsoft Sans Serif" pitchFamily="34" charset="0"/>
            </a:endParaRPr>
          </a:p>
        </p:txBody>
      </p:sp>
      <p:sp>
        <p:nvSpPr>
          <p:cNvPr id="6" name="矩形 5"/>
          <p:cNvSpPr/>
          <p:nvPr/>
        </p:nvSpPr>
        <p:spPr>
          <a:xfrm>
            <a:off x="335360" y="827202"/>
            <a:ext cx="7704856" cy="400110"/>
          </a:xfrm>
          <a:prstGeom prst="rect">
            <a:avLst/>
          </a:prstGeom>
        </p:spPr>
        <p:txBody>
          <a:bodyPr wrap="square">
            <a:spAutoFit/>
          </a:bodyPr>
          <a:lstStyle/>
          <a:p>
            <a:pPr marL="342900" indent="-342900">
              <a:buFont typeface="Arial" panose="020B0604020202020204" pitchFamily="34" charset="0"/>
              <a:buChar char="•"/>
            </a:pPr>
            <a:r>
              <a:rPr lang="en-US" altLang="zh-CN" sz="2000" b="1" dirty="0">
                <a:latin typeface="Microsoft Sans Serif" pitchFamily="34" charset="0"/>
                <a:cs typeface="Microsoft Sans Serif" pitchFamily="34" charset="0"/>
              </a:rPr>
              <a:t>The general form of a nucleophilic substitution reaction:</a:t>
            </a:r>
            <a:endParaRPr lang="zh-CN" altLang="en-US" sz="2000" dirty="0">
              <a:latin typeface="Microsoft Sans Serif" pitchFamily="34" charset="0"/>
              <a:cs typeface="Microsoft Sans Serif" pitchFamily="34" charset="0"/>
            </a:endParaRPr>
          </a:p>
        </p:txBody>
      </p:sp>
      <p:sp>
        <p:nvSpPr>
          <p:cNvPr id="7" name="文本框 6"/>
          <p:cNvSpPr txBox="1"/>
          <p:nvPr/>
        </p:nvSpPr>
        <p:spPr>
          <a:xfrm>
            <a:off x="4295800" y="1414836"/>
            <a:ext cx="362600" cy="307777"/>
          </a:xfrm>
          <a:prstGeom prst="rect">
            <a:avLst/>
          </a:prstGeom>
          <a:noFill/>
        </p:spPr>
        <p:txBody>
          <a:bodyPr wrap="none" rtlCol="0">
            <a:spAutoFit/>
          </a:bodyPr>
          <a:lstStyle/>
          <a:p>
            <a:r>
              <a:rPr lang="zh-CN" altLang="en-US" sz="1400" b="1" dirty="0">
                <a:solidFill>
                  <a:srgbClr val="FF0000"/>
                </a:solidFill>
                <a:sym typeface="Symbol" panose="05050102010706020507" pitchFamily="18" charset="2"/>
              </a:rPr>
              <a:t></a:t>
            </a:r>
            <a:r>
              <a:rPr lang="en-US" altLang="zh-CN" sz="1400" b="1" dirty="0">
                <a:solidFill>
                  <a:srgbClr val="FF0000"/>
                </a:solidFill>
                <a:sym typeface="Symbol" panose="05050102010706020507" pitchFamily="18" charset="2"/>
              </a:rPr>
              <a:t>+</a:t>
            </a:r>
            <a:endParaRPr lang="zh-CN" altLang="en-US" sz="1400" b="1" dirty="0">
              <a:solidFill>
                <a:srgbClr val="FF0000"/>
              </a:solidFill>
            </a:endParaRPr>
          </a:p>
        </p:txBody>
      </p:sp>
      <p:graphicFrame>
        <p:nvGraphicFramePr>
          <p:cNvPr id="9" name="对象 8">
            <a:extLst>
              <a:ext uri="{FF2B5EF4-FFF2-40B4-BE49-F238E27FC236}">
                <a16:creationId xmlns:a16="http://schemas.microsoft.com/office/drawing/2014/main" id="{567C514C-DC51-412F-838D-92296566032C}"/>
              </a:ext>
            </a:extLst>
          </p:cNvPr>
          <p:cNvGraphicFramePr>
            <a:graphicFrameLocks noChangeAspect="1"/>
          </p:cNvGraphicFramePr>
          <p:nvPr>
            <p:extLst>
              <p:ext uri="{D42A27DB-BD31-4B8C-83A1-F6EECF244321}">
                <p14:modId xmlns:p14="http://schemas.microsoft.com/office/powerpoint/2010/main" val="4089771881"/>
              </p:ext>
            </p:extLst>
          </p:nvPr>
        </p:nvGraphicFramePr>
        <p:xfrm>
          <a:off x="1853399" y="1364977"/>
          <a:ext cx="8306601" cy="1284254"/>
        </p:xfrm>
        <a:graphic>
          <a:graphicData uri="http://schemas.openxmlformats.org/presentationml/2006/ole">
            <mc:AlternateContent xmlns:mc="http://schemas.openxmlformats.org/markup-compatibility/2006">
              <mc:Choice xmlns:v="urn:schemas-microsoft-com:vml" Requires="v">
                <p:oleObj spid="_x0000_s22378" name="CS ChemDraw Drawing" r:id="rId3" imgW="4497230" imgH="696107" progId="ChemDraw.Document.6.0">
                  <p:embed/>
                </p:oleObj>
              </mc:Choice>
              <mc:Fallback>
                <p:oleObj name="CS ChemDraw Drawing" r:id="rId3" imgW="4497230" imgH="696107" progId="ChemDraw.Document.6.0">
                  <p:embed/>
                  <p:pic>
                    <p:nvPicPr>
                      <p:cNvPr id="0" name=""/>
                      <p:cNvPicPr/>
                      <p:nvPr/>
                    </p:nvPicPr>
                    <p:blipFill>
                      <a:blip r:embed="rId4"/>
                      <a:stretch>
                        <a:fillRect/>
                      </a:stretch>
                    </p:blipFill>
                    <p:spPr>
                      <a:xfrm>
                        <a:off x="1853399" y="1364977"/>
                        <a:ext cx="8306601" cy="1284254"/>
                      </a:xfrm>
                      <a:prstGeom prst="rect">
                        <a:avLst/>
                      </a:prstGeom>
                      <a:ln>
                        <a:solidFill>
                          <a:schemeClr val="accent1"/>
                        </a:solidFill>
                      </a:ln>
                    </p:spPr>
                  </p:pic>
                </p:oleObj>
              </mc:Fallback>
            </mc:AlternateContent>
          </a:graphicData>
        </a:graphic>
      </p:graphicFrame>
      <p:graphicFrame>
        <p:nvGraphicFramePr>
          <p:cNvPr id="10" name="对象 9">
            <a:extLst>
              <a:ext uri="{FF2B5EF4-FFF2-40B4-BE49-F238E27FC236}">
                <a16:creationId xmlns:a16="http://schemas.microsoft.com/office/drawing/2014/main" id="{A1938248-E352-447C-A110-DD9BC42FC844}"/>
              </a:ext>
            </a:extLst>
          </p:cNvPr>
          <p:cNvGraphicFramePr>
            <a:graphicFrameLocks noChangeAspect="1"/>
          </p:cNvGraphicFramePr>
          <p:nvPr>
            <p:extLst>
              <p:ext uri="{D42A27DB-BD31-4B8C-83A1-F6EECF244321}">
                <p14:modId xmlns:p14="http://schemas.microsoft.com/office/powerpoint/2010/main" val="3284308105"/>
              </p:ext>
            </p:extLst>
          </p:nvPr>
        </p:nvGraphicFramePr>
        <p:xfrm>
          <a:off x="1919536" y="4725144"/>
          <a:ext cx="8702442" cy="1725617"/>
        </p:xfrm>
        <a:graphic>
          <a:graphicData uri="http://schemas.openxmlformats.org/presentationml/2006/ole">
            <mc:AlternateContent xmlns:mc="http://schemas.openxmlformats.org/markup-compatibility/2006">
              <mc:Choice xmlns:v="urn:schemas-microsoft-com:vml" Requires="v">
                <p:oleObj spid="_x0000_s22379" name="CS ChemDraw Drawing" r:id="rId5" imgW="4458958" imgH="883612" progId="ChemDraw.Document.6.0">
                  <p:embed/>
                </p:oleObj>
              </mc:Choice>
              <mc:Fallback>
                <p:oleObj name="CS ChemDraw Drawing" r:id="rId5" imgW="4458958" imgH="883612" progId="ChemDraw.Document.6.0">
                  <p:embed/>
                  <p:pic>
                    <p:nvPicPr>
                      <p:cNvPr id="0" name=""/>
                      <p:cNvPicPr/>
                      <p:nvPr/>
                    </p:nvPicPr>
                    <p:blipFill>
                      <a:blip r:embed="rId6"/>
                      <a:stretch>
                        <a:fillRect/>
                      </a:stretch>
                    </p:blipFill>
                    <p:spPr>
                      <a:xfrm>
                        <a:off x="1919536" y="4725144"/>
                        <a:ext cx="8702442" cy="1725617"/>
                      </a:xfrm>
                      <a:prstGeom prst="rect">
                        <a:avLst/>
                      </a:prstGeom>
                    </p:spPr>
                  </p:pic>
                </p:oleObj>
              </mc:Fallback>
            </mc:AlternateContent>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9</a:t>
            </a:fld>
            <a:endParaRPr lang="zh-CN" altLang="en-US"/>
          </a:p>
        </p:txBody>
      </p:sp>
      <p:sp>
        <p:nvSpPr>
          <p:cNvPr id="4" name="TextBox 3"/>
          <p:cNvSpPr txBox="1"/>
          <p:nvPr/>
        </p:nvSpPr>
        <p:spPr>
          <a:xfrm>
            <a:off x="263350" y="136524"/>
            <a:ext cx="11665296" cy="4708981"/>
          </a:xfrm>
          <a:prstGeom prst="rect">
            <a:avLst/>
          </a:prstGeom>
          <a:noFill/>
        </p:spPr>
        <p:txBody>
          <a:bodyPr wrap="square" rtlCol="0">
            <a:spAutoFit/>
          </a:bodyPr>
          <a:lstStyle/>
          <a:p>
            <a:pPr marL="285750" indent="-285750" algn="just">
              <a:buFont typeface="Arial" panose="020B0604020202020204" pitchFamily="34" charset="0"/>
              <a:buChar char="•"/>
            </a:pPr>
            <a:r>
              <a:rPr lang="en-US" altLang="zh-CN" sz="2000" b="1" dirty="0">
                <a:latin typeface="Microsoft Sans Serif" pitchFamily="34" charset="0"/>
                <a:cs typeface="Microsoft Sans Serif" pitchFamily="34" charset="0"/>
              </a:rPr>
              <a:t>The S</a:t>
            </a:r>
            <a:r>
              <a:rPr lang="en-US" altLang="zh-CN" sz="2000" b="1" baseline="-25000" dirty="0">
                <a:latin typeface="Microsoft Sans Serif" pitchFamily="34" charset="0"/>
                <a:cs typeface="Microsoft Sans Serif" pitchFamily="34" charset="0"/>
              </a:rPr>
              <a:t>N</a:t>
            </a:r>
            <a:r>
              <a:rPr lang="en-US" altLang="zh-CN" sz="2000" b="1" dirty="0">
                <a:latin typeface="Microsoft Sans Serif" pitchFamily="34" charset="0"/>
                <a:cs typeface="Microsoft Sans Serif" pitchFamily="34" charset="0"/>
              </a:rPr>
              <a:t>2 reaction takes place in a single (</a:t>
            </a:r>
            <a:r>
              <a:rPr lang="en-US" altLang="zh-CN" sz="2000" b="1" dirty="0">
                <a:solidFill>
                  <a:srgbClr val="FF0000"/>
                </a:solidFill>
                <a:latin typeface="Microsoft Sans Serif" pitchFamily="34" charset="0"/>
                <a:cs typeface="Microsoft Sans Serif" pitchFamily="34" charset="0"/>
              </a:rPr>
              <a:t>concerted</a:t>
            </a:r>
            <a:r>
              <a:rPr lang="en-US" altLang="zh-CN" sz="2000" b="1" dirty="0">
                <a:latin typeface="Microsoft Sans Serif" pitchFamily="34" charset="0"/>
                <a:cs typeface="Microsoft Sans Serif" pitchFamily="34" charset="0"/>
              </a:rPr>
              <a:t>) step.</a:t>
            </a:r>
          </a:p>
          <a:p>
            <a:pPr marL="285750" indent="-285750" algn="just">
              <a:buFont typeface="Arial" panose="020B0604020202020204" pitchFamily="34" charset="0"/>
              <a:buChar char="•"/>
            </a:pPr>
            <a:r>
              <a:rPr lang="en-US" altLang="zh-CN" sz="2000" b="1" dirty="0">
                <a:latin typeface="Microsoft Sans Serif" pitchFamily="34" charset="0"/>
                <a:cs typeface="Microsoft Sans Serif" pitchFamily="34" charset="0"/>
              </a:rPr>
              <a:t>In a concerted reaction, bonds break and form in a single step at the same time.</a:t>
            </a:r>
          </a:p>
          <a:p>
            <a:pPr algn="just">
              <a:buFont typeface="Arial" pitchFamily="34" charset="0"/>
              <a:buChar char="•"/>
            </a:pPr>
            <a:endParaRPr lang="en-US" altLang="zh-CN" sz="2000" b="1" dirty="0">
              <a:latin typeface="Microsoft Sans Serif" pitchFamily="34" charset="0"/>
              <a:cs typeface="Microsoft Sans Serif" pitchFamily="34" charset="0"/>
            </a:endParaRPr>
          </a:p>
          <a:p>
            <a:pPr marL="285750" indent="-285750" algn="just">
              <a:buFont typeface="Arial" panose="020B0604020202020204" pitchFamily="34" charset="0"/>
              <a:buChar char="•"/>
            </a:pPr>
            <a:r>
              <a:rPr lang="en-US" altLang="zh-CN" sz="2000" b="1" dirty="0">
                <a:latin typeface="Microsoft Sans Serif" pitchFamily="34" charset="0"/>
                <a:cs typeface="Microsoft Sans Serif" pitchFamily="34" charset="0"/>
              </a:rPr>
              <a:t>The middle structure of concerted reaction is called a transition state. It is not an intermediate, but an inseparable species existing for only an instant. In the transition state, the bond to the nucleophile is partially formed, and the bond to the leaving group is partially broken. </a:t>
            </a:r>
          </a:p>
          <a:p>
            <a:pPr algn="just">
              <a:buFont typeface="Arial" pitchFamily="34" charset="0"/>
              <a:buChar char="•"/>
            </a:pPr>
            <a:endParaRPr lang="en-US" altLang="zh-CN" sz="2000" b="1" dirty="0">
              <a:latin typeface="Microsoft Sans Serif" pitchFamily="34" charset="0"/>
              <a:cs typeface="Microsoft Sans Serif" pitchFamily="34" charset="0"/>
            </a:endParaRPr>
          </a:p>
          <a:p>
            <a:pPr marL="285750" indent="-285750" algn="just">
              <a:buFont typeface="Arial" panose="020B0604020202020204" pitchFamily="34" charset="0"/>
              <a:buChar char="•"/>
            </a:pPr>
            <a:r>
              <a:rPr lang="en-US" altLang="zh-CN" sz="2000" b="1" dirty="0">
                <a:latin typeface="Microsoft Sans Serif" pitchFamily="34" charset="0"/>
                <a:cs typeface="Microsoft Sans Serif" pitchFamily="34" charset="0"/>
              </a:rPr>
              <a:t>The reaction is first order in each of the reactants and second order overall:    </a:t>
            </a:r>
          </a:p>
          <a:p>
            <a:pPr algn="just"/>
            <a:r>
              <a:rPr lang="en-US" altLang="zh-CN" sz="2000" b="1" dirty="0">
                <a:latin typeface="Microsoft Sans Serif" pitchFamily="34" charset="0"/>
                <a:cs typeface="Microsoft Sans Serif" pitchFamily="34" charset="0"/>
              </a:rPr>
              <a:t>     rate = </a:t>
            </a:r>
            <a:r>
              <a:rPr lang="en-US" altLang="zh-CN" sz="2000" b="1" i="1" dirty="0">
                <a:latin typeface="Microsoft Sans Serif" pitchFamily="34" charset="0"/>
                <a:cs typeface="Microsoft Sans Serif" pitchFamily="34" charset="0"/>
              </a:rPr>
              <a:t>k</a:t>
            </a:r>
            <a:r>
              <a:rPr lang="en-US" altLang="zh-CN" sz="2000" b="1" dirty="0">
                <a:latin typeface="Microsoft Sans Serif" pitchFamily="34" charset="0"/>
                <a:cs typeface="Microsoft Sans Serif" pitchFamily="34" charset="0"/>
              </a:rPr>
              <a:t>[Nu:</a:t>
            </a:r>
            <a:r>
              <a:rPr lang="en-US" altLang="zh-CN" sz="2000" b="1" baseline="30000" dirty="0">
                <a:latin typeface="Microsoft Sans Serif" pitchFamily="34" charset="0"/>
                <a:cs typeface="Microsoft Sans Serif" pitchFamily="34" charset="0"/>
              </a:rPr>
              <a:t>-</a:t>
            </a:r>
            <a:r>
              <a:rPr lang="en-US" altLang="zh-CN" sz="2000" b="1" dirty="0">
                <a:latin typeface="Microsoft Sans Serif" pitchFamily="34" charset="0"/>
                <a:cs typeface="Microsoft Sans Serif" pitchFamily="34" charset="0"/>
              </a:rPr>
              <a:t>][substrate]</a:t>
            </a:r>
          </a:p>
          <a:p>
            <a:pPr marL="285750" indent="-285750" algn="just">
              <a:buFont typeface="Arial" panose="020B0604020202020204" pitchFamily="34" charset="0"/>
              <a:buChar char="•"/>
            </a:pPr>
            <a:r>
              <a:rPr lang="en-US" altLang="zh-CN" sz="2000" b="1" dirty="0">
                <a:latin typeface="Microsoft Sans Serif" pitchFamily="34" charset="0"/>
                <a:cs typeface="Microsoft Sans Serif" pitchFamily="34" charset="0"/>
              </a:rPr>
              <a:t>The abbreviation </a:t>
            </a:r>
            <a:r>
              <a:rPr lang="en-US" altLang="zh-CN" sz="2000" b="1" dirty="0">
                <a:solidFill>
                  <a:srgbClr val="FF0000"/>
                </a:solidFill>
                <a:latin typeface="Microsoft Sans Serif" pitchFamily="34" charset="0"/>
                <a:cs typeface="Microsoft Sans Serif" pitchFamily="34" charset="0"/>
              </a:rPr>
              <a:t>S</a:t>
            </a:r>
            <a:r>
              <a:rPr lang="en-US" altLang="zh-CN" sz="2000" b="1" baseline="-25000" dirty="0">
                <a:solidFill>
                  <a:srgbClr val="FF0000"/>
                </a:solidFill>
                <a:latin typeface="Microsoft Sans Serif" pitchFamily="34" charset="0"/>
                <a:cs typeface="Microsoft Sans Serif" pitchFamily="34" charset="0"/>
              </a:rPr>
              <a:t>N</a:t>
            </a:r>
            <a:r>
              <a:rPr lang="en-US" altLang="zh-CN" sz="2000" b="1" dirty="0">
                <a:solidFill>
                  <a:srgbClr val="FF0000"/>
                </a:solidFill>
                <a:latin typeface="Microsoft Sans Serif" pitchFamily="34" charset="0"/>
                <a:cs typeface="Microsoft Sans Serif" pitchFamily="34" charset="0"/>
              </a:rPr>
              <a:t>2</a:t>
            </a:r>
            <a:r>
              <a:rPr lang="en-US" altLang="zh-CN" sz="2000" b="1" dirty="0">
                <a:latin typeface="Microsoft Sans Serif" pitchFamily="34" charset="0"/>
                <a:cs typeface="Microsoft Sans Serif" pitchFamily="34" charset="0"/>
              </a:rPr>
              <a:t> stands for Substitution, Nucleophilic, bimolecular.</a:t>
            </a:r>
          </a:p>
          <a:p>
            <a:pPr algn="just">
              <a:buFont typeface="Arial" pitchFamily="34" charset="0"/>
              <a:buChar char="•"/>
            </a:pPr>
            <a:endParaRPr lang="en-US" altLang="zh-CN" sz="2000" b="1" dirty="0">
              <a:latin typeface="Microsoft Sans Serif" pitchFamily="34" charset="0"/>
              <a:cs typeface="Microsoft Sans Serif" pitchFamily="34" charset="0"/>
            </a:endParaRPr>
          </a:p>
          <a:p>
            <a:pPr marL="285750" indent="-285750" algn="just">
              <a:buFont typeface="Arial" panose="020B0604020202020204" pitchFamily="34" charset="0"/>
              <a:buChar char="•"/>
            </a:pPr>
            <a:r>
              <a:rPr lang="en-US" altLang="zh-CN" sz="2000" b="1" dirty="0">
                <a:latin typeface="Microsoft Sans Serif" pitchFamily="34" charset="0"/>
                <a:cs typeface="Microsoft Sans Serif" pitchFamily="34" charset="0"/>
              </a:rPr>
              <a:t>In an </a:t>
            </a:r>
            <a:r>
              <a:rPr lang="en-US" altLang="zh-CN" sz="2000" b="1" dirty="0">
                <a:solidFill>
                  <a:srgbClr val="FF0000"/>
                </a:solidFill>
                <a:latin typeface="Microsoft Sans Serif" pitchFamily="34" charset="0"/>
                <a:cs typeface="Microsoft Sans Serif" pitchFamily="34" charset="0"/>
              </a:rPr>
              <a:t>S</a:t>
            </a:r>
            <a:r>
              <a:rPr lang="en-US" altLang="zh-CN" sz="2000" b="1" baseline="-25000" dirty="0">
                <a:solidFill>
                  <a:srgbClr val="FF0000"/>
                </a:solidFill>
                <a:latin typeface="Microsoft Sans Serif" pitchFamily="34" charset="0"/>
                <a:cs typeface="Microsoft Sans Serif" pitchFamily="34" charset="0"/>
              </a:rPr>
              <a:t>N</a:t>
            </a:r>
            <a:r>
              <a:rPr lang="en-US" altLang="zh-CN" sz="2000" b="1" dirty="0">
                <a:solidFill>
                  <a:srgbClr val="FF0000"/>
                </a:solidFill>
                <a:latin typeface="Microsoft Sans Serif" pitchFamily="34" charset="0"/>
                <a:cs typeface="Microsoft Sans Serif" pitchFamily="34" charset="0"/>
              </a:rPr>
              <a:t>2 reaction</a:t>
            </a:r>
            <a:r>
              <a:rPr lang="en-US" altLang="zh-CN" sz="2000" b="1" dirty="0">
                <a:latin typeface="Microsoft Sans Serif" pitchFamily="34" charset="0"/>
                <a:cs typeface="Microsoft Sans Serif" pitchFamily="34" charset="0"/>
              </a:rPr>
              <a:t>, a nucleophile </a:t>
            </a:r>
            <a:r>
              <a:rPr lang="en-US" altLang="zh-CN" sz="2000" b="1" dirty="0">
                <a:solidFill>
                  <a:srgbClr val="0000FF"/>
                </a:solidFill>
                <a:latin typeface="Microsoft Sans Serif" pitchFamily="34" charset="0"/>
                <a:cs typeface="Microsoft Sans Serif" pitchFamily="34" charset="0"/>
              </a:rPr>
              <a:t>attack</a:t>
            </a:r>
            <a:r>
              <a:rPr lang="en-US" altLang="zh-CN" sz="2000" b="1" dirty="0">
                <a:latin typeface="Microsoft Sans Serif" pitchFamily="34" charset="0"/>
                <a:cs typeface="Microsoft Sans Serif" pitchFamily="34" charset="0"/>
              </a:rPr>
              <a:t>s the substrate (electrophile) </a:t>
            </a:r>
            <a:r>
              <a:rPr lang="en-US" altLang="zh-CN" sz="2000" b="1" dirty="0">
                <a:solidFill>
                  <a:srgbClr val="0000FF"/>
                </a:solidFill>
                <a:latin typeface="Microsoft Sans Serif" pitchFamily="34" charset="0"/>
                <a:cs typeface="Microsoft Sans Serif" pitchFamily="34" charset="0"/>
              </a:rPr>
              <a:t>from backside</a:t>
            </a:r>
            <a:r>
              <a:rPr lang="en-US" altLang="zh-CN" sz="2000" b="1" dirty="0">
                <a:latin typeface="Microsoft Sans Serif" pitchFamily="34" charset="0"/>
                <a:cs typeface="Microsoft Sans Serif" pitchFamily="34" charset="0"/>
              </a:rPr>
              <a:t>. </a:t>
            </a:r>
          </a:p>
          <a:p>
            <a:pPr marL="285750" indent="-285750" algn="just">
              <a:buFont typeface="Arial" panose="020B0604020202020204" pitchFamily="34" charset="0"/>
              <a:buChar char="•"/>
            </a:pPr>
            <a:endParaRPr lang="en-US" altLang="zh-CN" sz="2000" b="1" dirty="0">
              <a:latin typeface="Microsoft Sans Serif" pitchFamily="34" charset="0"/>
              <a:cs typeface="Microsoft Sans Serif" pitchFamily="34" charset="0"/>
            </a:endParaRPr>
          </a:p>
          <a:p>
            <a:pPr marL="285750" indent="-285750" algn="just">
              <a:buFont typeface="Arial" panose="020B0604020202020204" pitchFamily="34" charset="0"/>
              <a:buChar char="•"/>
            </a:pPr>
            <a:r>
              <a:rPr lang="en-US" altLang="zh-CN" sz="2000" b="1" dirty="0">
                <a:latin typeface="Microsoft Sans Serif" pitchFamily="34" charset="0"/>
                <a:cs typeface="Microsoft Sans Serif" pitchFamily="34" charset="0"/>
              </a:rPr>
              <a:t>Notice that arrows are used to show the movement of electron pairs, from the electron-rich nucleophile to the electron-deficient carbon atom of the electrophile.</a:t>
            </a:r>
            <a:endParaRPr lang="zh-CN" altLang="en-US" sz="2000" b="1" dirty="0">
              <a:latin typeface="Microsoft Sans Serif" pitchFamily="34" charset="0"/>
              <a:cs typeface="Microsoft Sans Serif" pitchFamily="34"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3969008318"/>
              </p:ext>
            </p:extLst>
          </p:nvPr>
        </p:nvGraphicFramePr>
        <p:xfrm>
          <a:off x="839416" y="4838130"/>
          <a:ext cx="10946568" cy="1883346"/>
        </p:xfrm>
        <a:graphic>
          <a:graphicData uri="http://schemas.openxmlformats.org/presentationml/2006/ole">
            <mc:AlternateContent xmlns:mc="http://schemas.openxmlformats.org/markup-compatibility/2006">
              <mc:Choice xmlns:v="urn:schemas-microsoft-com:vml" Requires="v">
                <p:oleObj spid="_x0000_s22966" name="CS ChemDraw Drawing" r:id="rId3" imgW="5702621" imgH="981130" progId="ChemDraw.Document.6.0">
                  <p:embed/>
                </p:oleObj>
              </mc:Choice>
              <mc:Fallback>
                <p:oleObj name="CS ChemDraw Drawing" r:id="rId3" imgW="5702621" imgH="981130" progId="ChemDraw.Document.6.0">
                  <p:embed/>
                  <p:pic>
                    <p:nvPicPr>
                      <p:cNvPr id="0" name=""/>
                      <p:cNvPicPr/>
                      <p:nvPr/>
                    </p:nvPicPr>
                    <p:blipFill>
                      <a:blip r:embed="rId4"/>
                      <a:stretch>
                        <a:fillRect/>
                      </a:stretch>
                    </p:blipFill>
                    <p:spPr>
                      <a:xfrm>
                        <a:off x="839416" y="4838130"/>
                        <a:ext cx="10946568" cy="1883346"/>
                      </a:xfrm>
                      <a:prstGeom prst="rect">
                        <a:avLst/>
                      </a:prstGeom>
                    </p:spPr>
                  </p:pic>
                </p:oleObj>
              </mc:Fallback>
            </mc:AlternateContent>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10</a:t>
            </a:fld>
            <a:endParaRPr lang="zh-CN" altLang="en-US"/>
          </a:p>
        </p:txBody>
      </p:sp>
      <p:sp>
        <p:nvSpPr>
          <p:cNvPr id="3" name="TextBox 2"/>
          <p:cNvSpPr txBox="1"/>
          <p:nvPr/>
        </p:nvSpPr>
        <p:spPr>
          <a:xfrm>
            <a:off x="0" y="277759"/>
            <a:ext cx="5149167" cy="461665"/>
          </a:xfrm>
          <a:prstGeom prst="rect">
            <a:avLst/>
          </a:prstGeom>
          <a:solidFill>
            <a:schemeClr val="tx2">
              <a:lumMod val="20000"/>
              <a:lumOff val="80000"/>
            </a:schemeClr>
          </a:solidFill>
        </p:spPr>
        <p:txBody>
          <a:bodyPr wrap="none" rtlCol="0">
            <a:spAutoFit/>
          </a:bodyPr>
          <a:lstStyle/>
          <a:p>
            <a:r>
              <a:rPr lang="en-US" altLang="zh-CN" sz="2400" b="1" dirty="0">
                <a:latin typeface="Microsoft Sans Serif" pitchFamily="34" charset="0"/>
                <a:cs typeface="Microsoft Sans Serif" pitchFamily="34" charset="0"/>
              </a:rPr>
              <a:t>7-6-1 Generality of the S</a:t>
            </a:r>
            <a:r>
              <a:rPr lang="en-US" altLang="zh-CN" sz="2400" b="1" baseline="-25000" dirty="0">
                <a:latin typeface="Microsoft Sans Serif" pitchFamily="34" charset="0"/>
                <a:cs typeface="Microsoft Sans Serif" pitchFamily="34" charset="0"/>
              </a:rPr>
              <a:t>N</a:t>
            </a:r>
            <a:r>
              <a:rPr lang="en-US" altLang="zh-CN" sz="2400" b="1" dirty="0">
                <a:latin typeface="Microsoft Sans Serif" pitchFamily="34" charset="0"/>
                <a:cs typeface="Microsoft Sans Serif" pitchFamily="34" charset="0"/>
              </a:rPr>
              <a:t>2 Reaction</a:t>
            </a:r>
            <a:endParaRPr lang="zh-CN" altLang="en-US" sz="2400" b="1" dirty="0">
              <a:latin typeface="Microsoft Sans Serif" pitchFamily="34" charset="0"/>
              <a:cs typeface="Microsoft Sans Serif" pitchFamily="34" charset="0"/>
            </a:endParaRPr>
          </a:p>
        </p:txBody>
      </p:sp>
      <p:sp>
        <p:nvSpPr>
          <p:cNvPr id="4" name="TextBox 3"/>
          <p:cNvSpPr txBox="1"/>
          <p:nvPr/>
        </p:nvSpPr>
        <p:spPr>
          <a:xfrm>
            <a:off x="335360" y="831647"/>
            <a:ext cx="10801200" cy="707886"/>
          </a:xfrm>
          <a:prstGeom prst="rect">
            <a:avLst/>
          </a:prstGeom>
          <a:noFill/>
        </p:spPr>
        <p:txBody>
          <a:bodyPr wrap="square" rtlCol="0">
            <a:spAutoFit/>
          </a:bodyPr>
          <a:lstStyle/>
          <a:p>
            <a:pPr marL="285750" indent="-285750">
              <a:buFont typeface="Arial" panose="020B0604020202020204" pitchFamily="34" charset="0"/>
              <a:buChar char="•"/>
            </a:pPr>
            <a:r>
              <a:rPr lang="en-US" altLang="zh-CN" sz="2000" b="1" dirty="0">
                <a:latin typeface="Microsoft Sans Serif" pitchFamily="34" charset="0"/>
                <a:cs typeface="Microsoft Sans Serif" pitchFamily="34" charset="0"/>
              </a:rPr>
              <a:t>Many useful reactions take place by the S</a:t>
            </a:r>
            <a:r>
              <a:rPr lang="en-US" altLang="zh-CN" sz="2000" b="1" baseline="-25000" dirty="0">
                <a:latin typeface="Microsoft Sans Serif" pitchFamily="34" charset="0"/>
                <a:cs typeface="Microsoft Sans Serif" pitchFamily="34" charset="0"/>
              </a:rPr>
              <a:t>N</a:t>
            </a:r>
            <a:r>
              <a:rPr lang="en-US" altLang="zh-CN" sz="2000" b="1" dirty="0">
                <a:latin typeface="Microsoft Sans Serif" pitchFamily="34" charset="0"/>
                <a:cs typeface="Microsoft Sans Serif" pitchFamily="34" charset="0"/>
              </a:rPr>
              <a:t>2 mechanism.</a:t>
            </a:r>
          </a:p>
          <a:p>
            <a:pPr marL="285750" indent="-285750">
              <a:buFont typeface="Arial" panose="020B0604020202020204" pitchFamily="34" charset="0"/>
              <a:buChar char="•"/>
            </a:pPr>
            <a:r>
              <a:rPr lang="en-US" altLang="zh-CN" sz="2000" b="1" dirty="0">
                <a:latin typeface="Microsoft Sans Serif" pitchFamily="34" charset="0"/>
                <a:cs typeface="Microsoft Sans Serif" pitchFamily="34" charset="0"/>
              </a:rPr>
              <a:t>Various nucleophiles are used to convert alkyl halides to a wide variety of functional groups.</a:t>
            </a:r>
            <a:endParaRPr lang="zh-CN" altLang="en-US" sz="2000" b="1" dirty="0">
              <a:latin typeface="Microsoft Sans Serif" pitchFamily="34" charset="0"/>
              <a:cs typeface="Microsoft Sans Serif" pitchFamily="34"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3530077977"/>
              </p:ext>
            </p:extLst>
          </p:nvPr>
        </p:nvGraphicFramePr>
        <p:xfrm>
          <a:off x="2970968" y="1734278"/>
          <a:ext cx="5020340" cy="656458"/>
        </p:xfrm>
        <a:graphic>
          <a:graphicData uri="http://schemas.openxmlformats.org/presentationml/2006/ole">
            <mc:AlternateContent xmlns:mc="http://schemas.openxmlformats.org/markup-compatibility/2006">
              <mc:Choice xmlns:v="urn:schemas-microsoft-com:vml" Requires="v">
                <p:oleObj spid="_x0000_s24520" name="CS ChemDraw Drawing" r:id="rId3" imgW="2549272" imgH="333386" progId="ChemDraw.Document.6.0">
                  <p:embed/>
                </p:oleObj>
              </mc:Choice>
              <mc:Fallback>
                <p:oleObj name="CS ChemDraw Drawing" r:id="rId3" imgW="2549272" imgH="333386" progId="ChemDraw.Document.6.0">
                  <p:embed/>
                  <p:pic>
                    <p:nvPicPr>
                      <p:cNvPr id="0" name=""/>
                      <p:cNvPicPr/>
                      <p:nvPr/>
                    </p:nvPicPr>
                    <p:blipFill>
                      <a:blip r:embed="rId4"/>
                      <a:stretch>
                        <a:fillRect/>
                      </a:stretch>
                    </p:blipFill>
                    <p:spPr>
                      <a:xfrm>
                        <a:off x="2970968" y="1734278"/>
                        <a:ext cx="5020340" cy="656458"/>
                      </a:xfrm>
                      <a:prstGeom prst="rect">
                        <a:avLst/>
                      </a:prstGeom>
                      <a:ln w="28575">
                        <a:solidFill>
                          <a:schemeClr val="accent1"/>
                        </a:solidFill>
                      </a:ln>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3717982258"/>
              </p:ext>
            </p:extLst>
          </p:nvPr>
        </p:nvGraphicFramePr>
        <p:xfrm>
          <a:off x="2063552" y="2924939"/>
          <a:ext cx="3607278" cy="3655301"/>
        </p:xfrm>
        <a:graphic>
          <a:graphicData uri="http://schemas.openxmlformats.org/presentationml/2006/ole">
            <mc:AlternateContent xmlns:mc="http://schemas.openxmlformats.org/markup-compatibility/2006">
              <mc:Choice xmlns:v="urn:schemas-microsoft-com:vml" Requires="v">
                <p:oleObj spid="_x0000_s24521" name="CS ChemDraw Drawing" r:id="rId5" imgW="2026871" imgH="2053832" progId="ChemDraw.Document.6.0">
                  <p:embed/>
                </p:oleObj>
              </mc:Choice>
              <mc:Fallback>
                <p:oleObj name="CS ChemDraw Drawing" r:id="rId5" imgW="2026871" imgH="2053832" progId="ChemDraw.Document.6.0">
                  <p:embed/>
                  <p:pic>
                    <p:nvPicPr>
                      <p:cNvPr id="0" name=""/>
                      <p:cNvPicPr/>
                      <p:nvPr/>
                    </p:nvPicPr>
                    <p:blipFill>
                      <a:blip r:embed="rId6"/>
                      <a:stretch>
                        <a:fillRect/>
                      </a:stretch>
                    </p:blipFill>
                    <p:spPr>
                      <a:xfrm>
                        <a:off x="2063552" y="2924939"/>
                        <a:ext cx="3607278" cy="3655301"/>
                      </a:xfrm>
                      <a:prstGeom prst="rect">
                        <a:avLst/>
                      </a:prstGeom>
                    </p:spPr>
                  </p:pic>
                </p:oleObj>
              </mc:Fallback>
            </mc:AlternateContent>
          </a:graphicData>
        </a:graphic>
      </p:graphicFrame>
      <p:sp>
        <p:nvSpPr>
          <p:cNvPr id="5" name="文本框 4"/>
          <p:cNvSpPr txBox="1"/>
          <p:nvPr/>
        </p:nvSpPr>
        <p:spPr>
          <a:xfrm flipH="1">
            <a:off x="6023992" y="2856920"/>
            <a:ext cx="1967316" cy="369332"/>
          </a:xfrm>
          <a:prstGeom prst="rect">
            <a:avLst/>
          </a:prstGeom>
          <a:noFill/>
        </p:spPr>
        <p:txBody>
          <a:bodyPr wrap="square" rtlCol="0">
            <a:spAutoFit/>
          </a:bodyPr>
          <a:lstStyle/>
          <a:p>
            <a:r>
              <a:rPr lang="en-US" altLang="zh-CN" b="1" dirty="0">
                <a:latin typeface="Consolas" panose="020B0609020204030204" pitchFamily="49" charset="0"/>
              </a:rPr>
              <a:t>Alcohol</a:t>
            </a:r>
          </a:p>
        </p:txBody>
      </p:sp>
      <p:sp>
        <p:nvSpPr>
          <p:cNvPr id="9" name="文本框 8"/>
          <p:cNvSpPr txBox="1"/>
          <p:nvPr/>
        </p:nvSpPr>
        <p:spPr>
          <a:xfrm>
            <a:off x="6023992" y="3803964"/>
            <a:ext cx="1440160" cy="369332"/>
          </a:xfrm>
          <a:prstGeom prst="rect">
            <a:avLst/>
          </a:prstGeom>
          <a:noFill/>
        </p:spPr>
        <p:txBody>
          <a:bodyPr wrap="square" rtlCol="0">
            <a:spAutoFit/>
          </a:bodyPr>
          <a:lstStyle/>
          <a:p>
            <a:r>
              <a:rPr lang="en-US" altLang="zh-CN" b="1" dirty="0">
                <a:latin typeface="Consolas" panose="020B0609020204030204" pitchFamily="49" charset="0"/>
              </a:rPr>
              <a:t>Ether</a:t>
            </a:r>
          </a:p>
        </p:txBody>
      </p:sp>
      <p:sp>
        <p:nvSpPr>
          <p:cNvPr id="10" name="文本框 9"/>
          <p:cNvSpPr txBox="1"/>
          <p:nvPr/>
        </p:nvSpPr>
        <p:spPr>
          <a:xfrm>
            <a:off x="6058295" y="4553494"/>
            <a:ext cx="817853" cy="369332"/>
          </a:xfrm>
          <a:prstGeom prst="rect">
            <a:avLst/>
          </a:prstGeom>
          <a:noFill/>
        </p:spPr>
        <p:txBody>
          <a:bodyPr wrap="none" rtlCol="0">
            <a:spAutoFit/>
          </a:bodyPr>
          <a:lstStyle/>
          <a:p>
            <a:r>
              <a:rPr lang="en-US" altLang="zh-CN" b="1" dirty="0">
                <a:latin typeface="Consolas" panose="020B0609020204030204" pitchFamily="49" charset="0"/>
              </a:rPr>
              <a:t>Amine</a:t>
            </a:r>
          </a:p>
        </p:txBody>
      </p:sp>
      <p:sp>
        <p:nvSpPr>
          <p:cNvPr id="11" name="文本框 10"/>
          <p:cNvSpPr txBox="1"/>
          <p:nvPr/>
        </p:nvSpPr>
        <p:spPr>
          <a:xfrm>
            <a:off x="6023992" y="5323482"/>
            <a:ext cx="1071127" cy="369332"/>
          </a:xfrm>
          <a:prstGeom prst="rect">
            <a:avLst/>
          </a:prstGeom>
          <a:noFill/>
        </p:spPr>
        <p:txBody>
          <a:bodyPr wrap="none" rtlCol="0">
            <a:spAutoFit/>
          </a:bodyPr>
          <a:lstStyle/>
          <a:p>
            <a:r>
              <a:rPr lang="en-US" altLang="zh-CN" b="1" dirty="0">
                <a:latin typeface="Consolas" panose="020B0609020204030204" pitchFamily="49" charset="0"/>
              </a:rPr>
              <a:t>Nitrile</a:t>
            </a:r>
          </a:p>
        </p:txBody>
      </p:sp>
      <p:sp>
        <p:nvSpPr>
          <p:cNvPr id="12" name="文本框 11"/>
          <p:cNvSpPr txBox="1"/>
          <p:nvPr/>
        </p:nvSpPr>
        <p:spPr>
          <a:xfrm>
            <a:off x="6023991" y="6210908"/>
            <a:ext cx="1704313" cy="369332"/>
          </a:xfrm>
          <a:prstGeom prst="rect">
            <a:avLst/>
          </a:prstGeom>
          <a:noFill/>
        </p:spPr>
        <p:txBody>
          <a:bodyPr wrap="none" rtlCol="0">
            <a:spAutoFit/>
          </a:bodyPr>
          <a:lstStyle/>
          <a:p>
            <a:r>
              <a:rPr lang="en-US" altLang="zh-CN" b="1" dirty="0">
                <a:latin typeface="Consolas" panose="020B0609020204030204" pitchFamily="49" charset="0"/>
              </a:rPr>
              <a:t>Alkyl iodide</a:t>
            </a:r>
            <a:endParaRPr lang="zh-CN" altLang="en-US" b="1" dirty="0">
              <a:latin typeface="Consolas" panose="020B0609020204030204" pitchFamily="49"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11</a:t>
            </a:fld>
            <a:endParaRPr lang="zh-CN" altLang="en-US"/>
          </a:p>
        </p:txBody>
      </p:sp>
      <p:graphicFrame>
        <p:nvGraphicFramePr>
          <p:cNvPr id="24578" name="Object 2"/>
          <p:cNvGraphicFramePr>
            <a:graphicFrameLocks noChangeAspect="1"/>
          </p:cNvGraphicFramePr>
          <p:nvPr>
            <p:extLst>
              <p:ext uri="{D42A27DB-BD31-4B8C-83A1-F6EECF244321}">
                <p14:modId xmlns:p14="http://schemas.microsoft.com/office/powerpoint/2010/main" val="3425904110"/>
              </p:ext>
            </p:extLst>
          </p:nvPr>
        </p:nvGraphicFramePr>
        <p:xfrm>
          <a:off x="3551019" y="2492896"/>
          <a:ext cx="4916837" cy="1389993"/>
        </p:xfrm>
        <a:graphic>
          <a:graphicData uri="http://schemas.openxmlformats.org/presentationml/2006/ole">
            <mc:AlternateContent xmlns:mc="http://schemas.openxmlformats.org/markup-compatibility/2006">
              <mc:Choice xmlns:v="urn:schemas-microsoft-com:vml" Requires="v">
                <p:oleObj spid="_x0000_s77066" name="CS ChemDraw Drawing" r:id="rId3" imgW="1880408" imgH="531499" progId="ChemDraw.Document.6.0">
                  <p:embed/>
                </p:oleObj>
              </mc:Choice>
              <mc:Fallback>
                <p:oleObj name="CS ChemDraw Drawing" r:id="rId3" imgW="1880408" imgH="531499" progId="ChemDraw.Document.6.0">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1019" y="2492896"/>
                        <a:ext cx="4916837" cy="1389993"/>
                      </a:xfrm>
                      <a:prstGeom prst="rect">
                        <a:avLst/>
                      </a:prstGeom>
                      <a:noFill/>
                      <a:ln w="38100">
                        <a:solidFill>
                          <a:schemeClr val="accent6">
                            <a:lumMod val="60000"/>
                            <a:lumOff val="40000"/>
                          </a:schemeClr>
                        </a:solidFill>
                        <a:miter lim="800000"/>
                        <a:headEnd/>
                        <a:tailEnd/>
                      </a:ln>
                      <a:effectLst/>
                    </p:spPr>
                  </p:pic>
                </p:oleObj>
              </mc:Fallback>
            </mc:AlternateContent>
          </a:graphicData>
        </a:graphic>
      </p:graphicFrame>
      <p:graphicFrame>
        <p:nvGraphicFramePr>
          <p:cNvPr id="24579" name="Object 3"/>
          <p:cNvGraphicFramePr>
            <a:graphicFrameLocks noChangeAspect="1"/>
          </p:cNvGraphicFramePr>
          <p:nvPr>
            <p:extLst>
              <p:ext uri="{D42A27DB-BD31-4B8C-83A1-F6EECF244321}">
                <p14:modId xmlns:p14="http://schemas.microsoft.com/office/powerpoint/2010/main" val="3701626537"/>
              </p:ext>
            </p:extLst>
          </p:nvPr>
        </p:nvGraphicFramePr>
        <p:xfrm>
          <a:off x="1487488" y="5053817"/>
          <a:ext cx="8659116" cy="1006970"/>
        </p:xfrm>
        <a:graphic>
          <a:graphicData uri="http://schemas.openxmlformats.org/presentationml/2006/ole">
            <mc:AlternateContent xmlns:mc="http://schemas.openxmlformats.org/markup-compatibility/2006">
              <mc:Choice xmlns:v="urn:schemas-microsoft-com:vml" Requires="v">
                <p:oleObj spid="_x0000_s77067" name="CS ChemDraw Drawing" r:id="rId5" imgW="3372101" imgH="392753" progId="ChemDraw.Document.6.0">
                  <p:embed/>
                </p:oleObj>
              </mc:Choice>
              <mc:Fallback>
                <p:oleObj name="CS ChemDraw Drawing" r:id="rId5" imgW="3372101" imgH="392753" progId="ChemDraw.Document.6.0">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87488" y="5053817"/>
                        <a:ext cx="8659116" cy="1006970"/>
                      </a:xfrm>
                      <a:prstGeom prst="rect">
                        <a:avLst/>
                      </a:prstGeom>
                      <a:noFill/>
                      <a:ln>
                        <a:noFill/>
                      </a:ln>
                      <a:effectLst/>
                    </p:spPr>
                  </p:pic>
                </p:oleObj>
              </mc:Fallback>
            </mc:AlternateContent>
          </a:graphicData>
        </a:graphic>
      </p:graphicFrame>
      <p:sp>
        <p:nvSpPr>
          <p:cNvPr id="7" name="文本框 6"/>
          <p:cNvSpPr txBox="1"/>
          <p:nvPr/>
        </p:nvSpPr>
        <p:spPr>
          <a:xfrm>
            <a:off x="263352" y="232408"/>
            <a:ext cx="11492172" cy="1631216"/>
          </a:xfrm>
          <a:prstGeom prst="rect">
            <a:avLst/>
          </a:prstGeom>
          <a:noFill/>
        </p:spPr>
        <p:txBody>
          <a:bodyPr wrap="square" rtlCol="0">
            <a:spAutoFit/>
          </a:bodyPr>
          <a:lstStyle/>
          <a:p>
            <a:pPr marL="285750" indent="-285750" algn="just">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The S</a:t>
            </a:r>
            <a:r>
              <a:rPr lang="en-US" altLang="zh-CN" sz="2000" b="1" baseline="-25000" dirty="0">
                <a:latin typeface="Microsoft Sans Serif" panose="020B0604020202020204" pitchFamily="34" charset="0"/>
                <a:ea typeface="Microsoft Sans Serif" panose="020B0604020202020204" pitchFamily="34" charset="0"/>
                <a:cs typeface="Microsoft Sans Serif" panose="020B0604020202020204" pitchFamily="34" charset="0"/>
              </a:rPr>
              <a:t>N</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2 reaction provides a useful method for synthesizing RI </a:t>
            </a:r>
            <a:r>
              <a:rPr lang="zh-CN" altLang="en-US" sz="2000" b="1" dirty="0">
                <a:latin typeface="Microsoft Sans Serif" panose="020B0604020202020204" pitchFamily="34" charset="0"/>
                <a:ea typeface="Microsoft Sans Serif" panose="020B0604020202020204" pitchFamily="34" charset="0"/>
                <a:cs typeface="Microsoft Sans Serif" panose="020B0604020202020204" pitchFamily="34" charset="0"/>
              </a:rPr>
              <a:t>（</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and RF</a:t>
            </a:r>
            <a:r>
              <a:rPr lang="zh-CN" altLang="en-US" sz="2000" b="1" dirty="0">
                <a:latin typeface="Microsoft Sans Serif" panose="020B0604020202020204" pitchFamily="34" charset="0"/>
                <a:ea typeface="Microsoft Sans Serif" panose="020B0604020202020204" pitchFamily="34" charset="0"/>
                <a:cs typeface="Microsoft Sans Serif" panose="020B0604020202020204" pitchFamily="34" charset="0"/>
              </a:rPr>
              <a:t>）</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which are more difficult to make than </a:t>
            </a:r>
            <a:r>
              <a:rPr lang="en-US" altLang="zh-CN" sz="2000" b="1" dirty="0" err="1">
                <a:latin typeface="Microsoft Sans Serif" panose="020B0604020202020204" pitchFamily="34" charset="0"/>
                <a:ea typeface="Microsoft Sans Serif" panose="020B0604020202020204" pitchFamily="34" charset="0"/>
                <a:cs typeface="Microsoft Sans Serif" panose="020B0604020202020204" pitchFamily="34" charset="0"/>
              </a:rPr>
              <a:t>RCl</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 and </a:t>
            </a:r>
            <a:r>
              <a:rPr lang="en-US" altLang="zh-CN" sz="2000" b="1" dirty="0" err="1">
                <a:latin typeface="Microsoft Sans Serif" panose="020B0604020202020204" pitchFamily="34" charset="0"/>
                <a:ea typeface="Microsoft Sans Serif" panose="020B0604020202020204" pitchFamily="34" charset="0"/>
                <a:cs typeface="Microsoft Sans Serif" panose="020B0604020202020204" pitchFamily="34" charset="0"/>
              </a:rPr>
              <a:t>RBr</a:t>
            </a: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285750" indent="-285750" algn="just">
              <a:buFont typeface="Arial" panose="020B0604020202020204" pitchFamily="34" charset="0"/>
              <a:buChar char="•"/>
            </a:pPr>
            <a:endPar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285750" indent="-285750" algn="just">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Halides can be converted to other halides by halogen exchange reactions, in which one halide displaces another.  </a:t>
            </a:r>
            <a:endParaRPr lang="zh-CN" altLang="en-US" sz="2000" b="1" dirty="0">
              <a:latin typeface="Microsoft Sans Serif" panose="020B0604020202020204" pitchFamily="34" charset="0"/>
              <a:cs typeface="Microsoft Sans Serif"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12</a:t>
            </a:fld>
            <a:endParaRPr lang="zh-CN" altLang="en-US"/>
          </a:p>
        </p:txBody>
      </p:sp>
      <p:sp>
        <p:nvSpPr>
          <p:cNvPr id="3" name="TextBox 2"/>
          <p:cNvSpPr txBox="1"/>
          <p:nvPr/>
        </p:nvSpPr>
        <p:spPr>
          <a:xfrm>
            <a:off x="479376" y="1822770"/>
            <a:ext cx="11103024" cy="1631216"/>
          </a:xfrm>
          <a:prstGeom prst="rect">
            <a:avLst/>
          </a:prstGeom>
          <a:noFill/>
        </p:spPr>
        <p:txBody>
          <a:bodyPr wrap="square" rtlCol="0">
            <a:spAutoFit/>
          </a:bodyPr>
          <a:lstStyle/>
          <a:p>
            <a:pPr>
              <a:buFont typeface="Arial" pitchFamily="34" charset="0"/>
              <a:buChar char="•"/>
            </a:pPr>
            <a:r>
              <a:rPr lang="en-US" altLang="zh-CN" sz="2000" b="1" dirty="0">
                <a:latin typeface="Microsoft Sans Serif" pitchFamily="34" charset="0"/>
                <a:cs typeface="Microsoft Sans Serif" pitchFamily="34" charset="0"/>
              </a:rPr>
              <a:t> The nature of the nucleophile strongly affects the rate of the S</a:t>
            </a:r>
            <a:r>
              <a:rPr lang="en-US" altLang="zh-CN" sz="2000" b="1" baseline="-25000" dirty="0">
                <a:latin typeface="Microsoft Sans Serif" pitchFamily="34" charset="0"/>
                <a:cs typeface="Microsoft Sans Serif" pitchFamily="34" charset="0"/>
              </a:rPr>
              <a:t>N</a:t>
            </a:r>
            <a:r>
              <a:rPr lang="en-US" altLang="zh-CN" sz="2000" b="1" dirty="0">
                <a:latin typeface="Microsoft Sans Serif" pitchFamily="34" charset="0"/>
                <a:cs typeface="Microsoft Sans Serif" pitchFamily="34" charset="0"/>
              </a:rPr>
              <a:t>2 reaction. </a:t>
            </a:r>
            <a:r>
              <a:rPr lang="en-US" altLang="zh-CN" sz="2000" b="1" dirty="0">
                <a:highlight>
                  <a:srgbClr val="00FFFF"/>
                </a:highlight>
                <a:latin typeface="Microsoft Sans Serif" pitchFamily="34" charset="0"/>
                <a:cs typeface="Microsoft Sans Serif" pitchFamily="34" charset="0"/>
              </a:rPr>
              <a:t>A strong nucleophile is much more effective</a:t>
            </a:r>
            <a:r>
              <a:rPr lang="en-US" altLang="zh-CN" sz="2000" b="1" dirty="0">
                <a:latin typeface="Microsoft Sans Serif" pitchFamily="34" charset="0"/>
                <a:cs typeface="Microsoft Sans Serif" pitchFamily="34" charset="0"/>
              </a:rPr>
              <a:t> than a weak one </a:t>
            </a:r>
            <a:r>
              <a:rPr lang="en-US" altLang="zh-CN" sz="2000" b="1" dirty="0">
                <a:highlight>
                  <a:srgbClr val="00FFFF"/>
                </a:highlight>
                <a:latin typeface="Microsoft Sans Serif" pitchFamily="34" charset="0"/>
                <a:cs typeface="Microsoft Sans Serif" pitchFamily="34" charset="0"/>
              </a:rPr>
              <a:t>in attacking an electrophilic carbon atom</a:t>
            </a:r>
            <a:r>
              <a:rPr lang="en-US" altLang="zh-CN" sz="2000" b="1" dirty="0">
                <a:latin typeface="Microsoft Sans Serif" pitchFamily="34" charset="0"/>
                <a:cs typeface="Microsoft Sans Serif" pitchFamily="34" charset="0"/>
              </a:rPr>
              <a:t>.</a:t>
            </a:r>
          </a:p>
          <a:p>
            <a:pPr>
              <a:buFont typeface="Arial" pitchFamily="34" charset="0"/>
              <a:buChar char="•"/>
            </a:pPr>
            <a:endParaRPr lang="en-US" altLang="zh-CN" sz="2000" b="1" dirty="0">
              <a:latin typeface="Microsoft Sans Serif" pitchFamily="34" charset="0"/>
              <a:cs typeface="Microsoft Sans Serif" pitchFamily="34" charset="0"/>
            </a:endParaRPr>
          </a:p>
          <a:p>
            <a:r>
              <a:rPr lang="en-US" altLang="zh-CN" sz="2000" b="1" dirty="0">
                <a:latin typeface="Microsoft Sans Serif" pitchFamily="34" charset="0"/>
                <a:cs typeface="Microsoft Sans Serif" pitchFamily="34" charset="0"/>
              </a:rPr>
              <a:t>(1) </a:t>
            </a:r>
            <a:r>
              <a:rPr lang="en-US" altLang="zh-CN" sz="2000" b="1" dirty="0">
                <a:solidFill>
                  <a:srgbClr val="0000FF"/>
                </a:solidFill>
                <a:latin typeface="Microsoft Sans Serif" pitchFamily="34" charset="0"/>
                <a:cs typeface="Microsoft Sans Serif" pitchFamily="34" charset="0"/>
              </a:rPr>
              <a:t>A species with a negative charge is a stronger nucleophile than a similar neutral species. </a:t>
            </a:r>
            <a:r>
              <a:rPr lang="en-US" altLang="zh-CN" sz="2000" b="1" dirty="0">
                <a:latin typeface="Microsoft Sans Serif" pitchFamily="34" charset="0"/>
                <a:cs typeface="Microsoft Sans Serif" pitchFamily="34" charset="0"/>
              </a:rPr>
              <a:t>In particular, </a:t>
            </a:r>
            <a:r>
              <a:rPr lang="en-US" altLang="zh-CN" sz="2000" b="1" dirty="0">
                <a:solidFill>
                  <a:srgbClr val="0000FF"/>
                </a:solidFill>
                <a:latin typeface="Microsoft Sans Serif" pitchFamily="34" charset="0"/>
                <a:cs typeface="Microsoft Sans Serif" pitchFamily="34" charset="0"/>
              </a:rPr>
              <a:t>a base is a stronger nucleophile than its conjugate acid</a:t>
            </a:r>
            <a:r>
              <a:rPr lang="en-US" altLang="zh-CN" sz="2000" b="1" dirty="0">
                <a:latin typeface="Microsoft Sans Serif" pitchFamily="34" charset="0"/>
                <a:cs typeface="Microsoft Sans Serif" pitchFamily="34" charset="0"/>
              </a:rPr>
              <a:t>.</a:t>
            </a:r>
            <a:endParaRPr lang="zh-CN" altLang="en-US" sz="2000" b="1" dirty="0">
              <a:latin typeface="Microsoft Sans Serif" pitchFamily="34" charset="0"/>
              <a:cs typeface="Microsoft Sans Serif" pitchFamily="34" charset="0"/>
            </a:endParaRPr>
          </a:p>
        </p:txBody>
      </p:sp>
      <p:graphicFrame>
        <p:nvGraphicFramePr>
          <p:cNvPr id="25603" name="Object 3"/>
          <p:cNvGraphicFramePr>
            <a:graphicFrameLocks noChangeAspect="1"/>
          </p:cNvGraphicFramePr>
          <p:nvPr>
            <p:extLst>
              <p:ext uri="{D42A27DB-BD31-4B8C-83A1-F6EECF244321}">
                <p14:modId xmlns:p14="http://schemas.microsoft.com/office/powerpoint/2010/main" val="1968338370"/>
              </p:ext>
            </p:extLst>
          </p:nvPr>
        </p:nvGraphicFramePr>
        <p:xfrm>
          <a:off x="2711624" y="3587083"/>
          <a:ext cx="6953264" cy="662578"/>
        </p:xfrm>
        <a:graphic>
          <a:graphicData uri="http://schemas.openxmlformats.org/presentationml/2006/ole">
            <mc:AlternateContent xmlns:mc="http://schemas.openxmlformats.org/markup-compatibility/2006">
              <mc:Choice xmlns:v="urn:schemas-microsoft-com:vml" Requires="v">
                <p:oleObj spid="_x0000_s26476" name="CS ChemDraw Drawing" r:id="rId3" imgW="2898085" imgH="276952" progId="ChemDraw.Document.6.0">
                  <p:embed/>
                </p:oleObj>
              </mc:Choice>
              <mc:Fallback>
                <p:oleObj name="CS ChemDraw Drawing" r:id="rId3" imgW="2898085" imgH="276952" progId="ChemDraw.Document.6.0">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11624" y="3587083"/>
                        <a:ext cx="6953264" cy="662578"/>
                      </a:xfrm>
                      <a:prstGeom prst="rect">
                        <a:avLst/>
                      </a:prstGeom>
                      <a:noFill/>
                      <a:ln>
                        <a:noFill/>
                      </a:ln>
                      <a:effectLst/>
                    </p:spPr>
                  </p:pic>
                </p:oleObj>
              </mc:Fallback>
            </mc:AlternateContent>
          </a:graphicData>
        </a:graphic>
      </p:graphicFrame>
      <p:sp>
        <p:nvSpPr>
          <p:cNvPr id="5" name="TextBox 4"/>
          <p:cNvSpPr txBox="1"/>
          <p:nvPr/>
        </p:nvSpPr>
        <p:spPr>
          <a:xfrm>
            <a:off x="479376" y="4411274"/>
            <a:ext cx="11161240" cy="1015663"/>
          </a:xfrm>
          <a:prstGeom prst="rect">
            <a:avLst/>
          </a:prstGeom>
          <a:noFill/>
        </p:spPr>
        <p:txBody>
          <a:bodyPr wrap="square" rtlCol="0">
            <a:spAutoFit/>
          </a:bodyPr>
          <a:lstStyle/>
          <a:p>
            <a:r>
              <a:rPr lang="en-US" altLang="zh-CN" sz="2000" b="1" dirty="0">
                <a:latin typeface="Microsoft Sans Serif" pitchFamily="34" charset="0"/>
                <a:cs typeface="Microsoft Sans Serif" pitchFamily="34" charset="0"/>
              </a:rPr>
              <a:t>(2) </a:t>
            </a:r>
            <a:r>
              <a:rPr lang="en-US" altLang="zh-CN" sz="2000" b="1" dirty="0">
                <a:solidFill>
                  <a:srgbClr val="0000FF"/>
                </a:solidFill>
                <a:latin typeface="Microsoft Sans Serif" pitchFamily="34" charset="0"/>
                <a:cs typeface="Microsoft Sans Serif" pitchFamily="34" charset="0"/>
              </a:rPr>
              <a:t>Nucleophilicity decreases from left to right in the periodic table, following the increase in electronegativity from left to right. </a:t>
            </a:r>
            <a:r>
              <a:rPr lang="en-US" altLang="zh-CN" sz="2000" b="1" dirty="0">
                <a:latin typeface="Microsoft Sans Serif" pitchFamily="34" charset="0"/>
                <a:cs typeface="Microsoft Sans Serif" pitchFamily="34" charset="0"/>
              </a:rPr>
              <a:t>The more electronegative elements have more tightly held nonbonding electrons that are less reactive toward forming new bonds.</a:t>
            </a:r>
            <a:endParaRPr lang="zh-CN" altLang="en-US" sz="2000" b="1" dirty="0">
              <a:latin typeface="Microsoft Sans Serif" pitchFamily="34" charset="0"/>
              <a:cs typeface="Microsoft Sans Serif" pitchFamily="34" charset="0"/>
            </a:endParaRPr>
          </a:p>
        </p:txBody>
      </p:sp>
      <p:graphicFrame>
        <p:nvGraphicFramePr>
          <p:cNvPr id="25605" name="Object 5"/>
          <p:cNvGraphicFramePr>
            <a:graphicFrameLocks noChangeAspect="1"/>
          </p:cNvGraphicFramePr>
          <p:nvPr>
            <p:extLst>
              <p:ext uri="{D42A27DB-BD31-4B8C-83A1-F6EECF244321}">
                <p14:modId xmlns:p14="http://schemas.microsoft.com/office/powerpoint/2010/main" val="3972982485"/>
              </p:ext>
            </p:extLst>
          </p:nvPr>
        </p:nvGraphicFramePr>
        <p:xfrm>
          <a:off x="3575720" y="5679679"/>
          <a:ext cx="4214836" cy="623094"/>
        </p:xfrm>
        <a:graphic>
          <a:graphicData uri="http://schemas.openxmlformats.org/presentationml/2006/ole">
            <mc:AlternateContent xmlns:mc="http://schemas.openxmlformats.org/markup-compatibility/2006">
              <mc:Choice xmlns:v="urn:schemas-microsoft-com:vml" Requires="v">
                <p:oleObj spid="_x0000_s26477" name="CS ChemDraw Drawing" r:id="rId5" imgW="1868261" imgH="276952" progId="ChemDraw.Document.6.0">
                  <p:embed/>
                </p:oleObj>
              </mc:Choice>
              <mc:Fallback>
                <p:oleObj name="CS ChemDraw Drawing" r:id="rId5" imgW="1868261" imgH="276952" progId="ChemDraw.Document.6.0">
                  <p:embed/>
                  <p:pic>
                    <p:nvPicPr>
                      <p:cNvPr id="0"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75720" y="5679679"/>
                        <a:ext cx="4214836" cy="623094"/>
                      </a:xfrm>
                      <a:prstGeom prst="rect">
                        <a:avLst/>
                      </a:prstGeom>
                      <a:noFill/>
                      <a:ln>
                        <a:noFill/>
                      </a:ln>
                      <a:effectLst/>
                    </p:spPr>
                  </p:pic>
                </p:oleObj>
              </mc:Fallback>
            </mc:AlternateContent>
          </a:graphicData>
        </a:graphic>
      </p:graphicFrame>
      <p:sp>
        <p:nvSpPr>
          <p:cNvPr id="7" name="矩形 6"/>
          <p:cNvSpPr/>
          <p:nvPr/>
        </p:nvSpPr>
        <p:spPr>
          <a:xfrm>
            <a:off x="-1973" y="190649"/>
            <a:ext cx="5354351" cy="461665"/>
          </a:xfrm>
          <a:prstGeom prst="rect">
            <a:avLst/>
          </a:prstGeom>
          <a:solidFill>
            <a:schemeClr val="tx2">
              <a:lumMod val="20000"/>
              <a:lumOff val="80000"/>
            </a:schemeClr>
          </a:solidFill>
        </p:spPr>
        <p:txBody>
          <a:bodyPr wrap="none">
            <a:spAutoFit/>
          </a:bodyPr>
          <a:lstStyle/>
          <a:p>
            <a:r>
              <a:rPr lang="en-US" altLang="zh-CN" sz="2400" b="1" dirty="0">
                <a:latin typeface="Microsoft Sans Serif" pitchFamily="34" charset="0"/>
                <a:cs typeface="Microsoft Sans Serif" pitchFamily="34" charset="0"/>
              </a:rPr>
              <a:t>7-6-2 Factors Affecting S</a:t>
            </a:r>
            <a:r>
              <a:rPr lang="en-US" altLang="zh-CN" sz="2400" b="1" baseline="-25000" dirty="0">
                <a:latin typeface="Microsoft Sans Serif" pitchFamily="34" charset="0"/>
                <a:cs typeface="Microsoft Sans Serif" pitchFamily="34" charset="0"/>
              </a:rPr>
              <a:t>N</a:t>
            </a:r>
            <a:r>
              <a:rPr lang="en-US" altLang="zh-CN" sz="2400" b="1" dirty="0">
                <a:latin typeface="Microsoft Sans Serif" pitchFamily="34" charset="0"/>
                <a:cs typeface="Microsoft Sans Serif" pitchFamily="34" charset="0"/>
              </a:rPr>
              <a:t>2 Reactions</a:t>
            </a:r>
          </a:p>
        </p:txBody>
      </p:sp>
      <p:sp>
        <p:nvSpPr>
          <p:cNvPr id="8" name="矩形 7"/>
          <p:cNvSpPr/>
          <p:nvPr/>
        </p:nvSpPr>
        <p:spPr>
          <a:xfrm>
            <a:off x="263352" y="745106"/>
            <a:ext cx="11377264" cy="400110"/>
          </a:xfrm>
          <a:prstGeom prst="rect">
            <a:avLst/>
          </a:prstGeom>
        </p:spPr>
        <p:txBody>
          <a:bodyPr wrap="square">
            <a:spAutoFit/>
          </a:bodyPr>
          <a:lstStyle/>
          <a:p>
            <a:pPr marL="285750" indent="-285750">
              <a:buFont typeface="Arial" panose="020B0604020202020204" pitchFamily="34" charset="0"/>
              <a:buChar char="•"/>
            </a:pPr>
            <a:r>
              <a:rPr lang="en-US" altLang="zh-CN" sz="2000" b="1" dirty="0">
                <a:latin typeface="Microsoft Sans Serif" pitchFamily="34" charset="0"/>
                <a:cs typeface="Microsoft Sans Serif" pitchFamily="34" charset="0"/>
              </a:rPr>
              <a:t>Two main factors affect an S</a:t>
            </a:r>
            <a:r>
              <a:rPr lang="en-US" altLang="zh-CN" sz="2000" b="1" baseline="-25000" dirty="0">
                <a:latin typeface="Microsoft Sans Serif" pitchFamily="34" charset="0"/>
                <a:cs typeface="Microsoft Sans Serif" pitchFamily="34" charset="0"/>
              </a:rPr>
              <a:t>N</a:t>
            </a:r>
            <a:r>
              <a:rPr lang="en-US" altLang="zh-CN" sz="2000" b="1" dirty="0">
                <a:latin typeface="Microsoft Sans Serif" pitchFamily="34" charset="0"/>
                <a:cs typeface="Microsoft Sans Serif" pitchFamily="34" charset="0"/>
              </a:rPr>
              <a:t>2 reaction: </a:t>
            </a:r>
            <a:r>
              <a:rPr lang="en-US" altLang="zh-CN" sz="2000" b="1" dirty="0">
                <a:solidFill>
                  <a:srgbClr val="0000FF"/>
                </a:solidFill>
                <a:highlight>
                  <a:srgbClr val="FFFF00"/>
                </a:highlight>
                <a:latin typeface="Microsoft Sans Serif" pitchFamily="34" charset="0"/>
                <a:cs typeface="Microsoft Sans Serif" pitchFamily="34" charset="0"/>
              </a:rPr>
              <a:t>1&gt; </a:t>
            </a:r>
            <a:r>
              <a:rPr lang="en-US" altLang="zh-CN" sz="2000" b="1" dirty="0">
                <a:highlight>
                  <a:srgbClr val="FFFF00"/>
                </a:highlight>
                <a:latin typeface="Microsoft Sans Serif" pitchFamily="34" charset="0"/>
                <a:cs typeface="Microsoft Sans Serif" pitchFamily="34" charset="0"/>
              </a:rPr>
              <a:t>the nucleophile</a:t>
            </a:r>
            <a:r>
              <a:rPr lang="en-US" altLang="zh-CN" sz="2000" b="1" dirty="0">
                <a:latin typeface="Microsoft Sans Serif" pitchFamily="34" charset="0"/>
                <a:cs typeface="Microsoft Sans Serif" pitchFamily="34" charset="0"/>
              </a:rPr>
              <a:t>; </a:t>
            </a:r>
            <a:r>
              <a:rPr lang="en-US" altLang="zh-CN" sz="2000" b="1" dirty="0">
                <a:solidFill>
                  <a:srgbClr val="0000FF"/>
                </a:solidFill>
                <a:highlight>
                  <a:srgbClr val="FFFF00"/>
                </a:highlight>
                <a:latin typeface="Microsoft Sans Serif" pitchFamily="34" charset="0"/>
                <a:cs typeface="Microsoft Sans Serif" pitchFamily="34" charset="0"/>
              </a:rPr>
              <a:t>2&gt; </a:t>
            </a:r>
            <a:r>
              <a:rPr lang="en-US" altLang="zh-CN" sz="2000" b="1" dirty="0">
                <a:highlight>
                  <a:srgbClr val="FFFF00"/>
                </a:highlight>
                <a:latin typeface="Microsoft Sans Serif" pitchFamily="34" charset="0"/>
                <a:cs typeface="Microsoft Sans Serif" pitchFamily="34" charset="0"/>
              </a:rPr>
              <a:t>the substrate (the alkyl halide)</a:t>
            </a:r>
            <a:r>
              <a:rPr lang="en-US" altLang="zh-CN" sz="2000" b="1" dirty="0">
                <a:latin typeface="Microsoft Sans Serif" pitchFamily="34" charset="0"/>
                <a:cs typeface="Microsoft Sans Serif" pitchFamily="34" charset="0"/>
              </a:rPr>
              <a:t>.  </a:t>
            </a:r>
          </a:p>
        </p:txBody>
      </p:sp>
      <p:sp>
        <p:nvSpPr>
          <p:cNvPr id="9" name="矩形 8"/>
          <p:cNvSpPr/>
          <p:nvPr/>
        </p:nvSpPr>
        <p:spPr>
          <a:xfrm>
            <a:off x="191344" y="1320813"/>
            <a:ext cx="4825360" cy="400110"/>
          </a:xfrm>
          <a:prstGeom prst="rect">
            <a:avLst/>
          </a:prstGeom>
          <a:solidFill>
            <a:schemeClr val="bg1"/>
          </a:solidFill>
        </p:spPr>
        <p:txBody>
          <a:bodyPr wrap="none">
            <a:spAutoFit/>
          </a:bodyPr>
          <a:lstStyle/>
          <a:p>
            <a:r>
              <a:rPr lang="en-US" altLang="zh-CN" sz="2000" b="1" dirty="0">
                <a:highlight>
                  <a:srgbClr val="FFFF00"/>
                </a:highlight>
                <a:latin typeface="Microsoft Sans Serif" pitchFamily="34" charset="0"/>
                <a:cs typeface="Microsoft Sans Serif" pitchFamily="34" charset="0"/>
              </a:rPr>
              <a:t>1&gt; </a:t>
            </a:r>
            <a:r>
              <a:rPr lang="en-US" altLang="zh-CN" sz="2000" b="1" dirty="0">
                <a:latin typeface="Microsoft Sans Serif" pitchFamily="34" charset="0"/>
                <a:cs typeface="Microsoft Sans Serif" pitchFamily="34" charset="0"/>
              </a:rPr>
              <a:t>Trends in the strength of nucleophiles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13</a:t>
            </a:fld>
            <a:endParaRPr lang="zh-CN" altLang="en-US"/>
          </a:p>
        </p:txBody>
      </p:sp>
      <p:sp>
        <p:nvSpPr>
          <p:cNvPr id="5" name="TextBox 4"/>
          <p:cNvSpPr txBox="1"/>
          <p:nvPr/>
        </p:nvSpPr>
        <p:spPr>
          <a:xfrm>
            <a:off x="328464" y="177264"/>
            <a:ext cx="11467701" cy="400110"/>
          </a:xfrm>
          <a:prstGeom prst="rect">
            <a:avLst/>
          </a:prstGeom>
          <a:noFill/>
        </p:spPr>
        <p:txBody>
          <a:bodyPr wrap="square" rtlCol="0">
            <a:spAutoFit/>
          </a:bodyPr>
          <a:lstStyle/>
          <a:p>
            <a:r>
              <a:rPr lang="en-US" altLang="zh-CN" sz="2000" b="1" dirty="0">
                <a:latin typeface="Microsoft Sans Serif" pitchFamily="34" charset="0"/>
                <a:cs typeface="Microsoft Sans Serif" pitchFamily="34" charset="0"/>
              </a:rPr>
              <a:t>(3) </a:t>
            </a:r>
            <a:r>
              <a:rPr lang="en-US" altLang="zh-CN" sz="2000" b="1" dirty="0">
                <a:solidFill>
                  <a:srgbClr val="0000FF"/>
                </a:solidFill>
                <a:latin typeface="Microsoft Sans Serif" pitchFamily="34" charset="0"/>
                <a:cs typeface="Microsoft Sans Serif" pitchFamily="34" charset="0"/>
              </a:rPr>
              <a:t>Nucleophilicty increases down the periodic table, following the increase in </a:t>
            </a:r>
            <a:r>
              <a:rPr lang="en-US" altLang="zh-CN" sz="2000" b="1" dirty="0">
                <a:latin typeface="Microsoft Sans Serif" pitchFamily="34" charset="0"/>
                <a:cs typeface="Microsoft Sans Serif" pitchFamily="34" charset="0"/>
              </a:rPr>
              <a:t>size and </a:t>
            </a:r>
            <a:r>
              <a:rPr lang="en-US" altLang="zh-CN" sz="2000" b="1" dirty="0">
                <a:solidFill>
                  <a:srgbClr val="FF0000"/>
                </a:solidFill>
                <a:latin typeface="Microsoft Sans Serif" pitchFamily="34" charset="0"/>
                <a:cs typeface="Microsoft Sans Serif" pitchFamily="34" charset="0"/>
              </a:rPr>
              <a:t>polarizability</a:t>
            </a:r>
            <a:r>
              <a:rPr lang="en-US" altLang="zh-CN" sz="2000" b="1" dirty="0">
                <a:solidFill>
                  <a:srgbClr val="0000FF"/>
                </a:solidFill>
                <a:latin typeface="Microsoft Sans Serif" pitchFamily="34" charset="0"/>
                <a:cs typeface="Microsoft Sans Serif" pitchFamily="34" charset="0"/>
              </a:rPr>
              <a:t>.</a:t>
            </a:r>
            <a:endParaRPr lang="zh-CN" altLang="en-US" sz="2000" b="1" dirty="0">
              <a:solidFill>
                <a:srgbClr val="0000FF"/>
              </a:solidFill>
              <a:latin typeface="Microsoft Sans Serif" pitchFamily="34" charset="0"/>
              <a:cs typeface="Microsoft Sans Serif" pitchFamily="34" charset="0"/>
            </a:endParaRPr>
          </a:p>
        </p:txBody>
      </p:sp>
      <p:sp>
        <p:nvSpPr>
          <p:cNvPr id="8" name="TextBox 7"/>
          <p:cNvSpPr txBox="1"/>
          <p:nvPr/>
        </p:nvSpPr>
        <p:spPr>
          <a:xfrm>
            <a:off x="4580916" y="3196700"/>
            <a:ext cx="7201439" cy="1323439"/>
          </a:xfrm>
          <a:prstGeom prst="rect">
            <a:avLst/>
          </a:prstGeom>
          <a:noFill/>
        </p:spPr>
        <p:txBody>
          <a:bodyPr wrap="square" rtlCol="0">
            <a:spAutoFit/>
          </a:bodyPr>
          <a:lstStyle/>
          <a:p>
            <a:pPr>
              <a:buFont typeface="Arial" pitchFamily="34" charset="0"/>
              <a:buChar char="•"/>
            </a:pPr>
            <a:r>
              <a:rPr lang="en-US" altLang="zh-CN" sz="2000" b="1" dirty="0">
                <a:latin typeface="Consolas" panose="020B0609020204030204" pitchFamily="49" charset="0"/>
                <a:cs typeface="Microsoft Sans Serif" pitchFamily="34" charset="0"/>
              </a:rPr>
              <a:t> Compared with F</a:t>
            </a:r>
            <a:r>
              <a:rPr lang="en-US" altLang="zh-CN" sz="2000" b="1" baseline="30000" dirty="0">
                <a:latin typeface="Consolas" panose="020B0609020204030204" pitchFamily="49" charset="0"/>
                <a:cs typeface="Microsoft Sans Serif" pitchFamily="34" charset="0"/>
              </a:rPr>
              <a:t>-</a:t>
            </a:r>
            <a:r>
              <a:rPr lang="en-US" altLang="zh-CN" sz="2000" b="1" dirty="0">
                <a:latin typeface="Consolas" panose="020B0609020204030204" pitchFamily="49" charset="0"/>
                <a:cs typeface="Microsoft Sans Serif" pitchFamily="34" charset="0"/>
              </a:rPr>
              <a:t>, the atom of I</a:t>
            </a:r>
            <a:r>
              <a:rPr lang="en-US" altLang="zh-CN" sz="2000" b="1" baseline="30000" dirty="0">
                <a:latin typeface="Consolas" panose="020B0609020204030204" pitchFamily="49" charset="0"/>
                <a:cs typeface="Microsoft Sans Serif" pitchFamily="34" charset="0"/>
              </a:rPr>
              <a:t>-</a:t>
            </a:r>
            <a:r>
              <a:rPr lang="en-US" altLang="zh-CN" sz="2000" b="1" dirty="0">
                <a:latin typeface="Consolas" panose="020B0609020204030204" pitchFamily="49" charset="0"/>
                <a:cs typeface="Microsoft Sans Serif" pitchFamily="34" charset="0"/>
              </a:rPr>
              <a:t> is large. </a:t>
            </a:r>
          </a:p>
          <a:p>
            <a:pPr>
              <a:buFont typeface="Arial" pitchFamily="34" charset="0"/>
              <a:buChar char="•"/>
            </a:pPr>
            <a:endParaRPr lang="en-US" altLang="zh-CN" sz="2000" b="1" dirty="0">
              <a:latin typeface="Consolas" panose="020B0609020204030204" pitchFamily="49" charset="0"/>
              <a:cs typeface="Microsoft Sans Serif" pitchFamily="34" charset="0"/>
            </a:endParaRPr>
          </a:p>
          <a:p>
            <a:pPr>
              <a:buFont typeface="Arial" pitchFamily="34" charset="0"/>
              <a:buChar char="•"/>
            </a:pPr>
            <a:r>
              <a:rPr lang="en-US" altLang="zh-CN" sz="2000" b="1" dirty="0">
                <a:latin typeface="Consolas" panose="020B0609020204030204" pitchFamily="49" charset="0"/>
                <a:cs typeface="Microsoft Sans Serif" pitchFamily="34" charset="0"/>
              </a:rPr>
              <a:t> The electrons in the outmost shell are loosely held, resulting in strong bonding ability.</a:t>
            </a:r>
            <a:endParaRPr lang="zh-CN" altLang="en-US" sz="2000" b="1" dirty="0">
              <a:latin typeface="Consolas" panose="020B0609020204030204" pitchFamily="49" charset="0"/>
              <a:cs typeface="Microsoft Sans Serif" pitchFamily="34" charset="0"/>
            </a:endParaRPr>
          </a:p>
        </p:txBody>
      </p:sp>
      <p:graphicFrame>
        <p:nvGraphicFramePr>
          <p:cNvPr id="26630" name="Object 6"/>
          <p:cNvGraphicFramePr>
            <a:graphicFrameLocks noChangeAspect="1"/>
          </p:cNvGraphicFramePr>
          <p:nvPr>
            <p:extLst>
              <p:ext uri="{D42A27DB-BD31-4B8C-83A1-F6EECF244321}">
                <p14:modId xmlns:p14="http://schemas.microsoft.com/office/powerpoint/2010/main" val="931457866"/>
              </p:ext>
            </p:extLst>
          </p:nvPr>
        </p:nvGraphicFramePr>
        <p:xfrm>
          <a:off x="3935760" y="620688"/>
          <a:ext cx="3456384" cy="1154202"/>
        </p:xfrm>
        <a:graphic>
          <a:graphicData uri="http://schemas.openxmlformats.org/presentationml/2006/ole">
            <mc:AlternateContent xmlns:mc="http://schemas.openxmlformats.org/markup-compatibility/2006">
              <mc:Choice xmlns:v="urn:schemas-microsoft-com:vml" Requires="v">
                <p:oleObj spid="_x0000_s27600" name="CS ChemDraw Drawing" r:id="rId3" imgW="1764334" imgH="589535" progId="ChemDraw.Document.6.0">
                  <p:embed/>
                </p:oleObj>
              </mc:Choice>
              <mc:Fallback>
                <p:oleObj name="CS ChemDraw Drawing" r:id="rId3" imgW="1764334" imgH="589535" progId="ChemDraw.Document.6.0">
                  <p:embed/>
                  <p:pic>
                    <p:nvPicPr>
                      <p:cNvPr id="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35760" y="620688"/>
                        <a:ext cx="3456384" cy="1154202"/>
                      </a:xfrm>
                      <a:prstGeom prst="rect">
                        <a:avLst/>
                      </a:prstGeom>
                      <a:noFill/>
                      <a:ln>
                        <a:noFill/>
                      </a:ln>
                      <a:effectLst/>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2563869295"/>
              </p:ext>
            </p:extLst>
          </p:nvPr>
        </p:nvGraphicFramePr>
        <p:xfrm>
          <a:off x="1172102" y="3074098"/>
          <a:ext cx="2736304" cy="1735997"/>
        </p:xfrm>
        <a:graphic>
          <a:graphicData uri="http://schemas.openxmlformats.org/presentationml/2006/ole">
            <mc:AlternateContent xmlns:mc="http://schemas.openxmlformats.org/markup-compatibility/2006">
              <mc:Choice xmlns:v="urn:schemas-microsoft-com:vml" Requires="v">
                <p:oleObj spid="_x0000_s27601" name="CS ChemDraw Drawing" r:id="rId5" imgW="1494605" imgH="947831" progId="ChemDraw.Document.6.0">
                  <p:embed/>
                </p:oleObj>
              </mc:Choice>
              <mc:Fallback>
                <p:oleObj name="CS ChemDraw Drawing" r:id="rId5" imgW="1494605" imgH="947831" progId="ChemDraw.Document.6.0">
                  <p:embed/>
                  <p:pic>
                    <p:nvPicPr>
                      <p:cNvPr id="0" name=""/>
                      <p:cNvPicPr/>
                      <p:nvPr/>
                    </p:nvPicPr>
                    <p:blipFill>
                      <a:blip r:embed="rId6"/>
                      <a:stretch>
                        <a:fillRect/>
                      </a:stretch>
                    </p:blipFill>
                    <p:spPr>
                      <a:xfrm>
                        <a:off x="1172102" y="3074098"/>
                        <a:ext cx="2736304" cy="1735997"/>
                      </a:xfrm>
                      <a:prstGeom prst="rect">
                        <a:avLst/>
                      </a:prstGeom>
                    </p:spPr>
                  </p:pic>
                </p:oleObj>
              </mc:Fallback>
            </mc:AlternateContent>
          </a:graphicData>
        </a:graphic>
      </p:graphicFrame>
      <p:sp>
        <p:nvSpPr>
          <p:cNvPr id="4" name="文本框 3"/>
          <p:cNvSpPr txBox="1"/>
          <p:nvPr/>
        </p:nvSpPr>
        <p:spPr>
          <a:xfrm>
            <a:off x="315643" y="1835831"/>
            <a:ext cx="11031016" cy="1323439"/>
          </a:xfrm>
          <a:prstGeom prst="rect">
            <a:avLst/>
          </a:prstGeom>
          <a:noFill/>
        </p:spPr>
        <p:txBody>
          <a:bodyPr wrap="square" rtlCol="0">
            <a:spAutoFit/>
          </a:bodyPr>
          <a:lstStyle/>
          <a:p>
            <a:pPr marL="285750" indent="-285750" algn="just">
              <a:buFont typeface="Arial" panose="020B0604020202020204" pitchFamily="34" charset="0"/>
              <a:buChar char="•"/>
            </a:pPr>
            <a:r>
              <a:rPr lang="en-US" altLang="zh-CN" sz="2000" b="1" dirty="0">
                <a:latin typeface="Microsoft Sans Serif" panose="020B0604020202020204" pitchFamily="34" charset="0"/>
                <a:ea typeface="Microsoft Sans Serif" panose="020B0604020202020204" pitchFamily="34" charset="0"/>
                <a:cs typeface="Microsoft Sans Serif" panose="020B0604020202020204" pitchFamily="34" charset="0"/>
              </a:rPr>
              <a:t>As we go down a column in the periodic table, the atoms become larger, with more electrons at a greater distance from the nucleus. The electrons are more loosely held, and the atom is more polarizable. The increased mobility of its electrons enhances the atom’s ability to begin to form a bond at a relatively long distance.</a:t>
            </a:r>
            <a:endParaRPr lang="zh-CN" altLang="en-US" sz="2000" b="1" dirty="0">
              <a:latin typeface="Microsoft Sans Serif" panose="020B0604020202020204" pitchFamily="34" charset="0"/>
              <a:cs typeface="Microsoft Sans Serif" panose="020B0604020202020204" pitchFamily="34" charset="0"/>
            </a:endParaRPr>
          </a:p>
        </p:txBody>
      </p:sp>
      <p:graphicFrame>
        <p:nvGraphicFramePr>
          <p:cNvPr id="9" name="表格 8">
            <a:extLst>
              <a:ext uri="{FF2B5EF4-FFF2-40B4-BE49-F238E27FC236}">
                <a16:creationId xmlns:a16="http://schemas.microsoft.com/office/drawing/2014/main" id="{8A56D60C-CAF7-48D8-96B6-7AF1CAD8E3F3}"/>
              </a:ext>
            </a:extLst>
          </p:cNvPr>
          <p:cNvGraphicFramePr>
            <a:graphicFrameLocks noGrp="1"/>
          </p:cNvGraphicFramePr>
          <p:nvPr>
            <p:extLst>
              <p:ext uri="{D42A27DB-BD31-4B8C-83A1-F6EECF244321}">
                <p14:modId xmlns:p14="http://schemas.microsoft.com/office/powerpoint/2010/main" val="3003490324"/>
              </p:ext>
            </p:extLst>
          </p:nvPr>
        </p:nvGraphicFramePr>
        <p:xfrm>
          <a:off x="2581401" y="4781197"/>
          <a:ext cx="9000999" cy="1843295"/>
        </p:xfrm>
        <a:graphic>
          <a:graphicData uri="http://schemas.openxmlformats.org/drawingml/2006/table">
            <a:tbl>
              <a:tblPr firstRow="1" bandRow="1">
                <a:tableStyleId>{5940675A-B579-460E-94D1-54222C63F5DA}</a:tableStyleId>
              </a:tblPr>
              <a:tblGrid>
                <a:gridCol w="3000333">
                  <a:extLst>
                    <a:ext uri="{9D8B030D-6E8A-4147-A177-3AD203B41FA5}">
                      <a16:colId xmlns:a16="http://schemas.microsoft.com/office/drawing/2014/main" val="3293941034"/>
                    </a:ext>
                  </a:extLst>
                </a:gridCol>
                <a:gridCol w="3000333">
                  <a:extLst>
                    <a:ext uri="{9D8B030D-6E8A-4147-A177-3AD203B41FA5}">
                      <a16:colId xmlns:a16="http://schemas.microsoft.com/office/drawing/2014/main" val="614254183"/>
                    </a:ext>
                  </a:extLst>
                </a:gridCol>
                <a:gridCol w="3000333">
                  <a:extLst>
                    <a:ext uri="{9D8B030D-6E8A-4147-A177-3AD203B41FA5}">
                      <a16:colId xmlns:a16="http://schemas.microsoft.com/office/drawing/2014/main" val="588491242"/>
                    </a:ext>
                  </a:extLst>
                </a:gridCol>
              </a:tblGrid>
              <a:tr h="312111">
                <a:tc gridSpan="3">
                  <a:txBody>
                    <a:bodyPr/>
                    <a:lstStyle/>
                    <a:p>
                      <a:pPr algn="ctr"/>
                      <a:r>
                        <a:rPr lang="en-US" altLang="zh-CN" b="1" dirty="0">
                          <a:latin typeface="Consolas" panose="020B0609020204030204" pitchFamily="49" charset="0"/>
                        </a:rPr>
                        <a:t>Some</a:t>
                      </a:r>
                      <a:r>
                        <a:rPr lang="en-US" altLang="zh-CN" b="1" baseline="0" dirty="0">
                          <a:latin typeface="Consolas" panose="020B0609020204030204" pitchFamily="49" charset="0"/>
                        </a:rPr>
                        <a:t> common nucleophiles</a:t>
                      </a:r>
                      <a:endParaRPr lang="zh-CN" altLang="en-US" b="1" dirty="0">
                        <a:latin typeface="Consolas" panose="020B0609020204030204" pitchFamily="49" charset="0"/>
                      </a:endParaRPr>
                    </a:p>
                  </a:txBody>
                  <a:tcPr/>
                </a:tc>
                <a:tc hMerge="1">
                  <a:txBody>
                    <a:bodyPr/>
                    <a:lstStyle/>
                    <a:p>
                      <a:endParaRPr lang="zh-CN" altLang="en-US" dirty="0"/>
                    </a:p>
                  </a:txBody>
                  <a:tcPr/>
                </a:tc>
                <a:tc hMerge="1">
                  <a:txBody>
                    <a:bodyPr/>
                    <a:lstStyle/>
                    <a:p>
                      <a:endParaRPr lang="zh-CN" altLang="en-US" dirty="0"/>
                    </a:p>
                  </a:txBody>
                  <a:tcPr/>
                </a:tc>
                <a:extLst>
                  <a:ext uri="{0D108BD9-81ED-4DB2-BD59-A6C34878D82A}">
                    <a16:rowId xmlns:a16="http://schemas.microsoft.com/office/drawing/2014/main" val="1764098061"/>
                  </a:ext>
                </a:extLst>
              </a:tr>
              <a:tr h="312111">
                <a:tc>
                  <a:txBody>
                    <a:bodyPr/>
                    <a:lstStyle/>
                    <a:p>
                      <a:r>
                        <a:rPr lang="en-US" altLang="zh-CN" b="1" dirty="0">
                          <a:latin typeface="Consolas" panose="020B0609020204030204" pitchFamily="49" charset="0"/>
                        </a:rPr>
                        <a:t>Strong nucleophiles</a:t>
                      </a:r>
                      <a:endParaRPr lang="zh-CN" altLang="en-US" b="1" dirty="0">
                        <a:latin typeface="Consolas" panose="020B0609020204030204" pitchFamily="49" charset="0"/>
                      </a:endParaRPr>
                    </a:p>
                  </a:txBody>
                  <a:tcPr>
                    <a:solidFill>
                      <a:schemeClr val="accent6">
                        <a:lumMod val="75000"/>
                      </a:schemeClr>
                    </a:solidFill>
                  </a:tcPr>
                </a:tc>
                <a:tc>
                  <a:txBody>
                    <a:bodyPr/>
                    <a:lstStyle/>
                    <a:p>
                      <a:r>
                        <a:rPr lang="en-US" altLang="zh-CN" b="1" dirty="0">
                          <a:latin typeface="Consolas" panose="020B0609020204030204" pitchFamily="49" charset="0"/>
                        </a:rPr>
                        <a:t>Moderate nucleophiles</a:t>
                      </a:r>
                      <a:endParaRPr lang="zh-CN" altLang="en-US" b="1" dirty="0">
                        <a:latin typeface="Consolas" panose="020B0609020204030204" pitchFamily="49" charset="0"/>
                      </a:endParaRPr>
                    </a:p>
                  </a:txBody>
                  <a:tcPr>
                    <a:solidFill>
                      <a:schemeClr val="accent6">
                        <a:lumMod val="60000"/>
                        <a:lumOff val="40000"/>
                      </a:schemeClr>
                    </a:solidFill>
                  </a:tcPr>
                </a:tc>
                <a:tc>
                  <a:txBody>
                    <a:bodyPr/>
                    <a:lstStyle/>
                    <a:p>
                      <a:r>
                        <a:rPr lang="en-US" altLang="zh-CN" b="1" dirty="0">
                          <a:latin typeface="Consolas" panose="020B0609020204030204" pitchFamily="49" charset="0"/>
                        </a:rPr>
                        <a:t>Weak nucleophiles</a:t>
                      </a:r>
                      <a:endParaRPr lang="zh-CN" altLang="en-US" b="1" dirty="0">
                        <a:latin typeface="Consolas" panose="020B0609020204030204" pitchFamily="49" charset="0"/>
                      </a:endParaRPr>
                    </a:p>
                  </a:txBody>
                  <a:tcPr>
                    <a:solidFill>
                      <a:schemeClr val="accent6">
                        <a:lumMod val="20000"/>
                        <a:lumOff val="80000"/>
                      </a:schemeClr>
                    </a:solidFill>
                  </a:tcPr>
                </a:tc>
                <a:extLst>
                  <a:ext uri="{0D108BD9-81ED-4DB2-BD59-A6C34878D82A}">
                    <a16:rowId xmlns:a16="http://schemas.microsoft.com/office/drawing/2014/main" val="3436150971"/>
                  </a:ext>
                </a:extLst>
              </a:tr>
              <a:tr h="1111775">
                <a:tc>
                  <a:txBody>
                    <a:bodyPr/>
                    <a:lstStyle/>
                    <a:p>
                      <a:endParaRPr lang="zh-CN" altLang="en-US" dirty="0">
                        <a:latin typeface="Consolas" panose="020B0609020204030204" pitchFamily="49" charset="0"/>
                      </a:endParaRPr>
                    </a:p>
                  </a:txBody>
                  <a:tcPr/>
                </a:tc>
                <a:tc>
                  <a:txBody>
                    <a:bodyPr/>
                    <a:lstStyle/>
                    <a:p>
                      <a:endParaRPr lang="zh-CN" altLang="en-US" dirty="0">
                        <a:latin typeface="Consolas" panose="020B0609020204030204" pitchFamily="49" charset="0"/>
                      </a:endParaRPr>
                    </a:p>
                  </a:txBody>
                  <a:tcPr/>
                </a:tc>
                <a:tc>
                  <a:txBody>
                    <a:bodyPr/>
                    <a:lstStyle/>
                    <a:p>
                      <a:endParaRPr lang="zh-CN" altLang="en-US" dirty="0">
                        <a:latin typeface="Consolas" panose="020B0609020204030204" pitchFamily="49" charset="0"/>
                      </a:endParaRPr>
                    </a:p>
                  </a:txBody>
                  <a:tcPr/>
                </a:tc>
                <a:extLst>
                  <a:ext uri="{0D108BD9-81ED-4DB2-BD59-A6C34878D82A}">
                    <a16:rowId xmlns:a16="http://schemas.microsoft.com/office/drawing/2014/main" val="1582654452"/>
                  </a:ext>
                </a:extLst>
              </a:tr>
            </a:tbl>
          </a:graphicData>
        </a:graphic>
      </p:graphicFrame>
      <p:graphicFrame>
        <p:nvGraphicFramePr>
          <p:cNvPr id="10" name="对象 9">
            <a:extLst>
              <a:ext uri="{FF2B5EF4-FFF2-40B4-BE49-F238E27FC236}">
                <a16:creationId xmlns:a16="http://schemas.microsoft.com/office/drawing/2014/main" id="{141B00D3-846B-479A-B2C8-1CD05213A8FE}"/>
              </a:ext>
            </a:extLst>
          </p:cNvPr>
          <p:cNvGraphicFramePr>
            <a:graphicFrameLocks noChangeAspect="1"/>
          </p:cNvGraphicFramePr>
          <p:nvPr>
            <p:extLst>
              <p:ext uri="{D42A27DB-BD31-4B8C-83A1-F6EECF244321}">
                <p14:modId xmlns:p14="http://schemas.microsoft.com/office/powerpoint/2010/main" val="819725910"/>
              </p:ext>
            </p:extLst>
          </p:nvPr>
        </p:nvGraphicFramePr>
        <p:xfrm>
          <a:off x="2997446" y="5625296"/>
          <a:ext cx="2208705" cy="950673"/>
        </p:xfrm>
        <a:graphic>
          <a:graphicData uri="http://schemas.openxmlformats.org/presentationml/2006/ole">
            <mc:AlternateContent xmlns:mc="http://schemas.openxmlformats.org/markup-compatibility/2006">
              <mc:Choice xmlns:v="urn:schemas-microsoft-com:vml" Requires="v">
                <p:oleObj spid="_x0000_s27602" name="CS ChemDraw Drawing" r:id="rId7" imgW="1472115" imgH="633869" progId="ChemDraw.Document.6.0">
                  <p:embed/>
                </p:oleObj>
              </mc:Choice>
              <mc:Fallback>
                <p:oleObj name="CS ChemDraw Drawing" r:id="rId7" imgW="1472115" imgH="633869" progId="ChemDraw.Document.6.0">
                  <p:embed/>
                  <p:pic>
                    <p:nvPicPr>
                      <p:cNvPr id="4" name="对象 3"/>
                      <p:cNvPicPr/>
                      <p:nvPr/>
                    </p:nvPicPr>
                    <p:blipFill>
                      <a:blip r:embed="rId8"/>
                      <a:stretch>
                        <a:fillRect/>
                      </a:stretch>
                    </p:blipFill>
                    <p:spPr>
                      <a:xfrm>
                        <a:off x="2997446" y="5625296"/>
                        <a:ext cx="2208705" cy="950673"/>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F5FD25A3-2A18-4329-B05F-3B8187E7EF90}"/>
              </a:ext>
            </a:extLst>
          </p:cNvPr>
          <p:cNvGraphicFramePr>
            <a:graphicFrameLocks noChangeAspect="1"/>
          </p:cNvGraphicFramePr>
          <p:nvPr>
            <p:extLst>
              <p:ext uri="{D42A27DB-BD31-4B8C-83A1-F6EECF244321}">
                <p14:modId xmlns:p14="http://schemas.microsoft.com/office/powerpoint/2010/main" val="202963516"/>
              </p:ext>
            </p:extLst>
          </p:nvPr>
        </p:nvGraphicFramePr>
        <p:xfrm>
          <a:off x="6030076" y="5462187"/>
          <a:ext cx="2297616" cy="1136890"/>
        </p:xfrm>
        <a:graphic>
          <a:graphicData uri="http://schemas.openxmlformats.org/presentationml/2006/ole">
            <mc:AlternateContent xmlns:mc="http://schemas.openxmlformats.org/markup-compatibility/2006">
              <mc:Choice xmlns:v="urn:schemas-microsoft-com:vml" Requires="v">
                <p:oleObj spid="_x0000_s27603" name="CS ChemDraw Drawing" r:id="rId9" imgW="1530116" imgH="757155" progId="ChemDraw.Document.6.0">
                  <p:embed/>
                </p:oleObj>
              </mc:Choice>
              <mc:Fallback>
                <p:oleObj name="CS ChemDraw Drawing" r:id="rId9" imgW="1530116" imgH="757155" progId="ChemDraw.Document.6.0">
                  <p:embed/>
                  <p:pic>
                    <p:nvPicPr>
                      <p:cNvPr id="5" name="对象 4"/>
                      <p:cNvPicPr/>
                      <p:nvPr/>
                    </p:nvPicPr>
                    <p:blipFill>
                      <a:blip r:embed="rId10"/>
                      <a:stretch>
                        <a:fillRect/>
                      </a:stretch>
                    </p:blipFill>
                    <p:spPr>
                      <a:xfrm>
                        <a:off x="6030076" y="5462187"/>
                        <a:ext cx="2297616" cy="1136890"/>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D6088DF9-CAD0-49D0-BC7B-84520B94D6E2}"/>
              </a:ext>
            </a:extLst>
          </p:cNvPr>
          <p:cNvGraphicFramePr>
            <a:graphicFrameLocks noChangeAspect="1"/>
          </p:cNvGraphicFramePr>
          <p:nvPr>
            <p:extLst>
              <p:ext uri="{D42A27DB-BD31-4B8C-83A1-F6EECF244321}">
                <p14:modId xmlns:p14="http://schemas.microsoft.com/office/powerpoint/2010/main" val="369214040"/>
              </p:ext>
            </p:extLst>
          </p:nvPr>
        </p:nvGraphicFramePr>
        <p:xfrm>
          <a:off x="8976320" y="5835966"/>
          <a:ext cx="1872208" cy="358706"/>
        </p:xfrm>
        <a:graphic>
          <a:graphicData uri="http://schemas.openxmlformats.org/presentationml/2006/ole">
            <mc:AlternateContent xmlns:mc="http://schemas.openxmlformats.org/markup-compatibility/2006">
              <mc:Choice xmlns:v="urn:schemas-microsoft-com:vml" Requires="v">
                <p:oleObj spid="_x0000_s27604" name="CS ChemDraw Drawing" r:id="rId11" imgW="1284697" imgH="246571" progId="ChemDraw.Document.6.0">
                  <p:embed/>
                </p:oleObj>
              </mc:Choice>
              <mc:Fallback>
                <p:oleObj name="CS ChemDraw Drawing" r:id="rId11" imgW="1284697" imgH="246571" progId="ChemDraw.Document.6.0">
                  <p:embed/>
                  <p:pic>
                    <p:nvPicPr>
                      <p:cNvPr id="6" name="对象 5"/>
                      <p:cNvPicPr/>
                      <p:nvPr/>
                    </p:nvPicPr>
                    <p:blipFill>
                      <a:blip r:embed="rId12"/>
                      <a:stretch>
                        <a:fillRect/>
                      </a:stretch>
                    </p:blipFill>
                    <p:spPr>
                      <a:xfrm>
                        <a:off x="8976320" y="5835966"/>
                        <a:ext cx="1872208" cy="358706"/>
                      </a:xfrm>
                      <a:prstGeom prst="rect">
                        <a:avLst/>
                      </a:prstGeom>
                    </p:spPr>
                  </p:pic>
                </p:oleObj>
              </mc:Fallback>
            </mc:AlternateContent>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14</a:t>
            </a:fld>
            <a:endParaRPr lang="zh-CN" altLang="en-US"/>
          </a:p>
        </p:txBody>
      </p:sp>
      <p:sp>
        <p:nvSpPr>
          <p:cNvPr id="3" name="TextBox 2"/>
          <p:cNvSpPr txBox="1"/>
          <p:nvPr/>
        </p:nvSpPr>
        <p:spPr>
          <a:xfrm>
            <a:off x="306781" y="692696"/>
            <a:ext cx="11247040" cy="1631216"/>
          </a:xfrm>
          <a:prstGeom prst="rect">
            <a:avLst/>
          </a:prstGeom>
          <a:noFill/>
        </p:spPr>
        <p:txBody>
          <a:bodyPr wrap="square" rtlCol="0">
            <a:spAutoFit/>
          </a:bodyPr>
          <a:lstStyle/>
          <a:p>
            <a:pPr marL="285750" indent="-285750" algn="just">
              <a:buFont typeface="Arial" panose="020B0604020202020204" pitchFamily="34" charset="0"/>
              <a:buChar char="•"/>
            </a:pPr>
            <a:r>
              <a:rPr lang="en-US" altLang="zh-CN" sz="2000" b="1" dirty="0">
                <a:highlight>
                  <a:srgbClr val="00FFFF"/>
                </a:highlight>
                <a:latin typeface="Microsoft Sans Serif" pitchFamily="34" charset="0"/>
                <a:cs typeface="Microsoft Sans Serif" pitchFamily="34" charset="0"/>
              </a:rPr>
              <a:t>The S</a:t>
            </a:r>
            <a:r>
              <a:rPr lang="en-US" altLang="zh-CN" sz="2000" b="1" baseline="-25000" dirty="0">
                <a:highlight>
                  <a:srgbClr val="00FFFF"/>
                </a:highlight>
                <a:latin typeface="Microsoft Sans Serif" pitchFamily="34" charset="0"/>
                <a:cs typeface="Microsoft Sans Serif" pitchFamily="34" charset="0"/>
              </a:rPr>
              <a:t>N</a:t>
            </a:r>
            <a:r>
              <a:rPr lang="en-US" altLang="zh-CN" sz="2000" b="1" dirty="0">
                <a:highlight>
                  <a:srgbClr val="00FFFF"/>
                </a:highlight>
                <a:latin typeface="Microsoft Sans Serif" pitchFamily="34" charset="0"/>
                <a:cs typeface="Microsoft Sans Serif" pitchFamily="34" charset="0"/>
              </a:rPr>
              <a:t>2 reactions are very sensitive to the bulkiness of the nucleophiles and substrates</a:t>
            </a:r>
            <a:r>
              <a:rPr lang="en-US" altLang="zh-CN" sz="2000" b="1" dirty="0">
                <a:latin typeface="Microsoft Sans Serif" pitchFamily="34" charset="0"/>
                <a:cs typeface="Microsoft Sans Serif" pitchFamily="34" charset="0"/>
              </a:rPr>
              <a:t>.</a:t>
            </a:r>
          </a:p>
          <a:p>
            <a:pPr marL="285750" indent="-285750" algn="just">
              <a:buFont typeface="Arial" panose="020B0604020202020204" pitchFamily="34" charset="0"/>
              <a:buChar char="•"/>
            </a:pPr>
            <a:r>
              <a:rPr lang="en-US" altLang="zh-CN" sz="2000" b="1" dirty="0">
                <a:solidFill>
                  <a:srgbClr val="0000FF"/>
                </a:solidFill>
                <a:latin typeface="Microsoft Sans Serif" pitchFamily="34" charset="0"/>
                <a:cs typeface="Microsoft Sans Serif" pitchFamily="34" charset="0"/>
              </a:rPr>
              <a:t>Bulky groups on the nucleophile</a:t>
            </a:r>
            <a:r>
              <a:rPr lang="en-US" altLang="zh-CN" sz="2000" b="1" dirty="0">
                <a:latin typeface="Microsoft Sans Serif" pitchFamily="34" charset="0"/>
                <a:cs typeface="Microsoft Sans Serif" pitchFamily="34" charset="0"/>
              </a:rPr>
              <a:t> hinder its close approach to the carbon atom of the electrophile, therefore they </a:t>
            </a:r>
            <a:r>
              <a:rPr lang="en-US" altLang="zh-CN" sz="2000" b="1" dirty="0">
                <a:solidFill>
                  <a:srgbClr val="0000FF"/>
                </a:solidFill>
                <a:latin typeface="Microsoft Sans Serif" pitchFamily="34" charset="0"/>
                <a:cs typeface="Microsoft Sans Serif" pitchFamily="34" charset="0"/>
              </a:rPr>
              <a:t>slow the reaction rate</a:t>
            </a:r>
            <a:r>
              <a:rPr lang="en-US" altLang="zh-CN" sz="2000" b="1" dirty="0">
                <a:latin typeface="Microsoft Sans Serif" pitchFamily="34" charset="0"/>
                <a:cs typeface="Microsoft Sans Serif" pitchFamily="34" charset="0"/>
              </a:rPr>
              <a:t>.</a:t>
            </a:r>
          </a:p>
          <a:p>
            <a:pPr marL="285750" indent="-285750" algn="just">
              <a:buFont typeface="Arial" panose="020B0604020202020204" pitchFamily="34" charset="0"/>
              <a:buChar char="•"/>
            </a:pPr>
            <a:r>
              <a:rPr lang="en-US" altLang="zh-CN" sz="2000" b="1" dirty="0">
                <a:latin typeface="Microsoft Sans Serif" pitchFamily="34" charset="0"/>
                <a:cs typeface="Microsoft Sans Serif" pitchFamily="34" charset="0"/>
              </a:rPr>
              <a:t>When bulky groups interfere with a reaction by virtue of their size, we call the effect </a:t>
            </a:r>
            <a:r>
              <a:rPr lang="en-US" altLang="zh-CN" sz="2000" b="1" dirty="0">
                <a:solidFill>
                  <a:srgbClr val="FF0000"/>
                </a:solidFill>
                <a:latin typeface="Microsoft Sans Serif" pitchFamily="34" charset="0"/>
                <a:cs typeface="Microsoft Sans Serif" pitchFamily="34" charset="0"/>
              </a:rPr>
              <a:t>steric hindrance</a:t>
            </a:r>
            <a:r>
              <a:rPr lang="en-US" altLang="zh-CN" sz="2000" b="1" dirty="0">
                <a:latin typeface="Microsoft Sans Serif" pitchFamily="34" charset="0"/>
                <a:cs typeface="Microsoft Sans Serif" pitchFamily="34" charset="0"/>
              </a:rPr>
              <a:t>.</a:t>
            </a:r>
          </a:p>
        </p:txBody>
      </p:sp>
      <p:sp>
        <p:nvSpPr>
          <p:cNvPr id="5" name="矩形 4"/>
          <p:cNvSpPr/>
          <p:nvPr/>
        </p:nvSpPr>
        <p:spPr>
          <a:xfrm>
            <a:off x="0" y="187490"/>
            <a:ext cx="4137671" cy="400110"/>
          </a:xfrm>
          <a:prstGeom prst="rect">
            <a:avLst/>
          </a:prstGeom>
          <a:solidFill>
            <a:schemeClr val="bg1"/>
          </a:solidFill>
        </p:spPr>
        <p:txBody>
          <a:bodyPr wrap="none">
            <a:spAutoFit/>
          </a:bodyPr>
          <a:lstStyle/>
          <a:p>
            <a:r>
              <a:rPr lang="en-US" altLang="zh-CN" sz="2000" b="1" dirty="0">
                <a:highlight>
                  <a:srgbClr val="FFFF00"/>
                </a:highlight>
                <a:latin typeface="Microsoft Sans Serif" pitchFamily="34" charset="0"/>
                <a:cs typeface="Microsoft Sans Serif" pitchFamily="34" charset="0"/>
              </a:rPr>
              <a:t>2&gt;</a:t>
            </a:r>
            <a:r>
              <a:rPr lang="en-US" altLang="zh-CN" sz="2000" b="1" dirty="0">
                <a:latin typeface="Microsoft Sans Serif" pitchFamily="34" charset="0"/>
                <a:cs typeface="Microsoft Sans Serif" pitchFamily="34" charset="0"/>
              </a:rPr>
              <a:t> Steric Effects on Nucleophilicity</a:t>
            </a:r>
            <a:endParaRPr lang="zh-CN" altLang="en-US" sz="2000" dirty="0">
              <a:latin typeface="Microsoft Sans Serif" pitchFamily="34" charset="0"/>
              <a:cs typeface="Microsoft Sans Serif" pitchFamily="34"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3068933153"/>
              </p:ext>
            </p:extLst>
          </p:nvPr>
        </p:nvGraphicFramePr>
        <p:xfrm>
          <a:off x="6403661" y="2323912"/>
          <a:ext cx="5763682" cy="1979127"/>
        </p:xfrm>
        <a:graphic>
          <a:graphicData uri="http://schemas.openxmlformats.org/presentationml/2006/ole">
            <mc:AlternateContent xmlns:mc="http://schemas.openxmlformats.org/markup-compatibility/2006">
              <mc:Choice xmlns:v="urn:schemas-microsoft-com:vml" Requires="v">
                <p:oleObj spid="_x0000_s28087" name="CS ChemDraw Drawing" r:id="rId3" imgW="3477285" imgH="1193213" progId="ChemDraw.Document.6.0">
                  <p:embed/>
                </p:oleObj>
              </mc:Choice>
              <mc:Fallback>
                <p:oleObj name="CS ChemDraw Drawing" r:id="rId3" imgW="3477285" imgH="1193213" progId="ChemDraw.Document.6.0">
                  <p:embed/>
                  <p:pic>
                    <p:nvPicPr>
                      <p:cNvPr id="0" name=""/>
                      <p:cNvPicPr/>
                      <p:nvPr/>
                    </p:nvPicPr>
                    <p:blipFill>
                      <a:blip r:embed="rId4"/>
                      <a:stretch>
                        <a:fillRect/>
                      </a:stretch>
                    </p:blipFill>
                    <p:spPr>
                      <a:xfrm>
                        <a:off x="6403661" y="2323912"/>
                        <a:ext cx="5763682" cy="1979127"/>
                      </a:xfrm>
                      <a:prstGeom prst="rect">
                        <a:avLst/>
                      </a:prstGeom>
                    </p:spPr>
                  </p:pic>
                </p:oleObj>
              </mc:Fallback>
            </mc:AlternateContent>
          </a:graphicData>
        </a:graphic>
      </p:graphicFrame>
      <p:sp>
        <p:nvSpPr>
          <p:cNvPr id="11" name="矩形 10"/>
          <p:cNvSpPr/>
          <p:nvPr/>
        </p:nvSpPr>
        <p:spPr>
          <a:xfrm>
            <a:off x="306782" y="2396029"/>
            <a:ext cx="5933234" cy="1477328"/>
          </a:xfrm>
          <a:prstGeom prst="rect">
            <a:avLst/>
          </a:prstGeom>
          <a:solidFill>
            <a:srgbClr val="FFFF00"/>
          </a:solidFill>
          <a:ln w="28575">
            <a:solidFill>
              <a:srgbClr val="00B050"/>
            </a:solidFill>
          </a:ln>
        </p:spPr>
        <p:txBody>
          <a:bodyPr wrap="square">
            <a:spAutoFit/>
          </a:bodyPr>
          <a:lstStyle/>
          <a:p>
            <a:pPr marL="285750" indent="-285750">
              <a:buFont typeface="Arial" panose="020B0604020202020204" pitchFamily="34" charset="0"/>
              <a:buChar char="•"/>
            </a:pPr>
            <a:r>
              <a:rPr lang="en-US" altLang="zh-CN" b="1" u="sng" dirty="0">
                <a:solidFill>
                  <a:srgbClr val="FF0000"/>
                </a:solidFill>
                <a:latin typeface="Consolas" panose="020B0609020204030204" pitchFamily="49" charset="0"/>
                <a:cs typeface="Microsoft Sans Serif" pitchFamily="34" charset="0"/>
              </a:rPr>
              <a:t>Basicity</a:t>
            </a:r>
            <a:r>
              <a:rPr lang="en-US" altLang="zh-CN" b="1" dirty="0">
                <a:latin typeface="Consolas" panose="020B0609020204030204" pitchFamily="49" charset="0"/>
                <a:cs typeface="Microsoft Sans Serif" pitchFamily="34" charset="0"/>
              </a:rPr>
              <a:t> is defined by the equilibrium constant for </a:t>
            </a:r>
            <a:r>
              <a:rPr lang="en-US" altLang="zh-CN" b="1" i="1" dirty="0">
                <a:solidFill>
                  <a:srgbClr val="0000FF"/>
                </a:solidFill>
                <a:latin typeface="Consolas" panose="020B0609020204030204" pitchFamily="49" charset="0"/>
                <a:cs typeface="Microsoft Sans Serif" pitchFamily="34" charset="0"/>
              </a:rPr>
              <a:t>abstracting a proton</a:t>
            </a:r>
            <a:r>
              <a:rPr lang="en-US" altLang="zh-CN" b="1" dirty="0">
                <a:latin typeface="Consolas" panose="020B0609020204030204" pitchFamily="49" charset="0"/>
                <a:cs typeface="Microsoft Sans Serif" pitchFamily="34" charset="0"/>
              </a:rPr>
              <a:t>. </a:t>
            </a:r>
          </a:p>
          <a:p>
            <a:pPr>
              <a:buFont typeface="Arial" pitchFamily="34" charset="0"/>
              <a:buChar char="•"/>
            </a:pPr>
            <a:endParaRPr lang="en-US" altLang="zh-CN" b="1" dirty="0">
              <a:latin typeface="Consolas" panose="020B0609020204030204" pitchFamily="49" charset="0"/>
              <a:cs typeface="Microsoft Sans Serif" pitchFamily="34" charset="0"/>
            </a:endParaRPr>
          </a:p>
          <a:p>
            <a:pPr marL="285750" indent="-285750">
              <a:buFont typeface="Arial" panose="020B0604020202020204" pitchFamily="34" charset="0"/>
              <a:buChar char="•"/>
            </a:pPr>
            <a:r>
              <a:rPr lang="en-US" altLang="zh-CN" b="1" u="sng" dirty="0" err="1">
                <a:solidFill>
                  <a:srgbClr val="FF0000"/>
                </a:solidFill>
                <a:latin typeface="Consolas" panose="020B0609020204030204" pitchFamily="49" charset="0"/>
                <a:cs typeface="Microsoft Sans Serif" pitchFamily="34" charset="0"/>
              </a:rPr>
              <a:t>Nucleophilicity</a:t>
            </a:r>
            <a:r>
              <a:rPr lang="en-US" altLang="zh-CN" b="1" dirty="0">
                <a:latin typeface="Consolas" panose="020B0609020204030204" pitchFamily="49" charset="0"/>
                <a:cs typeface="Microsoft Sans Serif" pitchFamily="34" charset="0"/>
              </a:rPr>
              <a:t> is defined by the rate of </a:t>
            </a:r>
            <a:r>
              <a:rPr lang="en-US" altLang="zh-CN" b="1" i="1" dirty="0">
                <a:solidFill>
                  <a:srgbClr val="0000FF"/>
                </a:solidFill>
                <a:latin typeface="Consolas" panose="020B0609020204030204" pitchFamily="49" charset="0"/>
                <a:cs typeface="Microsoft Sans Serif" pitchFamily="34" charset="0"/>
              </a:rPr>
              <a:t>attack on an electrophilic carbon atom</a:t>
            </a:r>
            <a:r>
              <a:rPr lang="en-US" altLang="zh-CN" b="1" dirty="0">
                <a:latin typeface="Consolas" panose="020B0609020204030204" pitchFamily="49" charset="0"/>
                <a:cs typeface="Microsoft Sans Serif" pitchFamily="34" charset="0"/>
              </a:rPr>
              <a:t>.</a:t>
            </a:r>
          </a:p>
        </p:txBody>
      </p:sp>
      <p:sp>
        <p:nvSpPr>
          <p:cNvPr id="12" name="矩形 11"/>
          <p:cNvSpPr/>
          <p:nvPr/>
        </p:nvSpPr>
        <p:spPr>
          <a:xfrm>
            <a:off x="306780" y="4144964"/>
            <a:ext cx="6725323" cy="1015663"/>
          </a:xfrm>
          <a:prstGeom prst="rect">
            <a:avLst/>
          </a:prstGeom>
        </p:spPr>
        <p:txBody>
          <a:bodyPr wrap="square">
            <a:spAutoFit/>
          </a:bodyPr>
          <a:lstStyle/>
          <a:p>
            <a:pPr marL="285750" indent="-285750">
              <a:buFont typeface="Arial" panose="020B0604020202020204" pitchFamily="34" charset="0"/>
              <a:buChar char="•"/>
            </a:pPr>
            <a:r>
              <a:rPr lang="en-US" altLang="zh-CN" sz="2000" b="1" dirty="0">
                <a:solidFill>
                  <a:srgbClr val="0000FF"/>
                </a:solidFill>
                <a:highlight>
                  <a:srgbClr val="00FFFF"/>
                </a:highlight>
                <a:latin typeface="Microsoft Sans Serif" pitchFamily="34" charset="0"/>
                <a:cs typeface="Microsoft Sans Serif" pitchFamily="34" charset="0"/>
              </a:rPr>
              <a:t>Steric hindrance has little effect on basicity</a:t>
            </a:r>
            <a:r>
              <a:rPr lang="en-US" altLang="zh-CN" sz="2000" b="1" dirty="0">
                <a:solidFill>
                  <a:srgbClr val="0000FF"/>
                </a:solidFill>
                <a:latin typeface="Microsoft Sans Serif" pitchFamily="34" charset="0"/>
                <a:cs typeface="Microsoft Sans Serif" pitchFamily="34" charset="0"/>
              </a:rPr>
              <a:t> </a:t>
            </a:r>
            <a:r>
              <a:rPr lang="en-US" altLang="zh-CN" sz="2000" b="1" dirty="0">
                <a:latin typeface="Microsoft Sans Serif" pitchFamily="34" charset="0"/>
                <a:cs typeface="Microsoft Sans Serif" pitchFamily="34" charset="0"/>
              </a:rPr>
              <a:t>because basicity involves attack on an unhindered proton.</a:t>
            </a:r>
          </a:p>
          <a:p>
            <a:pPr marL="285750" indent="-285750">
              <a:buFont typeface="Arial" panose="020B0604020202020204" pitchFamily="34" charset="0"/>
              <a:buChar char="•"/>
            </a:pPr>
            <a:r>
              <a:rPr lang="en-US" altLang="zh-CN" sz="2000" b="1" dirty="0">
                <a:solidFill>
                  <a:srgbClr val="FF0000"/>
                </a:solidFill>
                <a:highlight>
                  <a:srgbClr val="00FFFF"/>
                </a:highlight>
                <a:latin typeface="Microsoft Sans Serif" pitchFamily="34" charset="0"/>
                <a:cs typeface="Microsoft Sans Serif" pitchFamily="34" charset="0"/>
              </a:rPr>
              <a:t>Steric hindrance has a great effect on nucleophilicity</a:t>
            </a:r>
            <a:r>
              <a:rPr lang="en-US" altLang="zh-CN" sz="2000" b="1" dirty="0">
                <a:latin typeface="Microsoft Sans Serif" pitchFamily="34" charset="0"/>
                <a:cs typeface="Microsoft Sans Serif" pitchFamily="34" charset="0"/>
              </a:rPr>
              <a:t>.</a:t>
            </a:r>
          </a:p>
        </p:txBody>
      </p:sp>
      <p:sp>
        <p:nvSpPr>
          <p:cNvPr id="13" name="矩形 12"/>
          <p:cNvSpPr/>
          <p:nvPr/>
        </p:nvSpPr>
        <p:spPr>
          <a:xfrm>
            <a:off x="306780" y="5432235"/>
            <a:ext cx="11583816" cy="1323439"/>
          </a:xfrm>
          <a:prstGeom prst="rect">
            <a:avLst/>
          </a:prstGeom>
        </p:spPr>
        <p:txBody>
          <a:bodyPr wrap="square">
            <a:spAutoFit/>
          </a:bodyPr>
          <a:lstStyle/>
          <a:p>
            <a:pPr marL="285750" indent="-285750" algn="just">
              <a:buFont typeface="Arial" panose="020B0604020202020204" pitchFamily="34" charset="0"/>
              <a:buChar char="•"/>
            </a:pPr>
            <a:r>
              <a:rPr lang="en-US" altLang="zh-CN" sz="2000" b="1" dirty="0">
                <a:latin typeface="Microsoft Sans Serif" pitchFamily="34" charset="0"/>
                <a:cs typeface="Microsoft Sans Serif" pitchFamily="34" charset="0"/>
              </a:rPr>
              <a:t>Most bases are also nucleophiles, capable of attacking either a proton or an electrophilic carbon atom.</a:t>
            </a:r>
          </a:p>
          <a:p>
            <a:pPr marL="285750" indent="-285750" algn="just">
              <a:buFont typeface="Arial" panose="020B0604020202020204" pitchFamily="34" charset="0"/>
              <a:buChar char="•"/>
            </a:pPr>
            <a:r>
              <a:rPr lang="en-US" altLang="zh-CN" sz="2000" b="1" dirty="0">
                <a:highlight>
                  <a:srgbClr val="00FFFF"/>
                </a:highlight>
                <a:latin typeface="Microsoft Sans Serif" pitchFamily="34" charset="0"/>
                <a:cs typeface="Microsoft Sans Serif" pitchFamily="34" charset="0"/>
              </a:rPr>
              <a:t>If we want a species to act as a </a:t>
            </a:r>
            <a:r>
              <a:rPr lang="en-US" altLang="zh-CN" sz="2000" b="1" dirty="0">
                <a:solidFill>
                  <a:srgbClr val="0000FF"/>
                </a:solidFill>
                <a:highlight>
                  <a:srgbClr val="00FFFF"/>
                </a:highlight>
                <a:latin typeface="Microsoft Sans Serif" pitchFamily="34" charset="0"/>
                <a:cs typeface="Microsoft Sans Serif" pitchFamily="34" charset="0"/>
              </a:rPr>
              <a:t>base</a:t>
            </a:r>
            <a:r>
              <a:rPr lang="en-US" altLang="zh-CN" sz="2000" b="1" dirty="0">
                <a:highlight>
                  <a:srgbClr val="00FFFF"/>
                </a:highlight>
                <a:latin typeface="Microsoft Sans Serif" pitchFamily="34" charset="0"/>
                <a:cs typeface="Microsoft Sans Serif" pitchFamily="34" charset="0"/>
              </a:rPr>
              <a:t>, we use a </a:t>
            </a:r>
            <a:r>
              <a:rPr lang="en-US" altLang="zh-CN" sz="2000" b="1" dirty="0">
                <a:solidFill>
                  <a:srgbClr val="0000FF"/>
                </a:solidFill>
                <a:highlight>
                  <a:srgbClr val="00FFFF"/>
                </a:highlight>
                <a:latin typeface="Microsoft Sans Serif" pitchFamily="34" charset="0"/>
                <a:cs typeface="Microsoft Sans Serif" pitchFamily="34" charset="0"/>
              </a:rPr>
              <a:t>bulky reagent like </a:t>
            </a:r>
            <a:r>
              <a:rPr lang="en-US" altLang="zh-CN" sz="2000" b="1" i="1" dirty="0">
                <a:solidFill>
                  <a:srgbClr val="0000FF"/>
                </a:solidFill>
                <a:highlight>
                  <a:srgbClr val="00FFFF"/>
                </a:highlight>
                <a:latin typeface="Microsoft Sans Serif" pitchFamily="34" charset="0"/>
                <a:cs typeface="Microsoft Sans Serif" pitchFamily="34" charset="0"/>
              </a:rPr>
              <a:t>t</a:t>
            </a:r>
            <a:r>
              <a:rPr lang="en-US" altLang="zh-CN" sz="2000" b="1" dirty="0">
                <a:solidFill>
                  <a:srgbClr val="0000FF"/>
                </a:solidFill>
                <a:highlight>
                  <a:srgbClr val="00FFFF"/>
                </a:highlight>
                <a:latin typeface="Microsoft Sans Serif" pitchFamily="34" charset="0"/>
                <a:cs typeface="Microsoft Sans Serif" pitchFamily="34" charset="0"/>
              </a:rPr>
              <a:t>-butoxide ion</a:t>
            </a:r>
            <a:r>
              <a:rPr lang="en-US" altLang="zh-CN" sz="2000" b="1" dirty="0">
                <a:highlight>
                  <a:srgbClr val="00FFFF"/>
                </a:highlight>
                <a:latin typeface="Microsoft Sans Serif" pitchFamily="34" charset="0"/>
                <a:cs typeface="Microsoft Sans Serif" pitchFamily="34" charset="0"/>
              </a:rPr>
              <a:t>. </a:t>
            </a:r>
          </a:p>
          <a:p>
            <a:pPr marL="285750" indent="-285750" algn="just">
              <a:buFont typeface="Arial" panose="020B0604020202020204" pitchFamily="34" charset="0"/>
              <a:buChar char="•"/>
            </a:pPr>
            <a:r>
              <a:rPr lang="en-US" altLang="zh-CN" sz="2000" b="1" dirty="0">
                <a:highlight>
                  <a:srgbClr val="00FFFF"/>
                </a:highlight>
                <a:latin typeface="Microsoft Sans Serif" pitchFamily="34" charset="0"/>
                <a:cs typeface="Microsoft Sans Serif" pitchFamily="34" charset="0"/>
              </a:rPr>
              <a:t>If we want it to react as a </a:t>
            </a:r>
            <a:r>
              <a:rPr lang="en-US" altLang="zh-CN" sz="2000" b="1" dirty="0">
                <a:solidFill>
                  <a:srgbClr val="FF0000"/>
                </a:solidFill>
                <a:highlight>
                  <a:srgbClr val="00FFFF"/>
                </a:highlight>
                <a:latin typeface="Microsoft Sans Serif" pitchFamily="34" charset="0"/>
                <a:cs typeface="Microsoft Sans Serif" pitchFamily="34" charset="0"/>
              </a:rPr>
              <a:t>nucleophile</a:t>
            </a:r>
            <a:r>
              <a:rPr lang="en-US" altLang="zh-CN" sz="2000" b="1" dirty="0">
                <a:highlight>
                  <a:srgbClr val="00FFFF"/>
                </a:highlight>
                <a:latin typeface="Microsoft Sans Serif" pitchFamily="34" charset="0"/>
                <a:cs typeface="Microsoft Sans Serif" pitchFamily="34" charset="0"/>
              </a:rPr>
              <a:t>, we use a </a:t>
            </a:r>
            <a:r>
              <a:rPr lang="en-US" altLang="zh-CN" sz="2000" b="1" dirty="0">
                <a:solidFill>
                  <a:srgbClr val="FF0000"/>
                </a:solidFill>
                <a:highlight>
                  <a:srgbClr val="00FFFF"/>
                </a:highlight>
                <a:latin typeface="Microsoft Sans Serif" pitchFamily="34" charset="0"/>
                <a:cs typeface="Microsoft Sans Serif" pitchFamily="34" charset="0"/>
              </a:rPr>
              <a:t>less hindered reagent, like ethoxide</a:t>
            </a:r>
            <a:r>
              <a:rPr lang="en-US" altLang="zh-CN" sz="2000" b="1" dirty="0">
                <a:latin typeface="Microsoft Sans Serif" pitchFamily="34" charset="0"/>
                <a:cs typeface="Microsoft Sans Serif" pitchFamily="34" charset="0"/>
              </a:rPr>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椭圆 7"/>
          <p:cNvSpPr/>
          <p:nvPr/>
        </p:nvSpPr>
        <p:spPr>
          <a:xfrm>
            <a:off x="10661382" y="2780928"/>
            <a:ext cx="576064" cy="576064"/>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灯片编号占位符 1"/>
          <p:cNvSpPr>
            <a:spLocks noGrp="1"/>
          </p:cNvSpPr>
          <p:nvPr>
            <p:ph type="sldNum" sz="quarter" idx="12"/>
          </p:nvPr>
        </p:nvSpPr>
        <p:spPr/>
        <p:txBody>
          <a:bodyPr/>
          <a:lstStyle/>
          <a:p>
            <a:fld id="{0C913308-F349-4B6D-A68A-DD1791B4A57B}" type="slidenum">
              <a:rPr lang="zh-CN" altLang="en-US" smtClean="0"/>
              <a:pPr/>
              <a:t>15</a:t>
            </a:fld>
            <a:endParaRPr lang="zh-CN" altLang="en-US"/>
          </a:p>
        </p:txBody>
      </p:sp>
      <p:sp>
        <p:nvSpPr>
          <p:cNvPr id="3" name="TextBox 2"/>
          <p:cNvSpPr txBox="1"/>
          <p:nvPr/>
        </p:nvSpPr>
        <p:spPr>
          <a:xfrm>
            <a:off x="372364" y="2769601"/>
            <a:ext cx="11545772" cy="3970318"/>
          </a:xfrm>
          <a:prstGeom prst="rect">
            <a:avLst/>
          </a:prstGeom>
          <a:noFill/>
        </p:spPr>
        <p:txBody>
          <a:bodyPr wrap="square" rtlCol="0">
            <a:spAutoFit/>
          </a:bodyPr>
          <a:lstStyle/>
          <a:p>
            <a:pPr algn="just">
              <a:buFont typeface="Arial" pitchFamily="34" charset="0"/>
              <a:buChar char="•"/>
            </a:pPr>
            <a:r>
              <a:rPr lang="en-US" altLang="zh-CN" b="1" dirty="0">
                <a:latin typeface="Microsoft Sans Serif" pitchFamily="34" charset="0"/>
                <a:cs typeface="Microsoft Sans Serif" pitchFamily="34" charset="0"/>
              </a:rPr>
              <a:t> A leaving group serves two purposes in the S</a:t>
            </a:r>
            <a:r>
              <a:rPr lang="en-US" altLang="zh-CN" b="1" baseline="-25000" dirty="0">
                <a:latin typeface="Microsoft Sans Serif" pitchFamily="34" charset="0"/>
                <a:cs typeface="Microsoft Sans Serif" pitchFamily="34" charset="0"/>
              </a:rPr>
              <a:t>N</a:t>
            </a:r>
            <a:r>
              <a:rPr lang="en-US" altLang="zh-CN" b="1" dirty="0">
                <a:latin typeface="Microsoft Sans Serif" pitchFamily="34" charset="0"/>
                <a:cs typeface="Microsoft Sans Serif" pitchFamily="34" charset="0"/>
              </a:rPr>
              <a:t>2 reaction:</a:t>
            </a:r>
          </a:p>
          <a:p>
            <a:pPr algn="just"/>
            <a:r>
              <a:rPr lang="en-US" altLang="zh-CN" b="1" dirty="0">
                <a:latin typeface="Microsoft Sans Serif" pitchFamily="34" charset="0"/>
                <a:cs typeface="Microsoft Sans Serif" pitchFamily="34" charset="0"/>
              </a:rPr>
              <a:t>(1) It </a:t>
            </a:r>
            <a:r>
              <a:rPr lang="en-US" altLang="zh-CN" b="1" dirty="0">
                <a:solidFill>
                  <a:srgbClr val="FF0000"/>
                </a:solidFill>
                <a:latin typeface="Microsoft Sans Serif" pitchFamily="34" charset="0"/>
                <a:cs typeface="Microsoft Sans Serif" pitchFamily="34" charset="0"/>
              </a:rPr>
              <a:t>polarizes the C-X bond</a:t>
            </a:r>
            <a:r>
              <a:rPr lang="en-US" altLang="zh-CN" b="1" dirty="0">
                <a:latin typeface="Microsoft Sans Serif" pitchFamily="34" charset="0"/>
                <a:cs typeface="Microsoft Sans Serif" pitchFamily="34" charset="0"/>
              </a:rPr>
              <a:t>, </a:t>
            </a:r>
            <a:r>
              <a:rPr lang="en-US" altLang="zh-CN" b="1" dirty="0">
                <a:solidFill>
                  <a:srgbClr val="0000FF"/>
                </a:solidFill>
                <a:latin typeface="Microsoft Sans Serif" pitchFamily="34" charset="0"/>
                <a:cs typeface="Microsoft Sans Serif" pitchFamily="34" charset="0"/>
              </a:rPr>
              <a:t>making the carbon atom electrophilic</a:t>
            </a:r>
            <a:r>
              <a:rPr lang="en-US" altLang="zh-CN" b="1" dirty="0">
                <a:latin typeface="Microsoft Sans Serif" pitchFamily="34" charset="0"/>
                <a:cs typeface="Microsoft Sans Serif" pitchFamily="34" charset="0"/>
              </a:rPr>
              <a:t>.</a:t>
            </a:r>
          </a:p>
          <a:p>
            <a:pPr algn="just"/>
            <a:r>
              <a:rPr lang="en-US" altLang="zh-CN" b="1" dirty="0">
                <a:latin typeface="Microsoft Sans Serif" pitchFamily="34" charset="0"/>
                <a:cs typeface="Microsoft Sans Serif" pitchFamily="34" charset="0"/>
              </a:rPr>
              <a:t>(2) It </a:t>
            </a:r>
            <a:r>
              <a:rPr lang="en-US" altLang="zh-CN" b="1" dirty="0">
                <a:solidFill>
                  <a:srgbClr val="FF0000"/>
                </a:solidFill>
                <a:latin typeface="Microsoft Sans Serif" pitchFamily="34" charset="0"/>
                <a:cs typeface="Microsoft Sans Serif" pitchFamily="34" charset="0"/>
              </a:rPr>
              <a:t>leaves with the pair of electrons </a:t>
            </a:r>
            <a:r>
              <a:rPr lang="en-US" altLang="zh-CN" b="1" dirty="0">
                <a:latin typeface="Microsoft Sans Serif" pitchFamily="34" charset="0"/>
                <a:cs typeface="Microsoft Sans Serif" pitchFamily="34" charset="0"/>
              </a:rPr>
              <a:t>that once bonded it to the electrophilic carbon atom.</a:t>
            </a:r>
          </a:p>
          <a:p>
            <a:pPr algn="just"/>
            <a:endParaRPr lang="en-US" altLang="zh-CN" b="1" dirty="0">
              <a:latin typeface="Microsoft Sans Serif" pitchFamily="34" charset="0"/>
              <a:cs typeface="Microsoft Sans Serif" pitchFamily="34" charset="0"/>
            </a:endParaRPr>
          </a:p>
          <a:p>
            <a:pPr algn="just">
              <a:buFont typeface="Arial" pitchFamily="34" charset="0"/>
              <a:buChar char="•"/>
            </a:pPr>
            <a:r>
              <a:rPr lang="en-US" altLang="zh-CN" b="1" dirty="0">
                <a:latin typeface="Microsoft Sans Serif" pitchFamily="34" charset="0"/>
                <a:cs typeface="Microsoft Sans Serif" pitchFamily="34" charset="0"/>
              </a:rPr>
              <a:t> To fill these roles, </a:t>
            </a:r>
            <a:r>
              <a:rPr lang="en-US" altLang="zh-CN" b="1" dirty="0">
                <a:solidFill>
                  <a:srgbClr val="0000FF"/>
                </a:solidFill>
                <a:latin typeface="Microsoft Sans Serif" pitchFamily="34" charset="0"/>
                <a:cs typeface="Microsoft Sans Serif" pitchFamily="34" charset="0"/>
              </a:rPr>
              <a:t>a good leaving group should be</a:t>
            </a:r>
            <a:r>
              <a:rPr lang="en-US" altLang="zh-CN" b="1" dirty="0">
                <a:latin typeface="Microsoft Sans Serif" pitchFamily="34" charset="0"/>
                <a:cs typeface="Microsoft Sans Serif" pitchFamily="34" charset="0"/>
              </a:rPr>
              <a:t>:</a:t>
            </a:r>
          </a:p>
          <a:p>
            <a:pPr marL="400050" indent="-400050" algn="just">
              <a:buAutoNum type="arabicParenBoth"/>
            </a:pPr>
            <a:r>
              <a:rPr lang="en-US" altLang="zh-CN" b="1" dirty="0">
                <a:solidFill>
                  <a:srgbClr val="FF0000"/>
                </a:solidFill>
                <a:latin typeface="Microsoft Sans Serif" pitchFamily="34" charset="0"/>
                <a:cs typeface="Microsoft Sans Serif" pitchFamily="34" charset="0"/>
              </a:rPr>
              <a:t>Electron withdrawing</a:t>
            </a:r>
            <a:r>
              <a:rPr lang="en-US" altLang="zh-CN" b="1" dirty="0">
                <a:latin typeface="Microsoft Sans Serif" pitchFamily="34" charset="0"/>
                <a:cs typeface="Microsoft Sans Serif" pitchFamily="34" charset="0"/>
              </a:rPr>
              <a:t>, to polarize the carbon atom. </a:t>
            </a:r>
          </a:p>
          <a:p>
            <a:pPr algn="just"/>
            <a:r>
              <a:rPr lang="en-US" altLang="zh-CN" b="1" dirty="0">
                <a:solidFill>
                  <a:srgbClr val="0000FF"/>
                </a:solidFill>
                <a:latin typeface="Consolas" panose="020B0609020204030204" pitchFamily="49" charset="0"/>
                <a:cs typeface="Microsoft Sans Serif" pitchFamily="34" charset="0"/>
              </a:rPr>
              <a:t>Halogen atoms are strongly electronegative, so alkyl halides are common substrates for S</a:t>
            </a:r>
            <a:r>
              <a:rPr lang="en-US" altLang="zh-CN" b="1" baseline="-25000" dirty="0">
                <a:solidFill>
                  <a:srgbClr val="0000FF"/>
                </a:solidFill>
                <a:latin typeface="Consolas" panose="020B0609020204030204" pitchFamily="49" charset="0"/>
                <a:cs typeface="Microsoft Sans Serif" pitchFamily="34" charset="0"/>
              </a:rPr>
              <a:t>N</a:t>
            </a:r>
            <a:r>
              <a:rPr lang="en-US" altLang="zh-CN" b="1" dirty="0">
                <a:solidFill>
                  <a:srgbClr val="0000FF"/>
                </a:solidFill>
                <a:latin typeface="Consolas" panose="020B0609020204030204" pitchFamily="49" charset="0"/>
                <a:cs typeface="Microsoft Sans Serif" pitchFamily="34" charset="0"/>
              </a:rPr>
              <a:t>2 reactions</a:t>
            </a:r>
            <a:r>
              <a:rPr lang="en-US" altLang="zh-CN" b="1" dirty="0">
                <a:latin typeface="Consolas" panose="020B0609020204030204" pitchFamily="49" charset="0"/>
                <a:cs typeface="Microsoft Sans Serif" pitchFamily="34" charset="0"/>
              </a:rPr>
              <a:t>.</a:t>
            </a:r>
          </a:p>
          <a:p>
            <a:pPr algn="just"/>
            <a:endParaRPr lang="en-US" altLang="zh-CN" b="1" dirty="0">
              <a:latin typeface="Consolas" panose="020B0609020204030204" pitchFamily="49" charset="0"/>
              <a:cs typeface="Microsoft Sans Serif" pitchFamily="34" charset="0"/>
            </a:endParaRPr>
          </a:p>
          <a:p>
            <a:pPr marL="400050" indent="-400050" algn="just"/>
            <a:r>
              <a:rPr lang="en-US" altLang="zh-CN" b="1" dirty="0">
                <a:latin typeface="Microsoft Sans Serif" pitchFamily="34" charset="0"/>
                <a:cs typeface="Microsoft Sans Serif" pitchFamily="34" charset="0"/>
              </a:rPr>
              <a:t>(2) </a:t>
            </a:r>
            <a:r>
              <a:rPr lang="en-US" altLang="zh-CN" b="1" dirty="0">
                <a:solidFill>
                  <a:srgbClr val="FF0000"/>
                </a:solidFill>
                <a:latin typeface="Microsoft Sans Serif" pitchFamily="34" charset="0"/>
                <a:cs typeface="Microsoft Sans Serif" pitchFamily="34" charset="0"/>
              </a:rPr>
              <a:t>Stable</a:t>
            </a:r>
            <a:r>
              <a:rPr lang="en-US" altLang="zh-CN" b="1" dirty="0">
                <a:latin typeface="Microsoft Sans Serif" pitchFamily="34" charset="0"/>
                <a:cs typeface="Microsoft Sans Serif" pitchFamily="34" charset="0"/>
              </a:rPr>
              <a:t> (</a:t>
            </a:r>
            <a:r>
              <a:rPr lang="en-US" altLang="zh-CN" b="1" dirty="0">
                <a:solidFill>
                  <a:srgbClr val="0000FF"/>
                </a:solidFill>
                <a:latin typeface="Microsoft Sans Serif" pitchFamily="34" charset="0"/>
                <a:cs typeface="Microsoft Sans Serif" pitchFamily="34" charset="0"/>
              </a:rPr>
              <a:t>not a strong base</a:t>
            </a:r>
            <a:r>
              <a:rPr lang="en-US" altLang="zh-CN" b="1" dirty="0">
                <a:latin typeface="Microsoft Sans Serif" pitchFamily="34" charset="0"/>
                <a:cs typeface="Microsoft Sans Serif" pitchFamily="34" charset="0"/>
              </a:rPr>
              <a:t>) once it has left.</a:t>
            </a:r>
          </a:p>
          <a:p>
            <a:pPr algn="just"/>
            <a:r>
              <a:rPr lang="en-US" altLang="zh-CN" b="1" dirty="0">
                <a:solidFill>
                  <a:srgbClr val="0000FF"/>
                </a:solidFill>
                <a:latin typeface="Consolas" panose="020B0609020204030204" pitchFamily="49" charset="0"/>
                <a:cs typeface="Microsoft Sans Serif" pitchFamily="34" charset="0"/>
              </a:rPr>
              <a:t>Good leaving groups should be weak bases; therefore, they are the conjugate bases of strong acids. </a:t>
            </a:r>
            <a:r>
              <a:rPr lang="en-US" altLang="zh-CN" b="1" dirty="0">
                <a:latin typeface="Consolas" panose="020B0609020204030204" pitchFamily="49" charset="0"/>
                <a:cs typeface="Microsoft Sans Serif" pitchFamily="34" charset="0"/>
              </a:rPr>
              <a:t>The hydrohalic acids </a:t>
            </a:r>
            <a:r>
              <a:rPr lang="en-US" altLang="zh-CN" b="1" dirty="0" err="1">
                <a:latin typeface="Consolas" panose="020B0609020204030204" pitchFamily="49" charset="0"/>
                <a:cs typeface="Microsoft Sans Serif" pitchFamily="34" charset="0"/>
              </a:rPr>
              <a:t>HCl</a:t>
            </a:r>
            <a:r>
              <a:rPr lang="en-US" altLang="zh-CN" b="1" dirty="0">
                <a:latin typeface="Consolas" panose="020B0609020204030204" pitchFamily="49" charset="0"/>
                <a:cs typeface="Microsoft Sans Serif" pitchFamily="34" charset="0"/>
              </a:rPr>
              <a:t>, </a:t>
            </a:r>
            <a:r>
              <a:rPr lang="en-US" altLang="zh-CN" b="1" dirty="0" err="1">
                <a:latin typeface="Consolas" panose="020B0609020204030204" pitchFamily="49" charset="0"/>
                <a:cs typeface="Microsoft Sans Serif" pitchFamily="34" charset="0"/>
              </a:rPr>
              <a:t>HBr</a:t>
            </a:r>
            <a:r>
              <a:rPr lang="en-US" altLang="zh-CN" b="1" dirty="0">
                <a:latin typeface="Consolas" panose="020B0609020204030204" pitchFamily="49" charset="0"/>
                <a:cs typeface="Microsoft Sans Serif" pitchFamily="34" charset="0"/>
              </a:rPr>
              <a:t>, HI are strong, and their conjugates (Cl</a:t>
            </a:r>
            <a:r>
              <a:rPr lang="en-US" altLang="zh-CN" b="1" baseline="30000" dirty="0">
                <a:latin typeface="Consolas" panose="020B0609020204030204" pitchFamily="49" charset="0"/>
                <a:cs typeface="Microsoft Sans Serif" pitchFamily="34" charset="0"/>
              </a:rPr>
              <a:t>-</a:t>
            </a:r>
            <a:r>
              <a:rPr lang="en-US" altLang="zh-CN" b="1" dirty="0">
                <a:latin typeface="Consolas" panose="020B0609020204030204" pitchFamily="49" charset="0"/>
                <a:cs typeface="Microsoft Sans Serif" pitchFamily="34" charset="0"/>
              </a:rPr>
              <a:t>, Br</a:t>
            </a:r>
            <a:r>
              <a:rPr lang="en-US" altLang="zh-CN" b="1" baseline="30000" dirty="0">
                <a:latin typeface="Consolas" panose="020B0609020204030204" pitchFamily="49" charset="0"/>
                <a:cs typeface="Microsoft Sans Serif" pitchFamily="34" charset="0"/>
              </a:rPr>
              <a:t>-</a:t>
            </a:r>
            <a:r>
              <a:rPr lang="en-US" altLang="zh-CN" b="1" dirty="0">
                <a:latin typeface="Consolas" panose="020B0609020204030204" pitchFamily="49" charset="0"/>
                <a:cs typeface="Microsoft Sans Serif" pitchFamily="34" charset="0"/>
              </a:rPr>
              <a:t>, and I</a:t>
            </a:r>
            <a:r>
              <a:rPr lang="en-US" altLang="zh-CN" b="1" baseline="30000" dirty="0">
                <a:latin typeface="Consolas" panose="020B0609020204030204" pitchFamily="49" charset="0"/>
                <a:cs typeface="Microsoft Sans Serif" pitchFamily="34" charset="0"/>
              </a:rPr>
              <a:t>-</a:t>
            </a:r>
            <a:r>
              <a:rPr lang="en-US" altLang="zh-CN" b="1" dirty="0">
                <a:latin typeface="Consolas" panose="020B0609020204030204" pitchFamily="49" charset="0"/>
                <a:cs typeface="Microsoft Sans Serif" pitchFamily="34" charset="0"/>
              </a:rPr>
              <a:t>) are all weak bases. In contrast, HO</a:t>
            </a:r>
            <a:r>
              <a:rPr lang="en-US" altLang="zh-CN" b="1" baseline="30000" dirty="0">
                <a:latin typeface="Consolas" panose="020B0609020204030204" pitchFamily="49" charset="0"/>
                <a:cs typeface="Microsoft Sans Serif" pitchFamily="34" charset="0"/>
              </a:rPr>
              <a:t>-</a:t>
            </a:r>
            <a:r>
              <a:rPr lang="en-US" altLang="zh-CN" b="1" dirty="0">
                <a:latin typeface="Consolas" panose="020B0609020204030204" pitchFamily="49" charset="0"/>
                <a:cs typeface="Microsoft Sans Serif" pitchFamily="34" charset="0"/>
              </a:rPr>
              <a:t> and RO</a:t>
            </a:r>
            <a:r>
              <a:rPr lang="en-US" altLang="zh-CN" b="1" baseline="30000" dirty="0">
                <a:latin typeface="Consolas" panose="020B0609020204030204" pitchFamily="49" charset="0"/>
                <a:cs typeface="Microsoft Sans Serif" pitchFamily="34" charset="0"/>
              </a:rPr>
              <a:t>-</a:t>
            </a:r>
            <a:r>
              <a:rPr lang="en-US" altLang="zh-CN" b="1" dirty="0">
                <a:latin typeface="Consolas" panose="020B0609020204030204" pitchFamily="49" charset="0"/>
                <a:cs typeface="Microsoft Sans Serif" pitchFamily="34" charset="0"/>
              </a:rPr>
              <a:t> as strong bases are poor leaving groups for S</a:t>
            </a:r>
            <a:r>
              <a:rPr lang="en-US" altLang="zh-CN" b="1" baseline="-25000" dirty="0">
                <a:latin typeface="Consolas" panose="020B0609020204030204" pitchFamily="49" charset="0"/>
                <a:cs typeface="Microsoft Sans Serif" pitchFamily="34" charset="0"/>
              </a:rPr>
              <a:t>N</a:t>
            </a:r>
            <a:r>
              <a:rPr lang="en-US" altLang="zh-CN" b="1" dirty="0">
                <a:latin typeface="Consolas" panose="020B0609020204030204" pitchFamily="49" charset="0"/>
                <a:cs typeface="Microsoft Sans Serif" pitchFamily="34" charset="0"/>
              </a:rPr>
              <a:t>2 reactions.</a:t>
            </a:r>
          </a:p>
        </p:txBody>
      </p:sp>
      <p:sp>
        <p:nvSpPr>
          <p:cNvPr id="5" name="矩形 4"/>
          <p:cNvSpPr/>
          <p:nvPr/>
        </p:nvSpPr>
        <p:spPr>
          <a:xfrm>
            <a:off x="0" y="217383"/>
            <a:ext cx="6960096" cy="461665"/>
          </a:xfrm>
          <a:prstGeom prst="rect">
            <a:avLst/>
          </a:prstGeom>
          <a:noFill/>
        </p:spPr>
        <p:txBody>
          <a:bodyPr wrap="square">
            <a:spAutoFit/>
          </a:bodyPr>
          <a:lstStyle/>
          <a:p>
            <a:r>
              <a:rPr lang="en-US" altLang="zh-CN" sz="2400" b="1" dirty="0">
                <a:highlight>
                  <a:srgbClr val="FFFF00"/>
                </a:highlight>
                <a:latin typeface="Microsoft Sans Serif" pitchFamily="34" charset="0"/>
                <a:cs typeface="Microsoft Sans Serif" pitchFamily="34" charset="0"/>
              </a:rPr>
              <a:t>3&gt; </a:t>
            </a:r>
            <a:r>
              <a:rPr lang="en-US" altLang="zh-CN" sz="2400" b="1" dirty="0">
                <a:latin typeface="Microsoft Sans Serif" pitchFamily="34" charset="0"/>
                <a:cs typeface="Microsoft Sans Serif" pitchFamily="34" charset="0"/>
              </a:rPr>
              <a:t>Reactivity of the Substrate in S</a:t>
            </a:r>
            <a:r>
              <a:rPr lang="en-US" altLang="zh-CN" sz="2400" b="1" baseline="-25000" dirty="0">
                <a:latin typeface="Microsoft Sans Serif" pitchFamily="34" charset="0"/>
                <a:cs typeface="Microsoft Sans Serif" pitchFamily="34" charset="0"/>
              </a:rPr>
              <a:t>N</a:t>
            </a:r>
            <a:r>
              <a:rPr lang="en-US" altLang="zh-CN" sz="2400" b="1" dirty="0">
                <a:latin typeface="Microsoft Sans Serif" pitchFamily="34" charset="0"/>
                <a:cs typeface="Microsoft Sans Serif" pitchFamily="34" charset="0"/>
              </a:rPr>
              <a:t>2 Reactions</a:t>
            </a:r>
          </a:p>
        </p:txBody>
      </p:sp>
      <p:sp>
        <p:nvSpPr>
          <p:cNvPr id="6" name="矩形 5"/>
          <p:cNvSpPr/>
          <p:nvPr/>
        </p:nvSpPr>
        <p:spPr>
          <a:xfrm>
            <a:off x="372364" y="798258"/>
            <a:ext cx="11449272" cy="1631216"/>
          </a:xfrm>
          <a:prstGeom prst="rect">
            <a:avLst/>
          </a:prstGeom>
        </p:spPr>
        <p:txBody>
          <a:bodyPr wrap="square">
            <a:spAutoFit/>
          </a:bodyPr>
          <a:lstStyle/>
          <a:p>
            <a:pPr algn="just">
              <a:buFont typeface="Arial" pitchFamily="34" charset="0"/>
              <a:buChar char="•"/>
            </a:pPr>
            <a:r>
              <a:rPr lang="en-US" altLang="zh-CN" sz="2000" b="1" dirty="0">
                <a:latin typeface="Microsoft Sans Serif" pitchFamily="34" charset="0"/>
                <a:cs typeface="Microsoft Sans Serif" pitchFamily="34" charset="0"/>
              </a:rPr>
              <a:t> Just as the nucleophile is important in the S</a:t>
            </a:r>
            <a:r>
              <a:rPr lang="en-US" altLang="zh-CN" sz="2000" b="1" baseline="-25000" dirty="0">
                <a:latin typeface="Microsoft Sans Serif" pitchFamily="34" charset="0"/>
                <a:cs typeface="Microsoft Sans Serif" pitchFamily="34" charset="0"/>
              </a:rPr>
              <a:t>N</a:t>
            </a:r>
            <a:r>
              <a:rPr lang="en-US" altLang="zh-CN" sz="2000" b="1" dirty="0">
                <a:latin typeface="Microsoft Sans Serif" pitchFamily="34" charset="0"/>
                <a:cs typeface="Microsoft Sans Serif" pitchFamily="34" charset="0"/>
              </a:rPr>
              <a:t>2 reaction, the structure of the alkyl halide is equally important.</a:t>
            </a:r>
          </a:p>
          <a:p>
            <a:pPr algn="just">
              <a:buFont typeface="Arial" pitchFamily="34" charset="0"/>
              <a:buChar char="•"/>
            </a:pPr>
            <a:r>
              <a:rPr lang="en-US" altLang="zh-CN" sz="2000" b="1" dirty="0">
                <a:latin typeface="Microsoft Sans Serif" pitchFamily="34" charset="0"/>
                <a:cs typeface="Microsoft Sans Serif" pitchFamily="34" charset="0"/>
              </a:rPr>
              <a:t> To be </a:t>
            </a:r>
            <a:r>
              <a:rPr lang="en-US" altLang="zh-CN" sz="2000" b="1" dirty="0">
                <a:solidFill>
                  <a:srgbClr val="0000FF"/>
                </a:solidFill>
                <a:latin typeface="Microsoft Sans Serif" pitchFamily="34" charset="0"/>
                <a:cs typeface="Microsoft Sans Serif" pitchFamily="34" charset="0"/>
              </a:rPr>
              <a:t>a good substrate for S</a:t>
            </a:r>
            <a:r>
              <a:rPr lang="en-US" altLang="zh-CN" sz="2000" b="1" baseline="-25000" dirty="0">
                <a:solidFill>
                  <a:srgbClr val="0000FF"/>
                </a:solidFill>
                <a:latin typeface="Microsoft Sans Serif" pitchFamily="34" charset="0"/>
                <a:cs typeface="Microsoft Sans Serif" pitchFamily="34" charset="0"/>
              </a:rPr>
              <a:t>N</a:t>
            </a:r>
            <a:r>
              <a:rPr lang="en-US" altLang="zh-CN" sz="2000" b="1" dirty="0">
                <a:solidFill>
                  <a:srgbClr val="0000FF"/>
                </a:solidFill>
                <a:latin typeface="Microsoft Sans Serif" pitchFamily="34" charset="0"/>
                <a:cs typeface="Microsoft Sans Serif" pitchFamily="34" charset="0"/>
              </a:rPr>
              <a:t>2 </a:t>
            </a:r>
            <a:r>
              <a:rPr lang="en-US" altLang="zh-CN" sz="2000" b="1" dirty="0">
                <a:latin typeface="Microsoft Sans Serif" pitchFamily="34" charset="0"/>
                <a:cs typeface="Microsoft Sans Serif" pitchFamily="34" charset="0"/>
              </a:rPr>
              <a:t>attack by a nucleophile, a molecule must have </a:t>
            </a:r>
            <a:r>
              <a:rPr lang="en-US" altLang="zh-CN" sz="2000" b="1" dirty="0">
                <a:solidFill>
                  <a:srgbClr val="0000FF"/>
                </a:solidFill>
                <a:latin typeface="Microsoft Sans Serif" pitchFamily="34" charset="0"/>
                <a:cs typeface="Microsoft Sans Serif" pitchFamily="34" charset="0"/>
              </a:rPr>
              <a:t>an electrophilic carbon atom with a good leaving group</a:t>
            </a:r>
            <a:r>
              <a:rPr lang="en-US" altLang="zh-CN" sz="2000" b="1" dirty="0">
                <a:latin typeface="Microsoft Sans Serif" pitchFamily="34" charset="0"/>
                <a:cs typeface="Microsoft Sans Serif" pitchFamily="34" charset="0"/>
              </a:rPr>
              <a:t>, and that carbon atom </a:t>
            </a:r>
            <a:r>
              <a:rPr lang="en-US" altLang="zh-CN" sz="2000" b="1" dirty="0">
                <a:solidFill>
                  <a:srgbClr val="0000FF"/>
                </a:solidFill>
                <a:latin typeface="Microsoft Sans Serif" pitchFamily="34" charset="0"/>
                <a:cs typeface="Microsoft Sans Serif" pitchFamily="34" charset="0"/>
              </a:rPr>
              <a:t>must not be too sterically hindered </a:t>
            </a:r>
            <a:r>
              <a:rPr lang="en-US" altLang="zh-CN" sz="2000" b="1" dirty="0">
                <a:latin typeface="Microsoft Sans Serif" pitchFamily="34" charset="0"/>
                <a:cs typeface="Microsoft Sans Serif" pitchFamily="34" charset="0"/>
              </a:rPr>
              <a:t>for a nucleophile to attack.</a:t>
            </a:r>
          </a:p>
        </p:txBody>
      </p:sp>
      <p:sp>
        <p:nvSpPr>
          <p:cNvPr id="7" name="矩形 6"/>
          <p:cNvSpPr/>
          <p:nvPr/>
        </p:nvSpPr>
        <p:spPr>
          <a:xfrm>
            <a:off x="0" y="2371792"/>
            <a:ext cx="5279009" cy="400110"/>
          </a:xfrm>
          <a:prstGeom prst="rect">
            <a:avLst/>
          </a:prstGeom>
          <a:noFill/>
        </p:spPr>
        <p:txBody>
          <a:bodyPr wrap="none">
            <a:spAutoFit/>
          </a:bodyPr>
          <a:lstStyle/>
          <a:p>
            <a:r>
              <a:rPr lang="en-US" altLang="zh-CN" sz="2000" b="1" dirty="0">
                <a:highlight>
                  <a:srgbClr val="FFFF00"/>
                </a:highlight>
                <a:latin typeface="Microsoft Sans Serif" pitchFamily="34" charset="0"/>
                <a:cs typeface="Microsoft Sans Serif" pitchFamily="34" charset="0"/>
              </a:rPr>
              <a:t>3A&gt;</a:t>
            </a:r>
            <a:r>
              <a:rPr lang="en-US" altLang="zh-CN" sz="2000" b="1" dirty="0">
                <a:latin typeface="Microsoft Sans Serif" pitchFamily="34" charset="0"/>
                <a:cs typeface="Microsoft Sans Serif" pitchFamily="34" charset="0"/>
              </a:rPr>
              <a:t> </a:t>
            </a:r>
            <a:r>
              <a:rPr lang="en-US" altLang="zh-CN" sz="2000" b="1" dirty="0">
                <a:solidFill>
                  <a:srgbClr val="FF0000"/>
                </a:solidFill>
                <a:latin typeface="Microsoft Sans Serif" pitchFamily="34" charset="0"/>
                <a:cs typeface="Microsoft Sans Serif" pitchFamily="34" charset="0"/>
              </a:rPr>
              <a:t>Leaving-Group Effects </a:t>
            </a:r>
            <a:r>
              <a:rPr lang="en-US" altLang="zh-CN" sz="2000" b="1" dirty="0">
                <a:latin typeface="Microsoft Sans Serif" pitchFamily="34" charset="0"/>
                <a:cs typeface="Microsoft Sans Serif" pitchFamily="34" charset="0"/>
              </a:rPr>
              <a:t>on the Substrate</a:t>
            </a:r>
          </a:p>
        </p:txBody>
      </p:sp>
      <p:graphicFrame>
        <p:nvGraphicFramePr>
          <p:cNvPr id="4" name="对象 3"/>
          <p:cNvGraphicFramePr>
            <a:graphicFrameLocks noChangeAspect="1"/>
          </p:cNvGraphicFramePr>
          <p:nvPr>
            <p:extLst>
              <p:ext uri="{D42A27DB-BD31-4B8C-83A1-F6EECF244321}">
                <p14:modId xmlns:p14="http://schemas.microsoft.com/office/powerpoint/2010/main" val="1102658649"/>
              </p:ext>
            </p:extLst>
          </p:nvPr>
        </p:nvGraphicFramePr>
        <p:xfrm>
          <a:off x="9138393" y="2462440"/>
          <a:ext cx="2043214" cy="1069023"/>
        </p:xfrm>
        <a:graphic>
          <a:graphicData uri="http://schemas.openxmlformats.org/presentationml/2006/ole">
            <mc:AlternateContent xmlns:mc="http://schemas.openxmlformats.org/markup-compatibility/2006">
              <mc:Choice xmlns:v="urn:schemas-microsoft-com:vml" Requires="v">
                <p:oleObj spid="_x0000_s70942" name="CS ChemDraw Drawing" r:id="rId3" imgW="1129240" imgH="589867" progId="ChemDraw.Document.6.0">
                  <p:embed/>
                </p:oleObj>
              </mc:Choice>
              <mc:Fallback>
                <p:oleObj name="CS ChemDraw Drawing" r:id="rId3" imgW="1129240" imgH="589867" progId="ChemDraw.Document.6.0">
                  <p:embed/>
                  <p:pic>
                    <p:nvPicPr>
                      <p:cNvPr id="0" name=""/>
                      <p:cNvPicPr/>
                      <p:nvPr/>
                    </p:nvPicPr>
                    <p:blipFill>
                      <a:blip r:embed="rId4"/>
                      <a:stretch>
                        <a:fillRect/>
                      </a:stretch>
                    </p:blipFill>
                    <p:spPr>
                      <a:xfrm>
                        <a:off x="9138393" y="2462440"/>
                        <a:ext cx="2043214" cy="1069023"/>
                      </a:xfrm>
                      <a:prstGeom prst="rect">
                        <a:avLst/>
                      </a:prstGeom>
                    </p:spPr>
                  </p:pic>
                </p:oleObj>
              </mc:Fallback>
            </mc:AlternateContent>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16</a:t>
            </a:fld>
            <a:endParaRPr lang="zh-CN" altLang="en-US"/>
          </a:p>
        </p:txBody>
      </p:sp>
      <p:graphicFrame>
        <p:nvGraphicFramePr>
          <p:cNvPr id="7" name="表格 6"/>
          <p:cNvGraphicFramePr>
            <a:graphicFrameLocks noGrp="1"/>
          </p:cNvGraphicFramePr>
          <p:nvPr>
            <p:extLst>
              <p:ext uri="{D42A27DB-BD31-4B8C-83A1-F6EECF244321}">
                <p14:modId xmlns:p14="http://schemas.microsoft.com/office/powerpoint/2010/main" val="2729016579"/>
              </p:ext>
            </p:extLst>
          </p:nvPr>
        </p:nvGraphicFramePr>
        <p:xfrm>
          <a:off x="1343472" y="1556792"/>
          <a:ext cx="8784976" cy="3744416"/>
        </p:xfrm>
        <a:graphic>
          <a:graphicData uri="http://schemas.openxmlformats.org/drawingml/2006/table">
            <a:tbl>
              <a:tblPr firstRow="1" bandRow="1">
                <a:tableStyleId>{5940675A-B579-460E-94D1-54222C63F5DA}</a:tableStyleId>
              </a:tblPr>
              <a:tblGrid>
                <a:gridCol w="5432760">
                  <a:extLst>
                    <a:ext uri="{9D8B030D-6E8A-4147-A177-3AD203B41FA5}">
                      <a16:colId xmlns:a16="http://schemas.microsoft.com/office/drawing/2014/main" val="3293941034"/>
                    </a:ext>
                  </a:extLst>
                </a:gridCol>
                <a:gridCol w="3352216">
                  <a:extLst>
                    <a:ext uri="{9D8B030D-6E8A-4147-A177-3AD203B41FA5}">
                      <a16:colId xmlns:a16="http://schemas.microsoft.com/office/drawing/2014/main" val="614254183"/>
                    </a:ext>
                  </a:extLst>
                </a:gridCol>
              </a:tblGrid>
              <a:tr h="370840">
                <a:tc gridSpan="2">
                  <a:txBody>
                    <a:bodyPr/>
                    <a:lstStyle/>
                    <a:p>
                      <a:pPr algn="ctr"/>
                      <a:r>
                        <a:rPr lang="en-US" altLang="zh-CN" b="1" dirty="0">
                          <a:latin typeface="Consolas" panose="020B0609020204030204" pitchFamily="49" charset="0"/>
                        </a:rPr>
                        <a:t>Weak bases that are common leaving groups</a:t>
                      </a:r>
                      <a:endParaRPr lang="zh-CN" altLang="en-US" b="1" dirty="0">
                        <a:latin typeface="Consolas" panose="020B0609020204030204" pitchFamily="49" charset="0"/>
                      </a:endParaRPr>
                    </a:p>
                  </a:txBody>
                  <a:tcPr/>
                </a:tc>
                <a:tc hMerge="1">
                  <a:txBody>
                    <a:bodyPr/>
                    <a:lstStyle/>
                    <a:p>
                      <a:endParaRPr lang="zh-CN" altLang="en-US" dirty="0"/>
                    </a:p>
                  </a:txBody>
                  <a:tcPr/>
                </a:tc>
                <a:extLst>
                  <a:ext uri="{0D108BD9-81ED-4DB2-BD59-A6C34878D82A}">
                    <a16:rowId xmlns:a16="http://schemas.microsoft.com/office/drawing/2014/main" val="1764098061"/>
                  </a:ext>
                </a:extLst>
              </a:tr>
              <a:tr h="370840">
                <a:tc>
                  <a:txBody>
                    <a:bodyPr/>
                    <a:lstStyle/>
                    <a:p>
                      <a:r>
                        <a:rPr lang="en-US" altLang="zh-CN" b="1" dirty="0">
                          <a:latin typeface="Consolas" panose="020B0609020204030204" pitchFamily="49" charset="0"/>
                        </a:rPr>
                        <a:t>Ions </a:t>
                      </a:r>
                      <a:endParaRPr lang="zh-CN" altLang="en-US" b="1" dirty="0">
                        <a:latin typeface="Consolas" panose="020B0609020204030204" pitchFamily="49" charset="0"/>
                      </a:endParaRPr>
                    </a:p>
                  </a:txBody>
                  <a:tcPr>
                    <a:solidFill>
                      <a:schemeClr val="accent6">
                        <a:lumMod val="75000"/>
                      </a:schemeClr>
                    </a:solidFill>
                  </a:tcPr>
                </a:tc>
                <a:tc>
                  <a:txBody>
                    <a:bodyPr/>
                    <a:lstStyle/>
                    <a:p>
                      <a:r>
                        <a:rPr lang="en-US" altLang="zh-CN" b="1" dirty="0">
                          <a:latin typeface="Consolas" panose="020B0609020204030204" pitchFamily="49" charset="0"/>
                        </a:rPr>
                        <a:t>Neutral</a:t>
                      </a:r>
                      <a:r>
                        <a:rPr lang="en-US" altLang="zh-CN" b="1" baseline="0" dirty="0">
                          <a:latin typeface="Consolas" panose="020B0609020204030204" pitchFamily="49" charset="0"/>
                        </a:rPr>
                        <a:t> molecules</a:t>
                      </a:r>
                      <a:endParaRPr lang="zh-CN" altLang="en-US" b="1" dirty="0">
                        <a:latin typeface="Consolas" panose="020B0609020204030204" pitchFamily="49" charset="0"/>
                      </a:endParaRPr>
                    </a:p>
                  </a:txBody>
                  <a:tcPr>
                    <a:solidFill>
                      <a:schemeClr val="accent6">
                        <a:lumMod val="60000"/>
                        <a:lumOff val="40000"/>
                      </a:schemeClr>
                    </a:solidFill>
                  </a:tcPr>
                </a:tc>
                <a:extLst>
                  <a:ext uri="{0D108BD9-81ED-4DB2-BD59-A6C34878D82A}">
                    <a16:rowId xmlns:a16="http://schemas.microsoft.com/office/drawing/2014/main" val="3436150971"/>
                  </a:ext>
                </a:extLst>
              </a:tr>
              <a:tr h="3002736">
                <a:tc>
                  <a:txBody>
                    <a:bodyPr/>
                    <a:lstStyle/>
                    <a:p>
                      <a:endParaRPr lang="zh-CN" altLang="en-US" dirty="0">
                        <a:latin typeface="Consolas" panose="020B0609020204030204" pitchFamily="49" charset="0"/>
                      </a:endParaRPr>
                    </a:p>
                  </a:txBody>
                  <a:tcPr/>
                </a:tc>
                <a:tc>
                  <a:txBody>
                    <a:bodyPr/>
                    <a:lstStyle/>
                    <a:p>
                      <a:endParaRPr lang="zh-CN" altLang="en-US" dirty="0">
                        <a:latin typeface="Consolas" panose="020B0609020204030204" pitchFamily="49" charset="0"/>
                      </a:endParaRPr>
                    </a:p>
                  </a:txBody>
                  <a:tcPr/>
                </a:tc>
                <a:extLst>
                  <a:ext uri="{0D108BD9-81ED-4DB2-BD59-A6C34878D82A}">
                    <a16:rowId xmlns:a16="http://schemas.microsoft.com/office/drawing/2014/main" val="1582654452"/>
                  </a:ext>
                </a:extLst>
              </a:tr>
            </a:tbl>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798344584"/>
              </p:ext>
            </p:extLst>
          </p:nvPr>
        </p:nvGraphicFramePr>
        <p:xfrm>
          <a:off x="1663664" y="2564904"/>
          <a:ext cx="4903712" cy="2520280"/>
        </p:xfrm>
        <a:graphic>
          <a:graphicData uri="http://schemas.openxmlformats.org/presentationml/2006/ole">
            <mc:AlternateContent xmlns:mc="http://schemas.openxmlformats.org/markup-compatibility/2006">
              <mc:Choice xmlns:v="urn:schemas-microsoft-com:vml" Requires="v">
                <p:oleObj spid="_x0000_s33476" name="CS ChemDraw Drawing" r:id="rId3" imgW="2730771" imgH="1403313" progId="ChemDraw.Document.6.0">
                  <p:embed/>
                </p:oleObj>
              </mc:Choice>
              <mc:Fallback>
                <p:oleObj name="CS ChemDraw Drawing" r:id="rId3" imgW="2730771" imgH="1403313" progId="ChemDraw.Document.6.0">
                  <p:embed/>
                  <p:pic>
                    <p:nvPicPr>
                      <p:cNvPr id="0" name=""/>
                      <p:cNvPicPr/>
                      <p:nvPr/>
                    </p:nvPicPr>
                    <p:blipFill>
                      <a:blip r:embed="rId4"/>
                      <a:stretch>
                        <a:fillRect/>
                      </a:stretch>
                    </p:blipFill>
                    <p:spPr>
                      <a:xfrm>
                        <a:off x="1663664" y="2564904"/>
                        <a:ext cx="4903712" cy="2520280"/>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2562927179"/>
              </p:ext>
            </p:extLst>
          </p:nvPr>
        </p:nvGraphicFramePr>
        <p:xfrm>
          <a:off x="7280288" y="3212976"/>
          <a:ext cx="2128237" cy="1008112"/>
        </p:xfrm>
        <a:graphic>
          <a:graphicData uri="http://schemas.openxmlformats.org/presentationml/2006/ole">
            <mc:AlternateContent xmlns:mc="http://schemas.openxmlformats.org/markup-compatibility/2006">
              <mc:Choice xmlns:v="urn:schemas-microsoft-com:vml" Requires="v">
                <p:oleObj spid="_x0000_s33477" name="CS ChemDraw Drawing" r:id="rId5" imgW="1145811" imgH="542297" progId="ChemDraw.Document.6.0">
                  <p:embed/>
                </p:oleObj>
              </mc:Choice>
              <mc:Fallback>
                <p:oleObj name="CS ChemDraw Drawing" r:id="rId5" imgW="1145811" imgH="542297" progId="ChemDraw.Document.6.0">
                  <p:embed/>
                  <p:pic>
                    <p:nvPicPr>
                      <p:cNvPr id="0" name=""/>
                      <p:cNvPicPr/>
                      <p:nvPr/>
                    </p:nvPicPr>
                    <p:blipFill>
                      <a:blip r:embed="rId6"/>
                      <a:stretch>
                        <a:fillRect/>
                      </a:stretch>
                    </p:blipFill>
                    <p:spPr>
                      <a:xfrm>
                        <a:off x="7280288" y="3212976"/>
                        <a:ext cx="2128237" cy="1008112"/>
                      </a:xfrm>
                      <a:prstGeom prst="rect">
                        <a:avLst/>
                      </a:prstGeom>
                    </p:spPr>
                  </p:pic>
                </p:oleObj>
              </mc:Fallback>
            </mc:AlternateContent>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爆炸形 1 20"/>
          <p:cNvSpPr/>
          <p:nvPr/>
        </p:nvSpPr>
        <p:spPr>
          <a:xfrm>
            <a:off x="9587887" y="4626176"/>
            <a:ext cx="648072" cy="576064"/>
          </a:xfrm>
          <a:prstGeom prst="irregularSeal1">
            <a:avLst/>
          </a:prstGeom>
          <a:solidFill>
            <a:srgbClr val="FFFF00"/>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爆炸形 1 19"/>
          <p:cNvSpPr/>
          <p:nvPr/>
        </p:nvSpPr>
        <p:spPr>
          <a:xfrm>
            <a:off x="9936312" y="4914208"/>
            <a:ext cx="648072" cy="576064"/>
          </a:xfrm>
          <a:prstGeom prst="irregularSeal1">
            <a:avLst/>
          </a:prstGeom>
          <a:solidFill>
            <a:srgbClr val="FFFF00"/>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爆炸形 1 18"/>
          <p:cNvSpPr/>
          <p:nvPr/>
        </p:nvSpPr>
        <p:spPr>
          <a:xfrm>
            <a:off x="9808363" y="4119938"/>
            <a:ext cx="648072" cy="576064"/>
          </a:xfrm>
          <a:prstGeom prst="irregularSeal1">
            <a:avLst/>
          </a:prstGeom>
          <a:solidFill>
            <a:srgbClr val="FFFF00"/>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爆炸形 1 15"/>
          <p:cNvSpPr/>
          <p:nvPr/>
        </p:nvSpPr>
        <p:spPr>
          <a:xfrm>
            <a:off x="6726773" y="5441364"/>
            <a:ext cx="648072" cy="576064"/>
          </a:xfrm>
          <a:prstGeom prst="irregularSeal1">
            <a:avLst/>
          </a:prstGeom>
          <a:solidFill>
            <a:srgbClr val="FFFF00"/>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爆炸形 1 14"/>
          <p:cNvSpPr/>
          <p:nvPr/>
        </p:nvSpPr>
        <p:spPr>
          <a:xfrm>
            <a:off x="6989374" y="4917822"/>
            <a:ext cx="648072" cy="576064"/>
          </a:xfrm>
          <a:prstGeom prst="irregularSeal1">
            <a:avLst/>
          </a:prstGeom>
          <a:solidFill>
            <a:srgbClr val="FFFF00"/>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爆炸形 1 13"/>
          <p:cNvSpPr/>
          <p:nvPr/>
        </p:nvSpPr>
        <p:spPr>
          <a:xfrm>
            <a:off x="3935463" y="4941168"/>
            <a:ext cx="648072" cy="576064"/>
          </a:xfrm>
          <a:prstGeom prst="irregularSeal1">
            <a:avLst/>
          </a:prstGeom>
          <a:solidFill>
            <a:srgbClr val="FFFF00"/>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9456261" y="3349371"/>
            <a:ext cx="463600" cy="488087"/>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8990740" y="2940913"/>
            <a:ext cx="463600" cy="488087"/>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9454340" y="2420887"/>
            <a:ext cx="463600" cy="488087"/>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灯片编号占位符 1"/>
          <p:cNvSpPr>
            <a:spLocks noGrp="1"/>
          </p:cNvSpPr>
          <p:nvPr>
            <p:ph type="sldNum" sz="quarter" idx="12"/>
          </p:nvPr>
        </p:nvSpPr>
        <p:spPr/>
        <p:txBody>
          <a:bodyPr/>
          <a:lstStyle/>
          <a:p>
            <a:fld id="{0C913308-F349-4B6D-A68A-DD1791B4A57B}" type="slidenum">
              <a:rPr lang="zh-CN" altLang="en-US" smtClean="0"/>
              <a:pPr/>
              <a:t>17</a:t>
            </a:fld>
            <a:endParaRPr lang="zh-CN" altLang="en-US"/>
          </a:p>
        </p:txBody>
      </p:sp>
      <p:sp>
        <p:nvSpPr>
          <p:cNvPr id="3" name="矩形 2"/>
          <p:cNvSpPr/>
          <p:nvPr/>
        </p:nvSpPr>
        <p:spPr>
          <a:xfrm>
            <a:off x="207871" y="660758"/>
            <a:ext cx="11390310" cy="2246769"/>
          </a:xfrm>
          <a:prstGeom prst="rect">
            <a:avLst/>
          </a:prstGeom>
        </p:spPr>
        <p:txBody>
          <a:bodyPr wrap="square">
            <a:spAutoFit/>
          </a:bodyPr>
          <a:lstStyle/>
          <a:p>
            <a:pPr marL="342900" indent="-342900" algn="just">
              <a:buFont typeface="Arial" panose="020B0604020202020204" pitchFamily="34" charset="0"/>
              <a:buChar char="•"/>
            </a:pPr>
            <a:r>
              <a:rPr lang="en-US" altLang="zh-CN" sz="2000" b="1" dirty="0">
                <a:latin typeface="Microsoft Sans Serif" pitchFamily="34" charset="0"/>
                <a:cs typeface="Microsoft Sans Serif" pitchFamily="34" charset="0"/>
              </a:rPr>
              <a:t>Different alkyl halides undergo S</a:t>
            </a:r>
            <a:r>
              <a:rPr lang="en-US" altLang="zh-CN" sz="2000" b="1" baseline="-25000" dirty="0">
                <a:latin typeface="Microsoft Sans Serif" pitchFamily="34" charset="0"/>
                <a:cs typeface="Microsoft Sans Serif" pitchFamily="34" charset="0"/>
              </a:rPr>
              <a:t>N</a:t>
            </a:r>
            <a:r>
              <a:rPr lang="en-US" altLang="zh-CN" sz="2000" b="1" dirty="0">
                <a:latin typeface="Microsoft Sans Serif" pitchFamily="34" charset="0"/>
                <a:cs typeface="Microsoft Sans Serif" pitchFamily="34" charset="0"/>
              </a:rPr>
              <a:t>2 reactions at vastly different rates. The level of substitution on the electrophilic carbon atom greatly affects the reactivity toward S</a:t>
            </a:r>
            <a:r>
              <a:rPr lang="en-US" altLang="zh-CN" sz="2000" b="1" baseline="-25000" dirty="0">
                <a:latin typeface="Microsoft Sans Serif" pitchFamily="34" charset="0"/>
                <a:cs typeface="Microsoft Sans Serif" pitchFamily="34" charset="0"/>
              </a:rPr>
              <a:t>N</a:t>
            </a:r>
            <a:r>
              <a:rPr lang="en-US" altLang="zh-CN" sz="2000" b="1" dirty="0">
                <a:latin typeface="Microsoft Sans Serif" pitchFamily="34" charset="0"/>
                <a:cs typeface="Microsoft Sans Serif" pitchFamily="34" charset="0"/>
              </a:rPr>
              <a:t>2 displacement .</a:t>
            </a:r>
          </a:p>
          <a:p>
            <a:pPr marL="342900" indent="-342900" algn="just">
              <a:buFont typeface="Arial" panose="020B0604020202020204" pitchFamily="34" charset="0"/>
              <a:buChar char="•"/>
            </a:pPr>
            <a:r>
              <a:rPr lang="en-US" altLang="zh-CN" sz="2000" b="1" dirty="0">
                <a:latin typeface="Microsoft Sans Serif" pitchFamily="34" charset="0"/>
                <a:cs typeface="Microsoft Sans Serif" pitchFamily="34" charset="0"/>
              </a:rPr>
              <a:t>The reaction goes rapidly with methyl halides and with most primary substrates. It is more sluggish with secondary halides.</a:t>
            </a:r>
          </a:p>
          <a:p>
            <a:pPr marL="342900" indent="-342900" algn="just">
              <a:buFont typeface="Arial" panose="020B0604020202020204" pitchFamily="34" charset="0"/>
              <a:buChar char="•"/>
            </a:pPr>
            <a:r>
              <a:rPr lang="en-US" altLang="zh-CN" sz="2000" b="1" dirty="0">
                <a:solidFill>
                  <a:srgbClr val="FF0000"/>
                </a:solidFill>
                <a:highlight>
                  <a:srgbClr val="00FFFF"/>
                </a:highlight>
                <a:latin typeface="Microsoft Sans Serif" pitchFamily="34" charset="0"/>
                <a:cs typeface="Microsoft Sans Serif" pitchFamily="34" charset="0"/>
              </a:rPr>
              <a:t>Tertiary halides fail to react at all by the S</a:t>
            </a:r>
            <a:r>
              <a:rPr lang="en-US" altLang="zh-CN" sz="2000" b="1" baseline="-25000" dirty="0">
                <a:solidFill>
                  <a:srgbClr val="FF0000"/>
                </a:solidFill>
                <a:highlight>
                  <a:srgbClr val="00FFFF"/>
                </a:highlight>
                <a:latin typeface="Microsoft Sans Serif" pitchFamily="34" charset="0"/>
                <a:cs typeface="Microsoft Sans Serif" pitchFamily="34" charset="0"/>
              </a:rPr>
              <a:t>N</a:t>
            </a:r>
            <a:r>
              <a:rPr lang="en-US" altLang="zh-CN" sz="2000" b="1" dirty="0">
                <a:solidFill>
                  <a:srgbClr val="FF0000"/>
                </a:solidFill>
                <a:highlight>
                  <a:srgbClr val="00FFFF"/>
                </a:highlight>
                <a:latin typeface="Microsoft Sans Serif" pitchFamily="34" charset="0"/>
                <a:cs typeface="Microsoft Sans Serif" pitchFamily="34" charset="0"/>
              </a:rPr>
              <a:t>2 mechanism</a:t>
            </a:r>
            <a:r>
              <a:rPr lang="en-US" altLang="zh-CN" sz="2000" b="1" dirty="0">
                <a:latin typeface="Microsoft Sans Serif" pitchFamily="34" charset="0"/>
                <a:cs typeface="Microsoft Sans Serif" pitchFamily="34" charset="0"/>
              </a:rPr>
              <a:t>.</a:t>
            </a:r>
          </a:p>
          <a:p>
            <a:pPr algn="just">
              <a:buFont typeface="Arial" pitchFamily="34" charset="0"/>
              <a:buChar char="•"/>
            </a:pPr>
            <a:endParaRPr lang="en-US" altLang="zh-CN" sz="2000" b="1" dirty="0">
              <a:latin typeface="Microsoft Sans Serif" pitchFamily="34" charset="0"/>
              <a:cs typeface="Microsoft Sans Serif" pitchFamily="34" charset="0"/>
            </a:endParaRPr>
          </a:p>
          <a:p>
            <a:pPr marL="342900" indent="-342900" algn="just">
              <a:buFont typeface="Arial" panose="020B0604020202020204" pitchFamily="34" charset="0"/>
              <a:buChar char="•"/>
            </a:pPr>
            <a:r>
              <a:rPr lang="en-US" altLang="zh-CN" sz="2000" b="1" dirty="0">
                <a:latin typeface="Microsoft Sans Serif" pitchFamily="34" charset="0"/>
                <a:cs typeface="Microsoft Sans Serif" pitchFamily="34" charset="0"/>
              </a:rPr>
              <a:t>For simple alkyl halides, the relative rates for S</a:t>
            </a:r>
            <a:r>
              <a:rPr lang="en-US" altLang="zh-CN" sz="2000" b="1" baseline="-25000" dirty="0">
                <a:latin typeface="Microsoft Sans Serif" pitchFamily="34" charset="0"/>
                <a:cs typeface="Microsoft Sans Serif" pitchFamily="34" charset="0"/>
              </a:rPr>
              <a:t>N</a:t>
            </a:r>
            <a:r>
              <a:rPr lang="en-US" altLang="zh-CN" sz="2000" b="1" dirty="0">
                <a:latin typeface="Microsoft Sans Serif" pitchFamily="34" charset="0"/>
                <a:cs typeface="Microsoft Sans Serif" pitchFamily="34" charset="0"/>
              </a:rPr>
              <a:t>2 displacement are:</a:t>
            </a:r>
          </a:p>
        </p:txBody>
      </p:sp>
      <p:sp>
        <p:nvSpPr>
          <p:cNvPr id="5" name="矩形 4"/>
          <p:cNvSpPr/>
          <p:nvPr/>
        </p:nvSpPr>
        <p:spPr>
          <a:xfrm>
            <a:off x="0" y="260648"/>
            <a:ext cx="4182555" cy="400110"/>
          </a:xfrm>
          <a:prstGeom prst="rect">
            <a:avLst/>
          </a:prstGeom>
          <a:noFill/>
        </p:spPr>
        <p:txBody>
          <a:bodyPr wrap="none">
            <a:spAutoFit/>
          </a:bodyPr>
          <a:lstStyle/>
          <a:p>
            <a:r>
              <a:rPr lang="en-US" altLang="zh-CN" sz="2000" b="1" dirty="0">
                <a:highlight>
                  <a:srgbClr val="FFFF00"/>
                </a:highlight>
                <a:latin typeface="Microsoft Sans Serif" pitchFamily="34" charset="0"/>
                <a:cs typeface="Microsoft Sans Serif" pitchFamily="34" charset="0"/>
              </a:rPr>
              <a:t>3B</a:t>
            </a:r>
            <a:r>
              <a:rPr lang="en-US" altLang="zh-CN" sz="2000" b="1" dirty="0">
                <a:latin typeface="Microsoft Sans Serif" pitchFamily="34" charset="0"/>
                <a:cs typeface="Microsoft Sans Serif" pitchFamily="34" charset="0"/>
              </a:rPr>
              <a:t>&gt; </a:t>
            </a:r>
            <a:r>
              <a:rPr lang="en-US" altLang="zh-CN" sz="2000" b="1" dirty="0">
                <a:solidFill>
                  <a:srgbClr val="FF0000"/>
                </a:solidFill>
                <a:latin typeface="Microsoft Sans Serif" pitchFamily="34" charset="0"/>
                <a:cs typeface="Microsoft Sans Serif" pitchFamily="34" charset="0"/>
              </a:rPr>
              <a:t>Steric Effects </a:t>
            </a:r>
            <a:r>
              <a:rPr lang="en-US" altLang="zh-CN" sz="2000" b="1" dirty="0">
                <a:solidFill>
                  <a:srgbClr val="0000FF"/>
                </a:solidFill>
                <a:latin typeface="Microsoft Sans Serif" pitchFamily="34" charset="0"/>
                <a:cs typeface="Microsoft Sans Serif" pitchFamily="34" charset="0"/>
              </a:rPr>
              <a:t>on the Substrate</a:t>
            </a:r>
          </a:p>
        </p:txBody>
      </p:sp>
      <p:graphicFrame>
        <p:nvGraphicFramePr>
          <p:cNvPr id="8" name="对象 7"/>
          <p:cNvGraphicFramePr>
            <a:graphicFrameLocks noChangeAspect="1"/>
          </p:cNvGraphicFramePr>
          <p:nvPr>
            <p:extLst>
              <p:ext uri="{D42A27DB-BD31-4B8C-83A1-F6EECF244321}">
                <p14:modId xmlns:p14="http://schemas.microsoft.com/office/powerpoint/2010/main" val="247481127"/>
              </p:ext>
            </p:extLst>
          </p:nvPr>
        </p:nvGraphicFramePr>
        <p:xfrm>
          <a:off x="8544272" y="2420888"/>
          <a:ext cx="2220004" cy="1336941"/>
        </p:xfrm>
        <a:graphic>
          <a:graphicData uri="http://schemas.openxmlformats.org/presentationml/2006/ole">
            <mc:AlternateContent xmlns:mc="http://schemas.openxmlformats.org/markup-compatibility/2006">
              <mc:Choice xmlns:v="urn:schemas-microsoft-com:vml" Requires="v">
                <p:oleObj spid="_x0000_s83994" name="CS ChemDraw Drawing" r:id="rId3" imgW="1141471" imgH="686989" progId="ChemDraw.Document.6.0">
                  <p:embed/>
                </p:oleObj>
              </mc:Choice>
              <mc:Fallback>
                <p:oleObj name="CS ChemDraw Drawing" r:id="rId3" imgW="1141471" imgH="686989" progId="ChemDraw.Document.6.0">
                  <p:embed/>
                  <p:pic>
                    <p:nvPicPr>
                      <p:cNvPr id="0" name=""/>
                      <p:cNvPicPr/>
                      <p:nvPr/>
                    </p:nvPicPr>
                    <p:blipFill>
                      <a:blip r:embed="rId4"/>
                      <a:stretch>
                        <a:fillRect/>
                      </a:stretch>
                    </p:blipFill>
                    <p:spPr>
                      <a:xfrm>
                        <a:off x="8544272" y="2420888"/>
                        <a:ext cx="2220004" cy="1336941"/>
                      </a:xfrm>
                      <a:prstGeom prst="rect">
                        <a:avLst/>
                      </a:prstGeom>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1519624754"/>
              </p:ext>
            </p:extLst>
          </p:nvPr>
        </p:nvGraphicFramePr>
        <p:xfrm>
          <a:off x="835292" y="3005291"/>
          <a:ext cx="7152597" cy="1140905"/>
        </p:xfrm>
        <a:graphic>
          <a:graphicData uri="http://schemas.openxmlformats.org/presentationml/2006/ole">
            <mc:AlternateContent xmlns:mc="http://schemas.openxmlformats.org/markup-compatibility/2006">
              <mc:Choice xmlns:v="urn:schemas-microsoft-com:vml" Requires="v">
                <p:oleObj spid="_x0000_s83995" name="CS ChemDraw Drawing" r:id="rId5" imgW="3363256" imgH="536351" progId="ChemDraw.Document.6.0">
                  <p:embed/>
                </p:oleObj>
              </mc:Choice>
              <mc:Fallback>
                <p:oleObj name="CS ChemDraw Drawing" r:id="rId5" imgW="3363256" imgH="536351" progId="ChemDraw.Document.6.0">
                  <p:embed/>
                  <p:pic>
                    <p:nvPicPr>
                      <p:cNvPr id="0" name=""/>
                      <p:cNvPicPr/>
                      <p:nvPr/>
                    </p:nvPicPr>
                    <p:blipFill>
                      <a:blip r:embed="rId6"/>
                      <a:stretch>
                        <a:fillRect/>
                      </a:stretch>
                    </p:blipFill>
                    <p:spPr>
                      <a:xfrm>
                        <a:off x="835292" y="3005291"/>
                        <a:ext cx="7152597" cy="1140905"/>
                      </a:xfrm>
                      <a:prstGeom prst="rect">
                        <a:avLst/>
                      </a:prstGeom>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1958437289"/>
              </p:ext>
            </p:extLst>
          </p:nvPr>
        </p:nvGraphicFramePr>
        <p:xfrm>
          <a:off x="300093" y="5048522"/>
          <a:ext cx="8411431" cy="1516743"/>
        </p:xfrm>
        <a:graphic>
          <a:graphicData uri="http://schemas.openxmlformats.org/presentationml/2006/ole">
            <mc:AlternateContent xmlns:mc="http://schemas.openxmlformats.org/markup-compatibility/2006">
              <mc:Choice xmlns:v="urn:schemas-microsoft-com:vml" Requires="v">
                <p:oleObj spid="_x0000_s83996" name="CS ChemDraw Drawing" r:id="rId7" imgW="6065224" imgH="1094109" progId="ChemDraw.Document.6.0">
                  <p:embed/>
                </p:oleObj>
              </mc:Choice>
              <mc:Fallback>
                <p:oleObj name="CS ChemDraw Drawing" r:id="rId7" imgW="6065224" imgH="1094109" progId="ChemDraw.Document.6.0">
                  <p:embed/>
                  <p:pic>
                    <p:nvPicPr>
                      <p:cNvPr id="0" name=""/>
                      <p:cNvPicPr/>
                      <p:nvPr/>
                    </p:nvPicPr>
                    <p:blipFill>
                      <a:blip r:embed="rId8"/>
                      <a:stretch>
                        <a:fillRect/>
                      </a:stretch>
                    </p:blipFill>
                    <p:spPr>
                      <a:xfrm>
                        <a:off x="300093" y="5048522"/>
                        <a:ext cx="8411431" cy="1516743"/>
                      </a:xfrm>
                      <a:prstGeom prst="rect">
                        <a:avLst/>
                      </a:prstGeom>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556173922"/>
              </p:ext>
            </p:extLst>
          </p:nvPr>
        </p:nvGraphicFramePr>
        <p:xfrm>
          <a:off x="8990740" y="4275478"/>
          <a:ext cx="2731524" cy="1586046"/>
        </p:xfrm>
        <a:graphic>
          <a:graphicData uri="http://schemas.openxmlformats.org/presentationml/2006/ole">
            <mc:AlternateContent xmlns:mc="http://schemas.openxmlformats.org/markup-compatibility/2006">
              <mc:Choice xmlns:v="urn:schemas-microsoft-com:vml" Requires="v">
                <p:oleObj spid="_x0000_s83997" name="CS ChemDraw Drawing" r:id="rId9" imgW="1869440" imgH="1086180" progId="ChemDraw.Document.6.0">
                  <p:embed/>
                </p:oleObj>
              </mc:Choice>
              <mc:Fallback>
                <p:oleObj name="CS ChemDraw Drawing" r:id="rId9" imgW="1869440" imgH="1086180" progId="ChemDraw.Document.6.0">
                  <p:embed/>
                  <p:pic>
                    <p:nvPicPr>
                      <p:cNvPr id="0" name=""/>
                      <p:cNvPicPr/>
                      <p:nvPr/>
                    </p:nvPicPr>
                    <p:blipFill>
                      <a:blip r:embed="rId10"/>
                      <a:stretch>
                        <a:fillRect/>
                      </a:stretch>
                    </p:blipFill>
                    <p:spPr>
                      <a:xfrm>
                        <a:off x="8990740" y="4275478"/>
                        <a:ext cx="2731524" cy="1586046"/>
                      </a:xfrm>
                      <a:prstGeom prst="rect">
                        <a:avLst/>
                      </a:prstGeom>
                    </p:spPr>
                  </p:pic>
                </p:oleObj>
              </mc:Fallback>
            </mc:AlternateContent>
          </a:graphicData>
        </a:graphic>
      </p:graphicFrame>
      <p:sp>
        <p:nvSpPr>
          <p:cNvPr id="22" name="圆角矩形 21"/>
          <p:cNvSpPr/>
          <p:nvPr/>
        </p:nvSpPr>
        <p:spPr>
          <a:xfrm>
            <a:off x="8832304" y="4005064"/>
            <a:ext cx="2952328" cy="2012364"/>
          </a:xfrm>
          <a:prstGeom prst="roundRect">
            <a:avLst/>
          </a:prstGeom>
          <a:no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18</a:t>
            </a:fld>
            <a:endParaRPr lang="zh-CN" altLang="en-US"/>
          </a:p>
        </p:txBody>
      </p:sp>
      <p:sp>
        <p:nvSpPr>
          <p:cNvPr id="3" name="TextBox 2"/>
          <p:cNvSpPr txBox="1"/>
          <p:nvPr/>
        </p:nvSpPr>
        <p:spPr>
          <a:xfrm>
            <a:off x="335360" y="782702"/>
            <a:ext cx="11161240" cy="2308324"/>
          </a:xfrm>
          <a:prstGeom prst="rect">
            <a:avLst/>
          </a:prstGeom>
          <a:noFill/>
        </p:spPr>
        <p:txBody>
          <a:bodyPr wrap="square" rtlCol="0">
            <a:spAutoFit/>
          </a:bodyPr>
          <a:lstStyle/>
          <a:p>
            <a:pPr>
              <a:buFont typeface="Arial" pitchFamily="34" charset="0"/>
              <a:buChar char="•"/>
            </a:pPr>
            <a:r>
              <a:rPr lang="en-US" altLang="zh-CN" b="1" dirty="0">
                <a:latin typeface="Microsoft Sans Serif" pitchFamily="34" charset="0"/>
                <a:cs typeface="Microsoft Sans Serif" pitchFamily="34" charset="0"/>
              </a:rPr>
              <a:t> The S</a:t>
            </a:r>
            <a:r>
              <a:rPr lang="en-US" altLang="zh-CN" b="1" baseline="-25000" dirty="0">
                <a:latin typeface="Microsoft Sans Serif" pitchFamily="34" charset="0"/>
                <a:cs typeface="Microsoft Sans Serif" pitchFamily="34" charset="0"/>
              </a:rPr>
              <a:t>N</a:t>
            </a:r>
            <a:r>
              <a:rPr lang="en-US" altLang="zh-CN" b="1" dirty="0">
                <a:latin typeface="Microsoft Sans Serif" pitchFamily="34" charset="0"/>
                <a:cs typeface="Microsoft Sans Serif" pitchFamily="34" charset="0"/>
              </a:rPr>
              <a:t>2 reaction requires </a:t>
            </a:r>
            <a:r>
              <a:rPr lang="en-US" altLang="zh-CN" b="1" dirty="0">
                <a:solidFill>
                  <a:srgbClr val="0000FF"/>
                </a:solidFill>
                <a:latin typeface="Microsoft Sans Serif" pitchFamily="34" charset="0"/>
                <a:cs typeface="Microsoft Sans Serif" pitchFamily="34" charset="0"/>
              </a:rPr>
              <a:t>attack</a:t>
            </a:r>
            <a:r>
              <a:rPr lang="en-US" altLang="zh-CN" b="1" dirty="0">
                <a:latin typeface="Microsoft Sans Serif" pitchFamily="34" charset="0"/>
                <a:cs typeface="Microsoft Sans Serif" pitchFamily="34" charset="0"/>
              </a:rPr>
              <a:t> by a nucleophile on the </a:t>
            </a:r>
            <a:r>
              <a:rPr lang="en-US" altLang="zh-CN" b="1" dirty="0">
                <a:solidFill>
                  <a:srgbClr val="0000FF"/>
                </a:solidFill>
                <a:latin typeface="Microsoft Sans Serif" pitchFamily="34" charset="0"/>
                <a:cs typeface="Microsoft Sans Serif" pitchFamily="34" charset="0"/>
              </a:rPr>
              <a:t>back side </a:t>
            </a:r>
            <a:r>
              <a:rPr lang="en-US" altLang="zh-CN" b="1" dirty="0">
                <a:latin typeface="Microsoft Sans Serif" pitchFamily="34" charset="0"/>
                <a:cs typeface="Microsoft Sans Serif" pitchFamily="34" charset="0"/>
              </a:rPr>
              <a:t>of an electrophilic carbon atom.</a:t>
            </a:r>
          </a:p>
          <a:p>
            <a:pPr>
              <a:buFont typeface="Arial" pitchFamily="34" charset="0"/>
              <a:buChar char="•"/>
            </a:pPr>
            <a:endParaRPr lang="en-US" altLang="zh-CN" b="1" dirty="0">
              <a:latin typeface="Microsoft Sans Serif" pitchFamily="34" charset="0"/>
              <a:cs typeface="Microsoft Sans Serif" pitchFamily="34" charset="0"/>
            </a:endParaRPr>
          </a:p>
          <a:p>
            <a:pPr>
              <a:buFont typeface="Arial" pitchFamily="34" charset="0"/>
              <a:buChar char="•"/>
            </a:pPr>
            <a:r>
              <a:rPr lang="en-US" altLang="zh-CN" b="1" dirty="0">
                <a:latin typeface="Microsoft Sans Serif" pitchFamily="34" charset="0"/>
                <a:cs typeface="Microsoft Sans Serif" pitchFamily="34" charset="0"/>
              </a:rPr>
              <a:t> </a:t>
            </a:r>
            <a:r>
              <a:rPr lang="en-US" altLang="zh-CN" b="1" dirty="0">
                <a:solidFill>
                  <a:srgbClr val="0000FF"/>
                </a:solidFill>
                <a:latin typeface="Microsoft Sans Serif" pitchFamily="34" charset="0"/>
                <a:cs typeface="Microsoft Sans Serif" pitchFamily="34" charset="0"/>
              </a:rPr>
              <a:t>Back-side attack </a:t>
            </a:r>
            <a:r>
              <a:rPr lang="en-US" altLang="zh-CN" b="1" dirty="0">
                <a:latin typeface="Microsoft Sans Serif" pitchFamily="34" charset="0"/>
                <a:cs typeface="Microsoft Sans Serif" pitchFamily="34" charset="0"/>
              </a:rPr>
              <a:t>turns the tetrahedron of the carbon atom inside out, like an umbrella caught by the wind.</a:t>
            </a:r>
          </a:p>
          <a:p>
            <a:pPr>
              <a:buFont typeface="Arial" pitchFamily="34" charset="0"/>
              <a:buChar char="•"/>
            </a:pPr>
            <a:endParaRPr lang="en-US" altLang="zh-CN" b="1" dirty="0">
              <a:latin typeface="Microsoft Sans Serif" pitchFamily="34" charset="0"/>
              <a:cs typeface="Microsoft Sans Serif" pitchFamily="34" charset="0"/>
            </a:endParaRPr>
          </a:p>
          <a:p>
            <a:pPr>
              <a:buFont typeface="Arial" pitchFamily="34" charset="0"/>
              <a:buChar char="•"/>
            </a:pPr>
            <a:r>
              <a:rPr lang="en-US" altLang="zh-CN" b="1" dirty="0">
                <a:latin typeface="Microsoft Sans Serif" pitchFamily="34" charset="0"/>
                <a:cs typeface="Microsoft Sans Serif" pitchFamily="34" charset="0"/>
              </a:rPr>
              <a:t> In the product, the nucleophile assumes a stereochemical position opposite the position the leaving group originally occupied. </a:t>
            </a:r>
          </a:p>
          <a:p>
            <a:pPr>
              <a:buFont typeface="Arial" pitchFamily="34" charset="0"/>
              <a:buChar char="•"/>
            </a:pPr>
            <a:endParaRPr lang="en-US" altLang="zh-CN" b="1" dirty="0">
              <a:latin typeface="Microsoft Sans Serif" pitchFamily="34" charset="0"/>
              <a:cs typeface="Microsoft Sans Serif" pitchFamily="34" charset="0"/>
            </a:endParaRPr>
          </a:p>
          <a:p>
            <a:pPr>
              <a:buFont typeface="Arial" pitchFamily="34" charset="0"/>
              <a:buChar char="•"/>
            </a:pPr>
            <a:r>
              <a:rPr lang="en-US" altLang="zh-CN" b="1" dirty="0">
                <a:latin typeface="Microsoft Sans Serif" pitchFamily="34" charset="0"/>
                <a:cs typeface="Microsoft Sans Serif" pitchFamily="34" charset="0"/>
              </a:rPr>
              <a:t> We call this result an </a:t>
            </a:r>
            <a:r>
              <a:rPr lang="en-US" altLang="zh-CN" b="1" dirty="0">
                <a:solidFill>
                  <a:srgbClr val="FF0000"/>
                </a:solidFill>
                <a:latin typeface="Microsoft Sans Serif" pitchFamily="34" charset="0"/>
                <a:cs typeface="Microsoft Sans Serif" pitchFamily="34" charset="0"/>
              </a:rPr>
              <a:t>inversion of configuration </a:t>
            </a:r>
            <a:r>
              <a:rPr lang="en-US" altLang="zh-CN" b="1" dirty="0">
                <a:solidFill>
                  <a:srgbClr val="0000FF"/>
                </a:solidFill>
                <a:latin typeface="Microsoft Sans Serif" pitchFamily="34" charset="0"/>
                <a:cs typeface="Microsoft Sans Serif" pitchFamily="34" charset="0"/>
              </a:rPr>
              <a:t>at the carbon atom</a:t>
            </a:r>
            <a:r>
              <a:rPr lang="en-US" altLang="zh-CN" b="1" dirty="0">
                <a:latin typeface="Microsoft Sans Serif" pitchFamily="34" charset="0"/>
                <a:cs typeface="Microsoft Sans Serif" pitchFamily="34" charset="0"/>
              </a:rPr>
              <a:t>.</a:t>
            </a:r>
            <a:endParaRPr lang="zh-CN" altLang="en-US" b="1" dirty="0">
              <a:latin typeface="Microsoft Sans Serif" pitchFamily="34" charset="0"/>
              <a:cs typeface="Microsoft Sans Serif" pitchFamily="34" charset="0"/>
            </a:endParaRPr>
          </a:p>
        </p:txBody>
      </p:sp>
      <p:sp>
        <p:nvSpPr>
          <p:cNvPr id="5" name="矩形 4"/>
          <p:cNvSpPr/>
          <p:nvPr/>
        </p:nvSpPr>
        <p:spPr>
          <a:xfrm>
            <a:off x="0" y="195027"/>
            <a:ext cx="5968301" cy="461665"/>
          </a:xfrm>
          <a:prstGeom prst="rect">
            <a:avLst/>
          </a:prstGeom>
          <a:solidFill>
            <a:schemeClr val="tx2">
              <a:lumMod val="20000"/>
              <a:lumOff val="80000"/>
            </a:schemeClr>
          </a:solidFill>
        </p:spPr>
        <p:txBody>
          <a:bodyPr wrap="none">
            <a:spAutoFit/>
          </a:bodyPr>
          <a:lstStyle/>
          <a:p>
            <a:r>
              <a:rPr lang="en-US" altLang="zh-CN" sz="2400" b="1" dirty="0">
                <a:latin typeface="Microsoft Sans Serif" pitchFamily="34" charset="0"/>
                <a:cs typeface="Microsoft Sans Serif" pitchFamily="34" charset="0"/>
              </a:rPr>
              <a:t>7-6-3 Stereochemistry of the S</a:t>
            </a:r>
            <a:r>
              <a:rPr lang="en-US" altLang="zh-CN" sz="2400" b="1" baseline="-25000" dirty="0">
                <a:latin typeface="Microsoft Sans Serif" pitchFamily="34" charset="0"/>
                <a:cs typeface="Microsoft Sans Serif" pitchFamily="34" charset="0"/>
              </a:rPr>
              <a:t>N</a:t>
            </a:r>
            <a:r>
              <a:rPr lang="en-US" altLang="zh-CN" sz="2400" b="1" dirty="0">
                <a:latin typeface="Microsoft Sans Serif" pitchFamily="34" charset="0"/>
                <a:cs typeface="Microsoft Sans Serif" pitchFamily="34" charset="0"/>
              </a:rPr>
              <a:t>2 Reaction</a:t>
            </a:r>
          </a:p>
        </p:txBody>
      </p:sp>
      <p:graphicFrame>
        <p:nvGraphicFramePr>
          <p:cNvPr id="6" name="对象 5"/>
          <p:cNvGraphicFramePr>
            <a:graphicFrameLocks noChangeAspect="1"/>
          </p:cNvGraphicFramePr>
          <p:nvPr>
            <p:extLst>
              <p:ext uri="{D42A27DB-BD31-4B8C-83A1-F6EECF244321}">
                <p14:modId xmlns:p14="http://schemas.microsoft.com/office/powerpoint/2010/main" val="3077014501"/>
              </p:ext>
            </p:extLst>
          </p:nvPr>
        </p:nvGraphicFramePr>
        <p:xfrm>
          <a:off x="4439816" y="5301208"/>
          <a:ext cx="6784019" cy="1296144"/>
        </p:xfrm>
        <a:graphic>
          <a:graphicData uri="http://schemas.openxmlformats.org/presentationml/2006/ole">
            <mc:AlternateContent xmlns:mc="http://schemas.openxmlformats.org/markup-compatibility/2006">
              <mc:Choice xmlns:v="urn:schemas-microsoft-com:vml" Requires="v">
                <p:oleObj spid="_x0000_s36713" name="CS ChemDraw Drawing" r:id="rId3" imgW="4544578" imgH="868151" progId="ChemDraw.Document.6.0">
                  <p:embed/>
                </p:oleObj>
              </mc:Choice>
              <mc:Fallback>
                <p:oleObj name="CS ChemDraw Drawing" r:id="rId3" imgW="4544578" imgH="868151" progId="ChemDraw.Document.6.0">
                  <p:embed/>
                  <p:pic>
                    <p:nvPicPr>
                      <p:cNvPr id="0" name=""/>
                      <p:cNvPicPr/>
                      <p:nvPr/>
                    </p:nvPicPr>
                    <p:blipFill>
                      <a:blip r:embed="rId4"/>
                      <a:stretch>
                        <a:fillRect/>
                      </a:stretch>
                    </p:blipFill>
                    <p:spPr>
                      <a:xfrm>
                        <a:off x="4439816" y="5301208"/>
                        <a:ext cx="6784019" cy="1296144"/>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794381672"/>
              </p:ext>
            </p:extLst>
          </p:nvPr>
        </p:nvGraphicFramePr>
        <p:xfrm>
          <a:off x="1487488" y="3217036"/>
          <a:ext cx="6657533" cy="1868148"/>
        </p:xfrm>
        <a:graphic>
          <a:graphicData uri="http://schemas.openxmlformats.org/presentationml/2006/ole">
            <mc:AlternateContent xmlns:mc="http://schemas.openxmlformats.org/markup-compatibility/2006">
              <mc:Choice xmlns:v="urn:schemas-microsoft-com:vml" Requires="v">
                <p:oleObj spid="_x0000_s36714" name="CS ChemDraw Drawing" r:id="rId5" imgW="4396222" imgH="1234044" progId="ChemDraw.Document.6.0">
                  <p:embed/>
                </p:oleObj>
              </mc:Choice>
              <mc:Fallback>
                <p:oleObj name="CS ChemDraw Drawing" r:id="rId5" imgW="4396222" imgH="1234044" progId="ChemDraw.Document.6.0">
                  <p:embed/>
                  <p:pic>
                    <p:nvPicPr>
                      <p:cNvPr id="0" name=""/>
                      <p:cNvPicPr/>
                      <p:nvPr/>
                    </p:nvPicPr>
                    <p:blipFill>
                      <a:blip r:embed="rId6"/>
                      <a:stretch>
                        <a:fillRect/>
                      </a:stretch>
                    </p:blipFill>
                    <p:spPr>
                      <a:xfrm>
                        <a:off x="1487488" y="3217036"/>
                        <a:ext cx="6657533" cy="1868148"/>
                      </a:xfrm>
                      <a:prstGeom prst="rect">
                        <a:avLst/>
                      </a:prstGeom>
                    </p:spPr>
                  </p:pic>
                </p:oleObj>
              </mc:Fallback>
            </mc:AlternateContent>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19</a:t>
            </a:fld>
            <a:endParaRPr lang="zh-CN" altLang="en-US"/>
          </a:p>
        </p:txBody>
      </p:sp>
      <p:sp>
        <p:nvSpPr>
          <p:cNvPr id="3" name="TextBox 2"/>
          <p:cNvSpPr txBox="1"/>
          <p:nvPr/>
        </p:nvSpPr>
        <p:spPr>
          <a:xfrm>
            <a:off x="479376" y="908720"/>
            <a:ext cx="11161240" cy="3139321"/>
          </a:xfrm>
          <a:prstGeom prst="rect">
            <a:avLst/>
          </a:prstGeom>
          <a:noFill/>
        </p:spPr>
        <p:txBody>
          <a:bodyPr wrap="square" rtlCol="0">
            <a:spAutoFit/>
          </a:bodyPr>
          <a:lstStyle/>
          <a:p>
            <a:pPr>
              <a:buFont typeface="Arial" pitchFamily="34" charset="0"/>
              <a:buChar char="•"/>
            </a:pPr>
            <a:r>
              <a:rPr lang="en-US" altLang="zh-CN" b="1" dirty="0">
                <a:latin typeface="Microsoft Sans Serif" pitchFamily="34" charset="0"/>
                <a:cs typeface="Microsoft Sans Serif" pitchFamily="34" charset="0"/>
              </a:rPr>
              <a:t> </a:t>
            </a:r>
            <a:r>
              <a:rPr lang="en-US" altLang="zh-CN" b="1" i="1" dirty="0">
                <a:solidFill>
                  <a:srgbClr val="0000FF"/>
                </a:solidFill>
                <a:latin typeface="Microsoft Sans Serif" pitchFamily="34" charset="0"/>
                <a:cs typeface="Microsoft Sans Serif" pitchFamily="34" charset="0"/>
              </a:rPr>
              <a:t>t</a:t>
            </a:r>
            <a:r>
              <a:rPr lang="en-US" altLang="zh-CN" b="1" dirty="0">
                <a:solidFill>
                  <a:srgbClr val="0000FF"/>
                </a:solidFill>
                <a:latin typeface="Microsoft Sans Serif" pitchFamily="34" charset="0"/>
                <a:cs typeface="Microsoft Sans Serif" pitchFamily="34" charset="0"/>
              </a:rPr>
              <a:t>-Butyl bromide </a:t>
            </a:r>
            <a:r>
              <a:rPr lang="en-US" altLang="zh-CN" b="1" dirty="0">
                <a:latin typeface="Microsoft Sans Serif" pitchFamily="34" charset="0"/>
                <a:cs typeface="Microsoft Sans Serif" pitchFamily="34" charset="0"/>
              </a:rPr>
              <a:t>is a highly hindered tertiary halide, and therefore not a substrate for S</a:t>
            </a:r>
            <a:r>
              <a:rPr lang="en-US" altLang="zh-CN" b="1" baseline="-25000" dirty="0">
                <a:latin typeface="Microsoft Sans Serif" pitchFamily="34" charset="0"/>
                <a:cs typeface="Microsoft Sans Serif" pitchFamily="34" charset="0"/>
              </a:rPr>
              <a:t>N</a:t>
            </a:r>
            <a:r>
              <a:rPr lang="en-US" altLang="zh-CN" b="1" dirty="0">
                <a:latin typeface="Microsoft Sans Serif" pitchFamily="34" charset="0"/>
                <a:cs typeface="Microsoft Sans Serif" pitchFamily="34" charset="0"/>
              </a:rPr>
              <a:t>2 reactions. </a:t>
            </a:r>
            <a:r>
              <a:rPr lang="en-US" altLang="zh-CN" b="1" dirty="0">
                <a:solidFill>
                  <a:srgbClr val="FF0000"/>
                </a:solidFill>
                <a:latin typeface="Microsoft Sans Serif" pitchFamily="34" charset="0"/>
                <a:cs typeface="Microsoft Sans Serif" pitchFamily="34" charset="0"/>
              </a:rPr>
              <a:t>However</a:t>
            </a:r>
            <a:r>
              <a:rPr lang="en-US" altLang="zh-CN" b="1" dirty="0">
                <a:latin typeface="Microsoft Sans Serif" pitchFamily="34" charset="0"/>
                <a:cs typeface="Microsoft Sans Serif" pitchFamily="34" charset="0"/>
              </a:rPr>
              <a:t>, it is </a:t>
            </a:r>
            <a:r>
              <a:rPr lang="en-US" altLang="zh-CN" b="1" dirty="0">
                <a:solidFill>
                  <a:srgbClr val="0000FF"/>
                </a:solidFill>
                <a:latin typeface="Microsoft Sans Serif" pitchFamily="34" charset="0"/>
                <a:cs typeface="Microsoft Sans Serif" pitchFamily="34" charset="0"/>
              </a:rPr>
              <a:t>a very good substrate for S</a:t>
            </a:r>
            <a:r>
              <a:rPr lang="en-US" altLang="zh-CN" b="1" baseline="-25000" dirty="0">
                <a:solidFill>
                  <a:srgbClr val="0000FF"/>
                </a:solidFill>
                <a:latin typeface="Microsoft Sans Serif" pitchFamily="34" charset="0"/>
                <a:cs typeface="Microsoft Sans Serif" pitchFamily="34" charset="0"/>
              </a:rPr>
              <a:t>N</a:t>
            </a:r>
            <a:r>
              <a:rPr lang="en-US" altLang="zh-CN" b="1" dirty="0">
                <a:solidFill>
                  <a:srgbClr val="0000FF"/>
                </a:solidFill>
                <a:latin typeface="Microsoft Sans Serif" pitchFamily="34" charset="0"/>
                <a:cs typeface="Microsoft Sans Serif" pitchFamily="34" charset="0"/>
              </a:rPr>
              <a:t>1 reactions</a:t>
            </a:r>
            <a:r>
              <a:rPr lang="en-US" altLang="zh-CN" b="1" dirty="0">
                <a:latin typeface="Microsoft Sans Serif" pitchFamily="34" charset="0"/>
                <a:cs typeface="Microsoft Sans Serif" pitchFamily="34" charset="0"/>
              </a:rPr>
              <a:t>.</a:t>
            </a:r>
          </a:p>
          <a:p>
            <a:pPr>
              <a:buFont typeface="Arial" pitchFamily="34" charset="0"/>
              <a:buChar char="•"/>
            </a:pPr>
            <a:endParaRPr lang="en-US" altLang="zh-CN" b="1" dirty="0">
              <a:latin typeface="Microsoft Sans Serif" pitchFamily="34" charset="0"/>
              <a:cs typeface="Microsoft Sans Serif" pitchFamily="34" charset="0"/>
            </a:endParaRPr>
          </a:p>
          <a:p>
            <a:pPr>
              <a:buFont typeface="Arial" pitchFamily="34" charset="0"/>
              <a:buChar char="•"/>
            </a:pPr>
            <a:endParaRPr lang="en-US" altLang="zh-CN" b="1" dirty="0">
              <a:latin typeface="Microsoft Sans Serif" pitchFamily="34" charset="0"/>
              <a:cs typeface="Microsoft Sans Serif" pitchFamily="34" charset="0"/>
            </a:endParaRPr>
          </a:p>
          <a:p>
            <a:pPr>
              <a:buFont typeface="Arial" pitchFamily="34" charset="0"/>
              <a:buChar char="•"/>
            </a:pPr>
            <a:endParaRPr lang="en-US" altLang="zh-CN" b="1" dirty="0">
              <a:latin typeface="Microsoft Sans Serif" pitchFamily="34" charset="0"/>
              <a:cs typeface="Microsoft Sans Serif" pitchFamily="34" charset="0"/>
            </a:endParaRPr>
          </a:p>
          <a:p>
            <a:pPr>
              <a:buFont typeface="Arial" pitchFamily="34" charset="0"/>
              <a:buChar char="•"/>
            </a:pPr>
            <a:endParaRPr lang="en-US" altLang="zh-CN" b="1" dirty="0">
              <a:latin typeface="Microsoft Sans Serif" pitchFamily="34" charset="0"/>
              <a:cs typeface="Microsoft Sans Serif" pitchFamily="34" charset="0"/>
            </a:endParaRPr>
          </a:p>
          <a:p>
            <a:pPr>
              <a:buFont typeface="Arial" pitchFamily="34" charset="0"/>
              <a:buChar char="•"/>
            </a:pPr>
            <a:endParaRPr lang="en-US" altLang="zh-CN" b="1" dirty="0">
              <a:latin typeface="Microsoft Sans Serif" pitchFamily="34" charset="0"/>
              <a:cs typeface="Microsoft Sans Serif" pitchFamily="34" charset="0"/>
            </a:endParaRPr>
          </a:p>
          <a:p>
            <a:pPr>
              <a:buFont typeface="Arial" pitchFamily="34" charset="0"/>
              <a:buChar char="•"/>
            </a:pPr>
            <a:endParaRPr lang="en-US" altLang="zh-CN" b="1" dirty="0">
              <a:latin typeface="Microsoft Sans Serif" pitchFamily="34" charset="0"/>
              <a:cs typeface="Microsoft Sans Serif" pitchFamily="34" charset="0"/>
            </a:endParaRPr>
          </a:p>
          <a:p>
            <a:pPr>
              <a:buFont typeface="Arial" pitchFamily="34" charset="0"/>
              <a:buChar char="•"/>
            </a:pPr>
            <a:endParaRPr lang="en-US" altLang="zh-CN" b="1" dirty="0">
              <a:latin typeface="Microsoft Sans Serif" pitchFamily="34" charset="0"/>
              <a:cs typeface="Microsoft Sans Serif" pitchFamily="34" charset="0"/>
            </a:endParaRPr>
          </a:p>
          <a:p>
            <a:pPr>
              <a:buFont typeface="Arial" pitchFamily="34" charset="0"/>
              <a:buChar char="•"/>
            </a:pPr>
            <a:r>
              <a:rPr lang="en-US" altLang="zh-CN" b="1" dirty="0">
                <a:latin typeface="Microsoft Sans Serif" pitchFamily="34" charset="0"/>
                <a:cs typeface="Microsoft Sans Serif" pitchFamily="34" charset="0"/>
              </a:rPr>
              <a:t> When </a:t>
            </a:r>
            <a:r>
              <a:rPr lang="en-US" altLang="zh-CN" b="1" i="1" dirty="0">
                <a:latin typeface="Microsoft Sans Serif" pitchFamily="34" charset="0"/>
                <a:cs typeface="Microsoft Sans Serif" pitchFamily="34" charset="0"/>
              </a:rPr>
              <a:t>t</a:t>
            </a:r>
            <a:r>
              <a:rPr lang="en-US" altLang="zh-CN" b="1" dirty="0">
                <a:latin typeface="Microsoft Sans Serif" pitchFamily="34" charset="0"/>
                <a:cs typeface="Microsoft Sans Serif" pitchFamily="34" charset="0"/>
              </a:rPr>
              <a:t>-butyl bromide is </a:t>
            </a:r>
            <a:r>
              <a:rPr lang="en-US" altLang="zh-CN" b="1" dirty="0">
                <a:solidFill>
                  <a:srgbClr val="FF0000"/>
                </a:solidFill>
                <a:latin typeface="Microsoft Sans Serif" pitchFamily="34" charset="0"/>
                <a:cs typeface="Microsoft Sans Serif" pitchFamily="34" charset="0"/>
              </a:rPr>
              <a:t>placed in boiling methanol</a:t>
            </a:r>
            <a:r>
              <a:rPr lang="en-US" altLang="zh-CN" b="1" dirty="0">
                <a:latin typeface="Microsoft Sans Serif" pitchFamily="34" charset="0"/>
                <a:cs typeface="Microsoft Sans Serif" pitchFamily="34" charset="0"/>
              </a:rPr>
              <a:t>, methyl </a:t>
            </a:r>
            <a:r>
              <a:rPr lang="en-US" altLang="zh-CN" b="1" i="1" dirty="0">
                <a:latin typeface="Microsoft Sans Serif" pitchFamily="34" charset="0"/>
                <a:cs typeface="Microsoft Sans Serif" pitchFamily="34" charset="0"/>
              </a:rPr>
              <a:t>t</a:t>
            </a:r>
            <a:r>
              <a:rPr lang="en-US" altLang="zh-CN" b="1" dirty="0">
                <a:latin typeface="Microsoft Sans Serif" pitchFamily="34" charset="0"/>
                <a:cs typeface="Microsoft Sans Serif" pitchFamily="34" charset="0"/>
              </a:rPr>
              <a:t>-butyl ether is produced. The reaction goes by the </a:t>
            </a:r>
            <a:r>
              <a:rPr lang="en-US" altLang="zh-CN" b="1" dirty="0">
                <a:solidFill>
                  <a:srgbClr val="FF0000"/>
                </a:solidFill>
                <a:latin typeface="Microsoft Sans Serif" pitchFamily="34" charset="0"/>
                <a:cs typeface="Microsoft Sans Serif" pitchFamily="34" charset="0"/>
              </a:rPr>
              <a:t>S</a:t>
            </a:r>
            <a:r>
              <a:rPr lang="en-US" altLang="zh-CN" b="1" baseline="-25000" dirty="0">
                <a:solidFill>
                  <a:srgbClr val="FF0000"/>
                </a:solidFill>
                <a:latin typeface="Microsoft Sans Serif" pitchFamily="34" charset="0"/>
                <a:cs typeface="Microsoft Sans Serif" pitchFamily="34" charset="0"/>
              </a:rPr>
              <a:t>N</a:t>
            </a:r>
            <a:r>
              <a:rPr lang="en-US" altLang="zh-CN" b="1" dirty="0">
                <a:solidFill>
                  <a:srgbClr val="FF0000"/>
                </a:solidFill>
                <a:latin typeface="Microsoft Sans Serif" pitchFamily="34" charset="0"/>
                <a:cs typeface="Microsoft Sans Serif" pitchFamily="34" charset="0"/>
              </a:rPr>
              <a:t>1 mechanism</a:t>
            </a:r>
            <a:r>
              <a:rPr lang="en-US" altLang="zh-CN" b="1" dirty="0">
                <a:latin typeface="Microsoft Sans Serif" pitchFamily="34" charset="0"/>
                <a:cs typeface="Microsoft Sans Serif" pitchFamily="34" charset="0"/>
              </a:rPr>
              <a:t>.</a:t>
            </a:r>
            <a:endParaRPr lang="zh-CN" altLang="en-US" b="1" dirty="0">
              <a:latin typeface="Microsoft Sans Serif" pitchFamily="34" charset="0"/>
              <a:cs typeface="Microsoft Sans Serif" pitchFamily="34" charset="0"/>
            </a:endParaRPr>
          </a:p>
        </p:txBody>
      </p:sp>
      <p:sp>
        <p:nvSpPr>
          <p:cNvPr id="5" name="矩形 4"/>
          <p:cNvSpPr/>
          <p:nvPr/>
        </p:nvSpPr>
        <p:spPr>
          <a:xfrm>
            <a:off x="0" y="260648"/>
            <a:ext cx="9706503" cy="523220"/>
          </a:xfrm>
          <a:prstGeom prst="rect">
            <a:avLst/>
          </a:prstGeom>
          <a:solidFill>
            <a:schemeClr val="tx2">
              <a:lumMod val="20000"/>
              <a:lumOff val="80000"/>
            </a:schemeClr>
          </a:solidFill>
          <a:ln>
            <a:noFill/>
          </a:ln>
        </p:spPr>
        <p:txBody>
          <a:bodyPr wrap="none">
            <a:spAutoFit/>
          </a:bodyPr>
          <a:lstStyle/>
          <a:p>
            <a:r>
              <a:rPr lang="en-US" altLang="zh-CN" sz="2800" b="1" dirty="0">
                <a:latin typeface="Microsoft Sans Serif" pitchFamily="34" charset="0"/>
                <a:cs typeface="Microsoft Sans Serif" pitchFamily="34" charset="0"/>
              </a:rPr>
              <a:t>7-7 First-Order Nucleophilic Substitution: </a:t>
            </a:r>
            <a:r>
              <a:rPr lang="en-US" altLang="zh-CN" sz="2800" b="1" dirty="0">
                <a:solidFill>
                  <a:srgbClr val="FF0000"/>
                </a:solidFill>
                <a:latin typeface="Microsoft Sans Serif" pitchFamily="34" charset="0"/>
                <a:cs typeface="Microsoft Sans Serif" pitchFamily="34" charset="0"/>
              </a:rPr>
              <a:t>The S</a:t>
            </a:r>
            <a:r>
              <a:rPr lang="en-US" altLang="zh-CN" sz="2800" b="1" baseline="-25000" dirty="0">
                <a:solidFill>
                  <a:srgbClr val="FF0000"/>
                </a:solidFill>
                <a:latin typeface="Microsoft Sans Serif" pitchFamily="34" charset="0"/>
                <a:cs typeface="Microsoft Sans Serif" pitchFamily="34" charset="0"/>
              </a:rPr>
              <a:t>N</a:t>
            </a:r>
            <a:r>
              <a:rPr lang="en-US" altLang="zh-CN" sz="2800" b="1" dirty="0">
                <a:solidFill>
                  <a:srgbClr val="FF0000"/>
                </a:solidFill>
                <a:latin typeface="Microsoft Sans Serif" pitchFamily="34" charset="0"/>
                <a:cs typeface="Microsoft Sans Serif" pitchFamily="34" charset="0"/>
              </a:rPr>
              <a:t>1 Reaction</a:t>
            </a:r>
            <a:r>
              <a:rPr lang="en-US" altLang="zh-CN" sz="2800" b="1" dirty="0">
                <a:solidFill>
                  <a:srgbClr val="0000FF"/>
                </a:solidFill>
                <a:latin typeface="Microsoft Sans Serif" pitchFamily="34" charset="0"/>
                <a:cs typeface="Microsoft Sans Serif" pitchFamily="34" charset="0"/>
              </a:rPr>
              <a:t> </a:t>
            </a:r>
          </a:p>
        </p:txBody>
      </p:sp>
      <p:sp>
        <p:nvSpPr>
          <p:cNvPr id="7" name="TextBox 6"/>
          <p:cNvSpPr txBox="1"/>
          <p:nvPr/>
        </p:nvSpPr>
        <p:spPr>
          <a:xfrm>
            <a:off x="479376" y="5481124"/>
            <a:ext cx="11161240" cy="1200329"/>
          </a:xfrm>
          <a:prstGeom prst="rect">
            <a:avLst/>
          </a:prstGeom>
          <a:noFill/>
        </p:spPr>
        <p:txBody>
          <a:bodyPr wrap="square" rtlCol="0">
            <a:spAutoFit/>
          </a:bodyPr>
          <a:lstStyle/>
          <a:p>
            <a:pPr>
              <a:buFont typeface="Arial" pitchFamily="34" charset="0"/>
              <a:buChar char="•"/>
            </a:pPr>
            <a:r>
              <a:rPr lang="en-US" altLang="zh-CN" b="1" dirty="0">
                <a:latin typeface="Microsoft Sans Serif" pitchFamily="34" charset="0"/>
                <a:cs typeface="Microsoft Sans Serif" pitchFamily="34" charset="0"/>
              </a:rPr>
              <a:t> </a:t>
            </a:r>
            <a:r>
              <a:rPr lang="en-US" altLang="zh-CN" b="1" dirty="0">
                <a:solidFill>
                  <a:srgbClr val="0000FF"/>
                </a:solidFill>
                <a:latin typeface="Microsoft Sans Serif" pitchFamily="34" charset="0"/>
                <a:cs typeface="Microsoft Sans Serif" pitchFamily="34" charset="0"/>
              </a:rPr>
              <a:t>The S</a:t>
            </a:r>
            <a:r>
              <a:rPr lang="en-US" altLang="zh-CN" b="1" baseline="-25000" dirty="0">
                <a:solidFill>
                  <a:srgbClr val="0000FF"/>
                </a:solidFill>
                <a:latin typeface="Microsoft Sans Serif" pitchFamily="34" charset="0"/>
                <a:cs typeface="Microsoft Sans Serif" pitchFamily="34" charset="0"/>
              </a:rPr>
              <a:t>N</a:t>
            </a:r>
            <a:r>
              <a:rPr lang="en-US" altLang="zh-CN" b="1" dirty="0">
                <a:solidFill>
                  <a:srgbClr val="0000FF"/>
                </a:solidFill>
                <a:latin typeface="Microsoft Sans Serif" pitchFamily="34" charset="0"/>
                <a:cs typeface="Microsoft Sans Serif" pitchFamily="34" charset="0"/>
              </a:rPr>
              <a:t>1 reaction is first order overall</a:t>
            </a:r>
            <a:r>
              <a:rPr lang="en-US" altLang="zh-CN" b="1" dirty="0">
                <a:latin typeface="Microsoft Sans Serif" pitchFamily="34" charset="0"/>
                <a:cs typeface="Microsoft Sans Serif" pitchFamily="34" charset="0"/>
              </a:rPr>
              <a:t>:  rate = </a:t>
            </a:r>
            <a:r>
              <a:rPr lang="en-US" altLang="zh-CN" b="1" i="1" dirty="0">
                <a:latin typeface="Microsoft Sans Serif" pitchFamily="34" charset="0"/>
                <a:cs typeface="Microsoft Sans Serif" pitchFamily="34" charset="0"/>
              </a:rPr>
              <a:t>k</a:t>
            </a:r>
            <a:r>
              <a:rPr lang="en-US" altLang="zh-CN" b="1" dirty="0">
                <a:latin typeface="Microsoft Sans Serif" pitchFamily="34" charset="0"/>
                <a:cs typeface="Microsoft Sans Serif" pitchFamily="34" charset="0"/>
              </a:rPr>
              <a:t>[(CH</a:t>
            </a:r>
            <a:r>
              <a:rPr lang="en-US" altLang="zh-CN" b="1" baseline="-25000" dirty="0">
                <a:latin typeface="Microsoft Sans Serif" pitchFamily="34" charset="0"/>
                <a:cs typeface="Microsoft Sans Serif" pitchFamily="34" charset="0"/>
              </a:rPr>
              <a:t>3</a:t>
            </a:r>
            <a:r>
              <a:rPr lang="en-US" altLang="zh-CN" b="1" dirty="0">
                <a:latin typeface="Microsoft Sans Serif" pitchFamily="34" charset="0"/>
                <a:cs typeface="Microsoft Sans Serif" pitchFamily="34" charset="0"/>
              </a:rPr>
              <a:t>)</a:t>
            </a:r>
            <a:r>
              <a:rPr lang="en-US" altLang="zh-CN" b="1" baseline="-25000" dirty="0">
                <a:latin typeface="Microsoft Sans Serif" pitchFamily="34" charset="0"/>
                <a:cs typeface="Microsoft Sans Serif" pitchFamily="34" charset="0"/>
              </a:rPr>
              <a:t>3</a:t>
            </a:r>
            <a:r>
              <a:rPr lang="en-US" altLang="zh-CN" b="1" dirty="0">
                <a:latin typeface="Microsoft Sans Serif" pitchFamily="34" charset="0"/>
                <a:cs typeface="Microsoft Sans Serif" pitchFamily="34" charset="0"/>
              </a:rPr>
              <a:t>CBr]. The rate does not depend on the concentration of the nucleophile CH</a:t>
            </a:r>
            <a:r>
              <a:rPr lang="en-US" altLang="zh-CN" b="1" baseline="-25000" dirty="0">
                <a:latin typeface="Microsoft Sans Serif" pitchFamily="34" charset="0"/>
                <a:cs typeface="Microsoft Sans Serif" pitchFamily="34" charset="0"/>
              </a:rPr>
              <a:t>3</a:t>
            </a:r>
            <a:r>
              <a:rPr lang="en-US" altLang="zh-CN" b="1" dirty="0">
                <a:latin typeface="Microsoft Sans Serif" pitchFamily="34" charset="0"/>
                <a:cs typeface="Microsoft Sans Serif" pitchFamily="34" charset="0"/>
              </a:rPr>
              <a:t>OH.</a:t>
            </a:r>
          </a:p>
          <a:p>
            <a:pPr>
              <a:buFont typeface="Arial" pitchFamily="34" charset="0"/>
              <a:buChar char="•"/>
            </a:pPr>
            <a:endParaRPr lang="en-US" altLang="zh-CN" b="1" dirty="0">
              <a:latin typeface="Microsoft Sans Serif" pitchFamily="34" charset="0"/>
              <a:cs typeface="Microsoft Sans Serif" pitchFamily="34" charset="0"/>
            </a:endParaRPr>
          </a:p>
          <a:p>
            <a:pPr>
              <a:buFont typeface="Arial" pitchFamily="34" charset="0"/>
              <a:buChar char="•"/>
            </a:pPr>
            <a:r>
              <a:rPr lang="en-US" altLang="zh-CN" b="1" dirty="0">
                <a:latin typeface="Microsoft Sans Serif" pitchFamily="34" charset="0"/>
                <a:cs typeface="Microsoft Sans Serif" pitchFamily="34" charset="0"/>
              </a:rPr>
              <a:t> The abbreviation S</a:t>
            </a:r>
            <a:r>
              <a:rPr lang="en-US" altLang="zh-CN" b="1" baseline="-25000" dirty="0">
                <a:latin typeface="Microsoft Sans Serif" pitchFamily="34" charset="0"/>
                <a:cs typeface="Microsoft Sans Serif" pitchFamily="34" charset="0"/>
              </a:rPr>
              <a:t>N</a:t>
            </a:r>
            <a:r>
              <a:rPr lang="en-US" altLang="zh-CN" b="1" dirty="0">
                <a:latin typeface="Microsoft Sans Serif" pitchFamily="34" charset="0"/>
                <a:cs typeface="Microsoft Sans Serif" pitchFamily="34" charset="0"/>
              </a:rPr>
              <a:t>1 stands for Substitution, Nucleophilic, </a:t>
            </a:r>
            <a:r>
              <a:rPr lang="en-US" altLang="zh-CN" b="1" dirty="0" err="1">
                <a:latin typeface="Microsoft Sans Serif" pitchFamily="34" charset="0"/>
                <a:cs typeface="Microsoft Sans Serif" pitchFamily="34" charset="0"/>
              </a:rPr>
              <a:t>unimolecular</a:t>
            </a:r>
            <a:r>
              <a:rPr lang="en-US" altLang="zh-CN" b="1" dirty="0">
                <a:latin typeface="Microsoft Sans Serif" pitchFamily="34" charset="0"/>
                <a:cs typeface="Microsoft Sans Serif" pitchFamily="34" charset="0"/>
              </a:rPr>
              <a:t>.</a:t>
            </a:r>
          </a:p>
        </p:txBody>
      </p:sp>
      <p:graphicFrame>
        <p:nvGraphicFramePr>
          <p:cNvPr id="4" name="对象 3"/>
          <p:cNvGraphicFramePr>
            <a:graphicFrameLocks noChangeAspect="1"/>
          </p:cNvGraphicFramePr>
          <p:nvPr>
            <p:extLst>
              <p:ext uri="{D42A27DB-BD31-4B8C-83A1-F6EECF244321}">
                <p14:modId xmlns:p14="http://schemas.microsoft.com/office/powerpoint/2010/main" val="1987323704"/>
              </p:ext>
            </p:extLst>
          </p:nvPr>
        </p:nvGraphicFramePr>
        <p:xfrm>
          <a:off x="5735960" y="1451292"/>
          <a:ext cx="2677841" cy="1728192"/>
        </p:xfrm>
        <a:graphic>
          <a:graphicData uri="http://schemas.openxmlformats.org/presentationml/2006/ole">
            <mc:AlternateContent xmlns:mc="http://schemas.openxmlformats.org/markup-compatibility/2006">
              <mc:Choice xmlns:v="urn:schemas-microsoft-com:vml" Requires="v">
                <p:oleObj spid="_x0000_s40614" name="CS ChemDraw Drawing" r:id="rId3" imgW="1987020" imgH="1283199" progId="ChemDraw.Document.6.0">
                  <p:embed/>
                </p:oleObj>
              </mc:Choice>
              <mc:Fallback>
                <p:oleObj name="CS ChemDraw Drawing" r:id="rId3" imgW="1987020" imgH="1283199" progId="ChemDraw.Document.6.0">
                  <p:embed/>
                  <p:pic>
                    <p:nvPicPr>
                      <p:cNvPr id="0" name=""/>
                      <p:cNvPicPr/>
                      <p:nvPr/>
                    </p:nvPicPr>
                    <p:blipFill>
                      <a:blip r:embed="rId4"/>
                      <a:stretch>
                        <a:fillRect/>
                      </a:stretch>
                    </p:blipFill>
                    <p:spPr>
                      <a:xfrm>
                        <a:off x="5735960" y="1451292"/>
                        <a:ext cx="2677841" cy="1728192"/>
                      </a:xfrm>
                      <a:prstGeom prst="rect">
                        <a:avLst/>
                      </a:prstGeom>
                      <a:ln>
                        <a:solidFill>
                          <a:schemeClr val="bg1">
                            <a:lumMod val="65000"/>
                          </a:schemeClr>
                        </a:solidFill>
                      </a:ln>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1496699416"/>
              </p:ext>
            </p:extLst>
          </p:nvPr>
        </p:nvGraphicFramePr>
        <p:xfrm>
          <a:off x="2351584" y="4130675"/>
          <a:ext cx="7269132" cy="1267814"/>
        </p:xfrm>
        <a:graphic>
          <a:graphicData uri="http://schemas.openxmlformats.org/presentationml/2006/ole">
            <mc:AlternateContent xmlns:mc="http://schemas.openxmlformats.org/markup-compatibility/2006">
              <mc:Choice xmlns:v="urn:schemas-microsoft-com:vml" Requires="v">
                <p:oleObj spid="_x0000_s40615" name="CS ChemDraw Drawing" r:id="rId5" imgW="4578116" imgH="798382" progId="ChemDraw.Document.6.0">
                  <p:embed/>
                </p:oleObj>
              </mc:Choice>
              <mc:Fallback>
                <p:oleObj name="CS ChemDraw Drawing" r:id="rId5" imgW="4578116" imgH="798382" progId="ChemDraw.Document.6.0">
                  <p:embed/>
                  <p:pic>
                    <p:nvPicPr>
                      <p:cNvPr id="0" name=""/>
                      <p:cNvPicPr/>
                      <p:nvPr/>
                    </p:nvPicPr>
                    <p:blipFill>
                      <a:blip r:embed="rId6"/>
                      <a:stretch>
                        <a:fillRect/>
                      </a:stretch>
                    </p:blipFill>
                    <p:spPr>
                      <a:xfrm>
                        <a:off x="2351584" y="4130675"/>
                        <a:ext cx="7269132" cy="1267814"/>
                      </a:xfrm>
                      <a:prstGeom prst="rect">
                        <a:avLst/>
                      </a:prstGeom>
                    </p:spPr>
                  </p:pic>
                </p:oleObj>
              </mc:Fallback>
            </mc:AlternateContent>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20</a:t>
            </a:fld>
            <a:endParaRPr lang="zh-CN" altLang="en-US"/>
          </a:p>
        </p:txBody>
      </p:sp>
      <p:sp>
        <p:nvSpPr>
          <p:cNvPr id="8" name="矩形 7"/>
          <p:cNvSpPr/>
          <p:nvPr/>
        </p:nvSpPr>
        <p:spPr>
          <a:xfrm>
            <a:off x="407368" y="768505"/>
            <a:ext cx="11175032" cy="923330"/>
          </a:xfrm>
          <a:prstGeom prst="rect">
            <a:avLst/>
          </a:prstGeom>
        </p:spPr>
        <p:txBody>
          <a:bodyPr wrap="square">
            <a:spAutoFit/>
          </a:bodyPr>
          <a:lstStyle/>
          <a:p>
            <a:pPr>
              <a:buFont typeface="Arial" pitchFamily="34" charset="0"/>
              <a:buChar char="•"/>
            </a:pPr>
            <a:r>
              <a:rPr lang="en-US" altLang="zh-CN" b="1" dirty="0">
                <a:latin typeface="Microsoft Sans Serif" pitchFamily="34" charset="0"/>
                <a:cs typeface="Microsoft Sans Serif" pitchFamily="34" charset="0"/>
              </a:rPr>
              <a:t> The S</a:t>
            </a:r>
            <a:r>
              <a:rPr lang="en-US" altLang="zh-CN" b="1" baseline="-25000" dirty="0">
                <a:latin typeface="Microsoft Sans Serif" pitchFamily="34" charset="0"/>
                <a:cs typeface="Microsoft Sans Serif" pitchFamily="34" charset="0"/>
              </a:rPr>
              <a:t>N</a:t>
            </a:r>
            <a:r>
              <a:rPr lang="en-US" altLang="zh-CN" b="1" dirty="0">
                <a:latin typeface="Microsoft Sans Serif" pitchFamily="34" charset="0"/>
                <a:cs typeface="Microsoft Sans Serif" pitchFamily="34" charset="0"/>
              </a:rPr>
              <a:t>1 reaction of </a:t>
            </a:r>
            <a:r>
              <a:rPr lang="en-US" altLang="zh-CN" b="1" i="1" dirty="0">
                <a:latin typeface="Microsoft Sans Serif" pitchFamily="34" charset="0"/>
                <a:cs typeface="Microsoft Sans Serif" pitchFamily="34" charset="0"/>
              </a:rPr>
              <a:t>t</a:t>
            </a:r>
            <a:r>
              <a:rPr lang="en-US" altLang="zh-CN" b="1" dirty="0">
                <a:latin typeface="Microsoft Sans Serif" pitchFamily="34" charset="0"/>
                <a:cs typeface="Microsoft Sans Serif" pitchFamily="34" charset="0"/>
              </a:rPr>
              <a:t>-butyl bromide with boiling methanol involves </a:t>
            </a:r>
            <a:r>
              <a:rPr lang="en-US" altLang="zh-CN" b="1" u="sng" dirty="0">
                <a:solidFill>
                  <a:srgbClr val="0000FF"/>
                </a:solidFill>
                <a:latin typeface="Microsoft Sans Serif" pitchFamily="34" charset="0"/>
                <a:cs typeface="Microsoft Sans Serif" pitchFamily="34" charset="0"/>
              </a:rPr>
              <a:t>3 steps</a:t>
            </a:r>
            <a:r>
              <a:rPr lang="en-US" altLang="zh-CN" b="1" dirty="0">
                <a:latin typeface="Microsoft Sans Serif" pitchFamily="34" charset="0"/>
                <a:cs typeface="Microsoft Sans Serif" pitchFamily="34" charset="0"/>
              </a:rPr>
              <a:t>:</a:t>
            </a:r>
          </a:p>
          <a:p>
            <a:pPr>
              <a:buFont typeface="Arial" pitchFamily="34" charset="0"/>
              <a:buChar char="•"/>
            </a:pPr>
            <a:endParaRPr lang="en-US" altLang="zh-CN" b="1" dirty="0">
              <a:latin typeface="Microsoft Sans Serif" pitchFamily="34" charset="0"/>
              <a:cs typeface="Microsoft Sans Serif" pitchFamily="34" charset="0"/>
            </a:endParaRPr>
          </a:p>
          <a:p>
            <a:pPr>
              <a:buSzPct val="60000"/>
            </a:pPr>
            <a:r>
              <a:rPr lang="en-US" altLang="zh-CN" b="1" u="sng" dirty="0">
                <a:solidFill>
                  <a:srgbClr val="0000FF"/>
                </a:solidFill>
                <a:latin typeface="Microsoft Sans Serif" pitchFamily="34" charset="0"/>
                <a:cs typeface="Microsoft Sans Serif" pitchFamily="34" charset="0"/>
              </a:rPr>
              <a:t>Step 1</a:t>
            </a:r>
            <a:r>
              <a:rPr lang="en-US" altLang="zh-CN" b="1" dirty="0">
                <a:latin typeface="Microsoft Sans Serif" pitchFamily="34" charset="0"/>
                <a:cs typeface="Microsoft Sans Serif" pitchFamily="34" charset="0"/>
              </a:rPr>
              <a:t>: Ionization of the alkyl halide to form a</a:t>
            </a:r>
            <a:r>
              <a:rPr lang="en-US" altLang="zh-CN" b="1" dirty="0">
                <a:solidFill>
                  <a:srgbClr val="FF0000"/>
                </a:solidFill>
                <a:latin typeface="Microsoft Sans Serif" pitchFamily="34" charset="0"/>
                <a:cs typeface="Microsoft Sans Serif" pitchFamily="34" charset="0"/>
              </a:rPr>
              <a:t> carbocation</a:t>
            </a:r>
            <a:r>
              <a:rPr lang="en-US" altLang="zh-CN" b="1" dirty="0">
                <a:latin typeface="Microsoft Sans Serif" pitchFamily="34" charset="0"/>
                <a:cs typeface="Microsoft Sans Serif" pitchFamily="34" charset="0"/>
              </a:rPr>
              <a:t> (</a:t>
            </a:r>
            <a:r>
              <a:rPr lang="en-US" altLang="zh-CN" b="1" dirty="0">
                <a:solidFill>
                  <a:srgbClr val="0000FF"/>
                </a:solidFill>
                <a:latin typeface="Microsoft Sans Serif" pitchFamily="34" charset="0"/>
                <a:cs typeface="Microsoft Sans Serif" pitchFamily="34" charset="0"/>
              </a:rPr>
              <a:t>slow, rate-limiting step</a:t>
            </a:r>
            <a:r>
              <a:rPr lang="en-US" altLang="zh-CN" b="1" dirty="0">
                <a:latin typeface="Microsoft Sans Serif" pitchFamily="34" charset="0"/>
                <a:cs typeface="Microsoft Sans Serif" pitchFamily="34" charset="0"/>
              </a:rPr>
              <a:t>).</a:t>
            </a:r>
            <a:endParaRPr lang="zh-CN" altLang="en-US" b="1" dirty="0">
              <a:latin typeface="Microsoft Sans Serif" pitchFamily="34" charset="0"/>
              <a:cs typeface="Microsoft Sans Serif" pitchFamily="34" charset="0"/>
            </a:endParaRPr>
          </a:p>
        </p:txBody>
      </p:sp>
      <p:sp>
        <p:nvSpPr>
          <p:cNvPr id="9" name="矩形 8"/>
          <p:cNvSpPr/>
          <p:nvPr/>
        </p:nvSpPr>
        <p:spPr>
          <a:xfrm>
            <a:off x="0" y="204608"/>
            <a:ext cx="4945585" cy="400110"/>
          </a:xfrm>
          <a:prstGeom prst="rect">
            <a:avLst/>
          </a:prstGeom>
          <a:solidFill>
            <a:schemeClr val="tx2">
              <a:lumMod val="20000"/>
              <a:lumOff val="80000"/>
            </a:schemeClr>
          </a:solidFill>
        </p:spPr>
        <p:txBody>
          <a:bodyPr wrap="none">
            <a:spAutoFit/>
          </a:bodyPr>
          <a:lstStyle/>
          <a:p>
            <a:r>
              <a:rPr lang="en-US" altLang="zh-CN" sz="2000" b="1" dirty="0">
                <a:latin typeface="Microsoft Sans Serif" pitchFamily="34" charset="0"/>
                <a:cs typeface="Microsoft Sans Serif" pitchFamily="34" charset="0"/>
              </a:rPr>
              <a:t>7-7-1</a:t>
            </a:r>
            <a:r>
              <a:rPr lang="en-US" altLang="zh-CN" sz="2000" dirty="0">
                <a:latin typeface="Microsoft Sans Serif" pitchFamily="34" charset="0"/>
                <a:cs typeface="Microsoft Sans Serif" pitchFamily="34" charset="0"/>
              </a:rPr>
              <a:t> </a:t>
            </a:r>
            <a:r>
              <a:rPr lang="en-US" altLang="zh-CN" sz="2000" b="1" dirty="0">
                <a:solidFill>
                  <a:srgbClr val="FF0000"/>
                </a:solidFill>
                <a:latin typeface="Microsoft Sans Serif" pitchFamily="34" charset="0"/>
                <a:cs typeface="Microsoft Sans Serif" pitchFamily="34" charset="0"/>
              </a:rPr>
              <a:t>The mechanism </a:t>
            </a:r>
            <a:r>
              <a:rPr lang="en-US" altLang="zh-CN" sz="2000" b="1" dirty="0">
                <a:latin typeface="Microsoft Sans Serif" pitchFamily="34" charset="0"/>
                <a:cs typeface="Microsoft Sans Serif" pitchFamily="34" charset="0"/>
              </a:rPr>
              <a:t>of </a:t>
            </a:r>
            <a:r>
              <a:rPr lang="en-US" altLang="zh-CN" sz="2000" b="1" dirty="0">
                <a:solidFill>
                  <a:srgbClr val="0000FF"/>
                </a:solidFill>
                <a:latin typeface="Microsoft Sans Serif" pitchFamily="34" charset="0"/>
                <a:cs typeface="Microsoft Sans Serif" pitchFamily="34" charset="0"/>
              </a:rPr>
              <a:t>the S</a:t>
            </a:r>
            <a:r>
              <a:rPr lang="en-US" altLang="zh-CN" sz="2000" b="1" baseline="-25000" dirty="0">
                <a:solidFill>
                  <a:srgbClr val="0000FF"/>
                </a:solidFill>
                <a:latin typeface="Microsoft Sans Serif" pitchFamily="34" charset="0"/>
                <a:cs typeface="Microsoft Sans Serif" pitchFamily="34" charset="0"/>
              </a:rPr>
              <a:t>N</a:t>
            </a:r>
            <a:r>
              <a:rPr lang="en-US" altLang="zh-CN" sz="2000" b="1" dirty="0">
                <a:solidFill>
                  <a:srgbClr val="0000FF"/>
                </a:solidFill>
                <a:latin typeface="Microsoft Sans Serif" pitchFamily="34" charset="0"/>
                <a:cs typeface="Microsoft Sans Serif" pitchFamily="34" charset="0"/>
              </a:rPr>
              <a:t>1 reaction </a:t>
            </a:r>
          </a:p>
        </p:txBody>
      </p:sp>
      <p:sp>
        <p:nvSpPr>
          <p:cNvPr id="10" name="TextBox 9"/>
          <p:cNvSpPr txBox="1"/>
          <p:nvPr/>
        </p:nvSpPr>
        <p:spPr>
          <a:xfrm>
            <a:off x="407368" y="3569168"/>
            <a:ext cx="7848872" cy="369332"/>
          </a:xfrm>
          <a:prstGeom prst="rect">
            <a:avLst/>
          </a:prstGeom>
          <a:noFill/>
        </p:spPr>
        <p:txBody>
          <a:bodyPr wrap="square" rtlCol="0">
            <a:spAutoFit/>
          </a:bodyPr>
          <a:lstStyle/>
          <a:p>
            <a:pPr>
              <a:buSzPct val="60000"/>
            </a:pPr>
            <a:r>
              <a:rPr lang="en-US" altLang="zh-CN" b="1" u="sng" dirty="0">
                <a:solidFill>
                  <a:srgbClr val="0000FF"/>
                </a:solidFill>
                <a:latin typeface="Microsoft Sans Serif" pitchFamily="34" charset="0"/>
                <a:cs typeface="Microsoft Sans Serif" pitchFamily="34" charset="0"/>
              </a:rPr>
              <a:t>Step 2</a:t>
            </a:r>
            <a:r>
              <a:rPr lang="en-US" altLang="zh-CN" b="1" dirty="0">
                <a:latin typeface="Microsoft Sans Serif" pitchFamily="34" charset="0"/>
                <a:cs typeface="Microsoft Sans Serif" pitchFamily="34" charset="0"/>
              </a:rPr>
              <a:t>: A fast attack on the carbocation by the nucleophile CH</a:t>
            </a:r>
            <a:r>
              <a:rPr lang="en-US" altLang="zh-CN" b="1" baseline="-25000" dirty="0">
                <a:latin typeface="Microsoft Sans Serif" pitchFamily="34" charset="0"/>
                <a:cs typeface="Microsoft Sans Serif" pitchFamily="34" charset="0"/>
              </a:rPr>
              <a:t>3</a:t>
            </a:r>
            <a:r>
              <a:rPr lang="en-US" altLang="zh-CN" b="1" dirty="0">
                <a:latin typeface="Microsoft Sans Serif" pitchFamily="34" charset="0"/>
                <a:cs typeface="Microsoft Sans Serif" pitchFamily="34" charset="0"/>
              </a:rPr>
              <a:t>OH.</a:t>
            </a:r>
            <a:endParaRPr lang="zh-CN" altLang="en-US" b="1" dirty="0">
              <a:latin typeface="Microsoft Sans Serif" pitchFamily="34" charset="0"/>
              <a:cs typeface="Microsoft Sans Serif" pitchFamily="34" charset="0"/>
            </a:endParaRPr>
          </a:p>
        </p:txBody>
      </p:sp>
      <p:sp>
        <p:nvSpPr>
          <p:cNvPr id="12" name="TextBox 11"/>
          <p:cNvSpPr txBox="1"/>
          <p:nvPr/>
        </p:nvSpPr>
        <p:spPr>
          <a:xfrm>
            <a:off x="396230" y="5539172"/>
            <a:ext cx="6984776" cy="369332"/>
          </a:xfrm>
          <a:prstGeom prst="rect">
            <a:avLst/>
          </a:prstGeom>
          <a:noFill/>
        </p:spPr>
        <p:txBody>
          <a:bodyPr wrap="square" rtlCol="0">
            <a:spAutoFit/>
          </a:bodyPr>
          <a:lstStyle/>
          <a:p>
            <a:pPr>
              <a:buSzPct val="60000"/>
            </a:pPr>
            <a:r>
              <a:rPr lang="en-US" altLang="zh-CN" b="1" u="sng" dirty="0">
                <a:solidFill>
                  <a:srgbClr val="0000FF"/>
                </a:solidFill>
                <a:latin typeface="Microsoft Sans Serif" pitchFamily="34" charset="0"/>
                <a:cs typeface="Microsoft Sans Serif" pitchFamily="34" charset="0"/>
              </a:rPr>
              <a:t>Step 3</a:t>
            </a:r>
            <a:r>
              <a:rPr lang="en-US" altLang="zh-CN" b="1" dirty="0">
                <a:latin typeface="Microsoft Sans Serif" pitchFamily="34" charset="0"/>
                <a:cs typeface="Microsoft Sans Serif" pitchFamily="34" charset="0"/>
              </a:rPr>
              <a:t>: Loss of a proton to give the final uncharged product.</a:t>
            </a:r>
            <a:endParaRPr lang="zh-CN" altLang="en-US" b="1" dirty="0">
              <a:latin typeface="Microsoft Sans Serif" pitchFamily="34" charset="0"/>
              <a:cs typeface="Microsoft Sans Serif" pitchFamily="34" charset="0"/>
            </a:endParaRPr>
          </a:p>
        </p:txBody>
      </p:sp>
      <p:graphicFrame>
        <p:nvGraphicFramePr>
          <p:cNvPr id="40966" name="Object 6"/>
          <p:cNvGraphicFramePr>
            <a:graphicFrameLocks noChangeAspect="1"/>
          </p:cNvGraphicFramePr>
          <p:nvPr>
            <p:extLst>
              <p:ext uri="{D42A27DB-BD31-4B8C-83A1-F6EECF244321}">
                <p14:modId xmlns:p14="http://schemas.microsoft.com/office/powerpoint/2010/main" val="3275226892"/>
              </p:ext>
            </p:extLst>
          </p:nvPr>
        </p:nvGraphicFramePr>
        <p:xfrm>
          <a:off x="3473130" y="5984750"/>
          <a:ext cx="3907876" cy="728513"/>
        </p:xfrm>
        <a:graphic>
          <a:graphicData uri="http://schemas.openxmlformats.org/presentationml/2006/ole">
            <mc:AlternateContent xmlns:mc="http://schemas.openxmlformats.org/markup-compatibility/2006">
              <mc:Choice xmlns:v="urn:schemas-microsoft-com:vml" Requires="v">
                <p:oleObj spid="_x0000_s78106" name="CS ChemDraw Drawing" r:id="rId3" imgW="2853036" imgH="531792" progId="ChemDraw.Document.6.0">
                  <p:embed/>
                </p:oleObj>
              </mc:Choice>
              <mc:Fallback>
                <p:oleObj name="CS ChemDraw Drawing" r:id="rId3" imgW="2853036" imgH="531792" progId="ChemDraw.Document.6.0">
                  <p:embed/>
                  <p:pic>
                    <p:nvPicPr>
                      <p:cNvPr id="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73130" y="5984750"/>
                        <a:ext cx="3907876" cy="728513"/>
                      </a:xfrm>
                      <a:prstGeom prst="rect">
                        <a:avLst/>
                      </a:prstGeom>
                      <a:noFill/>
                      <a:ln>
                        <a:noFill/>
                      </a:ln>
                      <a:effectLst/>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3638155602"/>
              </p:ext>
            </p:extLst>
          </p:nvPr>
        </p:nvGraphicFramePr>
        <p:xfrm>
          <a:off x="2495599" y="1810420"/>
          <a:ext cx="4298529" cy="1690588"/>
        </p:xfrm>
        <a:graphic>
          <a:graphicData uri="http://schemas.openxmlformats.org/presentationml/2006/ole">
            <mc:AlternateContent xmlns:mc="http://schemas.openxmlformats.org/markup-compatibility/2006">
              <mc:Choice xmlns:v="urn:schemas-microsoft-com:vml" Requires="v">
                <p:oleObj spid="_x0000_s78107" name="CS ChemDraw Drawing" r:id="rId5" imgW="2983686" imgH="1173392" progId="ChemDraw.Document.6.0">
                  <p:embed/>
                </p:oleObj>
              </mc:Choice>
              <mc:Fallback>
                <p:oleObj name="CS ChemDraw Drawing" r:id="rId5" imgW="2983686" imgH="1173392" progId="ChemDraw.Document.6.0">
                  <p:embed/>
                  <p:pic>
                    <p:nvPicPr>
                      <p:cNvPr id="0" name=""/>
                      <p:cNvPicPr/>
                      <p:nvPr/>
                    </p:nvPicPr>
                    <p:blipFill>
                      <a:blip r:embed="rId6"/>
                      <a:stretch>
                        <a:fillRect/>
                      </a:stretch>
                    </p:blipFill>
                    <p:spPr>
                      <a:xfrm>
                        <a:off x="2495599" y="1810420"/>
                        <a:ext cx="4298529" cy="1690588"/>
                      </a:xfrm>
                      <a:prstGeom prst="rect">
                        <a:avLst/>
                      </a:prstGeom>
                    </p:spPr>
                  </p:pic>
                </p:oleObj>
              </mc:Fallback>
            </mc:AlternateContent>
          </a:graphicData>
        </a:graphic>
      </p:graphicFrame>
      <p:sp>
        <p:nvSpPr>
          <p:cNvPr id="4" name="文本框 3"/>
          <p:cNvSpPr txBox="1"/>
          <p:nvPr/>
        </p:nvSpPr>
        <p:spPr>
          <a:xfrm>
            <a:off x="7045412" y="2129327"/>
            <a:ext cx="3384376" cy="646331"/>
          </a:xfrm>
          <a:prstGeom prst="rect">
            <a:avLst/>
          </a:prstGeom>
          <a:noFill/>
        </p:spPr>
        <p:txBody>
          <a:bodyPr wrap="square" rtlCol="0">
            <a:spAutoFit/>
          </a:bodyPr>
          <a:lstStyle/>
          <a:p>
            <a:pPr marL="285750" indent="-285750">
              <a:buFont typeface="Arial" panose="020B0604020202020204" pitchFamily="34" charset="0"/>
              <a:buChar char="•"/>
            </a:pPr>
            <a:r>
              <a:rPr lang="en-US" altLang="zh-CN" b="1" dirty="0">
                <a:latin typeface="Consolas" panose="020B0609020204030204" pitchFamily="49" charset="0"/>
              </a:rPr>
              <a:t>The </a:t>
            </a:r>
            <a:r>
              <a:rPr lang="en-US" altLang="zh-CN" b="1" dirty="0">
                <a:solidFill>
                  <a:srgbClr val="FF0000"/>
                </a:solidFill>
                <a:latin typeface="Consolas" panose="020B0609020204030204" pitchFamily="49" charset="0"/>
              </a:rPr>
              <a:t>carbocation</a:t>
            </a:r>
            <a:r>
              <a:rPr lang="en-US" altLang="zh-CN" b="1" dirty="0">
                <a:latin typeface="Consolas" panose="020B0609020204030204" pitchFamily="49" charset="0"/>
              </a:rPr>
              <a:t> is a </a:t>
            </a:r>
            <a:r>
              <a:rPr lang="en-US" altLang="zh-CN" b="1" dirty="0">
                <a:solidFill>
                  <a:srgbClr val="0000FF"/>
                </a:solidFill>
                <a:latin typeface="Consolas" panose="020B0609020204030204" pitchFamily="49" charset="0"/>
              </a:rPr>
              <a:t>strong electrophile</a:t>
            </a:r>
            <a:r>
              <a:rPr lang="en-US" altLang="zh-CN" b="1" dirty="0">
                <a:latin typeface="Consolas" panose="020B0609020204030204" pitchFamily="49" charset="0"/>
              </a:rPr>
              <a:t>.</a:t>
            </a:r>
            <a:endParaRPr lang="zh-CN" altLang="en-US" b="1" dirty="0">
              <a:latin typeface="Consolas" panose="020B0609020204030204" pitchFamily="49"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4160590738"/>
              </p:ext>
            </p:extLst>
          </p:nvPr>
        </p:nvGraphicFramePr>
        <p:xfrm>
          <a:off x="2783632" y="4024007"/>
          <a:ext cx="5754504" cy="1416006"/>
        </p:xfrm>
        <a:graphic>
          <a:graphicData uri="http://schemas.openxmlformats.org/presentationml/2006/ole">
            <mc:AlternateContent xmlns:mc="http://schemas.openxmlformats.org/markup-compatibility/2006">
              <mc:Choice xmlns:v="urn:schemas-microsoft-com:vml" Requires="v">
                <p:oleObj spid="_x0000_s78108" name="CS ChemDraw Drawing" r:id="rId7" imgW="4038353" imgH="993419" progId="ChemDraw.Document.6.0">
                  <p:embed/>
                </p:oleObj>
              </mc:Choice>
              <mc:Fallback>
                <p:oleObj name="CS ChemDraw Drawing" r:id="rId7" imgW="4038353" imgH="993419" progId="ChemDraw.Document.6.0">
                  <p:embed/>
                  <p:pic>
                    <p:nvPicPr>
                      <p:cNvPr id="0" name=""/>
                      <p:cNvPicPr/>
                      <p:nvPr/>
                    </p:nvPicPr>
                    <p:blipFill>
                      <a:blip r:embed="rId8"/>
                      <a:stretch>
                        <a:fillRect/>
                      </a:stretch>
                    </p:blipFill>
                    <p:spPr>
                      <a:xfrm>
                        <a:off x="2783632" y="4024007"/>
                        <a:ext cx="5754504" cy="1416006"/>
                      </a:xfrm>
                      <a:prstGeom prst="rect">
                        <a:avLst/>
                      </a:prstGeom>
                    </p:spPr>
                  </p:pic>
                </p:oleObj>
              </mc:Fallback>
            </mc:AlternateContent>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21</a:t>
            </a:fld>
            <a:endParaRPr lang="zh-CN" altLang="en-US"/>
          </a:p>
        </p:txBody>
      </p:sp>
      <p:sp>
        <p:nvSpPr>
          <p:cNvPr id="3" name="TextBox 2"/>
          <p:cNvSpPr txBox="1"/>
          <p:nvPr/>
        </p:nvSpPr>
        <p:spPr>
          <a:xfrm>
            <a:off x="335360" y="638686"/>
            <a:ext cx="11449272" cy="1200329"/>
          </a:xfrm>
          <a:prstGeom prst="rect">
            <a:avLst/>
          </a:prstGeom>
          <a:noFill/>
        </p:spPr>
        <p:txBody>
          <a:bodyPr wrap="square" rtlCol="0">
            <a:spAutoFit/>
          </a:bodyPr>
          <a:lstStyle/>
          <a:p>
            <a:pPr>
              <a:buFont typeface="Arial" pitchFamily="34" charset="0"/>
              <a:buChar char="•"/>
            </a:pPr>
            <a:r>
              <a:rPr lang="en-US" altLang="zh-CN" b="1" dirty="0">
                <a:latin typeface="Microsoft Sans Serif" pitchFamily="34" charset="0"/>
                <a:cs typeface="Microsoft Sans Serif" pitchFamily="34" charset="0"/>
              </a:rPr>
              <a:t> The rate-limiting step of the S</a:t>
            </a:r>
            <a:r>
              <a:rPr lang="en-US" altLang="zh-CN" b="1" baseline="-25000" dirty="0">
                <a:latin typeface="Microsoft Sans Serif" pitchFamily="34" charset="0"/>
                <a:cs typeface="Microsoft Sans Serif" pitchFamily="34" charset="0"/>
              </a:rPr>
              <a:t>N</a:t>
            </a:r>
            <a:r>
              <a:rPr lang="en-US" altLang="zh-CN" b="1" dirty="0">
                <a:latin typeface="Microsoft Sans Serif" pitchFamily="34" charset="0"/>
                <a:cs typeface="Microsoft Sans Serif" pitchFamily="34" charset="0"/>
              </a:rPr>
              <a:t>1 reaction is ionization to form a carbocation. </a:t>
            </a:r>
            <a:r>
              <a:rPr lang="en-US" altLang="zh-CN" b="1" dirty="0">
                <a:solidFill>
                  <a:srgbClr val="FF0000"/>
                </a:solidFill>
                <a:latin typeface="Microsoft Sans Serif" pitchFamily="34" charset="0"/>
                <a:cs typeface="Microsoft Sans Serif" pitchFamily="34" charset="0"/>
              </a:rPr>
              <a:t>Rates of S</a:t>
            </a:r>
            <a:r>
              <a:rPr lang="en-US" altLang="zh-CN" b="1" baseline="-25000" dirty="0">
                <a:solidFill>
                  <a:srgbClr val="FF0000"/>
                </a:solidFill>
                <a:latin typeface="Microsoft Sans Serif" pitchFamily="34" charset="0"/>
                <a:cs typeface="Microsoft Sans Serif" pitchFamily="34" charset="0"/>
              </a:rPr>
              <a:t>N</a:t>
            </a:r>
            <a:r>
              <a:rPr lang="en-US" altLang="zh-CN" b="1" dirty="0">
                <a:solidFill>
                  <a:srgbClr val="FF0000"/>
                </a:solidFill>
                <a:latin typeface="Microsoft Sans Serif" pitchFamily="34" charset="0"/>
                <a:cs typeface="Microsoft Sans Serif" pitchFamily="34" charset="0"/>
              </a:rPr>
              <a:t>1 reactions depend strongly on carbocation stability</a:t>
            </a:r>
            <a:r>
              <a:rPr lang="en-US" altLang="zh-CN" b="1" dirty="0">
                <a:latin typeface="Microsoft Sans Serif" pitchFamily="34" charset="0"/>
                <a:cs typeface="Microsoft Sans Serif" pitchFamily="34" charset="0"/>
              </a:rPr>
              <a:t>.</a:t>
            </a:r>
          </a:p>
          <a:p>
            <a:pPr>
              <a:buFont typeface="Arial" pitchFamily="34" charset="0"/>
              <a:buChar char="•"/>
            </a:pPr>
            <a:r>
              <a:rPr lang="en-US" altLang="zh-CN" b="1" dirty="0">
                <a:latin typeface="Microsoft Sans Serif" pitchFamily="34" charset="0"/>
                <a:cs typeface="Microsoft Sans Serif" pitchFamily="34" charset="0"/>
              </a:rPr>
              <a:t>  Reactivity of alkyl halides toward S</a:t>
            </a:r>
            <a:r>
              <a:rPr lang="en-US" altLang="zh-CN" b="1" baseline="-25000" dirty="0">
                <a:latin typeface="Microsoft Sans Serif" pitchFamily="34" charset="0"/>
                <a:cs typeface="Microsoft Sans Serif" pitchFamily="34" charset="0"/>
              </a:rPr>
              <a:t>N</a:t>
            </a:r>
            <a:r>
              <a:rPr lang="en-US" altLang="zh-CN" b="1" dirty="0">
                <a:latin typeface="Microsoft Sans Serif" pitchFamily="34" charset="0"/>
                <a:cs typeface="Microsoft Sans Serif" pitchFamily="34" charset="0"/>
              </a:rPr>
              <a:t>1 mechanisms follows the stability of carbocations: </a:t>
            </a:r>
            <a:r>
              <a:rPr lang="en-US" altLang="zh-CN" b="1" dirty="0">
                <a:solidFill>
                  <a:srgbClr val="0000FF"/>
                </a:solidFill>
                <a:latin typeface="Microsoft Sans Serif" pitchFamily="34" charset="0"/>
                <a:cs typeface="Microsoft Sans Serif" pitchFamily="34" charset="0"/>
              </a:rPr>
              <a:t>3</a:t>
            </a:r>
            <a:r>
              <a:rPr lang="en-US" altLang="zh-CN" b="1" baseline="30000" dirty="0">
                <a:solidFill>
                  <a:srgbClr val="0000FF"/>
                </a:solidFill>
                <a:latin typeface="Microsoft Sans Serif" pitchFamily="34" charset="0"/>
                <a:cs typeface="Microsoft Sans Serif" pitchFamily="34" charset="0"/>
              </a:rPr>
              <a:t>o</a:t>
            </a:r>
            <a:r>
              <a:rPr lang="en-US" altLang="zh-CN" b="1" dirty="0">
                <a:solidFill>
                  <a:srgbClr val="0000FF"/>
                </a:solidFill>
                <a:latin typeface="Microsoft Sans Serif" pitchFamily="34" charset="0"/>
                <a:cs typeface="Microsoft Sans Serif" pitchFamily="34" charset="0"/>
              </a:rPr>
              <a:t>  &gt;  2</a:t>
            </a:r>
            <a:r>
              <a:rPr lang="en-US" altLang="zh-CN" b="1" baseline="30000" dirty="0">
                <a:solidFill>
                  <a:srgbClr val="0000FF"/>
                </a:solidFill>
                <a:latin typeface="Microsoft Sans Serif" pitchFamily="34" charset="0"/>
                <a:cs typeface="Microsoft Sans Serif" pitchFamily="34" charset="0"/>
              </a:rPr>
              <a:t>o</a:t>
            </a:r>
            <a:r>
              <a:rPr lang="en-US" altLang="zh-CN" b="1" dirty="0">
                <a:solidFill>
                  <a:srgbClr val="0000FF"/>
                </a:solidFill>
                <a:latin typeface="Microsoft Sans Serif" pitchFamily="34" charset="0"/>
                <a:cs typeface="Microsoft Sans Serif" pitchFamily="34" charset="0"/>
              </a:rPr>
              <a:t>  &gt;  1</a:t>
            </a:r>
            <a:r>
              <a:rPr lang="en-US" altLang="zh-CN" b="1" baseline="30000" dirty="0">
                <a:solidFill>
                  <a:srgbClr val="0000FF"/>
                </a:solidFill>
                <a:latin typeface="Microsoft Sans Serif" pitchFamily="34" charset="0"/>
                <a:cs typeface="Microsoft Sans Serif" pitchFamily="34" charset="0"/>
              </a:rPr>
              <a:t>o</a:t>
            </a:r>
            <a:r>
              <a:rPr lang="en-US" altLang="zh-CN" b="1" dirty="0">
                <a:solidFill>
                  <a:srgbClr val="0000FF"/>
                </a:solidFill>
                <a:latin typeface="Microsoft Sans Serif" pitchFamily="34" charset="0"/>
                <a:cs typeface="Microsoft Sans Serif" pitchFamily="34" charset="0"/>
              </a:rPr>
              <a:t>  &gt;  CH</a:t>
            </a:r>
            <a:r>
              <a:rPr lang="en-US" altLang="zh-CN" b="1" baseline="-25000" dirty="0">
                <a:solidFill>
                  <a:srgbClr val="0000FF"/>
                </a:solidFill>
                <a:latin typeface="Microsoft Sans Serif" pitchFamily="34" charset="0"/>
                <a:cs typeface="Microsoft Sans Serif" pitchFamily="34" charset="0"/>
              </a:rPr>
              <a:t>3</a:t>
            </a:r>
            <a:r>
              <a:rPr lang="en-US" altLang="zh-CN" b="1" dirty="0">
                <a:solidFill>
                  <a:srgbClr val="0000FF"/>
                </a:solidFill>
                <a:latin typeface="Microsoft Sans Serif" pitchFamily="34" charset="0"/>
                <a:cs typeface="Microsoft Sans Serif" pitchFamily="34" charset="0"/>
              </a:rPr>
              <a:t>X</a:t>
            </a:r>
            <a:r>
              <a:rPr lang="en-US" altLang="zh-CN" b="1" dirty="0">
                <a:latin typeface="Microsoft Sans Serif" pitchFamily="34" charset="0"/>
                <a:cs typeface="Microsoft Sans Serif" pitchFamily="34" charset="0"/>
              </a:rPr>
              <a:t>.</a:t>
            </a:r>
            <a:endParaRPr lang="zh-CN" altLang="en-US" b="1" dirty="0">
              <a:latin typeface="Microsoft Sans Serif" pitchFamily="34" charset="0"/>
              <a:cs typeface="Microsoft Sans Serif" pitchFamily="34" charset="0"/>
            </a:endParaRPr>
          </a:p>
        </p:txBody>
      </p:sp>
      <p:sp>
        <p:nvSpPr>
          <p:cNvPr id="9" name="矩形 8"/>
          <p:cNvSpPr/>
          <p:nvPr/>
        </p:nvSpPr>
        <p:spPr>
          <a:xfrm>
            <a:off x="0" y="238576"/>
            <a:ext cx="7622600" cy="400110"/>
          </a:xfrm>
          <a:prstGeom prst="rect">
            <a:avLst/>
          </a:prstGeom>
          <a:solidFill>
            <a:schemeClr val="tx2">
              <a:lumMod val="20000"/>
              <a:lumOff val="80000"/>
            </a:schemeClr>
          </a:solidFill>
        </p:spPr>
        <p:txBody>
          <a:bodyPr wrap="none">
            <a:spAutoFit/>
          </a:bodyPr>
          <a:lstStyle/>
          <a:p>
            <a:r>
              <a:rPr lang="en-US" altLang="zh-CN" sz="2000" b="1" dirty="0">
                <a:latin typeface="Microsoft Sans Serif" pitchFamily="34" charset="0"/>
                <a:cs typeface="Microsoft Sans Serif" pitchFamily="34" charset="0"/>
              </a:rPr>
              <a:t>7-7-2 </a:t>
            </a:r>
            <a:r>
              <a:rPr lang="en-US" altLang="zh-CN" sz="2000" b="1" dirty="0">
                <a:solidFill>
                  <a:srgbClr val="0000FF"/>
                </a:solidFill>
                <a:latin typeface="Microsoft Sans Serif" pitchFamily="34" charset="0"/>
                <a:cs typeface="Microsoft Sans Serif" pitchFamily="34" charset="0"/>
              </a:rPr>
              <a:t>Substitution Effects </a:t>
            </a:r>
            <a:r>
              <a:rPr lang="en-US" altLang="zh-CN" sz="2000" b="1" dirty="0">
                <a:latin typeface="Microsoft Sans Serif" pitchFamily="34" charset="0"/>
                <a:cs typeface="Microsoft Sans Serif" pitchFamily="34" charset="0"/>
              </a:rPr>
              <a:t>and </a:t>
            </a:r>
            <a:r>
              <a:rPr lang="en-US" altLang="zh-CN" sz="2000" b="1" dirty="0">
                <a:solidFill>
                  <a:srgbClr val="FF0000"/>
                </a:solidFill>
                <a:latin typeface="Microsoft Sans Serif" pitchFamily="34" charset="0"/>
                <a:cs typeface="Microsoft Sans Serif" pitchFamily="34" charset="0"/>
              </a:rPr>
              <a:t>the relative stability of carbocations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22</a:t>
            </a:fld>
            <a:endParaRPr lang="zh-CN" altLang="en-US"/>
          </a:p>
        </p:txBody>
      </p:sp>
      <p:sp>
        <p:nvSpPr>
          <p:cNvPr id="5" name="TextBox 4"/>
          <p:cNvSpPr txBox="1"/>
          <p:nvPr/>
        </p:nvSpPr>
        <p:spPr>
          <a:xfrm>
            <a:off x="0" y="341115"/>
            <a:ext cx="5009705" cy="400110"/>
          </a:xfrm>
          <a:prstGeom prst="rect">
            <a:avLst/>
          </a:prstGeom>
          <a:solidFill>
            <a:schemeClr val="tx2">
              <a:lumMod val="20000"/>
              <a:lumOff val="80000"/>
            </a:schemeClr>
          </a:solidFill>
        </p:spPr>
        <p:txBody>
          <a:bodyPr wrap="none" rtlCol="0">
            <a:spAutoFit/>
          </a:bodyPr>
          <a:lstStyle/>
          <a:p>
            <a:r>
              <a:rPr lang="en-US" altLang="zh-CN" sz="2000" b="1" dirty="0">
                <a:latin typeface="Microsoft Sans Serif" pitchFamily="34" charset="0"/>
                <a:cs typeface="Microsoft Sans Serif" pitchFamily="34" charset="0"/>
              </a:rPr>
              <a:t>7-7-3 </a:t>
            </a:r>
            <a:r>
              <a:rPr lang="en-US" altLang="zh-CN" sz="2000" b="1" dirty="0">
                <a:solidFill>
                  <a:srgbClr val="FF0000"/>
                </a:solidFill>
                <a:latin typeface="Microsoft Sans Serif" pitchFamily="34" charset="0"/>
                <a:cs typeface="Microsoft Sans Serif" pitchFamily="34" charset="0"/>
              </a:rPr>
              <a:t>Stereochemistry</a:t>
            </a:r>
            <a:r>
              <a:rPr lang="en-US" altLang="zh-CN" sz="2000" b="1" dirty="0">
                <a:latin typeface="Microsoft Sans Serif" pitchFamily="34" charset="0"/>
                <a:cs typeface="Microsoft Sans Serif" pitchFamily="34" charset="0"/>
              </a:rPr>
              <a:t> of the </a:t>
            </a:r>
            <a:r>
              <a:rPr lang="en-US" altLang="zh-CN" sz="2000" b="1" dirty="0">
                <a:solidFill>
                  <a:srgbClr val="0000FF"/>
                </a:solidFill>
                <a:latin typeface="Microsoft Sans Serif" pitchFamily="34" charset="0"/>
                <a:cs typeface="Microsoft Sans Serif" pitchFamily="34" charset="0"/>
              </a:rPr>
              <a:t>S</a:t>
            </a:r>
            <a:r>
              <a:rPr lang="en-US" altLang="zh-CN" sz="2000" b="1" baseline="-25000" dirty="0">
                <a:solidFill>
                  <a:srgbClr val="0000FF"/>
                </a:solidFill>
                <a:latin typeface="Microsoft Sans Serif" pitchFamily="34" charset="0"/>
                <a:cs typeface="Microsoft Sans Serif" pitchFamily="34" charset="0"/>
              </a:rPr>
              <a:t>N</a:t>
            </a:r>
            <a:r>
              <a:rPr lang="en-US" altLang="zh-CN" sz="2000" b="1" dirty="0">
                <a:solidFill>
                  <a:srgbClr val="0000FF"/>
                </a:solidFill>
                <a:latin typeface="Microsoft Sans Serif" pitchFamily="34" charset="0"/>
                <a:cs typeface="Microsoft Sans Serif" pitchFamily="34" charset="0"/>
              </a:rPr>
              <a:t>1 Reaction</a:t>
            </a:r>
            <a:endParaRPr lang="zh-CN" altLang="en-US" sz="2000" b="1" dirty="0">
              <a:solidFill>
                <a:srgbClr val="0000FF"/>
              </a:solidFill>
              <a:latin typeface="Microsoft Sans Serif" pitchFamily="34" charset="0"/>
              <a:cs typeface="Microsoft Sans Serif" pitchFamily="34" charset="0"/>
            </a:endParaRPr>
          </a:p>
        </p:txBody>
      </p:sp>
      <p:sp>
        <p:nvSpPr>
          <p:cNvPr id="8" name="TextBox 7"/>
          <p:cNvSpPr txBox="1"/>
          <p:nvPr/>
        </p:nvSpPr>
        <p:spPr>
          <a:xfrm>
            <a:off x="263146" y="4535171"/>
            <a:ext cx="11031016" cy="2031325"/>
          </a:xfrm>
          <a:prstGeom prst="rect">
            <a:avLst/>
          </a:prstGeom>
          <a:noFill/>
        </p:spPr>
        <p:txBody>
          <a:bodyPr wrap="square" rtlCol="0">
            <a:spAutoFit/>
          </a:bodyPr>
          <a:lstStyle/>
          <a:p>
            <a:pPr>
              <a:buFont typeface="Arial" pitchFamily="34" charset="0"/>
              <a:buChar char="•"/>
            </a:pPr>
            <a:r>
              <a:rPr lang="en-US" altLang="zh-CN" b="1" dirty="0">
                <a:latin typeface="Microsoft Sans Serif" pitchFamily="34" charset="0"/>
                <a:cs typeface="Microsoft Sans Serif" pitchFamily="34" charset="0"/>
              </a:rPr>
              <a:t> The S</a:t>
            </a:r>
            <a:r>
              <a:rPr lang="en-US" altLang="zh-CN" b="1" baseline="-25000" dirty="0">
                <a:latin typeface="Microsoft Sans Serif" pitchFamily="34" charset="0"/>
                <a:cs typeface="Microsoft Sans Serif" pitchFamily="34" charset="0"/>
              </a:rPr>
              <a:t>N</a:t>
            </a:r>
            <a:r>
              <a:rPr lang="en-US" altLang="zh-CN" b="1" dirty="0">
                <a:latin typeface="Microsoft Sans Serif" pitchFamily="34" charset="0"/>
                <a:cs typeface="Microsoft Sans Serif" pitchFamily="34" charset="0"/>
              </a:rPr>
              <a:t>1 reactions of optically pure chiral substrate </a:t>
            </a:r>
            <a:r>
              <a:rPr lang="en-US" altLang="zh-CN" b="1" dirty="0">
                <a:solidFill>
                  <a:srgbClr val="0000FF"/>
                </a:solidFill>
                <a:latin typeface="Microsoft Sans Serif" pitchFamily="34" charset="0"/>
                <a:cs typeface="Microsoft Sans Serif" pitchFamily="34" charset="0"/>
              </a:rPr>
              <a:t>give both enantiomers of the product in equal amounts</a:t>
            </a:r>
            <a:r>
              <a:rPr lang="en-US" altLang="zh-CN" b="1" dirty="0">
                <a:latin typeface="Microsoft Sans Serif" pitchFamily="34" charset="0"/>
                <a:cs typeface="Microsoft Sans Serif" pitchFamily="34" charset="0"/>
              </a:rPr>
              <a:t>, which is called </a:t>
            </a:r>
            <a:r>
              <a:rPr lang="en-US" altLang="zh-CN" b="1" dirty="0">
                <a:solidFill>
                  <a:srgbClr val="FF0000"/>
                </a:solidFill>
                <a:latin typeface="Microsoft Sans Serif" pitchFamily="34" charset="0"/>
                <a:cs typeface="Microsoft Sans Serif" pitchFamily="34" charset="0"/>
              </a:rPr>
              <a:t>racemization</a:t>
            </a:r>
            <a:r>
              <a:rPr lang="en-US" altLang="zh-CN" b="1" dirty="0">
                <a:latin typeface="Microsoft Sans Serif" pitchFamily="34" charset="0"/>
                <a:cs typeface="Microsoft Sans Serif" pitchFamily="34" charset="0"/>
              </a:rPr>
              <a:t>.</a:t>
            </a:r>
          </a:p>
          <a:p>
            <a:pPr>
              <a:buFont typeface="Arial" pitchFamily="34" charset="0"/>
              <a:buChar char="•"/>
            </a:pPr>
            <a:endParaRPr lang="en-US" altLang="zh-CN" b="1" dirty="0">
              <a:latin typeface="Microsoft Sans Serif" pitchFamily="34" charset="0"/>
              <a:cs typeface="Microsoft Sans Serif" pitchFamily="34" charset="0"/>
            </a:endParaRPr>
          </a:p>
          <a:p>
            <a:pPr>
              <a:buFont typeface="Arial" pitchFamily="34" charset="0"/>
              <a:buChar char="•"/>
            </a:pPr>
            <a:r>
              <a:rPr lang="en-US" altLang="zh-CN" b="1" dirty="0">
                <a:latin typeface="Microsoft Sans Serif" pitchFamily="34" charset="0"/>
                <a:cs typeface="Microsoft Sans Serif" pitchFamily="34" charset="0"/>
              </a:rPr>
              <a:t> In the S</a:t>
            </a:r>
            <a:r>
              <a:rPr lang="en-US" altLang="zh-CN" b="1" baseline="-25000" dirty="0">
                <a:latin typeface="Microsoft Sans Serif" pitchFamily="34" charset="0"/>
                <a:cs typeface="Microsoft Sans Serif" pitchFamily="34" charset="0"/>
              </a:rPr>
              <a:t>N</a:t>
            </a:r>
            <a:r>
              <a:rPr lang="en-US" altLang="zh-CN" b="1" dirty="0">
                <a:latin typeface="Microsoft Sans Serif" pitchFamily="34" charset="0"/>
                <a:cs typeface="Microsoft Sans Serif" pitchFamily="34" charset="0"/>
              </a:rPr>
              <a:t>1 mechanism, </a:t>
            </a:r>
            <a:r>
              <a:rPr lang="en-US" altLang="zh-CN" b="1" dirty="0">
                <a:solidFill>
                  <a:srgbClr val="FF0000"/>
                </a:solidFill>
                <a:latin typeface="Microsoft Sans Serif" pitchFamily="34" charset="0"/>
                <a:cs typeface="Microsoft Sans Serif" pitchFamily="34" charset="0"/>
              </a:rPr>
              <a:t>the carbocation intermediate is </a:t>
            </a:r>
            <a:r>
              <a:rPr lang="en-US" altLang="zh-CN" b="1" i="1" dirty="0">
                <a:solidFill>
                  <a:srgbClr val="FF0000"/>
                </a:solidFill>
                <a:latin typeface="Microsoft Sans Serif" pitchFamily="34" charset="0"/>
                <a:cs typeface="Microsoft Sans Serif" pitchFamily="34" charset="0"/>
              </a:rPr>
              <a:t>sp</a:t>
            </a:r>
            <a:r>
              <a:rPr lang="en-US" altLang="zh-CN" b="1" baseline="30000" dirty="0">
                <a:solidFill>
                  <a:srgbClr val="FF0000"/>
                </a:solidFill>
                <a:latin typeface="Microsoft Sans Serif" pitchFamily="34" charset="0"/>
                <a:cs typeface="Microsoft Sans Serif" pitchFamily="34" charset="0"/>
              </a:rPr>
              <a:t>2 </a:t>
            </a:r>
            <a:r>
              <a:rPr lang="en-US" altLang="zh-CN" b="1" dirty="0">
                <a:solidFill>
                  <a:srgbClr val="FF0000"/>
                </a:solidFill>
                <a:latin typeface="Microsoft Sans Serif" pitchFamily="34" charset="0"/>
                <a:cs typeface="Microsoft Sans Serif" pitchFamily="34" charset="0"/>
              </a:rPr>
              <a:t>hybridized and planar</a:t>
            </a:r>
            <a:r>
              <a:rPr lang="en-US" altLang="zh-CN" b="1" dirty="0">
                <a:latin typeface="Microsoft Sans Serif" pitchFamily="34" charset="0"/>
                <a:cs typeface="Microsoft Sans Serif" pitchFamily="34" charset="0"/>
              </a:rPr>
              <a:t>. </a:t>
            </a:r>
          </a:p>
          <a:p>
            <a:pPr>
              <a:buFont typeface="Arial" pitchFamily="34" charset="0"/>
              <a:buChar char="•"/>
            </a:pPr>
            <a:endParaRPr lang="en-US" altLang="zh-CN" b="1" dirty="0">
              <a:latin typeface="Microsoft Sans Serif" pitchFamily="34" charset="0"/>
              <a:cs typeface="Microsoft Sans Serif" pitchFamily="34" charset="0"/>
            </a:endParaRPr>
          </a:p>
          <a:p>
            <a:pPr>
              <a:buFont typeface="Arial" pitchFamily="34" charset="0"/>
              <a:buChar char="•"/>
            </a:pPr>
            <a:r>
              <a:rPr lang="en-US" altLang="zh-CN" b="1" dirty="0">
                <a:latin typeface="Microsoft Sans Serif" pitchFamily="34" charset="0"/>
                <a:cs typeface="Microsoft Sans Serif" pitchFamily="34" charset="0"/>
              </a:rPr>
              <a:t> The nucleophile </a:t>
            </a:r>
            <a:r>
              <a:rPr lang="en-US" altLang="zh-CN" b="1" dirty="0">
                <a:solidFill>
                  <a:srgbClr val="0000FF"/>
                </a:solidFill>
                <a:latin typeface="Microsoft Sans Serif" pitchFamily="34" charset="0"/>
                <a:cs typeface="Microsoft Sans Serif" pitchFamily="34" charset="0"/>
              </a:rPr>
              <a:t>attacks the carbocation both from the upper side and the lower side at equal odds</a:t>
            </a:r>
            <a:r>
              <a:rPr lang="en-US" altLang="zh-CN" b="1" dirty="0">
                <a:latin typeface="Microsoft Sans Serif" pitchFamily="34" charset="0"/>
                <a:cs typeface="Microsoft Sans Serif" pitchFamily="34" charset="0"/>
              </a:rPr>
              <a:t>, the product molecule shows </a:t>
            </a:r>
            <a:r>
              <a:rPr lang="en-US" altLang="zh-CN" b="1" u="sng" dirty="0">
                <a:latin typeface="Microsoft Sans Serif" pitchFamily="34" charset="0"/>
                <a:cs typeface="Microsoft Sans Serif" pitchFamily="34" charset="0"/>
              </a:rPr>
              <a:t>retention of  configuration</a:t>
            </a:r>
            <a:r>
              <a:rPr lang="en-US" altLang="zh-CN" b="1" dirty="0">
                <a:latin typeface="Microsoft Sans Serif" pitchFamily="34" charset="0"/>
                <a:cs typeface="Microsoft Sans Serif" pitchFamily="34" charset="0"/>
              </a:rPr>
              <a:t> and </a:t>
            </a:r>
            <a:r>
              <a:rPr lang="en-US" altLang="zh-CN" b="1" u="sng" dirty="0">
                <a:latin typeface="Microsoft Sans Serif" pitchFamily="34" charset="0"/>
                <a:cs typeface="Microsoft Sans Serif" pitchFamily="34" charset="0"/>
              </a:rPr>
              <a:t>inversion of configuration</a:t>
            </a:r>
            <a:r>
              <a:rPr lang="en-US" altLang="zh-CN" b="1" dirty="0">
                <a:latin typeface="Microsoft Sans Serif" pitchFamily="34" charset="0"/>
                <a:cs typeface="Microsoft Sans Serif" pitchFamily="34" charset="0"/>
              </a:rPr>
              <a:t> at equal odds. </a:t>
            </a:r>
            <a:endParaRPr lang="zh-CN" altLang="en-US" b="1" dirty="0">
              <a:latin typeface="Microsoft Sans Serif" pitchFamily="34" charset="0"/>
              <a:cs typeface="Microsoft Sans Serif" pitchFamily="34" charset="0"/>
            </a:endParaRPr>
          </a:p>
        </p:txBody>
      </p:sp>
      <p:graphicFrame>
        <p:nvGraphicFramePr>
          <p:cNvPr id="58371" name="Object 3"/>
          <p:cNvGraphicFramePr>
            <a:graphicFrameLocks noChangeAspect="1"/>
          </p:cNvGraphicFramePr>
          <p:nvPr>
            <p:extLst>
              <p:ext uri="{D42A27DB-BD31-4B8C-83A1-F6EECF244321}">
                <p14:modId xmlns:p14="http://schemas.microsoft.com/office/powerpoint/2010/main" val="726824340"/>
              </p:ext>
            </p:extLst>
          </p:nvPr>
        </p:nvGraphicFramePr>
        <p:xfrm>
          <a:off x="1775520" y="1303977"/>
          <a:ext cx="7691475" cy="2403147"/>
        </p:xfrm>
        <a:graphic>
          <a:graphicData uri="http://schemas.openxmlformats.org/presentationml/2006/ole">
            <mc:AlternateContent xmlns:mc="http://schemas.openxmlformats.org/markup-compatibility/2006">
              <mc:Choice xmlns:v="urn:schemas-microsoft-com:vml" Requires="v">
                <p:oleObj spid="_x0000_s58805" name="CS ChemDraw Drawing" r:id="rId3" imgW="5218104" imgH="1630584" progId="ChemDraw.Document.6.0">
                  <p:embed/>
                </p:oleObj>
              </mc:Choice>
              <mc:Fallback>
                <p:oleObj name="CS ChemDraw Drawing" r:id="rId3" imgW="5218104" imgH="1630584" progId="ChemDraw.Document.6.0">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75520" y="1303977"/>
                        <a:ext cx="7691475" cy="2403147"/>
                      </a:xfrm>
                      <a:prstGeom prst="rect">
                        <a:avLst/>
                      </a:prstGeom>
                      <a:noFill/>
                      <a:ln>
                        <a:noFill/>
                      </a:ln>
                      <a:effectLst/>
                    </p:spPr>
                  </p:pic>
                </p:oleObj>
              </mc:Fallback>
            </mc:AlternateContent>
          </a:graphicData>
        </a:graphic>
      </p:graphicFrame>
      <p:sp>
        <p:nvSpPr>
          <p:cNvPr id="3" name="矩形 2"/>
          <p:cNvSpPr/>
          <p:nvPr/>
        </p:nvSpPr>
        <p:spPr>
          <a:xfrm>
            <a:off x="7234747" y="824034"/>
            <a:ext cx="3214341" cy="338554"/>
          </a:xfrm>
          <a:prstGeom prst="rect">
            <a:avLst/>
          </a:prstGeom>
        </p:spPr>
        <p:txBody>
          <a:bodyPr wrap="none">
            <a:spAutoFit/>
          </a:bodyPr>
          <a:lstStyle/>
          <a:p>
            <a:r>
              <a:rPr lang="en-US" altLang="zh-CN" sz="1600" b="1" u="sng" dirty="0">
                <a:latin typeface="Consolas" panose="020B0609020204030204" pitchFamily="49" charset="0"/>
                <a:cs typeface="Microsoft Sans Serif" pitchFamily="34" charset="0"/>
              </a:rPr>
              <a:t>retention of configuration</a:t>
            </a:r>
            <a:endParaRPr lang="zh-CN" altLang="en-US" sz="1600" dirty="0">
              <a:latin typeface="Consolas" panose="020B0609020204030204" pitchFamily="49" charset="0"/>
            </a:endParaRPr>
          </a:p>
        </p:txBody>
      </p:sp>
      <p:sp>
        <p:nvSpPr>
          <p:cNvPr id="4" name="矩形 3"/>
          <p:cNvSpPr/>
          <p:nvPr/>
        </p:nvSpPr>
        <p:spPr>
          <a:xfrm>
            <a:off x="7234747" y="3803141"/>
            <a:ext cx="3102131" cy="338554"/>
          </a:xfrm>
          <a:prstGeom prst="rect">
            <a:avLst/>
          </a:prstGeom>
        </p:spPr>
        <p:txBody>
          <a:bodyPr wrap="none">
            <a:spAutoFit/>
          </a:bodyPr>
          <a:lstStyle/>
          <a:p>
            <a:r>
              <a:rPr lang="en-US" altLang="zh-CN" sz="1600" b="1" u="sng" dirty="0">
                <a:latin typeface="Consolas" panose="020B0609020204030204" pitchFamily="49" charset="0"/>
                <a:cs typeface="Microsoft Sans Serif" pitchFamily="34" charset="0"/>
              </a:rPr>
              <a:t>inversion of configuration</a:t>
            </a:r>
            <a:endParaRPr lang="zh-CN" altLang="en-US" sz="1600" dirty="0">
              <a:latin typeface="Consolas" panose="020B0609020204030204" pitchFamily="49"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23</a:t>
            </a:fld>
            <a:endParaRPr lang="zh-CN" altLang="en-US"/>
          </a:p>
        </p:txBody>
      </p:sp>
      <p:sp>
        <p:nvSpPr>
          <p:cNvPr id="3" name="TextBox 2"/>
          <p:cNvSpPr txBox="1"/>
          <p:nvPr/>
        </p:nvSpPr>
        <p:spPr>
          <a:xfrm>
            <a:off x="227348" y="783414"/>
            <a:ext cx="11449272" cy="2862322"/>
          </a:xfrm>
          <a:prstGeom prst="rect">
            <a:avLst/>
          </a:prstGeom>
          <a:noFill/>
        </p:spPr>
        <p:txBody>
          <a:bodyPr wrap="square" rtlCol="0">
            <a:spAutoFit/>
          </a:bodyPr>
          <a:lstStyle/>
          <a:p>
            <a:pPr marL="285750" indent="-285750" algn="just">
              <a:buFont typeface="Arial" panose="020B0604020202020204" pitchFamily="34" charset="0"/>
              <a:buChar char="•"/>
            </a:pPr>
            <a:r>
              <a:rPr lang="en-US" altLang="zh-CN" b="1" dirty="0">
                <a:solidFill>
                  <a:srgbClr val="FF0000"/>
                </a:solidFill>
                <a:latin typeface="Microsoft Sans Serif" pitchFamily="34" charset="0"/>
                <a:cs typeface="Microsoft Sans Serif" pitchFamily="34" charset="0"/>
              </a:rPr>
              <a:t>Carbocations</a:t>
            </a:r>
            <a:r>
              <a:rPr lang="en-US" altLang="zh-CN" b="1" dirty="0">
                <a:solidFill>
                  <a:srgbClr val="0000FF"/>
                </a:solidFill>
                <a:latin typeface="Microsoft Sans Serif" pitchFamily="34" charset="0"/>
                <a:cs typeface="Microsoft Sans Serif" pitchFamily="34" charset="0"/>
              </a:rPr>
              <a:t>  frequently undergo structural changes</a:t>
            </a:r>
            <a:r>
              <a:rPr lang="en-US" altLang="zh-CN" b="1" dirty="0">
                <a:latin typeface="Microsoft Sans Serif" pitchFamily="34" charset="0"/>
                <a:cs typeface="Microsoft Sans Serif" pitchFamily="34" charset="0"/>
              </a:rPr>
              <a:t>, called </a:t>
            </a:r>
            <a:r>
              <a:rPr lang="en-US" altLang="zh-CN" b="1" dirty="0">
                <a:solidFill>
                  <a:srgbClr val="FF0000"/>
                </a:solidFill>
                <a:latin typeface="Microsoft Sans Serif" pitchFamily="34" charset="0"/>
                <a:cs typeface="Microsoft Sans Serif" pitchFamily="34" charset="0"/>
              </a:rPr>
              <a:t>rearrangement</a:t>
            </a:r>
            <a:r>
              <a:rPr lang="en-US" altLang="zh-CN" b="1" dirty="0">
                <a:latin typeface="Microsoft Sans Serif" pitchFamily="34" charset="0"/>
                <a:cs typeface="Microsoft Sans Serif" pitchFamily="34" charset="0"/>
              </a:rPr>
              <a:t>, to </a:t>
            </a:r>
            <a:r>
              <a:rPr lang="en-US" altLang="zh-CN" b="1" dirty="0">
                <a:solidFill>
                  <a:srgbClr val="FF00FF"/>
                </a:solidFill>
                <a:latin typeface="Microsoft Sans Serif" pitchFamily="34" charset="0"/>
                <a:cs typeface="Microsoft Sans Serif" pitchFamily="34" charset="0"/>
              </a:rPr>
              <a:t>form more stable cations</a:t>
            </a:r>
            <a:r>
              <a:rPr lang="en-US" altLang="zh-CN" b="1" dirty="0">
                <a:latin typeface="Microsoft Sans Serif" pitchFamily="34" charset="0"/>
                <a:cs typeface="Microsoft Sans Serif" pitchFamily="34" charset="0"/>
              </a:rPr>
              <a:t>.</a:t>
            </a:r>
          </a:p>
          <a:p>
            <a:pPr algn="just">
              <a:buFont typeface="Arial" pitchFamily="34" charset="0"/>
              <a:buChar char="•"/>
            </a:pPr>
            <a:endParaRPr lang="en-US" altLang="zh-CN" b="1" dirty="0">
              <a:latin typeface="Microsoft Sans Serif" pitchFamily="34" charset="0"/>
              <a:cs typeface="Microsoft Sans Serif" pitchFamily="34" charset="0"/>
            </a:endParaRPr>
          </a:p>
          <a:p>
            <a:pPr marL="285750" indent="-285750" algn="just">
              <a:buFont typeface="Arial" panose="020B0604020202020204" pitchFamily="34" charset="0"/>
              <a:buChar char="•"/>
            </a:pPr>
            <a:r>
              <a:rPr lang="en-US" altLang="zh-CN" b="1" dirty="0">
                <a:latin typeface="Microsoft Sans Serif" pitchFamily="34" charset="0"/>
                <a:cs typeface="Microsoft Sans Serif" pitchFamily="34" charset="0"/>
              </a:rPr>
              <a:t>A rearrangement may occur (1) after a carbocation has formed or (2) it may occur as the leaving group is leaving.</a:t>
            </a:r>
          </a:p>
          <a:p>
            <a:pPr algn="just">
              <a:buFont typeface="Arial" pitchFamily="34" charset="0"/>
              <a:buChar char="•"/>
            </a:pPr>
            <a:endParaRPr lang="en-US" altLang="zh-CN" b="1" dirty="0">
              <a:latin typeface="Microsoft Sans Serif" pitchFamily="34" charset="0"/>
              <a:cs typeface="Microsoft Sans Serif" pitchFamily="34" charset="0"/>
            </a:endParaRPr>
          </a:p>
          <a:p>
            <a:pPr marL="285750" indent="-285750" algn="just">
              <a:buFont typeface="Arial" panose="020B0604020202020204" pitchFamily="34" charset="0"/>
              <a:buChar char="•"/>
            </a:pPr>
            <a:r>
              <a:rPr lang="en-US" altLang="zh-CN" b="1" dirty="0">
                <a:solidFill>
                  <a:srgbClr val="0000FF"/>
                </a:solidFill>
                <a:latin typeface="Microsoft Sans Serif" pitchFamily="34" charset="0"/>
                <a:cs typeface="Microsoft Sans Serif" pitchFamily="34" charset="0"/>
              </a:rPr>
              <a:t>Rearrangements are seen in S</a:t>
            </a:r>
            <a:r>
              <a:rPr lang="en-US" altLang="zh-CN" b="1" baseline="-25000" dirty="0">
                <a:solidFill>
                  <a:srgbClr val="0000FF"/>
                </a:solidFill>
                <a:latin typeface="Microsoft Sans Serif" pitchFamily="34" charset="0"/>
                <a:cs typeface="Microsoft Sans Serif" pitchFamily="34" charset="0"/>
              </a:rPr>
              <a:t>N</a:t>
            </a:r>
            <a:r>
              <a:rPr lang="en-US" altLang="zh-CN" b="1" dirty="0">
                <a:solidFill>
                  <a:srgbClr val="0000FF"/>
                </a:solidFill>
                <a:latin typeface="Microsoft Sans Serif" pitchFamily="34" charset="0"/>
                <a:cs typeface="Microsoft Sans Serif" pitchFamily="34" charset="0"/>
              </a:rPr>
              <a:t>1 reactions</a:t>
            </a:r>
            <a:r>
              <a:rPr lang="en-US" altLang="zh-CN" b="1" dirty="0">
                <a:latin typeface="Microsoft Sans Serif" pitchFamily="34" charset="0"/>
                <a:cs typeface="Microsoft Sans Serif" pitchFamily="34" charset="0"/>
              </a:rPr>
              <a:t>. An example of a reaction with rearrangement is the S</a:t>
            </a:r>
            <a:r>
              <a:rPr lang="en-US" altLang="zh-CN" b="1" baseline="-25000" dirty="0">
                <a:latin typeface="Microsoft Sans Serif" pitchFamily="34" charset="0"/>
                <a:cs typeface="Microsoft Sans Serif" pitchFamily="34" charset="0"/>
              </a:rPr>
              <a:t>N</a:t>
            </a:r>
            <a:r>
              <a:rPr lang="en-US" altLang="zh-CN" b="1" dirty="0">
                <a:latin typeface="Microsoft Sans Serif" pitchFamily="34" charset="0"/>
                <a:cs typeface="Microsoft Sans Serif" pitchFamily="34" charset="0"/>
              </a:rPr>
              <a:t>1 reaction of 2-bromo-3-methylbutane in boiling ethanol.</a:t>
            </a:r>
          </a:p>
          <a:p>
            <a:pPr algn="just">
              <a:buFont typeface="Arial" pitchFamily="34" charset="0"/>
              <a:buChar char="•"/>
            </a:pPr>
            <a:endParaRPr lang="en-US" altLang="zh-CN" b="1" dirty="0">
              <a:latin typeface="Microsoft Sans Serif" pitchFamily="34" charset="0"/>
              <a:cs typeface="Microsoft Sans Serif" pitchFamily="34" charset="0"/>
            </a:endParaRPr>
          </a:p>
          <a:p>
            <a:pPr marL="285750" indent="-285750" algn="just">
              <a:buFont typeface="Arial" panose="020B0604020202020204" pitchFamily="34" charset="0"/>
              <a:buChar char="•"/>
            </a:pPr>
            <a:r>
              <a:rPr lang="en-US" altLang="zh-CN" b="1" dirty="0">
                <a:latin typeface="Microsoft Sans Serif" pitchFamily="34" charset="0"/>
                <a:cs typeface="Microsoft Sans Serif" pitchFamily="34" charset="0"/>
              </a:rPr>
              <a:t>The product is a mixture of 2-ethoxy-3-methylbutane (not rearranged) and 2-ethoxy-2-methylbutane (rearranged).</a:t>
            </a:r>
            <a:endParaRPr lang="zh-CN" altLang="en-US" b="1" dirty="0">
              <a:latin typeface="Microsoft Sans Serif" pitchFamily="34" charset="0"/>
              <a:cs typeface="Microsoft Sans Serif" pitchFamily="34" charset="0"/>
            </a:endParaRPr>
          </a:p>
        </p:txBody>
      </p:sp>
      <p:sp>
        <p:nvSpPr>
          <p:cNvPr id="5" name="矩形 4"/>
          <p:cNvSpPr/>
          <p:nvPr/>
        </p:nvSpPr>
        <p:spPr>
          <a:xfrm>
            <a:off x="0" y="204605"/>
            <a:ext cx="4624984" cy="400110"/>
          </a:xfrm>
          <a:prstGeom prst="rect">
            <a:avLst/>
          </a:prstGeom>
          <a:solidFill>
            <a:schemeClr val="tx2">
              <a:lumMod val="20000"/>
              <a:lumOff val="80000"/>
            </a:schemeClr>
          </a:solidFill>
        </p:spPr>
        <p:txBody>
          <a:bodyPr wrap="none">
            <a:spAutoFit/>
          </a:bodyPr>
          <a:lstStyle/>
          <a:p>
            <a:r>
              <a:rPr lang="en-US" altLang="zh-CN" sz="2000" b="1" dirty="0">
                <a:latin typeface="Microsoft Sans Serif" pitchFamily="34" charset="0"/>
                <a:cs typeface="Microsoft Sans Serif" pitchFamily="34" charset="0"/>
              </a:rPr>
              <a:t>7-7-4 </a:t>
            </a:r>
            <a:r>
              <a:rPr lang="en-US" altLang="zh-CN" sz="2000" b="1" dirty="0">
                <a:solidFill>
                  <a:srgbClr val="FF0000"/>
                </a:solidFill>
                <a:latin typeface="Microsoft Sans Serif" pitchFamily="34" charset="0"/>
                <a:cs typeface="Microsoft Sans Serif" pitchFamily="34" charset="0"/>
              </a:rPr>
              <a:t>Rearrangement </a:t>
            </a:r>
            <a:r>
              <a:rPr lang="en-US" altLang="zh-CN" sz="2000" b="1" dirty="0">
                <a:latin typeface="Microsoft Sans Serif" pitchFamily="34" charset="0"/>
                <a:cs typeface="Microsoft Sans Serif" pitchFamily="34" charset="0"/>
              </a:rPr>
              <a:t>in</a:t>
            </a:r>
            <a:r>
              <a:rPr lang="en-US" altLang="zh-CN" sz="2000" b="1" dirty="0">
                <a:solidFill>
                  <a:srgbClr val="0000FF"/>
                </a:solidFill>
                <a:latin typeface="Microsoft Sans Serif" pitchFamily="34" charset="0"/>
                <a:cs typeface="Microsoft Sans Serif" pitchFamily="34" charset="0"/>
              </a:rPr>
              <a:t> S</a:t>
            </a:r>
            <a:r>
              <a:rPr lang="en-US" altLang="zh-CN" sz="2000" b="1" baseline="-25000" dirty="0">
                <a:solidFill>
                  <a:srgbClr val="0000FF"/>
                </a:solidFill>
                <a:latin typeface="Microsoft Sans Serif" pitchFamily="34" charset="0"/>
                <a:cs typeface="Microsoft Sans Serif" pitchFamily="34" charset="0"/>
              </a:rPr>
              <a:t>N</a:t>
            </a:r>
            <a:r>
              <a:rPr lang="en-US" altLang="zh-CN" sz="2000" b="1" dirty="0">
                <a:solidFill>
                  <a:srgbClr val="0000FF"/>
                </a:solidFill>
                <a:latin typeface="Microsoft Sans Serif" pitchFamily="34" charset="0"/>
                <a:cs typeface="Microsoft Sans Serif" pitchFamily="34" charset="0"/>
              </a:rPr>
              <a:t>1 Reactions</a:t>
            </a:r>
          </a:p>
        </p:txBody>
      </p:sp>
      <p:graphicFrame>
        <p:nvGraphicFramePr>
          <p:cNvPr id="46084" name="Object 4"/>
          <p:cNvGraphicFramePr>
            <a:graphicFrameLocks noChangeAspect="1"/>
          </p:cNvGraphicFramePr>
          <p:nvPr>
            <p:extLst>
              <p:ext uri="{D42A27DB-BD31-4B8C-83A1-F6EECF244321}">
                <p14:modId xmlns:p14="http://schemas.microsoft.com/office/powerpoint/2010/main" val="427740650"/>
              </p:ext>
            </p:extLst>
          </p:nvPr>
        </p:nvGraphicFramePr>
        <p:xfrm>
          <a:off x="1991544" y="4581128"/>
          <a:ext cx="7344816" cy="1236483"/>
        </p:xfrm>
        <a:graphic>
          <a:graphicData uri="http://schemas.openxmlformats.org/presentationml/2006/ole">
            <mc:AlternateContent xmlns:mc="http://schemas.openxmlformats.org/markup-compatibility/2006">
              <mc:Choice xmlns:v="urn:schemas-microsoft-com:vml" Requires="v">
                <p:oleObj spid="_x0000_s46518" name="CS ChemDraw Drawing" r:id="rId3" imgW="4564382" imgH="768096" progId="ChemDraw.Document.6.0">
                  <p:embed/>
                </p:oleObj>
              </mc:Choice>
              <mc:Fallback>
                <p:oleObj name="CS ChemDraw Drawing" r:id="rId3" imgW="4564382" imgH="768096" progId="ChemDraw.Document.6.0">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91544" y="4581128"/>
                        <a:ext cx="7344816" cy="12364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椭圆形标注 11"/>
          <p:cNvSpPr/>
          <p:nvPr/>
        </p:nvSpPr>
        <p:spPr>
          <a:xfrm>
            <a:off x="3431704" y="4869160"/>
            <a:ext cx="432048" cy="360040"/>
          </a:xfrm>
          <a:prstGeom prst="wedgeEllipseCallout">
            <a:avLst>
              <a:gd name="adj1" fmla="val -112678"/>
              <a:gd name="adj2" fmla="val -4587"/>
            </a:avLst>
          </a:prstGeom>
          <a:solidFill>
            <a:srgbClr val="FFFF00"/>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灯片编号占位符 1"/>
          <p:cNvSpPr>
            <a:spLocks noGrp="1"/>
          </p:cNvSpPr>
          <p:nvPr>
            <p:ph type="sldNum" sz="quarter" idx="12"/>
          </p:nvPr>
        </p:nvSpPr>
        <p:spPr/>
        <p:txBody>
          <a:bodyPr/>
          <a:lstStyle/>
          <a:p>
            <a:fld id="{0C913308-F349-4B6D-A68A-DD1791B4A57B}" type="slidenum">
              <a:rPr lang="zh-CN" altLang="en-US" smtClean="0"/>
              <a:pPr/>
              <a:t>24</a:t>
            </a:fld>
            <a:endParaRPr lang="zh-CN" altLang="en-US"/>
          </a:p>
        </p:txBody>
      </p:sp>
      <p:sp>
        <p:nvSpPr>
          <p:cNvPr id="6" name="矩形 5"/>
          <p:cNvSpPr/>
          <p:nvPr/>
        </p:nvSpPr>
        <p:spPr>
          <a:xfrm>
            <a:off x="398267" y="4199607"/>
            <a:ext cx="8640960" cy="369332"/>
          </a:xfrm>
          <a:prstGeom prst="rect">
            <a:avLst/>
          </a:prstGeom>
        </p:spPr>
        <p:txBody>
          <a:bodyPr wrap="square">
            <a:spAutoFit/>
          </a:bodyPr>
          <a:lstStyle/>
          <a:p>
            <a:pPr>
              <a:buSzPct val="60000"/>
            </a:pPr>
            <a:r>
              <a:rPr lang="en-US" altLang="zh-CN" b="1" u="sng" dirty="0">
                <a:solidFill>
                  <a:srgbClr val="0000FF"/>
                </a:solidFill>
                <a:latin typeface="Microsoft Sans Serif" pitchFamily="34" charset="0"/>
                <a:cs typeface="Microsoft Sans Serif" pitchFamily="34" charset="0"/>
              </a:rPr>
              <a:t>Step 2</a:t>
            </a:r>
            <a:r>
              <a:rPr lang="en-US" altLang="zh-CN" b="1" dirty="0">
                <a:latin typeface="Microsoft Sans Serif" pitchFamily="34" charset="0"/>
                <a:cs typeface="Microsoft Sans Serif" pitchFamily="34" charset="0"/>
              </a:rPr>
              <a:t>: A</a:t>
            </a:r>
            <a:r>
              <a:rPr lang="en-US" altLang="zh-CN" b="1" dirty="0">
                <a:solidFill>
                  <a:srgbClr val="FF0000"/>
                </a:solidFill>
                <a:latin typeface="Microsoft Sans Serif" pitchFamily="34" charset="0"/>
                <a:cs typeface="Microsoft Sans Serif" pitchFamily="34" charset="0"/>
              </a:rPr>
              <a:t> </a:t>
            </a:r>
            <a:r>
              <a:rPr lang="en-US" altLang="zh-CN" b="1" dirty="0">
                <a:solidFill>
                  <a:srgbClr val="0000FF"/>
                </a:solidFill>
                <a:latin typeface="Microsoft Sans Serif" pitchFamily="34" charset="0"/>
                <a:cs typeface="Microsoft Sans Serif" pitchFamily="34" charset="0"/>
              </a:rPr>
              <a:t>hydride shift</a:t>
            </a:r>
            <a:r>
              <a:rPr lang="en-US" altLang="zh-CN" b="1" dirty="0">
                <a:solidFill>
                  <a:srgbClr val="FF0000"/>
                </a:solidFill>
                <a:latin typeface="Microsoft Sans Serif" pitchFamily="34" charset="0"/>
                <a:cs typeface="Microsoft Sans Serif" pitchFamily="34" charset="0"/>
              </a:rPr>
              <a:t>  forms a more stable carbocation </a:t>
            </a:r>
            <a:r>
              <a:rPr lang="en-US" altLang="zh-CN" b="1" dirty="0">
                <a:latin typeface="Microsoft Sans Serif" pitchFamily="34" charset="0"/>
                <a:cs typeface="Microsoft Sans Serif" pitchFamily="34" charset="0"/>
              </a:rPr>
              <a:t>(driving force). </a:t>
            </a:r>
            <a:endParaRPr lang="zh-CN" altLang="en-US" b="1" dirty="0">
              <a:latin typeface="Microsoft Sans Serif" pitchFamily="34" charset="0"/>
              <a:cs typeface="Microsoft Sans Serif" pitchFamily="34" charset="0"/>
            </a:endParaRPr>
          </a:p>
        </p:txBody>
      </p:sp>
      <p:sp>
        <p:nvSpPr>
          <p:cNvPr id="9" name="TextBox 8"/>
          <p:cNvSpPr txBox="1"/>
          <p:nvPr/>
        </p:nvSpPr>
        <p:spPr>
          <a:xfrm>
            <a:off x="582558" y="4756792"/>
            <a:ext cx="2695497" cy="584775"/>
          </a:xfrm>
          <a:prstGeom prst="rect">
            <a:avLst/>
          </a:prstGeom>
          <a:noFill/>
        </p:spPr>
        <p:txBody>
          <a:bodyPr wrap="square" rtlCol="0">
            <a:spAutoFit/>
          </a:bodyPr>
          <a:lstStyle/>
          <a:p>
            <a:r>
              <a:rPr lang="en-US" altLang="zh-CN" sz="1600" b="1" dirty="0">
                <a:latin typeface="Consolas" panose="020B0609020204030204" pitchFamily="49" charset="0"/>
              </a:rPr>
              <a:t>This hydrogen moves with pair of electrons</a:t>
            </a:r>
            <a:endParaRPr lang="zh-CN" altLang="en-US" sz="1600" b="1" dirty="0">
              <a:latin typeface="Consolas" panose="020B0609020204030204" pitchFamily="49" charset="0"/>
            </a:endParaRPr>
          </a:p>
        </p:txBody>
      </p:sp>
      <p:sp>
        <p:nvSpPr>
          <p:cNvPr id="10" name="TextBox 9"/>
          <p:cNvSpPr txBox="1"/>
          <p:nvPr/>
        </p:nvSpPr>
        <p:spPr>
          <a:xfrm>
            <a:off x="407368" y="1820204"/>
            <a:ext cx="5535490" cy="646331"/>
          </a:xfrm>
          <a:prstGeom prst="rect">
            <a:avLst/>
          </a:prstGeom>
          <a:noFill/>
        </p:spPr>
        <p:txBody>
          <a:bodyPr wrap="none" rtlCol="0">
            <a:spAutoFit/>
          </a:bodyPr>
          <a:lstStyle/>
          <a:p>
            <a:pPr>
              <a:buFont typeface="Arial" pitchFamily="34" charset="0"/>
              <a:buChar char="•"/>
            </a:pPr>
            <a:r>
              <a:rPr lang="en-US" altLang="zh-CN" b="1" dirty="0">
                <a:latin typeface="Microsoft Sans Serif" pitchFamily="34" charset="0"/>
                <a:cs typeface="Microsoft Sans Serif" pitchFamily="34" charset="0"/>
              </a:rPr>
              <a:t> </a:t>
            </a:r>
            <a:r>
              <a:rPr lang="en-US" altLang="zh-CN" b="1" dirty="0">
                <a:solidFill>
                  <a:srgbClr val="FF0000"/>
                </a:solidFill>
                <a:latin typeface="Microsoft Sans Serif" pitchFamily="34" charset="0"/>
                <a:cs typeface="Microsoft Sans Serif" pitchFamily="34" charset="0"/>
              </a:rPr>
              <a:t>Mechanism</a:t>
            </a:r>
            <a:r>
              <a:rPr lang="en-US" altLang="zh-CN" b="1" dirty="0">
                <a:latin typeface="Microsoft Sans Serif" pitchFamily="34" charset="0"/>
                <a:cs typeface="Microsoft Sans Serif" pitchFamily="34" charset="0"/>
              </a:rPr>
              <a:t>:</a:t>
            </a:r>
          </a:p>
          <a:p>
            <a:pPr>
              <a:buSzPct val="60000"/>
            </a:pPr>
            <a:r>
              <a:rPr lang="en-US" altLang="zh-CN" b="1" u="sng" dirty="0">
                <a:solidFill>
                  <a:srgbClr val="0000FF"/>
                </a:solidFill>
                <a:latin typeface="Microsoft Sans Serif" pitchFamily="34" charset="0"/>
                <a:cs typeface="Microsoft Sans Serif" pitchFamily="34" charset="0"/>
              </a:rPr>
              <a:t>Step 1</a:t>
            </a:r>
            <a:r>
              <a:rPr lang="en-US" altLang="zh-CN" b="1" dirty="0">
                <a:latin typeface="Microsoft Sans Serif" pitchFamily="34" charset="0"/>
                <a:cs typeface="Microsoft Sans Serif" pitchFamily="34" charset="0"/>
              </a:rPr>
              <a:t>: Unimolecular ionization gives a </a:t>
            </a:r>
            <a:r>
              <a:rPr lang="en-US" altLang="zh-CN" b="1" dirty="0">
                <a:solidFill>
                  <a:srgbClr val="0000FF"/>
                </a:solidFill>
                <a:latin typeface="Microsoft Sans Serif" pitchFamily="34" charset="0"/>
                <a:cs typeface="Microsoft Sans Serif" pitchFamily="34" charset="0"/>
              </a:rPr>
              <a:t>carbocation</a:t>
            </a:r>
            <a:r>
              <a:rPr lang="en-US" altLang="zh-CN" b="1" dirty="0">
                <a:latin typeface="Microsoft Sans Serif" pitchFamily="34" charset="0"/>
                <a:cs typeface="Microsoft Sans Serif" pitchFamily="34" charset="0"/>
              </a:rPr>
              <a:t>. </a:t>
            </a:r>
            <a:endParaRPr lang="zh-CN" altLang="en-US" b="1" dirty="0">
              <a:latin typeface="Microsoft Sans Serif" pitchFamily="34" charset="0"/>
              <a:cs typeface="Microsoft Sans Serif" pitchFamily="34" charset="0"/>
            </a:endParaRPr>
          </a:p>
        </p:txBody>
      </p:sp>
      <p:graphicFrame>
        <p:nvGraphicFramePr>
          <p:cNvPr id="11" name="Object 4"/>
          <p:cNvGraphicFramePr>
            <a:graphicFrameLocks noChangeAspect="1"/>
          </p:cNvGraphicFramePr>
          <p:nvPr>
            <p:extLst>
              <p:ext uri="{D42A27DB-BD31-4B8C-83A1-F6EECF244321}">
                <p14:modId xmlns:p14="http://schemas.microsoft.com/office/powerpoint/2010/main" val="1399177881"/>
              </p:ext>
            </p:extLst>
          </p:nvPr>
        </p:nvGraphicFramePr>
        <p:xfrm>
          <a:off x="2333120" y="392357"/>
          <a:ext cx="7026004" cy="1182812"/>
        </p:xfrm>
        <a:graphic>
          <a:graphicData uri="http://schemas.openxmlformats.org/presentationml/2006/ole">
            <mc:AlternateContent xmlns:mc="http://schemas.openxmlformats.org/markup-compatibility/2006">
              <mc:Choice xmlns:v="urn:schemas-microsoft-com:vml" Requires="v">
                <p:oleObj spid="_x0000_s76064" name="CS ChemDraw Drawing" r:id="rId3" imgW="4564382" imgH="768096" progId="ChemDraw.Document.6.0">
                  <p:embed/>
                </p:oleObj>
              </mc:Choice>
              <mc:Fallback>
                <p:oleObj name="CS ChemDraw Drawing" r:id="rId3" imgW="4564382" imgH="768096" progId="ChemDraw.Document.6.0">
                  <p:embed/>
                  <p:pic>
                    <p:nvPicPr>
                      <p:cNvPr id="4608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33120" y="392357"/>
                        <a:ext cx="7026004" cy="1182812"/>
                      </a:xfrm>
                      <a:prstGeom prst="rect">
                        <a:avLst/>
                      </a:prstGeom>
                      <a:noFill/>
                      <a:ln>
                        <a:noFill/>
                      </a:ln>
                      <a:effectLst/>
                    </p:spPr>
                  </p:pic>
                </p:oleObj>
              </mc:Fallback>
            </mc:AlternateContent>
          </a:graphicData>
        </a:graphic>
      </p:graphicFrame>
      <p:cxnSp>
        <p:nvCxnSpPr>
          <p:cNvPr id="4" name="直接连接符 3"/>
          <p:cNvCxnSpPr/>
          <p:nvPr/>
        </p:nvCxnSpPr>
        <p:spPr>
          <a:xfrm>
            <a:off x="407368" y="1820204"/>
            <a:ext cx="11175032" cy="0"/>
          </a:xfrm>
          <a:prstGeom prst="line">
            <a:avLst/>
          </a:prstGeom>
          <a:ln>
            <a:solidFill>
              <a:schemeClr val="bg1">
                <a:lumMod val="65000"/>
              </a:schemeClr>
            </a:solidFill>
            <a:prstDash val="lgDash"/>
          </a:ln>
        </p:spPr>
        <p:style>
          <a:lnRef idx="1">
            <a:schemeClr val="accent1"/>
          </a:lnRef>
          <a:fillRef idx="0">
            <a:schemeClr val="accent1"/>
          </a:fillRef>
          <a:effectRef idx="0">
            <a:schemeClr val="accent1"/>
          </a:effectRef>
          <a:fontRef idx="minor">
            <a:schemeClr val="tx1"/>
          </a:fontRef>
        </p:style>
      </p:cxnSp>
      <p:graphicFrame>
        <p:nvGraphicFramePr>
          <p:cNvPr id="5" name="对象 4"/>
          <p:cNvGraphicFramePr>
            <a:graphicFrameLocks noChangeAspect="1"/>
          </p:cNvGraphicFramePr>
          <p:nvPr>
            <p:extLst>
              <p:ext uri="{D42A27DB-BD31-4B8C-83A1-F6EECF244321}">
                <p14:modId xmlns:p14="http://schemas.microsoft.com/office/powerpoint/2010/main" val="2993579437"/>
              </p:ext>
            </p:extLst>
          </p:nvPr>
        </p:nvGraphicFramePr>
        <p:xfrm>
          <a:off x="2747123" y="2711570"/>
          <a:ext cx="5332622" cy="1186420"/>
        </p:xfrm>
        <a:graphic>
          <a:graphicData uri="http://schemas.openxmlformats.org/presentationml/2006/ole">
            <mc:AlternateContent xmlns:mc="http://schemas.openxmlformats.org/markup-compatibility/2006">
              <mc:Choice xmlns:v="urn:schemas-microsoft-com:vml" Requires="v">
                <p:oleObj spid="_x0000_s76065" name="CS ChemDraw Drawing" r:id="rId5" imgW="3375487" imgH="750812" progId="ChemDraw.Document.6.0">
                  <p:embed/>
                </p:oleObj>
              </mc:Choice>
              <mc:Fallback>
                <p:oleObj name="CS ChemDraw Drawing" r:id="rId5" imgW="3375487" imgH="750812" progId="ChemDraw.Document.6.0">
                  <p:embed/>
                  <p:pic>
                    <p:nvPicPr>
                      <p:cNvPr id="0" name=""/>
                      <p:cNvPicPr/>
                      <p:nvPr/>
                    </p:nvPicPr>
                    <p:blipFill>
                      <a:blip r:embed="rId6"/>
                      <a:stretch>
                        <a:fillRect/>
                      </a:stretch>
                    </p:blipFill>
                    <p:spPr>
                      <a:xfrm>
                        <a:off x="2747123" y="2711570"/>
                        <a:ext cx="5332622" cy="1186420"/>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2075523545"/>
              </p:ext>
            </p:extLst>
          </p:nvPr>
        </p:nvGraphicFramePr>
        <p:xfrm>
          <a:off x="2747122" y="4952598"/>
          <a:ext cx="6084765" cy="1572746"/>
        </p:xfrm>
        <a:graphic>
          <a:graphicData uri="http://schemas.openxmlformats.org/presentationml/2006/ole">
            <mc:AlternateContent xmlns:mc="http://schemas.openxmlformats.org/markup-compatibility/2006">
              <mc:Choice xmlns:v="urn:schemas-microsoft-com:vml" Requires="v">
                <p:oleObj spid="_x0000_s76066" name="CS ChemDraw Drawing" r:id="rId7" imgW="3887236" imgH="1004122" progId="ChemDraw.Document.6.0">
                  <p:embed/>
                </p:oleObj>
              </mc:Choice>
              <mc:Fallback>
                <p:oleObj name="CS ChemDraw Drawing" r:id="rId7" imgW="3887236" imgH="1004122" progId="ChemDraw.Document.6.0">
                  <p:embed/>
                  <p:pic>
                    <p:nvPicPr>
                      <p:cNvPr id="0" name=""/>
                      <p:cNvPicPr/>
                      <p:nvPr/>
                    </p:nvPicPr>
                    <p:blipFill>
                      <a:blip r:embed="rId8"/>
                      <a:stretch>
                        <a:fillRect/>
                      </a:stretch>
                    </p:blipFill>
                    <p:spPr>
                      <a:xfrm>
                        <a:off x="2747122" y="4952598"/>
                        <a:ext cx="6084765" cy="1572746"/>
                      </a:xfrm>
                      <a:prstGeom prst="rect">
                        <a:avLst/>
                      </a:prstGeom>
                    </p:spPr>
                  </p:pic>
                </p:oleObj>
              </mc:Fallback>
            </mc:AlternateContent>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25</a:t>
            </a:fld>
            <a:endParaRPr lang="zh-CN" altLang="en-US"/>
          </a:p>
        </p:txBody>
      </p:sp>
      <p:sp>
        <p:nvSpPr>
          <p:cNvPr id="4" name="矩形 3"/>
          <p:cNvSpPr/>
          <p:nvPr/>
        </p:nvSpPr>
        <p:spPr>
          <a:xfrm>
            <a:off x="565034" y="328951"/>
            <a:ext cx="8640960" cy="369332"/>
          </a:xfrm>
          <a:prstGeom prst="rect">
            <a:avLst/>
          </a:prstGeom>
        </p:spPr>
        <p:txBody>
          <a:bodyPr wrap="square">
            <a:spAutoFit/>
          </a:bodyPr>
          <a:lstStyle/>
          <a:p>
            <a:pPr>
              <a:buSzPct val="60000"/>
            </a:pPr>
            <a:r>
              <a:rPr lang="en-US" altLang="zh-CN" b="1" u="sng" dirty="0">
                <a:solidFill>
                  <a:srgbClr val="0000FF"/>
                </a:solidFill>
                <a:latin typeface="Microsoft Sans Serif" pitchFamily="34" charset="0"/>
                <a:cs typeface="Microsoft Sans Serif" pitchFamily="34" charset="0"/>
              </a:rPr>
              <a:t>Step 3</a:t>
            </a:r>
            <a:r>
              <a:rPr lang="en-US" altLang="zh-CN" b="1" dirty="0">
                <a:latin typeface="Microsoft Sans Serif" pitchFamily="34" charset="0"/>
                <a:cs typeface="Microsoft Sans Serif" pitchFamily="34" charset="0"/>
              </a:rPr>
              <a:t>: A weak nucleophile (solvent here) attacks the rearranged carbocation. </a:t>
            </a:r>
            <a:endParaRPr lang="zh-CN" altLang="en-US" b="1" dirty="0">
              <a:latin typeface="Microsoft Sans Serif" pitchFamily="34" charset="0"/>
              <a:cs typeface="Microsoft Sans Serif" pitchFamily="34" charset="0"/>
            </a:endParaRPr>
          </a:p>
        </p:txBody>
      </p:sp>
      <p:sp>
        <p:nvSpPr>
          <p:cNvPr id="6" name="矩形 5"/>
          <p:cNvSpPr/>
          <p:nvPr/>
        </p:nvSpPr>
        <p:spPr>
          <a:xfrm>
            <a:off x="551384" y="2559382"/>
            <a:ext cx="6120680" cy="369332"/>
          </a:xfrm>
          <a:prstGeom prst="rect">
            <a:avLst/>
          </a:prstGeom>
        </p:spPr>
        <p:txBody>
          <a:bodyPr wrap="square">
            <a:spAutoFit/>
          </a:bodyPr>
          <a:lstStyle/>
          <a:p>
            <a:pPr>
              <a:buSzPct val="60000"/>
            </a:pPr>
            <a:r>
              <a:rPr lang="en-US" altLang="zh-CN" b="1" u="sng" dirty="0">
                <a:solidFill>
                  <a:srgbClr val="0000FF"/>
                </a:solidFill>
                <a:latin typeface="Microsoft Sans Serif" pitchFamily="34" charset="0"/>
                <a:cs typeface="Microsoft Sans Serif" pitchFamily="34" charset="0"/>
              </a:rPr>
              <a:t>Step 4</a:t>
            </a:r>
            <a:r>
              <a:rPr lang="en-US" altLang="zh-CN" b="1" dirty="0">
                <a:latin typeface="Microsoft Sans Serif" pitchFamily="34" charset="0"/>
                <a:cs typeface="Microsoft Sans Serif" pitchFamily="34" charset="0"/>
              </a:rPr>
              <a:t>: </a:t>
            </a:r>
            <a:r>
              <a:rPr lang="en-US" altLang="zh-CN" b="1" dirty="0" err="1">
                <a:solidFill>
                  <a:srgbClr val="FF0000"/>
                </a:solidFill>
                <a:latin typeface="Microsoft Sans Serif" pitchFamily="34" charset="0"/>
                <a:cs typeface="Microsoft Sans Serif" pitchFamily="34" charset="0"/>
              </a:rPr>
              <a:t>Deprotonation</a:t>
            </a:r>
            <a:r>
              <a:rPr lang="en-US" altLang="zh-CN" b="1" dirty="0">
                <a:latin typeface="Microsoft Sans Serif" pitchFamily="34" charset="0"/>
                <a:cs typeface="Microsoft Sans Serif" pitchFamily="34" charset="0"/>
              </a:rPr>
              <a:t> gives the rearranged product.</a:t>
            </a:r>
            <a:endParaRPr lang="zh-CN" altLang="en-US" b="1" dirty="0">
              <a:latin typeface="Microsoft Sans Serif" pitchFamily="34" charset="0"/>
              <a:cs typeface="Microsoft Sans Serif" pitchFamily="34" charset="0"/>
            </a:endParaRPr>
          </a:p>
        </p:txBody>
      </p:sp>
      <p:graphicFrame>
        <p:nvGraphicFramePr>
          <p:cNvPr id="49159" name="Object 7"/>
          <p:cNvGraphicFramePr>
            <a:graphicFrameLocks noChangeAspect="1"/>
          </p:cNvGraphicFramePr>
          <p:nvPr>
            <p:extLst>
              <p:ext uri="{D42A27DB-BD31-4B8C-83A1-F6EECF244321}">
                <p14:modId xmlns:p14="http://schemas.microsoft.com/office/powerpoint/2010/main" val="2377096730"/>
              </p:ext>
            </p:extLst>
          </p:nvPr>
        </p:nvGraphicFramePr>
        <p:xfrm>
          <a:off x="3359696" y="3139216"/>
          <a:ext cx="5328592" cy="1232379"/>
        </p:xfrm>
        <a:graphic>
          <a:graphicData uri="http://schemas.openxmlformats.org/presentationml/2006/ole">
            <mc:AlternateContent xmlns:mc="http://schemas.openxmlformats.org/markup-compatibility/2006">
              <mc:Choice xmlns:v="urn:schemas-microsoft-com:vml" Requires="v">
                <p:oleObj spid="_x0000_s50026" name="CS ChemDraw Drawing" r:id="rId3" imgW="3369530" imgH="778896" progId="ChemDraw.Document.6.0">
                  <p:embed/>
                </p:oleObj>
              </mc:Choice>
              <mc:Fallback>
                <p:oleObj name="CS ChemDraw Drawing" r:id="rId3" imgW="3369530" imgH="778896" progId="ChemDraw.Document.6.0">
                  <p:embed/>
                  <p:pic>
                    <p:nvPicPr>
                      <p:cNvPr id="0"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9696" y="3139216"/>
                        <a:ext cx="5328592" cy="1232379"/>
                      </a:xfrm>
                      <a:prstGeom prst="rect">
                        <a:avLst/>
                      </a:prstGeom>
                      <a:noFill/>
                      <a:ln>
                        <a:noFill/>
                      </a:ln>
                      <a:effectLst/>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2019673236"/>
              </p:ext>
            </p:extLst>
          </p:nvPr>
        </p:nvGraphicFramePr>
        <p:xfrm>
          <a:off x="3431704" y="836712"/>
          <a:ext cx="4310629" cy="1512168"/>
        </p:xfrm>
        <a:graphic>
          <a:graphicData uri="http://schemas.openxmlformats.org/presentationml/2006/ole">
            <mc:AlternateContent xmlns:mc="http://schemas.openxmlformats.org/markup-compatibility/2006">
              <mc:Choice xmlns:v="urn:schemas-microsoft-com:vml" Requires="v">
                <p:oleObj spid="_x0000_s50027" name="CS ChemDraw Drawing" r:id="rId5" imgW="2878338" imgH="1008879" progId="ChemDraw.Document.6.0">
                  <p:embed/>
                </p:oleObj>
              </mc:Choice>
              <mc:Fallback>
                <p:oleObj name="CS ChemDraw Drawing" r:id="rId5" imgW="2878338" imgH="1008879" progId="ChemDraw.Document.6.0">
                  <p:embed/>
                  <p:pic>
                    <p:nvPicPr>
                      <p:cNvPr id="0" name=""/>
                      <p:cNvPicPr/>
                      <p:nvPr/>
                    </p:nvPicPr>
                    <p:blipFill>
                      <a:blip r:embed="rId6"/>
                      <a:stretch>
                        <a:fillRect/>
                      </a:stretch>
                    </p:blipFill>
                    <p:spPr>
                      <a:xfrm>
                        <a:off x="3431704" y="836712"/>
                        <a:ext cx="4310629" cy="1512168"/>
                      </a:xfrm>
                      <a:prstGeom prst="rect">
                        <a:avLst/>
                      </a:prstGeom>
                    </p:spPr>
                  </p:pic>
                </p:oleObj>
              </mc:Fallback>
            </mc:AlternateContent>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26</a:t>
            </a:fld>
            <a:endParaRPr lang="zh-CN" altLang="en-US"/>
          </a:p>
        </p:txBody>
      </p:sp>
      <p:sp>
        <p:nvSpPr>
          <p:cNvPr id="5" name="TextBox 4"/>
          <p:cNvSpPr txBox="1"/>
          <p:nvPr/>
        </p:nvSpPr>
        <p:spPr>
          <a:xfrm>
            <a:off x="335360" y="299364"/>
            <a:ext cx="8280920" cy="369332"/>
          </a:xfrm>
          <a:prstGeom prst="rect">
            <a:avLst/>
          </a:prstGeom>
          <a:noFill/>
        </p:spPr>
        <p:txBody>
          <a:bodyPr wrap="square" rtlCol="0">
            <a:spAutoFit/>
          </a:bodyPr>
          <a:lstStyle/>
          <a:p>
            <a:pPr>
              <a:buFont typeface="Arial" pitchFamily="34" charset="0"/>
              <a:buChar char="•"/>
            </a:pPr>
            <a:r>
              <a:rPr lang="en-US" altLang="zh-CN" b="1" dirty="0">
                <a:latin typeface="Microsoft Sans Serif" pitchFamily="34" charset="0"/>
                <a:cs typeface="Microsoft Sans Serif" pitchFamily="34" charset="0"/>
              </a:rPr>
              <a:t> Sometimes, rearranged product is the result of a </a:t>
            </a:r>
            <a:r>
              <a:rPr lang="en-US" altLang="zh-CN" b="1" dirty="0">
                <a:solidFill>
                  <a:srgbClr val="FF0000"/>
                </a:solidFill>
                <a:latin typeface="Microsoft Sans Serif" pitchFamily="34" charset="0"/>
                <a:cs typeface="Microsoft Sans Serif" pitchFamily="34" charset="0"/>
              </a:rPr>
              <a:t>methyl shift</a:t>
            </a:r>
            <a:r>
              <a:rPr lang="en-US" altLang="zh-CN" b="1" dirty="0">
                <a:solidFill>
                  <a:srgbClr val="FF00FF"/>
                </a:solidFill>
                <a:latin typeface="Microsoft Sans Serif" pitchFamily="34" charset="0"/>
                <a:cs typeface="Microsoft Sans Serif" pitchFamily="34" charset="0"/>
              </a:rPr>
              <a:t> </a:t>
            </a:r>
            <a:r>
              <a:rPr lang="en-US" altLang="zh-CN" b="1" dirty="0">
                <a:latin typeface="Microsoft Sans Serif" pitchFamily="34" charset="0"/>
                <a:cs typeface="Microsoft Sans Serif" pitchFamily="34" charset="0"/>
              </a:rPr>
              <a:t>or an </a:t>
            </a:r>
            <a:r>
              <a:rPr lang="en-US" altLang="zh-CN" b="1" dirty="0">
                <a:solidFill>
                  <a:srgbClr val="FF0000"/>
                </a:solidFill>
                <a:latin typeface="Microsoft Sans Serif" pitchFamily="34" charset="0"/>
                <a:cs typeface="Microsoft Sans Serif" pitchFamily="34" charset="0"/>
              </a:rPr>
              <a:t>alkyl shift</a:t>
            </a:r>
            <a:r>
              <a:rPr lang="en-US" altLang="zh-CN" b="1" dirty="0">
                <a:latin typeface="Microsoft Sans Serif" pitchFamily="34" charset="0"/>
                <a:cs typeface="Microsoft Sans Serif" pitchFamily="34" charset="0"/>
              </a:rPr>
              <a:t>.</a:t>
            </a:r>
            <a:endParaRPr lang="zh-CN" altLang="en-US" b="1" dirty="0">
              <a:latin typeface="Microsoft Sans Serif" pitchFamily="34" charset="0"/>
              <a:cs typeface="Microsoft Sans Serif" pitchFamily="34" charset="0"/>
            </a:endParaRPr>
          </a:p>
        </p:txBody>
      </p:sp>
      <p:sp>
        <p:nvSpPr>
          <p:cNvPr id="7" name="TextBox 6"/>
          <p:cNvSpPr txBox="1"/>
          <p:nvPr/>
        </p:nvSpPr>
        <p:spPr>
          <a:xfrm>
            <a:off x="335360" y="2428457"/>
            <a:ext cx="1656184" cy="369332"/>
          </a:xfrm>
          <a:prstGeom prst="rect">
            <a:avLst/>
          </a:prstGeom>
          <a:noFill/>
        </p:spPr>
        <p:txBody>
          <a:bodyPr wrap="square" rtlCol="0">
            <a:spAutoFit/>
          </a:bodyPr>
          <a:lstStyle/>
          <a:p>
            <a:pPr>
              <a:buFont typeface="Arial" pitchFamily="34" charset="0"/>
              <a:buChar char="•"/>
            </a:pPr>
            <a:r>
              <a:rPr lang="en-US" altLang="zh-CN" b="1" dirty="0">
                <a:latin typeface="Microsoft Sans Serif" pitchFamily="34" charset="0"/>
                <a:cs typeface="Microsoft Sans Serif" pitchFamily="34" charset="0"/>
              </a:rPr>
              <a:t> Mechanism:</a:t>
            </a:r>
          </a:p>
        </p:txBody>
      </p:sp>
      <p:graphicFrame>
        <p:nvGraphicFramePr>
          <p:cNvPr id="3" name="对象 2"/>
          <p:cNvGraphicFramePr>
            <a:graphicFrameLocks noChangeAspect="1"/>
          </p:cNvGraphicFramePr>
          <p:nvPr>
            <p:extLst>
              <p:ext uri="{D42A27DB-BD31-4B8C-83A1-F6EECF244321}">
                <p14:modId xmlns:p14="http://schemas.microsoft.com/office/powerpoint/2010/main" val="1946613178"/>
              </p:ext>
            </p:extLst>
          </p:nvPr>
        </p:nvGraphicFramePr>
        <p:xfrm>
          <a:off x="2921800" y="958413"/>
          <a:ext cx="5699504" cy="1321506"/>
        </p:xfrm>
        <a:graphic>
          <a:graphicData uri="http://schemas.openxmlformats.org/presentationml/2006/ole">
            <mc:AlternateContent xmlns:mc="http://schemas.openxmlformats.org/markup-compatibility/2006">
              <mc:Choice xmlns:v="urn:schemas-microsoft-com:vml" Requires="v">
                <p:oleObj spid="_x0000_s51048" name="CS ChemDraw Drawing" r:id="rId3" imgW="3347868" imgH="776976" progId="ChemDraw.Document.6.0">
                  <p:embed/>
                </p:oleObj>
              </mc:Choice>
              <mc:Fallback>
                <p:oleObj name="CS ChemDraw Drawing" r:id="rId3" imgW="3347868" imgH="776976" progId="ChemDraw.Document.6.0">
                  <p:embed/>
                  <p:pic>
                    <p:nvPicPr>
                      <p:cNvPr id="0" name=""/>
                      <p:cNvPicPr/>
                      <p:nvPr/>
                    </p:nvPicPr>
                    <p:blipFill>
                      <a:blip r:embed="rId4"/>
                      <a:stretch>
                        <a:fillRect/>
                      </a:stretch>
                    </p:blipFill>
                    <p:spPr>
                      <a:xfrm>
                        <a:off x="2921800" y="958413"/>
                        <a:ext cx="5699504" cy="1321506"/>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3098805173"/>
              </p:ext>
            </p:extLst>
          </p:nvPr>
        </p:nvGraphicFramePr>
        <p:xfrm>
          <a:off x="839416" y="3120323"/>
          <a:ext cx="10606773" cy="1838713"/>
        </p:xfrm>
        <a:graphic>
          <a:graphicData uri="http://schemas.openxmlformats.org/presentationml/2006/ole">
            <mc:AlternateContent xmlns:mc="http://schemas.openxmlformats.org/markup-compatibility/2006">
              <mc:Choice xmlns:v="urn:schemas-microsoft-com:vml" Requires="v">
                <p:oleObj spid="_x0000_s51049" name="CS ChemDraw Drawing" r:id="rId5" imgW="6530019" imgH="1131768" progId="ChemDraw.Document.6.0">
                  <p:embed/>
                </p:oleObj>
              </mc:Choice>
              <mc:Fallback>
                <p:oleObj name="CS ChemDraw Drawing" r:id="rId5" imgW="6530019" imgH="1131768" progId="ChemDraw.Document.6.0">
                  <p:embed/>
                  <p:pic>
                    <p:nvPicPr>
                      <p:cNvPr id="0" name=""/>
                      <p:cNvPicPr/>
                      <p:nvPr/>
                    </p:nvPicPr>
                    <p:blipFill>
                      <a:blip r:embed="rId6"/>
                      <a:stretch>
                        <a:fillRect/>
                      </a:stretch>
                    </p:blipFill>
                    <p:spPr>
                      <a:xfrm>
                        <a:off x="839416" y="3120323"/>
                        <a:ext cx="10606773" cy="1838713"/>
                      </a:xfrm>
                      <a:prstGeom prst="rect">
                        <a:avLst/>
                      </a:prstGeom>
                    </p:spPr>
                  </p:pic>
                </p:oleObj>
              </mc:Fallback>
            </mc:AlternateContent>
          </a:graphicData>
        </a:graphic>
      </p:graphicFrame>
      <p:sp>
        <p:nvSpPr>
          <p:cNvPr id="8" name="文本框 7"/>
          <p:cNvSpPr txBox="1"/>
          <p:nvPr/>
        </p:nvSpPr>
        <p:spPr>
          <a:xfrm>
            <a:off x="2423592" y="2852936"/>
            <a:ext cx="1800200" cy="338554"/>
          </a:xfrm>
          <a:prstGeom prst="rect">
            <a:avLst/>
          </a:prstGeom>
          <a:noFill/>
        </p:spPr>
        <p:txBody>
          <a:bodyPr wrap="square" rtlCol="0">
            <a:spAutoFit/>
          </a:bodyPr>
          <a:lstStyle/>
          <a:p>
            <a:r>
              <a:rPr lang="en-US" altLang="zh-CN" sz="1600" b="1" dirty="0">
                <a:latin typeface="Consolas" panose="020B0609020204030204" pitchFamily="49" charset="0"/>
              </a:rPr>
              <a:t>rearrangement</a:t>
            </a:r>
            <a:endParaRPr lang="zh-CN" altLang="en-US" sz="1600" b="1" dirty="0">
              <a:latin typeface="Consolas" panose="020B0609020204030204" pitchFamily="49" charset="0"/>
            </a:endParaRPr>
          </a:p>
        </p:txBody>
      </p:sp>
      <p:sp>
        <p:nvSpPr>
          <p:cNvPr id="13" name="TextBox 11"/>
          <p:cNvSpPr txBox="1"/>
          <p:nvPr/>
        </p:nvSpPr>
        <p:spPr>
          <a:xfrm>
            <a:off x="340208" y="5375730"/>
            <a:ext cx="11377264" cy="1200329"/>
          </a:xfrm>
          <a:prstGeom prst="rect">
            <a:avLst/>
          </a:prstGeom>
          <a:noFill/>
        </p:spPr>
        <p:txBody>
          <a:bodyPr wrap="square" rtlCol="0">
            <a:spAutoFit/>
          </a:bodyPr>
          <a:lstStyle/>
          <a:p>
            <a:pPr>
              <a:buFont typeface="Arial" pitchFamily="34" charset="0"/>
              <a:buChar char="•"/>
            </a:pPr>
            <a:r>
              <a:rPr lang="en-US" altLang="zh-CN" b="1" dirty="0">
                <a:latin typeface="Microsoft Sans Serif" pitchFamily="34" charset="0"/>
                <a:cs typeface="Microsoft Sans Serif" pitchFamily="34" charset="0"/>
              </a:rPr>
              <a:t> In general, we should </a:t>
            </a:r>
            <a:r>
              <a:rPr lang="en-US" altLang="zh-CN" b="1" dirty="0">
                <a:solidFill>
                  <a:srgbClr val="0000FF"/>
                </a:solidFill>
                <a:latin typeface="Microsoft Sans Serif" pitchFamily="34" charset="0"/>
                <a:cs typeface="Microsoft Sans Serif" pitchFamily="34" charset="0"/>
              </a:rPr>
              <a:t>expect rearrangements in reactions involving carbocations</a:t>
            </a:r>
            <a:r>
              <a:rPr lang="en-US" altLang="zh-CN" b="1" dirty="0">
                <a:solidFill>
                  <a:srgbClr val="FF0000"/>
                </a:solidFill>
                <a:latin typeface="Microsoft Sans Serif" pitchFamily="34" charset="0"/>
                <a:cs typeface="Microsoft Sans Serif" pitchFamily="34" charset="0"/>
              </a:rPr>
              <a:t> </a:t>
            </a:r>
            <a:r>
              <a:rPr lang="en-US" altLang="zh-CN" b="1" dirty="0">
                <a:latin typeface="Microsoft Sans Serif" pitchFamily="34" charset="0"/>
                <a:cs typeface="Microsoft Sans Serif" pitchFamily="34" charset="0"/>
              </a:rPr>
              <a:t>whenever </a:t>
            </a:r>
            <a:r>
              <a:rPr lang="en-US" altLang="zh-CN" b="1" dirty="0">
                <a:solidFill>
                  <a:srgbClr val="FF0000"/>
                </a:solidFill>
                <a:latin typeface="Microsoft Sans Serif" pitchFamily="34" charset="0"/>
                <a:cs typeface="Microsoft Sans Serif" pitchFamily="34" charset="0"/>
              </a:rPr>
              <a:t>a hydride shift or an alkyl shift can form a more stable carbocation</a:t>
            </a:r>
            <a:r>
              <a:rPr lang="en-US" altLang="zh-CN" b="1" dirty="0">
                <a:latin typeface="Microsoft Sans Serif" pitchFamily="34" charset="0"/>
                <a:cs typeface="Microsoft Sans Serif" pitchFamily="34" charset="0"/>
              </a:rPr>
              <a:t>.</a:t>
            </a:r>
          </a:p>
          <a:p>
            <a:pPr>
              <a:buFont typeface="Arial" pitchFamily="34" charset="0"/>
              <a:buChar char="•"/>
            </a:pPr>
            <a:endParaRPr lang="en-US" altLang="zh-CN" b="1" dirty="0">
              <a:latin typeface="Microsoft Sans Serif" pitchFamily="34" charset="0"/>
              <a:cs typeface="Microsoft Sans Serif" pitchFamily="34" charset="0"/>
            </a:endParaRPr>
          </a:p>
          <a:p>
            <a:pPr>
              <a:buFont typeface="Arial" pitchFamily="34" charset="0"/>
              <a:buChar char="•"/>
            </a:pPr>
            <a:r>
              <a:rPr lang="en-US" altLang="zh-CN" b="1" dirty="0">
                <a:latin typeface="Microsoft Sans Serif" pitchFamily="34" charset="0"/>
                <a:cs typeface="Microsoft Sans Serif" pitchFamily="34" charset="0"/>
              </a:rPr>
              <a:t> Most rearrangements convert 2</a:t>
            </a:r>
            <a:r>
              <a:rPr lang="en-US" altLang="zh-CN" b="1" baseline="30000" dirty="0">
                <a:latin typeface="Microsoft Sans Serif" pitchFamily="34" charset="0"/>
                <a:cs typeface="Microsoft Sans Serif" pitchFamily="34" charset="0"/>
              </a:rPr>
              <a:t>o</a:t>
            </a:r>
            <a:r>
              <a:rPr lang="en-US" altLang="zh-CN" b="1" dirty="0">
                <a:latin typeface="Microsoft Sans Serif" pitchFamily="34" charset="0"/>
                <a:cs typeface="Microsoft Sans Serif" pitchFamily="34" charset="0"/>
              </a:rPr>
              <a:t> (or incipient 1</a:t>
            </a:r>
            <a:r>
              <a:rPr lang="en-US" altLang="zh-CN" b="1" baseline="30000" dirty="0">
                <a:latin typeface="Microsoft Sans Serif" pitchFamily="34" charset="0"/>
                <a:cs typeface="Microsoft Sans Serif" pitchFamily="34" charset="0"/>
              </a:rPr>
              <a:t>o</a:t>
            </a:r>
            <a:r>
              <a:rPr lang="en-US" altLang="zh-CN" b="1" dirty="0">
                <a:latin typeface="Microsoft Sans Serif" pitchFamily="34" charset="0"/>
                <a:cs typeface="Microsoft Sans Serif" pitchFamily="34" charset="0"/>
              </a:rPr>
              <a:t>) carbocations to 3</a:t>
            </a:r>
            <a:r>
              <a:rPr lang="en-US" altLang="zh-CN" b="1" baseline="30000" dirty="0">
                <a:latin typeface="Microsoft Sans Serif" pitchFamily="34" charset="0"/>
                <a:cs typeface="Microsoft Sans Serif" pitchFamily="34" charset="0"/>
              </a:rPr>
              <a:t>o</a:t>
            </a:r>
            <a:r>
              <a:rPr lang="en-US" altLang="zh-CN" b="1" dirty="0">
                <a:latin typeface="Microsoft Sans Serif" pitchFamily="34" charset="0"/>
                <a:cs typeface="Microsoft Sans Serif" pitchFamily="34" charset="0"/>
              </a:rPr>
              <a:t> (or resonance-stabilized) carbocations.</a:t>
            </a:r>
            <a:endParaRPr lang="zh-CN" altLang="en-US" b="1" dirty="0">
              <a:latin typeface="Microsoft Sans Serif" pitchFamily="34" charset="0"/>
              <a:cs typeface="Microsoft Sans Serif"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7962935" y="4653135"/>
            <a:ext cx="1301417" cy="942121"/>
          </a:xfrm>
          <a:prstGeom prst="rect">
            <a:avLst/>
          </a:prstGeom>
          <a:solidFill>
            <a:srgbClr val="FFFF0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灯片编号占位符 1"/>
          <p:cNvSpPr>
            <a:spLocks noGrp="1"/>
          </p:cNvSpPr>
          <p:nvPr>
            <p:ph type="sldNum" sz="quarter" idx="12"/>
          </p:nvPr>
        </p:nvSpPr>
        <p:spPr/>
        <p:txBody>
          <a:bodyPr/>
          <a:lstStyle/>
          <a:p>
            <a:fld id="{0C913308-F349-4B6D-A68A-DD1791B4A57B}" type="slidenum">
              <a:rPr lang="zh-CN" altLang="en-US" smtClean="0"/>
              <a:pPr/>
              <a:t>27</a:t>
            </a:fld>
            <a:endParaRPr lang="zh-CN" altLang="en-US"/>
          </a:p>
        </p:txBody>
      </p:sp>
      <p:sp>
        <p:nvSpPr>
          <p:cNvPr id="4" name="TextBox 3"/>
          <p:cNvSpPr txBox="1"/>
          <p:nvPr/>
        </p:nvSpPr>
        <p:spPr>
          <a:xfrm>
            <a:off x="263352" y="1084969"/>
            <a:ext cx="11521280" cy="1754326"/>
          </a:xfrm>
          <a:prstGeom prst="rect">
            <a:avLst/>
          </a:prstGeom>
          <a:noFill/>
        </p:spPr>
        <p:txBody>
          <a:bodyPr wrap="square" rtlCol="0">
            <a:spAutoFit/>
          </a:bodyPr>
          <a:lstStyle/>
          <a:p>
            <a:pPr>
              <a:buFont typeface="Arial" pitchFamily="34" charset="0"/>
              <a:buChar char="•"/>
            </a:pPr>
            <a:r>
              <a:rPr lang="en-US" altLang="zh-CN" b="1" dirty="0">
                <a:latin typeface="Microsoft Sans Serif" pitchFamily="34" charset="0"/>
                <a:cs typeface="Microsoft Sans Serif" pitchFamily="34" charset="0"/>
              </a:rPr>
              <a:t> An elimination involves </a:t>
            </a:r>
            <a:r>
              <a:rPr lang="en-US" altLang="zh-CN" b="1" dirty="0">
                <a:solidFill>
                  <a:srgbClr val="FF0000"/>
                </a:solidFill>
                <a:latin typeface="Microsoft Sans Serif" pitchFamily="34" charset="0"/>
                <a:cs typeface="Microsoft Sans Serif" pitchFamily="34" charset="0"/>
              </a:rPr>
              <a:t>the loss of two atoms or groups</a:t>
            </a:r>
            <a:r>
              <a:rPr lang="en-US" altLang="zh-CN" b="1" dirty="0">
                <a:latin typeface="Microsoft Sans Serif" pitchFamily="34" charset="0"/>
                <a:cs typeface="Microsoft Sans Serif" pitchFamily="34" charset="0"/>
              </a:rPr>
              <a:t> </a:t>
            </a:r>
            <a:r>
              <a:rPr lang="en-US" altLang="zh-CN" b="1" dirty="0">
                <a:solidFill>
                  <a:srgbClr val="0000FF"/>
                </a:solidFill>
                <a:latin typeface="Microsoft Sans Serif" pitchFamily="34" charset="0"/>
                <a:cs typeface="Microsoft Sans Serif" pitchFamily="34" charset="0"/>
              </a:rPr>
              <a:t>from the substrate</a:t>
            </a:r>
            <a:r>
              <a:rPr lang="en-US" altLang="zh-CN" b="1" dirty="0">
                <a:latin typeface="Microsoft Sans Serif" pitchFamily="34" charset="0"/>
                <a:cs typeface="Microsoft Sans Serif" pitchFamily="34" charset="0"/>
              </a:rPr>
              <a:t>, usually with formation of a </a:t>
            </a:r>
            <a:r>
              <a:rPr lang="en-US" altLang="zh-CN" b="1" dirty="0">
                <a:latin typeface="Microsoft Sans Serif" pitchFamily="34" charset="0"/>
                <a:cs typeface="Microsoft Sans Serif" pitchFamily="34" charset="0"/>
                <a:sym typeface="Symbol" panose="05050102010706020507" pitchFamily="18" charset="2"/>
              </a:rPr>
              <a:t></a:t>
            </a:r>
            <a:r>
              <a:rPr lang="en-US" altLang="zh-CN" b="1" dirty="0">
                <a:latin typeface="Microsoft Sans Serif" pitchFamily="34" charset="0"/>
                <a:cs typeface="Microsoft Sans Serif" pitchFamily="34" charset="0"/>
              </a:rPr>
              <a:t> bond.</a:t>
            </a:r>
          </a:p>
          <a:p>
            <a:pPr>
              <a:buFont typeface="Arial" pitchFamily="34" charset="0"/>
              <a:buChar char="•"/>
            </a:pPr>
            <a:endParaRPr lang="en-US" altLang="zh-CN" b="1" dirty="0">
              <a:latin typeface="Microsoft Sans Serif" pitchFamily="34" charset="0"/>
              <a:cs typeface="Microsoft Sans Serif" pitchFamily="34" charset="0"/>
            </a:endParaRPr>
          </a:p>
          <a:p>
            <a:pPr>
              <a:buFont typeface="Arial" pitchFamily="34" charset="0"/>
              <a:buChar char="•"/>
            </a:pPr>
            <a:r>
              <a:rPr lang="en-US" altLang="zh-CN" b="1" dirty="0">
                <a:latin typeface="Microsoft Sans Serif" pitchFamily="34" charset="0"/>
                <a:cs typeface="Microsoft Sans Serif" pitchFamily="34" charset="0"/>
              </a:rPr>
              <a:t> </a:t>
            </a:r>
            <a:r>
              <a:rPr lang="en-US" altLang="zh-CN" b="1" dirty="0">
                <a:solidFill>
                  <a:srgbClr val="0000FF"/>
                </a:solidFill>
                <a:latin typeface="Microsoft Sans Serif" pitchFamily="34" charset="0"/>
                <a:cs typeface="Microsoft Sans Serif" pitchFamily="34" charset="0"/>
              </a:rPr>
              <a:t>Elimination</a:t>
            </a:r>
            <a:r>
              <a:rPr lang="en-US" altLang="zh-CN" b="1" dirty="0">
                <a:latin typeface="Microsoft Sans Serif" pitchFamily="34" charset="0"/>
                <a:cs typeface="Microsoft Sans Serif" pitchFamily="34" charset="0"/>
              </a:rPr>
              <a:t> reactions frequently </a:t>
            </a:r>
            <a:r>
              <a:rPr lang="en-US" altLang="zh-CN" b="1" dirty="0">
                <a:solidFill>
                  <a:srgbClr val="FF0000"/>
                </a:solidFill>
                <a:latin typeface="Microsoft Sans Serif" pitchFamily="34" charset="0"/>
                <a:cs typeface="Microsoft Sans Serif" pitchFamily="34" charset="0"/>
              </a:rPr>
              <a:t>accompany and compete with</a:t>
            </a:r>
            <a:r>
              <a:rPr lang="en-US" altLang="zh-CN" b="1" dirty="0">
                <a:latin typeface="Microsoft Sans Serif" pitchFamily="34" charset="0"/>
                <a:cs typeface="Microsoft Sans Serif" pitchFamily="34" charset="0"/>
              </a:rPr>
              <a:t> </a:t>
            </a:r>
            <a:r>
              <a:rPr lang="en-US" altLang="zh-CN" b="1" dirty="0">
                <a:solidFill>
                  <a:srgbClr val="0000FF"/>
                </a:solidFill>
                <a:latin typeface="Microsoft Sans Serif" pitchFamily="34" charset="0"/>
                <a:cs typeface="Microsoft Sans Serif" pitchFamily="34" charset="0"/>
              </a:rPr>
              <a:t>substitutions</a:t>
            </a:r>
            <a:r>
              <a:rPr lang="en-US" altLang="zh-CN" b="1" dirty="0">
                <a:latin typeface="Microsoft Sans Serif" pitchFamily="34" charset="0"/>
                <a:cs typeface="Microsoft Sans Serif" pitchFamily="34" charset="0"/>
              </a:rPr>
              <a:t>. By varying the reagents and conditions, we can often modify a reaction to favor substitution or to favor elimination.</a:t>
            </a:r>
          </a:p>
          <a:p>
            <a:pPr>
              <a:buFont typeface="Arial" pitchFamily="34" charset="0"/>
              <a:buChar char="•"/>
            </a:pPr>
            <a:endParaRPr lang="en-US" altLang="zh-CN" b="1" dirty="0">
              <a:latin typeface="Microsoft Sans Serif" pitchFamily="34" charset="0"/>
              <a:cs typeface="Microsoft Sans Serif" pitchFamily="34" charset="0"/>
            </a:endParaRPr>
          </a:p>
          <a:p>
            <a:pPr>
              <a:buFont typeface="Arial" pitchFamily="34" charset="0"/>
              <a:buChar char="•"/>
            </a:pPr>
            <a:r>
              <a:rPr lang="en-US" altLang="zh-CN" b="1" dirty="0">
                <a:latin typeface="Microsoft Sans Serif" pitchFamily="34" charset="0"/>
                <a:cs typeface="Microsoft Sans Serif" pitchFamily="34" charset="0"/>
              </a:rPr>
              <a:t> Depending on the reagents and conditions used, an elimination might be an E1 or E2 process.</a:t>
            </a:r>
          </a:p>
        </p:txBody>
      </p:sp>
      <p:sp>
        <p:nvSpPr>
          <p:cNvPr id="9" name="矩形 8"/>
          <p:cNvSpPr/>
          <p:nvPr/>
        </p:nvSpPr>
        <p:spPr>
          <a:xfrm>
            <a:off x="0" y="260942"/>
            <a:ext cx="7277954" cy="523220"/>
          </a:xfrm>
          <a:prstGeom prst="rect">
            <a:avLst/>
          </a:prstGeom>
          <a:solidFill>
            <a:schemeClr val="tx2">
              <a:lumMod val="20000"/>
              <a:lumOff val="80000"/>
            </a:schemeClr>
          </a:solidFill>
        </p:spPr>
        <p:txBody>
          <a:bodyPr wrap="none">
            <a:spAutoFit/>
          </a:bodyPr>
          <a:lstStyle/>
          <a:p>
            <a:r>
              <a:rPr lang="en-US" altLang="zh-CN" sz="2800" b="1" dirty="0">
                <a:latin typeface="Microsoft Sans Serif" pitchFamily="34" charset="0"/>
                <a:cs typeface="Microsoft Sans Serif" pitchFamily="34" charset="0"/>
              </a:rPr>
              <a:t>7-8 First-Order </a:t>
            </a:r>
            <a:r>
              <a:rPr lang="en-US" altLang="zh-CN" sz="2800" b="1" dirty="0">
                <a:solidFill>
                  <a:srgbClr val="FF0000"/>
                </a:solidFill>
                <a:latin typeface="Microsoft Sans Serif" pitchFamily="34" charset="0"/>
                <a:cs typeface="Microsoft Sans Serif" pitchFamily="34" charset="0"/>
              </a:rPr>
              <a:t>Elimination</a:t>
            </a:r>
            <a:r>
              <a:rPr lang="en-US" altLang="zh-CN" sz="2800" b="1" dirty="0">
                <a:latin typeface="Microsoft Sans Serif" pitchFamily="34" charset="0"/>
                <a:cs typeface="Microsoft Sans Serif" pitchFamily="34" charset="0"/>
              </a:rPr>
              <a:t>: The </a:t>
            </a:r>
            <a:r>
              <a:rPr lang="en-US" altLang="zh-CN" sz="2800" b="1" dirty="0">
                <a:solidFill>
                  <a:srgbClr val="0000FF"/>
                </a:solidFill>
                <a:latin typeface="Microsoft Sans Serif" pitchFamily="34" charset="0"/>
                <a:cs typeface="Microsoft Sans Serif" pitchFamily="34" charset="0"/>
              </a:rPr>
              <a:t>E1</a:t>
            </a:r>
            <a:r>
              <a:rPr lang="en-US" altLang="zh-CN" sz="2800" b="1" dirty="0">
                <a:latin typeface="Microsoft Sans Serif" pitchFamily="34" charset="0"/>
                <a:cs typeface="Microsoft Sans Serif" pitchFamily="34" charset="0"/>
              </a:rPr>
              <a:t> Reaction</a:t>
            </a:r>
          </a:p>
        </p:txBody>
      </p:sp>
      <p:sp>
        <p:nvSpPr>
          <p:cNvPr id="11" name="矩形 10"/>
          <p:cNvSpPr/>
          <p:nvPr/>
        </p:nvSpPr>
        <p:spPr>
          <a:xfrm>
            <a:off x="0" y="3618596"/>
            <a:ext cx="5868144" cy="400110"/>
          </a:xfrm>
          <a:prstGeom prst="rect">
            <a:avLst/>
          </a:prstGeom>
          <a:solidFill>
            <a:schemeClr val="tx2">
              <a:lumMod val="20000"/>
              <a:lumOff val="80000"/>
            </a:schemeClr>
          </a:solidFill>
        </p:spPr>
        <p:txBody>
          <a:bodyPr wrap="square">
            <a:spAutoFit/>
          </a:bodyPr>
          <a:lstStyle/>
          <a:p>
            <a:r>
              <a:rPr lang="en-US" altLang="zh-CN" sz="2000" b="1" dirty="0">
                <a:latin typeface="Microsoft Sans Serif" pitchFamily="34" charset="0"/>
                <a:cs typeface="Microsoft Sans Serif" pitchFamily="34" charset="0"/>
              </a:rPr>
              <a:t>7-8-1 </a:t>
            </a:r>
            <a:r>
              <a:rPr lang="en-US" altLang="zh-CN" sz="2000" b="1" dirty="0">
                <a:solidFill>
                  <a:srgbClr val="FF0000"/>
                </a:solidFill>
                <a:latin typeface="Microsoft Sans Serif" pitchFamily="34" charset="0"/>
                <a:cs typeface="Microsoft Sans Serif" pitchFamily="34" charset="0"/>
              </a:rPr>
              <a:t>Mechanism</a:t>
            </a:r>
            <a:r>
              <a:rPr lang="en-US" altLang="zh-CN" sz="2000" b="1" dirty="0">
                <a:latin typeface="Microsoft Sans Serif" pitchFamily="34" charset="0"/>
                <a:cs typeface="Microsoft Sans Serif" pitchFamily="34" charset="0"/>
              </a:rPr>
              <a:t> and kinetics</a:t>
            </a:r>
            <a:r>
              <a:rPr lang="en-US" altLang="zh-CN" sz="2000" b="1" dirty="0">
                <a:solidFill>
                  <a:srgbClr val="FF0000"/>
                </a:solidFill>
                <a:latin typeface="Microsoft Sans Serif" pitchFamily="34" charset="0"/>
                <a:cs typeface="Microsoft Sans Serif" pitchFamily="34" charset="0"/>
              </a:rPr>
              <a:t> </a:t>
            </a:r>
            <a:r>
              <a:rPr lang="en-US" altLang="zh-CN" sz="2000" b="1" dirty="0">
                <a:latin typeface="Microsoft Sans Serif" pitchFamily="34" charset="0"/>
                <a:cs typeface="Microsoft Sans Serif" pitchFamily="34" charset="0"/>
              </a:rPr>
              <a:t>of the E1 reaction</a:t>
            </a:r>
            <a:endParaRPr lang="zh-CN" altLang="en-US" sz="2000" b="1" dirty="0">
              <a:latin typeface="Microsoft Sans Serif" pitchFamily="34" charset="0"/>
              <a:cs typeface="Microsoft Sans Serif" pitchFamily="34"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573895734"/>
              </p:ext>
            </p:extLst>
          </p:nvPr>
        </p:nvGraphicFramePr>
        <p:xfrm>
          <a:off x="1703512" y="4653136"/>
          <a:ext cx="7915607" cy="1599188"/>
        </p:xfrm>
        <a:graphic>
          <a:graphicData uri="http://schemas.openxmlformats.org/presentationml/2006/ole">
            <mc:AlternateContent xmlns:mc="http://schemas.openxmlformats.org/markup-compatibility/2006">
              <mc:Choice xmlns:v="urn:schemas-microsoft-com:vml" Requires="v">
                <p:oleObj spid="_x0000_s59830" name="CS ChemDraw Drawing" r:id="rId3" imgW="5005822" imgH="1011654" progId="ChemDraw.Document.6.0">
                  <p:embed/>
                </p:oleObj>
              </mc:Choice>
              <mc:Fallback>
                <p:oleObj name="CS ChemDraw Drawing" r:id="rId3" imgW="5005822" imgH="1011654" progId="ChemDraw.Document.6.0">
                  <p:embed/>
                  <p:pic>
                    <p:nvPicPr>
                      <p:cNvPr id="0" name=""/>
                      <p:cNvPicPr/>
                      <p:nvPr/>
                    </p:nvPicPr>
                    <p:blipFill>
                      <a:blip r:embed="rId4"/>
                      <a:stretch>
                        <a:fillRect/>
                      </a:stretch>
                    </p:blipFill>
                    <p:spPr>
                      <a:xfrm>
                        <a:off x="1703512" y="4653136"/>
                        <a:ext cx="7915607" cy="1599188"/>
                      </a:xfrm>
                      <a:prstGeom prst="rect">
                        <a:avLst/>
                      </a:prstGeom>
                    </p:spPr>
                  </p:pic>
                </p:oleObj>
              </mc:Fallback>
            </mc:AlternateContent>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28</a:t>
            </a:fld>
            <a:endParaRPr lang="zh-CN" altLang="en-US"/>
          </a:p>
        </p:txBody>
      </p:sp>
      <p:graphicFrame>
        <p:nvGraphicFramePr>
          <p:cNvPr id="4" name="对象 3"/>
          <p:cNvGraphicFramePr>
            <a:graphicFrameLocks noChangeAspect="1"/>
          </p:cNvGraphicFramePr>
          <p:nvPr>
            <p:extLst>
              <p:ext uri="{D42A27DB-BD31-4B8C-83A1-F6EECF244321}">
                <p14:modId xmlns:p14="http://schemas.microsoft.com/office/powerpoint/2010/main" val="1300644884"/>
              </p:ext>
            </p:extLst>
          </p:nvPr>
        </p:nvGraphicFramePr>
        <p:xfrm>
          <a:off x="1257417" y="836712"/>
          <a:ext cx="9636910" cy="3096344"/>
        </p:xfrm>
        <a:graphic>
          <a:graphicData uri="http://schemas.openxmlformats.org/presentationml/2006/ole">
            <mc:AlternateContent xmlns:mc="http://schemas.openxmlformats.org/markup-compatibility/2006">
              <mc:Choice xmlns:v="urn:schemas-microsoft-com:vml" Requires="v">
                <p:oleObj spid="_x0000_s72870" name="CS ChemDraw Drawing" r:id="rId3" imgW="6640103" imgH="2133512" progId="ChemDraw.Document.6.0">
                  <p:embed/>
                </p:oleObj>
              </mc:Choice>
              <mc:Fallback>
                <p:oleObj name="CS ChemDraw Drawing" r:id="rId3" imgW="6640103" imgH="2133512" progId="ChemDraw.Document.6.0">
                  <p:embed/>
                  <p:pic>
                    <p:nvPicPr>
                      <p:cNvPr id="0" name=""/>
                      <p:cNvPicPr/>
                      <p:nvPr/>
                    </p:nvPicPr>
                    <p:blipFill>
                      <a:blip r:embed="rId4"/>
                      <a:stretch>
                        <a:fillRect/>
                      </a:stretch>
                    </p:blipFill>
                    <p:spPr>
                      <a:xfrm>
                        <a:off x="1257417" y="836712"/>
                        <a:ext cx="9636910" cy="3096344"/>
                      </a:xfrm>
                      <a:prstGeom prst="rect">
                        <a:avLst/>
                      </a:prstGeom>
                    </p:spPr>
                  </p:pic>
                </p:oleObj>
              </mc:Fallback>
            </mc:AlternateContent>
          </a:graphicData>
        </a:graphic>
      </p:graphicFrame>
      <p:sp>
        <p:nvSpPr>
          <p:cNvPr id="6" name="文本框 5"/>
          <p:cNvSpPr txBox="1"/>
          <p:nvPr/>
        </p:nvSpPr>
        <p:spPr>
          <a:xfrm>
            <a:off x="3576058" y="174630"/>
            <a:ext cx="6206735" cy="646331"/>
          </a:xfrm>
          <a:prstGeom prst="rect">
            <a:avLst/>
          </a:prstGeom>
          <a:noFill/>
        </p:spPr>
        <p:txBody>
          <a:bodyPr wrap="square" rtlCol="0">
            <a:spAutoFit/>
          </a:bodyPr>
          <a:lstStyle/>
          <a:p>
            <a:r>
              <a:rPr lang="en-US" altLang="zh-CN" b="1" dirty="0">
                <a:solidFill>
                  <a:srgbClr val="0000FF"/>
                </a:solidFill>
                <a:latin typeface="Consolas" panose="020B0609020204030204" pitchFamily="49" charset="0"/>
                <a:ea typeface="Microsoft Sans Serif" panose="020B0604020202020204" pitchFamily="34" charset="0"/>
                <a:cs typeface="Microsoft Sans Serif" panose="020B0604020202020204" pitchFamily="34" charset="0"/>
              </a:rPr>
              <a:t>Ethanol serves as a nucleophile in the substitution</a:t>
            </a:r>
            <a:r>
              <a:rPr lang="en-US" altLang="zh-CN" b="1" dirty="0">
                <a:latin typeface="Consolas" panose="020B0609020204030204" pitchFamily="49" charset="0"/>
                <a:ea typeface="Microsoft Sans Serif" panose="020B0604020202020204" pitchFamily="34" charset="0"/>
                <a:cs typeface="Microsoft Sans Serif" panose="020B0604020202020204" pitchFamily="34" charset="0"/>
              </a:rPr>
              <a:t> and </a:t>
            </a:r>
            <a:r>
              <a:rPr lang="en-US" altLang="zh-CN" b="1" dirty="0">
                <a:solidFill>
                  <a:srgbClr val="FF0000"/>
                </a:solidFill>
                <a:latin typeface="Consolas" panose="020B0609020204030204" pitchFamily="49" charset="0"/>
                <a:ea typeface="Microsoft Sans Serif" panose="020B0604020202020204" pitchFamily="34" charset="0"/>
                <a:cs typeface="Microsoft Sans Serif" panose="020B0604020202020204" pitchFamily="34" charset="0"/>
              </a:rPr>
              <a:t>as a base in the elimination</a:t>
            </a:r>
            <a:r>
              <a:rPr lang="en-US" altLang="zh-CN" b="1" dirty="0">
                <a:latin typeface="Consolas" panose="020B0609020204030204" pitchFamily="49" charset="0"/>
                <a:ea typeface="Microsoft Sans Serif" panose="020B0604020202020204" pitchFamily="34" charset="0"/>
                <a:cs typeface="Microsoft Sans Serif" panose="020B0604020202020204" pitchFamily="34" charset="0"/>
              </a:rPr>
              <a:t>.</a:t>
            </a:r>
            <a:endParaRPr lang="zh-CN" altLang="en-US" b="1" dirty="0">
              <a:latin typeface="Consolas" panose="020B0609020204030204" pitchFamily="49" charset="0"/>
              <a:cs typeface="Microsoft Sans Serif" panose="020B0604020202020204" pitchFamily="34" charset="0"/>
            </a:endParaRPr>
          </a:p>
        </p:txBody>
      </p:sp>
      <p:sp>
        <p:nvSpPr>
          <p:cNvPr id="7" name="TextBox 7"/>
          <p:cNvSpPr txBox="1"/>
          <p:nvPr/>
        </p:nvSpPr>
        <p:spPr>
          <a:xfrm>
            <a:off x="1070963" y="3384696"/>
            <a:ext cx="2448272" cy="923330"/>
          </a:xfrm>
          <a:prstGeom prst="rect">
            <a:avLst/>
          </a:prstGeom>
          <a:solidFill>
            <a:schemeClr val="bg1">
              <a:lumMod val="95000"/>
            </a:schemeClr>
          </a:solidFill>
          <a:ln w="28575">
            <a:solidFill>
              <a:schemeClr val="bg1">
                <a:lumMod val="75000"/>
              </a:schemeClr>
            </a:solidFill>
          </a:ln>
        </p:spPr>
        <p:txBody>
          <a:bodyPr wrap="square" rtlCol="0">
            <a:spAutoFit/>
          </a:bodyPr>
          <a:lstStyle/>
          <a:p>
            <a:r>
              <a:rPr lang="en-US" altLang="zh-CN" b="1" u="sng" dirty="0">
                <a:solidFill>
                  <a:srgbClr val="0000FF"/>
                </a:solidFill>
                <a:latin typeface="Consolas" panose="020B0609020204030204" pitchFamily="49" charset="0"/>
                <a:cs typeface="Microsoft Sans Serif" pitchFamily="34" charset="0"/>
              </a:rPr>
              <a:t>step 1</a:t>
            </a:r>
            <a:r>
              <a:rPr lang="en-US" altLang="zh-CN" b="1" dirty="0">
                <a:solidFill>
                  <a:srgbClr val="0000FF"/>
                </a:solidFill>
                <a:latin typeface="Consolas" panose="020B0609020204030204" pitchFamily="49" charset="0"/>
                <a:cs typeface="Microsoft Sans Serif" pitchFamily="34" charset="0"/>
              </a:rPr>
              <a:t> (key step)</a:t>
            </a:r>
            <a:r>
              <a:rPr lang="en-US" altLang="zh-CN" b="1" dirty="0">
                <a:latin typeface="Consolas" panose="020B0609020204030204" pitchFamily="49" charset="0"/>
                <a:cs typeface="Microsoft Sans Serif" pitchFamily="34" charset="0"/>
              </a:rPr>
              <a:t>: Ionization to form a </a:t>
            </a:r>
            <a:r>
              <a:rPr lang="en-US" altLang="zh-CN" b="1" dirty="0">
                <a:solidFill>
                  <a:srgbClr val="FF0000"/>
                </a:solidFill>
                <a:latin typeface="Consolas" panose="020B0609020204030204" pitchFamily="49" charset="0"/>
                <a:cs typeface="Microsoft Sans Serif" pitchFamily="34" charset="0"/>
              </a:rPr>
              <a:t>carbocation</a:t>
            </a:r>
            <a:endParaRPr lang="zh-CN" altLang="en-US" b="1" dirty="0">
              <a:solidFill>
                <a:srgbClr val="FF0000"/>
              </a:solidFill>
              <a:latin typeface="Consolas" panose="020B0609020204030204" pitchFamily="49" charset="0"/>
              <a:cs typeface="Microsoft Sans Serif" pitchFamily="34" charset="0"/>
            </a:endParaRPr>
          </a:p>
        </p:txBody>
      </p:sp>
      <p:sp>
        <p:nvSpPr>
          <p:cNvPr id="8" name="TextBox 3"/>
          <p:cNvSpPr txBox="1"/>
          <p:nvPr/>
        </p:nvSpPr>
        <p:spPr>
          <a:xfrm>
            <a:off x="8229323" y="3396538"/>
            <a:ext cx="3613269" cy="923330"/>
          </a:xfrm>
          <a:prstGeom prst="rect">
            <a:avLst/>
          </a:prstGeom>
          <a:solidFill>
            <a:schemeClr val="bg1">
              <a:lumMod val="95000"/>
            </a:schemeClr>
          </a:solidFill>
          <a:ln w="28575">
            <a:solidFill>
              <a:schemeClr val="bg1">
                <a:lumMod val="75000"/>
              </a:schemeClr>
            </a:solidFill>
          </a:ln>
        </p:spPr>
        <p:txBody>
          <a:bodyPr wrap="square" rtlCol="0">
            <a:spAutoFit/>
          </a:bodyPr>
          <a:lstStyle/>
          <a:p>
            <a:r>
              <a:rPr lang="en-US" altLang="zh-CN" b="1" u="sng" dirty="0">
                <a:solidFill>
                  <a:srgbClr val="0000FF"/>
                </a:solidFill>
                <a:latin typeface="Consolas" panose="020B0609020204030204" pitchFamily="49" charset="0"/>
                <a:cs typeface="Microsoft Sans Serif" pitchFamily="34" charset="0"/>
              </a:rPr>
              <a:t>step 2</a:t>
            </a:r>
            <a:r>
              <a:rPr lang="en-US" altLang="zh-CN" b="1" dirty="0">
                <a:solidFill>
                  <a:srgbClr val="0000FF"/>
                </a:solidFill>
                <a:latin typeface="Consolas" panose="020B0609020204030204" pitchFamily="49" charset="0"/>
                <a:cs typeface="Microsoft Sans Serif" pitchFamily="34" charset="0"/>
              </a:rPr>
              <a:t> (fast)</a:t>
            </a:r>
            <a:r>
              <a:rPr lang="en-US" altLang="zh-CN" b="1" dirty="0">
                <a:latin typeface="Consolas" panose="020B0609020204030204" pitchFamily="49" charset="0"/>
                <a:cs typeface="Microsoft Sans Serif" pitchFamily="34" charset="0"/>
              </a:rPr>
              <a:t>: Basic attack by the solvent abstracts a proton to give an alkene.</a:t>
            </a:r>
            <a:endParaRPr lang="zh-CN" altLang="en-US" b="1" dirty="0">
              <a:latin typeface="Consolas" panose="020B0609020204030204" pitchFamily="49" charset="0"/>
              <a:cs typeface="Microsoft Sans Serif" pitchFamily="34" charset="0"/>
            </a:endParaRPr>
          </a:p>
        </p:txBody>
      </p:sp>
      <p:sp>
        <p:nvSpPr>
          <p:cNvPr id="9" name="TextBox 6"/>
          <p:cNvSpPr txBox="1"/>
          <p:nvPr/>
        </p:nvSpPr>
        <p:spPr>
          <a:xfrm>
            <a:off x="315232" y="4667406"/>
            <a:ext cx="11521280" cy="2031325"/>
          </a:xfrm>
          <a:prstGeom prst="rect">
            <a:avLst/>
          </a:prstGeom>
          <a:noFill/>
        </p:spPr>
        <p:txBody>
          <a:bodyPr wrap="square" rtlCol="0">
            <a:spAutoFit/>
          </a:bodyPr>
          <a:lstStyle/>
          <a:p>
            <a:pPr marL="285750" indent="-285750">
              <a:buFont typeface="Arial" panose="020B0604020202020204" pitchFamily="34" charset="0"/>
              <a:buChar char="•"/>
            </a:pPr>
            <a:r>
              <a:rPr lang="en-US" altLang="zh-CN" b="1" dirty="0">
                <a:latin typeface="Microsoft Sans Serif" pitchFamily="34" charset="0"/>
                <a:cs typeface="Microsoft Sans Serif" pitchFamily="34" charset="0"/>
              </a:rPr>
              <a:t>The abbreviation of E1 stands for Elimination, </a:t>
            </a:r>
            <a:r>
              <a:rPr lang="en-US" altLang="zh-CN" b="1" dirty="0" err="1">
                <a:latin typeface="Microsoft Sans Serif" pitchFamily="34" charset="0"/>
                <a:cs typeface="Microsoft Sans Serif" pitchFamily="34" charset="0"/>
              </a:rPr>
              <a:t>unimolecular</a:t>
            </a:r>
            <a:r>
              <a:rPr lang="en-US" altLang="zh-CN" b="1" dirty="0">
                <a:latin typeface="Microsoft Sans Serif" pitchFamily="34" charset="0"/>
                <a:cs typeface="Microsoft Sans Serif" pitchFamily="34" charset="0"/>
              </a:rPr>
              <a:t>. The slow step of E1 reaction is the same as in the S</a:t>
            </a:r>
            <a:r>
              <a:rPr lang="en-US" altLang="zh-CN" b="1" baseline="-25000" dirty="0">
                <a:latin typeface="Microsoft Sans Serif" pitchFamily="34" charset="0"/>
                <a:cs typeface="Microsoft Sans Serif" pitchFamily="34" charset="0"/>
              </a:rPr>
              <a:t>N</a:t>
            </a:r>
            <a:r>
              <a:rPr lang="en-US" altLang="zh-CN" b="1" dirty="0">
                <a:latin typeface="Microsoft Sans Serif" pitchFamily="34" charset="0"/>
                <a:cs typeface="Microsoft Sans Serif" pitchFamily="34" charset="0"/>
              </a:rPr>
              <a:t>1 reaction: unimolecular ionization to form a carbocation.</a:t>
            </a:r>
          </a:p>
          <a:p>
            <a:endParaRPr lang="en-US" altLang="zh-CN" b="1" dirty="0">
              <a:latin typeface="Microsoft Sans Serif" pitchFamily="34" charset="0"/>
              <a:cs typeface="Microsoft Sans Serif" pitchFamily="34" charset="0"/>
            </a:endParaRPr>
          </a:p>
          <a:p>
            <a:pPr marL="285750" indent="-285750">
              <a:buFont typeface="Arial" panose="020B0604020202020204" pitchFamily="34" charset="0"/>
              <a:buChar char="•"/>
            </a:pPr>
            <a:r>
              <a:rPr lang="en-US" altLang="zh-CN" b="1" dirty="0">
                <a:latin typeface="Microsoft Sans Serif" pitchFamily="34" charset="0"/>
                <a:cs typeface="Microsoft Sans Serif" pitchFamily="34" charset="0"/>
              </a:rPr>
              <a:t>The E1 reaction requires ionization to a carbocation intermediate, so it follows the same </a:t>
            </a:r>
            <a:r>
              <a:rPr lang="en-US" altLang="zh-CN" b="1" u="sng" dirty="0">
                <a:solidFill>
                  <a:srgbClr val="0000FF"/>
                </a:solidFill>
                <a:latin typeface="Microsoft Sans Serif" pitchFamily="34" charset="0"/>
                <a:cs typeface="Microsoft Sans Serif" pitchFamily="34" charset="0"/>
              </a:rPr>
              <a:t>order of reactivity</a:t>
            </a:r>
            <a:r>
              <a:rPr lang="en-US" altLang="zh-CN" b="1" dirty="0">
                <a:solidFill>
                  <a:srgbClr val="0000FF"/>
                </a:solidFill>
                <a:latin typeface="Microsoft Sans Serif" pitchFamily="34" charset="0"/>
                <a:cs typeface="Microsoft Sans Serif" pitchFamily="34" charset="0"/>
              </a:rPr>
              <a:t>: </a:t>
            </a:r>
          </a:p>
          <a:p>
            <a:r>
              <a:rPr lang="en-US" altLang="zh-CN" b="1" dirty="0">
                <a:solidFill>
                  <a:srgbClr val="0000FF"/>
                </a:solidFill>
                <a:latin typeface="Microsoft Sans Serif" pitchFamily="34" charset="0"/>
                <a:cs typeface="Microsoft Sans Serif" pitchFamily="34" charset="0"/>
              </a:rPr>
              <a:t>3</a:t>
            </a:r>
            <a:r>
              <a:rPr lang="en-US" altLang="zh-CN" b="1" baseline="30000" dirty="0">
                <a:solidFill>
                  <a:srgbClr val="0000FF"/>
                </a:solidFill>
                <a:latin typeface="Microsoft Sans Serif" pitchFamily="34" charset="0"/>
                <a:cs typeface="Microsoft Sans Serif" pitchFamily="34" charset="0"/>
              </a:rPr>
              <a:t>o</a:t>
            </a:r>
            <a:r>
              <a:rPr lang="en-US" altLang="zh-CN" b="1" dirty="0">
                <a:solidFill>
                  <a:srgbClr val="0000FF"/>
                </a:solidFill>
                <a:latin typeface="Microsoft Sans Serif" pitchFamily="34" charset="0"/>
                <a:cs typeface="Microsoft Sans Serif" pitchFamily="34" charset="0"/>
              </a:rPr>
              <a:t> &gt; 2</a:t>
            </a:r>
            <a:r>
              <a:rPr lang="en-US" altLang="zh-CN" b="1" baseline="30000" dirty="0">
                <a:solidFill>
                  <a:srgbClr val="0000FF"/>
                </a:solidFill>
                <a:latin typeface="Microsoft Sans Serif" pitchFamily="34" charset="0"/>
                <a:cs typeface="Microsoft Sans Serif" pitchFamily="34" charset="0"/>
              </a:rPr>
              <a:t>o</a:t>
            </a:r>
            <a:r>
              <a:rPr lang="en-US" altLang="zh-CN" b="1" dirty="0">
                <a:solidFill>
                  <a:srgbClr val="0000FF"/>
                </a:solidFill>
                <a:latin typeface="Microsoft Sans Serif" pitchFamily="34" charset="0"/>
                <a:cs typeface="Microsoft Sans Serif" pitchFamily="34" charset="0"/>
              </a:rPr>
              <a:t> &gt;&gt; 1</a:t>
            </a:r>
            <a:r>
              <a:rPr lang="en-US" altLang="zh-CN" b="1" baseline="30000" dirty="0">
                <a:solidFill>
                  <a:srgbClr val="0000FF"/>
                </a:solidFill>
                <a:latin typeface="Microsoft Sans Serif" pitchFamily="34" charset="0"/>
                <a:cs typeface="Microsoft Sans Serif" pitchFamily="34" charset="0"/>
              </a:rPr>
              <a:t>o</a:t>
            </a:r>
            <a:r>
              <a:rPr lang="en-US" altLang="zh-CN" b="1" dirty="0">
                <a:solidFill>
                  <a:srgbClr val="0000FF"/>
                </a:solidFill>
                <a:latin typeface="Microsoft Sans Serif" pitchFamily="34" charset="0"/>
                <a:cs typeface="Microsoft Sans Serif" pitchFamily="34" charset="0"/>
              </a:rPr>
              <a:t> alkyl halides</a:t>
            </a:r>
          </a:p>
          <a:p>
            <a:endParaRPr lang="en-US" altLang="zh-CN" b="1" dirty="0">
              <a:solidFill>
                <a:srgbClr val="0000FF"/>
              </a:solidFill>
              <a:latin typeface="Microsoft Sans Serif" pitchFamily="34" charset="0"/>
              <a:cs typeface="Microsoft Sans Serif" pitchFamily="34" charset="0"/>
            </a:endParaRPr>
          </a:p>
          <a:p>
            <a:pPr marL="285750" indent="-285750">
              <a:buFont typeface="Arial" panose="020B0604020202020204" pitchFamily="34" charset="0"/>
              <a:buChar char="•"/>
            </a:pPr>
            <a:r>
              <a:rPr lang="en-US" altLang="zh-CN" b="1" dirty="0">
                <a:latin typeface="Microsoft Sans Serif" pitchFamily="34" charset="0"/>
                <a:cs typeface="Microsoft Sans Serif" pitchFamily="34" charset="0"/>
              </a:rPr>
              <a:t>Like other carbocation reactions, the </a:t>
            </a:r>
            <a:r>
              <a:rPr lang="en-US" altLang="zh-CN" b="1" dirty="0">
                <a:solidFill>
                  <a:srgbClr val="FF0000"/>
                </a:solidFill>
                <a:latin typeface="Microsoft Sans Serif" pitchFamily="34" charset="0"/>
                <a:cs typeface="Microsoft Sans Serif" pitchFamily="34" charset="0"/>
              </a:rPr>
              <a:t>E1 may be accompanied by rearrangement</a:t>
            </a:r>
            <a:r>
              <a:rPr lang="en-US" altLang="zh-CN" b="1" dirty="0">
                <a:latin typeface="Microsoft Sans Serif" pitchFamily="34" charset="0"/>
                <a:cs typeface="Microsoft Sans Serif" pitchFamily="34" charset="0"/>
              </a:rPr>
              <a:t>.</a:t>
            </a:r>
            <a:endParaRPr lang="zh-CN" altLang="en-US" b="1" dirty="0">
              <a:solidFill>
                <a:srgbClr val="0000FF"/>
              </a:solidFill>
              <a:latin typeface="Microsoft Sans Serif" pitchFamily="34" charset="0"/>
              <a:cs typeface="Microsoft Sans Serif" pitchFamily="34" charset="0"/>
            </a:endParaRPr>
          </a:p>
        </p:txBody>
      </p:sp>
      <p:sp>
        <p:nvSpPr>
          <p:cNvPr id="10" name="文本框 9"/>
          <p:cNvSpPr txBox="1"/>
          <p:nvPr/>
        </p:nvSpPr>
        <p:spPr>
          <a:xfrm>
            <a:off x="6153961" y="3211872"/>
            <a:ext cx="525465" cy="369332"/>
          </a:xfrm>
          <a:prstGeom prst="rect">
            <a:avLst/>
          </a:prstGeom>
          <a:noFill/>
        </p:spPr>
        <p:txBody>
          <a:bodyPr wrap="none" rtlCol="0">
            <a:spAutoFit/>
          </a:bodyPr>
          <a:lstStyle/>
          <a:p>
            <a:r>
              <a:rPr lang="en-US" altLang="zh-CN" dirty="0"/>
              <a:t>fast</a:t>
            </a:r>
            <a:endParaRPr lang="zh-CN" altLang="en-US" dirty="0"/>
          </a:p>
        </p:txBody>
      </p:sp>
    </p:spTree>
    <p:extLst>
      <p:ext uri="{BB962C8B-B14F-4D97-AF65-F5344CB8AC3E}">
        <p14:creationId xmlns:p14="http://schemas.microsoft.com/office/powerpoint/2010/main" val="35686430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29</a:t>
            </a:fld>
            <a:endParaRPr lang="zh-CN" altLang="en-US"/>
          </a:p>
        </p:txBody>
      </p:sp>
      <p:sp>
        <p:nvSpPr>
          <p:cNvPr id="3" name="TextBox 2"/>
          <p:cNvSpPr txBox="1"/>
          <p:nvPr/>
        </p:nvSpPr>
        <p:spPr>
          <a:xfrm>
            <a:off x="263352" y="904868"/>
            <a:ext cx="11377264" cy="2308324"/>
          </a:xfrm>
          <a:prstGeom prst="rect">
            <a:avLst/>
          </a:prstGeom>
          <a:noFill/>
        </p:spPr>
        <p:txBody>
          <a:bodyPr wrap="square" rtlCol="0">
            <a:spAutoFit/>
          </a:bodyPr>
          <a:lstStyle/>
          <a:p>
            <a:pPr>
              <a:buFont typeface="Arial" pitchFamily="34" charset="0"/>
              <a:buChar char="•"/>
            </a:pPr>
            <a:r>
              <a:rPr lang="en-US" altLang="zh-CN" b="1" dirty="0">
                <a:latin typeface="Microsoft Sans Serif" pitchFamily="34" charset="0"/>
                <a:cs typeface="Microsoft Sans Serif" pitchFamily="34" charset="0"/>
              </a:rPr>
              <a:t> Many compounds can eliminate in more than one way, to give mixtures of products. In many cases, we can predict which elimination product will predominate.</a:t>
            </a:r>
          </a:p>
          <a:p>
            <a:pPr>
              <a:buFont typeface="Arial" pitchFamily="34" charset="0"/>
              <a:buChar char="•"/>
            </a:pPr>
            <a:endParaRPr lang="en-US" altLang="zh-CN" b="1" dirty="0">
              <a:latin typeface="Microsoft Sans Serif" pitchFamily="34" charset="0"/>
              <a:cs typeface="Microsoft Sans Serif" pitchFamily="34" charset="0"/>
            </a:endParaRPr>
          </a:p>
          <a:p>
            <a:pPr>
              <a:buFont typeface="Arial" pitchFamily="34" charset="0"/>
              <a:buChar char="•"/>
            </a:pPr>
            <a:r>
              <a:rPr lang="en-US" altLang="zh-CN" b="1" dirty="0">
                <a:latin typeface="Microsoft Sans Serif" pitchFamily="34" charset="0"/>
                <a:cs typeface="Microsoft Sans Serif" pitchFamily="34" charset="0"/>
              </a:rPr>
              <a:t> </a:t>
            </a:r>
            <a:r>
              <a:rPr lang="en-US" altLang="zh-CN" b="1" dirty="0">
                <a:solidFill>
                  <a:srgbClr val="0000FF"/>
                </a:solidFill>
                <a:latin typeface="Microsoft Sans Serif" pitchFamily="34" charset="0"/>
                <a:cs typeface="Microsoft Sans Serif" pitchFamily="34" charset="0"/>
              </a:rPr>
              <a:t>In most Eliminations where there are two or more possible elimination products</a:t>
            </a:r>
            <a:r>
              <a:rPr lang="en-US" altLang="zh-CN" b="1" dirty="0">
                <a:latin typeface="Microsoft Sans Serif" pitchFamily="34" charset="0"/>
                <a:cs typeface="Microsoft Sans Serif" pitchFamily="34" charset="0"/>
              </a:rPr>
              <a:t>, </a:t>
            </a:r>
            <a:r>
              <a:rPr lang="en-US" altLang="zh-CN" b="1" dirty="0">
                <a:solidFill>
                  <a:srgbClr val="FF0000"/>
                </a:solidFill>
                <a:latin typeface="Microsoft Sans Serif" pitchFamily="34" charset="0"/>
                <a:cs typeface="Microsoft Sans Serif" pitchFamily="34" charset="0"/>
              </a:rPr>
              <a:t>the product with the most substituted double bond (the most stable alkene) will predominate</a:t>
            </a:r>
            <a:r>
              <a:rPr lang="en-US" altLang="zh-CN" b="1" dirty="0">
                <a:latin typeface="Microsoft Sans Serif" pitchFamily="34" charset="0"/>
                <a:cs typeface="Microsoft Sans Serif" pitchFamily="34" charset="0"/>
              </a:rPr>
              <a:t>.</a:t>
            </a:r>
          </a:p>
          <a:p>
            <a:pPr>
              <a:buFont typeface="Arial" pitchFamily="34" charset="0"/>
              <a:buChar char="•"/>
            </a:pPr>
            <a:endParaRPr lang="en-US" altLang="zh-CN" b="1" dirty="0">
              <a:latin typeface="Microsoft Sans Serif" pitchFamily="34" charset="0"/>
              <a:cs typeface="Microsoft Sans Serif" pitchFamily="34" charset="0"/>
            </a:endParaRPr>
          </a:p>
          <a:p>
            <a:pPr>
              <a:buFont typeface="Arial" pitchFamily="34" charset="0"/>
              <a:buChar char="•"/>
            </a:pPr>
            <a:r>
              <a:rPr lang="en-US" altLang="zh-CN" b="1" dirty="0">
                <a:latin typeface="Microsoft Sans Serif" pitchFamily="34" charset="0"/>
                <a:cs typeface="Microsoft Sans Serif" pitchFamily="34" charset="0"/>
              </a:rPr>
              <a:t> This principle is called </a:t>
            </a:r>
            <a:r>
              <a:rPr lang="en-US" altLang="zh-CN" b="1" dirty="0">
                <a:solidFill>
                  <a:srgbClr val="0000FF"/>
                </a:solidFill>
                <a:latin typeface="Microsoft Sans Serif" pitchFamily="34" charset="0"/>
                <a:cs typeface="Microsoft Sans Serif" pitchFamily="34" charset="0"/>
              </a:rPr>
              <a:t>Zaitsev’s rule</a:t>
            </a:r>
            <a:r>
              <a:rPr lang="en-US" altLang="zh-CN" b="1" dirty="0">
                <a:latin typeface="Microsoft Sans Serif" pitchFamily="34" charset="0"/>
                <a:cs typeface="Microsoft Sans Serif" pitchFamily="34" charset="0"/>
              </a:rPr>
              <a:t>, and reactions that give the most substituted alkene are said to follow </a:t>
            </a:r>
            <a:r>
              <a:rPr lang="en-US" altLang="zh-CN" b="1" dirty="0" err="1">
                <a:solidFill>
                  <a:srgbClr val="0000FF"/>
                </a:solidFill>
                <a:latin typeface="Microsoft Sans Serif" pitchFamily="34" charset="0"/>
                <a:cs typeface="Microsoft Sans Serif" pitchFamily="34" charset="0"/>
              </a:rPr>
              <a:t>Zaitsev</a:t>
            </a:r>
            <a:r>
              <a:rPr lang="en-US" altLang="zh-CN" b="1" dirty="0">
                <a:solidFill>
                  <a:srgbClr val="0000FF"/>
                </a:solidFill>
                <a:latin typeface="Microsoft Sans Serif" pitchFamily="34" charset="0"/>
                <a:cs typeface="Microsoft Sans Serif" pitchFamily="34" charset="0"/>
              </a:rPr>
              <a:t> orientation</a:t>
            </a:r>
            <a:r>
              <a:rPr lang="en-US" altLang="zh-CN" b="1" dirty="0">
                <a:latin typeface="Microsoft Sans Serif" pitchFamily="34" charset="0"/>
                <a:cs typeface="Microsoft Sans Serif" pitchFamily="34" charset="0"/>
              </a:rPr>
              <a:t>.</a:t>
            </a:r>
            <a:endParaRPr lang="zh-CN" altLang="en-US" b="1" dirty="0">
              <a:latin typeface="Microsoft Sans Serif" pitchFamily="34" charset="0"/>
              <a:cs typeface="Microsoft Sans Serif" pitchFamily="34" charset="0"/>
            </a:endParaRPr>
          </a:p>
        </p:txBody>
      </p:sp>
      <p:sp>
        <p:nvSpPr>
          <p:cNvPr id="8" name="矩形 7"/>
          <p:cNvSpPr/>
          <p:nvPr/>
        </p:nvSpPr>
        <p:spPr>
          <a:xfrm>
            <a:off x="-14928" y="240471"/>
            <a:ext cx="6660232" cy="400110"/>
          </a:xfrm>
          <a:prstGeom prst="rect">
            <a:avLst/>
          </a:prstGeom>
          <a:solidFill>
            <a:schemeClr val="tx2">
              <a:lumMod val="20000"/>
              <a:lumOff val="80000"/>
            </a:schemeClr>
          </a:solidFill>
        </p:spPr>
        <p:txBody>
          <a:bodyPr wrap="square">
            <a:spAutoFit/>
          </a:bodyPr>
          <a:lstStyle/>
          <a:p>
            <a:r>
              <a:rPr lang="en-US" altLang="zh-CN" sz="2000" b="1" dirty="0">
                <a:latin typeface="Microsoft Sans Serif" pitchFamily="34" charset="0"/>
                <a:cs typeface="Microsoft Sans Serif" pitchFamily="34" charset="0"/>
              </a:rPr>
              <a:t>7-8-2 Positional orientation of Elimination: </a:t>
            </a:r>
            <a:r>
              <a:rPr lang="en-US" altLang="zh-CN" sz="2000" b="1" dirty="0">
                <a:solidFill>
                  <a:srgbClr val="0000FF"/>
                </a:solidFill>
                <a:latin typeface="Microsoft Sans Serif" pitchFamily="34" charset="0"/>
                <a:cs typeface="Microsoft Sans Serif" pitchFamily="34" charset="0"/>
              </a:rPr>
              <a:t>Zaitsev’s rule</a:t>
            </a:r>
          </a:p>
        </p:txBody>
      </p:sp>
      <p:sp>
        <p:nvSpPr>
          <p:cNvPr id="5" name="文本框 4"/>
          <p:cNvSpPr txBox="1"/>
          <p:nvPr/>
        </p:nvSpPr>
        <p:spPr>
          <a:xfrm>
            <a:off x="4511824" y="5569793"/>
            <a:ext cx="2765501" cy="338554"/>
          </a:xfrm>
          <a:prstGeom prst="rect">
            <a:avLst/>
          </a:prstGeom>
          <a:noFill/>
        </p:spPr>
        <p:txBody>
          <a:bodyPr wrap="none" rtlCol="0">
            <a:spAutoFit/>
          </a:bodyPr>
          <a:lstStyle/>
          <a:p>
            <a:r>
              <a:rPr lang="en-US" altLang="zh-CN" sz="1600" b="1" dirty="0">
                <a:latin typeface="Consolas" panose="020B0609020204030204" pitchFamily="49" charset="0"/>
              </a:rPr>
              <a:t>(</a:t>
            </a:r>
            <a:r>
              <a:rPr lang="en-US" altLang="zh-CN" sz="1600" b="1" dirty="0" err="1">
                <a:solidFill>
                  <a:srgbClr val="92D050"/>
                </a:solidFill>
                <a:latin typeface="Consolas" panose="020B0609020204030204" pitchFamily="49" charset="0"/>
              </a:rPr>
              <a:t>trisubstituted</a:t>
            </a:r>
            <a:r>
              <a:rPr lang="en-US" altLang="zh-CN" sz="1600" b="1" dirty="0">
                <a:latin typeface="Consolas" panose="020B0609020204030204" pitchFamily="49" charset="0"/>
              </a:rPr>
              <a:t> </a:t>
            </a:r>
            <a:r>
              <a:rPr lang="en-US" altLang="zh-CN" sz="1600" b="1" dirty="0">
                <a:solidFill>
                  <a:srgbClr val="FF0000"/>
                </a:solidFill>
                <a:latin typeface="Consolas" panose="020B0609020204030204" pitchFamily="49" charset="0"/>
              </a:rPr>
              <a:t>alkene</a:t>
            </a:r>
            <a:r>
              <a:rPr lang="en-US" altLang="zh-CN" sz="1600" b="1" dirty="0">
                <a:latin typeface="Consolas" panose="020B0609020204030204" pitchFamily="49" charset="0"/>
              </a:rPr>
              <a:t>)</a:t>
            </a:r>
            <a:endParaRPr lang="zh-CN" altLang="en-US" sz="1600" b="1" dirty="0">
              <a:latin typeface="Consolas" panose="020B0609020204030204" pitchFamily="49" charset="0"/>
            </a:endParaRPr>
          </a:p>
        </p:txBody>
      </p:sp>
      <p:sp>
        <p:nvSpPr>
          <p:cNvPr id="11" name="文本框 10"/>
          <p:cNvSpPr txBox="1"/>
          <p:nvPr/>
        </p:nvSpPr>
        <p:spPr>
          <a:xfrm>
            <a:off x="7392144" y="5574554"/>
            <a:ext cx="2653290" cy="338554"/>
          </a:xfrm>
          <a:prstGeom prst="rect">
            <a:avLst/>
          </a:prstGeom>
          <a:noFill/>
        </p:spPr>
        <p:txBody>
          <a:bodyPr wrap="none" rtlCol="0">
            <a:spAutoFit/>
          </a:bodyPr>
          <a:lstStyle/>
          <a:p>
            <a:r>
              <a:rPr lang="en-US" altLang="zh-CN" sz="1600" b="1" dirty="0">
                <a:latin typeface="Consolas" panose="020B0609020204030204" pitchFamily="49" charset="0"/>
              </a:rPr>
              <a:t>(</a:t>
            </a:r>
            <a:r>
              <a:rPr lang="en-US" altLang="zh-CN" sz="1600" b="1" dirty="0" err="1">
                <a:solidFill>
                  <a:srgbClr val="92D050"/>
                </a:solidFill>
                <a:latin typeface="Consolas" panose="020B0609020204030204" pitchFamily="49" charset="0"/>
              </a:rPr>
              <a:t>disubstituted</a:t>
            </a:r>
            <a:r>
              <a:rPr lang="en-US" altLang="zh-CN" sz="1600" b="1" dirty="0">
                <a:latin typeface="Consolas" panose="020B0609020204030204" pitchFamily="49" charset="0"/>
              </a:rPr>
              <a:t> </a:t>
            </a:r>
            <a:r>
              <a:rPr lang="en-US" altLang="zh-CN" sz="1600" b="1" dirty="0">
                <a:solidFill>
                  <a:srgbClr val="FF0000"/>
                </a:solidFill>
                <a:latin typeface="Consolas" panose="020B0609020204030204" pitchFamily="49" charset="0"/>
              </a:rPr>
              <a:t>alkene</a:t>
            </a:r>
            <a:r>
              <a:rPr lang="en-US" altLang="zh-CN" sz="1600" b="1" dirty="0">
                <a:latin typeface="Consolas" panose="020B0609020204030204" pitchFamily="49" charset="0"/>
              </a:rPr>
              <a:t>)</a:t>
            </a:r>
            <a:endParaRPr lang="zh-CN" altLang="en-US" sz="1600" b="1" dirty="0">
              <a:latin typeface="Consolas" panose="020B0609020204030204" pitchFamily="49" charset="0"/>
            </a:endParaRPr>
          </a:p>
        </p:txBody>
      </p:sp>
      <p:sp>
        <p:nvSpPr>
          <p:cNvPr id="6" name="椭圆 5"/>
          <p:cNvSpPr/>
          <p:nvPr/>
        </p:nvSpPr>
        <p:spPr>
          <a:xfrm>
            <a:off x="6141248" y="4341143"/>
            <a:ext cx="530816" cy="432048"/>
          </a:xfrm>
          <a:prstGeom prst="ellipse">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5087888" y="4341143"/>
            <a:ext cx="530816" cy="432048"/>
          </a:xfrm>
          <a:prstGeom prst="ellipse">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5875840" y="4643412"/>
            <a:ext cx="530816" cy="432048"/>
          </a:xfrm>
          <a:prstGeom prst="ellipse">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8400256" y="4034685"/>
            <a:ext cx="530816" cy="432048"/>
          </a:xfrm>
          <a:prstGeom prst="ellipse">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7392144" y="4357761"/>
            <a:ext cx="1008112" cy="432048"/>
          </a:xfrm>
          <a:prstGeom prst="ellipse">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7" name="对象 6"/>
          <p:cNvGraphicFramePr>
            <a:graphicFrameLocks noChangeAspect="1"/>
          </p:cNvGraphicFramePr>
          <p:nvPr>
            <p:extLst>
              <p:ext uri="{D42A27DB-BD31-4B8C-83A1-F6EECF244321}">
                <p14:modId xmlns:p14="http://schemas.microsoft.com/office/powerpoint/2010/main" val="1420339220"/>
              </p:ext>
            </p:extLst>
          </p:nvPr>
        </p:nvGraphicFramePr>
        <p:xfrm>
          <a:off x="1415481" y="4106088"/>
          <a:ext cx="7915126" cy="1463705"/>
        </p:xfrm>
        <a:graphic>
          <a:graphicData uri="http://schemas.openxmlformats.org/presentationml/2006/ole">
            <mc:AlternateContent xmlns:mc="http://schemas.openxmlformats.org/markup-compatibility/2006">
              <mc:Choice xmlns:v="urn:schemas-microsoft-com:vml" Requires="v">
                <p:oleObj spid="_x0000_s63192" name="CS ChemDraw Drawing" r:id="rId3" imgW="4971101" imgH="918496" progId="ChemDraw.Document.6.0">
                  <p:embed/>
                </p:oleObj>
              </mc:Choice>
              <mc:Fallback>
                <p:oleObj name="CS ChemDraw Drawing" r:id="rId3" imgW="4971101" imgH="918496" progId="ChemDraw.Document.6.0">
                  <p:embed/>
                  <p:pic>
                    <p:nvPicPr>
                      <p:cNvPr id="0" name=""/>
                      <p:cNvPicPr/>
                      <p:nvPr/>
                    </p:nvPicPr>
                    <p:blipFill>
                      <a:blip r:embed="rId4"/>
                      <a:stretch>
                        <a:fillRect/>
                      </a:stretch>
                    </p:blipFill>
                    <p:spPr>
                      <a:xfrm>
                        <a:off x="1415481" y="4106088"/>
                        <a:ext cx="7915126" cy="1463705"/>
                      </a:xfrm>
                      <a:prstGeom prst="rect">
                        <a:avLst/>
                      </a:prstGeom>
                    </p:spPr>
                  </p:pic>
                </p:oleObj>
              </mc:Fallback>
            </mc:AlternateContent>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30</a:t>
            </a:fld>
            <a:endParaRPr lang="zh-CN" altLang="en-US"/>
          </a:p>
        </p:txBody>
      </p:sp>
      <p:sp>
        <p:nvSpPr>
          <p:cNvPr id="4" name="TextBox 8"/>
          <p:cNvSpPr txBox="1"/>
          <p:nvPr/>
        </p:nvSpPr>
        <p:spPr>
          <a:xfrm>
            <a:off x="623392" y="5376706"/>
            <a:ext cx="2304256" cy="584775"/>
          </a:xfrm>
          <a:prstGeom prst="rect">
            <a:avLst/>
          </a:prstGeom>
          <a:noFill/>
        </p:spPr>
        <p:txBody>
          <a:bodyPr wrap="square" rtlCol="0">
            <a:spAutoFit/>
          </a:bodyPr>
          <a:lstStyle/>
          <a:p>
            <a:r>
              <a:rPr lang="en-US" altLang="zh-CN" sz="1600" b="1" dirty="0">
                <a:latin typeface="Consolas" panose="020B0609020204030204" pitchFamily="49" charset="0"/>
                <a:cs typeface="Microsoft Sans Serif" pitchFamily="34" charset="0"/>
              </a:rPr>
              <a:t>Relative stability of alkenes:</a:t>
            </a:r>
            <a:endParaRPr lang="zh-CN" altLang="en-US" sz="1600" b="1" dirty="0">
              <a:latin typeface="Consolas" panose="020B0609020204030204" pitchFamily="49" charset="0"/>
              <a:cs typeface="Microsoft Sans Serif" pitchFamily="34" charset="0"/>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2332414335"/>
              </p:ext>
            </p:extLst>
          </p:nvPr>
        </p:nvGraphicFramePr>
        <p:xfrm>
          <a:off x="1127448" y="255315"/>
          <a:ext cx="10270522" cy="3281886"/>
        </p:xfrm>
        <a:graphic>
          <a:graphicData uri="http://schemas.openxmlformats.org/presentationml/2006/ole">
            <mc:AlternateContent xmlns:mc="http://schemas.openxmlformats.org/markup-compatibility/2006">
              <mc:Choice xmlns:v="urn:schemas-microsoft-com:vml" Requires="v">
                <p:oleObj spid="_x0000_s74008" name="CS ChemDraw Drawing" r:id="rId3" imgW="6408099" imgH="2047886" progId="ChemDraw.Document.6.0">
                  <p:embed/>
                </p:oleObj>
              </mc:Choice>
              <mc:Fallback>
                <p:oleObj name="CS ChemDraw Drawing" r:id="rId3" imgW="6408099" imgH="2047886" progId="ChemDraw.Document.6.0">
                  <p:embed/>
                  <p:pic>
                    <p:nvPicPr>
                      <p:cNvPr id="0" name=""/>
                      <p:cNvPicPr/>
                      <p:nvPr/>
                    </p:nvPicPr>
                    <p:blipFill>
                      <a:blip r:embed="rId4"/>
                      <a:stretch>
                        <a:fillRect/>
                      </a:stretch>
                    </p:blipFill>
                    <p:spPr>
                      <a:xfrm>
                        <a:off x="1127448" y="255315"/>
                        <a:ext cx="10270522" cy="3281886"/>
                      </a:xfrm>
                      <a:prstGeom prst="rect">
                        <a:avLst/>
                      </a:prstGeom>
                    </p:spPr>
                  </p:pic>
                </p:oleObj>
              </mc:Fallback>
            </mc:AlternateContent>
          </a:graphicData>
        </a:graphic>
      </p:graphicFrame>
      <p:sp>
        <p:nvSpPr>
          <p:cNvPr id="8" name="文本框 7"/>
          <p:cNvSpPr txBox="1"/>
          <p:nvPr/>
        </p:nvSpPr>
        <p:spPr>
          <a:xfrm>
            <a:off x="335360" y="3862150"/>
            <a:ext cx="11377264" cy="646331"/>
          </a:xfrm>
          <a:prstGeom prst="rect">
            <a:avLst/>
          </a:prstGeom>
          <a:noFill/>
        </p:spPr>
        <p:txBody>
          <a:bodyPr wrap="square" rtlCol="0">
            <a:spAutoFit/>
          </a:bodyPr>
          <a:lstStyle/>
          <a:p>
            <a:pPr marL="285750" indent="-285750">
              <a:buFont typeface="Arial" panose="020B0604020202020204" pitchFamily="34" charset="0"/>
              <a:buChar char="•"/>
            </a:pPr>
            <a:r>
              <a:rPr lang="en-US" altLang="zh-CN" b="1" dirty="0">
                <a:latin typeface="Microsoft Sans Serif" panose="020B0604020202020204" pitchFamily="34" charset="0"/>
                <a:ea typeface="Microsoft Sans Serif" panose="020B0604020202020204" pitchFamily="34" charset="0"/>
                <a:cs typeface="Microsoft Sans Serif" panose="020B0604020202020204" pitchFamily="34" charset="0"/>
              </a:rPr>
              <a:t>Zaitsev’s rule: In elimination reactions, the most substituted alkene usually predominates. </a:t>
            </a:r>
            <a:r>
              <a:rPr lang="en-US" altLang="zh-CN" b="1" dirty="0">
                <a:solidFill>
                  <a:srgbClr val="0000FF"/>
                </a:solidFill>
                <a:latin typeface="Microsoft Sans Serif" panose="020B0604020202020204" pitchFamily="34" charset="0"/>
                <a:ea typeface="Microsoft Sans Serif" panose="020B0604020202020204" pitchFamily="34" charset="0"/>
                <a:cs typeface="Microsoft Sans Serif" panose="020B0604020202020204" pitchFamily="34" charset="0"/>
              </a:rPr>
              <a:t>This order of preference</a:t>
            </a:r>
            <a:r>
              <a:rPr lang="en-US" altLang="zh-CN" b="1" dirty="0">
                <a:latin typeface="Microsoft Sans Serif" panose="020B0604020202020204" pitchFamily="34" charset="0"/>
                <a:ea typeface="Microsoft Sans Serif" panose="020B0604020202020204" pitchFamily="34" charset="0"/>
                <a:cs typeface="Microsoft Sans Serif" panose="020B0604020202020204" pitchFamily="34" charset="0"/>
              </a:rPr>
              <a:t> is </a:t>
            </a:r>
            <a:r>
              <a:rPr lang="en-US" altLang="zh-CN"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the same as </a:t>
            </a:r>
            <a:r>
              <a:rPr lang="en-US" altLang="zh-CN" b="1" dirty="0">
                <a:solidFill>
                  <a:srgbClr val="0000FF"/>
                </a:solidFill>
                <a:latin typeface="Microsoft Sans Serif" panose="020B0604020202020204" pitchFamily="34" charset="0"/>
                <a:ea typeface="Microsoft Sans Serif" panose="020B0604020202020204" pitchFamily="34" charset="0"/>
                <a:cs typeface="Microsoft Sans Serif" panose="020B0604020202020204" pitchFamily="34" charset="0"/>
              </a:rPr>
              <a:t>the order of stability of alkenes</a:t>
            </a:r>
            <a:r>
              <a:rPr lang="en-US" altLang="zh-CN" b="1" dirty="0">
                <a:latin typeface="Microsoft Sans Serif" panose="020B0604020202020204" pitchFamily="34" charset="0"/>
                <a:ea typeface="Microsoft Sans Serif" panose="020B0604020202020204" pitchFamily="34" charset="0"/>
                <a:cs typeface="Microsoft Sans Serif" panose="020B0604020202020204" pitchFamily="34" charset="0"/>
              </a:rPr>
              <a:t>.</a:t>
            </a:r>
            <a:endParaRPr lang="zh-CN" altLang="en-US" b="1" dirty="0">
              <a:latin typeface="Microsoft Sans Serif" panose="020B0604020202020204" pitchFamily="34" charset="0"/>
              <a:cs typeface="Microsoft Sans Serif" panose="020B0604020202020204" pitchFamily="34" charset="0"/>
            </a:endParaRPr>
          </a:p>
        </p:txBody>
      </p:sp>
      <p:graphicFrame>
        <p:nvGraphicFramePr>
          <p:cNvPr id="9" name="对象 8"/>
          <p:cNvGraphicFramePr>
            <a:graphicFrameLocks noChangeAspect="1"/>
          </p:cNvGraphicFramePr>
          <p:nvPr>
            <p:extLst>
              <p:ext uri="{D42A27DB-BD31-4B8C-83A1-F6EECF244321}">
                <p14:modId xmlns:p14="http://schemas.microsoft.com/office/powerpoint/2010/main" val="3363467532"/>
              </p:ext>
            </p:extLst>
          </p:nvPr>
        </p:nvGraphicFramePr>
        <p:xfrm>
          <a:off x="2783632" y="4635005"/>
          <a:ext cx="6734941" cy="2068175"/>
        </p:xfrm>
        <a:graphic>
          <a:graphicData uri="http://schemas.openxmlformats.org/presentationml/2006/ole">
            <mc:AlternateContent xmlns:mc="http://schemas.openxmlformats.org/markup-compatibility/2006">
              <mc:Choice xmlns:v="urn:schemas-microsoft-com:vml" Requires="v">
                <p:oleObj spid="_x0000_s74009" name="CS ChemDraw Drawing" r:id="rId5" imgW="4797098" imgH="1473479" progId="ChemDraw.Document.6.0">
                  <p:embed/>
                </p:oleObj>
              </mc:Choice>
              <mc:Fallback>
                <p:oleObj name="CS ChemDraw Drawing" r:id="rId5" imgW="4797098" imgH="1473479" progId="ChemDraw.Document.6.0">
                  <p:embed/>
                  <p:pic>
                    <p:nvPicPr>
                      <p:cNvPr id="0" name=""/>
                      <p:cNvPicPr/>
                      <p:nvPr/>
                    </p:nvPicPr>
                    <p:blipFill>
                      <a:blip r:embed="rId6"/>
                      <a:stretch>
                        <a:fillRect/>
                      </a:stretch>
                    </p:blipFill>
                    <p:spPr>
                      <a:xfrm>
                        <a:off x="2783632" y="4635005"/>
                        <a:ext cx="6734941" cy="2068175"/>
                      </a:xfrm>
                      <a:prstGeom prst="rect">
                        <a:avLst/>
                      </a:prstGeom>
                    </p:spPr>
                  </p:pic>
                </p:oleObj>
              </mc:Fallback>
            </mc:AlternateContent>
          </a:graphicData>
        </a:graphic>
      </p:graphicFrame>
      <p:sp>
        <p:nvSpPr>
          <p:cNvPr id="10" name="椭圆 9"/>
          <p:cNvSpPr/>
          <p:nvPr/>
        </p:nvSpPr>
        <p:spPr>
          <a:xfrm>
            <a:off x="3215680" y="5487841"/>
            <a:ext cx="330372" cy="362502"/>
          </a:xfrm>
          <a:prstGeom prst="ellipse">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3215680" y="5961481"/>
            <a:ext cx="330372" cy="362502"/>
          </a:xfrm>
          <a:prstGeom prst="ellipse">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3774294" y="5487841"/>
            <a:ext cx="330372" cy="362502"/>
          </a:xfrm>
          <a:prstGeom prst="ellipse">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3774294" y="5970299"/>
            <a:ext cx="330372" cy="362502"/>
          </a:xfrm>
          <a:prstGeom prst="ellipse">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5139043" y="5489279"/>
            <a:ext cx="330372" cy="362502"/>
          </a:xfrm>
          <a:prstGeom prst="ellipse">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5679435" y="5487841"/>
            <a:ext cx="330372" cy="362502"/>
          </a:xfrm>
          <a:prstGeom prst="ellipse">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5139043" y="5994048"/>
            <a:ext cx="330372" cy="362502"/>
          </a:xfrm>
          <a:prstGeom prst="ellipse">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6672064" y="4508481"/>
            <a:ext cx="330372" cy="362502"/>
          </a:xfrm>
          <a:prstGeom prst="ellipse">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7248128" y="5014204"/>
            <a:ext cx="330372" cy="362502"/>
          </a:xfrm>
          <a:prstGeom prst="ellipse">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7234779" y="5503230"/>
            <a:ext cx="330372" cy="362502"/>
          </a:xfrm>
          <a:prstGeom prst="ellipse">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nvSpPr>
        <p:spPr>
          <a:xfrm>
            <a:off x="7243406" y="5970299"/>
            <a:ext cx="330372" cy="362502"/>
          </a:xfrm>
          <a:prstGeom prst="ellipse">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p:nvPr/>
        </p:nvSpPr>
        <p:spPr>
          <a:xfrm>
            <a:off x="8805795" y="5486627"/>
            <a:ext cx="330372" cy="362502"/>
          </a:xfrm>
          <a:prstGeom prst="ellipse">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673407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椭圆 16"/>
          <p:cNvSpPr/>
          <p:nvPr/>
        </p:nvSpPr>
        <p:spPr>
          <a:xfrm>
            <a:off x="9809212" y="5147738"/>
            <a:ext cx="504056" cy="360040"/>
          </a:xfrm>
          <a:prstGeom prst="ellipse">
            <a:avLst/>
          </a:prstGeom>
          <a:solidFill>
            <a:srgbClr val="FFFF0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9665196" y="4868553"/>
            <a:ext cx="504056" cy="360040"/>
          </a:xfrm>
          <a:prstGeom prst="ellipse">
            <a:avLst/>
          </a:prstGeom>
          <a:solidFill>
            <a:srgbClr val="FFFF0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9809212" y="4508513"/>
            <a:ext cx="504056" cy="360040"/>
          </a:xfrm>
          <a:prstGeom prst="ellipse">
            <a:avLst/>
          </a:prstGeom>
          <a:solidFill>
            <a:srgbClr val="FFFF0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灯片编号占位符 1"/>
          <p:cNvSpPr>
            <a:spLocks noGrp="1"/>
          </p:cNvSpPr>
          <p:nvPr>
            <p:ph type="sldNum" sz="quarter" idx="12"/>
          </p:nvPr>
        </p:nvSpPr>
        <p:spPr/>
        <p:txBody>
          <a:bodyPr/>
          <a:lstStyle/>
          <a:p>
            <a:fld id="{0C913308-F349-4B6D-A68A-DD1791B4A57B}" type="slidenum">
              <a:rPr lang="zh-CN" altLang="en-US" smtClean="0"/>
              <a:pPr/>
              <a:t>31</a:t>
            </a:fld>
            <a:endParaRPr lang="zh-CN" altLang="en-US"/>
          </a:p>
        </p:txBody>
      </p:sp>
      <p:sp>
        <p:nvSpPr>
          <p:cNvPr id="3" name="TextBox 2"/>
          <p:cNvSpPr txBox="1"/>
          <p:nvPr/>
        </p:nvSpPr>
        <p:spPr>
          <a:xfrm>
            <a:off x="240656" y="839297"/>
            <a:ext cx="11471968" cy="646331"/>
          </a:xfrm>
          <a:prstGeom prst="rect">
            <a:avLst/>
          </a:prstGeom>
          <a:noFill/>
        </p:spPr>
        <p:txBody>
          <a:bodyPr wrap="square" rtlCol="0">
            <a:spAutoFit/>
          </a:bodyPr>
          <a:lstStyle/>
          <a:p>
            <a:pPr>
              <a:buFont typeface="Arial" pitchFamily="34" charset="0"/>
              <a:buChar char="•"/>
            </a:pPr>
            <a:r>
              <a:rPr lang="en-US" altLang="zh-CN" b="1" dirty="0">
                <a:latin typeface="Microsoft Sans Serif" pitchFamily="34" charset="0"/>
                <a:cs typeface="Microsoft Sans Serif" pitchFamily="34" charset="0"/>
              </a:rPr>
              <a:t> Elimination can also take place under second-order conditions with a </a:t>
            </a:r>
            <a:r>
              <a:rPr lang="en-US" altLang="zh-CN" b="1" dirty="0">
                <a:solidFill>
                  <a:srgbClr val="FF0000"/>
                </a:solidFill>
                <a:latin typeface="Microsoft Sans Serif" pitchFamily="34" charset="0"/>
                <a:cs typeface="Microsoft Sans Serif" pitchFamily="34" charset="0"/>
              </a:rPr>
              <a:t>strong base </a:t>
            </a:r>
            <a:r>
              <a:rPr lang="en-US" altLang="zh-CN" b="1" dirty="0">
                <a:latin typeface="Microsoft Sans Serif" pitchFamily="34" charset="0"/>
                <a:cs typeface="Microsoft Sans Serif" pitchFamily="34" charset="0"/>
              </a:rPr>
              <a:t>present, following the E2 mechanism.</a:t>
            </a:r>
          </a:p>
        </p:txBody>
      </p:sp>
      <p:sp>
        <p:nvSpPr>
          <p:cNvPr id="10" name="矩形 9"/>
          <p:cNvSpPr/>
          <p:nvPr/>
        </p:nvSpPr>
        <p:spPr>
          <a:xfrm>
            <a:off x="-1" y="231032"/>
            <a:ext cx="7804471" cy="523220"/>
          </a:xfrm>
          <a:prstGeom prst="rect">
            <a:avLst/>
          </a:prstGeom>
          <a:solidFill>
            <a:schemeClr val="tx2">
              <a:lumMod val="20000"/>
              <a:lumOff val="80000"/>
            </a:schemeClr>
          </a:solidFill>
        </p:spPr>
        <p:txBody>
          <a:bodyPr wrap="square">
            <a:spAutoFit/>
          </a:bodyPr>
          <a:lstStyle/>
          <a:p>
            <a:r>
              <a:rPr lang="en-US" altLang="zh-CN" sz="2800" b="1" dirty="0">
                <a:latin typeface="Microsoft Sans Serif" pitchFamily="34" charset="0"/>
                <a:cs typeface="Microsoft Sans Serif" pitchFamily="34" charset="0"/>
              </a:rPr>
              <a:t>7-9 Second-Order Elimination:</a:t>
            </a:r>
            <a:r>
              <a:rPr lang="en-US" altLang="zh-CN" sz="2800" b="1" dirty="0">
                <a:solidFill>
                  <a:srgbClr val="FF0000"/>
                </a:solidFill>
                <a:latin typeface="Microsoft Sans Serif" pitchFamily="34" charset="0"/>
                <a:cs typeface="Microsoft Sans Serif" pitchFamily="34" charset="0"/>
              </a:rPr>
              <a:t> </a:t>
            </a:r>
            <a:r>
              <a:rPr lang="en-US" altLang="zh-CN" sz="2800" b="1" dirty="0">
                <a:latin typeface="Microsoft Sans Serif" pitchFamily="34" charset="0"/>
                <a:cs typeface="Microsoft Sans Serif" pitchFamily="34" charset="0"/>
              </a:rPr>
              <a:t>The </a:t>
            </a:r>
            <a:r>
              <a:rPr lang="en-US" altLang="zh-CN" sz="2800" b="1" dirty="0">
                <a:solidFill>
                  <a:srgbClr val="FF0000"/>
                </a:solidFill>
                <a:latin typeface="Microsoft Sans Serif" pitchFamily="34" charset="0"/>
                <a:cs typeface="Microsoft Sans Serif" pitchFamily="34" charset="0"/>
              </a:rPr>
              <a:t>E2</a:t>
            </a:r>
            <a:r>
              <a:rPr lang="en-US" altLang="zh-CN" sz="2800" b="1" dirty="0">
                <a:latin typeface="Microsoft Sans Serif" pitchFamily="34" charset="0"/>
                <a:cs typeface="Microsoft Sans Serif" pitchFamily="34" charset="0"/>
              </a:rPr>
              <a:t> Reaction</a:t>
            </a:r>
          </a:p>
        </p:txBody>
      </p:sp>
      <p:graphicFrame>
        <p:nvGraphicFramePr>
          <p:cNvPr id="5" name="对象 4"/>
          <p:cNvGraphicFramePr>
            <a:graphicFrameLocks noChangeAspect="1"/>
          </p:cNvGraphicFramePr>
          <p:nvPr>
            <p:extLst>
              <p:ext uri="{D42A27DB-BD31-4B8C-83A1-F6EECF244321}">
                <p14:modId xmlns:p14="http://schemas.microsoft.com/office/powerpoint/2010/main" val="248899459"/>
              </p:ext>
            </p:extLst>
          </p:nvPr>
        </p:nvGraphicFramePr>
        <p:xfrm>
          <a:off x="1132284" y="1439693"/>
          <a:ext cx="6107772" cy="4067839"/>
        </p:xfrm>
        <a:graphic>
          <a:graphicData uri="http://schemas.openxmlformats.org/presentationml/2006/ole">
            <mc:AlternateContent xmlns:mc="http://schemas.openxmlformats.org/markup-compatibility/2006">
              <mc:Choice xmlns:v="urn:schemas-microsoft-com:vml" Requires="v">
                <p:oleObj spid="_x0000_s64355" name="CS ChemDraw Drawing" r:id="rId3" imgW="4030857" imgH="2684927" progId="ChemDraw.Document.6.0">
                  <p:embed/>
                </p:oleObj>
              </mc:Choice>
              <mc:Fallback>
                <p:oleObj name="CS ChemDraw Drawing" r:id="rId3" imgW="4030857" imgH="2684927" progId="ChemDraw.Document.6.0">
                  <p:embed/>
                  <p:pic>
                    <p:nvPicPr>
                      <p:cNvPr id="0" name=""/>
                      <p:cNvPicPr/>
                      <p:nvPr/>
                    </p:nvPicPr>
                    <p:blipFill>
                      <a:blip r:embed="rId4"/>
                      <a:stretch>
                        <a:fillRect/>
                      </a:stretch>
                    </p:blipFill>
                    <p:spPr>
                      <a:xfrm>
                        <a:off x="1132284" y="1439693"/>
                        <a:ext cx="6107772" cy="4067839"/>
                      </a:xfrm>
                      <a:prstGeom prst="rect">
                        <a:avLst/>
                      </a:prstGeom>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2349861514"/>
              </p:ext>
            </p:extLst>
          </p:nvPr>
        </p:nvGraphicFramePr>
        <p:xfrm>
          <a:off x="8009012" y="4508513"/>
          <a:ext cx="2940768" cy="918409"/>
        </p:xfrm>
        <a:graphic>
          <a:graphicData uri="http://schemas.openxmlformats.org/presentationml/2006/ole">
            <mc:AlternateContent xmlns:mc="http://schemas.openxmlformats.org/markup-compatibility/2006">
              <mc:Choice xmlns:v="urn:schemas-microsoft-com:vml" Requires="v">
                <p:oleObj spid="_x0000_s64356" name="CS ChemDraw Drawing" r:id="rId5" imgW="1509993" imgH="470942" progId="ChemDraw.Document.6.0">
                  <p:embed/>
                </p:oleObj>
              </mc:Choice>
              <mc:Fallback>
                <p:oleObj name="CS ChemDraw Drawing" r:id="rId5" imgW="1509993" imgH="470942" progId="ChemDraw.Document.6.0">
                  <p:embed/>
                  <p:pic>
                    <p:nvPicPr>
                      <p:cNvPr id="0" name=""/>
                      <p:cNvPicPr/>
                      <p:nvPr/>
                    </p:nvPicPr>
                    <p:blipFill>
                      <a:blip r:embed="rId6"/>
                      <a:stretch>
                        <a:fillRect/>
                      </a:stretch>
                    </p:blipFill>
                    <p:spPr>
                      <a:xfrm>
                        <a:off x="8009012" y="4508513"/>
                        <a:ext cx="2940768" cy="918409"/>
                      </a:xfrm>
                      <a:prstGeom prst="rect">
                        <a:avLst/>
                      </a:prstGeom>
                    </p:spPr>
                  </p:pic>
                </p:oleObj>
              </mc:Fallback>
            </mc:AlternateContent>
          </a:graphicData>
        </a:graphic>
      </p:graphicFrame>
      <p:sp>
        <p:nvSpPr>
          <p:cNvPr id="14" name="文本框 13"/>
          <p:cNvSpPr txBox="1"/>
          <p:nvPr/>
        </p:nvSpPr>
        <p:spPr>
          <a:xfrm>
            <a:off x="7804471" y="3049161"/>
            <a:ext cx="4009481" cy="1200329"/>
          </a:xfrm>
          <a:prstGeom prst="rect">
            <a:avLst/>
          </a:prstGeom>
          <a:noFill/>
        </p:spPr>
        <p:txBody>
          <a:bodyPr wrap="square" rtlCol="0">
            <a:spAutoFit/>
          </a:bodyPr>
          <a:lstStyle/>
          <a:p>
            <a:r>
              <a:rPr lang="en-US" altLang="zh-CN" b="1" dirty="0">
                <a:latin typeface="Consolas" panose="020B0609020204030204" pitchFamily="49" charset="0"/>
              </a:rPr>
              <a:t>Backside attack is not allowed due to steric hindrance of the 3</a:t>
            </a:r>
            <a:r>
              <a:rPr lang="en-US" altLang="zh-CN" b="1" baseline="30000" dirty="0">
                <a:latin typeface="Consolas" panose="020B0609020204030204" pitchFamily="49" charset="0"/>
              </a:rPr>
              <a:t>o</a:t>
            </a:r>
            <a:r>
              <a:rPr lang="en-US" altLang="zh-CN" b="1" dirty="0">
                <a:latin typeface="Consolas" panose="020B0609020204030204" pitchFamily="49" charset="0"/>
              </a:rPr>
              <a:t> alkyl halide: </a:t>
            </a:r>
            <a:r>
              <a:rPr lang="en-US" altLang="zh-CN" b="1" dirty="0">
                <a:solidFill>
                  <a:srgbClr val="0000FF"/>
                </a:solidFill>
                <a:latin typeface="Consolas" panose="020B0609020204030204" pitchFamily="49" charset="0"/>
              </a:rPr>
              <a:t>S</a:t>
            </a:r>
            <a:r>
              <a:rPr lang="en-US" altLang="zh-CN" b="1" baseline="-25000" dirty="0">
                <a:solidFill>
                  <a:srgbClr val="0000FF"/>
                </a:solidFill>
                <a:latin typeface="Consolas" panose="020B0609020204030204" pitchFamily="49" charset="0"/>
              </a:rPr>
              <a:t>N</a:t>
            </a:r>
            <a:r>
              <a:rPr lang="en-US" altLang="zh-CN" b="1" dirty="0">
                <a:solidFill>
                  <a:srgbClr val="0000FF"/>
                </a:solidFill>
                <a:latin typeface="Consolas" panose="020B0609020204030204" pitchFamily="49" charset="0"/>
              </a:rPr>
              <a:t>2 mechanism is forbidden</a:t>
            </a:r>
            <a:endParaRPr lang="zh-CN" altLang="en-US" b="1" dirty="0">
              <a:solidFill>
                <a:srgbClr val="0000FF"/>
              </a:solidFill>
              <a:latin typeface="Consolas" panose="020B0609020204030204" pitchFamily="49" charset="0"/>
            </a:endParaRPr>
          </a:p>
        </p:txBody>
      </p:sp>
      <p:sp>
        <p:nvSpPr>
          <p:cNvPr id="15" name="文本框 14"/>
          <p:cNvSpPr txBox="1"/>
          <p:nvPr/>
        </p:nvSpPr>
        <p:spPr>
          <a:xfrm>
            <a:off x="9219755" y="4406888"/>
            <a:ext cx="344966" cy="461665"/>
          </a:xfrm>
          <a:prstGeom prst="rect">
            <a:avLst/>
          </a:prstGeom>
          <a:noFill/>
        </p:spPr>
        <p:txBody>
          <a:bodyPr wrap="none" rtlCol="0">
            <a:spAutoFit/>
          </a:bodyPr>
          <a:lstStyle/>
          <a:p>
            <a:r>
              <a:rPr lang="en-US" altLang="zh-CN" sz="2400" dirty="0"/>
              <a:t>X</a:t>
            </a:r>
            <a:endParaRPr lang="zh-CN" altLang="en-US" sz="2400" dirty="0"/>
          </a:p>
        </p:txBody>
      </p:sp>
      <p:sp>
        <p:nvSpPr>
          <p:cNvPr id="18" name="文本框 17"/>
          <p:cNvSpPr txBox="1"/>
          <p:nvPr/>
        </p:nvSpPr>
        <p:spPr>
          <a:xfrm>
            <a:off x="375096" y="5786888"/>
            <a:ext cx="10945216" cy="923330"/>
          </a:xfrm>
          <a:prstGeom prst="rect">
            <a:avLst/>
          </a:prstGeom>
          <a:noFill/>
        </p:spPr>
        <p:txBody>
          <a:bodyPr wrap="square" rtlCol="0">
            <a:spAutoFit/>
          </a:bodyPr>
          <a:lstStyle/>
          <a:p>
            <a:r>
              <a:rPr lang="en-US" altLang="zh-CN" b="1" dirty="0">
                <a:latin typeface="Consolas" panose="020B0609020204030204" pitchFamily="49" charset="0"/>
              </a:rPr>
              <a:t>Methoxide ion as a strong base as well as a strong nucleophile attacks the alkyl halide faster than the halide can ionize to give a carbocation: </a:t>
            </a:r>
            <a:r>
              <a:rPr lang="en-US" altLang="zh-CN" b="1" dirty="0">
                <a:solidFill>
                  <a:srgbClr val="0000FF"/>
                </a:solidFill>
                <a:latin typeface="Consolas" panose="020B0609020204030204" pitchFamily="49" charset="0"/>
              </a:rPr>
              <a:t>S</a:t>
            </a:r>
            <a:r>
              <a:rPr lang="en-US" altLang="zh-CN" b="1" baseline="-25000" dirty="0">
                <a:solidFill>
                  <a:srgbClr val="0000FF"/>
                </a:solidFill>
                <a:latin typeface="Consolas" panose="020B0609020204030204" pitchFamily="49" charset="0"/>
              </a:rPr>
              <a:t>N</a:t>
            </a:r>
            <a:r>
              <a:rPr lang="en-US" altLang="zh-CN" b="1" dirty="0">
                <a:solidFill>
                  <a:srgbClr val="0000FF"/>
                </a:solidFill>
                <a:latin typeface="Consolas" panose="020B0609020204030204" pitchFamily="49" charset="0"/>
              </a:rPr>
              <a:t>1 and E1 mechanism are impossible under strongly basic and nucleophilic conditions</a:t>
            </a:r>
            <a:r>
              <a:rPr lang="en-US" altLang="zh-CN" b="1" dirty="0">
                <a:latin typeface="Consolas" panose="020B0609020204030204" pitchFamily="49" charset="0"/>
              </a:rPr>
              <a:t>.</a:t>
            </a:r>
            <a:endParaRPr lang="zh-CN" altLang="en-US" b="1" dirty="0">
              <a:latin typeface="Consolas" panose="020B0609020204030204" pitchFamily="49"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32</a:t>
            </a:fld>
            <a:endParaRPr lang="zh-CN" altLang="en-US"/>
          </a:p>
        </p:txBody>
      </p:sp>
      <p:sp>
        <p:nvSpPr>
          <p:cNvPr id="7" name="矩形 6"/>
          <p:cNvSpPr/>
          <p:nvPr/>
        </p:nvSpPr>
        <p:spPr>
          <a:xfrm>
            <a:off x="119336" y="738300"/>
            <a:ext cx="11521280" cy="646331"/>
          </a:xfrm>
          <a:prstGeom prst="rect">
            <a:avLst/>
          </a:prstGeom>
        </p:spPr>
        <p:txBody>
          <a:bodyPr wrap="square">
            <a:spAutoFit/>
          </a:bodyPr>
          <a:lstStyle/>
          <a:p>
            <a:pPr>
              <a:buFont typeface="Arial" pitchFamily="34" charset="0"/>
              <a:buChar char="•"/>
            </a:pPr>
            <a:r>
              <a:rPr lang="en-US" altLang="zh-CN" b="1" dirty="0">
                <a:latin typeface="Microsoft Sans Serif" pitchFamily="34" charset="0"/>
                <a:cs typeface="Microsoft Sans Serif" pitchFamily="34" charset="0"/>
              </a:rPr>
              <a:t> Mechanism: E2 takes place in one step, with </a:t>
            </a:r>
            <a:r>
              <a:rPr lang="en-US" altLang="zh-CN" b="1" dirty="0">
                <a:solidFill>
                  <a:srgbClr val="0000FF"/>
                </a:solidFill>
                <a:latin typeface="Microsoft Sans Serif" pitchFamily="34" charset="0"/>
                <a:cs typeface="Microsoft Sans Serif" pitchFamily="34" charset="0"/>
              </a:rPr>
              <a:t>bromide leaving </a:t>
            </a:r>
            <a:r>
              <a:rPr lang="en-US" altLang="zh-CN" b="1" dirty="0">
                <a:latin typeface="Microsoft Sans Serif" pitchFamily="34" charset="0"/>
                <a:cs typeface="Microsoft Sans Serif" pitchFamily="34" charset="0"/>
              </a:rPr>
              <a:t>as </a:t>
            </a:r>
            <a:r>
              <a:rPr lang="en-US" altLang="zh-CN" b="1" dirty="0">
                <a:solidFill>
                  <a:srgbClr val="FF0000"/>
                </a:solidFill>
                <a:latin typeface="Microsoft Sans Serif" pitchFamily="34" charset="0"/>
                <a:cs typeface="Microsoft Sans Serif" pitchFamily="34" charset="0"/>
              </a:rPr>
              <a:t>the base is abstracting a proton from the alkyl halide</a:t>
            </a:r>
            <a:r>
              <a:rPr lang="en-US" altLang="zh-CN" b="1" dirty="0">
                <a:latin typeface="Microsoft Sans Serif" pitchFamily="34" charset="0"/>
                <a:cs typeface="Microsoft Sans Serif" pitchFamily="34" charset="0"/>
              </a:rPr>
              <a:t>.</a:t>
            </a:r>
            <a:endParaRPr lang="zh-CN" altLang="en-US" dirty="0">
              <a:latin typeface="Microsoft Sans Serif" pitchFamily="34" charset="0"/>
              <a:cs typeface="Microsoft Sans Serif" pitchFamily="34" charset="0"/>
            </a:endParaRPr>
          </a:p>
        </p:txBody>
      </p:sp>
      <p:graphicFrame>
        <p:nvGraphicFramePr>
          <p:cNvPr id="8" name="Object 4"/>
          <p:cNvGraphicFramePr>
            <a:graphicFrameLocks noChangeAspect="1"/>
          </p:cNvGraphicFramePr>
          <p:nvPr>
            <p:extLst>
              <p:ext uri="{D42A27DB-BD31-4B8C-83A1-F6EECF244321}">
                <p14:modId xmlns:p14="http://schemas.microsoft.com/office/powerpoint/2010/main" val="2847026586"/>
              </p:ext>
            </p:extLst>
          </p:nvPr>
        </p:nvGraphicFramePr>
        <p:xfrm>
          <a:off x="4858556" y="2478767"/>
          <a:ext cx="4392488" cy="1334102"/>
        </p:xfrm>
        <a:graphic>
          <a:graphicData uri="http://schemas.openxmlformats.org/presentationml/2006/ole">
            <mc:AlternateContent xmlns:mc="http://schemas.openxmlformats.org/markup-compatibility/2006">
              <mc:Choice xmlns:v="urn:schemas-microsoft-com:vml" Requires="v">
                <p:oleObj spid="_x0000_s74982" name="CS ChemDraw Drawing" r:id="rId3" imgW="2983997" imgH="906768" progId="ChemDraw.Document.6.0">
                  <p:embed/>
                </p:oleObj>
              </mc:Choice>
              <mc:Fallback>
                <p:oleObj name="CS ChemDraw Drawing" r:id="rId3" imgW="2983997" imgH="906768" progId="ChemDraw.Document.6.0">
                  <p:embed/>
                  <p:pic>
                    <p:nvPicPr>
                      <p:cNvPr id="63492"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58556" y="2478767"/>
                        <a:ext cx="4392488" cy="1334102"/>
                      </a:xfrm>
                      <a:prstGeom prst="rect">
                        <a:avLst/>
                      </a:prstGeom>
                      <a:noFill/>
                      <a:ln>
                        <a:noFill/>
                      </a:ln>
                      <a:effectLst/>
                    </p:spPr>
                  </p:pic>
                </p:oleObj>
              </mc:Fallback>
            </mc:AlternateContent>
          </a:graphicData>
        </a:graphic>
      </p:graphicFrame>
      <p:sp>
        <p:nvSpPr>
          <p:cNvPr id="9" name="文本框 8"/>
          <p:cNvSpPr txBox="1"/>
          <p:nvPr/>
        </p:nvSpPr>
        <p:spPr>
          <a:xfrm>
            <a:off x="1402172" y="2478767"/>
            <a:ext cx="3312367" cy="830997"/>
          </a:xfrm>
          <a:prstGeom prst="rect">
            <a:avLst/>
          </a:prstGeom>
          <a:noFill/>
        </p:spPr>
        <p:txBody>
          <a:bodyPr wrap="square" rtlCol="0">
            <a:spAutoFit/>
          </a:bodyPr>
          <a:lstStyle/>
          <a:p>
            <a:r>
              <a:rPr lang="en-US" altLang="zh-CN" sz="1600" b="1" dirty="0">
                <a:latin typeface="Consolas" panose="020B0609020204030204" pitchFamily="49" charset="0"/>
              </a:rPr>
              <a:t>In the E2 reaction, methoxide reacts as a base rather than as a nucleophile</a:t>
            </a:r>
            <a:endParaRPr lang="zh-CN" altLang="en-US" sz="1600" b="1" dirty="0">
              <a:latin typeface="Consolas" panose="020B0609020204030204" pitchFamily="49" charset="0"/>
            </a:endParaRPr>
          </a:p>
        </p:txBody>
      </p:sp>
      <p:sp>
        <p:nvSpPr>
          <p:cNvPr id="10" name="圆角矩形标注 9"/>
          <p:cNvSpPr/>
          <p:nvPr/>
        </p:nvSpPr>
        <p:spPr>
          <a:xfrm>
            <a:off x="1366168" y="2478766"/>
            <a:ext cx="3348372" cy="830997"/>
          </a:xfrm>
          <a:prstGeom prst="wedgeRoundRectCallout">
            <a:avLst>
              <a:gd name="adj1" fmla="val 53880"/>
              <a:gd name="adj2" fmla="val -24699"/>
              <a:gd name="adj3" fmla="val 16667"/>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5635663" y="3073007"/>
            <a:ext cx="269626" cy="276999"/>
          </a:xfrm>
          <a:prstGeom prst="rect">
            <a:avLst/>
          </a:prstGeom>
          <a:noFill/>
        </p:spPr>
        <p:txBody>
          <a:bodyPr wrap="none" rtlCol="0">
            <a:spAutoFit/>
          </a:bodyPr>
          <a:lstStyle/>
          <a:p>
            <a:r>
              <a:rPr lang="zh-CN" altLang="en-US" sz="1200" b="1" dirty="0">
                <a:solidFill>
                  <a:srgbClr val="FF00FF"/>
                </a:solidFill>
                <a:sym typeface="Symbol" panose="05050102010706020507" pitchFamily="18" charset="2"/>
              </a:rPr>
              <a:t></a:t>
            </a:r>
            <a:endParaRPr lang="zh-CN" altLang="en-US" sz="1200" b="1" dirty="0">
              <a:solidFill>
                <a:srgbClr val="FF00FF"/>
              </a:solidFill>
            </a:endParaRPr>
          </a:p>
        </p:txBody>
      </p:sp>
      <p:sp>
        <p:nvSpPr>
          <p:cNvPr id="12" name="文本框 11"/>
          <p:cNvSpPr txBox="1"/>
          <p:nvPr/>
        </p:nvSpPr>
        <p:spPr>
          <a:xfrm>
            <a:off x="6334720" y="3124764"/>
            <a:ext cx="282450" cy="276999"/>
          </a:xfrm>
          <a:prstGeom prst="rect">
            <a:avLst/>
          </a:prstGeom>
          <a:noFill/>
        </p:spPr>
        <p:txBody>
          <a:bodyPr wrap="none" rtlCol="0">
            <a:spAutoFit/>
          </a:bodyPr>
          <a:lstStyle/>
          <a:p>
            <a:r>
              <a:rPr lang="zh-CN" altLang="en-US" sz="1200" b="1" dirty="0">
                <a:solidFill>
                  <a:srgbClr val="FF00FF"/>
                </a:solidFill>
                <a:sym typeface="Symbol" panose="05050102010706020507" pitchFamily="18" charset="2"/>
              </a:rPr>
              <a:t></a:t>
            </a:r>
            <a:endParaRPr lang="zh-CN" altLang="en-US" sz="1200" b="1" dirty="0">
              <a:solidFill>
                <a:srgbClr val="FF00FF"/>
              </a:solidFill>
            </a:endParaRPr>
          </a:p>
        </p:txBody>
      </p:sp>
      <p:sp>
        <p:nvSpPr>
          <p:cNvPr id="13" name="文本框 12"/>
          <p:cNvSpPr txBox="1"/>
          <p:nvPr/>
        </p:nvSpPr>
        <p:spPr>
          <a:xfrm>
            <a:off x="5749169" y="1547145"/>
            <a:ext cx="4320480" cy="830997"/>
          </a:xfrm>
          <a:prstGeom prst="rect">
            <a:avLst/>
          </a:prstGeom>
          <a:noFill/>
        </p:spPr>
        <p:txBody>
          <a:bodyPr wrap="square" rtlCol="0">
            <a:spAutoFit/>
          </a:bodyPr>
          <a:lstStyle/>
          <a:p>
            <a:r>
              <a:rPr lang="zh-CN" altLang="en-US" sz="1600" b="1" dirty="0">
                <a:latin typeface="Consolas" panose="020B0609020204030204" pitchFamily="49" charset="0"/>
                <a:sym typeface="Symbol" panose="05050102010706020507" pitchFamily="18" charset="2"/>
              </a:rPr>
              <a:t></a:t>
            </a:r>
            <a:r>
              <a:rPr lang="en-US" altLang="zh-CN" sz="1600" b="1" dirty="0">
                <a:latin typeface="Consolas" panose="020B0609020204030204" pitchFamily="49" charset="0"/>
                <a:sym typeface="Symbol" panose="05050102010706020507" pitchFamily="18" charset="2"/>
              </a:rPr>
              <a:t>-H is slightly acidic, due to the presence of the electron-withdrawing group Br bonded to the -C</a:t>
            </a:r>
            <a:endParaRPr lang="zh-CN" altLang="en-US" sz="1600" b="1" dirty="0">
              <a:latin typeface="Consolas" panose="020B0609020204030204" pitchFamily="49" charset="0"/>
            </a:endParaRPr>
          </a:p>
        </p:txBody>
      </p:sp>
      <p:sp>
        <p:nvSpPr>
          <p:cNvPr id="14" name="圆角矩形标注 13"/>
          <p:cNvSpPr/>
          <p:nvPr/>
        </p:nvSpPr>
        <p:spPr>
          <a:xfrm>
            <a:off x="5663952" y="1547144"/>
            <a:ext cx="4307172" cy="830997"/>
          </a:xfrm>
          <a:prstGeom prst="wedgeRoundRectCallout">
            <a:avLst>
              <a:gd name="adj1" fmla="val -46661"/>
              <a:gd name="adj2" fmla="val 106099"/>
              <a:gd name="adj3" fmla="val 16667"/>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263352" y="4257795"/>
            <a:ext cx="11319048" cy="923330"/>
          </a:xfrm>
          <a:prstGeom prst="rect">
            <a:avLst/>
          </a:prstGeom>
        </p:spPr>
        <p:txBody>
          <a:bodyPr wrap="square">
            <a:spAutoFit/>
          </a:bodyPr>
          <a:lstStyle/>
          <a:p>
            <a:pPr marL="285750" indent="-285750">
              <a:buFont typeface="Arial" panose="020B0604020202020204" pitchFamily="34" charset="0"/>
              <a:buChar char="•"/>
            </a:pPr>
            <a:r>
              <a:rPr lang="en-US" altLang="zh-CN" b="1" dirty="0">
                <a:latin typeface="Microsoft Sans Serif" pitchFamily="34" charset="0"/>
                <a:cs typeface="Microsoft Sans Serif" pitchFamily="34" charset="0"/>
              </a:rPr>
              <a:t>In the general mechanism of the E2 reaction, a strong base abstracts a proton on a carbon atom adjacent to the one with the leaving group. As the base abstracts a proton, a double bond forms and the leaving group leaves. </a:t>
            </a:r>
          </a:p>
        </p:txBody>
      </p:sp>
      <p:graphicFrame>
        <p:nvGraphicFramePr>
          <p:cNvPr id="16" name="Object 3"/>
          <p:cNvGraphicFramePr>
            <a:graphicFrameLocks noChangeAspect="1"/>
          </p:cNvGraphicFramePr>
          <p:nvPr>
            <p:extLst>
              <p:ext uri="{D42A27DB-BD31-4B8C-83A1-F6EECF244321}">
                <p14:modId xmlns:p14="http://schemas.microsoft.com/office/powerpoint/2010/main" val="2998524285"/>
              </p:ext>
            </p:extLst>
          </p:nvPr>
        </p:nvGraphicFramePr>
        <p:xfrm>
          <a:off x="3071664" y="5272896"/>
          <a:ext cx="5846372" cy="1389359"/>
        </p:xfrm>
        <a:graphic>
          <a:graphicData uri="http://schemas.openxmlformats.org/presentationml/2006/ole">
            <mc:AlternateContent xmlns:mc="http://schemas.openxmlformats.org/markup-compatibility/2006">
              <mc:Choice xmlns:v="urn:schemas-microsoft-com:vml" Requires="v">
                <p:oleObj spid="_x0000_s74983" name="CS ChemDraw Drawing" r:id="rId5" imgW="3019222" imgH="717768" progId="ChemDraw.Document.6.0">
                  <p:embed/>
                </p:oleObj>
              </mc:Choice>
              <mc:Fallback>
                <p:oleObj name="CS ChemDraw Drawing" r:id="rId5" imgW="3019222" imgH="717768" progId="ChemDraw.Document.6.0">
                  <p:embed/>
                  <p:pic>
                    <p:nvPicPr>
                      <p:cNvPr id="64515"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71664" y="5272896"/>
                        <a:ext cx="5846372" cy="1389359"/>
                      </a:xfrm>
                      <a:prstGeom prst="rect">
                        <a:avLst/>
                      </a:prstGeom>
                      <a:noFill/>
                      <a:ln>
                        <a:noFill/>
                      </a:ln>
                      <a:effectLst/>
                    </p:spPr>
                  </p:pic>
                </p:oleObj>
              </mc:Fallback>
            </mc:AlternateContent>
          </a:graphicData>
        </a:graphic>
      </p:graphicFrame>
      <p:sp>
        <p:nvSpPr>
          <p:cNvPr id="17" name="矩形 16">
            <a:extLst>
              <a:ext uri="{FF2B5EF4-FFF2-40B4-BE49-F238E27FC236}">
                <a16:creationId xmlns:a16="http://schemas.microsoft.com/office/drawing/2014/main" id="{AA9F946B-478A-4953-8A6A-3AA6C998224B}"/>
              </a:ext>
            </a:extLst>
          </p:cNvPr>
          <p:cNvSpPr/>
          <p:nvPr/>
        </p:nvSpPr>
        <p:spPr>
          <a:xfrm>
            <a:off x="-1" y="209536"/>
            <a:ext cx="5749169" cy="400110"/>
          </a:xfrm>
          <a:prstGeom prst="rect">
            <a:avLst/>
          </a:prstGeom>
          <a:solidFill>
            <a:schemeClr val="tx2">
              <a:lumMod val="20000"/>
              <a:lumOff val="80000"/>
            </a:schemeClr>
          </a:solidFill>
        </p:spPr>
        <p:txBody>
          <a:bodyPr wrap="square">
            <a:spAutoFit/>
          </a:bodyPr>
          <a:lstStyle/>
          <a:p>
            <a:r>
              <a:rPr lang="en-US" altLang="zh-CN" sz="2000" b="1" dirty="0">
                <a:latin typeface="Microsoft Sans Serif" pitchFamily="34" charset="0"/>
                <a:cs typeface="Microsoft Sans Serif" pitchFamily="34" charset="0"/>
              </a:rPr>
              <a:t>7-9-1 Mechanism and Kinetics of the E2 reaction</a:t>
            </a:r>
            <a:endParaRPr lang="en-US" altLang="zh-CN" sz="2000" b="1" dirty="0">
              <a:solidFill>
                <a:srgbClr val="0000FF"/>
              </a:solidFill>
              <a:latin typeface="Microsoft Sans Serif" pitchFamily="34" charset="0"/>
              <a:cs typeface="Microsoft Sans Serif" pitchFamily="34" charset="0"/>
            </a:endParaRPr>
          </a:p>
        </p:txBody>
      </p:sp>
    </p:spTree>
    <p:extLst>
      <p:ext uri="{BB962C8B-B14F-4D97-AF65-F5344CB8AC3E}">
        <p14:creationId xmlns:p14="http://schemas.microsoft.com/office/powerpoint/2010/main" val="28186979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椭圆 15"/>
          <p:cNvSpPr/>
          <p:nvPr/>
        </p:nvSpPr>
        <p:spPr>
          <a:xfrm>
            <a:off x="8832304" y="5629795"/>
            <a:ext cx="436428" cy="360040"/>
          </a:xfrm>
          <a:prstGeom prst="ellipse">
            <a:avLst/>
          </a:prstGeom>
          <a:solidFill>
            <a:srgbClr val="FFFF0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8519386" y="5234836"/>
            <a:ext cx="436428" cy="360040"/>
          </a:xfrm>
          <a:prstGeom prst="ellipse">
            <a:avLst/>
          </a:prstGeom>
          <a:solidFill>
            <a:srgbClr val="FFFF0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5290906" y="5789152"/>
            <a:ext cx="436428" cy="360040"/>
          </a:xfrm>
          <a:prstGeom prst="ellipse">
            <a:avLst/>
          </a:prstGeom>
          <a:solidFill>
            <a:srgbClr val="FFFF0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5290906" y="5255035"/>
            <a:ext cx="436428" cy="360040"/>
          </a:xfrm>
          <a:prstGeom prst="ellipse">
            <a:avLst/>
          </a:prstGeom>
          <a:solidFill>
            <a:srgbClr val="FFFF0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5850323" y="5258709"/>
            <a:ext cx="576064" cy="360040"/>
          </a:xfrm>
          <a:prstGeom prst="ellipse">
            <a:avLst/>
          </a:prstGeom>
          <a:solidFill>
            <a:srgbClr val="FFFF0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8400256" y="3926561"/>
            <a:ext cx="1008112" cy="360040"/>
          </a:xfrm>
          <a:prstGeom prst="ellipse">
            <a:avLst/>
          </a:prstGeom>
          <a:solidFill>
            <a:srgbClr val="FFFF0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5375920" y="3926561"/>
            <a:ext cx="576064" cy="360040"/>
          </a:xfrm>
          <a:prstGeom prst="ellipse">
            <a:avLst/>
          </a:prstGeom>
          <a:solidFill>
            <a:srgbClr val="FFFF0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4575206" y="3396627"/>
            <a:ext cx="576064" cy="360040"/>
          </a:xfrm>
          <a:prstGeom prst="ellipse">
            <a:avLst/>
          </a:prstGeom>
          <a:solidFill>
            <a:srgbClr val="FFFF0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灯片编号占位符 1"/>
          <p:cNvSpPr>
            <a:spLocks noGrp="1"/>
          </p:cNvSpPr>
          <p:nvPr>
            <p:ph type="sldNum" sz="quarter" idx="12"/>
          </p:nvPr>
        </p:nvSpPr>
        <p:spPr/>
        <p:txBody>
          <a:bodyPr/>
          <a:lstStyle/>
          <a:p>
            <a:fld id="{0C913308-F349-4B6D-A68A-DD1791B4A57B}" type="slidenum">
              <a:rPr lang="zh-CN" altLang="en-US" smtClean="0"/>
              <a:pPr/>
              <a:t>33</a:t>
            </a:fld>
            <a:endParaRPr lang="zh-CN" altLang="en-US"/>
          </a:p>
        </p:txBody>
      </p:sp>
      <p:sp>
        <p:nvSpPr>
          <p:cNvPr id="3" name="TextBox 2"/>
          <p:cNvSpPr txBox="1"/>
          <p:nvPr/>
        </p:nvSpPr>
        <p:spPr>
          <a:xfrm>
            <a:off x="377765" y="180682"/>
            <a:ext cx="10801200" cy="1754326"/>
          </a:xfrm>
          <a:prstGeom prst="rect">
            <a:avLst/>
          </a:prstGeom>
          <a:noFill/>
        </p:spPr>
        <p:txBody>
          <a:bodyPr wrap="square" rtlCol="0">
            <a:spAutoFit/>
          </a:bodyPr>
          <a:lstStyle/>
          <a:p>
            <a:pPr marL="285750" indent="-285750">
              <a:buFont typeface="Arial" panose="020B0604020202020204" pitchFamily="34" charset="0"/>
              <a:buChar char="•"/>
            </a:pPr>
            <a:r>
              <a:rPr lang="en-US" altLang="zh-CN" b="1" dirty="0">
                <a:latin typeface="Microsoft Sans Serif" pitchFamily="34" charset="0"/>
                <a:cs typeface="Microsoft Sans Serif" pitchFamily="34" charset="0"/>
              </a:rPr>
              <a:t>The order of </a:t>
            </a:r>
            <a:r>
              <a:rPr lang="en-US" altLang="zh-CN" b="1" dirty="0">
                <a:solidFill>
                  <a:srgbClr val="FF0000"/>
                </a:solidFill>
                <a:latin typeface="Microsoft Sans Serif" pitchFamily="34" charset="0"/>
                <a:cs typeface="Microsoft Sans Serif" pitchFamily="34" charset="0"/>
              </a:rPr>
              <a:t>reactivity for alkyl halides in E2 reactions </a:t>
            </a:r>
            <a:r>
              <a:rPr lang="en-US" altLang="zh-CN" b="1" dirty="0">
                <a:latin typeface="Microsoft Sans Serif" pitchFamily="34" charset="0"/>
                <a:cs typeface="Microsoft Sans Serif" pitchFamily="34" charset="0"/>
              </a:rPr>
              <a:t>:</a:t>
            </a:r>
            <a:r>
              <a:rPr lang="en-US" altLang="zh-CN" b="1" dirty="0">
                <a:solidFill>
                  <a:srgbClr val="0000FF"/>
                </a:solidFill>
                <a:latin typeface="Microsoft Sans Serif" pitchFamily="34" charset="0"/>
                <a:cs typeface="Microsoft Sans Serif" pitchFamily="34" charset="0"/>
              </a:rPr>
              <a:t> 3</a:t>
            </a:r>
            <a:r>
              <a:rPr lang="en-US" altLang="zh-CN" b="1" baseline="30000" dirty="0">
                <a:solidFill>
                  <a:srgbClr val="0000FF"/>
                </a:solidFill>
                <a:latin typeface="Microsoft Sans Serif" pitchFamily="34" charset="0"/>
                <a:cs typeface="Microsoft Sans Serif" pitchFamily="34" charset="0"/>
              </a:rPr>
              <a:t>o</a:t>
            </a:r>
            <a:r>
              <a:rPr lang="en-US" altLang="zh-CN" b="1" dirty="0">
                <a:solidFill>
                  <a:srgbClr val="0000FF"/>
                </a:solidFill>
                <a:latin typeface="Microsoft Sans Serif" pitchFamily="34" charset="0"/>
                <a:cs typeface="Microsoft Sans Serif" pitchFamily="34" charset="0"/>
              </a:rPr>
              <a:t> &gt; 2</a:t>
            </a:r>
            <a:r>
              <a:rPr lang="en-US" altLang="zh-CN" b="1" baseline="30000" dirty="0">
                <a:solidFill>
                  <a:srgbClr val="0000FF"/>
                </a:solidFill>
                <a:latin typeface="Microsoft Sans Serif" pitchFamily="34" charset="0"/>
                <a:cs typeface="Microsoft Sans Serif" pitchFamily="34" charset="0"/>
              </a:rPr>
              <a:t>o</a:t>
            </a:r>
            <a:r>
              <a:rPr lang="en-US" altLang="zh-CN" b="1" dirty="0">
                <a:solidFill>
                  <a:srgbClr val="0000FF"/>
                </a:solidFill>
                <a:latin typeface="Microsoft Sans Serif" pitchFamily="34" charset="0"/>
                <a:cs typeface="Microsoft Sans Serif" pitchFamily="34" charset="0"/>
              </a:rPr>
              <a:t> &gt; 1</a:t>
            </a:r>
            <a:r>
              <a:rPr lang="en-US" altLang="zh-CN" b="1" baseline="30000" dirty="0">
                <a:solidFill>
                  <a:srgbClr val="0000FF"/>
                </a:solidFill>
                <a:latin typeface="Microsoft Sans Serif" pitchFamily="34" charset="0"/>
                <a:cs typeface="Microsoft Sans Serif" pitchFamily="34" charset="0"/>
              </a:rPr>
              <a:t>o</a:t>
            </a:r>
            <a:r>
              <a:rPr lang="en-US" altLang="zh-CN" b="1" dirty="0">
                <a:solidFill>
                  <a:srgbClr val="0000FF"/>
                </a:solidFill>
                <a:latin typeface="Microsoft Sans Serif" pitchFamily="34" charset="0"/>
                <a:cs typeface="Microsoft Sans Serif" pitchFamily="34" charset="0"/>
              </a:rPr>
              <a:t> alkyl halides</a:t>
            </a:r>
            <a:r>
              <a:rPr lang="en-US" altLang="zh-CN" b="1" dirty="0">
                <a:latin typeface="Microsoft Sans Serif" pitchFamily="34" charset="0"/>
                <a:cs typeface="Microsoft Sans Serif" pitchFamily="34" charset="0"/>
              </a:rPr>
              <a:t>.</a:t>
            </a:r>
          </a:p>
          <a:p>
            <a:pPr marL="285750" indent="-285750">
              <a:buFont typeface="Arial" panose="020B0604020202020204" pitchFamily="34" charset="0"/>
              <a:buChar char="•"/>
            </a:pPr>
            <a:r>
              <a:rPr lang="en-US" altLang="zh-CN" b="1" dirty="0">
                <a:latin typeface="Microsoft Sans Serif" pitchFamily="34" charset="0"/>
                <a:cs typeface="Microsoft Sans Serif" pitchFamily="34" charset="0"/>
              </a:rPr>
              <a:t>This reactivity order reflects </a:t>
            </a:r>
            <a:r>
              <a:rPr lang="en-US" altLang="zh-CN" b="1" dirty="0">
                <a:solidFill>
                  <a:srgbClr val="FF00FF"/>
                </a:solidFill>
                <a:latin typeface="Microsoft Sans Serif" pitchFamily="34" charset="0"/>
                <a:cs typeface="Microsoft Sans Serif" pitchFamily="34" charset="0"/>
              </a:rPr>
              <a:t>the greater stability of highly substituted double bonds</a:t>
            </a:r>
            <a:r>
              <a:rPr lang="en-US" altLang="zh-CN" b="1" dirty="0">
                <a:latin typeface="Microsoft Sans Serif" pitchFamily="34" charset="0"/>
                <a:cs typeface="Microsoft Sans Serif" pitchFamily="34" charset="0"/>
              </a:rPr>
              <a:t>. Elimination of a tertiary halide gives a more substituted alkene than elimination of a secondary halide, which gives a more substituted alkene than a primary halide.</a:t>
            </a:r>
          </a:p>
          <a:p>
            <a:pPr marL="285750" indent="-285750">
              <a:buFont typeface="Arial" panose="020B0604020202020204" pitchFamily="34" charset="0"/>
              <a:buChar char="•"/>
            </a:pPr>
            <a:r>
              <a:rPr lang="en-US" altLang="zh-CN" b="1" dirty="0">
                <a:latin typeface="Microsoft Sans Serif" pitchFamily="34" charset="0"/>
                <a:cs typeface="Microsoft Sans Serif" pitchFamily="34" charset="0"/>
              </a:rPr>
              <a:t>E2 commonly results when a strong base is used with a poor SN2 substrate such as 3o or hindered 2o alkyl halide.</a:t>
            </a:r>
          </a:p>
        </p:txBody>
      </p:sp>
      <p:sp>
        <p:nvSpPr>
          <p:cNvPr id="6" name="TextBox 2"/>
          <p:cNvSpPr txBox="1"/>
          <p:nvPr/>
        </p:nvSpPr>
        <p:spPr>
          <a:xfrm>
            <a:off x="377765" y="2529770"/>
            <a:ext cx="11377264" cy="646331"/>
          </a:xfrm>
          <a:prstGeom prst="rect">
            <a:avLst/>
          </a:prstGeom>
          <a:noFill/>
        </p:spPr>
        <p:txBody>
          <a:bodyPr wrap="square" rtlCol="0">
            <a:spAutoFit/>
          </a:bodyPr>
          <a:lstStyle/>
          <a:p>
            <a:pPr marL="285750" indent="-285750">
              <a:buFont typeface="Arial" panose="020B0604020202020204" pitchFamily="34" charset="0"/>
              <a:buChar char="•"/>
            </a:pPr>
            <a:r>
              <a:rPr lang="en-US" altLang="zh-CN" b="1" dirty="0">
                <a:solidFill>
                  <a:srgbClr val="FF0000"/>
                </a:solidFill>
                <a:latin typeface="Microsoft Sans Serif" pitchFamily="34" charset="0"/>
                <a:cs typeface="Microsoft Sans Serif" pitchFamily="34" charset="0"/>
              </a:rPr>
              <a:t>Positional orientation in the E2</a:t>
            </a:r>
            <a:r>
              <a:rPr lang="en-US" altLang="zh-CN" b="1" dirty="0">
                <a:latin typeface="Microsoft Sans Serif" pitchFamily="34" charset="0"/>
                <a:cs typeface="Microsoft Sans Serif" pitchFamily="34" charset="0"/>
              </a:rPr>
              <a:t>: in the E2, if there are two or more possibilities, </a:t>
            </a:r>
            <a:r>
              <a:rPr lang="en-US" altLang="zh-CN" b="1" dirty="0">
                <a:solidFill>
                  <a:srgbClr val="0000FF"/>
                </a:solidFill>
                <a:latin typeface="Microsoft Sans Serif" pitchFamily="34" charset="0"/>
                <a:cs typeface="Microsoft Sans Serif" pitchFamily="34" charset="0"/>
              </a:rPr>
              <a:t>Zaitsev’s rule </a:t>
            </a:r>
            <a:r>
              <a:rPr lang="en-US" altLang="zh-CN" b="1" dirty="0">
                <a:latin typeface="Microsoft Sans Serif" pitchFamily="34" charset="0"/>
                <a:cs typeface="Microsoft Sans Serif" pitchFamily="34" charset="0"/>
              </a:rPr>
              <a:t>predicts which of the possible products will be the major product: the most substituted alkene.</a:t>
            </a:r>
            <a:endParaRPr lang="zh-CN" altLang="en-US" b="1" dirty="0">
              <a:latin typeface="Microsoft Sans Serif" pitchFamily="34" charset="0"/>
              <a:cs typeface="Microsoft Sans Serif" pitchFamily="34"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636034051"/>
              </p:ext>
            </p:extLst>
          </p:nvPr>
        </p:nvGraphicFramePr>
        <p:xfrm>
          <a:off x="1919536" y="3442932"/>
          <a:ext cx="8437639" cy="1512168"/>
        </p:xfrm>
        <a:graphic>
          <a:graphicData uri="http://schemas.openxmlformats.org/presentationml/2006/ole">
            <mc:AlternateContent xmlns:mc="http://schemas.openxmlformats.org/markup-compatibility/2006">
              <mc:Choice xmlns:v="urn:schemas-microsoft-com:vml" Requires="v">
                <p:oleObj spid="_x0000_s65041" name="CS ChemDraw Drawing" r:id="rId3" imgW="5269785" imgH="944660" progId="ChemDraw.Document.6.0">
                  <p:embed/>
                </p:oleObj>
              </mc:Choice>
              <mc:Fallback>
                <p:oleObj name="CS ChemDraw Drawing" r:id="rId3" imgW="5269785" imgH="944660" progId="ChemDraw.Document.6.0">
                  <p:embed/>
                  <p:pic>
                    <p:nvPicPr>
                      <p:cNvPr id="0" name=""/>
                      <p:cNvPicPr/>
                      <p:nvPr/>
                    </p:nvPicPr>
                    <p:blipFill>
                      <a:blip r:embed="rId4"/>
                      <a:stretch>
                        <a:fillRect/>
                      </a:stretch>
                    </p:blipFill>
                    <p:spPr>
                      <a:xfrm>
                        <a:off x="1919536" y="3442932"/>
                        <a:ext cx="8437639" cy="1512168"/>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4206820519"/>
              </p:ext>
            </p:extLst>
          </p:nvPr>
        </p:nvGraphicFramePr>
        <p:xfrm>
          <a:off x="1267237" y="5001405"/>
          <a:ext cx="9369493" cy="1680082"/>
        </p:xfrm>
        <a:graphic>
          <a:graphicData uri="http://schemas.openxmlformats.org/presentationml/2006/ole">
            <mc:AlternateContent xmlns:mc="http://schemas.openxmlformats.org/markup-compatibility/2006">
              <mc:Choice xmlns:v="urn:schemas-microsoft-com:vml" Requires="v">
                <p:oleObj spid="_x0000_s65042" name="CS ChemDraw Drawing" r:id="rId5" imgW="5877807" imgH="1054467" progId="ChemDraw.Document.6.0">
                  <p:embed/>
                </p:oleObj>
              </mc:Choice>
              <mc:Fallback>
                <p:oleObj name="CS ChemDraw Drawing" r:id="rId5" imgW="5877807" imgH="1054467" progId="ChemDraw.Document.6.0">
                  <p:embed/>
                  <p:pic>
                    <p:nvPicPr>
                      <p:cNvPr id="0" name=""/>
                      <p:cNvPicPr/>
                      <p:nvPr/>
                    </p:nvPicPr>
                    <p:blipFill>
                      <a:blip r:embed="rId6"/>
                      <a:stretch>
                        <a:fillRect/>
                      </a:stretch>
                    </p:blipFill>
                    <p:spPr>
                      <a:xfrm>
                        <a:off x="1267237" y="5001405"/>
                        <a:ext cx="9369493" cy="1680082"/>
                      </a:xfrm>
                      <a:prstGeom prst="rect">
                        <a:avLst/>
                      </a:prstGeom>
                    </p:spPr>
                  </p:pic>
                </p:oleObj>
              </mc:Fallback>
            </mc:AlternateContent>
          </a:graphicData>
        </a:graphic>
      </p:graphicFrame>
      <p:sp>
        <p:nvSpPr>
          <p:cNvPr id="17" name="矩形 16">
            <a:extLst>
              <a:ext uri="{FF2B5EF4-FFF2-40B4-BE49-F238E27FC236}">
                <a16:creationId xmlns:a16="http://schemas.microsoft.com/office/drawing/2014/main" id="{22F4986C-19DD-42A6-8413-E85FD6F7A489}"/>
              </a:ext>
            </a:extLst>
          </p:cNvPr>
          <p:cNvSpPr/>
          <p:nvPr/>
        </p:nvSpPr>
        <p:spPr>
          <a:xfrm>
            <a:off x="0" y="2018527"/>
            <a:ext cx="5727334" cy="400110"/>
          </a:xfrm>
          <a:prstGeom prst="rect">
            <a:avLst/>
          </a:prstGeom>
          <a:solidFill>
            <a:schemeClr val="tx2">
              <a:lumMod val="20000"/>
              <a:lumOff val="80000"/>
            </a:schemeClr>
          </a:solidFill>
        </p:spPr>
        <p:txBody>
          <a:bodyPr wrap="square">
            <a:spAutoFit/>
          </a:bodyPr>
          <a:lstStyle/>
          <a:p>
            <a:r>
              <a:rPr lang="en-US" altLang="zh-CN" sz="2000" b="1" dirty="0">
                <a:latin typeface="Microsoft Sans Serif" pitchFamily="34" charset="0"/>
                <a:cs typeface="Microsoft Sans Serif" pitchFamily="34" charset="0"/>
              </a:rPr>
              <a:t>7-9-2 Positional orientation of E2: </a:t>
            </a:r>
            <a:r>
              <a:rPr lang="en-US" altLang="zh-CN" sz="2000" b="1" dirty="0">
                <a:solidFill>
                  <a:srgbClr val="0000FF"/>
                </a:solidFill>
                <a:latin typeface="Microsoft Sans Serif" pitchFamily="34" charset="0"/>
                <a:cs typeface="Microsoft Sans Serif" pitchFamily="34" charset="0"/>
              </a:rPr>
              <a:t>Zaitsev’s rule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椭圆 10"/>
          <p:cNvSpPr/>
          <p:nvPr/>
        </p:nvSpPr>
        <p:spPr>
          <a:xfrm>
            <a:off x="4583832" y="3526071"/>
            <a:ext cx="504056" cy="288032"/>
          </a:xfrm>
          <a:prstGeom prst="ellipse">
            <a:avLst/>
          </a:prstGeom>
          <a:solidFill>
            <a:srgbClr val="FFFF0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3647728" y="2780928"/>
            <a:ext cx="504056" cy="288032"/>
          </a:xfrm>
          <a:prstGeom prst="ellipse">
            <a:avLst/>
          </a:prstGeom>
          <a:solidFill>
            <a:srgbClr val="FFFF0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灯片编号占位符 1"/>
          <p:cNvSpPr>
            <a:spLocks noGrp="1"/>
          </p:cNvSpPr>
          <p:nvPr>
            <p:ph type="sldNum" sz="quarter" idx="12"/>
          </p:nvPr>
        </p:nvSpPr>
        <p:spPr/>
        <p:txBody>
          <a:bodyPr/>
          <a:lstStyle/>
          <a:p>
            <a:fld id="{0C913308-F349-4B6D-A68A-DD1791B4A57B}" type="slidenum">
              <a:rPr lang="zh-CN" altLang="en-US" smtClean="0"/>
              <a:pPr/>
              <a:t>34</a:t>
            </a:fld>
            <a:endParaRPr lang="zh-CN" altLang="en-US"/>
          </a:p>
        </p:txBody>
      </p:sp>
      <p:sp>
        <p:nvSpPr>
          <p:cNvPr id="3" name="TextBox 2"/>
          <p:cNvSpPr txBox="1"/>
          <p:nvPr/>
        </p:nvSpPr>
        <p:spPr>
          <a:xfrm>
            <a:off x="263352" y="706769"/>
            <a:ext cx="11449272" cy="1477328"/>
          </a:xfrm>
          <a:prstGeom prst="rect">
            <a:avLst/>
          </a:prstGeom>
          <a:noFill/>
        </p:spPr>
        <p:txBody>
          <a:bodyPr wrap="square" rtlCol="0">
            <a:spAutoFit/>
          </a:bodyPr>
          <a:lstStyle/>
          <a:p>
            <a:pPr>
              <a:buFont typeface="Arial" pitchFamily="34" charset="0"/>
              <a:buChar char="•"/>
            </a:pPr>
            <a:r>
              <a:rPr lang="en-US" altLang="zh-CN" b="1" dirty="0">
                <a:latin typeface="Microsoft Sans Serif" pitchFamily="34" charset="0"/>
                <a:cs typeface="Microsoft Sans Serif" pitchFamily="34" charset="0"/>
              </a:rPr>
              <a:t>  E2 takes place in one step, with halide leaving as the base is abstracting a proton from the alkyl halide substrate . In the conformation of the substrate for elimination, when the </a:t>
            </a:r>
            <a:r>
              <a:rPr lang="en-US" altLang="zh-CN" b="1" dirty="0">
                <a:latin typeface="Microsoft Sans Serif" pitchFamily="34" charset="0"/>
                <a:cs typeface="Microsoft Sans Serif" pitchFamily="34" charset="0"/>
                <a:sym typeface="Symbol" panose="05050102010706020507" pitchFamily="18" charset="2"/>
              </a:rPr>
              <a:t>-H and the halogen are anti to each other, it is called anti-coplanar conformation.</a:t>
            </a:r>
          </a:p>
          <a:p>
            <a:pPr>
              <a:buFont typeface="Arial" pitchFamily="34" charset="0"/>
              <a:buChar char="•"/>
            </a:pPr>
            <a:endParaRPr lang="en-US" altLang="zh-CN" b="1" dirty="0">
              <a:latin typeface="Microsoft Sans Serif" pitchFamily="34" charset="0"/>
              <a:cs typeface="Microsoft Sans Serif" pitchFamily="34" charset="0"/>
              <a:sym typeface="Symbol" panose="05050102010706020507" pitchFamily="18" charset="2"/>
            </a:endParaRPr>
          </a:p>
          <a:p>
            <a:pPr>
              <a:buFont typeface="Arial" pitchFamily="34" charset="0"/>
              <a:buChar char="•"/>
            </a:pPr>
            <a:r>
              <a:rPr lang="en-US" altLang="zh-CN" b="1" dirty="0">
                <a:latin typeface="Microsoft Sans Serif" pitchFamily="34" charset="0"/>
                <a:cs typeface="Microsoft Sans Serif" pitchFamily="34" charset="0"/>
                <a:sym typeface="Symbol" panose="05050102010706020507" pitchFamily="18" charset="2"/>
              </a:rPr>
              <a:t> The </a:t>
            </a:r>
            <a:r>
              <a:rPr lang="en-US" altLang="zh-CN" b="1" dirty="0">
                <a:solidFill>
                  <a:srgbClr val="0000FF"/>
                </a:solidFill>
                <a:latin typeface="Microsoft Sans Serif" pitchFamily="34" charset="0"/>
                <a:cs typeface="Microsoft Sans Serif" pitchFamily="34" charset="0"/>
                <a:sym typeface="Symbol" panose="05050102010706020507" pitchFamily="18" charset="2"/>
              </a:rPr>
              <a:t>anti-coplanar conformation</a:t>
            </a:r>
            <a:r>
              <a:rPr lang="en-US" altLang="zh-CN" b="1" dirty="0">
                <a:latin typeface="Microsoft Sans Serif" pitchFamily="34" charset="0"/>
                <a:cs typeface="Microsoft Sans Serif" pitchFamily="34" charset="0"/>
                <a:sym typeface="Symbol" panose="05050102010706020507" pitchFamily="18" charset="2"/>
              </a:rPr>
              <a:t> is most commonly seen in </a:t>
            </a:r>
            <a:r>
              <a:rPr lang="en-US" altLang="zh-CN" b="1" dirty="0">
                <a:solidFill>
                  <a:srgbClr val="FF0000"/>
                </a:solidFill>
                <a:latin typeface="Microsoft Sans Serif" pitchFamily="34" charset="0"/>
                <a:cs typeface="Microsoft Sans Serif" pitchFamily="34" charset="0"/>
                <a:sym typeface="Symbol" panose="05050102010706020507" pitchFamily="18" charset="2"/>
              </a:rPr>
              <a:t>E2</a:t>
            </a:r>
            <a:r>
              <a:rPr lang="en-US" altLang="zh-CN" b="1" dirty="0">
                <a:latin typeface="Microsoft Sans Serif" pitchFamily="34" charset="0"/>
                <a:cs typeface="Microsoft Sans Serif" pitchFamily="34" charset="0"/>
                <a:sym typeface="Symbol" panose="05050102010706020507" pitchFamily="18" charset="2"/>
              </a:rPr>
              <a:t> reactions.</a:t>
            </a:r>
            <a:endParaRPr lang="zh-CN" altLang="en-US" b="1" dirty="0">
              <a:latin typeface="Microsoft Sans Serif" pitchFamily="34" charset="0"/>
              <a:cs typeface="Microsoft Sans Serif" pitchFamily="34"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3687347679"/>
              </p:ext>
            </p:extLst>
          </p:nvPr>
        </p:nvGraphicFramePr>
        <p:xfrm>
          <a:off x="1127448" y="4783079"/>
          <a:ext cx="10166505" cy="1368152"/>
        </p:xfrm>
        <a:graphic>
          <a:graphicData uri="http://schemas.openxmlformats.org/presentationml/2006/ole">
            <mc:AlternateContent xmlns:mc="http://schemas.openxmlformats.org/markup-compatibility/2006">
              <mc:Choice xmlns:v="urn:schemas-microsoft-com:vml" Requires="v">
                <p:oleObj spid="_x0000_s67091" name="CS ChemDraw Drawing" r:id="rId3" imgW="5968951" imgH="802743" progId="ChemDraw.Document.6.0">
                  <p:embed/>
                </p:oleObj>
              </mc:Choice>
              <mc:Fallback>
                <p:oleObj name="CS ChemDraw Drawing" r:id="rId3" imgW="5968951" imgH="802743" progId="ChemDraw.Document.6.0">
                  <p:embed/>
                  <p:pic>
                    <p:nvPicPr>
                      <p:cNvPr id="0" name=""/>
                      <p:cNvPicPr/>
                      <p:nvPr/>
                    </p:nvPicPr>
                    <p:blipFill>
                      <a:blip r:embed="rId4"/>
                      <a:stretch>
                        <a:fillRect/>
                      </a:stretch>
                    </p:blipFill>
                    <p:spPr>
                      <a:xfrm>
                        <a:off x="1127448" y="4783079"/>
                        <a:ext cx="10166505" cy="1368152"/>
                      </a:xfrm>
                      <a:prstGeom prst="rect">
                        <a:avLst/>
                      </a:prstGeom>
                    </p:spPr>
                  </p:pic>
                </p:oleObj>
              </mc:Fallback>
            </mc:AlternateContent>
          </a:graphicData>
        </a:graphic>
      </p:graphicFrame>
      <p:graphicFrame>
        <p:nvGraphicFramePr>
          <p:cNvPr id="10" name="Object 3"/>
          <p:cNvGraphicFramePr>
            <a:graphicFrameLocks noChangeAspect="1"/>
          </p:cNvGraphicFramePr>
          <p:nvPr>
            <p:extLst>
              <p:ext uri="{D42A27DB-BD31-4B8C-83A1-F6EECF244321}">
                <p14:modId xmlns:p14="http://schemas.microsoft.com/office/powerpoint/2010/main" val="2920537812"/>
              </p:ext>
            </p:extLst>
          </p:nvPr>
        </p:nvGraphicFramePr>
        <p:xfrm>
          <a:off x="3287688" y="2564904"/>
          <a:ext cx="5256584" cy="1249199"/>
        </p:xfrm>
        <a:graphic>
          <a:graphicData uri="http://schemas.openxmlformats.org/presentationml/2006/ole">
            <mc:AlternateContent xmlns:mc="http://schemas.openxmlformats.org/markup-compatibility/2006">
              <mc:Choice xmlns:v="urn:schemas-microsoft-com:vml" Requires="v">
                <p:oleObj spid="_x0000_s67092" name="CS ChemDraw Drawing" r:id="rId5" imgW="3019222" imgH="717768" progId="ChemDraw.Document.6.0">
                  <p:embed/>
                </p:oleObj>
              </mc:Choice>
              <mc:Fallback>
                <p:oleObj name="CS ChemDraw Drawing" r:id="rId5" imgW="3019222" imgH="717768" progId="ChemDraw.Document.6.0">
                  <p:embed/>
                  <p:pic>
                    <p:nvPicPr>
                      <p:cNvPr id="16"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87688" y="2564904"/>
                        <a:ext cx="5256584" cy="1249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 name="矩形 8">
            <a:extLst>
              <a:ext uri="{FF2B5EF4-FFF2-40B4-BE49-F238E27FC236}">
                <a16:creationId xmlns:a16="http://schemas.microsoft.com/office/drawing/2014/main" id="{226B924B-7BDF-43C0-A4F2-FFA756A75ED6}"/>
              </a:ext>
            </a:extLst>
          </p:cNvPr>
          <p:cNvSpPr/>
          <p:nvPr/>
        </p:nvSpPr>
        <p:spPr>
          <a:xfrm>
            <a:off x="0" y="187272"/>
            <a:ext cx="8112224" cy="400110"/>
          </a:xfrm>
          <a:prstGeom prst="rect">
            <a:avLst/>
          </a:prstGeom>
          <a:solidFill>
            <a:schemeClr val="tx2">
              <a:lumMod val="20000"/>
              <a:lumOff val="80000"/>
            </a:schemeClr>
          </a:solidFill>
        </p:spPr>
        <p:txBody>
          <a:bodyPr wrap="square">
            <a:spAutoFit/>
          </a:bodyPr>
          <a:lstStyle/>
          <a:p>
            <a:r>
              <a:rPr lang="en-US" altLang="zh-CN" sz="2000" b="1" dirty="0">
                <a:latin typeface="Microsoft Sans Serif" pitchFamily="34" charset="0"/>
                <a:cs typeface="Microsoft Sans Serif" pitchFamily="34" charset="0"/>
              </a:rPr>
              <a:t>7-9-3 Stereochemistry of the E2 reactions: </a:t>
            </a:r>
            <a:r>
              <a:rPr lang="en-US" altLang="zh-CN" sz="2000" b="1" dirty="0">
                <a:solidFill>
                  <a:srgbClr val="0000FF"/>
                </a:solidFill>
                <a:latin typeface="Microsoft Sans Serif" pitchFamily="34" charset="0"/>
                <a:cs typeface="Microsoft Sans Serif" pitchFamily="34" charset="0"/>
              </a:rPr>
              <a:t>anti-coplanar arrangement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35</a:t>
            </a:fld>
            <a:endParaRPr lang="zh-CN" altLang="en-US"/>
          </a:p>
        </p:txBody>
      </p:sp>
      <p:graphicFrame>
        <p:nvGraphicFramePr>
          <p:cNvPr id="7" name="对象 6">
            <a:extLst>
              <a:ext uri="{FF2B5EF4-FFF2-40B4-BE49-F238E27FC236}">
                <a16:creationId xmlns:a16="http://schemas.microsoft.com/office/drawing/2014/main" id="{BB9E7577-A9AA-4C1E-B342-642672FF2338}"/>
              </a:ext>
            </a:extLst>
          </p:cNvPr>
          <p:cNvGraphicFramePr>
            <a:graphicFrameLocks noChangeAspect="1"/>
          </p:cNvGraphicFramePr>
          <p:nvPr>
            <p:extLst>
              <p:ext uri="{D42A27DB-BD31-4B8C-83A1-F6EECF244321}">
                <p14:modId xmlns:p14="http://schemas.microsoft.com/office/powerpoint/2010/main" val="133143982"/>
              </p:ext>
            </p:extLst>
          </p:nvPr>
        </p:nvGraphicFramePr>
        <p:xfrm>
          <a:off x="479376" y="1124744"/>
          <a:ext cx="10340117" cy="3672408"/>
        </p:xfrm>
        <a:graphic>
          <a:graphicData uri="http://schemas.openxmlformats.org/presentationml/2006/ole">
            <mc:AlternateContent xmlns:mc="http://schemas.openxmlformats.org/markup-compatibility/2006">
              <mc:Choice xmlns:v="urn:schemas-microsoft-com:vml" Requires="v">
                <p:oleObj spid="_x0000_s81946" name="CS ChemDraw Drawing" r:id="rId3" imgW="6351677" imgH="2255212" progId="ChemDraw.Document.6.0">
                  <p:embed/>
                </p:oleObj>
              </mc:Choice>
              <mc:Fallback>
                <p:oleObj name="CS ChemDraw Drawing" r:id="rId3" imgW="6351677" imgH="2255212" progId="ChemDraw.Document.6.0">
                  <p:embed/>
                  <p:pic>
                    <p:nvPicPr>
                      <p:cNvPr id="4" name="对象 3"/>
                      <p:cNvPicPr/>
                      <p:nvPr/>
                    </p:nvPicPr>
                    <p:blipFill>
                      <a:blip r:embed="rId4"/>
                      <a:stretch>
                        <a:fillRect/>
                      </a:stretch>
                    </p:blipFill>
                    <p:spPr>
                      <a:xfrm>
                        <a:off x="479376" y="1124744"/>
                        <a:ext cx="10340117" cy="3672408"/>
                      </a:xfrm>
                      <a:prstGeom prst="rect">
                        <a:avLst/>
                      </a:prstGeom>
                    </p:spPr>
                  </p:pic>
                </p:oleObj>
              </mc:Fallback>
            </mc:AlternateContent>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7198285" y="5636857"/>
            <a:ext cx="360040" cy="321162"/>
          </a:xfrm>
          <a:prstGeom prst="ellipse">
            <a:avLst/>
          </a:prstGeom>
          <a:solidFill>
            <a:srgbClr val="FFFF0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6924092" y="5777862"/>
            <a:ext cx="360040" cy="321162"/>
          </a:xfrm>
          <a:prstGeom prst="ellipse">
            <a:avLst/>
          </a:prstGeom>
          <a:solidFill>
            <a:srgbClr val="FFFF0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6744072" y="4836030"/>
            <a:ext cx="360040" cy="321162"/>
          </a:xfrm>
          <a:prstGeom prst="ellipse">
            <a:avLst/>
          </a:prstGeom>
          <a:solidFill>
            <a:srgbClr val="FFFF0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灯片编号占位符 1"/>
          <p:cNvSpPr>
            <a:spLocks noGrp="1"/>
          </p:cNvSpPr>
          <p:nvPr>
            <p:ph type="sldNum" sz="quarter" idx="12"/>
          </p:nvPr>
        </p:nvSpPr>
        <p:spPr/>
        <p:txBody>
          <a:bodyPr/>
          <a:lstStyle/>
          <a:p>
            <a:fld id="{0C913308-F349-4B6D-A68A-DD1791B4A57B}" type="slidenum">
              <a:rPr lang="zh-CN" altLang="en-US" smtClean="0"/>
              <a:pPr/>
              <a:t>36</a:t>
            </a:fld>
            <a:endParaRPr lang="zh-CN" altLang="en-US"/>
          </a:p>
        </p:txBody>
      </p:sp>
      <p:sp>
        <p:nvSpPr>
          <p:cNvPr id="3" name="TextBox 2"/>
          <p:cNvSpPr txBox="1"/>
          <p:nvPr/>
        </p:nvSpPr>
        <p:spPr>
          <a:xfrm>
            <a:off x="313588" y="826954"/>
            <a:ext cx="11521280" cy="2308324"/>
          </a:xfrm>
          <a:prstGeom prst="rect">
            <a:avLst/>
          </a:prstGeom>
          <a:noFill/>
        </p:spPr>
        <p:txBody>
          <a:bodyPr wrap="square" rtlCol="0">
            <a:spAutoFit/>
          </a:bodyPr>
          <a:lstStyle/>
          <a:p>
            <a:pPr marL="285750" indent="-285750" algn="just">
              <a:buFont typeface="Arial" panose="020B0604020202020204" pitchFamily="34" charset="0"/>
              <a:buChar char="•"/>
            </a:pPr>
            <a:r>
              <a:rPr lang="en-US" altLang="zh-CN" b="1" dirty="0">
                <a:latin typeface="Microsoft Sans Serif" pitchFamily="34" charset="0"/>
                <a:cs typeface="Microsoft Sans Serif" pitchFamily="34" charset="0"/>
              </a:rPr>
              <a:t>Nearly all </a:t>
            </a:r>
            <a:r>
              <a:rPr lang="en-US" altLang="zh-CN" b="1" dirty="0">
                <a:solidFill>
                  <a:srgbClr val="FF0000"/>
                </a:solidFill>
                <a:latin typeface="Microsoft Sans Serif" pitchFamily="34" charset="0"/>
                <a:cs typeface="Microsoft Sans Serif" pitchFamily="34" charset="0"/>
              </a:rPr>
              <a:t>cyclohexanes</a:t>
            </a:r>
            <a:r>
              <a:rPr lang="en-US" altLang="zh-CN" b="1" dirty="0">
                <a:latin typeface="Microsoft Sans Serif" pitchFamily="34" charset="0"/>
                <a:cs typeface="Microsoft Sans Serif" pitchFamily="34" charset="0"/>
              </a:rPr>
              <a:t> are most stable in </a:t>
            </a:r>
            <a:r>
              <a:rPr lang="en-US" altLang="zh-CN" b="1" dirty="0">
                <a:solidFill>
                  <a:srgbClr val="0000FF"/>
                </a:solidFill>
                <a:latin typeface="Microsoft Sans Serif" pitchFamily="34" charset="0"/>
                <a:cs typeface="Microsoft Sans Serif" pitchFamily="34" charset="0"/>
              </a:rPr>
              <a:t>chair conformations</a:t>
            </a:r>
            <a:r>
              <a:rPr lang="en-US" altLang="zh-CN" b="1" dirty="0">
                <a:latin typeface="Microsoft Sans Serif" pitchFamily="34" charset="0"/>
                <a:cs typeface="Microsoft Sans Serif" pitchFamily="34" charset="0"/>
              </a:rPr>
              <a:t>.</a:t>
            </a:r>
          </a:p>
          <a:p>
            <a:pPr algn="just">
              <a:buFont typeface="Arial" pitchFamily="34" charset="0"/>
              <a:buChar char="•"/>
            </a:pPr>
            <a:endParaRPr lang="en-US" altLang="zh-CN" b="1" dirty="0">
              <a:latin typeface="Microsoft Sans Serif" pitchFamily="34" charset="0"/>
              <a:cs typeface="Microsoft Sans Serif" pitchFamily="34" charset="0"/>
            </a:endParaRPr>
          </a:p>
          <a:p>
            <a:pPr marL="285750" indent="-285750" algn="just">
              <a:buFont typeface="Arial" panose="020B0604020202020204" pitchFamily="34" charset="0"/>
              <a:buChar char="•"/>
            </a:pPr>
            <a:r>
              <a:rPr lang="en-US" altLang="zh-CN" b="1" dirty="0">
                <a:highlight>
                  <a:srgbClr val="FFFF00"/>
                </a:highlight>
                <a:latin typeface="Microsoft Sans Serif" pitchFamily="34" charset="0"/>
                <a:cs typeface="Microsoft Sans Serif" pitchFamily="34" charset="0"/>
              </a:rPr>
              <a:t>In the chair, all the C-C bonds are staggered, and </a:t>
            </a:r>
            <a:r>
              <a:rPr lang="en-US" altLang="zh-CN" b="1" dirty="0">
                <a:solidFill>
                  <a:srgbClr val="0000FF"/>
                </a:solidFill>
                <a:highlight>
                  <a:srgbClr val="FFFF00"/>
                </a:highlight>
                <a:latin typeface="Microsoft Sans Serif" pitchFamily="34" charset="0"/>
                <a:cs typeface="Microsoft Sans Serif" pitchFamily="34" charset="0"/>
              </a:rPr>
              <a:t>any two adjacent carbon atoms have axial bonds in an anti-coplanar conformation</a:t>
            </a:r>
            <a:r>
              <a:rPr lang="en-US" altLang="zh-CN" b="1" dirty="0">
                <a:highlight>
                  <a:srgbClr val="FFFF00"/>
                </a:highlight>
                <a:latin typeface="Microsoft Sans Serif" pitchFamily="34" charset="0"/>
                <a:cs typeface="Microsoft Sans Serif" pitchFamily="34" charset="0"/>
              </a:rPr>
              <a:t>, </a:t>
            </a:r>
            <a:r>
              <a:rPr lang="en-US" altLang="zh-CN" b="1" dirty="0">
                <a:solidFill>
                  <a:srgbClr val="FF0000"/>
                </a:solidFill>
                <a:highlight>
                  <a:srgbClr val="FFFF00"/>
                </a:highlight>
                <a:latin typeface="Microsoft Sans Serif" pitchFamily="34" charset="0"/>
                <a:cs typeface="Microsoft Sans Serif" pitchFamily="34" charset="0"/>
              </a:rPr>
              <a:t>ideally oriented for the E2 reactions</a:t>
            </a:r>
            <a:r>
              <a:rPr lang="en-US" altLang="zh-CN" b="1" dirty="0">
                <a:latin typeface="Microsoft Sans Serif" pitchFamily="34" charset="0"/>
                <a:cs typeface="Microsoft Sans Serif" pitchFamily="34" charset="0"/>
              </a:rPr>
              <a:t>.</a:t>
            </a:r>
          </a:p>
          <a:p>
            <a:pPr algn="just">
              <a:buFont typeface="Arial" pitchFamily="34" charset="0"/>
              <a:buChar char="•"/>
            </a:pPr>
            <a:endParaRPr lang="en-US" altLang="zh-CN" b="1" dirty="0">
              <a:latin typeface="Microsoft Sans Serif" pitchFamily="34" charset="0"/>
              <a:cs typeface="Microsoft Sans Serif" pitchFamily="34" charset="0"/>
            </a:endParaRPr>
          </a:p>
          <a:p>
            <a:pPr marL="285750" indent="-285750" algn="just">
              <a:buFont typeface="Arial" panose="020B0604020202020204" pitchFamily="34" charset="0"/>
              <a:buChar char="•"/>
            </a:pPr>
            <a:r>
              <a:rPr lang="en-US" altLang="zh-CN" b="1" dirty="0">
                <a:latin typeface="Microsoft Sans Serif" pitchFamily="34" charset="0"/>
                <a:cs typeface="Microsoft Sans Serif" pitchFamily="34" charset="0"/>
              </a:rPr>
              <a:t>On </a:t>
            </a:r>
            <a:r>
              <a:rPr lang="en-US" altLang="zh-CN" b="1" dirty="0">
                <a:solidFill>
                  <a:srgbClr val="0000FF"/>
                </a:solidFill>
                <a:latin typeface="Microsoft Sans Serif" pitchFamily="34" charset="0"/>
                <a:cs typeface="Microsoft Sans Serif" pitchFamily="34" charset="0"/>
              </a:rPr>
              <a:t>any two adjacent carbon atoms</a:t>
            </a:r>
            <a:r>
              <a:rPr lang="en-US" altLang="zh-CN" b="1" dirty="0">
                <a:latin typeface="Microsoft Sans Serif" pitchFamily="34" charset="0"/>
                <a:cs typeface="Microsoft Sans Serif" pitchFamily="34" charset="0"/>
              </a:rPr>
              <a:t>, one has its </a:t>
            </a:r>
            <a:r>
              <a:rPr lang="en-US" altLang="zh-CN" b="1" dirty="0">
                <a:solidFill>
                  <a:srgbClr val="FF0000"/>
                </a:solidFill>
                <a:latin typeface="Microsoft Sans Serif" pitchFamily="34" charset="0"/>
                <a:cs typeface="Microsoft Sans Serif" pitchFamily="34" charset="0"/>
              </a:rPr>
              <a:t>axial bond pointing up</a:t>
            </a:r>
            <a:r>
              <a:rPr lang="en-US" altLang="zh-CN" b="1" dirty="0">
                <a:latin typeface="Microsoft Sans Serif" pitchFamily="34" charset="0"/>
                <a:cs typeface="Microsoft Sans Serif" pitchFamily="34" charset="0"/>
              </a:rPr>
              <a:t> and the other has its </a:t>
            </a:r>
            <a:r>
              <a:rPr lang="en-US" altLang="zh-CN" b="1" dirty="0">
                <a:solidFill>
                  <a:srgbClr val="FF0000"/>
                </a:solidFill>
                <a:latin typeface="Microsoft Sans Serif" pitchFamily="34" charset="0"/>
                <a:cs typeface="Microsoft Sans Serif" pitchFamily="34" charset="0"/>
              </a:rPr>
              <a:t>axial bond pointing down</a:t>
            </a:r>
            <a:r>
              <a:rPr lang="en-US" altLang="zh-CN" b="1" dirty="0">
                <a:latin typeface="Microsoft Sans Serif" pitchFamily="34" charset="0"/>
                <a:cs typeface="Microsoft Sans Serif" pitchFamily="34" charset="0"/>
              </a:rPr>
              <a:t>. These two bonds are </a:t>
            </a:r>
            <a:r>
              <a:rPr lang="en-US" altLang="zh-CN" b="1" i="1" dirty="0">
                <a:latin typeface="Microsoft Sans Serif" pitchFamily="34" charset="0"/>
                <a:cs typeface="Microsoft Sans Serif" pitchFamily="34" charset="0"/>
              </a:rPr>
              <a:t>trans</a:t>
            </a:r>
            <a:r>
              <a:rPr lang="en-US" altLang="zh-CN" b="1" dirty="0">
                <a:latin typeface="Microsoft Sans Serif" pitchFamily="34" charset="0"/>
                <a:cs typeface="Microsoft Sans Serif" pitchFamily="34" charset="0"/>
              </a:rPr>
              <a:t> to each other. If the </a:t>
            </a:r>
            <a:r>
              <a:rPr lang="en-US" altLang="zh-CN" b="1" dirty="0">
                <a:latin typeface="Microsoft Sans Serif" pitchFamily="34" charset="0"/>
                <a:cs typeface="Microsoft Sans Serif" pitchFamily="34" charset="0"/>
                <a:sym typeface="Symbol" panose="05050102010706020507" pitchFamily="18" charset="2"/>
              </a:rPr>
              <a:t>-H</a:t>
            </a:r>
            <a:r>
              <a:rPr lang="en-US" altLang="zh-CN" b="1" dirty="0">
                <a:latin typeface="Microsoft Sans Serif" pitchFamily="34" charset="0"/>
                <a:cs typeface="Microsoft Sans Serif" pitchFamily="34" charset="0"/>
              </a:rPr>
              <a:t> and the leaving group can get into such an arrangement, an E2 elimination can take place on this chair conformation.</a:t>
            </a:r>
          </a:p>
        </p:txBody>
      </p:sp>
      <p:sp>
        <p:nvSpPr>
          <p:cNvPr id="8" name="矩形 7"/>
          <p:cNvSpPr/>
          <p:nvPr/>
        </p:nvSpPr>
        <p:spPr>
          <a:xfrm>
            <a:off x="0" y="253685"/>
            <a:ext cx="5327099" cy="400110"/>
          </a:xfrm>
          <a:prstGeom prst="rect">
            <a:avLst/>
          </a:prstGeom>
          <a:solidFill>
            <a:schemeClr val="tx2">
              <a:lumMod val="20000"/>
              <a:lumOff val="80000"/>
            </a:schemeClr>
          </a:solidFill>
        </p:spPr>
        <p:txBody>
          <a:bodyPr wrap="none">
            <a:spAutoFit/>
          </a:bodyPr>
          <a:lstStyle/>
          <a:p>
            <a:r>
              <a:rPr lang="en-US" altLang="zh-CN" sz="2000" b="1" dirty="0">
                <a:latin typeface="Microsoft Sans Serif" pitchFamily="34" charset="0"/>
                <a:cs typeface="Microsoft Sans Serif" pitchFamily="34" charset="0"/>
              </a:rPr>
              <a:t>7-9-4  E2 Reactions in </a:t>
            </a:r>
            <a:r>
              <a:rPr lang="en-US" altLang="zh-CN" sz="2000" b="1" dirty="0">
                <a:solidFill>
                  <a:srgbClr val="FF0000"/>
                </a:solidFill>
                <a:latin typeface="Microsoft Sans Serif" pitchFamily="34" charset="0"/>
                <a:cs typeface="Microsoft Sans Serif" pitchFamily="34" charset="0"/>
              </a:rPr>
              <a:t>Cyclohexane Systems</a:t>
            </a:r>
          </a:p>
        </p:txBody>
      </p:sp>
      <p:graphicFrame>
        <p:nvGraphicFramePr>
          <p:cNvPr id="38915" name="Object 3"/>
          <p:cNvGraphicFramePr>
            <a:graphicFrameLocks noChangeAspect="1"/>
          </p:cNvGraphicFramePr>
          <p:nvPr/>
        </p:nvGraphicFramePr>
        <p:xfrm>
          <a:off x="2207568" y="3308437"/>
          <a:ext cx="1800200" cy="1278282"/>
        </p:xfrm>
        <a:graphic>
          <a:graphicData uri="http://schemas.openxmlformats.org/presentationml/2006/ole">
            <mc:AlternateContent xmlns:mc="http://schemas.openxmlformats.org/markup-compatibility/2006">
              <mc:Choice xmlns:v="urn:schemas-microsoft-com:vml" Requires="v">
                <p:oleObj spid="_x0000_s83018" name="CS ChemDraw Drawing" r:id="rId3" imgW="1024128" imgH="726840" progId="ChemDraw.Document.6.0">
                  <p:embed/>
                </p:oleObj>
              </mc:Choice>
              <mc:Fallback>
                <p:oleObj name="CS ChemDraw Drawing" r:id="rId3" imgW="1024128" imgH="726840" progId="ChemDraw.Document.6.0">
                  <p:embed/>
                  <p:pic>
                    <p:nvPicPr>
                      <p:cNvPr id="38915"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7568" y="3308437"/>
                        <a:ext cx="1800200" cy="1278282"/>
                      </a:xfrm>
                      <a:prstGeom prst="rect">
                        <a:avLst/>
                      </a:prstGeom>
                      <a:noFill/>
                      <a:ln>
                        <a:noFill/>
                      </a:ln>
                      <a:effectLst/>
                    </p:spPr>
                  </p:pic>
                </p:oleObj>
              </mc:Fallback>
            </mc:AlternateContent>
          </a:graphicData>
        </a:graphic>
      </p:graphicFrame>
      <p:graphicFrame>
        <p:nvGraphicFramePr>
          <p:cNvPr id="4" name="对象 3"/>
          <p:cNvGraphicFramePr>
            <a:graphicFrameLocks noChangeAspect="1"/>
          </p:cNvGraphicFramePr>
          <p:nvPr/>
        </p:nvGraphicFramePr>
        <p:xfrm>
          <a:off x="6074228" y="3573036"/>
          <a:ext cx="2952328" cy="825236"/>
        </p:xfrm>
        <a:graphic>
          <a:graphicData uri="http://schemas.openxmlformats.org/presentationml/2006/ole">
            <mc:AlternateContent xmlns:mc="http://schemas.openxmlformats.org/markup-compatibility/2006">
              <mc:Choice xmlns:v="urn:schemas-microsoft-com:vml" Requires="v">
                <p:oleObj spid="_x0000_s83019" name="CS ChemDraw Drawing" r:id="rId5" imgW="1720295" imgH="481249" progId="ChemDraw.Document.6.0">
                  <p:embed/>
                </p:oleObj>
              </mc:Choice>
              <mc:Fallback>
                <p:oleObj name="CS ChemDraw Drawing" r:id="rId5" imgW="1720295" imgH="481249" progId="ChemDraw.Document.6.0">
                  <p:embed/>
                  <p:pic>
                    <p:nvPicPr>
                      <p:cNvPr id="4" name="对象 3"/>
                      <p:cNvPicPr/>
                      <p:nvPr/>
                    </p:nvPicPr>
                    <p:blipFill>
                      <a:blip r:embed="rId6"/>
                      <a:stretch>
                        <a:fillRect/>
                      </a:stretch>
                    </p:blipFill>
                    <p:spPr>
                      <a:xfrm>
                        <a:off x="6074228" y="3573036"/>
                        <a:ext cx="2952328" cy="825236"/>
                      </a:xfrm>
                      <a:prstGeom prst="rect">
                        <a:avLst/>
                      </a:prstGeom>
                    </p:spPr>
                  </p:pic>
                </p:oleObj>
              </mc:Fallback>
            </mc:AlternateContent>
          </a:graphicData>
        </a:graphic>
      </p:graphicFrame>
      <p:graphicFrame>
        <p:nvGraphicFramePr>
          <p:cNvPr id="6" name="对象 5"/>
          <p:cNvGraphicFramePr>
            <a:graphicFrameLocks noChangeAspect="1"/>
          </p:cNvGraphicFramePr>
          <p:nvPr/>
        </p:nvGraphicFramePr>
        <p:xfrm>
          <a:off x="2783632" y="4836030"/>
          <a:ext cx="7612852" cy="1811888"/>
        </p:xfrm>
        <a:graphic>
          <a:graphicData uri="http://schemas.openxmlformats.org/presentationml/2006/ole">
            <mc:AlternateContent xmlns:mc="http://schemas.openxmlformats.org/markup-compatibility/2006">
              <mc:Choice xmlns:v="urn:schemas-microsoft-com:vml" Requires="v">
                <p:oleObj spid="_x0000_s83020" name="CS ChemDraw Drawing" r:id="rId7" imgW="4963209" imgH="1180924" progId="ChemDraw.Document.6.0">
                  <p:embed/>
                </p:oleObj>
              </mc:Choice>
              <mc:Fallback>
                <p:oleObj name="CS ChemDraw Drawing" r:id="rId7" imgW="4963209" imgH="1180924" progId="ChemDraw.Document.6.0">
                  <p:embed/>
                  <p:pic>
                    <p:nvPicPr>
                      <p:cNvPr id="6" name="对象 5"/>
                      <p:cNvPicPr/>
                      <p:nvPr/>
                    </p:nvPicPr>
                    <p:blipFill>
                      <a:blip r:embed="rId8"/>
                      <a:stretch>
                        <a:fillRect/>
                      </a:stretch>
                    </p:blipFill>
                    <p:spPr>
                      <a:xfrm>
                        <a:off x="2783632" y="4836030"/>
                        <a:ext cx="7612852" cy="1811888"/>
                      </a:xfrm>
                      <a:prstGeom prst="rect">
                        <a:avLst/>
                      </a:prstGeom>
                    </p:spPr>
                  </p:pic>
                </p:oleObj>
              </mc:Fallback>
            </mc:AlternateContent>
          </a:graphicData>
        </a:graphic>
      </p:graphicFrame>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4354</TotalTime>
  <Words>3092</Words>
  <Application>Microsoft Office PowerPoint</Application>
  <PresentationFormat>宽屏</PresentationFormat>
  <Paragraphs>287</Paragraphs>
  <Slides>36</Slides>
  <Notes>0</Notes>
  <HiddenSlides>0</HiddenSlides>
  <MMClips>0</MMClips>
  <ScaleCrop>false</ScaleCrop>
  <HeadingPairs>
    <vt:vector size="8" baseType="variant">
      <vt:variant>
        <vt:lpstr>已用的字体</vt:lpstr>
      </vt:variant>
      <vt:variant>
        <vt:i4>4</vt:i4>
      </vt:variant>
      <vt:variant>
        <vt:lpstr>主题</vt:lpstr>
      </vt:variant>
      <vt:variant>
        <vt:i4>1</vt:i4>
      </vt:variant>
      <vt:variant>
        <vt:lpstr>嵌入 OLE 服务器</vt:lpstr>
      </vt:variant>
      <vt:variant>
        <vt:i4>1</vt:i4>
      </vt:variant>
      <vt:variant>
        <vt:lpstr>幻灯片标题</vt:lpstr>
      </vt:variant>
      <vt:variant>
        <vt:i4>36</vt:i4>
      </vt:variant>
    </vt:vector>
  </HeadingPairs>
  <TitlesOfParts>
    <vt:vector size="42" baseType="lpstr">
      <vt:lpstr>Arial</vt:lpstr>
      <vt:lpstr>Calibri</vt:lpstr>
      <vt:lpstr>Consolas</vt:lpstr>
      <vt:lpstr>Microsoft Sans Serif</vt:lpstr>
      <vt:lpstr>Office 主题</vt:lpstr>
      <vt:lpstr>CS ChemDraw Drawing</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Administrator</dc:creator>
  <cp:lastModifiedBy>luo</cp:lastModifiedBy>
  <cp:revision>969</cp:revision>
  <dcterms:created xsi:type="dcterms:W3CDTF">2017-06-07T00:16:05Z</dcterms:created>
  <dcterms:modified xsi:type="dcterms:W3CDTF">2026-10-14T02:30:28Z</dcterms:modified>
</cp:coreProperties>
</file>