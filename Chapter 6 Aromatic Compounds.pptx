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78" r:id="rId5"/>
    <p:sldId id="281" r:id="rId6"/>
    <p:sldId id="265" r:id="rId7"/>
    <p:sldId id="276" r:id="rId8"/>
    <p:sldId id="282" r:id="rId9"/>
    <p:sldId id="264" r:id="rId10"/>
    <p:sldId id="284" r:id="rId11"/>
    <p:sldId id="285" r:id="rId12"/>
    <p:sldId id="259" r:id="rId13"/>
    <p:sldId id="306" r:id="rId14"/>
    <p:sldId id="260" r:id="rId15"/>
    <p:sldId id="261" r:id="rId16"/>
    <p:sldId id="262" r:id="rId17"/>
    <p:sldId id="315" r:id="rId18"/>
    <p:sldId id="316" r:id="rId19"/>
    <p:sldId id="263" r:id="rId20"/>
    <p:sldId id="317" r:id="rId21"/>
    <p:sldId id="268" r:id="rId22"/>
    <p:sldId id="318" r:id="rId23"/>
    <p:sldId id="269" r:id="rId24"/>
    <p:sldId id="300" r:id="rId25"/>
    <p:sldId id="309" r:id="rId26"/>
    <p:sldId id="272" r:id="rId27"/>
    <p:sldId id="273" r:id="rId28"/>
    <p:sldId id="274" r:id="rId29"/>
    <p:sldId id="319" r:id="rId30"/>
    <p:sldId id="320" r:id="rId31"/>
    <p:sldId id="279" r:id="rId32"/>
    <p:sldId id="280" r:id="rId33"/>
    <p:sldId id="321" r:id="rId34"/>
    <p:sldId id="322" r:id="rId35"/>
    <p:sldId id="312" r:id="rId36"/>
    <p:sldId id="323" r:id="rId37"/>
    <p:sldId id="291" r:id="rId38"/>
    <p:sldId id="292" r:id="rId39"/>
    <p:sldId id="29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FF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72" autoAdjust="0"/>
    <p:restoredTop sz="94660"/>
  </p:normalViewPr>
  <p:slideViewPr>
    <p:cSldViewPr>
      <p:cViewPr varScale="1">
        <p:scale>
          <a:sx n="113" d="100"/>
          <a:sy n="113" d="100"/>
        </p:scale>
        <p:origin x="1074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4" Type="http://schemas.openxmlformats.org/officeDocument/2006/relationships/image" Target="../media/image3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4" Type="http://schemas.openxmlformats.org/officeDocument/2006/relationships/image" Target="../media/image34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4" Type="http://schemas.openxmlformats.org/officeDocument/2006/relationships/image" Target="../media/image38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39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36.emf"/><Relationship Id="rId1" Type="http://schemas.openxmlformats.org/officeDocument/2006/relationships/image" Target="../media/image44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4" Type="http://schemas.openxmlformats.org/officeDocument/2006/relationships/image" Target="../media/image66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5" Type="http://schemas.openxmlformats.org/officeDocument/2006/relationships/image" Target="../media/image68.emf"/><Relationship Id="rId4" Type="http://schemas.openxmlformats.org/officeDocument/2006/relationships/image" Target="../media/image67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526F3-DC4B-4491-8315-3C09968249A2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89B03-93FE-42E5-9D7C-59EAA6A7472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115F16-3397-4C54-841F-2679DAF2942B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16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7469-B401-4343-8316-0BA47CCEADBB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C3D2-BAAA-48A9-BD8B-A297FFE90854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A3C-5E0D-4B3D-A0F6-B34554B6BECE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E8C65-3A2D-423D-92E4-D50CD0B1DC4B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BBA6-AFD3-4B2E-B923-C38C9B801757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20FA-987A-4DE1-84D9-6B3DB78D7F80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E1192-A5CA-4473-9A5C-E4CB569FCE87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45D84-6C9C-4447-A5A2-F1B1F79807BE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AADDB-77EB-4F90-B0EC-256E63A6A0DD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4602-3077-4E4C-B622-0D835F83AD39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A82A-449E-4A85-8833-FEBDDD3A21E1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7456D-1A2E-44D4-882E-7180990F264B}" type="datetime1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0.emf"/><Relationship Id="rId4" Type="http://schemas.openxmlformats.org/officeDocument/2006/relationships/image" Target="../media/image27.emf"/><Relationship Id="rId9" Type="http://schemas.openxmlformats.org/officeDocument/2006/relationships/oleObject" Target="../embeddings/oleObject2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3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3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8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5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6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66.emf"/><Relationship Id="rId4" Type="http://schemas.openxmlformats.org/officeDocument/2006/relationships/image" Target="../media/image63.emf"/><Relationship Id="rId9" Type="http://schemas.openxmlformats.org/officeDocument/2006/relationships/oleObject" Target="../embeddings/oleObject6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6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67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6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9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71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2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7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79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0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84.e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65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Chapter 6 </a:t>
            </a:r>
            <a:r>
              <a:rPr lang="zh-CN" altLang="en-US" sz="2800" b="1" dirty="0"/>
              <a:t>      </a:t>
            </a:r>
            <a:r>
              <a:rPr lang="en-US" altLang="zh-CN" sz="2800" b="1" dirty="0"/>
              <a:t>Aromatic Compounds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11136" y="4509120"/>
            <a:ext cx="11569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Benzene and benzene-related compounds are called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aromatic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because of some of them were firstly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derived from plants with pleasant odors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in contrast to other organic compounds which were called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aliphatic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meaning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fatlike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Nowadays the term aromatic has been applied to compounds with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benzene or benzene-like structures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with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unusual stability and reactivity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regardless of their odors.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043078"/>
            <a:ext cx="232307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6-1 Introduction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443951"/>
              </p:ext>
            </p:extLst>
          </p:nvPr>
        </p:nvGraphicFramePr>
        <p:xfrm>
          <a:off x="2936704" y="1844029"/>
          <a:ext cx="6318587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3" name="CS ChemDraw Drawing" r:id="rId3" imgW="3084694" imgH="984301" progId="ChemDraw.Document.6.0">
                  <p:embed/>
                </p:oleObj>
              </mc:Choice>
              <mc:Fallback>
                <p:oleObj name="CS ChemDraw Drawing" r:id="rId3" imgW="3084694" imgH="98430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6704" y="1844029"/>
                        <a:ext cx="6318587" cy="2016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0ACE85-51AD-474A-8B41-097C1BDFCBD3}"/>
              </a:ext>
            </a:extLst>
          </p:cNvPr>
          <p:cNvSpPr/>
          <p:nvPr/>
        </p:nvSpPr>
        <p:spPr>
          <a:xfrm>
            <a:off x="8154511" y="3043069"/>
            <a:ext cx="3559741" cy="147732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91344" y="1361005"/>
            <a:ext cx="115229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Spectroscopic measurements have shown that the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benzene ring is a planar hexagon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all the C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C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bonds are the same length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(1.397 Å).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All the bond angles are exactly 120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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carbon-carbon bond lengths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in benzene are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shorter than typical single-bond lengths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(1.48 Å), yet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longer than typical double-bond lengths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(1.34 Å).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935132"/>
              </p:ext>
            </p:extLst>
          </p:nvPr>
        </p:nvGraphicFramePr>
        <p:xfrm>
          <a:off x="3934132" y="2844994"/>
          <a:ext cx="1840534" cy="156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" name="CS ChemDraw Drawing" r:id="rId3" imgW="900253" imgH="766071" progId="ChemDraw.Document.6.0">
                  <p:embed/>
                </p:oleObj>
              </mc:Choice>
              <mc:Fallback>
                <p:oleObj name="CS ChemDraw Drawing" r:id="rId3" imgW="900253" imgH="766071" progId="ChemDraw.Document.6.0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132" y="2844994"/>
                        <a:ext cx="1840534" cy="156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0" y="300521"/>
            <a:ext cx="7186583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6-2 The Structure and Unusual Stability of Benzene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44" y="2868226"/>
            <a:ext cx="1388605" cy="15678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552" y="2868225"/>
            <a:ext cx="1693936" cy="15724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938140"/>
            <a:ext cx="307808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6-2-1 Spectroscopic facts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80FE90-FACA-4A83-9C2E-A2654873EAB3}"/>
              </a:ext>
            </a:extLst>
          </p:cNvPr>
          <p:cNvSpPr txBox="1"/>
          <p:nvPr/>
        </p:nvSpPr>
        <p:spPr>
          <a:xfrm>
            <a:off x="0" y="4767252"/>
            <a:ext cx="5107488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6-2 Explanation of the Hybridization Theory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1741E846-C015-4178-B77E-5718D1304902}"/>
              </a:ext>
            </a:extLst>
          </p:cNvPr>
          <p:cNvSpPr txBox="1"/>
          <p:nvPr/>
        </p:nvSpPr>
        <p:spPr>
          <a:xfrm>
            <a:off x="191344" y="5312800"/>
            <a:ext cx="11248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Benzene is a ring of six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</a:t>
            </a:r>
            <a:r>
              <a:rPr lang="en-US" altLang="zh-CN" sz="2000" b="1" baseline="30000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-hybrid carbon atoms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each bonded to one H atom.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Each </a:t>
            </a:r>
            <a:r>
              <a:rPr lang="en-US" altLang="zh-CN" sz="2000" b="1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</a:t>
            </a:r>
            <a:r>
              <a:rPr lang="en-US" altLang="zh-CN" sz="2000" b="1" baseline="30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carbon atom has an unhybridized </a:t>
            </a:r>
            <a:r>
              <a:rPr lang="en-US" altLang="zh-CN" sz="2000" b="1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orbital perpendicular to the plane of the ring.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Overlap of these six unhybridized p orbitals forms </a:t>
            </a:r>
            <a:r>
              <a:rPr lang="en-US" altLang="zh-CN" sz="2000" b="1" dirty="0">
                <a:highlight>
                  <a:srgbClr val="00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cyclic big </a:t>
            </a:r>
            <a:r>
              <a:rPr lang="en-US" altLang="zh-CN" sz="2000" b="1" dirty="0">
                <a:highlight>
                  <a:srgbClr val="00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 bond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number of the </a:t>
            </a:r>
            <a:r>
              <a:rPr lang="en-US" altLang="zh-CN" sz="2000" b="1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p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 electrons in the continuous ring of the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 system is </a:t>
            </a:r>
            <a:r>
              <a:rPr lang="en-US" altLang="zh-CN" sz="2000" b="1" dirty="0">
                <a:highlight>
                  <a:srgbClr val="00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6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.</a:t>
            </a:r>
            <a:endParaRPr lang="zh-CN" altLang="en-US" sz="2000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0E4CA20-EEF1-413D-A441-929C854A7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5554"/>
              </p:ext>
            </p:extLst>
          </p:nvPr>
        </p:nvGraphicFramePr>
        <p:xfrm>
          <a:off x="5951310" y="2798019"/>
          <a:ext cx="2079528" cy="1708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" name="CS ChemDraw Drawing" r:id="rId7" imgW="1270888" imgH="1045349" progId="ChemDraw.Document.6.0">
                  <p:embed/>
                </p:oleObj>
              </mc:Choice>
              <mc:Fallback>
                <p:oleObj name="CS ChemDraw Drawing" r:id="rId7" imgW="1270888" imgH="1045349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51310" y="2798019"/>
                        <a:ext cx="2079528" cy="1708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EAEAE619-9077-4C4D-9229-045FE98D3E8E}"/>
              </a:ext>
            </a:extLst>
          </p:cNvPr>
          <p:cNvSpPr txBox="1"/>
          <p:nvPr/>
        </p:nvSpPr>
        <p:spPr>
          <a:xfrm>
            <a:off x="8154511" y="3043069"/>
            <a:ext cx="35597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C</a:t>
            </a: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C  bonds are </a:t>
            </a:r>
            <a:r>
              <a:rPr lang="en-US" altLang="zh-CN" b="1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sp</a:t>
            </a:r>
            <a:r>
              <a:rPr lang="en-US" altLang="zh-CN" b="1" baseline="30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zh-CN" b="1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sp</a:t>
            </a:r>
            <a:r>
              <a:rPr lang="en-US" altLang="zh-CN" b="1" baseline="30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overlap, forming the framework of benzene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The CH bonds are </a:t>
            </a:r>
            <a:r>
              <a:rPr lang="en-US" altLang="zh-CN" b="1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sp</a:t>
            </a:r>
            <a:r>
              <a:rPr lang="en-US" altLang="zh-CN" b="1" baseline="30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zh-CN" b="1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overlap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53122" y="3508538"/>
            <a:ext cx="11217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Resonance Representation: a resonance hybrid of the two Kekulé structures, implying that the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 electrons are delocalized.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16889" y="3052522"/>
            <a:ext cx="5142755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6-2-4 Explanation of the Resonance Theory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994814"/>
              </p:ext>
            </p:extLst>
          </p:nvPr>
        </p:nvGraphicFramePr>
        <p:xfrm>
          <a:off x="4799856" y="3930438"/>
          <a:ext cx="2736304" cy="1418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45" name="CS ChemDraw Drawing" r:id="rId3" imgW="1644144" imgH="853088" progId="ChemDraw.Document.6.0">
                  <p:embed/>
                </p:oleObj>
              </mc:Choice>
              <mc:Fallback>
                <p:oleObj name="CS ChemDraw Drawing" r:id="rId3" imgW="1644144" imgH="85308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9856" y="3930438"/>
                        <a:ext cx="2736304" cy="1418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A7F142A-48ED-4941-8F46-CCEBB8219138}"/>
              </a:ext>
            </a:extLst>
          </p:cNvPr>
          <p:cNvSpPr/>
          <p:nvPr/>
        </p:nvSpPr>
        <p:spPr>
          <a:xfrm>
            <a:off x="357734" y="883258"/>
            <a:ext cx="115709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Kekulé Structure: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cyclic structure with alternating single and double bonds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often use Kekulé structures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in drawing reaction mechanism to show the movement of electrons.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C4A7B6-F6E0-42A2-B238-0E6D7B9B0A07}"/>
              </a:ext>
            </a:extLst>
          </p:cNvPr>
          <p:cNvSpPr txBox="1"/>
          <p:nvPr/>
        </p:nvSpPr>
        <p:spPr>
          <a:xfrm>
            <a:off x="0" y="404664"/>
            <a:ext cx="321754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6-2-3 The Kekulé structure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0915E6A2-414B-43D1-A069-A2D73609C1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484094"/>
              </p:ext>
            </p:extLst>
          </p:nvPr>
        </p:nvGraphicFramePr>
        <p:xfrm>
          <a:off x="4082528" y="1684520"/>
          <a:ext cx="3049988" cy="1252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46" name="CS ChemDraw Drawing" r:id="rId5" imgW="1747868" imgH="717984" progId="ChemDraw.Document.6.0">
                  <p:embed/>
                </p:oleObj>
              </mc:Choice>
              <mc:Fallback>
                <p:oleObj name="CS ChemDraw Drawing" r:id="rId5" imgW="1747868" imgH="717984" progId="ChemDraw.Document.6.0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528" y="1684520"/>
                        <a:ext cx="3049988" cy="125213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bg1">
                            <a:lumMod val="75000"/>
                          </a:schemeClr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41A9BAD6-2CD5-4DC9-A3AE-CE097CB8E683}"/>
              </a:ext>
            </a:extLst>
          </p:cNvPr>
          <p:cNvSpPr/>
          <p:nvPr/>
        </p:nvSpPr>
        <p:spPr>
          <a:xfrm>
            <a:off x="17762" y="5459384"/>
            <a:ext cx="4487126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6-2-5 Physical Properties of Benzene</a:t>
            </a:r>
            <a:endParaRPr lang="en-US" altLang="zh-CN" sz="2000" baseline="-25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124F25-D084-4B0E-BAF5-8A7C5914C424}"/>
              </a:ext>
            </a:extLst>
          </p:cNvPr>
          <p:cNvSpPr txBox="1"/>
          <p:nvPr/>
        </p:nvSpPr>
        <p:spPr>
          <a:xfrm>
            <a:off x="353122" y="6002408"/>
            <a:ext cx="9577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Benzene is a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nonpolar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molecule: </a:t>
            </a:r>
            <a:r>
              <a:rPr lang="en-US" altLang="zh-CN" sz="2000" b="1" dirty="0" err="1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b.p.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80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C,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density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0.88 g/mL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Benzene and aromatic hydrocarbons are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generally insoluble in water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35C21B6B-7314-4841-8224-F9CA87B57A8C}"/>
              </a:ext>
            </a:extLst>
          </p:cNvPr>
          <p:cNvSpPr/>
          <p:nvPr/>
        </p:nvSpPr>
        <p:spPr>
          <a:xfrm>
            <a:off x="4943873" y="4941168"/>
            <a:ext cx="2257224" cy="172722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631021"/>
              </p:ext>
            </p:extLst>
          </p:nvPr>
        </p:nvGraphicFramePr>
        <p:xfrm>
          <a:off x="479376" y="2580784"/>
          <a:ext cx="6710113" cy="4140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68" name="CS ChemDraw Drawing" r:id="rId3" imgW="3884079" imgH="2397129" progId="ChemDraw.Document.6.0">
                  <p:embed/>
                </p:oleObj>
              </mc:Choice>
              <mc:Fallback>
                <p:oleObj name="CS ChemDraw Drawing" r:id="rId3" imgW="3884079" imgH="239712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376" y="2580784"/>
                        <a:ext cx="6710113" cy="4140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0" y="260648"/>
            <a:ext cx="7372531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6-2-6 The Unusual Stability and Unusual Reactions of Benzene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1344" y="805163"/>
            <a:ext cx="114639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When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KMnO</a:t>
            </a:r>
            <a:r>
              <a:rPr lang="en-US" altLang="zh-CN" sz="2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added to an alkene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the purple permanganate color disappears, and a precipitate of manganese dioxide forms. When it is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added to benzene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however,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 reaction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occurs.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When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Br</a:t>
            </a:r>
            <a:r>
              <a:rPr lang="en-US" altLang="zh-CN" sz="2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added to an alkene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the red bromine color disappears as it adds across the double bond. When it is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added to benzene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 reaction occurs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and the red Br</a:t>
            </a:r>
            <a:r>
              <a:rPr lang="en-US" altLang="zh-CN" sz="2000" b="1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color remains.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29549" y="4421622"/>
            <a:ext cx="50277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Addition of a catalyst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causes the bromine color to disappear slowly.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0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expected addition product is not formed. Instead, </a:t>
            </a:r>
            <a:r>
              <a:rPr lang="en-US" altLang="zh-CN" sz="2000" b="1" dirty="0">
                <a:solidFill>
                  <a:srgbClr val="0000F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actual product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 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substitution of a bromine atom for a hydrogen, and the benzene ring remains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42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970290"/>
              </p:ext>
            </p:extLst>
          </p:nvPr>
        </p:nvGraphicFramePr>
        <p:xfrm>
          <a:off x="407368" y="1129829"/>
          <a:ext cx="10907189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7" name="CS ChemDraw Drawing" r:id="rId3" imgW="6584864" imgH="1695868" progId="ChemDraw.Document.6.0">
                  <p:embed/>
                </p:oleObj>
              </mc:Choice>
              <mc:Fallback>
                <p:oleObj name="CS ChemDraw Drawing" r:id="rId3" imgW="6584864" imgH="169586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368" y="1129829"/>
                        <a:ext cx="10907189" cy="280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423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86F750-B8A3-4A0A-B632-DD4C9CF7F56B}"/>
              </a:ext>
            </a:extLst>
          </p:cNvPr>
          <p:cNvSpPr/>
          <p:nvPr/>
        </p:nvSpPr>
        <p:spPr>
          <a:xfrm>
            <a:off x="204318" y="1220112"/>
            <a:ext cx="5747666" cy="161637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27348" y="3909728"/>
            <a:ext cx="114492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1&gt;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When </a:t>
            </a:r>
            <a:r>
              <a:rPr lang="en-US" altLang="zh-CN" sz="2000" b="1" dirty="0">
                <a:highlight>
                  <a:srgbClr val="00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alkyl, alkenyl, alkynyl, halogen, nitro, alkoxyl groups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are attached to the benzene ring, treat them as substituents, use benzene as the base name.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188640"/>
            <a:ext cx="546829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/>
              <a:t>6-3 Nomenclature of Benzene Derivatives</a:t>
            </a:r>
            <a:endParaRPr lang="en-US" altLang="zh-CN" sz="2400" baseline="-25000" dirty="0"/>
          </a:p>
        </p:txBody>
      </p:sp>
      <p:sp>
        <p:nvSpPr>
          <p:cNvPr id="10" name="矩形 9"/>
          <p:cNvSpPr/>
          <p:nvPr/>
        </p:nvSpPr>
        <p:spPr>
          <a:xfrm>
            <a:off x="0" y="714067"/>
            <a:ext cx="380424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6-3-1 Historical common names</a:t>
            </a:r>
            <a:endParaRPr lang="en-US" altLang="zh-CN" sz="2000" baseline="-25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3226761"/>
            <a:ext cx="247696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6-3-2 IUPAC names</a:t>
            </a:r>
            <a:endParaRPr lang="en-US" altLang="zh-CN" sz="2000" baseline="-25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108056-7C3B-4470-ADB7-6893C14196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275847"/>
              </p:ext>
            </p:extLst>
          </p:nvPr>
        </p:nvGraphicFramePr>
        <p:xfrm>
          <a:off x="335360" y="1293536"/>
          <a:ext cx="5474199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07" name="CS ChemDraw Drawing" r:id="rId3" imgW="3373909" imgH="931182" progId="ChemDraw.Document.6.0">
                  <p:embed/>
                </p:oleObj>
              </mc:Choice>
              <mc:Fallback>
                <p:oleObj name="CS ChemDraw Drawing" r:id="rId3" imgW="3373909" imgH="9311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360" y="1293536"/>
                        <a:ext cx="5474199" cy="1512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40138FC-DEDF-4147-8087-525B7CF60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897562"/>
              </p:ext>
            </p:extLst>
          </p:nvPr>
        </p:nvGraphicFramePr>
        <p:xfrm>
          <a:off x="6180982" y="1293536"/>
          <a:ext cx="5747666" cy="1521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08" name="CS ChemDraw Drawing" r:id="rId5" imgW="3465448" imgH="916911" progId="ChemDraw.Document.6.0">
                  <p:embed/>
                </p:oleObj>
              </mc:Choice>
              <mc:Fallback>
                <p:oleObj name="CS ChemDraw Drawing" r:id="rId5" imgW="3465448" imgH="91691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80982" y="1293536"/>
                        <a:ext cx="5747666" cy="15218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8A7D210-993B-4568-B9FE-CEBC14153C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117163"/>
              </p:ext>
            </p:extLst>
          </p:nvPr>
        </p:nvGraphicFramePr>
        <p:xfrm>
          <a:off x="2726592" y="5036716"/>
          <a:ext cx="8870600" cy="1350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09" name="CS ChemDraw Drawing" r:id="rId7" imgW="5650933" imgH="860620" progId="ChemDraw.Document.6.0">
                  <p:embed/>
                </p:oleObj>
              </mc:Choice>
              <mc:Fallback>
                <p:oleObj name="CS ChemDraw Drawing" r:id="rId7" imgW="5650933" imgH="8606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26592" y="5036716"/>
                        <a:ext cx="8870600" cy="1350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CDEC19F4-71F7-4848-AECA-29AECE7CFF0D}"/>
              </a:ext>
            </a:extLst>
          </p:cNvPr>
          <p:cNvSpPr txBox="1"/>
          <p:nvPr/>
        </p:nvSpPr>
        <p:spPr>
          <a:xfrm>
            <a:off x="311673" y="5388812"/>
            <a:ext cx="2249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Monosubstituted benzenes</a:t>
            </a:r>
            <a:endParaRPr lang="zh-CN" altLang="en-US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5671" y="353202"/>
            <a:ext cx="11449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Disubstituted benzenes are named using the prefixes 1,2-(</a:t>
            </a:r>
            <a:r>
              <a:rPr lang="en-US" altLang="zh-CN" sz="2000" b="1" i="1" dirty="0">
                <a:solidFill>
                  <a:srgbClr val="FF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rtho-), 1,3-(</a:t>
            </a:r>
            <a:r>
              <a:rPr lang="en-US" altLang="zh-CN" sz="2000" b="1" i="1" dirty="0">
                <a:solidFill>
                  <a:srgbClr val="FF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eta-) , and 1,4-(</a:t>
            </a:r>
            <a:r>
              <a:rPr lang="en-US" altLang="zh-CN" sz="2000" b="1" i="1" dirty="0">
                <a:solidFill>
                  <a:srgbClr val="FF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ara-) to specify the substitution patterns.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855683"/>
              </p:ext>
            </p:extLst>
          </p:nvPr>
        </p:nvGraphicFramePr>
        <p:xfrm>
          <a:off x="551384" y="1350997"/>
          <a:ext cx="3321176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5" name="CS ChemDraw Drawing" r:id="rId3" imgW="2117956" imgH="1194456" progId="ChemDraw.Document.6.0">
                  <p:embed/>
                </p:oleObj>
              </mc:Choice>
              <mc:Fallback>
                <p:oleObj name="CS ChemDraw Drawing" r:id="rId3" imgW="2117956" imgH="1194456" progId="ChemDraw.Document.6.0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84" y="1350997"/>
                        <a:ext cx="3321176" cy="187220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5BDF838-61FA-4E97-8E20-10F94F35F2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327332"/>
              </p:ext>
            </p:extLst>
          </p:nvPr>
        </p:nvGraphicFramePr>
        <p:xfrm>
          <a:off x="4140417" y="1370968"/>
          <a:ext cx="7943613" cy="180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6" name="CS ChemDraw Drawing" r:id="rId5" imgW="4765139" imgH="1083009" progId="ChemDraw.Document.6.0">
                  <p:embed/>
                </p:oleObj>
              </mc:Choice>
              <mc:Fallback>
                <p:oleObj name="CS ChemDraw Drawing" r:id="rId5" imgW="4765139" imgH="108300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0417" y="1370968"/>
                        <a:ext cx="7943613" cy="180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C9B45DC-0746-410A-BC48-73F7AB4BDD5D}"/>
              </a:ext>
            </a:extLst>
          </p:cNvPr>
          <p:cNvSpPr txBox="1"/>
          <p:nvPr/>
        </p:nvSpPr>
        <p:spPr>
          <a:xfrm>
            <a:off x="357067" y="3682388"/>
            <a:ext cx="9767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Trisubstituted benzenes: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keep the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numbers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of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substituents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as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low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as</a:t>
            </a:r>
            <a:r>
              <a:rPr lang="zh-CN" alt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possible.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C1E53A6-349F-4A04-86CB-B62EA9CB5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670030"/>
              </p:ext>
            </p:extLst>
          </p:nvPr>
        </p:nvGraphicFramePr>
        <p:xfrm>
          <a:off x="2639616" y="4261527"/>
          <a:ext cx="5544616" cy="192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7" name="CS ChemDraw Drawing" r:id="rId7" imgW="3349446" imgH="1164274" progId="ChemDraw.Document.6.0">
                  <p:embed/>
                </p:oleObj>
              </mc:Choice>
              <mc:Fallback>
                <p:oleObj name="CS ChemDraw Drawing" r:id="rId7" imgW="3349446" imgH="116427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9616" y="4261527"/>
                        <a:ext cx="5544616" cy="1926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-2974" y="3828298"/>
            <a:ext cx="3589444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6-3-3 Benzene-related groups</a:t>
            </a:r>
            <a:endParaRPr lang="en-US" altLang="zh-CN" sz="2000" baseline="-25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6473" y="4358416"/>
            <a:ext cx="113190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Aryl group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n-US" altLang="zh-CN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): The aromatic group that remains after the removal of a H atom from an aromatic ring.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536160" y="6308252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(generic name)</a:t>
            </a:r>
            <a:endParaRPr lang="zh-CN" altLang="en-US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C58BEF0-6525-4480-BBA6-036E3152F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060047"/>
              </p:ext>
            </p:extLst>
          </p:nvPr>
        </p:nvGraphicFramePr>
        <p:xfrm>
          <a:off x="839416" y="1392996"/>
          <a:ext cx="9842491" cy="1983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0" name="CS ChemDraw Drawing" r:id="rId3" imgW="5907004" imgH="1191231" progId="ChemDraw.Document.6.0">
                  <p:embed/>
                </p:oleObj>
              </mc:Choice>
              <mc:Fallback>
                <p:oleObj name="CS ChemDraw Drawing" r:id="rId3" imgW="5907004" imgH="119123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9416" y="1392996"/>
                        <a:ext cx="9842491" cy="1983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95F31F3D-9191-4FC0-8718-92E455F73A58}"/>
              </a:ext>
            </a:extLst>
          </p:cNvPr>
          <p:cNvSpPr/>
          <p:nvPr/>
        </p:nvSpPr>
        <p:spPr>
          <a:xfrm>
            <a:off x="158769" y="163405"/>
            <a:ext cx="114492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2&gt;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When </a:t>
            </a:r>
            <a:r>
              <a:rPr lang="en-US" altLang="zh-CN" sz="2000" b="1" dirty="0">
                <a:highlight>
                  <a:srgbClr val="00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carboxyl,  </a:t>
            </a:r>
            <a:r>
              <a:rPr lang="en-US" altLang="zh-CN" sz="2000" b="1" dirty="0" err="1">
                <a:highlight>
                  <a:srgbClr val="00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sulfo</a:t>
            </a:r>
            <a:r>
              <a:rPr lang="en-US" altLang="zh-CN" sz="2000" b="1" dirty="0">
                <a:highlight>
                  <a:srgbClr val="00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formyl, hydroxyl, amino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n-US" altLang="zh-CN" sz="2000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decreasing priority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 groups are attached to the benzene ring, use </a:t>
            </a:r>
            <a:r>
              <a:rPr lang="en-US" altLang="zh-CN" sz="2000" b="1" dirty="0">
                <a:highlight>
                  <a:srgbClr val="00FFFF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historical name represented jointly by benzene and the first priority group as the base name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F7803F1-E992-4FCA-AF97-72424C251D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759189"/>
              </p:ext>
            </p:extLst>
          </p:nvPr>
        </p:nvGraphicFramePr>
        <p:xfrm>
          <a:off x="1919536" y="5066302"/>
          <a:ext cx="7087372" cy="162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1" name="CS ChemDraw Drawing" r:id="rId5" imgW="4056503" imgH="932371" progId="ChemDraw.Document.6.0">
                  <p:embed/>
                </p:oleObj>
              </mc:Choice>
              <mc:Fallback>
                <p:oleObj name="CS ChemDraw Drawing" r:id="rId5" imgW="4056503" imgH="93237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9536" y="5066302"/>
                        <a:ext cx="7087372" cy="162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674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59023"/>
            <a:ext cx="548759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/>
              <a:t>6-3-4 Polynuclear Aromatic Hydrocarbons</a:t>
            </a:r>
            <a:endParaRPr lang="en-US" altLang="zh-C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91344" y="729173"/>
            <a:ext cx="11593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polynuclear aromatic hydrocarbons (PAH) are composed of two or more fused benzene rings.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0A12620-0B3F-4DAC-BEDE-5785BB5B0D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733473"/>
              </p:ext>
            </p:extLst>
          </p:nvPr>
        </p:nvGraphicFramePr>
        <p:xfrm>
          <a:off x="2351584" y="1259714"/>
          <a:ext cx="6611713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3" name="CS ChemDraw Drawing" r:id="rId3" imgW="3625246" imgH="947831" progId="ChemDraw.Document.6.0">
                  <p:embed/>
                </p:oleObj>
              </mc:Choice>
              <mc:Fallback>
                <p:oleObj name="CS ChemDraw Drawing" r:id="rId3" imgW="3625246" imgH="94783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1584" y="1259714"/>
                        <a:ext cx="6611713" cy="1728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86" y="217688"/>
            <a:ext cx="621978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6-4-1 Electrophilic Aromatic Substitution</a:t>
            </a:r>
            <a:endParaRPr lang="zh-CN" alt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36608" y="844603"/>
            <a:ext cx="109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Like an alkene, </a:t>
            </a:r>
            <a:r>
              <a:rPr lang="en-US" altLang="zh-CN" sz="2000" b="1" dirty="0">
                <a:solidFill>
                  <a:srgbClr val="FF0000"/>
                </a:solidFill>
              </a:rPr>
              <a:t>benzene</a:t>
            </a:r>
            <a:r>
              <a:rPr lang="en-US" altLang="zh-CN" sz="2000" b="1" dirty="0"/>
              <a:t> has </a:t>
            </a:r>
            <a:r>
              <a:rPr lang="en-US" altLang="zh-CN" sz="2000" b="1" i="1" dirty="0">
                <a:solidFill>
                  <a:srgbClr val="0000FF"/>
                </a:solidFill>
              </a:rPr>
              <a:t>clouds of </a:t>
            </a:r>
            <a:r>
              <a:rPr lang="en-US" altLang="zh-CN" sz="2000" b="1" i="1" dirty="0">
                <a:solidFill>
                  <a:srgbClr val="0000FF"/>
                </a:solidFill>
                <a:sym typeface="Symbol"/>
              </a:rPr>
              <a:t> electrons </a:t>
            </a:r>
            <a:r>
              <a:rPr lang="en-US" altLang="zh-CN" sz="2000" b="1" dirty="0">
                <a:sym typeface="Symbol"/>
              </a:rPr>
              <a:t>above and below its  bond framework.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330842" y="1262661"/>
          <a:ext cx="1584176" cy="130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0" name="CS ChemDraw Drawing" r:id="rId3" imgW="1270493" imgH="1044953" progId="ChemDraw.Document.6.0">
                  <p:embed/>
                </p:oleObj>
              </mc:Choice>
              <mc:Fallback>
                <p:oleObj name="CS ChemDraw Drawing" r:id="rId3" imgW="1270493" imgH="1044953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30842" y="1262661"/>
                        <a:ext cx="1584176" cy="130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>
          <a:xfrm>
            <a:off x="4655840" y="1484784"/>
            <a:ext cx="864096" cy="432048"/>
          </a:xfrm>
          <a:prstGeom prst="ellipse">
            <a:avLst/>
          </a:prstGeom>
          <a:noFill/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655840" y="2017806"/>
            <a:ext cx="864096" cy="432048"/>
          </a:xfrm>
          <a:prstGeom prst="ellipse">
            <a:avLst/>
          </a:prstGeom>
          <a:noFill/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5360" y="2553506"/>
            <a:ext cx="1166529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  <a:sym typeface="Symbol"/>
              </a:rPr>
              <a:t>Although</a:t>
            </a:r>
            <a:r>
              <a:rPr lang="en-US" altLang="zh-CN" sz="2000" b="1" dirty="0">
                <a:sym typeface="Symbol"/>
              </a:rPr>
              <a:t> benzene’s  electrons are in </a:t>
            </a:r>
            <a:r>
              <a:rPr lang="en-US" altLang="zh-CN" sz="2000" b="1" dirty="0">
                <a:highlight>
                  <a:srgbClr val="FFFF00"/>
                </a:highlight>
                <a:sym typeface="Symbol"/>
              </a:rPr>
              <a:t>a stable aromatic system</a:t>
            </a:r>
            <a:r>
              <a:rPr lang="en-US" altLang="zh-CN" sz="2000" b="1" dirty="0">
                <a:sym typeface="Symbol"/>
              </a:rPr>
              <a:t>, they are </a:t>
            </a:r>
            <a:r>
              <a:rPr lang="en-US" altLang="zh-CN" sz="2000" b="1" dirty="0">
                <a:highlight>
                  <a:srgbClr val="00FFFF"/>
                </a:highlight>
                <a:sym typeface="Symbol"/>
              </a:rPr>
              <a:t>available for a strong electrophile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 </a:t>
            </a:r>
            <a:r>
              <a:rPr lang="en-US" altLang="zh-CN" sz="2000" b="1" dirty="0">
                <a:sym typeface="Symbol"/>
              </a:rPr>
              <a:t>and induce the occurrence of electrophilic aromatic substitution.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sym typeface="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sym typeface="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sym typeface="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sym typeface="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sym typeface="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FF"/>
                </a:solidFill>
                <a:highlight>
                  <a:srgbClr val="00FF00"/>
                </a:highlight>
                <a:sym typeface="Symbol"/>
              </a:rPr>
              <a:t>E</a:t>
            </a:r>
            <a:r>
              <a:rPr lang="en-US" altLang="zh-CN" sz="2000" b="1" dirty="0">
                <a:highlight>
                  <a:srgbClr val="00FF00"/>
                </a:highlight>
                <a:sym typeface="Symbol"/>
              </a:rPr>
              <a:t>lectrophilic </a:t>
            </a:r>
            <a:r>
              <a:rPr lang="en-US" altLang="zh-CN" sz="2000" b="1" dirty="0">
                <a:solidFill>
                  <a:srgbClr val="FF00FF"/>
                </a:solidFill>
                <a:highlight>
                  <a:srgbClr val="00FF00"/>
                </a:highlight>
                <a:sym typeface="Symbol"/>
              </a:rPr>
              <a:t>A</a:t>
            </a:r>
            <a:r>
              <a:rPr lang="en-US" altLang="zh-CN" sz="2000" b="1" dirty="0">
                <a:highlight>
                  <a:srgbClr val="00FF00"/>
                </a:highlight>
                <a:sym typeface="Symbol"/>
              </a:rPr>
              <a:t>romatic </a:t>
            </a:r>
            <a:r>
              <a:rPr lang="en-US" altLang="zh-CN" sz="2000" b="1" dirty="0">
                <a:solidFill>
                  <a:srgbClr val="FF00FF"/>
                </a:solidFill>
                <a:highlight>
                  <a:srgbClr val="00FF00"/>
                </a:highlight>
                <a:sym typeface="Symbol"/>
              </a:rPr>
              <a:t>S</a:t>
            </a:r>
            <a:r>
              <a:rPr lang="en-US" altLang="zh-CN" sz="2000" b="1" dirty="0">
                <a:highlight>
                  <a:srgbClr val="00FF00"/>
                </a:highlight>
                <a:sym typeface="Symbol"/>
              </a:rPr>
              <a:t>ubstitution</a:t>
            </a:r>
            <a:r>
              <a:rPr lang="en-US" altLang="zh-CN" sz="2000" b="1" dirty="0">
                <a:sym typeface="Symbol"/>
              </a:rPr>
              <a:t> is </a:t>
            </a:r>
            <a:r>
              <a:rPr lang="en-US" altLang="zh-CN" sz="2000" b="1" dirty="0">
                <a:highlight>
                  <a:srgbClr val="FFFF00"/>
                </a:highlight>
                <a:sym typeface="Symbol"/>
              </a:rPr>
              <a:t>the </a:t>
            </a:r>
            <a:r>
              <a:rPr lang="en-US" altLang="zh-CN" sz="2000" b="1" dirty="0">
                <a:solidFill>
                  <a:srgbClr val="FF00FF"/>
                </a:solidFill>
                <a:highlight>
                  <a:srgbClr val="FFFF00"/>
                </a:highlight>
                <a:sym typeface="Symbol"/>
              </a:rPr>
              <a:t>s</a:t>
            </a:r>
            <a:r>
              <a:rPr lang="en-US" altLang="zh-CN" sz="2000" b="1" dirty="0">
                <a:highlight>
                  <a:srgbClr val="FFFF00"/>
                </a:highlight>
                <a:sym typeface="Symbol"/>
              </a:rPr>
              <a:t>ubstitution of an </a:t>
            </a:r>
            <a:r>
              <a:rPr lang="en-US" altLang="zh-CN" sz="2000" b="1" dirty="0">
                <a:solidFill>
                  <a:srgbClr val="FF00FF"/>
                </a:solidFill>
                <a:highlight>
                  <a:srgbClr val="FFFF00"/>
                </a:highlight>
                <a:sym typeface="Symbol"/>
              </a:rPr>
              <a:t>e</a:t>
            </a:r>
            <a:r>
              <a:rPr lang="en-US" altLang="zh-CN" sz="2000" b="1" dirty="0">
                <a:highlight>
                  <a:srgbClr val="FFFF00"/>
                </a:highlight>
                <a:sym typeface="Symbol"/>
              </a:rPr>
              <a:t>lectrophile</a:t>
            </a:r>
            <a:r>
              <a:rPr lang="en-US" altLang="zh-CN" sz="2000" b="1" dirty="0">
                <a:sym typeface="Symbol"/>
              </a:rPr>
              <a:t> </a:t>
            </a:r>
            <a:r>
              <a:rPr lang="en-US" altLang="zh-CN" sz="2000" b="1" dirty="0">
                <a:highlight>
                  <a:srgbClr val="00FFFF"/>
                </a:highlight>
                <a:sym typeface="Symbol"/>
              </a:rPr>
              <a:t>for a proton on the </a:t>
            </a:r>
            <a:r>
              <a:rPr lang="en-US" altLang="zh-CN" sz="2000" b="1" dirty="0">
                <a:solidFill>
                  <a:srgbClr val="FF00FF"/>
                </a:solidFill>
                <a:highlight>
                  <a:srgbClr val="00FFFF"/>
                </a:highlight>
                <a:sym typeface="Symbol"/>
              </a:rPr>
              <a:t>a</a:t>
            </a:r>
            <a:r>
              <a:rPr lang="en-US" altLang="zh-CN" sz="2000" b="1" dirty="0">
                <a:highlight>
                  <a:srgbClr val="00FFFF"/>
                </a:highlight>
                <a:sym typeface="Symbol"/>
              </a:rPr>
              <a:t>romatic ring</a:t>
            </a:r>
            <a:r>
              <a:rPr lang="en-US" altLang="zh-CN" sz="2000" b="1" dirty="0">
                <a:sym typeface="Symbol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highlight>
                <a:srgbClr val="FFFF00"/>
              </a:highlight>
              <a:sym typeface="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  <a:sym typeface="Symbol"/>
              </a:rPr>
              <a:t>A wide variety of electrophilic reagents can be used for 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highlight>
                <a:srgbClr val="FFFF00"/>
              </a:highlight>
              <a:sym typeface="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Because it </a:t>
            </a:r>
            <a:r>
              <a:rPr lang="en-US" altLang="zh-CN" sz="2000" b="1" dirty="0">
                <a:highlight>
                  <a:srgbClr val="00FF00"/>
                </a:highlight>
              </a:rPr>
              <a:t>enables us to introduce functional groups directly onto the aromatic ring</a:t>
            </a:r>
            <a:r>
              <a:rPr lang="en-US" altLang="zh-CN" sz="2000" b="1" dirty="0"/>
              <a:t> through various electrophiles, EAS is </a:t>
            </a:r>
            <a:r>
              <a:rPr lang="en-US" altLang="zh-CN" sz="2000" b="1" dirty="0">
                <a:highlight>
                  <a:srgbClr val="FFFF00"/>
                </a:highlight>
              </a:rPr>
              <a:t>the most important method for synthesis of substituted aromatic compounds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444904" y="3364489"/>
          <a:ext cx="5158175" cy="116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1" name="CS ChemDraw Drawing" r:id="rId5" imgW="3088640" imgH="700864" progId="ChemDraw.Document.6.0">
                  <p:embed/>
                </p:oleObj>
              </mc:Choice>
              <mc:Fallback>
                <p:oleObj name="CS ChemDraw Drawing" r:id="rId5" imgW="3088640" imgH="700864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44904" y="3364489"/>
                        <a:ext cx="5158175" cy="1168938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5A903215-8933-423E-82A6-2E24F00F3F28}"/>
              </a:ext>
            </a:extLst>
          </p:cNvPr>
          <p:cNvSpPr/>
          <p:nvPr/>
        </p:nvSpPr>
        <p:spPr>
          <a:xfrm>
            <a:off x="1631504" y="5661248"/>
            <a:ext cx="8280920" cy="50405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153605"/>
            <a:ext cx="252028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i="1" dirty="0"/>
              <a:t>EAS: General Mechanism:</a:t>
            </a:r>
            <a:endParaRPr lang="zh-CN" altLang="en-US" sz="24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335360" y="3006736"/>
            <a:ext cx="11521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u="sng" dirty="0">
                <a:highlight>
                  <a:srgbClr val="00FFFF"/>
                </a:highlight>
              </a:rPr>
              <a:t>Step 1</a:t>
            </a:r>
            <a:r>
              <a:rPr lang="en-US" altLang="zh-CN" sz="2000" b="1" dirty="0"/>
              <a:t>: </a:t>
            </a:r>
            <a:r>
              <a:rPr lang="en-US" altLang="zh-CN" sz="2000" b="1" dirty="0">
                <a:highlight>
                  <a:srgbClr val="FFFF00"/>
                </a:highlight>
              </a:rPr>
              <a:t>Electrophilic Addition</a:t>
            </a:r>
            <a:r>
              <a:rPr lang="en-US" altLang="zh-CN" sz="2000" b="1" dirty="0"/>
              <a:t>: Electrophilic attack by the electrophile forms a resonance-stabilized cation</a:t>
            </a:r>
            <a:r>
              <a:rPr lang="en-US" altLang="zh-CN" sz="2000" b="1" dirty="0">
                <a:sym typeface="Symbol"/>
              </a:rPr>
              <a:t> 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slow, rate-limiting step, key step</a:t>
            </a:r>
            <a:r>
              <a:rPr lang="en-US" altLang="zh-CN" sz="2000" b="1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In step 1, the aromaticity of the benzene ring is lost.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u="sng" dirty="0">
                <a:highlight>
                  <a:srgbClr val="00FFFF"/>
                </a:highlight>
              </a:rPr>
              <a:t>Step 2</a:t>
            </a:r>
            <a:r>
              <a:rPr lang="en-US" altLang="zh-CN" sz="2000" b="1" dirty="0"/>
              <a:t>: </a:t>
            </a:r>
            <a:r>
              <a:rPr lang="en-US" altLang="zh-CN" sz="2000" b="1" dirty="0">
                <a:highlight>
                  <a:srgbClr val="FFFF00"/>
                </a:highlight>
              </a:rPr>
              <a:t>Deprotonation</a:t>
            </a:r>
            <a:r>
              <a:rPr lang="en-US" altLang="zh-CN" sz="2000" b="1" dirty="0"/>
              <a:t>: Loss of a proton from the resonance-stabilized carbocation gives the substitution product (fast step).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In step 2, the aromaticity of the benzene ring is regained.</a:t>
            </a:r>
            <a:endParaRPr lang="zh-CN" altLang="en-US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722418" y="5733256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E</a:t>
            </a:r>
            <a:r>
              <a:rPr lang="en-US" altLang="zh-CN" sz="2000" b="1" dirty="0"/>
              <a:t>lectrophilic </a:t>
            </a:r>
            <a:r>
              <a:rPr lang="en-US" altLang="zh-CN" sz="2000" b="1" dirty="0">
                <a:solidFill>
                  <a:srgbClr val="FF0000"/>
                </a:solidFill>
              </a:rPr>
              <a:t>A</a:t>
            </a:r>
            <a:r>
              <a:rPr lang="en-US" altLang="zh-CN" sz="2000" b="1" dirty="0"/>
              <a:t>romatic </a:t>
            </a:r>
            <a:r>
              <a:rPr lang="en-US" altLang="zh-CN" sz="2000" b="1" dirty="0">
                <a:solidFill>
                  <a:srgbClr val="FF0000"/>
                </a:solidFill>
              </a:rPr>
              <a:t>S</a:t>
            </a:r>
            <a:r>
              <a:rPr lang="en-US" altLang="zh-CN" sz="2000" b="1" dirty="0"/>
              <a:t>ubstitution = Electrophilic Addition + Deprotonation</a:t>
            </a:r>
            <a:endParaRPr lang="zh-CN" altLang="en-US" sz="2000" b="1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22224B3-1AA3-4AF7-BE4F-841C70BC6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303793"/>
              </p:ext>
            </p:extLst>
          </p:nvPr>
        </p:nvGraphicFramePr>
        <p:xfrm>
          <a:off x="594532" y="1128618"/>
          <a:ext cx="10680708" cy="1799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2" name="CS ChemDraw Drawing" r:id="rId3" imgW="6088109" imgH="1025529" progId="ChemDraw.Document.6.0">
                  <p:embed/>
                </p:oleObj>
              </mc:Choice>
              <mc:Fallback>
                <p:oleObj name="CS ChemDraw Drawing" r:id="rId3" imgW="6088109" imgH="102552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532" y="1128618"/>
                        <a:ext cx="10680708" cy="1799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994C29-AAC6-4822-ACDD-78259575F622}"/>
              </a:ext>
            </a:extLst>
          </p:cNvPr>
          <p:cNvSpPr/>
          <p:nvPr/>
        </p:nvSpPr>
        <p:spPr>
          <a:xfrm>
            <a:off x="6528048" y="2745850"/>
            <a:ext cx="3859324" cy="101566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-279" y="169477"/>
            <a:ext cx="3761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highlight>
                  <a:srgbClr val="FFFF00"/>
                </a:highlight>
              </a:rPr>
              <a:t>1&gt;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highlight>
                  <a:srgbClr val="00FFFF"/>
                </a:highlight>
              </a:rPr>
              <a:t>Halogenation</a:t>
            </a:r>
            <a:r>
              <a:rPr lang="en-US" altLang="zh-CN" sz="2400" b="1" dirty="0"/>
              <a:t> of Benzene</a:t>
            </a:r>
            <a:endParaRPr lang="zh-CN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51384" y="2128738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</a:rPr>
              <a:t>A strong Lewis acid such as FeBr</a:t>
            </a:r>
            <a:r>
              <a:rPr lang="en-US" altLang="zh-CN" sz="2000" b="1" baseline="-25000" dirty="0">
                <a:highlight>
                  <a:srgbClr val="FFFF00"/>
                </a:highlight>
              </a:rPr>
              <a:t>3</a:t>
            </a:r>
            <a:r>
              <a:rPr lang="en-US" altLang="zh-CN" sz="2000" b="1" dirty="0">
                <a:highlight>
                  <a:srgbClr val="FFFF00"/>
                </a:highlight>
              </a:rPr>
              <a:t> must be added</a:t>
            </a:r>
            <a:r>
              <a:rPr lang="en-US" altLang="zh-CN" sz="2000" b="1" dirty="0"/>
              <a:t> to catalyze the reaction.</a:t>
            </a:r>
            <a:endParaRPr lang="zh-CN" alt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672064" y="2745850"/>
            <a:ext cx="3715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 of the Lewis acid catalyst is to </a:t>
            </a:r>
            <a:r>
              <a:rPr lang="en-US" altLang="zh-C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the electrophilicity of one Br atom of Br</a:t>
            </a:r>
            <a:r>
              <a:rPr lang="en-US" altLang="zh-CN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CN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734587"/>
              </p:ext>
            </p:extLst>
          </p:nvPr>
        </p:nvGraphicFramePr>
        <p:xfrm>
          <a:off x="2976960" y="847551"/>
          <a:ext cx="5639320" cy="111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4" name="CS ChemDraw Drawing" r:id="rId3" imgW="3304050" imgH="655344" progId="ChemDraw.Document.6.0">
                  <p:embed/>
                </p:oleObj>
              </mc:Choice>
              <mc:Fallback>
                <p:oleObj name="CS ChemDraw Drawing" r:id="rId3" imgW="3304050" imgH="655344" progId="ChemDraw.Document.6.0">
                  <p:embed/>
                  <p:pic>
                    <p:nvPicPr>
                      <p:cNvPr id="30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960" y="847551"/>
                        <a:ext cx="5639320" cy="111919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51384" y="1159293"/>
            <a:ext cx="19184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Bromination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674698"/>
              </p:ext>
            </p:extLst>
          </p:nvPr>
        </p:nvGraphicFramePr>
        <p:xfrm>
          <a:off x="1068261" y="2646655"/>
          <a:ext cx="4564347" cy="762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5" name="CS ChemDraw Drawing" r:id="rId5" imgW="2288861" imgH="382542" progId="ChemDraw.Document.6.0">
                  <p:embed/>
                </p:oleObj>
              </mc:Choice>
              <mc:Fallback>
                <p:oleObj name="CS ChemDraw Drawing" r:id="rId5" imgW="2288861" imgH="382542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8261" y="2646655"/>
                        <a:ext cx="4564347" cy="762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631504" y="4020589"/>
            <a:ext cx="284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</a:rPr>
              <a:t>enhanced electrophilicity</a:t>
            </a:r>
            <a:endParaRPr lang="zh-CN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139212"/>
              </p:ext>
            </p:extLst>
          </p:nvPr>
        </p:nvGraphicFramePr>
        <p:xfrm>
          <a:off x="1055440" y="4561581"/>
          <a:ext cx="10441160" cy="202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6" name="CS ChemDraw Drawing" r:id="rId7" imgW="5492318" imgH="1065170" progId="ChemDraw.Document.6.0">
                  <p:embed/>
                </p:oleObj>
              </mc:Choice>
              <mc:Fallback>
                <p:oleObj name="CS ChemDraw Drawing" r:id="rId7" imgW="5492318" imgH="1065170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55440" y="4561581"/>
                        <a:ext cx="10441160" cy="2024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/>
          <p:cNvCxnSpPr>
            <a:cxnSpLocks/>
          </p:cNvCxnSpPr>
          <p:nvPr/>
        </p:nvCxnSpPr>
        <p:spPr>
          <a:xfrm flipH="1">
            <a:off x="2226328" y="4423910"/>
            <a:ext cx="486932" cy="61037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85B9D8F9-A852-481A-8F0D-F6E10D22ADCA}"/>
              </a:ext>
            </a:extLst>
          </p:cNvPr>
          <p:cNvSpPr/>
          <p:nvPr/>
        </p:nvSpPr>
        <p:spPr>
          <a:xfrm>
            <a:off x="767408" y="1159293"/>
            <a:ext cx="1800200" cy="40011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9376" y="5157192"/>
            <a:ext cx="114840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</a:rPr>
              <a:t>Iodination</a:t>
            </a:r>
            <a:r>
              <a:rPr lang="en-US" altLang="zh-CN" sz="2000" b="1" dirty="0"/>
              <a:t> of benzene requires an acidic oxidizing agent, such as nitric acid. </a:t>
            </a:r>
            <a:r>
              <a:rPr lang="en-US" altLang="zh-CN" sz="2000" b="1" dirty="0">
                <a:solidFill>
                  <a:srgbClr val="0000FF"/>
                </a:solidFill>
              </a:rPr>
              <a:t>The electrophile is I</a:t>
            </a:r>
            <a:r>
              <a:rPr lang="en-US" altLang="zh-CN" sz="2000" b="1" baseline="30000" dirty="0">
                <a:solidFill>
                  <a:srgbClr val="0000FF"/>
                </a:solidFill>
              </a:rPr>
              <a:t>+</a:t>
            </a:r>
            <a:r>
              <a:rPr lang="en-US" altLang="zh-CN" sz="2000" b="1" dirty="0"/>
              <a:t>, produced by oxidation of I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 with HNO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graphicFrame>
        <p:nvGraphicFramePr>
          <p:cNvPr id="71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662462"/>
              </p:ext>
            </p:extLst>
          </p:nvPr>
        </p:nvGraphicFramePr>
        <p:xfrm>
          <a:off x="3287688" y="521400"/>
          <a:ext cx="5272483" cy="1494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4" name="CS ChemDraw Drawing" r:id="rId3" imgW="2861913" imgH="811960" progId="ChemDraw.Document.6.0">
                  <p:embed/>
                </p:oleObj>
              </mc:Choice>
              <mc:Fallback>
                <p:oleObj name="CS ChemDraw Drawing" r:id="rId3" imgW="2861913" imgH="811960" progId="ChemDraw.Document.6.0">
                  <p:embed/>
                  <p:pic>
                    <p:nvPicPr>
                      <p:cNvPr id="716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521400"/>
                        <a:ext cx="5272483" cy="149471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FF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704243"/>
              </p:ext>
            </p:extLst>
          </p:nvPr>
        </p:nvGraphicFramePr>
        <p:xfrm>
          <a:off x="3791744" y="3647270"/>
          <a:ext cx="3889966" cy="1509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5" name="CS ChemDraw Drawing" r:id="rId5" imgW="2171675" imgH="842781" progId="ChemDraw.Document.6.0">
                  <p:embed/>
                </p:oleObj>
              </mc:Choice>
              <mc:Fallback>
                <p:oleObj name="CS ChemDraw Drawing" r:id="rId5" imgW="2171675" imgH="842781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1744" y="3647270"/>
                        <a:ext cx="3889966" cy="1509922"/>
                      </a:xfrm>
                      <a:prstGeom prst="rect">
                        <a:avLst/>
                      </a:prstGeom>
                      <a:ln>
                        <a:solidFill>
                          <a:srgbClr val="00FF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81CF5D0-CAB5-4CC3-B251-7A5F4738AB01}"/>
              </a:ext>
            </a:extLst>
          </p:cNvPr>
          <p:cNvSpPr txBox="1"/>
          <p:nvPr/>
        </p:nvSpPr>
        <p:spPr>
          <a:xfrm>
            <a:off x="839416" y="620688"/>
            <a:ext cx="1872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Chlorination</a:t>
            </a:r>
            <a:endParaRPr lang="zh-CN" altLang="en-US" sz="2000" i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66C8F6-DDED-44A4-99CF-F4901E0234DF}"/>
              </a:ext>
            </a:extLst>
          </p:cNvPr>
          <p:cNvSpPr txBox="1"/>
          <p:nvPr/>
        </p:nvSpPr>
        <p:spPr>
          <a:xfrm>
            <a:off x="839416" y="2151856"/>
            <a:ext cx="10908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Chlorination of benzene works much like bromination, except that </a:t>
            </a:r>
            <a:r>
              <a:rPr lang="en-US" altLang="zh-CN" sz="2000" b="1" dirty="0">
                <a:solidFill>
                  <a:srgbClr val="0000FF"/>
                </a:solidFill>
              </a:rPr>
              <a:t>AlCl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000" b="1" dirty="0">
                <a:solidFill>
                  <a:srgbClr val="0000FF"/>
                </a:solidFill>
              </a:rPr>
              <a:t> is most often used as the Lewis acid catalyst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096F6E8-5A4E-4224-BF53-288106F5CF48}"/>
              </a:ext>
            </a:extLst>
          </p:cNvPr>
          <p:cNvSpPr/>
          <p:nvPr/>
        </p:nvSpPr>
        <p:spPr>
          <a:xfrm>
            <a:off x="875420" y="627390"/>
            <a:ext cx="1800200" cy="40011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E7B558-0216-4069-9EC8-BF58468189D5}"/>
              </a:ext>
            </a:extLst>
          </p:cNvPr>
          <p:cNvSpPr txBox="1"/>
          <p:nvPr/>
        </p:nvSpPr>
        <p:spPr>
          <a:xfrm>
            <a:off x="959745" y="3841694"/>
            <a:ext cx="1656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Iodination</a:t>
            </a:r>
            <a:endParaRPr lang="zh-CN" altLang="en-US" sz="20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841BDA4-95CF-4EA3-B565-E64B36D18F37}"/>
              </a:ext>
            </a:extLst>
          </p:cNvPr>
          <p:cNvSpPr/>
          <p:nvPr/>
        </p:nvSpPr>
        <p:spPr>
          <a:xfrm>
            <a:off x="911424" y="3848396"/>
            <a:ext cx="1800200" cy="40011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8643"/>
            <a:ext cx="3199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highlight>
                  <a:srgbClr val="FFFF00"/>
                </a:highlight>
              </a:rPr>
              <a:t>2&gt;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highlight>
                  <a:srgbClr val="00FFFF"/>
                </a:highlight>
              </a:rPr>
              <a:t>Nitration</a:t>
            </a:r>
            <a:r>
              <a:rPr lang="en-US" altLang="zh-CN" sz="2400" b="1" dirty="0"/>
              <a:t> of Benzene</a:t>
            </a:r>
            <a:endParaRPr lang="zh-CN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68472" y="732180"/>
            <a:ext cx="8136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</a:rPr>
              <a:t>A mixture of nitric acid and sulfuric acid is used</a:t>
            </a:r>
            <a:r>
              <a:rPr lang="en-US" altLang="zh-CN" sz="2000" b="1" dirty="0"/>
              <a:t> for nitration of benzene.</a:t>
            </a:r>
            <a:endParaRPr lang="zh-CN" altLang="en-US" sz="2000" b="1" dirty="0"/>
          </a:p>
        </p:txBody>
      </p:sp>
      <p:graphicFrame>
        <p:nvGraphicFramePr>
          <p:cNvPr id="41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782564"/>
              </p:ext>
            </p:extLst>
          </p:nvPr>
        </p:nvGraphicFramePr>
        <p:xfrm>
          <a:off x="3417790" y="1298016"/>
          <a:ext cx="4565136" cy="1365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6" name="CS ChemDraw Drawing" r:id="rId3" imgW="2675654" imgH="799813" progId="ChemDraw.Document.6.0">
                  <p:embed/>
                </p:oleObj>
              </mc:Choice>
              <mc:Fallback>
                <p:oleObj name="CS ChemDraw Drawing" r:id="rId3" imgW="2675654" imgH="799813" progId="ChemDraw.Document.6.0">
                  <p:embed/>
                  <p:pic>
                    <p:nvPicPr>
                      <p:cNvPr id="41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790" y="1298016"/>
                        <a:ext cx="4565136" cy="1365476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8472" y="4681306"/>
            <a:ext cx="11416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Aromatic nitro groups are easily reduced to amino groups. </a:t>
            </a:r>
            <a:r>
              <a:rPr lang="en-US" altLang="zh-CN" sz="2000" b="1" dirty="0">
                <a:highlight>
                  <a:srgbClr val="00FF00"/>
                </a:highlight>
              </a:rPr>
              <a:t>Nitration followed by reduction</a:t>
            </a:r>
            <a:r>
              <a:rPr lang="en-US" altLang="zh-CN" sz="2000" b="1" i="1" dirty="0">
                <a:highlight>
                  <a:srgbClr val="00FF00"/>
                </a:highlight>
              </a:rPr>
              <a:t> </a:t>
            </a:r>
            <a:r>
              <a:rPr lang="en-US" altLang="zh-CN" sz="2000" b="1" dirty="0">
                <a:highlight>
                  <a:srgbClr val="00FF00"/>
                </a:highlight>
              </a:rPr>
              <a:t>is often </a:t>
            </a:r>
            <a:r>
              <a:rPr lang="en-US" altLang="zh-CN" sz="2000" b="1" i="1" dirty="0">
                <a:highlight>
                  <a:srgbClr val="00FF00"/>
                </a:highlight>
              </a:rPr>
              <a:t>the best method for adding an amino group to an aromatic ring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graphicFrame>
        <p:nvGraphicFramePr>
          <p:cNvPr id="41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946752"/>
              </p:ext>
            </p:extLst>
          </p:nvPr>
        </p:nvGraphicFramePr>
        <p:xfrm>
          <a:off x="2578432" y="5535831"/>
          <a:ext cx="6085717" cy="1179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7" name="CS ChemDraw Drawing" r:id="rId5" imgW="3483317" imgH="674834" progId="ChemDraw.Document.6.0">
                  <p:embed/>
                </p:oleObj>
              </mc:Choice>
              <mc:Fallback>
                <p:oleObj name="CS ChemDraw Drawing" r:id="rId5" imgW="3483317" imgH="674834" progId="ChemDraw.Document.6.0">
                  <p:embed/>
                  <p:pic>
                    <p:nvPicPr>
                      <p:cNvPr id="41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432" y="5535831"/>
                        <a:ext cx="6085717" cy="1179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8472" y="2816838"/>
            <a:ext cx="9413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</a:t>
            </a:r>
            <a:r>
              <a:rPr lang="en-US" altLang="zh-CN" sz="2000" b="1" dirty="0">
                <a:highlight>
                  <a:srgbClr val="FFFF00"/>
                </a:highlight>
              </a:rPr>
              <a:t>electrophile</a:t>
            </a:r>
            <a:r>
              <a:rPr lang="en-US" altLang="zh-CN" sz="2000" b="1" dirty="0"/>
              <a:t> is </a:t>
            </a:r>
            <a:r>
              <a:rPr lang="en-US" altLang="zh-CN" sz="2000" b="1" dirty="0" err="1">
                <a:highlight>
                  <a:srgbClr val="00FFFF"/>
                </a:highlight>
              </a:rPr>
              <a:t>nitronium</a:t>
            </a:r>
            <a:r>
              <a:rPr lang="en-US" altLang="zh-CN" sz="2000" b="1" dirty="0"/>
              <a:t> ion, formed by reaction of nitric acid with sulfuric acid.</a:t>
            </a:r>
            <a:endParaRPr lang="zh-CN" altLang="en-US" sz="20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69460"/>
              </p:ext>
            </p:extLst>
          </p:nvPr>
        </p:nvGraphicFramePr>
        <p:xfrm>
          <a:off x="429458" y="3429000"/>
          <a:ext cx="5976664" cy="1072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8" name="CS ChemDraw Drawing" r:id="rId7" imgW="3787017" imgH="679457" progId="ChemDraw.Document.6.0">
                  <p:embed/>
                </p:oleObj>
              </mc:Choice>
              <mc:Fallback>
                <p:oleObj name="CS ChemDraw Drawing" r:id="rId7" imgW="3787017" imgH="679457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9458" y="3429000"/>
                        <a:ext cx="5976664" cy="1072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椭圆 6"/>
          <p:cNvSpPr/>
          <p:nvPr/>
        </p:nvSpPr>
        <p:spPr>
          <a:xfrm>
            <a:off x="2279576" y="3429000"/>
            <a:ext cx="650964" cy="799567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936936"/>
              </p:ext>
            </p:extLst>
          </p:nvPr>
        </p:nvGraphicFramePr>
        <p:xfrm>
          <a:off x="7072084" y="3463907"/>
          <a:ext cx="4712548" cy="896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9" name="CS ChemDraw Drawing" r:id="rId9" imgW="3062993" imgH="581939" progId="ChemDraw.Document.6.0">
                  <p:embed/>
                </p:oleObj>
              </mc:Choice>
              <mc:Fallback>
                <p:oleObj name="CS ChemDraw Drawing" r:id="rId9" imgW="3062993" imgH="581939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72084" y="3463907"/>
                        <a:ext cx="4712548" cy="896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8C137A4-55B0-4617-B9C3-ADA64B73CA45}"/>
              </a:ext>
            </a:extLst>
          </p:cNvPr>
          <p:cNvSpPr txBox="1"/>
          <p:nvPr/>
        </p:nvSpPr>
        <p:spPr>
          <a:xfrm>
            <a:off x="960270" y="1734966"/>
            <a:ext cx="1872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nitration</a:t>
            </a:r>
            <a:endParaRPr lang="zh-CN" altLang="en-US" sz="2000" i="1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DEEBA77-1FBD-484C-AF82-C194BEABC1E5}"/>
              </a:ext>
            </a:extLst>
          </p:cNvPr>
          <p:cNvSpPr/>
          <p:nvPr/>
        </p:nvSpPr>
        <p:spPr>
          <a:xfrm>
            <a:off x="911424" y="1740178"/>
            <a:ext cx="1800200" cy="40011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88640"/>
            <a:ext cx="3521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highlight>
                  <a:srgbClr val="FFFF00"/>
                </a:highlight>
              </a:rPr>
              <a:t>3&gt;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highlight>
                  <a:srgbClr val="00FFFF"/>
                </a:highlight>
              </a:rPr>
              <a:t>Sulfonation</a:t>
            </a:r>
            <a:r>
              <a:rPr lang="en-US" altLang="zh-CN" sz="2400" b="1" dirty="0"/>
              <a:t> of Benzene</a:t>
            </a:r>
            <a:endParaRPr lang="zh-CN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8138" y="2561318"/>
            <a:ext cx="11305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</a:t>
            </a:r>
            <a:r>
              <a:rPr lang="en-US" altLang="zh-CN" sz="2000" b="1" dirty="0">
                <a:highlight>
                  <a:srgbClr val="FFFF00"/>
                </a:highlight>
              </a:rPr>
              <a:t>electrophile</a:t>
            </a:r>
            <a:r>
              <a:rPr lang="en-US" altLang="zh-CN" sz="2000" b="1" dirty="0"/>
              <a:t> is </a:t>
            </a:r>
            <a:r>
              <a:rPr lang="en-US" altLang="zh-CN" sz="2000" b="1" dirty="0">
                <a:highlight>
                  <a:srgbClr val="00FFFF"/>
                </a:highlight>
              </a:rPr>
              <a:t>SO</a:t>
            </a:r>
            <a:r>
              <a:rPr lang="en-US" altLang="zh-CN" sz="2000" b="1" baseline="-25000" dirty="0">
                <a:highlight>
                  <a:srgbClr val="00FFFF"/>
                </a:highlight>
              </a:rPr>
              <a:t>3</a:t>
            </a:r>
            <a:r>
              <a:rPr lang="en-US" altLang="zh-CN" sz="2000" b="1" dirty="0"/>
              <a:t>.</a:t>
            </a:r>
          </a:p>
        </p:txBody>
      </p:sp>
      <p:graphicFrame>
        <p:nvGraphicFramePr>
          <p:cNvPr id="51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027932"/>
              </p:ext>
            </p:extLst>
          </p:nvPr>
        </p:nvGraphicFramePr>
        <p:xfrm>
          <a:off x="3359695" y="804751"/>
          <a:ext cx="4910169" cy="124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0" name="CS ChemDraw Drawing" r:id="rId3" imgW="2857054" imgH="726661" progId="ChemDraw.Document.6.0">
                  <p:embed/>
                </p:oleObj>
              </mc:Choice>
              <mc:Fallback>
                <p:oleObj name="CS ChemDraw Drawing" r:id="rId3" imgW="2857054" imgH="726661" progId="ChemDraw.Document.6.0">
                  <p:embed/>
                  <p:pic>
                    <p:nvPicPr>
                      <p:cNvPr id="51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5" y="804751"/>
                        <a:ext cx="4910169" cy="124936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306389"/>
              </p:ext>
            </p:extLst>
          </p:nvPr>
        </p:nvGraphicFramePr>
        <p:xfrm>
          <a:off x="3546341" y="5072593"/>
          <a:ext cx="6408054" cy="1488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1" name="CS ChemDraw Drawing" r:id="rId5" imgW="3650036" imgH="847152" progId="ChemDraw.Document.6.0">
                  <p:embed/>
                </p:oleObj>
              </mc:Choice>
              <mc:Fallback>
                <p:oleObj name="CS ChemDraw Drawing" r:id="rId5" imgW="3650036" imgH="847152" progId="ChemDraw.Document.6.0">
                  <p:embed/>
                  <p:pic>
                    <p:nvPicPr>
                      <p:cNvPr id="5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341" y="5072593"/>
                        <a:ext cx="6408054" cy="1488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773341" y="2201278"/>
          <a:ext cx="864096" cy="798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2" name="CS ChemDraw Drawing" r:id="rId7" imgW="462823" imgH="429319" progId="ChemDraw.Document.6.0">
                  <p:embed/>
                </p:oleObj>
              </mc:Choice>
              <mc:Fallback>
                <p:oleObj name="CS ChemDraw Drawing" r:id="rId7" imgW="462823" imgH="429319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3341" y="2201278"/>
                        <a:ext cx="864096" cy="798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281218"/>
              </p:ext>
            </p:extLst>
          </p:nvPr>
        </p:nvGraphicFramePr>
        <p:xfrm>
          <a:off x="893896" y="3147432"/>
          <a:ext cx="10404208" cy="108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3" name="CS ChemDraw Drawing" r:id="rId9" imgW="6214763" imgH="650519" progId="ChemDraw.Document.6.0">
                  <p:embed/>
                </p:oleObj>
              </mc:Choice>
              <mc:Fallback>
                <p:oleObj name="CS ChemDraw Drawing" r:id="rId9" imgW="6214763" imgH="650519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3896" y="3147432"/>
                        <a:ext cx="10404208" cy="1089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58138" y="4487365"/>
            <a:ext cx="11542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00FF00"/>
                </a:highlight>
              </a:rPr>
              <a:t>Sulfonation is reversible</a:t>
            </a:r>
            <a:r>
              <a:rPr lang="en-US" altLang="zh-CN" sz="2000" b="1" dirty="0"/>
              <a:t>. A sulfonic acid group may be removed from an aromatic ring </a:t>
            </a:r>
            <a:r>
              <a:rPr lang="en-US" altLang="zh-CN" sz="2000" b="1" dirty="0">
                <a:highlight>
                  <a:srgbClr val="FFFF00"/>
                </a:highlight>
              </a:rPr>
              <a:t>by heating in dilute H</a:t>
            </a:r>
            <a:r>
              <a:rPr lang="en-US" altLang="zh-CN" sz="2000" b="1" baseline="-25000" dirty="0">
                <a:highlight>
                  <a:srgbClr val="FFFF00"/>
                </a:highlight>
              </a:rPr>
              <a:t>2</a:t>
            </a:r>
            <a:r>
              <a:rPr lang="en-US" altLang="zh-CN" sz="2000" b="1" dirty="0">
                <a:highlight>
                  <a:srgbClr val="FFFF00"/>
                </a:highlight>
              </a:rPr>
              <a:t>SO</a:t>
            </a:r>
            <a:r>
              <a:rPr lang="en-US" altLang="zh-CN" sz="2000" b="1" baseline="-25000" dirty="0">
                <a:highlight>
                  <a:srgbClr val="FFFF00"/>
                </a:highlight>
              </a:rPr>
              <a:t>4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Desulfonation</a:t>
            </a:r>
            <a:r>
              <a:rPr lang="en-US" altLang="zh-CN" sz="2000" b="1" dirty="0"/>
              <a:t>).</a:t>
            </a:r>
            <a:endParaRPr lang="zh-CN" altLang="en-US" sz="20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05893A-8985-457E-A031-EF707C48659F}"/>
              </a:ext>
            </a:extLst>
          </p:cNvPr>
          <p:cNvSpPr txBox="1"/>
          <p:nvPr/>
        </p:nvSpPr>
        <p:spPr>
          <a:xfrm>
            <a:off x="852840" y="1340768"/>
            <a:ext cx="1815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Sulfonation</a:t>
            </a:r>
            <a:endParaRPr lang="zh-CN" altLang="en-US" sz="2000" i="1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EAC1C75-21F5-4117-96BA-A1AF3CA30197}"/>
              </a:ext>
            </a:extLst>
          </p:cNvPr>
          <p:cNvSpPr/>
          <p:nvPr/>
        </p:nvSpPr>
        <p:spPr>
          <a:xfrm>
            <a:off x="852840" y="1360190"/>
            <a:ext cx="1800200" cy="40011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标注 16"/>
          <p:cNvSpPr/>
          <p:nvPr/>
        </p:nvSpPr>
        <p:spPr>
          <a:xfrm>
            <a:off x="1476112" y="1810258"/>
            <a:ext cx="7428199" cy="584775"/>
          </a:xfrm>
          <a:prstGeom prst="wedgeRoundRectCallout">
            <a:avLst>
              <a:gd name="adj1" fmla="val 55395"/>
              <a:gd name="adj2" fmla="val -2279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" y="211538"/>
            <a:ext cx="4871864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6-5 The Effect of substitution on EAS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260786" y="769005"/>
            <a:ext cx="117398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Substituents on the benzene ring have </a:t>
            </a:r>
            <a:r>
              <a:rPr lang="en-US" altLang="zh-CN" sz="2000" b="1" dirty="0">
                <a:highlight>
                  <a:srgbClr val="FFFF00"/>
                </a:highlight>
              </a:rPr>
              <a:t>a remarkable effect</a:t>
            </a:r>
            <a:r>
              <a:rPr lang="en-US" altLang="zh-CN" sz="2000" b="1" dirty="0"/>
              <a:t> on its </a:t>
            </a:r>
            <a:r>
              <a:rPr lang="en-US" altLang="zh-CN" sz="2000" b="1" dirty="0">
                <a:highlight>
                  <a:srgbClr val="00FFFF"/>
                </a:highlight>
              </a:rPr>
              <a:t>reactivity</a:t>
            </a:r>
            <a:r>
              <a:rPr lang="en-US" altLang="zh-CN" sz="2000" b="1" dirty="0"/>
              <a:t>. They also influence the </a:t>
            </a:r>
            <a:r>
              <a:rPr lang="en-US" altLang="zh-CN" sz="2000" b="1" dirty="0">
                <a:highlight>
                  <a:srgbClr val="00FFFF"/>
                </a:highlight>
              </a:rPr>
              <a:t>positions</a:t>
            </a:r>
            <a:r>
              <a:rPr lang="en-US" altLang="zh-CN" sz="2000" b="1" dirty="0"/>
              <a:t> of the new functional group introduced by the electrophile.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</a:rPr>
              <a:t>Regarding EAS</a:t>
            </a:r>
            <a:r>
              <a:rPr lang="en-US" altLang="zh-CN" sz="2000" b="1" dirty="0"/>
              <a:t>, </a:t>
            </a:r>
            <a:r>
              <a:rPr lang="en-US" altLang="zh-CN" sz="2000" b="1" dirty="0">
                <a:highlight>
                  <a:srgbClr val="00FFFF"/>
                </a:highlight>
              </a:rPr>
              <a:t>substituents</a:t>
            </a:r>
            <a:r>
              <a:rPr lang="en-US" altLang="zh-CN" sz="2000" b="1" dirty="0"/>
              <a:t> on the benzene ring  can </a:t>
            </a:r>
            <a:r>
              <a:rPr lang="en-US" altLang="zh-CN" sz="2000" b="1" dirty="0">
                <a:highlight>
                  <a:srgbClr val="00FFFF"/>
                </a:highlight>
              </a:rPr>
              <a:t>be divided into 3 classes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553079"/>
              </p:ext>
            </p:extLst>
          </p:nvPr>
        </p:nvGraphicFramePr>
        <p:xfrm>
          <a:off x="623392" y="3297014"/>
          <a:ext cx="10593837" cy="33985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531279">
                  <a:extLst>
                    <a:ext uri="{9D8B030D-6E8A-4147-A177-3AD203B41FA5}">
                      <a16:colId xmlns:a16="http://schemas.microsoft.com/office/drawing/2014/main" val="3306040659"/>
                    </a:ext>
                  </a:extLst>
                </a:gridCol>
                <a:gridCol w="3531279">
                  <a:extLst>
                    <a:ext uri="{9D8B030D-6E8A-4147-A177-3AD203B41FA5}">
                      <a16:colId xmlns:a16="http://schemas.microsoft.com/office/drawing/2014/main" val="2528376197"/>
                    </a:ext>
                  </a:extLst>
                </a:gridCol>
                <a:gridCol w="3531279">
                  <a:extLst>
                    <a:ext uri="{9D8B030D-6E8A-4147-A177-3AD203B41FA5}">
                      <a16:colId xmlns:a16="http://schemas.microsoft.com/office/drawing/2014/main" val="3685039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The first class</a:t>
                      </a:r>
                      <a:endParaRPr lang="zh-CN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The second class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The third class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66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Activating</a:t>
                      </a:r>
                      <a:endParaRPr lang="zh-CN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Moderately Deactivating</a:t>
                      </a:r>
                      <a:endParaRPr lang="en-US" altLang="zh-CN" b="1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Deactivating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91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Ortho/Para-directing</a:t>
                      </a:r>
                      <a:endParaRPr lang="zh-CN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baseline="0" dirty="0"/>
                        <a:t>Ortho/Para-directing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Meta-directing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4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zh-CN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41795962"/>
                  </a:ext>
                </a:extLst>
              </a:tr>
            </a:tbl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53875" y="4516201"/>
          <a:ext cx="508186" cy="2050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14" name="CS ChemDraw Drawing" r:id="rId3" imgW="368522" imgH="1485768" progId="ChemDraw.Document.6.0">
                  <p:embed/>
                </p:oleObj>
              </mc:Choice>
              <mc:Fallback>
                <p:oleObj name="CS ChemDraw Drawing" r:id="rId3" imgW="368522" imgH="1485768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3875" y="4516201"/>
                        <a:ext cx="508186" cy="2050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199456" y="4472772"/>
          <a:ext cx="1872208" cy="209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15" name="CS ChemDraw Drawing" r:id="rId5" imgW="1421611" imgH="1590818" progId="ChemDraw.Document.6.0">
                  <p:embed/>
                </p:oleObj>
              </mc:Choice>
              <mc:Fallback>
                <p:oleObj name="CS ChemDraw Drawing" r:id="rId5" imgW="1421611" imgH="1590818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9456" y="4472772"/>
                        <a:ext cx="1872208" cy="2093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184232" y="4448186"/>
          <a:ext cx="2808312" cy="223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16" name="CS ChemDraw Drawing" r:id="rId7" imgW="2159444" imgH="1720446" progId="ChemDraw.Document.6.0">
                  <p:embed/>
                </p:oleObj>
              </mc:Choice>
              <mc:Fallback>
                <p:oleObj name="CS ChemDraw Drawing" r:id="rId7" imgW="2159444" imgH="1720446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84232" y="4448186"/>
                        <a:ext cx="2808312" cy="2238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377520"/>
              </p:ext>
            </p:extLst>
          </p:nvPr>
        </p:nvGraphicFramePr>
        <p:xfrm>
          <a:off x="9264352" y="1196752"/>
          <a:ext cx="2422007" cy="199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17" name="CS ChemDraw Drawing" r:id="rId9" imgW="1567994" imgH="1293506" progId="ChemDraw.Document.6.0">
                  <p:embed/>
                </p:oleObj>
              </mc:Choice>
              <mc:Fallback>
                <p:oleObj name="CS ChemDraw Drawing" r:id="rId9" imgW="1567994" imgH="1293506" progId="ChemDraw.Document.6.0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64352" y="1196752"/>
                        <a:ext cx="2422007" cy="1997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487488" y="1810258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Consolas" panose="020B0609020204030204" pitchFamily="49" charset="0"/>
              </a:rPr>
              <a:t>Ortho</a:t>
            </a:r>
            <a:r>
              <a:rPr lang="en-US" altLang="zh-CN" sz="1600" b="1" dirty="0">
                <a:latin typeface="Consolas" panose="020B0609020204030204" pitchFamily="49" charset="0"/>
              </a:rPr>
              <a:t> : </a:t>
            </a:r>
            <a:r>
              <a:rPr lang="en-US" altLang="zh-CN" sz="1600" b="1" i="1" dirty="0">
                <a:latin typeface="Consolas" panose="020B0609020204030204" pitchFamily="49" charset="0"/>
              </a:rPr>
              <a:t>meta</a:t>
            </a:r>
            <a:r>
              <a:rPr lang="en-US" altLang="zh-CN" sz="1600" b="1" dirty="0">
                <a:latin typeface="Consolas" panose="020B0609020204030204" pitchFamily="49" charset="0"/>
              </a:rPr>
              <a:t> : </a:t>
            </a:r>
            <a:r>
              <a:rPr lang="en-US" altLang="zh-CN" sz="1600" b="1" i="1" dirty="0">
                <a:latin typeface="Consolas" panose="020B0609020204030204" pitchFamily="49" charset="0"/>
              </a:rPr>
              <a:t>para</a:t>
            </a:r>
            <a:r>
              <a:rPr lang="en-US" altLang="zh-CN" sz="1600" b="1" dirty="0">
                <a:latin typeface="Consolas" panose="020B0609020204030204" pitchFamily="49" charset="0"/>
              </a:rPr>
              <a:t> = 2:2:1 if the electrophile attacks randomly, but this ratio of products isn’t seen in the experimental results 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63" y="217545"/>
            <a:ext cx="508228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/>
              <a:t>6-5-1 Activating, Ortho, Para-Directors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26456" y="1257521"/>
            <a:ext cx="11255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Methoxybenzene (</a:t>
            </a:r>
            <a:r>
              <a:rPr lang="en-US" altLang="zh-CN" sz="2000" b="1" dirty="0">
                <a:solidFill>
                  <a:srgbClr val="FF0000"/>
                </a:solidFill>
              </a:rPr>
              <a:t>anisole</a:t>
            </a:r>
            <a:r>
              <a:rPr lang="en-US" altLang="zh-CN" sz="2000" b="1" dirty="0"/>
              <a:t>) undergoes nitration about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10000 times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faster than benzene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r>
              <a:rPr lang="en-US" altLang="zh-CN" sz="2000" b="1" dirty="0"/>
              <a:t>and the methoxyl group of anisole </a:t>
            </a:r>
            <a:r>
              <a:rPr lang="en-US" altLang="zh-CN" sz="2000" b="1" dirty="0">
                <a:solidFill>
                  <a:srgbClr val="0000FF"/>
                </a:solidFill>
              </a:rPr>
              <a:t>preferentially activates the </a:t>
            </a:r>
            <a:r>
              <a:rPr lang="en-US" altLang="zh-CN" sz="2000" b="1" i="1" dirty="0">
                <a:solidFill>
                  <a:srgbClr val="0000FF"/>
                </a:solidFill>
              </a:rPr>
              <a:t>ortho</a:t>
            </a:r>
            <a:r>
              <a:rPr lang="en-US" altLang="zh-CN" sz="2000" b="1" dirty="0">
                <a:solidFill>
                  <a:srgbClr val="0000FF"/>
                </a:solidFill>
              </a:rPr>
              <a:t> and </a:t>
            </a:r>
            <a:r>
              <a:rPr lang="en-US" altLang="zh-CN" sz="2000" b="1" i="1" dirty="0">
                <a:solidFill>
                  <a:srgbClr val="0000FF"/>
                </a:solidFill>
              </a:rPr>
              <a:t>para</a:t>
            </a:r>
            <a:r>
              <a:rPr lang="en-US" altLang="zh-CN" sz="2000" b="1" dirty="0">
                <a:solidFill>
                  <a:srgbClr val="0000FF"/>
                </a:solidFill>
              </a:rPr>
              <a:t> positions</a:t>
            </a:r>
            <a:r>
              <a:rPr lang="en-US" altLang="zh-CN" sz="2000" b="1" dirty="0"/>
              <a:t>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0" y="784145"/>
            <a:ext cx="5700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highlight>
                  <a:srgbClr val="FFFF00"/>
                </a:highlight>
              </a:rPr>
              <a:t>1&gt;</a:t>
            </a:r>
            <a:r>
              <a:rPr lang="en-US" altLang="zh-CN" sz="2400" b="1" dirty="0"/>
              <a:t> Substituents </a:t>
            </a:r>
            <a:r>
              <a:rPr lang="en-US" altLang="zh-CN" sz="2400" b="1" dirty="0">
                <a:highlight>
                  <a:srgbClr val="00FFFF"/>
                </a:highlight>
              </a:rPr>
              <a:t>with Nonbonding Electrons</a:t>
            </a:r>
            <a:endParaRPr lang="zh-CN" altLang="en-US" sz="2400" b="1" dirty="0">
              <a:highlight>
                <a:srgbClr val="00FFFF"/>
              </a:highlight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910405"/>
              </p:ext>
            </p:extLst>
          </p:nvPr>
        </p:nvGraphicFramePr>
        <p:xfrm>
          <a:off x="2999656" y="2212882"/>
          <a:ext cx="8439825" cy="1384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2" name="CS ChemDraw Drawing" r:id="rId3" imgW="5498237" imgH="902243" progId="ChemDraw.Document.6.0">
                  <p:embed/>
                </p:oleObj>
              </mc:Choice>
              <mc:Fallback>
                <p:oleObj name="CS ChemDraw Drawing" r:id="rId3" imgW="5498237" imgH="902243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9656" y="2212882"/>
                        <a:ext cx="8439825" cy="1384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/>
          <p:cNvSpPr/>
          <p:nvPr/>
        </p:nvSpPr>
        <p:spPr>
          <a:xfrm>
            <a:off x="5607874" y="2107525"/>
            <a:ext cx="3656478" cy="14896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"/>
          <p:cNvSpPr txBox="1"/>
          <p:nvPr/>
        </p:nvSpPr>
        <p:spPr>
          <a:xfrm>
            <a:off x="326456" y="3859143"/>
            <a:ext cx="11567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  <a:endParaRPr lang="en-US" altLang="zh-CN" sz="2000" b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CN" sz="20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rate-limiting step </a:t>
            </a:r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EAS is the formation of </a:t>
            </a:r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/>
              </a:rPr>
              <a:t>the resonance-stabilized cation by electrophilic addition.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/>
              </a:rPr>
              <a:t>This step is where the electrophile bonds to the benzene ring, </a:t>
            </a:r>
            <a:r>
              <a:rPr lang="en-US" altLang="zh-CN" sz="20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/>
              </a:rPr>
              <a:t>determining the substitution pattern</a:t>
            </a:r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/>
              </a:rPr>
              <a:t>.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30D50E1-BE27-408A-B1C5-743FE869DDF6}"/>
              </a:ext>
            </a:extLst>
          </p:cNvPr>
          <p:cNvSpPr txBox="1"/>
          <p:nvPr/>
        </p:nvSpPr>
        <p:spPr>
          <a:xfrm>
            <a:off x="853688" y="2425993"/>
            <a:ext cx="16504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Alkoxyl Groups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EE87146-295E-47D0-B15F-7E3EC31B2258}"/>
              </a:ext>
            </a:extLst>
          </p:cNvPr>
          <p:cNvSpPr/>
          <p:nvPr/>
        </p:nvSpPr>
        <p:spPr>
          <a:xfrm>
            <a:off x="853688" y="2326094"/>
            <a:ext cx="1569904" cy="8790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9EEDACD-E467-4DE7-B712-6F5C7EF4C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502467"/>
              </p:ext>
            </p:extLst>
          </p:nvPr>
        </p:nvGraphicFramePr>
        <p:xfrm>
          <a:off x="1129892" y="5027615"/>
          <a:ext cx="9649072" cy="162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3" name="CS ChemDraw Drawing" r:id="rId5" imgW="6088109" imgH="1025529" progId="ChemDraw.Document.6.0">
                  <p:embed/>
                </p:oleObj>
              </mc:Choice>
              <mc:Fallback>
                <p:oleObj name="CS ChemDraw Drawing" r:id="rId5" imgW="6088109" imgH="1025529" progId="ChemDraw.Document.6.0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22224B3-1AA3-4AF7-BE4F-841C70BC6E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9892" y="5027615"/>
                        <a:ext cx="9649072" cy="162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7718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4" name="TextBox 15"/>
          <p:cNvSpPr txBox="1"/>
          <p:nvPr/>
        </p:nvSpPr>
        <p:spPr>
          <a:xfrm>
            <a:off x="7392144" y="2492896"/>
            <a:ext cx="45104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nsolas" panose="020B0609020204030204" pitchFamily="49" charset="0"/>
              </a:rPr>
              <a:t>In the cation resulting from 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</a:rPr>
              <a:t>ortho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</a:rPr>
              <a:t>para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attack</a:t>
            </a:r>
            <a:r>
              <a:rPr lang="en-US" altLang="zh-CN" sz="2000" b="1" dirty="0"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highlight>
                  <a:srgbClr val="FFFF00"/>
                </a:highlight>
                <a:latin typeface="Consolas" panose="020B0609020204030204" pitchFamily="49" charset="0"/>
              </a:rPr>
              <a:t>the nonbonding electrons of the oxygen atom adjacent to the carbocation </a:t>
            </a:r>
            <a:r>
              <a:rPr lang="en-US" altLang="zh-CN" sz="2000" b="1" dirty="0">
                <a:highlight>
                  <a:srgbClr val="00FFFF"/>
                </a:highlight>
                <a:latin typeface="Consolas" panose="020B0609020204030204" pitchFamily="49" charset="0"/>
              </a:rPr>
              <a:t>stabilize the positive charge through resonance</a:t>
            </a:r>
            <a:r>
              <a:rPr lang="en-US" altLang="zh-CN" sz="2000" b="1" dirty="0">
                <a:latin typeface="Consolas" panose="020B0609020204030204" pitchFamily="49" charset="0"/>
              </a:rPr>
              <a:t>.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D304D5-4BC4-4FAC-A89C-3C5E858F6DD2}"/>
              </a:ext>
            </a:extLst>
          </p:cNvPr>
          <p:cNvSpPr txBox="1"/>
          <p:nvPr/>
        </p:nvSpPr>
        <p:spPr>
          <a:xfrm>
            <a:off x="121321" y="258977"/>
            <a:ext cx="2504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i="1" dirty="0">
                <a:solidFill>
                  <a:srgbClr val="FF0000"/>
                </a:solidFill>
              </a:rPr>
              <a:t>Method of analysis</a:t>
            </a:r>
            <a:endParaRPr lang="zh-CN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FADAEC5-D5D3-4105-940D-3D7EBD5D59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858392"/>
              </p:ext>
            </p:extLst>
          </p:nvPr>
        </p:nvGraphicFramePr>
        <p:xfrm>
          <a:off x="983432" y="824652"/>
          <a:ext cx="6016051" cy="230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5" name="CS ChemDraw Drawing" r:id="rId3" imgW="4460536" imgH="1711329" progId="ChemDraw.Document.6.0">
                  <p:embed/>
                </p:oleObj>
              </mc:Choice>
              <mc:Fallback>
                <p:oleObj name="CS ChemDraw Drawing" r:id="rId3" imgW="4460536" imgH="171132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3432" y="824652"/>
                        <a:ext cx="6016051" cy="2307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4265FD0-126B-450B-9189-57CB125A20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013626"/>
              </p:ext>
            </p:extLst>
          </p:nvPr>
        </p:nvGraphicFramePr>
        <p:xfrm>
          <a:off x="911424" y="3458975"/>
          <a:ext cx="6270083" cy="3262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6" name="CS ChemDraw Drawing" r:id="rId5" imgW="4451461" imgH="2316260" progId="ChemDraw.Document.6.0">
                  <p:embed/>
                </p:oleObj>
              </mc:Choice>
              <mc:Fallback>
                <p:oleObj name="CS ChemDraw Drawing" r:id="rId5" imgW="4451461" imgH="23162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1424" y="3458975"/>
                        <a:ext cx="6270083" cy="3262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3384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18" name="TextBox 15"/>
          <p:cNvSpPr txBox="1"/>
          <p:nvPr/>
        </p:nvSpPr>
        <p:spPr>
          <a:xfrm>
            <a:off x="6972219" y="310257"/>
            <a:ext cx="49391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nsolas" panose="020B0609020204030204" pitchFamily="49" charset="0"/>
              </a:rPr>
              <a:t>In the cation resulting from 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</a:rPr>
              <a:t>meta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attack</a:t>
            </a:r>
            <a:r>
              <a:rPr lang="en-US" altLang="zh-CN" sz="2000" b="1" dirty="0"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highlight>
                  <a:srgbClr val="FFFF00"/>
                </a:highlight>
                <a:latin typeface="Consolas" panose="020B0609020204030204" pitchFamily="49" charset="0"/>
              </a:rPr>
              <a:t>the nonbonding electrons of the oxygen atom adjacent to the carbocation </a:t>
            </a:r>
            <a:r>
              <a:rPr lang="en-US" altLang="zh-CN" sz="2000" b="1" dirty="0">
                <a:highlight>
                  <a:srgbClr val="00FFFF"/>
                </a:highlight>
                <a:latin typeface="Consolas" panose="020B0609020204030204" pitchFamily="49" charset="0"/>
              </a:rPr>
              <a:t>cannot stabilize the positive charge through resonance</a:t>
            </a:r>
            <a:r>
              <a:rPr lang="en-US" altLang="zh-CN" sz="2000" b="1" dirty="0">
                <a:latin typeface="Consolas" panose="020B0609020204030204" pitchFamily="49" charset="0"/>
              </a:rPr>
              <a:t>.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7144" y="2323873"/>
            <a:ext cx="11634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Because the carbocations resulting from ortho and para attack have the positive charge spread wider (over 3C and 1O) through effective resonance, these </a:t>
            </a:r>
            <a:r>
              <a:rPr lang="en-US" altLang="zh-CN" sz="2000" b="1" dirty="0">
                <a:highlight>
                  <a:srgbClr val="FFFF00"/>
                </a:highlight>
              </a:rPr>
              <a:t>carbocations are more stable and formed faster </a:t>
            </a:r>
            <a:r>
              <a:rPr lang="en-US" altLang="zh-CN" sz="2000" b="1" dirty="0"/>
              <a:t>than that from meta attack (the positive charge spread over 3C). Therefore, </a:t>
            </a:r>
            <a:r>
              <a:rPr lang="en-US" altLang="zh-CN" sz="2000" b="1" dirty="0">
                <a:highlight>
                  <a:srgbClr val="00FFFF"/>
                </a:highlight>
              </a:rPr>
              <a:t>the ortho and para positions react faster than meta position</a:t>
            </a:r>
            <a:r>
              <a:rPr lang="en-US" altLang="zh-CN" sz="2000" b="1" dirty="0"/>
              <a:t>.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558872"/>
              </p:ext>
            </p:extLst>
          </p:nvPr>
        </p:nvGraphicFramePr>
        <p:xfrm>
          <a:off x="3359696" y="4521838"/>
          <a:ext cx="5064254" cy="199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8" name="CS ChemDraw Drawing" r:id="rId3" imgW="3306833" imgH="1301434" progId="ChemDraw.Document.6.0">
                  <p:embed/>
                </p:oleObj>
              </mc:Choice>
              <mc:Fallback>
                <p:oleObj name="CS ChemDraw Drawing" r:id="rId3" imgW="3306833" imgH="1301434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9696" y="4521838"/>
                        <a:ext cx="5064254" cy="1993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F7928E6-A586-4AEF-983D-30958BC59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493187"/>
              </p:ext>
            </p:extLst>
          </p:nvPr>
        </p:nvGraphicFramePr>
        <p:xfrm>
          <a:off x="306769" y="424849"/>
          <a:ext cx="6523323" cy="1610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9" name="CS ChemDraw Drawing" r:id="rId5" imgW="4417923" imgH="1090937" progId="ChemDraw.Document.6.0">
                  <p:embed/>
                </p:oleObj>
              </mc:Choice>
              <mc:Fallback>
                <p:oleObj name="CS ChemDraw Drawing" r:id="rId5" imgW="4417923" imgH="10909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769" y="424849"/>
                        <a:ext cx="6523323" cy="1610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105A9897-DA01-45DE-99D0-12FB78631263}"/>
              </a:ext>
            </a:extLst>
          </p:cNvPr>
          <p:cNvSpPr txBox="1"/>
          <p:nvPr/>
        </p:nvSpPr>
        <p:spPr>
          <a:xfrm>
            <a:off x="306769" y="3804972"/>
            <a:ext cx="11405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 methoxyl group is so strongly activating that anisole quickly brominates in water without a catalyst.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3" name="TextBox 11"/>
          <p:cNvSpPr txBox="1"/>
          <p:nvPr/>
        </p:nvSpPr>
        <p:spPr>
          <a:xfrm>
            <a:off x="302170" y="2096013"/>
            <a:ext cx="11770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</a:rPr>
              <a:t>Like an alkoxyl group</a:t>
            </a:r>
            <a:r>
              <a:rPr lang="en-US" altLang="zh-CN" sz="2000" b="1" dirty="0"/>
              <a:t>, a nitrogen atom with a nonbonding pair of electrons serves as a powerful activating group.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337967"/>
              </p:ext>
            </p:extLst>
          </p:nvPr>
        </p:nvGraphicFramePr>
        <p:xfrm>
          <a:off x="4548391" y="195554"/>
          <a:ext cx="4124673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6" name="CS ChemDraw Drawing" r:id="rId3" imgW="2703152" imgH="1226512" progId="ChemDraw.Document.6.0">
                  <p:embed/>
                </p:oleObj>
              </mc:Choice>
              <mc:Fallback>
                <p:oleObj name="CS ChemDraw Drawing" r:id="rId3" imgW="2703152" imgH="1226512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8391" y="195554"/>
                        <a:ext cx="4124673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364260"/>
              </p:ext>
            </p:extLst>
          </p:nvPr>
        </p:nvGraphicFramePr>
        <p:xfrm>
          <a:off x="339830" y="2936151"/>
          <a:ext cx="2664295" cy="26517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1146113898"/>
                    </a:ext>
                  </a:extLst>
                </a:gridCol>
              </a:tblGrid>
              <a:tr h="314357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The first class</a:t>
                      </a:r>
                      <a:endParaRPr lang="zh-CN" altLang="en-US" b="1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391389"/>
                  </a:ext>
                </a:extLst>
              </a:tr>
              <a:tr h="1937819">
                <a:tc>
                  <a:txBody>
                    <a:bodyPr/>
                    <a:lstStyle/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zh-CN" altLang="en-US" b="1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6760805"/>
                  </a:ext>
                </a:extLst>
              </a:tr>
            </a:tbl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266380"/>
              </p:ext>
            </p:extLst>
          </p:nvPr>
        </p:nvGraphicFramePr>
        <p:xfrm>
          <a:off x="627861" y="3340446"/>
          <a:ext cx="1977622" cy="2211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7" name="CS ChemDraw Drawing" r:id="rId5" imgW="1421611" imgH="1590818" progId="ChemDraw.Document.6.0">
                  <p:embed/>
                </p:oleObj>
              </mc:Choice>
              <mc:Fallback>
                <p:oleObj name="CS ChemDraw Drawing" r:id="rId5" imgW="1421611" imgH="1590818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861" y="3340446"/>
                        <a:ext cx="1977622" cy="2211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575720" y="2936151"/>
            <a:ext cx="4630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highlight>
                  <a:srgbClr val="FFFF00"/>
                </a:highlight>
              </a:rPr>
              <a:t>2&gt;</a:t>
            </a:r>
            <a:r>
              <a:rPr lang="en-US" altLang="zh-CN" sz="2400" b="1" dirty="0"/>
              <a:t> Alkyl Groups without Lone Pairs</a:t>
            </a:r>
            <a:endParaRPr lang="zh-CN" altLang="en-US" sz="2400" b="1" dirty="0"/>
          </a:p>
        </p:txBody>
      </p:sp>
      <p:sp>
        <p:nvSpPr>
          <p:cNvPr id="10" name="椭圆 9"/>
          <p:cNvSpPr/>
          <p:nvPr/>
        </p:nvSpPr>
        <p:spPr>
          <a:xfrm>
            <a:off x="753405" y="3286090"/>
            <a:ext cx="326603" cy="15059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62641" y="3848056"/>
            <a:ext cx="326603" cy="15059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598536" y="3843443"/>
            <a:ext cx="326603" cy="15059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46049" y="4459184"/>
            <a:ext cx="326603" cy="15059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613993" y="4445332"/>
            <a:ext cx="326603" cy="15059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5"/>
          <p:cNvSpPr txBox="1"/>
          <p:nvPr/>
        </p:nvSpPr>
        <p:spPr>
          <a:xfrm>
            <a:off x="3393294" y="3489500"/>
            <a:ext cx="849220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</a:rPr>
              <a:t>Alkyl groups </a:t>
            </a:r>
            <a:r>
              <a:rPr lang="en-US" altLang="zh-CN" sz="2000" b="1" dirty="0"/>
              <a:t>as </a:t>
            </a:r>
            <a:r>
              <a:rPr lang="en-US" altLang="zh-CN" sz="2000" b="1" dirty="0">
                <a:highlight>
                  <a:srgbClr val="00FFFF"/>
                </a:highlight>
              </a:rPr>
              <a:t>weak EDG </a:t>
            </a:r>
            <a:r>
              <a:rPr lang="en-US" altLang="zh-CN" sz="2000" b="1" dirty="0"/>
              <a:t>has no lone pairs for resonance and stabilization, they are </a:t>
            </a:r>
            <a:r>
              <a:rPr lang="en-US" altLang="zh-CN" sz="2000" b="1" dirty="0">
                <a:highlight>
                  <a:srgbClr val="00FFFF"/>
                </a:highlight>
              </a:rPr>
              <a:t>relatively weak activating substituents, also </a:t>
            </a:r>
            <a:r>
              <a:rPr lang="en-US" altLang="zh-CN" sz="2000" b="1" i="1" dirty="0">
                <a:highlight>
                  <a:srgbClr val="00FFFF"/>
                </a:highlight>
              </a:rPr>
              <a:t>ortho</a:t>
            </a:r>
            <a:r>
              <a:rPr lang="en-US" altLang="zh-CN" sz="2000" b="1" dirty="0">
                <a:highlight>
                  <a:srgbClr val="00FFFF"/>
                </a:highlight>
              </a:rPr>
              <a:t>, </a:t>
            </a:r>
            <a:r>
              <a:rPr lang="en-US" altLang="zh-CN" sz="2000" b="1" i="1" dirty="0">
                <a:highlight>
                  <a:srgbClr val="00FFFF"/>
                </a:highlight>
              </a:rPr>
              <a:t>para</a:t>
            </a:r>
            <a:r>
              <a:rPr lang="en-US" altLang="zh-CN" sz="2000" b="1" dirty="0">
                <a:highlight>
                  <a:srgbClr val="00FFFF"/>
                </a:highlight>
              </a:rPr>
              <a:t>-directing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153097"/>
              </p:ext>
            </p:extLst>
          </p:nvPr>
        </p:nvGraphicFramePr>
        <p:xfrm>
          <a:off x="3760623" y="4962864"/>
          <a:ext cx="7037577" cy="139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8" name="CS ChemDraw Drawing" r:id="rId7" imgW="4778948" imgH="946245" progId="ChemDraw.Document.6.0">
                  <p:embed/>
                </p:oleObj>
              </mc:Choice>
              <mc:Fallback>
                <p:oleObj name="CS ChemDraw Drawing" r:id="rId7" imgW="4778948" imgH="946245" progId="ChemDraw.Document.6.0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60623" y="4962864"/>
                        <a:ext cx="7037577" cy="1393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223792" y="4177879"/>
            <a:ext cx="65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Toluene undergoes nitration about 25 times faster than benzene.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339830" y="3286090"/>
            <a:ext cx="2664295" cy="1618062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5761898" y="4868538"/>
            <a:ext cx="3142414" cy="1618062"/>
          </a:xfrm>
          <a:prstGeom prst="round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27A1FC-93E4-49D0-90A4-F94F295669DC}"/>
              </a:ext>
            </a:extLst>
          </p:cNvPr>
          <p:cNvSpPr txBox="1"/>
          <p:nvPr/>
        </p:nvSpPr>
        <p:spPr>
          <a:xfrm>
            <a:off x="1350863" y="601632"/>
            <a:ext cx="1451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Amino Groups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F88EA61-F98C-4EF4-B005-A044755D9277}"/>
              </a:ext>
            </a:extLst>
          </p:cNvPr>
          <p:cNvSpPr/>
          <p:nvPr/>
        </p:nvSpPr>
        <p:spPr>
          <a:xfrm>
            <a:off x="1232968" y="516034"/>
            <a:ext cx="1569904" cy="8790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65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88640"/>
            <a:ext cx="625780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6-5-2 Deactivating, Meta-Directing Substituents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137" y="764704"/>
            <a:ext cx="115794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Nitrobenzene is about 100000 times less reactive than benzene toward EAS: </a:t>
            </a:r>
            <a:r>
              <a:rPr lang="en-US" altLang="zh-CN" sz="2000" b="1" dirty="0">
                <a:solidFill>
                  <a:srgbClr val="0000FF"/>
                </a:solidFill>
              </a:rPr>
              <a:t>the nitro group is a strong deactivating group</a:t>
            </a:r>
            <a:r>
              <a:rPr lang="en-US" altLang="zh-CN" sz="2000" b="1" dirty="0"/>
              <a:t>.</a:t>
            </a:r>
          </a:p>
          <a:p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meta isomer is the major product: </a:t>
            </a:r>
            <a:r>
              <a:rPr lang="en-US" altLang="zh-CN" sz="2000" b="1" dirty="0">
                <a:solidFill>
                  <a:srgbClr val="0000FF"/>
                </a:solidFill>
              </a:rPr>
              <a:t>the nitro group is a </a:t>
            </a:r>
            <a:r>
              <a:rPr lang="en-US" altLang="zh-CN" sz="2000" b="1" i="1" dirty="0">
                <a:solidFill>
                  <a:srgbClr val="0000FF"/>
                </a:solidFill>
              </a:rPr>
              <a:t>meta</a:t>
            </a:r>
            <a:r>
              <a:rPr lang="en-US" altLang="zh-CN" sz="2000" b="1" dirty="0">
                <a:solidFill>
                  <a:srgbClr val="0000FF"/>
                </a:solidFill>
              </a:rPr>
              <a:t>-director</a:t>
            </a:r>
            <a:r>
              <a:rPr lang="en-US" altLang="zh-CN" sz="2000" b="1" dirty="0"/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sz="2000" b="1" dirty="0"/>
          </a:p>
          <a:p>
            <a:pPr>
              <a:buFont typeface="Arial" pitchFamily="34" charset="0"/>
              <a:buChar char="•"/>
            </a:pPr>
            <a:endParaRPr lang="en-US" altLang="zh-CN" sz="2000" b="1" dirty="0"/>
          </a:p>
          <a:p>
            <a:pPr>
              <a:buFont typeface="Arial" pitchFamily="34" charset="0"/>
              <a:buChar char="•"/>
            </a:pPr>
            <a:endParaRPr lang="en-US" altLang="zh-CN" sz="2000" b="1" dirty="0"/>
          </a:p>
          <a:p>
            <a:pPr>
              <a:buFont typeface="Arial" pitchFamily="34" charset="0"/>
              <a:buChar char="•"/>
            </a:pPr>
            <a:endParaRPr lang="en-US" altLang="zh-CN" sz="2000" b="1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35560" y="2239374"/>
          <a:ext cx="7737926" cy="1448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6" name="CS ChemDraw Drawing" r:id="rId3" imgW="5158518" imgH="965670" progId="ChemDraw.Document.6.0">
                  <p:embed/>
                </p:oleObj>
              </mc:Choice>
              <mc:Fallback>
                <p:oleObj name="CS ChemDraw Drawing" r:id="rId3" imgW="5158518" imgH="965670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560" y="2239374"/>
                        <a:ext cx="7737926" cy="14480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05137" y="3992001"/>
            <a:ext cx="1165150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</a:rPr>
              <a:t>The nitrogen atom of the nitro group </a:t>
            </a:r>
            <a:r>
              <a:rPr lang="en-US" altLang="zh-CN" sz="2000" b="1" dirty="0"/>
              <a:t>has </a:t>
            </a:r>
            <a:r>
              <a:rPr lang="en-US" altLang="zh-CN" sz="2000" b="1" dirty="0">
                <a:highlight>
                  <a:srgbClr val="00FFFF"/>
                </a:highlight>
              </a:rPr>
              <a:t>a formal positive charge</a:t>
            </a:r>
            <a:r>
              <a:rPr lang="en-US" altLang="zh-CN" sz="2000" b="1" dirty="0"/>
              <a:t>.</a:t>
            </a:r>
          </a:p>
          <a:p>
            <a:pPr>
              <a:buSzPct val="100000"/>
              <a:buFont typeface="Arial" pitchFamily="34" charset="0"/>
              <a:buChar char="•"/>
            </a:pPr>
            <a:endParaRPr lang="en-US" altLang="zh-CN" sz="2000" b="1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positively charged </a:t>
            </a:r>
            <a:r>
              <a:rPr lang="en-US" altLang="zh-CN" sz="2000" b="1"/>
              <a:t>nitrogen </a:t>
            </a:r>
            <a:r>
              <a:rPr lang="en-US" altLang="zh-CN" sz="2000" b="1">
                <a:solidFill>
                  <a:srgbClr val="0000FF"/>
                </a:solidFill>
              </a:rPr>
              <a:t>withdraws </a:t>
            </a:r>
            <a:r>
              <a:rPr lang="en-US" altLang="zh-CN" sz="2000" b="1" dirty="0">
                <a:solidFill>
                  <a:srgbClr val="0000FF"/>
                </a:solidFill>
              </a:rPr>
              <a:t>electron density from the aromatic ring</a:t>
            </a:r>
            <a:r>
              <a:rPr lang="en-US" altLang="zh-CN" sz="2000" b="1" dirty="0">
                <a:sym typeface="Symbol"/>
              </a:rPr>
              <a:t>, making it less electron-rich than benzene, so it is deactivated toward reactions with electrophiles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sp>
        <p:nvSpPr>
          <p:cNvPr id="10" name="圆角矩形 9"/>
          <p:cNvSpPr/>
          <p:nvPr/>
        </p:nvSpPr>
        <p:spPr>
          <a:xfrm>
            <a:off x="4511824" y="2124975"/>
            <a:ext cx="1824526" cy="1562432"/>
          </a:xfrm>
          <a:prstGeom prst="round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087888" y="5314478"/>
          <a:ext cx="1541276" cy="140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name="CS ChemDraw Drawing" r:id="rId5" imgW="837657" imgH="764687" progId="ChemDraw.Document.6.0">
                  <p:embed/>
                </p:oleObj>
              </mc:Choice>
              <mc:Fallback>
                <p:oleObj name="CS ChemDraw Drawing" r:id="rId5" imgW="837657" imgH="764687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87888" y="5314478"/>
                        <a:ext cx="1541276" cy="1406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33213" y="2354428"/>
            <a:ext cx="74888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03396" y="4874708"/>
            <a:ext cx="74888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5"/>
          <p:cNvSpPr txBox="1"/>
          <p:nvPr/>
        </p:nvSpPr>
        <p:spPr>
          <a:xfrm>
            <a:off x="7023005" y="967629"/>
            <a:ext cx="49357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In the cation resulting from </a:t>
            </a:r>
            <a:r>
              <a:rPr lang="en-US" altLang="zh-CN" b="1" i="1" dirty="0">
                <a:solidFill>
                  <a:srgbClr val="0000FF"/>
                </a:solidFill>
                <a:latin typeface="Consolas" panose="020B0609020204030204" pitchFamily="49" charset="0"/>
              </a:rPr>
              <a:t>ortho/para</a:t>
            </a: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 attack</a:t>
            </a:r>
            <a:r>
              <a:rPr lang="en-US" altLang="zh-CN" b="1" dirty="0">
                <a:latin typeface="Consolas" panose="020B0609020204030204" pitchFamily="49" charset="0"/>
              </a:rPr>
              <a:t>, one resonance form has </a:t>
            </a:r>
            <a:r>
              <a:rPr lang="en-US" altLang="zh-CN" b="1" dirty="0">
                <a:highlight>
                  <a:srgbClr val="FFFF00"/>
                </a:highlight>
                <a:latin typeface="Consolas" panose="020B0609020204030204" pitchFamily="49" charset="0"/>
              </a:rPr>
              <a:t>two positive charges in close proximity</a:t>
            </a:r>
            <a:r>
              <a:rPr lang="en-US" altLang="zh-CN" b="1" dirty="0">
                <a:latin typeface="Consolas" panose="020B0609020204030204" pitchFamily="49" charset="0"/>
              </a:rPr>
              <a:t>. Such a resonance form is </a:t>
            </a:r>
            <a:r>
              <a:rPr lang="en-US" altLang="zh-CN" b="1" dirty="0">
                <a:highlight>
                  <a:srgbClr val="00FFFF"/>
                </a:highlight>
                <a:latin typeface="Consolas" panose="020B0609020204030204" pitchFamily="49" charset="0"/>
              </a:rPr>
              <a:t>very unstable and contributes little to the charge spreading</a:t>
            </a:r>
            <a:r>
              <a:rPr lang="en-US" altLang="zh-CN" b="1" dirty="0">
                <a:latin typeface="Consolas" panose="020B0609020204030204" pitchFamily="49" charset="0"/>
              </a:rPr>
              <a:t>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23005" y="4907697"/>
            <a:ext cx="43861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</a:rPr>
              <a:t>For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meta substitution</a:t>
            </a:r>
            <a:r>
              <a:rPr lang="en-US" altLang="zh-CN" sz="2000" b="1" dirty="0">
                <a:latin typeface="Consolas" panose="020B0609020204030204" pitchFamily="49" charset="0"/>
              </a:rPr>
              <a:t>, the positive charges are farther apart. The positive charge on the benzene is spread out over 3 carbons (favored).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2A9C4A9-9C11-4839-8A02-83962446C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192162"/>
              </p:ext>
            </p:extLst>
          </p:nvPr>
        </p:nvGraphicFramePr>
        <p:xfrm>
          <a:off x="431542" y="174317"/>
          <a:ext cx="6384537" cy="2024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6" name="CS ChemDraw Drawing" r:id="rId4" imgW="4414767" imgH="1400142" progId="ChemDraw.Document.6.0">
                  <p:embed/>
                </p:oleObj>
              </mc:Choice>
              <mc:Fallback>
                <p:oleObj name="CS ChemDraw Drawing" r:id="rId4" imgW="4414767" imgH="140014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542" y="174317"/>
                        <a:ext cx="6384537" cy="2024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DAAD1C3-93E1-4D7D-A159-BD28F9846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014281"/>
              </p:ext>
            </p:extLst>
          </p:nvPr>
        </p:nvGraphicFramePr>
        <p:xfrm>
          <a:off x="410825" y="2467795"/>
          <a:ext cx="6100288" cy="2210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7" name="CS ChemDraw Drawing" r:id="rId6" imgW="4236424" imgH="1534527" progId="ChemDraw.Document.6.0">
                  <p:embed/>
                </p:oleObj>
              </mc:Choice>
              <mc:Fallback>
                <p:oleObj name="CS ChemDraw Drawing" r:id="rId6" imgW="4236424" imgH="153452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0825" y="2467795"/>
                        <a:ext cx="6100288" cy="2210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8FC9D86-8E49-41AE-82BC-0C4B3C747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072775"/>
              </p:ext>
            </p:extLst>
          </p:nvPr>
        </p:nvGraphicFramePr>
        <p:xfrm>
          <a:off x="410825" y="5139968"/>
          <a:ext cx="6500267" cy="1572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8" name="CS ChemDraw Drawing" r:id="rId8" imgW="4324806" imgH="1046539" progId="ChemDraw.Document.6.0">
                  <p:embed/>
                </p:oleObj>
              </mc:Choice>
              <mc:Fallback>
                <p:oleObj name="CS ChemDraw Drawing" r:id="rId8" imgW="4324806" imgH="10465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0825" y="5139968"/>
                        <a:ext cx="6500267" cy="1572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7144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63352" y="290465"/>
            <a:ext cx="11161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In general, </a:t>
            </a:r>
            <a:r>
              <a:rPr lang="en-US" altLang="zh-CN" sz="2000" b="1" i="1" dirty="0"/>
              <a:t>deactivating, meta-directing substituents </a:t>
            </a:r>
            <a:r>
              <a:rPr lang="en-US" altLang="zh-CN" sz="2000" b="1" dirty="0"/>
              <a:t>are groups with a positive charge (or a partial positive charge) on the atom bonded to the aromatic ring.</a:t>
            </a:r>
            <a:endParaRPr lang="zh-CN" altLang="en-US" sz="20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15480" y="1340768"/>
          <a:ext cx="4176464" cy="38506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176464">
                  <a:extLst>
                    <a:ext uri="{9D8B030D-6E8A-4147-A177-3AD203B41FA5}">
                      <a16:colId xmlns:a16="http://schemas.microsoft.com/office/drawing/2014/main" val="1193188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The third class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93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Deactivating, Meta-directing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166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68817"/>
                  </a:ext>
                </a:extLst>
              </a:tr>
            </a:tbl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703512" y="2113960"/>
          <a:ext cx="3744416" cy="298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9" name="CS ChemDraw Drawing" r:id="rId3" imgW="2159444" imgH="1720446" progId="ChemDraw.Document.6.0">
                  <p:embed/>
                </p:oleObj>
              </mc:Choice>
              <mc:Fallback>
                <p:oleObj name="CS ChemDraw Drawing" r:id="rId3" imgW="2159444" imgH="1720446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3512" y="2113960"/>
                        <a:ext cx="3744416" cy="2984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/>
          <p:cNvSpPr/>
          <p:nvPr/>
        </p:nvSpPr>
        <p:spPr>
          <a:xfrm>
            <a:off x="1919536" y="2257976"/>
            <a:ext cx="288032" cy="21602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287688" y="2257976"/>
            <a:ext cx="288032" cy="21602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951788" y="3760205"/>
            <a:ext cx="288032" cy="21602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349757" y="3308279"/>
            <a:ext cx="288032" cy="21602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4524198" y="3361289"/>
            <a:ext cx="288032" cy="21602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951788" y="4850264"/>
            <a:ext cx="288032" cy="21602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3317505" y="4850264"/>
            <a:ext cx="288032" cy="21602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7" name="TextBox 2"/>
          <p:cNvSpPr txBox="1"/>
          <p:nvPr/>
        </p:nvSpPr>
        <p:spPr>
          <a:xfrm>
            <a:off x="0" y="204632"/>
            <a:ext cx="87376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6-5-3 Deactivating, but Ortho, Para-Directing: Halogen Substituents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191344" y="4095035"/>
            <a:ext cx="116652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halogens are </a:t>
            </a:r>
            <a:r>
              <a:rPr lang="en-US" altLang="zh-CN" sz="2000" b="1" i="1" dirty="0"/>
              <a:t>strongly electronegative</a:t>
            </a:r>
            <a:r>
              <a:rPr lang="en-US" altLang="zh-CN" sz="2000" b="1" dirty="0"/>
              <a:t>, withdrawing electron density from the benzene ring: </a:t>
            </a:r>
            <a:r>
              <a:rPr lang="en-US" altLang="zh-CN" sz="2000" b="1" i="1" dirty="0"/>
              <a:t>deactivating</a:t>
            </a:r>
            <a:r>
              <a:rPr lang="en-US" altLang="zh-CN" sz="2000" b="1" dirty="0"/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halogens have </a:t>
            </a:r>
            <a:r>
              <a:rPr lang="en-US" altLang="zh-CN" sz="2000" b="1" i="1" dirty="0"/>
              <a:t>nonbonding electrons </a:t>
            </a:r>
            <a:r>
              <a:rPr lang="en-US" altLang="zh-CN" sz="2000" b="1" dirty="0"/>
              <a:t>that can </a:t>
            </a:r>
            <a:r>
              <a:rPr lang="en-US" altLang="zh-CN" sz="2000" b="1" i="1" dirty="0"/>
              <a:t>donate electron density</a:t>
            </a:r>
            <a:r>
              <a:rPr lang="en-US" altLang="zh-CN" sz="2000" b="1" dirty="0"/>
              <a:t> to the benzene ring: </a:t>
            </a:r>
            <a:r>
              <a:rPr lang="en-US" altLang="zh-CN" sz="2000" b="1" i="1" dirty="0"/>
              <a:t>ortho, para-directing</a:t>
            </a:r>
            <a:r>
              <a:rPr lang="en-US" altLang="zh-CN" sz="2000" b="1" dirty="0"/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These two effects oppose each other.</a:t>
            </a:r>
            <a:endParaRPr lang="zh-CN" altLang="en-US" sz="20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86426"/>
              </p:ext>
            </p:extLst>
          </p:nvPr>
        </p:nvGraphicFramePr>
        <p:xfrm>
          <a:off x="2639616" y="1803878"/>
          <a:ext cx="6519238" cy="161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4" name="CS ChemDraw Drawing" r:id="rId3" imgW="4359922" imgH="1083405" progId="ChemDraw.Document.6.0">
                  <p:embed/>
                </p:oleObj>
              </mc:Choice>
              <mc:Fallback>
                <p:oleObj name="CS ChemDraw Drawing" r:id="rId3" imgW="4359922" imgH="1083405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9616" y="1803878"/>
                        <a:ext cx="6519238" cy="1619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91344" y="778832"/>
            <a:ext cx="11297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halobenzenes are exceptions to the general rules. Halogens are deactivating groups, yet they are ortho, para-directors.</a:t>
            </a:r>
            <a:endParaRPr lang="zh-CN" altLang="en-US" sz="2000" b="1" dirty="0"/>
          </a:p>
        </p:txBody>
      </p:sp>
      <p:sp>
        <p:nvSpPr>
          <p:cNvPr id="5" name="圆角矩形 4"/>
          <p:cNvSpPr/>
          <p:nvPr/>
        </p:nvSpPr>
        <p:spPr>
          <a:xfrm>
            <a:off x="4296792" y="1739293"/>
            <a:ext cx="3311376" cy="1728192"/>
          </a:xfrm>
          <a:prstGeom prst="round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203024" y="1040362"/>
          <a:ext cx="3863752" cy="4658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0" name="CS ChemDraw Drawing" r:id="rId3" imgW="2872419" imgH="3462299" progId="ChemDraw.Document.6.0">
                  <p:embed/>
                </p:oleObj>
              </mc:Choice>
              <mc:Fallback>
                <p:oleObj name="CS ChemDraw Drawing" r:id="rId3" imgW="2872419" imgH="3462299" progId="ChemDraw.Document.6.0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03024" y="1040362"/>
                        <a:ext cx="3863752" cy="4658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19336" y="2492896"/>
          <a:ext cx="8100050" cy="1826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1" name="CS ChemDraw Drawing" r:id="rId5" imgW="5914501" imgH="1333544" progId="ChemDraw.Document.6.0">
                  <p:embed/>
                </p:oleObj>
              </mc:Choice>
              <mc:Fallback>
                <p:oleObj name="CS ChemDraw Drawing" r:id="rId5" imgW="5914501" imgH="1333544" progId="ChemDraw.Document.6.0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336" y="2492896"/>
                        <a:ext cx="8100050" cy="1826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75165"/>
            <a:ext cx="566395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6-6 Effects of Multiple Substituents on 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368" y="912203"/>
            <a:ext cx="115212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Two or more substituents exert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a combined effect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/>
              <a:t>on the </a:t>
            </a:r>
            <a:r>
              <a:rPr lang="en-US" altLang="zh-CN" sz="2000" b="1" dirty="0">
                <a:solidFill>
                  <a:srgbClr val="FF0000"/>
                </a:solidFill>
              </a:rPr>
              <a:t>reactivity</a:t>
            </a:r>
            <a:r>
              <a:rPr lang="en-US" altLang="zh-CN" sz="2000" b="1" dirty="0"/>
              <a:t> and </a:t>
            </a:r>
            <a:r>
              <a:rPr lang="en-US" altLang="zh-CN" sz="2000" b="1" dirty="0">
                <a:solidFill>
                  <a:srgbClr val="FF0000"/>
                </a:solidFill>
              </a:rPr>
              <a:t>substitution pattern </a:t>
            </a:r>
            <a:r>
              <a:rPr lang="en-US" altLang="zh-CN" sz="2000" b="1" dirty="0"/>
              <a:t>of an aromatic ring.</a:t>
            </a:r>
          </a:p>
          <a:p>
            <a:pPr>
              <a:buFont typeface="Arial" pitchFamily="34" charset="0"/>
              <a:buChar char="•"/>
            </a:pP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If the groups reinforce each other, the result is easy to predict. </a:t>
            </a:r>
            <a:endParaRPr lang="zh-CN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07368" y="4222249"/>
            <a:ext cx="5749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orientation is easily predicted in many cases. </a:t>
            </a:r>
            <a:endParaRPr lang="zh-CN" altLang="en-US" sz="2000" b="1" dirty="0"/>
          </a:p>
        </p:txBody>
      </p:sp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099825"/>
              </p:ext>
            </p:extLst>
          </p:nvPr>
        </p:nvGraphicFramePr>
        <p:xfrm>
          <a:off x="741780" y="4797128"/>
          <a:ext cx="3522098" cy="1785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0" name="CS ChemDraw Drawing" r:id="rId3" imgW="2155013" imgH="1092744" progId="ChemDraw.Document.6.0">
                  <p:embed/>
                </p:oleObj>
              </mc:Choice>
              <mc:Fallback>
                <p:oleObj name="CS ChemDraw Drawing" r:id="rId3" imgW="2155013" imgH="1092744" progId="ChemDraw.Document.6.0">
                  <p:embed/>
                  <p:pic>
                    <p:nvPicPr>
                      <p:cNvPr id="307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780" y="4797128"/>
                        <a:ext cx="3522098" cy="1785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74843"/>
              </p:ext>
            </p:extLst>
          </p:nvPr>
        </p:nvGraphicFramePr>
        <p:xfrm>
          <a:off x="3086495" y="2344910"/>
          <a:ext cx="6177857" cy="1630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1" name="CS ChemDraw Drawing" r:id="rId5" imgW="4211961" imgH="1110758" progId="ChemDraw.Document.6.0">
                  <p:embed/>
                </p:oleObj>
              </mc:Choice>
              <mc:Fallback>
                <p:oleObj name="CS ChemDraw Drawing" r:id="rId5" imgW="4211961" imgH="1110758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6495" y="2344910"/>
                        <a:ext cx="6177857" cy="1630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515741"/>
              </p:ext>
            </p:extLst>
          </p:nvPr>
        </p:nvGraphicFramePr>
        <p:xfrm>
          <a:off x="4780153" y="4630203"/>
          <a:ext cx="6664142" cy="1630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2" name="CS ChemDraw Drawing" r:id="rId7" imgW="4114504" imgH="1005708" progId="ChemDraw.Document.6.0">
                  <p:embed/>
                </p:oleObj>
              </mc:Choice>
              <mc:Fallback>
                <p:oleObj name="CS ChemDraw Drawing" r:id="rId7" imgW="4114504" imgH="1005708" progId="ChemDraw.Document.6.0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0153" y="4630203"/>
                        <a:ext cx="6664142" cy="1630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 9"/>
          <p:cNvSpPr/>
          <p:nvPr/>
        </p:nvSpPr>
        <p:spPr>
          <a:xfrm>
            <a:off x="7896200" y="4630203"/>
            <a:ext cx="576064" cy="565218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400256" y="5517232"/>
            <a:ext cx="576064" cy="576064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07368" y="3573016"/>
            <a:ext cx="11449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When the directing effects of two or more substituents conflict, it is more difficult to predict the position of the  introduced electrophile. In many cases, mixtures result.</a:t>
            </a:r>
            <a:endParaRPr lang="zh-CN" altLang="en-US" sz="20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815340"/>
              </p:ext>
            </p:extLst>
          </p:nvPr>
        </p:nvGraphicFramePr>
        <p:xfrm>
          <a:off x="1487488" y="669530"/>
          <a:ext cx="3893749" cy="1754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4" name="CS ChemDraw Drawing" r:id="rId3" imgW="2560320" imgH="1153571" progId="ChemDraw.Document.6.0">
                  <p:embed/>
                </p:oleObj>
              </mc:Choice>
              <mc:Fallback>
                <p:oleObj name="CS ChemDraw Drawing" r:id="rId3" imgW="2560320" imgH="1153571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7488" y="669530"/>
                        <a:ext cx="3893749" cy="1754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739296"/>
              </p:ext>
            </p:extLst>
          </p:nvPr>
        </p:nvGraphicFramePr>
        <p:xfrm>
          <a:off x="6456040" y="548680"/>
          <a:ext cx="2071372" cy="2111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5" name="CS ChemDraw Drawing" r:id="rId5" imgW="1315079" imgH="1339094" progId="ChemDraw.Document.6.0">
                  <p:embed/>
                </p:oleObj>
              </mc:Choice>
              <mc:Fallback>
                <p:oleObj name="CS ChemDraw Drawing" r:id="rId5" imgW="1315079" imgH="133909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56040" y="548680"/>
                        <a:ext cx="2071372" cy="2111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744957"/>
              </p:ext>
            </p:extLst>
          </p:nvPr>
        </p:nvGraphicFramePr>
        <p:xfrm>
          <a:off x="3359696" y="4589749"/>
          <a:ext cx="5087861" cy="167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6" name="CS ChemDraw Drawing" r:id="rId7" imgW="3405869" imgH="1124236" progId="ChemDraw.Document.6.0">
                  <p:embed/>
                </p:oleObj>
              </mc:Choice>
              <mc:Fallback>
                <p:oleObj name="CS ChemDraw Drawing" r:id="rId7" imgW="3405869" imgH="1124236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9696" y="4589749"/>
                        <a:ext cx="5087861" cy="167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79376" y="256809"/>
            <a:ext cx="1101722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When there is a conflict between an activating group and a deactivating group</a:t>
            </a:r>
            <a:r>
              <a:rPr lang="en-US" altLang="zh-CN" sz="2000" b="1" i="1" dirty="0"/>
              <a:t>, </a:t>
            </a:r>
            <a:r>
              <a:rPr lang="en-US" altLang="zh-CN" sz="2000" b="1" i="1" dirty="0">
                <a:solidFill>
                  <a:srgbClr val="FF0000"/>
                </a:solidFill>
              </a:rPr>
              <a:t>the activating group usually directs the substitution</a:t>
            </a:r>
            <a:r>
              <a:rPr lang="en-US" altLang="zh-CN" sz="2000" b="1" dirty="0"/>
              <a:t>.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83632" y="1313415"/>
          <a:ext cx="6868391" cy="1871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9" name="CS ChemDraw Drawing" r:id="rId3" imgW="4804990" imgH="1308966" progId="ChemDraw.Document.6.0">
                  <p:embed/>
                </p:oleObj>
              </mc:Choice>
              <mc:Fallback>
                <p:oleObj name="CS ChemDraw Drawing" r:id="rId3" imgW="4804990" imgH="1308966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3632" y="1313415"/>
                        <a:ext cx="6868391" cy="18719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23392" y="1313415"/>
            <a:ext cx="3227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Activating, ortho/para-directing</a:t>
            </a:r>
          </a:p>
        </p:txBody>
      </p:sp>
      <p:sp>
        <p:nvSpPr>
          <p:cNvPr id="6" name="云形标注 5"/>
          <p:cNvSpPr/>
          <p:nvPr/>
        </p:nvSpPr>
        <p:spPr>
          <a:xfrm>
            <a:off x="551384" y="1164215"/>
            <a:ext cx="3240360" cy="680609"/>
          </a:xfrm>
          <a:prstGeom prst="cloudCallout">
            <a:avLst>
              <a:gd name="adj1" fmla="val 54794"/>
              <a:gd name="adj2" fmla="val -6019"/>
            </a:avLst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744072" y="2276872"/>
            <a:ext cx="720080" cy="36004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48328" y="1510247"/>
            <a:ext cx="720080" cy="36004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云形标注 8"/>
          <p:cNvSpPr/>
          <p:nvPr/>
        </p:nvSpPr>
        <p:spPr>
          <a:xfrm>
            <a:off x="3971764" y="1933118"/>
            <a:ext cx="936104" cy="713272"/>
          </a:xfrm>
          <a:prstGeom prst="cloudCallout">
            <a:avLst>
              <a:gd name="adj1" fmla="val 7834"/>
              <a:gd name="adj2" fmla="val 19303"/>
            </a:avLst>
          </a:prstGeom>
          <a:solidFill>
            <a:srgbClr val="FFFF99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-6221" y="224971"/>
            <a:ext cx="624623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6-7 The Friedel-Crafts Alkylation and Acylation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5360" y="1370768"/>
            <a:ext cx="11593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Carbocations</a:t>
            </a:r>
            <a:r>
              <a:rPr lang="en-US" altLang="zh-CN" sz="2000" b="1" dirty="0"/>
              <a:t> are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important electrophiles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/>
              <a:t>capable of substituting onto aromatic rings.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34157"/>
              </p:ext>
            </p:extLst>
          </p:nvPr>
        </p:nvGraphicFramePr>
        <p:xfrm>
          <a:off x="2780488" y="1881157"/>
          <a:ext cx="6088735" cy="1488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8" name="CS ChemDraw Drawing" r:id="rId3" imgW="3629586" imgH="886783" progId="ChemDraw.Document.6.0">
                  <p:embed/>
                </p:oleObj>
              </mc:Choice>
              <mc:Fallback>
                <p:oleObj name="CS ChemDraw Drawing" r:id="rId3" imgW="3629586" imgH="886783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0488" y="1881157"/>
                        <a:ext cx="6088735" cy="14888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0" y="814295"/>
            <a:ext cx="452874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6-7-1 The Friedel-Crafts Alkylation</a:t>
            </a:r>
            <a:endParaRPr lang="zh-CN" altLang="en-US" sz="24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83461"/>
              </p:ext>
            </p:extLst>
          </p:nvPr>
        </p:nvGraphicFramePr>
        <p:xfrm>
          <a:off x="1879999" y="4818732"/>
          <a:ext cx="8432002" cy="1537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9" name="CS ChemDraw Drawing" r:id="rId5" imgW="4300343" imgH="784904" progId="ChemDraw.Document.6.0">
                  <p:embed/>
                </p:oleObj>
              </mc:Choice>
              <mc:Fallback>
                <p:oleObj name="CS ChemDraw Drawing" r:id="rId5" imgW="4300343" imgH="784904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9999" y="4818732"/>
                        <a:ext cx="8432002" cy="1537619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2D49A17-D7E3-410F-B800-3A6E3CF65268}"/>
              </a:ext>
            </a:extLst>
          </p:cNvPr>
          <p:cNvSpPr txBox="1"/>
          <p:nvPr/>
        </p:nvSpPr>
        <p:spPr>
          <a:xfrm>
            <a:off x="335360" y="3487953"/>
            <a:ext cx="11247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In the presence of </a:t>
            </a:r>
            <a:r>
              <a:rPr lang="en-US" altLang="zh-CN" sz="2000" b="1" dirty="0">
                <a:highlight>
                  <a:srgbClr val="FFFF00"/>
                </a:highlight>
              </a:rPr>
              <a:t>Lewis acid catalysts such as AlCl</a:t>
            </a:r>
            <a:r>
              <a:rPr lang="en-US" altLang="zh-CN" sz="2000" b="1" baseline="-25000" dirty="0">
                <a:highlight>
                  <a:srgbClr val="FFFF00"/>
                </a:highlight>
              </a:rPr>
              <a:t>3</a:t>
            </a:r>
            <a:r>
              <a:rPr lang="en-US" altLang="zh-CN" sz="2000" b="1" dirty="0">
                <a:highlight>
                  <a:srgbClr val="FFFF00"/>
                </a:highlight>
              </a:rPr>
              <a:t> or FeCl</a:t>
            </a:r>
            <a:r>
              <a:rPr lang="en-US" altLang="zh-CN" sz="2000" b="1" baseline="-25000" dirty="0">
                <a:highlight>
                  <a:srgbClr val="FFFF00"/>
                </a:highlight>
              </a:rPr>
              <a:t>3</a:t>
            </a:r>
            <a:r>
              <a:rPr lang="en-US" altLang="zh-CN" sz="2000" b="1" dirty="0"/>
              <a:t>, </a:t>
            </a:r>
            <a:r>
              <a:rPr lang="en-US" altLang="zh-CN" sz="2000" b="1" dirty="0">
                <a:highlight>
                  <a:srgbClr val="00FFFF"/>
                </a:highlight>
              </a:rPr>
              <a:t>alkyl halides </a:t>
            </a:r>
            <a:r>
              <a:rPr lang="en-US" altLang="zh-CN" sz="2000" b="1" dirty="0"/>
              <a:t>alkylate benzene to give </a:t>
            </a:r>
            <a:r>
              <a:rPr lang="en-US" altLang="zh-CN" sz="2000" b="1" dirty="0">
                <a:highlight>
                  <a:srgbClr val="00FF00"/>
                </a:highlight>
              </a:rPr>
              <a:t>alkylbenzenes</a:t>
            </a:r>
            <a:r>
              <a:rPr lang="en-US" altLang="zh-CN" sz="20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F-C alkylation forms a new carbon-carbon sigma bond between the benzene ring and the alkyl group.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C5E125-0E35-4220-9D98-D928464ADCE5}"/>
              </a:ext>
            </a:extLst>
          </p:cNvPr>
          <p:cNvSpPr/>
          <p:nvPr/>
        </p:nvSpPr>
        <p:spPr>
          <a:xfrm>
            <a:off x="8444903" y="2694903"/>
            <a:ext cx="3483745" cy="67610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DECA060-C5E6-4462-9C24-BD12752612F6}"/>
              </a:ext>
            </a:extLst>
          </p:cNvPr>
          <p:cNvSpPr/>
          <p:nvPr/>
        </p:nvSpPr>
        <p:spPr>
          <a:xfrm>
            <a:off x="6601051" y="605100"/>
            <a:ext cx="4981349" cy="101566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3" name="TextBox 5"/>
          <p:cNvSpPr txBox="1"/>
          <p:nvPr/>
        </p:nvSpPr>
        <p:spPr>
          <a:xfrm>
            <a:off x="6601051" y="605100"/>
            <a:ext cx="5108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The F-C alkylation is </a:t>
            </a:r>
            <a:r>
              <a:rPr lang="en-US" altLang="zh-CN" sz="2000" b="1" dirty="0">
                <a:solidFill>
                  <a:srgbClr val="0000FF"/>
                </a:solidFill>
              </a:rPr>
              <a:t>a typical electrophilic aromatic substitution</a:t>
            </a:r>
            <a:r>
              <a:rPr lang="en-US" altLang="zh-CN" sz="2000" b="1" dirty="0"/>
              <a:t>, with the </a:t>
            </a:r>
            <a:r>
              <a:rPr lang="en-US" altLang="zh-CN" sz="2000" b="1" i="1" dirty="0">
                <a:solidFill>
                  <a:srgbClr val="0000FF"/>
                </a:solidFill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</a:rPr>
              <a:t>-butyl cation</a:t>
            </a:r>
            <a:r>
              <a:rPr lang="en-US" altLang="zh-CN" sz="2000" b="1" dirty="0"/>
              <a:t> acting as the </a:t>
            </a:r>
            <a:r>
              <a:rPr lang="en-US" altLang="zh-CN" sz="2000" b="1" dirty="0">
                <a:solidFill>
                  <a:srgbClr val="0000FF"/>
                </a:solidFill>
              </a:rPr>
              <a:t>electrophile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13737"/>
              </p:ext>
            </p:extLst>
          </p:nvPr>
        </p:nvGraphicFramePr>
        <p:xfrm>
          <a:off x="877701" y="357775"/>
          <a:ext cx="5108267" cy="1703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0" name="CS ChemDraw Drawing" r:id="rId3" imgW="3174260" imgH="1058828" progId="ChemDraw.Document.6.0">
                  <p:embed/>
                </p:oleObj>
              </mc:Choice>
              <mc:Fallback>
                <p:oleObj name="CS ChemDraw Drawing" r:id="rId3" imgW="3174260" imgH="1058828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7701" y="357775"/>
                        <a:ext cx="5108267" cy="1703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086239"/>
              </p:ext>
            </p:extLst>
          </p:nvPr>
        </p:nvGraphicFramePr>
        <p:xfrm>
          <a:off x="767408" y="2092694"/>
          <a:ext cx="7509689" cy="1629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1" name="CS ChemDraw Drawing" r:id="rId5" imgW="4887059" imgH="1060413" progId="ChemDraw.Document.6.0">
                  <p:embed/>
                </p:oleObj>
              </mc:Choice>
              <mc:Fallback>
                <p:oleObj name="CS ChemDraw Drawing" r:id="rId5" imgW="4887059" imgH="1060413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7408" y="2092694"/>
                        <a:ext cx="7509689" cy="16297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544272" y="2677729"/>
            <a:ext cx="3411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The Lewis acid catalyst is used to help form a carbocation.</a:t>
            </a:r>
            <a:endParaRPr lang="zh-CN" altLang="en-US" sz="2000" b="1" dirty="0"/>
          </a:p>
        </p:txBody>
      </p:sp>
      <p:sp>
        <p:nvSpPr>
          <p:cNvPr id="11" name="TextBox 12"/>
          <p:cNvSpPr txBox="1"/>
          <p:nvPr/>
        </p:nvSpPr>
        <p:spPr>
          <a:xfrm>
            <a:off x="335360" y="4163097"/>
            <a:ext cx="11449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Other reaction conditions are also used to </a:t>
            </a:r>
            <a:r>
              <a:rPr lang="en-US" altLang="zh-CN" sz="2000" b="1" dirty="0">
                <a:highlight>
                  <a:srgbClr val="FFFF00"/>
                </a:highlight>
              </a:rPr>
              <a:t>form carbocations for the F-C alkylations</a:t>
            </a:r>
            <a:r>
              <a:rPr lang="en-US" altLang="zh-CN" sz="2000" b="1" dirty="0"/>
              <a:t>: </a:t>
            </a:r>
          </a:p>
          <a:p>
            <a:r>
              <a:rPr lang="en-US" altLang="zh-CN" sz="2000" b="1" dirty="0"/>
              <a:t>(1)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00FFFF"/>
                </a:highlight>
              </a:rPr>
              <a:t>Protonation of alkenes</a:t>
            </a:r>
            <a:r>
              <a:rPr lang="en-US" altLang="zh-CN" sz="2000" b="1" dirty="0"/>
              <a:t>; (2) </a:t>
            </a:r>
            <a:r>
              <a:rPr lang="en-US" altLang="zh-CN" sz="2000" b="1" dirty="0">
                <a:solidFill>
                  <a:srgbClr val="0000FF"/>
                </a:solidFill>
              </a:rPr>
              <a:t>Treatment of alcohols with BF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000" b="1" dirty="0">
                <a:solidFill>
                  <a:srgbClr val="0000FF"/>
                </a:solidFill>
              </a:rPr>
              <a:t>.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447664"/>
              </p:ext>
            </p:extLst>
          </p:nvPr>
        </p:nvGraphicFramePr>
        <p:xfrm>
          <a:off x="1127448" y="5079801"/>
          <a:ext cx="4342143" cy="1531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2" name="CS ChemDraw Drawing" r:id="rId7" imgW="2727615" imgH="961706" progId="ChemDraw.Document.6.0">
                  <p:embed/>
                </p:oleObj>
              </mc:Choice>
              <mc:Fallback>
                <p:oleObj name="CS ChemDraw Drawing" r:id="rId7" imgW="2727615" imgH="961706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27448" y="5079801"/>
                        <a:ext cx="4342143" cy="15316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640823"/>
              </p:ext>
            </p:extLst>
          </p:nvPr>
        </p:nvGraphicFramePr>
        <p:xfrm>
          <a:off x="6335849" y="5115901"/>
          <a:ext cx="4416845" cy="1403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3" name="CS ChemDraw Drawing" r:id="rId9" imgW="2838882" imgH="901847" progId="ChemDraw.Document.6.0">
                  <p:embed/>
                </p:oleObj>
              </mc:Choice>
              <mc:Fallback>
                <p:oleObj name="CS ChemDraw Drawing" r:id="rId9" imgW="2838882" imgH="901847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35849" y="5115901"/>
                        <a:ext cx="4416845" cy="1403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1866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28496" y="784061"/>
            <a:ext cx="11154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u="sng" dirty="0">
                <a:highlight>
                  <a:srgbClr val="FFFF00"/>
                </a:highlight>
              </a:rPr>
              <a:t>Limitation 1</a:t>
            </a:r>
            <a:r>
              <a:rPr lang="en-US" altLang="zh-CN" sz="2000" b="1" dirty="0"/>
              <a:t>: Friedel-Crafts reactions </a:t>
            </a:r>
            <a:r>
              <a:rPr lang="en-US" altLang="zh-CN" sz="2000" b="1" dirty="0">
                <a:highlight>
                  <a:srgbClr val="00FFFF"/>
                </a:highlight>
              </a:rPr>
              <a:t>work only with benzene, activated benzene derivatives, and halobenzenes.</a:t>
            </a:r>
            <a:r>
              <a:rPr lang="en-US" altLang="zh-CN" sz="2000" b="1" dirty="0"/>
              <a:t> They </a:t>
            </a:r>
            <a:r>
              <a:rPr lang="en-US" altLang="zh-CN" sz="2000" b="1" dirty="0">
                <a:highlight>
                  <a:srgbClr val="FFFF00"/>
                </a:highlight>
              </a:rPr>
              <a:t>fail with strongly deactivated benzenes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sp>
        <p:nvSpPr>
          <p:cNvPr id="4" name="矩形 3"/>
          <p:cNvSpPr/>
          <p:nvPr/>
        </p:nvSpPr>
        <p:spPr>
          <a:xfrm>
            <a:off x="0" y="254451"/>
            <a:ext cx="630538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/>
              <a:t>6-7-2 </a:t>
            </a:r>
            <a:r>
              <a:rPr lang="en-US" altLang="zh-CN" sz="2400" b="1" dirty="0">
                <a:solidFill>
                  <a:srgbClr val="FF0000"/>
                </a:solidFill>
              </a:rPr>
              <a:t>Limitations</a:t>
            </a:r>
            <a:r>
              <a:rPr lang="en-US" altLang="zh-CN" sz="2400" b="1" dirty="0"/>
              <a:t> of the Friedel-Crafts Alkylation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67408" y="1628800"/>
          <a:ext cx="10593837" cy="33934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531279">
                  <a:extLst>
                    <a:ext uri="{9D8B030D-6E8A-4147-A177-3AD203B41FA5}">
                      <a16:colId xmlns:a16="http://schemas.microsoft.com/office/drawing/2014/main" val="3306040659"/>
                    </a:ext>
                  </a:extLst>
                </a:gridCol>
                <a:gridCol w="3531279">
                  <a:extLst>
                    <a:ext uri="{9D8B030D-6E8A-4147-A177-3AD203B41FA5}">
                      <a16:colId xmlns:a16="http://schemas.microsoft.com/office/drawing/2014/main" val="2528376197"/>
                    </a:ext>
                  </a:extLst>
                </a:gridCol>
                <a:gridCol w="3531279">
                  <a:extLst>
                    <a:ext uri="{9D8B030D-6E8A-4147-A177-3AD203B41FA5}">
                      <a16:colId xmlns:a16="http://schemas.microsoft.com/office/drawing/2014/main" val="3685039499"/>
                    </a:ext>
                  </a:extLst>
                </a:gridCol>
              </a:tblGrid>
              <a:tr h="364643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The first class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The second class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The third class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66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Activating</a:t>
                      </a:r>
                      <a:endParaRPr lang="zh-CN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Moderately Deactivating</a:t>
                      </a:r>
                      <a:endParaRPr lang="en-US" altLang="zh-CN" b="1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Deactivating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91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Ortho/Para-directing</a:t>
                      </a:r>
                      <a:endParaRPr lang="zh-CN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baseline="0" dirty="0"/>
                        <a:t>Ortho/Para-directing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Meta-directing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4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en-US" altLang="zh-CN" b="1" dirty="0"/>
                    </a:p>
                    <a:p>
                      <a:endParaRPr lang="zh-CN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41795962"/>
                  </a:ext>
                </a:extLst>
              </a:tr>
            </a:tbl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651715" y="2839214"/>
          <a:ext cx="508186" cy="2050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08" name="CS ChemDraw Drawing" r:id="rId3" imgW="368522" imgH="1485768" progId="ChemDraw.Document.6.0">
                  <p:embed/>
                </p:oleObj>
              </mc:Choice>
              <mc:Fallback>
                <p:oleObj name="CS ChemDraw Drawing" r:id="rId3" imgW="368522" imgH="1485768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51715" y="2839214"/>
                        <a:ext cx="508186" cy="2050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97296" y="2795785"/>
          <a:ext cx="1872208" cy="209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09" name="CS ChemDraw Drawing" r:id="rId5" imgW="1421611" imgH="1590818" progId="ChemDraw.Document.6.0">
                  <p:embed/>
                </p:oleObj>
              </mc:Choice>
              <mc:Fallback>
                <p:oleObj name="CS ChemDraw Drawing" r:id="rId5" imgW="1421611" imgH="1590818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7296" y="2795785"/>
                        <a:ext cx="1872208" cy="2093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282072" y="2771199"/>
          <a:ext cx="2808312" cy="223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0" name="CS ChemDraw Drawing" r:id="rId7" imgW="2159444" imgH="1720446" progId="ChemDraw.Document.6.0">
                  <p:embed/>
                </p:oleObj>
              </mc:Choice>
              <mc:Fallback>
                <p:oleObj name="CS ChemDraw Drawing" r:id="rId7" imgW="2159444" imgH="1720446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82072" y="2771199"/>
                        <a:ext cx="2808312" cy="2238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67408" y="1628800"/>
            <a:ext cx="7056784" cy="33807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83351" y="1628799"/>
            <a:ext cx="3477893" cy="338078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笑脸 16"/>
          <p:cNvSpPr/>
          <p:nvPr/>
        </p:nvSpPr>
        <p:spPr>
          <a:xfrm>
            <a:off x="10017328" y="1902504"/>
            <a:ext cx="1275800" cy="1256360"/>
          </a:xfrm>
          <a:prstGeom prst="smileyFace">
            <a:avLst>
              <a:gd name="adj" fmla="val -4653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367196" y="312047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fail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000593"/>
              </p:ext>
            </p:extLst>
          </p:nvPr>
        </p:nvGraphicFramePr>
        <p:xfrm>
          <a:off x="962757" y="5361633"/>
          <a:ext cx="4413493" cy="1177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1" name="CS ChemDraw Drawing" r:id="rId9" imgW="2677505" imgH="714342" progId="ChemDraw.Document.6.0">
                  <p:embed/>
                </p:oleObj>
              </mc:Choice>
              <mc:Fallback>
                <p:oleObj name="CS ChemDraw Drawing" r:id="rId9" imgW="2677505" imgH="714342" progId="ChemDraw.Document.6.0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2757" y="5361633"/>
                        <a:ext cx="4413493" cy="1177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笑脸 20"/>
          <p:cNvSpPr/>
          <p:nvPr/>
        </p:nvSpPr>
        <p:spPr>
          <a:xfrm>
            <a:off x="3657900" y="2996952"/>
            <a:ext cx="1275800" cy="1256360"/>
          </a:xfrm>
          <a:prstGeom prst="smileyFace">
            <a:avLst>
              <a:gd name="adj" fmla="val 46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09117" y="4253312"/>
            <a:ext cx="725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work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021270"/>
              </p:ext>
            </p:extLst>
          </p:nvPr>
        </p:nvGraphicFramePr>
        <p:xfrm>
          <a:off x="6753922" y="5159093"/>
          <a:ext cx="4475321" cy="1490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2" name="CS ChemDraw Drawing" r:id="rId11" imgW="2706308" imgH="901847" progId="ChemDraw.Document.6.0">
                  <p:embed/>
                </p:oleObj>
              </mc:Choice>
              <mc:Fallback>
                <p:oleObj name="CS ChemDraw Drawing" r:id="rId11" imgW="2706308" imgH="901847" progId="ChemDraw.Document.6.0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53922" y="5159093"/>
                        <a:ext cx="4475321" cy="1490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25DBC8-8F0A-43CC-B881-958289E6F48F}"/>
              </a:ext>
            </a:extLst>
          </p:cNvPr>
          <p:cNvSpPr/>
          <p:nvPr/>
        </p:nvSpPr>
        <p:spPr>
          <a:xfrm>
            <a:off x="8112224" y="3245060"/>
            <a:ext cx="3521550" cy="90402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56510" y="512117"/>
            <a:ext cx="113772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 sz="2000" b="1" u="sng" dirty="0">
                <a:highlight>
                  <a:srgbClr val="FFFF00"/>
                </a:highlight>
              </a:rPr>
              <a:t>Limitation 2</a:t>
            </a:r>
            <a:r>
              <a:rPr lang="en-US" altLang="zh-CN" sz="2000" b="1" dirty="0"/>
              <a:t>: Like other carbocation reactions, the Friedel-Crafts alkylation is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00FFFF"/>
                </a:highlight>
              </a:rPr>
              <a:t>prone to carbocation rearrangements</a:t>
            </a:r>
            <a:r>
              <a:rPr lang="en-US" altLang="zh-CN" sz="2000" b="1" dirty="0"/>
              <a:t>. 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177390" y="3245060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Propylbenzene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cannot</a:t>
            </a:r>
            <a:r>
              <a:rPr lang="en-US" altLang="zh-CN" b="1" dirty="0">
                <a:latin typeface="Consolas" panose="020B0609020204030204" pitchFamily="49" charset="0"/>
              </a:rPr>
              <a:t> be prepared directly by Friedel-Crafts alkylation.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510" y="5014934"/>
            <a:ext cx="11456114" cy="10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Only certain alkylbenzenes can be made using the F-C alkylation: </a:t>
            </a:r>
            <a:r>
              <a:rPr lang="en-US" altLang="zh-CN" sz="2000" b="1" i="1" dirty="0" err="1">
                <a:solidFill>
                  <a:srgbClr val="0000FF"/>
                </a:solidFill>
              </a:rPr>
              <a:t>tert</a:t>
            </a:r>
            <a:r>
              <a:rPr lang="en-US" altLang="zh-CN" sz="2000" b="1" dirty="0" err="1">
                <a:solidFill>
                  <a:srgbClr val="0000FF"/>
                </a:solidFill>
              </a:rPr>
              <a:t>-Butyl</a:t>
            </a:r>
            <a:r>
              <a:rPr lang="en-US" altLang="zh-CN" sz="2000" b="1" dirty="0" err="1"/>
              <a:t>benzene</a:t>
            </a:r>
            <a:r>
              <a:rPr lang="en-US" altLang="zh-CN" sz="2000" b="1" dirty="0"/>
              <a:t>, </a:t>
            </a:r>
            <a:r>
              <a:rPr lang="en-US" altLang="zh-CN" sz="2000" b="1" dirty="0" err="1">
                <a:solidFill>
                  <a:srgbClr val="0000FF"/>
                </a:solidFill>
              </a:rPr>
              <a:t>isopropyl</a:t>
            </a:r>
            <a:r>
              <a:rPr lang="en-US" altLang="zh-CN" sz="2000" b="1" dirty="0" err="1"/>
              <a:t>benzene</a:t>
            </a:r>
            <a:r>
              <a:rPr lang="en-US" altLang="zh-CN" sz="2000" b="1" dirty="0"/>
              <a:t>, and </a:t>
            </a:r>
            <a:r>
              <a:rPr lang="en-US" altLang="zh-CN" sz="2000" b="1" dirty="0">
                <a:solidFill>
                  <a:srgbClr val="0000FF"/>
                </a:solidFill>
              </a:rPr>
              <a:t>ethyl</a:t>
            </a:r>
            <a:r>
              <a:rPr lang="en-US" altLang="zh-CN" sz="2000" b="1" dirty="0"/>
              <a:t>benzene </a:t>
            </a:r>
            <a:r>
              <a:rPr lang="en-US" altLang="zh-CN" sz="2000" b="1" dirty="0">
                <a:solidFill>
                  <a:srgbClr val="FF0000"/>
                </a:solidFill>
              </a:rPr>
              <a:t>can</a:t>
            </a:r>
            <a:r>
              <a:rPr lang="en-US" altLang="zh-CN" sz="2000" b="1" dirty="0"/>
              <a:t> be synthesized by the F-C alkylation because the corresponding cations are not prone to rearrangements.</a:t>
            </a:r>
            <a:endParaRPr lang="zh-CN" altLang="en-US" sz="20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353084"/>
              </p:ext>
            </p:extLst>
          </p:nvPr>
        </p:nvGraphicFramePr>
        <p:xfrm>
          <a:off x="977515" y="3246689"/>
          <a:ext cx="6696744" cy="1029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8" name="CS ChemDraw Drawing" r:id="rId3" imgW="4687410" imgH="720685" progId="ChemDraw.Document.6.0">
                  <p:embed/>
                </p:oleObj>
              </mc:Choice>
              <mc:Fallback>
                <p:oleObj name="CS ChemDraw Drawing" r:id="rId3" imgW="4687410" imgH="720685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7515" y="3246689"/>
                        <a:ext cx="6696744" cy="1029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5479503-ED73-406E-8EA8-13F35786B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744753"/>
              </p:ext>
            </p:extLst>
          </p:nvPr>
        </p:nvGraphicFramePr>
        <p:xfrm>
          <a:off x="983432" y="1293100"/>
          <a:ext cx="8037771" cy="169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9" name="CS ChemDraw Drawing" r:id="rId5" imgW="4948216" imgH="1045349" progId="ChemDraw.Document.6.0">
                  <p:embed/>
                </p:oleObj>
              </mc:Choice>
              <mc:Fallback>
                <p:oleObj name="CS ChemDraw Drawing" r:id="rId5" imgW="4948216" imgH="104534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3432" y="1293100"/>
                        <a:ext cx="8037771" cy="1696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07368" y="332656"/>
            <a:ext cx="113052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u="sng" dirty="0">
                <a:highlight>
                  <a:srgbClr val="FFFF00"/>
                </a:highlight>
              </a:rPr>
              <a:t>Limitation 3</a:t>
            </a:r>
            <a:r>
              <a:rPr lang="en-US" altLang="zh-CN" sz="2000" b="1" dirty="0"/>
              <a:t>: </a:t>
            </a:r>
            <a:r>
              <a:rPr lang="en-US" altLang="zh-CN" sz="2000" b="1" dirty="0">
                <a:highlight>
                  <a:srgbClr val="00FFFF"/>
                </a:highlight>
              </a:rPr>
              <a:t>Multiple alkylations are hard to avoid </a:t>
            </a:r>
            <a:r>
              <a:rPr lang="en-US" altLang="zh-CN" sz="2000" b="1" dirty="0"/>
              <a:t>because alkyl groups are activating substituents and </a:t>
            </a:r>
            <a:r>
              <a:rPr lang="en-US" altLang="zh-CN" sz="2000" b="1" dirty="0">
                <a:solidFill>
                  <a:srgbClr val="0000FF"/>
                </a:solidFill>
              </a:rPr>
              <a:t>the product of the Friedel-Crafts alkylation is more reactive than the starting material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07368" y="3708248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Fortunately, the </a:t>
            </a:r>
            <a:r>
              <a:rPr lang="en-US" altLang="zh-CN" sz="2000" b="1" dirty="0">
                <a:highlight>
                  <a:srgbClr val="FFFF00"/>
                </a:highlight>
              </a:rPr>
              <a:t>Friedel-Crafts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acylation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r>
              <a:rPr lang="en-US" altLang="zh-CN" sz="2000" b="1" dirty="0"/>
              <a:t>introduces just one group without danger of polyacylation or rearrangement.</a:t>
            </a:r>
            <a:endParaRPr lang="zh-CN" altLang="en-US" sz="20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871086"/>
              </p:ext>
            </p:extLst>
          </p:nvPr>
        </p:nvGraphicFramePr>
        <p:xfrm>
          <a:off x="1847528" y="1268760"/>
          <a:ext cx="8487736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9" name="CS ChemDraw Drawing" r:id="rId3" imgW="5225594" imgH="1241972" progId="ChemDraw.Document.6.0">
                  <p:embed/>
                </p:oleObj>
              </mc:Choice>
              <mc:Fallback>
                <p:oleObj name="CS ChemDraw Drawing" r:id="rId3" imgW="5225594" imgH="1241972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528" y="1268760"/>
                        <a:ext cx="8487736" cy="2016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60647"/>
            <a:ext cx="451182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6-7-3 The Friedel-Crafts Acylation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011" y="764704"/>
            <a:ext cx="116606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</a:rPr>
              <a:t>Acyl group</a:t>
            </a:r>
            <a:r>
              <a:rPr lang="en-US" altLang="zh-CN" sz="2000" b="1" dirty="0"/>
              <a:t>: a carbonyl group attached to an alkyl group. Acyl groups are named systematically by dropping the final –</a:t>
            </a:r>
            <a:r>
              <a:rPr lang="en-US" altLang="zh-CN" sz="2000" b="1" i="1" dirty="0"/>
              <a:t>e</a:t>
            </a:r>
            <a:r>
              <a:rPr lang="en-US" altLang="zh-CN" sz="2000" b="1" dirty="0"/>
              <a:t> from the alkane name and adding the –</a:t>
            </a:r>
            <a:r>
              <a:rPr lang="en-US" altLang="zh-CN" sz="2000" b="1" i="1" dirty="0" err="1"/>
              <a:t>oyl</a:t>
            </a:r>
            <a:r>
              <a:rPr lang="en-US" altLang="zh-CN" sz="2000" b="1" dirty="0"/>
              <a:t> suffix.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96011" y="2842538"/>
            <a:ext cx="655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</a:rPr>
              <a:t>Acyl chloride</a:t>
            </a:r>
            <a:r>
              <a:rPr lang="en-US" altLang="zh-CN" sz="2000" b="1" dirty="0"/>
              <a:t>: an acyl group bonded to a chlorine atom.</a:t>
            </a:r>
            <a:endParaRPr lang="zh-CN" altLang="en-US" sz="20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646794"/>
              </p:ext>
            </p:extLst>
          </p:nvPr>
        </p:nvGraphicFramePr>
        <p:xfrm>
          <a:off x="2282551" y="1502296"/>
          <a:ext cx="7197826" cy="1310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9" name="CS ChemDraw Drawing" r:id="rId3" imgW="4516564" imgH="822564" progId="ChemDraw.Document.6.0">
                  <p:embed/>
                </p:oleObj>
              </mc:Choice>
              <mc:Fallback>
                <p:oleObj name="CS ChemDraw Drawing" r:id="rId3" imgW="4516564" imgH="82256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2551" y="1502296"/>
                        <a:ext cx="7197826" cy="1310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417045"/>
              </p:ext>
            </p:extLst>
          </p:nvPr>
        </p:nvGraphicFramePr>
        <p:xfrm>
          <a:off x="3026499" y="3256926"/>
          <a:ext cx="5242724" cy="122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0" name="CS ChemDraw Drawing" r:id="rId5" imgW="3419678" imgH="796797" progId="ChemDraw.Document.6.0">
                  <p:embed/>
                </p:oleObj>
              </mc:Choice>
              <mc:Fallback>
                <p:oleObj name="CS ChemDraw Drawing" r:id="rId5" imgW="3419678" imgH="796797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26499" y="3256926"/>
                        <a:ext cx="5242724" cy="1221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96011" y="4478768"/>
            <a:ext cx="11386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</a:rPr>
              <a:t>In the presence of AlCl</a:t>
            </a:r>
            <a:r>
              <a:rPr lang="en-US" altLang="zh-CN" sz="2000" b="1" baseline="-25000" dirty="0">
                <a:highlight>
                  <a:srgbClr val="FFFF00"/>
                </a:highlight>
              </a:rPr>
              <a:t>3</a:t>
            </a:r>
            <a:r>
              <a:rPr lang="en-US" altLang="zh-CN" sz="2000" b="1" dirty="0"/>
              <a:t>, an </a:t>
            </a:r>
            <a:r>
              <a:rPr lang="en-US" altLang="zh-CN" sz="2000" b="1" dirty="0">
                <a:highlight>
                  <a:srgbClr val="00FFFF"/>
                </a:highlight>
              </a:rPr>
              <a:t>acyl chloride </a:t>
            </a:r>
            <a:r>
              <a:rPr lang="en-US" altLang="zh-CN" sz="2000" b="1" dirty="0"/>
              <a:t>reacts with benzene to give a </a:t>
            </a:r>
            <a:r>
              <a:rPr lang="en-US" altLang="zh-CN" sz="2000" b="1" dirty="0">
                <a:highlight>
                  <a:srgbClr val="00FF00"/>
                </a:highlight>
              </a:rPr>
              <a:t>phenyl ketone</a:t>
            </a:r>
            <a:r>
              <a:rPr lang="en-US" altLang="zh-CN" sz="2000" b="1" dirty="0"/>
              <a:t>: an </a:t>
            </a:r>
            <a:r>
              <a:rPr lang="en-US" altLang="zh-CN" sz="2000" b="1" dirty="0">
                <a:highlight>
                  <a:srgbClr val="00FF00"/>
                </a:highlight>
              </a:rPr>
              <a:t>acylbenzene</a:t>
            </a:r>
            <a:r>
              <a:rPr lang="en-US" altLang="zh-CN" sz="2000" b="1" dirty="0"/>
              <a:t>. </a:t>
            </a:r>
            <a:endParaRPr lang="zh-CN" altLang="en-US" sz="20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267434"/>
              </p:ext>
            </p:extLst>
          </p:nvPr>
        </p:nvGraphicFramePr>
        <p:xfrm>
          <a:off x="2996903" y="5055648"/>
          <a:ext cx="5950126" cy="1665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1" name="CS ChemDraw Drawing" r:id="rId7" imgW="3628402" imgH="1016411" progId="ChemDraw.Document.6.0">
                  <p:embed/>
                </p:oleObj>
              </mc:Choice>
              <mc:Fallback>
                <p:oleObj name="CS ChemDraw Drawing" r:id="rId7" imgW="3628402" imgH="1016411" progId="ChemDraw.Document.6.0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96903" y="5055648"/>
                        <a:ext cx="5950126" cy="1665827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7C3E7D1E-104E-4F67-BED2-BE4A39FDEFFA}"/>
              </a:ext>
            </a:extLst>
          </p:cNvPr>
          <p:cNvSpPr/>
          <p:nvPr/>
        </p:nvSpPr>
        <p:spPr>
          <a:xfrm>
            <a:off x="6007308" y="3718085"/>
            <a:ext cx="5345276" cy="286232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endParaRPr lang="zh-CN" altLang="en-US"/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105639"/>
              </p:ext>
            </p:extLst>
          </p:nvPr>
        </p:nvGraphicFramePr>
        <p:xfrm>
          <a:off x="839416" y="4615325"/>
          <a:ext cx="4608512" cy="1468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33" name="CS ChemDraw Drawing" r:id="rId3" imgW="2938036" imgH="936939" progId="ChemDraw.Document.6.0">
                  <p:embed/>
                </p:oleObj>
              </mc:Choice>
              <mc:Fallback>
                <p:oleObj name="CS ChemDraw Drawing" r:id="rId3" imgW="2938036" imgH="936939" progId="ChemDraw.Document.6.0">
                  <p:embed/>
                  <p:pic>
                    <p:nvPicPr>
                      <p:cNvPr id="809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4615325"/>
                        <a:ext cx="4608512" cy="1468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07773" y="178968"/>
            <a:ext cx="11521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F-C acylation is analogous to the F-C alkylation, the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electrophile</a:t>
            </a:r>
            <a:r>
              <a:rPr lang="en-US" altLang="zh-CN" sz="2000" b="1" dirty="0"/>
              <a:t> is a </a:t>
            </a:r>
            <a:r>
              <a:rPr lang="en-US" altLang="zh-CN" sz="2000" b="1" dirty="0">
                <a:solidFill>
                  <a:srgbClr val="0000FF"/>
                </a:solidFill>
              </a:rPr>
              <a:t>resonance-stabilized</a:t>
            </a:r>
            <a:r>
              <a:rPr lang="en-US" altLang="zh-CN" sz="2000" b="1" dirty="0"/>
              <a:t> </a:t>
            </a:r>
            <a:r>
              <a:rPr lang="en-US" altLang="zh-CN" sz="2000" b="1" u="sng" dirty="0" err="1">
                <a:solidFill>
                  <a:srgbClr val="FF0000"/>
                </a:solidFill>
                <a:highlight>
                  <a:srgbClr val="FFFF00"/>
                </a:highlight>
              </a:rPr>
              <a:t>acylium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 ion</a:t>
            </a:r>
            <a:r>
              <a:rPr lang="en-US" altLang="zh-CN" sz="2000" b="1" dirty="0"/>
              <a:t>, instead of an alkyl carbocation.</a:t>
            </a:r>
            <a:endParaRPr lang="zh-CN" altLang="en-US" sz="20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821591"/>
              </p:ext>
            </p:extLst>
          </p:nvPr>
        </p:nvGraphicFramePr>
        <p:xfrm>
          <a:off x="1715483" y="1054605"/>
          <a:ext cx="7684392" cy="145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34" name="CS ChemDraw Drawing" r:id="rId5" imgW="4896134" imgH="924839" progId="ChemDraw.Document.6.0">
                  <p:embed/>
                </p:oleObj>
              </mc:Choice>
              <mc:Fallback>
                <p:oleObj name="CS ChemDraw Drawing" r:id="rId5" imgW="4896134" imgH="924839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15483" y="1054605"/>
                        <a:ext cx="7684392" cy="1452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87870"/>
              </p:ext>
            </p:extLst>
          </p:nvPr>
        </p:nvGraphicFramePr>
        <p:xfrm>
          <a:off x="551384" y="2531980"/>
          <a:ext cx="5256584" cy="1172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35" name="CS ChemDraw Drawing" r:id="rId7" imgW="3657205" imgH="816617" progId="ChemDraw.Document.6.0">
                  <p:embed/>
                </p:oleObj>
              </mc:Choice>
              <mc:Fallback>
                <p:oleObj name="CS ChemDraw Drawing" r:id="rId7" imgW="3657205" imgH="816617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1384" y="2531980"/>
                        <a:ext cx="5256584" cy="1172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>
          <a:xfrm>
            <a:off x="307773" y="4092016"/>
            <a:ext cx="4324018" cy="1119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007308" y="3718085"/>
            <a:ext cx="54605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The acylbenzene product is strongly deactivated by the </a:t>
            </a: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powerful EWG acyl group</a:t>
            </a:r>
            <a:r>
              <a:rPr lang="en-US" altLang="zh-CN" b="1" dirty="0">
                <a:latin typeface="Consolas" panose="020B0609020204030204" pitchFamily="49" charset="0"/>
              </a:rPr>
              <a:t>, therefore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the acylation stops after one substitution</a:t>
            </a:r>
            <a:r>
              <a:rPr lang="en-US" altLang="zh-CN" b="1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The </a:t>
            </a:r>
            <a:r>
              <a:rPr lang="en-US" altLang="zh-CN" b="1" dirty="0" err="1">
                <a:latin typeface="Consolas" panose="020B0609020204030204" pitchFamily="49" charset="0"/>
              </a:rPr>
              <a:t>acylium</a:t>
            </a:r>
            <a:r>
              <a:rPr lang="en-US" altLang="zh-CN" b="1" dirty="0">
                <a:latin typeface="Consolas" panose="020B0609020204030204" pitchFamily="49" charset="0"/>
              </a:rPr>
              <a:t> ion does not rearrange. Therefore,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no rearrangements occur</a:t>
            </a:r>
            <a:r>
              <a:rPr lang="en-US" altLang="zh-CN" b="1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F-C acylation is much more reliable and useful</a:t>
            </a:r>
            <a:r>
              <a:rPr lang="en-US" altLang="zh-CN" b="1" dirty="0">
                <a:latin typeface="Consolas" panose="020B0609020204030204" pitchFamily="49" charset="0"/>
              </a:rPr>
              <a:t> than F-C alkylation.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70446" y="260648"/>
            <a:ext cx="11161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 dirty="0">
                <a:solidFill>
                  <a:srgbClr val="FF0000"/>
                </a:solidFill>
              </a:rPr>
              <a:t>Para</a:t>
            </a:r>
            <a:r>
              <a:rPr lang="en-US" altLang="zh-CN" sz="2000" b="1" dirty="0">
                <a:solidFill>
                  <a:srgbClr val="FF0000"/>
                </a:solidFill>
              </a:rPr>
              <a:t> substitution usually prevails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when the aromatic substrate has an </a:t>
            </a:r>
            <a:r>
              <a:rPr lang="en-US" altLang="zh-CN" sz="2000" b="1" i="1" dirty="0">
                <a:solidFill>
                  <a:srgbClr val="0000FF"/>
                </a:solidFill>
              </a:rPr>
              <a:t>ortho</a:t>
            </a:r>
            <a:r>
              <a:rPr lang="en-US" altLang="zh-CN" sz="2000" b="1" dirty="0">
                <a:solidFill>
                  <a:srgbClr val="0000FF"/>
                </a:solidFill>
              </a:rPr>
              <a:t>, </a:t>
            </a:r>
            <a:r>
              <a:rPr lang="en-US" altLang="zh-CN" sz="2000" b="1" i="1" dirty="0">
                <a:solidFill>
                  <a:srgbClr val="0000FF"/>
                </a:solidFill>
              </a:rPr>
              <a:t>para</a:t>
            </a:r>
            <a:r>
              <a:rPr lang="en-US" altLang="zh-CN" sz="2000" b="1" dirty="0">
                <a:solidFill>
                  <a:srgbClr val="0000FF"/>
                </a:solidFill>
              </a:rPr>
              <a:t>-directing group</a:t>
            </a:r>
            <a:r>
              <a:rPr lang="en-US" altLang="zh-CN" sz="2000" b="1" dirty="0"/>
              <a:t>, because the electrophile is too bulky for effective attack at the </a:t>
            </a:r>
            <a:r>
              <a:rPr lang="en-US" altLang="zh-CN" sz="2000" b="1" i="1" dirty="0"/>
              <a:t>ortho</a:t>
            </a:r>
            <a:r>
              <a:rPr lang="en-US" altLang="zh-CN" sz="2000" b="1" dirty="0"/>
              <a:t> position.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63552" y="1412776"/>
          <a:ext cx="6327914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1" name="CS ChemDraw Drawing" r:id="rId3" imgW="4245499" imgH="1351779" progId="ChemDraw.Document.6.0">
                  <p:embed/>
                </p:oleObj>
              </mc:Choice>
              <mc:Fallback>
                <p:oleObj name="CS ChemDraw Drawing" r:id="rId3" imgW="4245499" imgH="1351779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552" y="1412776"/>
                        <a:ext cx="6327914" cy="2016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/>
          <p:nvPr/>
        </p:nvCxnSpPr>
        <p:spPr>
          <a:xfrm flipH="1">
            <a:off x="7320136" y="1700808"/>
            <a:ext cx="498894" cy="203931"/>
          </a:xfrm>
          <a:prstGeom prst="straightConnector1">
            <a:avLst/>
          </a:prstGeom>
          <a:ln w="57150">
            <a:solidFill>
              <a:srgbClr val="00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869830" y="1412776"/>
            <a:ext cx="2821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FF00"/>
                </a:solidFill>
              </a:rPr>
              <a:t>Steric hindrance</a:t>
            </a:r>
          </a:p>
          <a:p>
            <a:r>
              <a:rPr lang="en-US" altLang="zh-CN" sz="2000" b="1" dirty="0">
                <a:solidFill>
                  <a:srgbClr val="00FF00"/>
                </a:solidFill>
              </a:rPr>
              <a:t>(</a:t>
            </a:r>
            <a:r>
              <a:rPr lang="en-US" altLang="zh-CN" sz="2000" b="1" i="1" dirty="0">
                <a:solidFill>
                  <a:srgbClr val="00FF00"/>
                </a:solidFill>
              </a:rPr>
              <a:t>ortho</a:t>
            </a:r>
            <a:r>
              <a:rPr lang="en-US" altLang="zh-CN" sz="2000" b="1" dirty="0">
                <a:solidFill>
                  <a:srgbClr val="00FF00"/>
                </a:solidFill>
              </a:rPr>
              <a:t> attack disfavored)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168008" y="2420888"/>
            <a:ext cx="1651022" cy="432048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87941"/>
            <a:ext cx="530391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</a:rPr>
              <a:t>6-8 </a:t>
            </a:r>
            <a:r>
              <a:rPr lang="en-US" altLang="zh-CN" sz="2800" b="1" dirty="0">
                <a:solidFill>
                  <a:srgbClr val="0000FF"/>
                </a:solidFill>
              </a:rPr>
              <a:t>Addition Reactions </a:t>
            </a:r>
            <a:r>
              <a:rPr lang="en-US" altLang="zh-CN" sz="2800" b="1" dirty="0"/>
              <a:t>of Benzene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040" y="872757"/>
            <a:ext cx="11449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Although substitution is more common, </a:t>
            </a:r>
            <a:r>
              <a:rPr lang="en-US" altLang="zh-CN" sz="2000" b="1" dirty="0">
                <a:solidFill>
                  <a:srgbClr val="0000FF"/>
                </a:solidFill>
              </a:rPr>
              <a:t>aromatic compounds </a:t>
            </a:r>
            <a:r>
              <a:rPr lang="en-US" altLang="zh-CN" sz="2000" b="1" dirty="0"/>
              <a:t>may undergo </a:t>
            </a:r>
            <a:r>
              <a:rPr lang="en-US" altLang="zh-CN" sz="2000" b="1" dirty="0">
                <a:solidFill>
                  <a:srgbClr val="0000FF"/>
                </a:solidFill>
              </a:rPr>
              <a:t>addition reactions </a:t>
            </a:r>
            <a:r>
              <a:rPr lang="en-US" altLang="zh-CN" sz="2000" b="1" dirty="0"/>
              <a:t>if </a:t>
            </a:r>
            <a:r>
              <a:rPr lang="en-US" altLang="zh-CN" sz="2000" b="1" dirty="0">
                <a:solidFill>
                  <a:srgbClr val="FF0000"/>
                </a:solidFill>
              </a:rPr>
              <a:t>forcing conditions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/>
              <a:t>are used.</a:t>
            </a:r>
            <a:endParaRPr lang="zh-CN" altLang="en-US" sz="20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50642"/>
              </p:ext>
            </p:extLst>
          </p:nvPr>
        </p:nvGraphicFramePr>
        <p:xfrm>
          <a:off x="648992" y="2022747"/>
          <a:ext cx="5647240" cy="4222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7" name="CS ChemDraw Drawing" r:id="rId3" imgW="3549095" imgH="2654799" progId="ChemDraw.Document.6.0">
                  <p:embed/>
                </p:oleObj>
              </mc:Choice>
              <mc:Fallback>
                <p:oleObj name="CS ChemDraw Drawing" r:id="rId3" imgW="3549095" imgH="2654799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8992" y="2022747"/>
                        <a:ext cx="5647240" cy="4222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5429538" y="2236066"/>
            <a:ext cx="30296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Catalytic Hydrogenation</a:t>
            </a:r>
            <a:endParaRPr lang="zh-CN" altLang="en-US" sz="2000" i="1" dirty="0"/>
          </a:p>
        </p:txBody>
      </p:sp>
      <p:sp>
        <p:nvSpPr>
          <p:cNvPr id="9" name="矩形 8"/>
          <p:cNvSpPr/>
          <p:nvPr/>
        </p:nvSpPr>
        <p:spPr>
          <a:xfrm>
            <a:off x="6456040" y="3869212"/>
            <a:ext cx="3215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Free-Radical Chlorination </a:t>
            </a:r>
            <a:endParaRPr lang="zh-CN" altLang="en-US" sz="2000" i="1" dirty="0"/>
          </a:p>
        </p:txBody>
      </p:sp>
      <p:sp>
        <p:nvSpPr>
          <p:cNvPr id="12" name="TextBox 4"/>
          <p:cNvSpPr txBox="1"/>
          <p:nvPr/>
        </p:nvSpPr>
        <p:spPr>
          <a:xfrm>
            <a:off x="5848198" y="5324855"/>
            <a:ext cx="59364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 dirty="0">
                <a:solidFill>
                  <a:srgbClr val="0000FF"/>
                </a:solidFill>
                <a:highlight>
                  <a:srgbClr val="FFFF00"/>
                </a:highlight>
              </a:rPr>
              <a:t>Birch Reduction </a:t>
            </a:r>
            <a:r>
              <a:rPr lang="en-US" altLang="zh-CN" sz="2000" b="1" dirty="0"/>
              <a:t>provides </a:t>
            </a:r>
            <a:r>
              <a:rPr lang="en-US" altLang="zh-CN" sz="2000" b="1" i="1" dirty="0"/>
              <a:t>a convenient method </a:t>
            </a:r>
            <a:r>
              <a:rPr lang="en-US" altLang="zh-CN" sz="2000" b="1" dirty="0"/>
              <a:t>for</a:t>
            </a:r>
            <a:r>
              <a:rPr lang="en-US" altLang="zh-CN" sz="2000" b="1" i="1" dirty="0"/>
              <a:t> </a:t>
            </a:r>
            <a:r>
              <a:rPr lang="en-US" altLang="zh-CN" sz="2000" b="1" dirty="0"/>
              <a:t>making a wide variety of interesting and useful </a:t>
            </a:r>
            <a:r>
              <a:rPr lang="en-US" altLang="zh-CN" sz="2000" b="1" i="1" dirty="0" err="1">
                <a:solidFill>
                  <a:srgbClr val="FF0000"/>
                </a:solidFill>
                <a:highlight>
                  <a:srgbClr val="FFFF00"/>
                </a:highlight>
              </a:rPr>
              <a:t>nonconjugated</a:t>
            </a:r>
            <a:r>
              <a:rPr lang="en-US" altLang="zh-CN" sz="2000" b="1" i="1" dirty="0">
                <a:solidFill>
                  <a:srgbClr val="FF0000"/>
                </a:solidFill>
                <a:highlight>
                  <a:srgbClr val="FFFF00"/>
                </a:highlight>
              </a:rPr>
              <a:t> cyclic dienes</a:t>
            </a:r>
            <a:r>
              <a:rPr lang="en-US" altLang="zh-CN" sz="2000" b="1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332656"/>
            <a:ext cx="732013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6-9 </a:t>
            </a:r>
            <a:r>
              <a:rPr lang="en-US" altLang="zh-CN" sz="2800" b="1" dirty="0">
                <a:solidFill>
                  <a:srgbClr val="0000FF"/>
                </a:solidFill>
              </a:rPr>
              <a:t>Side-Chain Reactions</a:t>
            </a:r>
            <a:r>
              <a:rPr lang="en-US" altLang="zh-CN" sz="2800" b="1" dirty="0">
                <a:solidFill>
                  <a:srgbClr val="FF00FF"/>
                </a:solidFill>
              </a:rPr>
              <a:t> </a:t>
            </a:r>
            <a:r>
              <a:rPr lang="en-US" altLang="zh-CN" sz="2800" b="1" dirty="0"/>
              <a:t>of Benzene Derivatives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344" y="966474"/>
            <a:ext cx="11593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reactivity of the side chain of a benzene ring can be promoted by the </a:t>
            </a:r>
            <a:r>
              <a:rPr lang="en-US" altLang="zh-CN" sz="2000" b="1" dirty="0">
                <a:solidFill>
                  <a:srgbClr val="0000FF"/>
                </a:solidFill>
              </a:rPr>
              <a:t>nearby aromatic ring.</a:t>
            </a:r>
            <a:endParaRPr lang="zh-CN" alt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91344" y="3303369"/>
            <a:ext cx="11665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FF"/>
                </a:solidFill>
              </a:rPr>
              <a:t>Carbon-containing side chains</a:t>
            </a:r>
            <a:r>
              <a:rPr lang="en-US" altLang="zh-CN" sz="2000" b="1" dirty="0"/>
              <a:t> of the aromatic rings may be converted to </a:t>
            </a:r>
            <a:r>
              <a:rPr lang="en-US" altLang="zh-CN" sz="2000" b="1" dirty="0">
                <a:solidFill>
                  <a:srgbClr val="FF0000"/>
                </a:solidFill>
              </a:rPr>
              <a:t>carboxyl groups </a:t>
            </a:r>
            <a:r>
              <a:rPr lang="en-US" altLang="zh-CN" sz="2000" b="1" dirty="0"/>
              <a:t>by a vigorous permanganate oxidation or chromic acid oxidation.</a:t>
            </a:r>
          </a:p>
        </p:txBody>
      </p:sp>
      <p:graphicFrame>
        <p:nvGraphicFramePr>
          <p:cNvPr id="512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087232"/>
              </p:ext>
            </p:extLst>
          </p:nvPr>
        </p:nvGraphicFramePr>
        <p:xfrm>
          <a:off x="2783632" y="4184597"/>
          <a:ext cx="4994323" cy="1036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7" name="CS ChemDraw Drawing" r:id="rId3" imgW="3518860" imgH="729864" progId="ChemDraw.Document.6.0">
                  <p:embed/>
                </p:oleObj>
              </mc:Choice>
              <mc:Fallback>
                <p:oleObj name="CS ChemDraw Drawing" r:id="rId3" imgW="3518860" imgH="729864" progId="ChemDraw.Document.6.0">
                  <p:embed/>
                  <p:pic>
                    <p:nvPicPr>
                      <p:cNvPr id="512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4184597"/>
                        <a:ext cx="4994323" cy="1036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0" y="2803823"/>
            <a:ext cx="40853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/>
              <a:t>6-9-1 Permanganate </a:t>
            </a:r>
            <a:r>
              <a:rPr lang="en-US" altLang="zh-CN" sz="2400" b="1" dirty="0">
                <a:solidFill>
                  <a:srgbClr val="0000FF"/>
                </a:solidFill>
              </a:rPr>
              <a:t>Oxidation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512776"/>
              </p:ext>
            </p:extLst>
          </p:nvPr>
        </p:nvGraphicFramePr>
        <p:xfrm>
          <a:off x="2279576" y="5568725"/>
          <a:ext cx="6296894" cy="9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8" name="CS ChemDraw Drawing" r:id="rId5" imgW="4286534" imgH="659637" progId="ChemDraw.Document.6.0">
                  <p:embed/>
                </p:oleObj>
              </mc:Choice>
              <mc:Fallback>
                <p:oleObj name="CS ChemDraw Drawing" r:id="rId5" imgW="4286534" imgH="659637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576" y="5568725"/>
                        <a:ext cx="6296894" cy="970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51148"/>
              </p:ext>
            </p:extLst>
          </p:nvPr>
        </p:nvGraphicFramePr>
        <p:xfrm>
          <a:off x="4151784" y="1529089"/>
          <a:ext cx="5752761" cy="1428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9" name="CS ChemDraw Drawing" r:id="rId7" imgW="3407447" imgH="845556" progId="ChemDraw.Document.6.0">
                  <p:embed/>
                </p:oleObj>
              </mc:Choice>
              <mc:Fallback>
                <p:oleObj name="CS ChemDraw Drawing" r:id="rId7" imgW="3407447" imgH="845556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51784" y="1529089"/>
                        <a:ext cx="5752761" cy="1428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3352" y="763586"/>
            <a:ext cx="11521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Alkylbenzenes undergo </a:t>
            </a:r>
            <a:r>
              <a:rPr lang="en-US" altLang="zh-CN" sz="2000" b="1" i="1" dirty="0">
                <a:solidFill>
                  <a:srgbClr val="FF0000"/>
                </a:solidFill>
              </a:rPr>
              <a:t>free-radical halogenation </a:t>
            </a:r>
            <a:r>
              <a:rPr lang="en-US" altLang="zh-CN" sz="2000" b="1" dirty="0"/>
              <a:t>much more easily than alkanes because </a:t>
            </a:r>
            <a:r>
              <a:rPr lang="en-US" altLang="zh-CN" sz="2000" b="1" i="1" dirty="0">
                <a:solidFill>
                  <a:srgbClr val="0000FF"/>
                </a:solidFill>
              </a:rPr>
              <a:t>abstraction of a hydrogen atom at the benzylic position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/>
              <a:t>gives a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resonance-stabilized benzylic radical</a:t>
            </a:r>
            <a:r>
              <a:rPr lang="en-US" altLang="zh-CN" sz="2000" b="1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52" y="3791588"/>
            <a:ext cx="9850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 dirty="0"/>
              <a:t>Mechanism</a:t>
            </a:r>
            <a:r>
              <a:rPr lang="en-US" altLang="zh-CN" sz="2000" b="1" dirty="0"/>
              <a:t>: Free-radical halogenation (resembles free-radical halogenation of alkenes).</a:t>
            </a:r>
            <a:endParaRPr lang="zh-CN" altLang="en-US" sz="2000" b="1" dirty="0"/>
          </a:p>
        </p:txBody>
      </p:sp>
      <p:graphicFrame>
        <p:nvGraphicFramePr>
          <p:cNvPr id="532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839976"/>
              </p:ext>
            </p:extLst>
          </p:nvPr>
        </p:nvGraphicFramePr>
        <p:xfrm>
          <a:off x="8380850" y="4645505"/>
          <a:ext cx="3403782" cy="1341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01" name="CS ChemDraw Drawing" r:id="rId3" imgW="2017268" imgH="795224" progId="ChemDraw.Document.6.0">
                  <p:embed/>
                </p:oleObj>
              </mc:Choice>
              <mc:Fallback>
                <p:oleObj name="CS ChemDraw Drawing" r:id="rId3" imgW="2017268" imgH="795224" progId="ChemDraw.Document.6.0">
                  <p:embed/>
                  <p:pic>
                    <p:nvPicPr>
                      <p:cNvPr id="532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0850" y="4645505"/>
                        <a:ext cx="3403782" cy="1341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0" y="216599"/>
            <a:ext cx="3728457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</a:rPr>
              <a:t>6-9-2 </a:t>
            </a:r>
            <a:r>
              <a:rPr lang="en-US" altLang="zh-CN" sz="2400" b="1" dirty="0">
                <a:solidFill>
                  <a:srgbClr val="0000FF"/>
                </a:solidFill>
              </a:rPr>
              <a:t>Benzylic Halogenation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337807"/>
              </p:ext>
            </p:extLst>
          </p:nvPr>
        </p:nvGraphicFramePr>
        <p:xfrm>
          <a:off x="3431704" y="1597453"/>
          <a:ext cx="4983747" cy="175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02" name="CS ChemDraw Drawing" r:id="rId5" imgW="3079565" imgH="1084991" progId="ChemDraw.Document.6.0">
                  <p:embed/>
                </p:oleObj>
              </mc:Choice>
              <mc:Fallback>
                <p:oleObj name="CS ChemDraw Drawing" r:id="rId5" imgW="3079565" imgH="108499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1704" y="1597453"/>
                        <a:ext cx="4983747" cy="175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817262"/>
              </p:ext>
            </p:extLst>
          </p:nvPr>
        </p:nvGraphicFramePr>
        <p:xfrm>
          <a:off x="695400" y="4399603"/>
          <a:ext cx="7097023" cy="1880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03" name="CS ChemDraw Drawing" r:id="rId7" imgW="4768295" imgH="1263378" progId="ChemDraw.Document.6.0">
                  <p:embed/>
                </p:oleObj>
              </mc:Choice>
              <mc:Fallback>
                <p:oleObj name="CS ChemDraw Drawing" r:id="rId7" imgW="4768295" imgH="1263378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5400" y="4399603"/>
                        <a:ext cx="7097023" cy="1880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2380</Words>
  <Application>Microsoft Office PowerPoint</Application>
  <PresentationFormat>宽屏</PresentationFormat>
  <Paragraphs>265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Arial</vt:lpstr>
      <vt:lpstr>Calibri</vt:lpstr>
      <vt:lpstr>Consolas</vt:lpstr>
      <vt:lpstr>Microsoft Sans Serif</vt:lpstr>
      <vt:lpstr>Office 主题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luo</cp:lastModifiedBy>
  <cp:revision>568</cp:revision>
  <dcterms:created xsi:type="dcterms:W3CDTF">2013-01-31T10:08:32Z</dcterms:created>
  <dcterms:modified xsi:type="dcterms:W3CDTF">2026-10-11T23:47:18Z</dcterms:modified>
</cp:coreProperties>
</file>