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wav"/>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handoutMasterIdLst>
    <p:handoutMasterId r:id="rId82"/>
  </p:handoutMasterIdLst>
  <p:sldIdLst>
    <p:sldId id="425" r:id="rId2"/>
    <p:sldId id="299" r:id="rId3"/>
    <p:sldId id="267" r:id="rId4"/>
    <p:sldId id="426" r:id="rId5"/>
    <p:sldId id="427" r:id="rId6"/>
    <p:sldId id="428" r:id="rId7"/>
    <p:sldId id="429" r:id="rId8"/>
    <p:sldId id="430" r:id="rId9"/>
    <p:sldId id="511" r:id="rId10"/>
    <p:sldId id="431" r:id="rId11"/>
    <p:sldId id="262" r:id="rId12"/>
    <p:sldId id="432" r:id="rId13"/>
    <p:sldId id="271" r:id="rId14"/>
    <p:sldId id="269" r:id="rId15"/>
    <p:sldId id="266" r:id="rId16"/>
    <p:sldId id="434" r:id="rId17"/>
    <p:sldId id="435" r:id="rId18"/>
    <p:sldId id="436" r:id="rId19"/>
    <p:sldId id="274" r:id="rId20"/>
    <p:sldId id="437" r:id="rId21"/>
    <p:sldId id="438" r:id="rId22"/>
    <p:sldId id="439" r:id="rId23"/>
    <p:sldId id="440" r:id="rId24"/>
    <p:sldId id="441" r:id="rId25"/>
    <p:sldId id="442" r:id="rId26"/>
    <p:sldId id="295" r:id="rId27"/>
    <p:sldId id="297" r:id="rId28"/>
    <p:sldId id="298" r:id="rId29"/>
    <p:sldId id="443" r:id="rId30"/>
    <p:sldId id="444" r:id="rId31"/>
    <p:sldId id="302" r:id="rId32"/>
    <p:sldId id="303" r:id="rId33"/>
    <p:sldId id="445" r:id="rId34"/>
    <p:sldId id="316" r:id="rId35"/>
    <p:sldId id="305" r:id="rId36"/>
    <p:sldId id="446" r:id="rId37"/>
    <p:sldId id="448" r:id="rId38"/>
    <p:sldId id="447" r:id="rId39"/>
    <p:sldId id="306" r:id="rId40"/>
    <p:sldId id="474" r:id="rId41"/>
    <p:sldId id="451" r:id="rId42"/>
    <p:sldId id="450" r:id="rId43"/>
    <p:sldId id="452" r:id="rId44"/>
    <p:sldId id="453" r:id="rId45"/>
    <p:sldId id="268" r:id="rId46"/>
    <p:sldId id="454" r:id="rId47"/>
    <p:sldId id="258" r:id="rId48"/>
    <p:sldId id="259" r:id="rId49"/>
    <p:sldId id="260" r:id="rId50"/>
    <p:sldId id="261" r:id="rId51"/>
    <p:sldId id="455" r:id="rId52"/>
    <p:sldId id="263" r:id="rId53"/>
    <p:sldId id="265" r:id="rId54"/>
    <p:sldId id="456" r:id="rId55"/>
    <p:sldId id="457" r:id="rId56"/>
    <p:sldId id="458" r:id="rId57"/>
    <p:sldId id="459" r:id="rId58"/>
    <p:sldId id="460" r:id="rId59"/>
    <p:sldId id="462" r:id="rId60"/>
    <p:sldId id="463" r:id="rId61"/>
    <p:sldId id="464" r:id="rId62"/>
    <p:sldId id="465" r:id="rId63"/>
    <p:sldId id="466" r:id="rId64"/>
    <p:sldId id="467" r:id="rId65"/>
    <p:sldId id="289" r:id="rId66"/>
    <p:sldId id="468" r:id="rId67"/>
    <p:sldId id="461" r:id="rId68"/>
    <p:sldId id="503" r:id="rId69"/>
    <p:sldId id="504" r:id="rId70"/>
    <p:sldId id="469" r:id="rId71"/>
    <p:sldId id="470" r:id="rId72"/>
    <p:sldId id="471" r:id="rId73"/>
    <p:sldId id="505" r:id="rId74"/>
    <p:sldId id="472" r:id="rId75"/>
    <p:sldId id="509" r:id="rId76"/>
    <p:sldId id="510" r:id="rId77"/>
    <p:sldId id="311" r:id="rId78"/>
    <p:sldId id="502" r:id="rId79"/>
    <p:sldId id="508" r:id="rId80"/>
  </p:sldIdLst>
  <p:sldSz cx="9144000" cy="5143500" type="screen16x9"/>
  <p:notesSz cx="9144000" cy="6858000"/>
  <p:custDataLst>
    <p:tags r:id="rId83"/>
  </p:custDataLst>
  <p:defaultTextStyle>
    <a:defPPr>
      <a:defRPr lang="en-GB"/>
    </a:defPPr>
    <a:lvl1pPr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58">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E1F7FF"/>
    <a:srgbClr val="D6EDBD"/>
    <a:srgbClr val="489E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71" autoAdjust="0"/>
    <p:restoredTop sz="56416" autoAdjust="0"/>
  </p:normalViewPr>
  <p:slideViewPr>
    <p:cSldViewPr>
      <p:cViewPr varScale="1">
        <p:scale>
          <a:sx n="82" d="100"/>
          <a:sy n="82" d="100"/>
        </p:scale>
        <p:origin x="2052" y="84"/>
      </p:cViewPr>
      <p:guideLst>
        <p:guide orient="horz" pos="158"/>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167" d="100"/>
          <a:sy n="167" d="100"/>
        </p:scale>
        <p:origin x="1976" y="8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gs" Target="tags/tag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ndy Leadbeater (Biomedical Sciences)" userId="a0e63292-7587-4d99-b287-bd7c298ef80c" providerId="ADAL" clId="{B0E2FC42-8803-4B5B-B954-C28546FEDB70}"/>
    <pc:docChg chg="delSld modSld">
      <pc:chgData name="Wendy Leadbeater (Biomedical Sciences)" userId="a0e63292-7587-4d99-b287-bd7c298ef80c" providerId="ADAL" clId="{B0E2FC42-8803-4B5B-B954-C28546FEDB70}" dt="2024-10-31T19:43:45.876" v="20" actId="47"/>
      <pc:docMkLst>
        <pc:docMk/>
      </pc:docMkLst>
      <pc:sldChg chg="del">
        <pc:chgData name="Wendy Leadbeater (Biomedical Sciences)" userId="a0e63292-7587-4d99-b287-bd7c298ef80c" providerId="ADAL" clId="{B0E2FC42-8803-4B5B-B954-C28546FEDB70}" dt="2024-10-31T19:43:41.238" v="19" actId="47"/>
        <pc:sldMkLst>
          <pc:docMk/>
          <pc:sldMk cId="2602997221" sldId="263"/>
        </pc:sldMkLst>
      </pc:sldChg>
      <pc:sldChg chg="modNotesTx">
        <pc:chgData name="Wendy Leadbeater (Biomedical Sciences)" userId="a0e63292-7587-4d99-b287-bd7c298ef80c" providerId="ADAL" clId="{B0E2FC42-8803-4B5B-B954-C28546FEDB70}" dt="2024-10-31T19:40:43.909" v="5" actId="6549"/>
        <pc:sldMkLst>
          <pc:docMk/>
          <pc:sldMk cId="4241531980" sldId="269"/>
        </pc:sldMkLst>
      </pc:sldChg>
      <pc:sldChg chg="modNotesTx">
        <pc:chgData name="Wendy Leadbeater (Biomedical Sciences)" userId="a0e63292-7587-4d99-b287-bd7c298ef80c" providerId="ADAL" clId="{B0E2FC42-8803-4B5B-B954-C28546FEDB70}" dt="2024-10-31T19:41:35.807" v="12" actId="20577"/>
        <pc:sldMkLst>
          <pc:docMk/>
          <pc:sldMk cId="299922226" sldId="270"/>
        </pc:sldMkLst>
      </pc:sldChg>
      <pc:sldChg chg="modNotesTx">
        <pc:chgData name="Wendy Leadbeater (Biomedical Sciences)" userId="a0e63292-7587-4d99-b287-bd7c298ef80c" providerId="ADAL" clId="{B0E2FC42-8803-4B5B-B954-C28546FEDB70}" dt="2024-10-31T19:40:19.336" v="1" actId="6549"/>
        <pc:sldMkLst>
          <pc:docMk/>
          <pc:sldMk cId="2919955665" sldId="271"/>
        </pc:sldMkLst>
      </pc:sldChg>
      <pc:sldChg chg="modNotesTx">
        <pc:chgData name="Wendy Leadbeater (Biomedical Sciences)" userId="a0e63292-7587-4d99-b287-bd7c298ef80c" providerId="ADAL" clId="{B0E2FC42-8803-4B5B-B954-C28546FEDB70}" dt="2024-10-31T19:41:22.327" v="9" actId="6549"/>
        <pc:sldMkLst>
          <pc:docMk/>
          <pc:sldMk cId="3860235493" sldId="272"/>
        </pc:sldMkLst>
      </pc:sldChg>
      <pc:sldChg chg="modNotesTx">
        <pc:chgData name="Wendy Leadbeater (Biomedical Sciences)" userId="a0e63292-7587-4d99-b287-bd7c298ef80c" providerId="ADAL" clId="{B0E2FC42-8803-4B5B-B954-C28546FEDB70}" dt="2024-10-31T19:40:56.742" v="7" actId="6549"/>
        <pc:sldMkLst>
          <pc:docMk/>
          <pc:sldMk cId="3547705289" sldId="273"/>
        </pc:sldMkLst>
      </pc:sldChg>
      <pc:sldChg chg="modNotesTx">
        <pc:chgData name="Wendy Leadbeater (Biomedical Sciences)" userId="a0e63292-7587-4d99-b287-bd7c298ef80c" providerId="ADAL" clId="{B0E2FC42-8803-4B5B-B954-C28546FEDB70}" dt="2024-10-31T19:41:09.775" v="8" actId="6549"/>
        <pc:sldMkLst>
          <pc:docMk/>
          <pc:sldMk cId="1179397337" sldId="276"/>
        </pc:sldMkLst>
      </pc:sldChg>
      <pc:sldChg chg="modNotesTx">
        <pc:chgData name="Wendy Leadbeater (Biomedical Sciences)" userId="a0e63292-7587-4d99-b287-bd7c298ef80c" providerId="ADAL" clId="{B0E2FC42-8803-4B5B-B954-C28546FEDB70}" dt="2024-10-31T19:42:21.151" v="15" actId="6549"/>
        <pc:sldMkLst>
          <pc:docMk/>
          <pc:sldMk cId="402207581" sldId="279"/>
        </pc:sldMkLst>
      </pc:sldChg>
      <pc:sldChg chg="modNotesTx">
        <pc:chgData name="Wendy Leadbeater (Biomedical Sciences)" userId="a0e63292-7587-4d99-b287-bd7c298ef80c" providerId="ADAL" clId="{B0E2FC42-8803-4B5B-B954-C28546FEDB70}" dt="2024-10-31T19:42:36.856" v="16" actId="6549"/>
        <pc:sldMkLst>
          <pc:docMk/>
          <pc:sldMk cId="831001776" sldId="283"/>
        </pc:sldMkLst>
      </pc:sldChg>
      <pc:sldChg chg="modNotesTx">
        <pc:chgData name="Wendy Leadbeater (Biomedical Sciences)" userId="a0e63292-7587-4d99-b287-bd7c298ef80c" providerId="ADAL" clId="{B0E2FC42-8803-4B5B-B954-C28546FEDB70}" dt="2024-10-31T19:42:47.631" v="17" actId="6549"/>
        <pc:sldMkLst>
          <pc:docMk/>
          <pc:sldMk cId="1947942158" sldId="286"/>
        </pc:sldMkLst>
      </pc:sldChg>
      <pc:sldChg chg="modNotesTx">
        <pc:chgData name="Wendy Leadbeater (Biomedical Sciences)" userId="a0e63292-7587-4d99-b287-bd7c298ef80c" providerId="ADAL" clId="{B0E2FC42-8803-4B5B-B954-C28546FEDB70}" dt="2024-10-31T19:41:49.241" v="13" actId="6549"/>
        <pc:sldMkLst>
          <pc:docMk/>
          <pc:sldMk cId="2697960075" sldId="291"/>
        </pc:sldMkLst>
      </pc:sldChg>
      <pc:sldChg chg="modNotesTx">
        <pc:chgData name="Wendy Leadbeater (Biomedical Sciences)" userId="a0e63292-7587-4d99-b287-bd7c298ef80c" providerId="ADAL" clId="{B0E2FC42-8803-4B5B-B954-C28546FEDB70}" dt="2024-10-31T19:43:07.727" v="18" actId="6549"/>
        <pc:sldMkLst>
          <pc:docMk/>
          <pc:sldMk cId="1922197446" sldId="292"/>
        </pc:sldMkLst>
      </pc:sldChg>
      <pc:sldChg chg="del">
        <pc:chgData name="Wendy Leadbeater (Biomedical Sciences)" userId="a0e63292-7587-4d99-b287-bd7c298ef80c" providerId="ADAL" clId="{B0E2FC42-8803-4B5B-B954-C28546FEDB70}" dt="2024-10-31T19:39:51.104" v="0" actId="47"/>
        <pc:sldMkLst>
          <pc:docMk/>
          <pc:sldMk cId="1280762351" sldId="295"/>
        </pc:sldMkLst>
      </pc:sldChg>
      <pc:sldChg chg="modNotesTx">
        <pc:chgData name="Wendy Leadbeater (Biomedical Sciences)" userId="a0e63292-7587-4d99-b287-bd7c298ef80c" providerId="ADAL" clId="{B0E2FC42-8803-4B5B-B954-C28546FEDB70}" dt="2024-10-31T19:40:51.791" v="6" actId="6549"/>
        <pc:sldMkLst>
          <pc:docMk/>
          <pc:sldMk cId="2981172201" sldId="296"/>
        </pc:sldMkLst>
      </pc:sldChg>
      <pc:sldChg chg="del">
        <pc:chgData name="Wendy Leadbeater (Biomedical Sciences)" userId="a0e63292-7587-4d99-b287-bd7c298ef80c" providerId="ADAL" clId="{B0E2FC42-8803-4B5B-B954-C28546FEDB70}" dt="2024-10-31T19:43:45.876" v="20" actId="47"/>
        <pc:sldMkLst>
          <pc:docMk/>
          <pc:sldMk cId="1404213484" sldId="298"/>
        </pc:sldMkLst>
      </pc:sldChg>
      <pc:sldChg chg="modNotesTx">
        <pc:chgData name="Wendy Leadbeater (Biomedical Sciences)" userId="a0e63292-7587-4d99-b287-bd7c298ef80c" providerId="ADAL" clId="{B0E2FC42-8803-4B5B-B954-C28546FEDB70}" dt="2024-10-31T19:40:26.555" v="3" actId="20577"/>
        <pc:sldMkLst>
          <pc:docMk/>
          <pc:sldMk cId="1394556952" sldId="300"/>
        </pc:sldMkLst>
      </pc:sldChg>
      <pc:sldChg chg="modNotesTx">
        <pc:chgData name="Wendy Leadbeater (Biomedical Sciences)" userId="a0e63292-7587-4d99-b287-bd7c298ef80c" providerId="ADAL" clId="{B0E2FC42-8803-4B5B-B954-C28546FEDB70}" dt="2024-10-31T19:41:26.923" v="10" actId="6549"/>
        <pc:sldMkLst>
          <pc:docMk/>
          <pc:sldMk cId="2046325759" sldId="301"/>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gif"/><Relationship Id="rId1" Type="http://schemas.openxmlformats.org/officeDocument/2006/relationships/image" Target="../media/image21.jpg"/><Relationship Id="rId4" Type="http://schemas.openxmlformats.org/officeDocument/2006/relationships/hyperlink" Target="https://commons.wikimedia.org/wiki/File:1222_Action_Potential_Labels.jpg" TargetMode="External"/></Relationships>
</file>

<file path=ppt/diagrams/_rels/data3.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hyperlink" Target="https://openbooks.lib.msu.edu/neuroscience/chapter/action-potentials/" TargetMode="External"/><Relationship Id="rId1" Type="http://schemas.openxmlformats.org/officeDocument/2006/relationships/image" Target="../media/image30.jpg"/><Relationship Id="rId6" Type="http://schemas.openxmlformats.org/officeDocument/2006/relationships/hyperlink" Target="https://www.publicdomainpictures.net/es/view-image.php?image=30523&amp;picture=domino" TargetMode="External"/><Relationship Id="rId5" Type="http://schemas.openxmlformats.org/officeDocument/2006/relationships/image" Target="../media/image32.jpg"/><Relationship Id="rId4" Type="http://schemas.openxmlformats.org/officeDocument/2006/relationships/hyperlink" Target="http://biology.stackexchange.com/questions/56621/why-does-the-refractory-period-of-neurons-only-allow-signals-to-pass-in-one-dire" TargetMode="External"/></Relationships>
</file>

<file path=ppt/diagrams/_rels/drawing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gif"/><Relationship Id="rId1" Type="http://schemas.openxmlformats.org/officeDocument/2006/relationships/image" Target="../media/image21.jpg"/><Relationship Id="rId4" Type="http://schemas.openxmlformats.org/officeDocument/2006/relationships/hyperlink" Target="https://commons.wikimedia.org/wiki/File:1222_Action_Potential_Labels.jpg" TargetMode="External"/></Relationships>
</file>

<file path=ppt/diagrams/_rels/drawing3.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hyperlink" Target="https://openbooks.lib.msu.edu/neuroscience/chapter/action-potentials/" TargetMode="External"/><Relationship Id="rId1" Type="http://schemas.openxmlformats.org/officeDocument/2006/relationships/image" Target="../media/image30.jpg"/><Relationship Id="rId6" Type="http://schemas.openxmlformats.org/officeDocument/2006/relationships/hyperlink" Target="https://www.publicdomainpictures.net/es/view-image.php?image=30523&amp;picture=domino" TargetMode="External"/><Relationship Id="rId5" Type="http://schemas.openxmlformats.org/officeDocument/2006/relationships/image" Target="../media/image32.jpg"/><Relationship Id="rId4" Type="http://schemas.openxmlformats.org/officeDocument/2006/relationships/hyperlink" Target="http://biology.stackexchange.com/questions/56621/why-does-the-refractory-period-of-neurons-only-allow-signals-to-pass-in-one-dire"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B9CFA2-1B73-441F-9BF5-8A3E18315174}" type="doc">
      <dgm:prSet loTypeId="urn:microsoft.com/office/officeart/2005/8/layout/vProcess5" loCatId="process" qsTypeId="urn:microsoft.com/office/officeart/2005/8/quickstyle/simple3" qsCatId="simple" csTypeId="urn:microsoft.com/office/officeart/2005/8/colors/accent1_2" csCatId="accent1" phldr="1"/>
      <dgm:spPr/>
      <dgm:t>
        <a:bodyPr/>
        <a:lstStyle/>
        <a:p>
          <a:endParaRPr lang="en-US"/>
        </a:p>
      </dgm:t>
    </dgm:pt>
    <dgm:pt modelId="{9E0985F8-FA98-4DE8-8022-9E18A9F9C20B}">
      <dgm:prSet/>
      <dgm:spPr/>
      <dgm:t>
        <a:bodyPr/>
        <a:lstStyle/>
        <a:p>
          <a:r>
            <a:rPr lang="en-GB" b="1" baseline="0" dirty="0"/>
            <a:t>What excitable cells are (specially neurons) and how do they communicate</a:t>
          </a:r>
          <a:endParaRPr lang="en-US" dirty="0"/>
        </a:p>
      </dgm:t>
    </dgm:pt>
    <dgm:pt modelId="{41C05D2F-E696-49F4-8917-72077194FC45}" type="parTrans" cxnId="{5E5204B9-1BD4-4593-84AF-F56296A30DAB}">
      <dgm:prSet/>
      <dgm:spPr/>
      <dgm:t>
        <a:bodyPr/>
        <a:lstStyle/>
        <a:p>
          <a:endParaRPr lang="en-US"/>
        </a:p>
      </dgm:t>
    </dgm:pt>
    <dgm:pt modelId="{34C48F67-A9F0-409D-844C-10F13BF6ED92}" type="sibTrans" cxnId="{5E5204B9-1BD4-4593-84AF-F56296A30DAB}">
      <dgm:prSet/>
      <dgm:spPr>
        <a:solidFill>
          <a:schemeClr val="accent1">
            <a:lumMod val="90000"/>
            <a:alpha val="90000"/>
          </a:schemeClr>
        </a:solidFill>
        <a:ln>
          <a:solidFill>
            <a:schemeClr val="tx2">
              <a:alpha val="90000"/>
            </a:schemeClr>
          </a:solidFill>
        </a:ln>
      </dgm:spPr>
      <dgm:t>
        <a:bodyPr/>
        <a:lstStyle/>
        <a:p>
          <a:endParaRPr lang="en-US"/>
        </a:p>
      </dgm:t>
    </dgm:pt>
    <dgm:pt modelId="{C765F4AD-5AD6-4F3A-94D6-80991C85617F}">
      <dgm:prSet/>
      <dgm:spPr/>
      <dgm:t>
        <a:bodyPr/>
        <a:lstStyle/>
        <a:p>
          <a:r>
            <a:rPr lang="en-GB" b="1" baseline="0" dirty="0"/>
            <a:t>Concept of Ionic concentration gradients &amp; Electrochemical gradient across cells and how they are maintained</a:t>
          </a:r>
          <a:endParaRPr lang="en-US" dirty="0"/>
        </a:p>
      </dgm:t>
    </dgm:pt>
    <dgm:pt modelId="{5FA814B4-42D6-4E5F-A056-050F3CA64F8F}" type="parTrans" cxnId="{5F7CB3B2-D5A5-4729-8E70-DA62E2B58C9D}">
      <dgm:prSet/>
      <dgm:spPr/>
      <dgm:t>
        <a:bodyPr/>
        <a:lstStyle/>
        <a:p>
          <a:endParaRPr lang="en-US"/>
        </a:p>
      </dgm:t>
    </dgm:pt>
    <dgm:pt modelId="{64046438-984D-4DCA-8E68-089E155ADF17}" type="sibTrans" cxnId="{5F7CB3B2-D5A5-4729-8E70-DA62E2B58C9D}">
      <dgm:prSet/>
      <dgm:spPr>
        <a:solidFill>
          <a:schemeClr val="accent1">
            <a:lumMod val="90000"/>
            <a:alpha val="90000"/>
          </a:schemeClr>
        </a:solidFill>
        <a:ln>
          <a:solidFill>
            <a:schemeClr val="tx2">
              <a:alpha val="90000"/>
            </a:schemeClr>
          </a:solidFill>
        </a:ln>
      </dgm:spPr>
      <dgm:t>
        <a:bodyPr/>
        <a:lstStyle/>
        <a:p>
          <a:endParaRPr lang="en-US"/>
        </a:p>
      </dgm:t>
    </dgm:pt>
    <dgm:pt modelId="{E2CB6555-4630-4E81-85C2-BD0FFD3768B4}">
      <dgm:prSet/>
      <dgm:spPr/>
      <dgm:t>
        <a:bodyPr/>
        <a:lstStyle/>
        <a:p>
          <a:r>
            <a:rPr lang="en-GB" b="1" baseline="0" dirty="0"/>
            <a:t>Equilibrium potentials </a:t>
          </a:r>
          <a:r>
            <a:rPr lang="en-GB" b="0" baseline="0" dirty="0"/>
            <a:t>and how they are achieved</a:t>
          </a:r>
          <a:endParaRPr lang="en-US" dirty="0"/>
        </a:p>
      </dgm:t>
    </dgm:pt>
    <dgm:pt modelId="{153E268A-4CC6-41B2-A671-2B2A8F210837}" type="parTrans" cxnId="{F6F20180-B233-4046-B670-12B0334D7859}">
      <dgm:prSet/>
      <dgm:spPr/>
      <dgm:t>
        <a:bodyPr/>
        <a:lstStyle/>
        <a:p>
          <a:endParaRPr lang="en-US"/>
        </a:p>
      </dgm:t>
    </dgm:pt>
    <dgm:pt modelId="{42932226-272B-4BD3-8A70-82A323FD5766}" type="sibTrans" cxnId="{F6F20180-B233-4046-B670-12B0334D7859}">
      <dgm:prSet/>
      <dgm:spPr>
        <a:solidFill>
          <a:schemeClr val="accent1">
            <a:lumMod val="90000"/>
            <a:alpha val="90000"/>
          </a:schemeClr>
        </a:solidFill>
        <a:ln>
          <a:solidFill>
            <a:schemeClr val="tx2">
              <a:alpha val="90000"/>
            </a:schemeClr>
          </a:solidFill>
        </a:ln>
      </dgm:spPr>
      <dgm:t>
        <a:bodyPr/>
        <a:lstStyle/>
        <a:p>
          <a:endParaRPr lang="en-US"/>
        </a:p>
      </dgm:t>
    </dgm:pt>
    <dgm:pt modelId="{6FAAE86E-31C8-44D8-B5C5-53F1EFF72412}">
      <dgm:prSet/>
      <dgm:spPr/>
      <dgm:t>
        <a:bodyPr/>
        <a:lstStyle/>
        <a:p>
          <a:r>
            <a:rPr lang="en-GB" b="1" baseline="0" dirty="0"/>
            <a:t>Resting membrane potential </a:t>
          </a:r>
          <a:r>
            <a:rPr lang="en-GB" b="0" baseline="0" dirty="0"/>
            <a:t>and how it is achieved</a:t>
          </a:r>
          <a:endParaRPr lang="en-US" dirty="0"/>
        </a:p>
      </dgm:t>
    </dgm:pt>
    <dgm:pt modelId="{15D3B91C-DC88-468D-BA21-2E480878FC1E}" type="parTrans" cxnId="{E10D1EE5-BF7D-45A3-8ED2-E762DE34AC00}">
      <dgm:prSet/>
      <dgm:spPr/>
      <dgm:t>
        <a:bodyPr/>
        <a:lstStyle/>
        <a:p>
          <a:endParaRPr lang="en-US"/>
        </a:p>
      </dgm:t>
    </dgm:pt>
    <dgm:pt modelId="{C402C44F-FE62-44E9-9AEC-1E6334E5468C}" type="sibTrans" cxnId="{E10D1EE5-BF7D-45A3-8ED2-E762DE34AC00}">
      <dgm:prSet/>
      <dgm:spPr>
        <a:solidFill>
          <a:schemeClr val="accent1">
            <a:lumMod val="90000"/>
            <a:alpha val="90000"/>
          </a:schemeClr>
        </a:solidFill>
        <a:ln>
          <a:solidFill>
            <a:schemeClr val="tx2">
              <a:alpha val="90000"/>
            </a:schemeClr>
          </a:solidFill>
        </a:ln>
      </dgm:spPr>
      <dgm:t>
        <a:bodyPr/>
        <a:lstStyle/>
        <a:p>
          <a:endParaRPr lang="en-US"/>
        </a:p>
      </dgm:t>
    </dgm:pt>
    <dgm:pt modelId="{2C91754F-5F7B-4196-8423-FF7BCDA8DD32}">
      <dgm:prSet/>
      <dgm:spPr/>
      <dgm:t>
        <a:bodyPr/>
        <a:lstStyle/>
        <a:p>
          <a:r>
            <a:rPr lang="en-GB" b="0" baseline="0"/>
            <a:t>Impact of extracellular ion concentration changes</a:t>
          </a:r>
          <a:endParaRPr lang="en-US"/>
        </a:p>
      </dgm:t>
    </dgm:pt>
    <dgm:pt modelId="{E462EFF5-E54B-41F7-BB9A-661A383CB92F}" type="parTrans" cxnId="{44278372-0982-42EC-BAEE-1CA261197DFA}">
      <dgm:prSet/>
      <dgm:spPr/>
      <dgm:t>
        <a:bodyPr/>
        <a:lstStyle/>
        <a:p>
          <a:endParaRPr lang="en-US"/>
        </a:p>
      </dgm:t>
    </dgm:pt>
    <dgm:pt modelId="{0FCB76A7-AC7E-47C0-AF1B-E7EDA3E6D488}" type="sibTrans" cxnId="{44278372-0982-42EC-BAEE-1CA261197DFA}">
      <dgm:prSet/>
      <dgm:spPr/>
      <dgm:t>
        <a:bodyPr/>
        <a:lstStyle/>
        <a:p>
          <a:endParaRPr lang="en-US"/>
        </a:p>
      </dgm:t>
    </dgm:pt>
    <dgm:pt modelId="{9C435A23-7205-4947-80A5-D4420B1CC57C}" type="pres">
      <dgm:prSet presAssocID="{82B9CFA2-1B73-441F-9BF5-8A3E18315174}" presName="outerComposite" presStyleCnt="0">
        <dgm:presLayoutVars>
          <dgm:chMax val="5"/>
          <dgm:dir/>
          <dgm:resizeHandles val="exact"/>
        </dgm:presLayoutVars>
      </dgm:prSet>
      <dgm:spPr/>
    </dgm:pt>
    <dgm:pt modelId="{E63B9488-7A8E-4CD2-BF48-5BBBCCD5EF28}" type="pres">
      <dgm:prSet presAssocID="{82B9CFA2-1B73-441F-9BF5-8A3E18315174}" presName="dummyMaxCanvas" presStyleCnt="0">
        <dgm:presLayoutVars/>
      </dgm:prSet>
      <dgm:spPr/>
    </dgm:pt>
    <dgm:pt modelId="{58E3F23C-60DE-4625-94EA-5BE3956CAB23}" type="pres">
      <dgm:prSet presAssocID="{82B9CFA2-1B73-441F-9BF5-8A3E18315174}" presName="FiveNodes_1" presStyleLbl="node1" presStyleIdx="0" presStyleCnt="5">
        <dgm:presLayoutVars>
          <dgm:bulletEnabled val="1"/>
        </dgm:presLayoutVars>
      </dgm:prSet>
      <dgm:spPr/>
    </dgm:pt>
    <dgm:pt modelId="{AD043A38-BDAE-476F-8328-69896E3BF5BC}" type="pres">
      <dgm:prSet presAssocID="{82B9CFA2-1B73-441F-9BF5-8A3E18315174}" presName="FiveNodes_2" presStyleLbl="node1" presStyleIdx="1" presStyleCnt="5">
        <dgm:presLayoutVars>
          <dgm:bulletEnabled val="1"/>
        </dgm:presLayoutVars>
      </dgm:prSet>
      <dgm:spPr/>
    </dgm:pt>
    <dgm:pt modelId="{440F9CD6-8C99-422E-A617-EE4CDBA92311}" type="pres">
      <dgm:prSet presAssocID="{82B9CFA2-1B73-441F-9BF5-8A3E18315174}" presName="FiveNodes_3" presStyleLbl="node1" presStyleIdx="2" presStyleCnt="5">
        <dgm:presLayoutVars>
          <dgm:bulletEnabled val="1"/>
        </dgm:presLayoutVars>
      </dgm:prSet>
      <dgm:spPr/>
    </dgm:pt>
    <dgm:pt modelId="{13A7C3A2-62CD-4850-850F-2B697D211E5E}" type="pres">
      <dgm:prSet presAssocID="{82B9CFA2-1B73-441F-9BF5-8A3E18315174}" presName="FiveNodes_4" presStyleLbl="node1" presStyleIdx="3" presStyleCnt="5">
        <dgm:presLayoutVars>
          <dgm:bulletEnabled val="1"/>
        </dgm:presLayoutVars>
      </dgm:prSet>
      <dgm:spPr/>
    </dgm:pt>
    <dgm:pt modelId="{DB408A67-1E73-44FC-A018-9D5041B3FE83}" type="pres">
      <dgm:prSet presAssocID="{82B9CFA2-1B73-441F-9BF5-8A3E18315174}" presName="FiveNodes_5" presStyleLbl="node1" presStyleIdx="4" presStyleCnt="5">
        <dgm:presLayoutVars>
          <dgm:bulletEnabled val="1"/>
        </dgm:presLayoutVars>
      </dgm:prSet>
      <dgm:spPr/>
    </dgm:pt>
    <dgm:pt modelId="{208F7B66-D4F7-4A1A-AE2D-78BF9BABA443}" type="pres">
      <dgm:prSet presAssocID="{82B9CFA2-1B73-441F-9BF5-8A3E18315174}" presName="FiveConn_1-2" presStyleLbl="fgAccFollowNode1" presStyleIdx="0" presStyleCnt="4">
        <dgm:presLayoutVars>
          <dgm:bulletEnabled val="1"/>
        </dgm:presLayoutVars>
      </dgm:prSet>
      <dgm:spPr/>
    </dgm:pt>
    <dgm:pt modelId="{50F4609A-1D66-497A-AB87-F99DBE194808}" type="pres">
      <dgm:prSet presAssocID="{82B9CFA2-1B73-441F-9BF5-8A3E18315174}" presName="FiveConn_2-3" presStyleLbl="fgAccFollowNode1" presStyleIdx="1" presStyleCnt="4">
        <dgm:presLayoutVars>
          <dgm:bulletEnabled val="1"/>
        </dgm:presLayoutVars>
      </dgm:prSet>
      <dgm:spPr/>
    </dgm:pt>
    <dgm:pt modelId="{E9A5A883-05BE-45B3-A8D5-2F7210D80461}" type="pres">
      <dgm:prSet presAssocID="{82B9CFA2-1B73-441F-9BF5-8A3E18315174}" presName="FiveConn_3-4" presStyleLbl="fgAccFollowNode1" presStyleIdx="2" presStyleCnt="4">
        <dgm:presLayoutVars>
          <dgm:bulletEnabled val="1"/>
        </dgm:presLayoutVars>
      </dgm:prSet>
      <dgm:spPr/>
    </dgm:pt>
    <dgm:pt modelId="{686E82DA-14B4-41B8-9234-581D880A8EE3}" type="pres">
      <dgm:prSet presAssocID="{82B9CFA2-1B73-441F-9BF5-8A3E18315174}" presName="FiveConn_4-5" presStyleLbl="fgAccFollowNode1" presStyleIdx="3" presStyleCnt="4">
        <dgm:presLayoutVars>
          <dgm:bulletEnabled val="1"/>
        </dgm:presLayoutVars>
      </dgm:prSet>
      <dgm:spPr/>
    </dgm:pt>
    <dgm:pt modelId="{64E657C7-EDD2-4C53-91AC-D60273456440}" type="pres">
      <dgm:prSet presAssocID="{82B9CFA2-1B73-441F-9BF5-8A3E18315174}" presName="FiveNodes_1_text" presStyleLbl="node1" presStyleIdx="4" presStyleCnt="5">
        <dgm:presLayoutVars>
          <dgm:bulletEnabled val="1"/>
        </dgm:presLayoutVars>
      </dgm:prSet>
      <dgm:spPr/>
    </dgm:pt>
    <dgm:pt modelId="{7450BEAC-BF5D-4F9B-A289-519A5E953B88}" type="pres">
      <dgm:prSet presAssocID="{82B9CFA2-1B73-441F-9BF5-8A3E18315174}" presName="FiveNodes_2_text" presStyleLbl="node1" presStyleIdx="4" presStyleCnt="5">
        <dgm:presLayoutVars>
          <dgm:bulletEnabled val="1"/>
        </dgm:presLayoutVars>
      </dgm:prSet>
      <dgm:spPr/>
    </dgm:pt>
    <dgm:pt modelId="{B697B1D3-DC03-4B53-8279-EE78D07FDECE}" type="pres">
      <dgm:prSet presAssocID="{82B9CFA2-1B73-441F-9BF5-8A3E18315174}" presName="FiveNodes_3_text" presStyleLbl="node1" presStyleIdx="4" presStyleCnt="5">
        <dgm:presLayoutVars>
          <dgm:bulletEnabled val="1"/>
        </dgm:presLayoutVars>
      </dgm:prSet>
      <dgm:spPr/>
    </dgm:pt>
    <dgm:pt modelId="{0B64F0E0-2C56-4671-A66D-907B54ACA39B}" type="pres">
      <dgm:prSet presAssocID="{82B9CFA2-1B73-441F-9BF5-8A3E18315174}" presName="FiveNodes_4_text" presStyleLbl="node1" presStyleIdx="4" presStyleCnt="5">
        <dgm:presLayoutVars>
          <dgm:bulletEnabled val="1"/>
        </dgm:presLayoutVars>
      </dgm:prSet>
      <dgm:spPr/>
    </dgm:pt>
    <dgm:pt modelId="{77B8C0E9-D414-4775-A001-D6AB4D292491}" type="pres">
      <dgm:prSet presAssocID="{82B9CFA2-1B73-441F-9BF5-8A3E18315174}" presName="FiveNodes_5_text" presStyleLbl="node1" presStyleIdx="4" presStyleCnt="5">
        <dgm:presLayoutVars>
          <dgm:bulletEnabled val="1"/>
        </dgm:presLayoutVars>
      </dgm:prSet>
      <dgm:spPr/>
    </dgm:pt>
  </dgm:ptLst>
  <dgm:cxnLst>
    <dgm:cxn modelId="{5DCC2202-4354-4A90-9419-EA759F436276}" type="presOf" srcId="{34C48F67-A9F0-409D-844C-10F13BF6ED92}" destId="{208F7B66-D4F7-4A1A-AE2D-78BF9BABA443}" srcOrd="0" destOrd="0" presId="urn:microsoft.com/office/officeart/2005/8/layout/vProcess5"/>
    <dgm:cxn modelId="{0EB85530-F40C-439D-81B6-8A0C74848CF6}" type="presOf" srcId="{9E0985F8-FA98-4DE8-8022-9E18A9F9C20B}" destId="{64E657C7-EDD2-4C53-91AC-D60273456440}" srcOrd="1" destOrd="0" presId="urn:microsoft.com/office/officeart/2005/8/layout/vProcess5"/>
    <dgm:cxn modelId="{74CA816C-F481-4E56-8C47-1D6BAFA4CE2A}" type="presOf" srcId="{C402C44F-FE62-44E9-9AEC-1E6334E5468C}" destId="{686E82DA-14B4-41B8-9234-581D880A8EE3}" srcOrd="0" destOrd="0" presId="urn:microsoft.com/office/officeart/2005/8/layout/vProcess5"/>
    <dgm:cxn modelId="{2675D850-3E69-4511-BF14-5B72D0AB27B3}" type="presOf" srcId="{2C91754F-5F7B-4196-8423-FF7BCDA8DD32}" destId="{77B8C0E9-D414-4775-A001-D6AB4D292491}" srcOrd="1" destOrd="0" presId="urn:microsoft.com/office/officeart/2005/8/layout/vProcess5"/>
    <dgm:cxn modelId="{44278372-0982-42EC-BAEE-1CA261197DFA}" srcId="{82B9CFA2-1B73-441F-9BF5-8A3E18315174}" destId="{2C91754F-5F7B-4196-8423-FF7BCDA8DD32}" srcOrd="4" destOrd="0" parTransId="{E462EFF5-E54B-41F7-BB9A-661A383CB92F}" sibTransId="{0FCB76A7-AC7E-47C0-AF1B-E7EDA3E6D488}"/>
    <dgm:cxn modelId="{40683074-88B3-47E0-9ABB-623B34CADCA6}" type="presOf" srcId="{6FAAE86E-31C8-44D8-B5C5-53F1EFF72412}" destId="{13A7C3A2-62CD-4850-850F-2B697D211E5E}" srcOrd="0" destOrd="0" presId="urn:microsoft.com/office/officeart/2005/8/layout/vProcess5"/>
    <dgm:cxn modelId="{E977D278-F010-4B00-BD55-FABD8F484519}" type="presOf" srcId="{9E0985F8-FA98-4DE8-8022-9E18A9F9C20B}" destId="{58E3F23C-60DE-4625-94EA-5BE3956CAB23}" srcOrd="0" destOrd="0" presId="urn:microsoft.com/office/officeart/2005/8/layout/vProcess5"/>
    <dgm:cxn modelId="{F6F20180-B233-4046-B670-12B0334D7859}" srcId="{82B9CFA2-1B73-441F-9BF5-8A3E18315174}" destId="{E2CB6555-4630-4E81-85C2-BD0FFD3768B4}" srcOrd="2" destOrd="0" parTransId="{153E268A-4CC6-41B2-A671-2B2A8F210837}" sibTransId="{42932226-272B-4BD3-8A70-82A323FD5766}"/>
    <dgm:cxn modelId="{CAAF3281-7F81-4337-A291-C221F5DD1BAC}" type="presOf" srcId="{C765F4AD-5AD6-4F3A-94D6-80991C85617F}" destId="{AD043A38-BDAE-476F-8328-69896E3BF5BC}" srcOrd="0" destOrd="0" presId="urn:microsoft.com/office/officeart/2005/8/layout/vProcess5"/>
    <dgm:cxn modelId="{2CAAC485-D4AF-415B-820D-D8CD0D4DB30E}" type="presOf" srcId="{64046438-984D-4DCA-8E68-089E155ADF17}" destId="{50F4609A-1D66-497A-AB87-F99DBE194808}" srcOrd="0" destOrd="0" presId="urn:microsoft.com/office/officeart/2005/8/layout/vProcess5"/>
    <dgm:cxn modelId="{BF124891-ACC5-431E-B7B4-5AA2D735F33D}" type="presOf" srcId="{82B9CFA2-1B73-441F-9BF5-8A3E18315174}" destId="{9C435A23-7205-4947-80A5-D4420B1CC57C}" srcOrd="0" destOrd="0" presId="urn:microsoft.com/office/officeart/2005/8/layout/vProcess5"/>
    <dgm:cxn modelId="{41CB0E93-EF24-49E0-BE57-1B3DF31CAF68}" type="presOf" srcId="{6FAAE86E-31C8-44D8-B5C5-53F1EFF72412}" destId="{0B64F0E0-2C56-4671-A66D-907B54ACA39B}" srcOrd="1" destOrd="0" presId="urn:microsoft.com/office/officeart/2005/8/layout/vProcess5"/>
    <dgm:cxn modelId="{4173A4A8-6241-4CE2-9957-060CD4511136}" type="presOf" srcId="{2C91754F-5F7B-4196-8423-FF7BCDA8DD32}" destId="{DB408A67-1E73-44FC-A018-9D5041B3FE83}" srcOrd="0" destOrd="0" presId="urn:microsoft.com/office/officeart/2005/8/layout/vProcess5"/>
    <dgm:cxn modelId="{497307AD-C774-418E-868B-71C28753DCAB}" type="presOf" srcId="{C765F4AD-5AD6-4F3A-94D6-80991C85617F}" destId="{7450BEAC-BF5D-4F9B-A289-519A5E953B88}" srcOrd="1" destOrd="0" presId="urn:microsoft.com/office/officeart/2005/8/layout/vProcess5"/>
    <dgm:cxn modelId="{5F7CB3B2-D5A5-4729-8E70-DA62E2B58C9D}" srcId="{82B9CFA2-1B73-441F-9BF5-8A3E18315174}" destId="{C765F4AD-5AD6-4F3A-94D6-80991C85617F}" srcOrd="1" destOrd="0" parTransId="{5FA814B4-42D6-4E5F-A056-050F3CA64F8F}" sibTransId="{64046438-984D-4DCA-8E68-089E155ADF17}"/>
    <dgm:cxn modelId="{5E5204B9-1BD4-4593-84AF-F56296A30DAB}" srcId="{82B9CFA2-1B73-441F-9BF5-8A3E18315174}" destId="{9E0985F8-FA98-4DE8-8022-9E18A9F9C20B}" srcOrd="0" destOrd="0" parTransId="{41C05D2F-E696-49F4-8917-72077194FC45}" sibTransId="{34C48F67-A9F0-409D-844C-10F13BF6ED92}"/>
    <dgm:cxn modelId="{E10D1EE5-BF7D-45A3-8ED2-E762DE34AC00}" srcId="{82B9CFA2-1B73-441F-9BF5-8A3E18315174}" destId="{6FAAE86E-31C8-44D8-B5C5-53F1EFF72412}" srcOrd="3" destOrd="0" parTransId="{15D3B91C-DC88-468D-BA21-2E480878FC1E}" sibTransId="{C402C44F-FE62-44E9-9AEC-1E6334E5468C}"/>
    <dgm:cxn modelId="{2C8E4BEA-BB09-4C4A-B5DC-CE040CF22A79}" type="presOf" srcId="{E2CB6555-4630-4E81-85C2-BD0FFD3768B4}" destId="{B697B1D3-DC03-4B53-8279-EE78D07FDECE}" srcOrd="1" destOrd="0" presId="urn:microsoft.com/office/officeart/2005/8/layout/vProcess5"/>
    <dgm:cxn modelId="{CCD58AF7-B463-437C-A340-D9D1EE2D6535}" type="presOf" srcId="{42932226-272B-4BD3-8A70-82A323FD5766}" destId="{E9A5A883-05BE-45B3-A8D5-2F7210D80461}" srcOrd="0" destOrd="0" presId="urn:microsoft.com/office/officeart/2005/8/layout/vProcess5"/>
    <dgm:cxn modelId="{C147DFFB-681B-4DA0-9AF8-E038181E67E5}" type="presOf" srcId="{E2CB6555-4630-4E81-85C2-BD0FFD3768B4}" destId="{440F9CD6-8C99-422E-A617-EE4CDBA92311}" srcOrd="0" destOrd="0" presId="urn:microsoft.com/office/officeart/2005/8/layout/vProcess5"/>
    <dgm:cxn modelId="{9B290884-87AB-4A26-9877-A5E96F9DCEC9}" type="presParOf" srcId="{9C435A23-7205-4947-80A5-D4420B1CC57C}" destId="{E63B9488-7A8E-4CD2-BF48-5BBBCCD5EF28}" srcOrd="0" destOrd="0" presId="urn:microsoft.com/office/officeart/2005/8/layout/vProcess5"/>
    <dgm:cxn modelId="{4D528250-65BB-44D8-BBA9-16F9CE9860ED}" type="presParOf" srcId="{9C435A23-7205-4947-80A5-D4420B1CC57C}" destId="{58E3F23C-60DE-4625-94EA-5BE3956CAB23}" srcOrd="1" destOrd="0" presId="urn:microsoft.com/office/officeart/2005/8/layout/vProcess5"/>
    <dgm:cxn modelId="{4DE0EFAE-5BD4-413E-9504-2DFC915960AB}" type="presParOf" srcId="{9C435A23-7205-4947-80A5-D4420B1CC57C}" destId="{AD043A38-BDAE-476F-8328-69896E3BF5BC}" srcOrd="2" destOrd="0" presId="urn:microsoft.com/office/officeart/2005/8/layout/vProcess5"/>
    <dgm:cxn modelId="{01346065-2FEF-4E09-AD32-05745BC9A494}" type="presParOf" srcId="{9C435A23-7205-4947-80A5-D4420B1CC57C}" destId="{440F9CD6-8C99-422E-A617-EE4CDBA92311}" srcOrd="3" destOrd="0" presId="urn:microsoft.com/office/officeart/2005/8/layout/vProcess5"/>
    <dgm:cxn modelId="{1AD77B09-5903-4384-9EB5-59C861BE41A6}" type="presParOf" srcId="{9C435A23-7205-4947-80A5-D4420B1CC57C}" destId="{13A7C3A2-62CD-4850-850F-2B697D211E5E}" srcOrd="4" destOrd="0" presId="urn:microsoft.com/office/officeart/2005/8/layout/vProcess5"/>
    <dgm:cxn modelId="{026FC508-D91C-473D-A572-A0FF39FFFC08}" type="presParOf" srcId="{9C435A23-7205-4947-80A5-D4420B1CC57C}" destId="{DB408A67-1E73-44FC-A018-9D5041B3FE83}" srcOrd="5" destOrd="0" presId="urn:microsoft.com/office/officeart/2005/8/layout/vProcess5"/>
    <dgm:cxn modelId="{227EBF23-CCD5-4409-B5C2-17AEA1280E73}" type="presParOf" srcId="{9C435A23-7205-4947-80A5-D4420B1CC57C}" destId="{208F7B66-D4F7-4A1A-AE2D-78BF9BABA443}" srcOrd="6" destOrd="0" presId="urn:microsoft.com/office/officeart/2005/8/layout/vProcess5"/>
    <dgm:cxn modelId="{CC6B4358-3AA5-41B6-ACD1-9441A5EE7B4D}" type="presParOf" srcId="{9C435A23-7205-4947-80A5-D4420B1CC57C}" destId="{50F4609A-1D66-497A-AB87-F99DBE194808}" srcOrd="7" destOrd="0" presId="urn:microsoft.com/office/officeart/2005/8/layout/vProcess5"/>
    <dgm:cxn modelId="{CCFE97A0-70B1-47D3-A597-BF26F092D72B}" type="presParOf" srcId="{9C435A23-7205-4947-80A5-D4420B1CC57C}" destId="{E9A5A883-05BE-45B3-A8D5-2F7210D80461}" srcOrd="8" destOrd="0" presId="urn:microsoft.com/office/officeart/2005/8/layout/vProcess5"/>
    <dgm:cxn modelId="{46F2DC40-DE1A-4989-895E-8189886E1863}" type="presParOf" srcId="{9C435A23-7205-4947-80A5-D4420B1CC57C}" destId="{686E82DA-14B4-41B8-9234-581D880A8EE3}" srcOrd="9" destOrd="0" presId="urn:microsoft.com/office/officeart/2005/8/layout/vProcess5"/>
    <dgm:cxn modelId="{B75FFDBE-5819-44A7-BF4D-772D0A14E579}" type="presParOf" srcId="{9C435A23-7205-4947-80A5-D4420B1CC57C}" destId="{64E657C7-EDD2-4C53-91AC-D60273456440}" srcOrd="10" destOrd="0" presId="urn:microsoft.com/office/officeart/2005/8/layout/vProcess5"/>
    <dgm:cxn modelId="{280CF7D3-6B35-46F3-90A7-A5E72CA3DBD9}" type="presParOf" srcId="{9C435A23-7205-4947-80A5-D4420B1CC57C}" destId="{7450BEAC-BF5D-4F9B-A289-519A5E953B88}" srcOrd="11" destOrd="0" presId="urn:microsoft.com/office/officeart/2005/8/layout/vProcess5"/>
    <dgm:cxn modelId="{B5F52BC1-8201-42C6-8614-F9A74DF1A21F}" type="presParOf" srcId="{9C435A23-7205-4947-80A5-D4420B1CC57C}" destId="{B697B1D3-DC03-4B53-8279-EE78D07FDECE}" srcOrd="12" destOrd="0" presId="urn:microsoft.com/office/officeart/2005/8/layout/vProcess5"/>
    <dgm:cxn modelId="{883D2211-813C-464C-BFE2-60FEF450E388}" type="presParOf" srcId="{9C435A23-7205-4947-80A5-D4420B1CC57C}" destId="{0B64F0E0-2C56-4671-A66D-907B54ACA39B}" srcOrd="13" destOrd="0" presId="urn:microsoft.com/office/officeart/2005/8/layout/vProcess5"/>
    <dgm:cxn modelId="{C911F8CA-2F31-486B-B141-BDED6672C6B9}" type="presParOf" srcId="{9C435A23-7205-4947-80A5-D4420B1CC57C}" destId="{77B8C0E9-D414-4775-A001-D6AB4D292491}"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66F992-EF9E-4AB4-A71A-F560C17884E0}" type="doc">
      <dgm:prSet loTypeId="urn:microsoft.com/office/officeart/2018/2/layout/IconVerticalSolidList" loCatId="icon" qsTypeId="urn:microsoft.com/office/officeart/2005/8/quickstyle/3d2" qsCatId="3D" csTypeId="urn:microsoft.com/office/officeart/2005/8/colors/accent1_2" csCatId="accent1" phldr="1"/>
      <dgm:spPr/>
      <dgm:t>
        <a:bodyPr/>
        <a:lstStyle/>
        <a:p>
          <a:endParaRPr lang="en-US"/>
        </a:p>
      </dgm:t>
    </dgm:pt>
    <dgm:pt modelId="{8CA7C1B2-81DA-4555-B80D-8850605EA4CA}">
      <dgm:prSet custT="1"/>
      <dgm:spPr/>
      <dgm:t>
        <a:bodyPr/>
        <a:lstStyle/>
        <a:p>
          <a:pPr>
            <a:lnSpc>
              <a:spcPct val="100000"/>
            </a:lnSpc>
          </a:pPr>
          <a:r>
            <a:rPr lang="en-US" sz="1600" b="0" baseline="0" dirty="0"/>
            <a:t>Key aspect of </a:t>
          </a:r>
          <a:r>
            <a:rPr lang="en-US" sz="1600" b="0" baseline="0" dirty="0">
              <a:highlight>
                <a:srgbClr val="FFFF00"/>
              </a:highlight>
            </a:rPr>
            <a:t>cellular homeostasis and cell function </a:t>
          </a:r>
          <a:r>
            <a:rPr lang="en-US" sz="1600" b="0" baseline="0" dirty="0"/>
            <a:t>in electrically excitable tissue</a:t>
          </a:r>
          <a:endParaRPr lang="en-US" sz="1600" dirty="0"/>
        </a:p>
      </dgm:t>
    </dgm:pt>
    <dgm:pt modelId="{777A1D7B-9ECA-4204-8D8A-F9F3B43FB2F2}" type="parTrans" cxnId="{4E0C43A6-ABC9-45E5-B6FD-D6D589533FEA}">
      <dgm:prSet/>
      <dgm:spPr/>
      <dgm:t>
        <a:bodyPr/>
        <a:lstStyle/>
        <a:p>
          <a:endParaRPr lang="en-US" sz="2000"/>
        </a:p>
      </dgm:t>
    </dgm:pt>
    <dgm:pt modelId="{EBAE4003-28BA-47FF-9A19-C01609EFA865}" type="sibTrans" cxnId="{4E0C43A6-ABC9-45E5-B6FD-D6D589533FEA}">
      <dgm:prSet/>
      <dgm:spPr/>
      <dgm:t>
        <a:bodyPr/>
        <a:lstStyle/>
        <a:p>
          <a:endParaRPr lang="en-US" sz="2000"/>
        </a:p>
      </dgm:t>
    </dgm:pt>
    <dgm:pt modelId="{7374FFA6-1747-457E-A575-2CBCD25AC45A}">
      <dgm:prSet custT="1"/>
      <dgm:spPr/>
      <dgm:t>
        <a:bodyPr/>
        <a:lstStyle/>
        <a:p>
          <a:pPr>
            <a:lnSpc>
              <a:spcPct val="100000"/>
            </a:lnSpc>
          </a:pPr>
          <a:r>
            <a:rPr lang="en-US" sz="1600" b="0" baseline="0" dirty="0"/>
            <a:t>Opening and closing of ion channels, and movement of ions across membrane is the </a:t>
          </a:r>
          <a:r>
            <a:rPr lang="en-US" sz="1600" b="0" baseline="0" dirty="0">
              <a:highlight>
                <a:srgbClr val="FFFF00"/>
              </a:highlight>
            </a:rPr>
            <a:t>fundamental basis of cellular electrophysiology of nerve impulses, cardiovascular heartbeat, muscle contractility</a:t>
          </a:r>
          <a:endParaRPr lang="en-US" sz="1600" dirty="0">
            <a:highlight>
              <a:srgbClr val="FFFF00"/>
            </a:highlight>
          </a:endParaRPr>
        </a:p>
      </dgm:t>
    </dgm:pt>
    <dgm:pt modelId="{3DA51812-047B-453A-8B54-6AECEF55C57B}" type="parTrans" cxnId="{6AEC3187-C198-4C7F-B8E6-2EAA9CEE2584}">
      <dgm:prSet/>
      <dgm:spPr/>
      <dgm:t>
        <a:bodyPr/>
        <a:lstStyle/>
        <a:p>
          <a:endParaRPr lang="en-US" sz="2000"/>
        </a:p>
      </dgm:t>
    </dgm:pt>
    <dgm:pt modelId="{0335BC86-E5D9-4B53-8B3E-E30B77CA0DF3}" type="sibTrans" cxnId="{6AEC3187-C198-4C7F-B8E6-2EAA9CEE2584}">
      <dgm:prSet/>
      <dgm:spPr/>
      <dgm:t>
        <a:bodyPr/>
        <a:lstStyle/>
        <a:p>
          <a:endParaRPr lang="en-US" sz="2000"/>
        </a:p>
      </dgm:t>
    </dgm:pt>
    <dgm:pt modelId="{60CECECA-10EC-434E-A8E3-BCBCA33AD451}">
      <dgm:prSet custT="1"/>
      <dgm:spPr/>
      <dgm:t>
        <a:bodyPr/>
        <a:lstStyle/>
        <a:p>
          <a:pPr>
            <a:lnSpc>
              <a:spcPct val="100000"/>
            </a:lnSpc>
          </a:pPr>
          <a:r>
            <a:rPr lang="en-US" sz="1600" b="0" baseline="0" dirty="0">
              <a:highlight>
                <a:srgbClr val="FFFF00"/>
              </a:highlight>
            </a:rPr>
            <a:t>Action potentials </a:t>
          </a:r>
          <a:r>
            <a:rPr lang="en-US" sz="1600" b="0" baseline="0" dirty="0"/>
            <a:t>– process and transmit information</a:t>
          </a:r>
          <a:endParaRPr lang="en-US" sz="1600" dirty="0"/>
        </a:p>
      </dgm:t>
    </dgm:pt>
    <dgm:pt modelId="{1959DCDF-E257-4D76-BAC5-FED3246B547E}" type="parTrans" cxnId="{01A2F2E0-721A-4139-B1D7-A4F6DDC65770}">
      <dgm:prSet/>
      <dgm:spPr/>
      <dgm:t>
        <a:bodyPr/>
        <a:lstStyle/>
        <a:p>
          <a:endParaRPr lang="en-US" sz="2000"/>
        </a:p>
      </dgm:t>
    </dgm:pt>
    <dgm:pt modelId="{CD9501D3-DDC5-4F11-8AF2-4F52B9B63B65}" type="sibTrans" cxnId="{01A2F2E0-721A-4139-B1D7-A4F6DDC65770}">
      <dgm:prSet/>
      <dgm:spPr/>
      <dgm:t>
        <a:bodyPr/>
        <a:lstStyle/>
        <a:p>
          <a:endParaRPr lang="en-US" sz="2000"/>
        </a:p>
      </dgm:t>
    </dgm:pt>
    <dgm:pt modelId="{1C16DEC8-5E78-49D0-A7C2-28643DBF8C66}" type="pres">
      <dgm:prSet presAssocID="{CF66F992-EF9E-4AB4-A71A-F560C17884E0}" presName="root" presStyleCnt="0">
        <dgm:presLayoutVars>
          <dgm:dir/>
          <dgm:resizeHandles val="exact"/>
        </dgm:presLayoutVars>
      </dgm:prSet>
      <dgm:spPr/>
    </dgm:pt>
    <dgm:pt modelId="{C9238243-F30A-4334-839E-B33C1B4A3F5D}" type="pres">
      <dgm:prSet presAssocID="{8CA7C1B2-81DA-4555-B80D-8850605EA4CA}" presName="compNode" presStyleCnt="0"/>
      <dgm:spPr/>
    </dgm:pt>
    <dgm:pt modelId="{313E9615-9C92-4A87-81C5-F9670847F950}" type="pres">
      <dgm:prSet presAssocID="{8CA7C1B2-81DA-4555-B80D-8850605EA4CA}" presName="bgRect" presStyleLbl="bgShp" presStyleIdx="0" presStyleCnt="3"/>
      <dgm:spPr/>
    </dgm:pt>
    <dgm:pt modelId="{42A82636-B897-49C9-AD91-C6843660ABA4}" type="pres">
      <dgm:prSet presAssocID="{8CA7C1B2-81DA-4555-B80D-8850605EA4CA}" presName="iconRect" presStyleLbl="node1" presStyleIdx="0" presStyleCnt="3" custScaleX="114026" custScaleY="114600"/>
      <dgm:spPr>
        <a:blipFill>
          <a:blip xmlns:r="http://schemas.openxmlformats.org/officeDocument/2006/relationships" r:embed="rId1"/>
          <a:srcRect/>
          <a:stretch>
            <a:fillRect l="-17000" r="-17000"/>
          </a:stretch>
        </a:blipFill>
      </dgm:spPr>
      <dgm:extLst>
        <a:ext uri="{E40237B7-FDA0-4F09-8148-C483321AD2D9}">
          <dgm14:cNvPr xmlns:dgm14="http://schemas.microsoft.com/office/drawing/2010/diagram" id="0" name="" descr="Human brain nerve cells"/>
        </a:ext>
      </dgm:extLst>
    </dgm:pt>
    <dgm:pt modelId="{E1AED767-4A62-40D7-A0BE-E6ECEA2C72B7}" type="pres">
      <dgm:prSet presAssocID="{8CA7C1B2-81DA-4555-B80D-8850605EA4CA}" presName="spaceRect" presStyleCnt="0"/>
      <dgm:spPr/>
    </dgm:pt>
    <dgm:pt modelId="{0AF881B3-FBE0-4F35-82AB-7AFCEB3A3EF7}" type="pres">
      <dgm:prSet presAssocID="{8CA7C1B2-81DA-4555-B80D-8850605EA4CA}" presName="parTx" presStyleLbl="revTx" presStyleIdx="0" presStyleCnt="3">
        <dgm:presLayoutVars>
          <dgm:chMax val="0"/>
          <dgm:chPref val="0"/>
        </dgm:presLayoutVars>
      </dgm:prSet>
      <dgm:spPr/>
    </dgm:pt>
    <dgm:pt modelId="{D0277459-CE3D-4755-9282-982E0CAACC1D}" type="pres">
      <dgm:prSet presAssocID="{EBAE4003-28BA-47FF-9A19-C01609EFA865}" presName="sibTrans" presStyleCnt="0"/>
      <dgm:spPr/>
    </dgm:pt>
    <dgm:pt modelId="{0D9C41D3-930B-4331-A4D7-414459FFB1E5}" type="pres">
      <dgm:prSet presAssocID="{7374FFA6-1747-457E-A575-2CBCD25AC45A}" presName="compNode" presStyleCnt="0"/>
      <dgm:spPr/>
    </dgm:pt>
    <dgm:pt modelId="{4C8CB1B0-5C6A-4D35-9CA9-B3E90997A8D0}" type="pres">
      <dgm:prSet presAssocID="{7374FFA6-1747-457E-A575-2CBCD25AC45A}" presName="bgRect" presStyleLbl="bgShp" presStyleIdx="1" presStyleCnt="3"/>
      <dgm:spPr/>
    </dgm:pt>
    <dgm:pt modelId="{CE699762-22A3-4C40-B7F0-E1FB7D28834D}" type="pres">
      <dgm:prSet presAssocID="{7374FFA6-1747-457E-A575-2CBCD25AC45A}" presName="iconRect" presStyleLbl="node1" presStyleIdx="1" presStyleCnt="3" custScaleX="123980" custScaleY="117319"/>
      <dgm:spPr>
        <a:blipFill>
          <a:blip xmlns:r="http://schemas.openxmlformats.org/officeDocument/2006/relationships" r:embed="rId2">
            <a:extLst>
              <a:ext uri="{28A0092B-C50C-407E-A947-70E740481C1C}">
                <a14:useLocalDpi xmlns:a14="http://schemas.microsoft.com/office/drawing/2010/main" val="0"/>
              </a:ext>
            </a:extLst>
          </a:blip>
          <a:srcRect/>
          <a:stretch>
            <a:fillRect l="-17000" r="-17000"/>
          </a:stretch>
        </a:blipFill>
      </dgm:spPr>
    </dgm:pt>
    <dgm:pt modelId="{46AB1782-F363-40C2-960C-3D62A78AE7D0}" type="pres">
      <dgm:prSet presAssocID="{7374FFA6-1747-457E-A575-2CBCD25AC45A}" presName="spaceRect" presStyleCnt="0"/>
      <dgm:spPr/>
    </dgm:pt>
    <dgm:pt modelId="{286D76C7-C043-462B-AEB6-7B86D9CD7981}" type="pres">
      <dgm:prSet presAssocID="{7374FFA6-1747-457E-A575-2CBCD25AC45A}" presName="parTx" presStyleLbl="revTx" presStyleIdx="1" presStyleCnt="3">
        <dgm:presLayoutVars>
          <dgm:chMax val="0"/>
          <dgm:chPref val="0"/>
        </dgm:presLayoutVars>
      </dgm:prSet>
      <dgm:spPr/>
    </dgm:pt>
    <dgm:pt modelId="{8FD40E58-E864-44F0-B6E8-0C3D793CAFAD}" type="pres">
      <dgm:prSet presAssocID="{0335BC86-E5D9-4B53-8B3E-E30B77CA0DF3}" presName="sibTrans" presStyleCnt="0"/>
      <dgm:spPr/>
    </dgm:pt>
    <dgm:pt modelId="{BC6DE83A-B041-41DC-8C64-E52161097181}" type="pres">
      <dgm:prSet presAssocID="{60CECECA-10EC-434E-A8E3-BCBCA33AD451}" presName="compNode" presStyleCnt="0"/>
      <dgm:spPr/>
    </dgm:pt>
    <dgm:pt modelId="{B59710B0-A998-4F3F-AC8E-4237459C3720}" type="pres">
      <dgm:prSet presAssocID="{60CECECA-10EC-434E-A8E3-BCBCA33AD451}" presName="bgRect" presStyleLbl="bgShp" presStyleIdx="2" presStyleCnt="3" custLinFactNeighborY="3346"/>
      <dgm:spPr/>
    </dgm:pt>
    <dgm:pt modelId="{6D552F37-96C6-4ABE-94A4-69F2EDB371B7}" type="pres">
      <dgm:prSet presAssocID="{60CECECA-10EC-434E-A8E3-BCBCA33AD451}" presName="iconRect" presStyleLbl="node1" presStyleIdx="2" presStyleCnt="3"/>
      <dgm:spPr>
        <a:blipFill>
          <a:blip xmlns:r="http://schemas.openxmlformats.org/officeDocument/2006/relationships" r:embed="rId3">
            <a:extLst>
              <a:ext uri="{837473B0-CC2E-450A-ABE3-18F120FF3D39}">
                <a1611:picAttrSrcUrl xmlns:a1611="http://schemas.microsoft.com/office/drawing/2016/11/main" r:id="rId4"/>
              </a:ext>
            </a:extLst>
          </a:blip>
          <a:srcRect/>
          <a:stretch>
            <a:fillRect l="-35000" r="-35000"/>
          </a:stretch>
        </a:blipFill>
      </dgm:spPr>
    </dgm:pt>
    <dgm:pt modelId="{AFE0DD9E-DBEE-4FE1-B95E-879053B2E8AD}" type="pres">
      <dgm:prSet presAssocID="{60CECECA-10EC-434E-A8E3-BCBCA33AD451}" presName="spaceRect" presStyleCnt="0"/>
      <dgm:spPr/>
    </dgm:pt>
    <dgm:pt modelId="{EFDD131F-38AA-4F46-8AD6-7769EC6898C6}" type="pres">
      <dgm:prSet presAssocID="{60CECECA-10EC-434E-A8E3-BCBCA33AD451}" presName="parTx" presStyleLbl="revTx" presStyleIdx="2" presStyleCnt="3">
        <dgm:presLayoutVars>
          <dgm:chMax val="0"/>
          <dgm:chPref val="0"/>
        </dgm:presLayoutVars>
      </dgm:prSet>
      <dgm:spPr/>
    </dgm:pt>
  </dgm:ptLst>
  <dgm:cxnLst>
    <dgm:cxn modelId="{690EA507-0EA0-48C5-BA70-8B3F0B6F5FF0}" type="presOf" srcId="{CF66F992-EF9E-4AB4-A71A-F560C17884E0}" destId="{1C16DEC8-5E78-49D0-A7C2-28643DBF8C66}" srcOrd="0" destOrd="0" presId="urn:microsoft.com/office/officeart/2018/2/layout/IconVerticalSolidList"/>
    <dgm:cxn modelId="{8910E625-9DBE-4880-81C6-6428D40564F2}" type="presOf" srcId="{7374FFA6-1747-457E-A575-2CBCD25AC45A}" destId="{286D76C7-C043-462B-AEB6-7B86D9CD7981}" srcOrd="0" destOrd="0" presId="urn:microsoft.com/office/officeart/2018/2/layout/IconVerticalSolidList"/>
    <dgm:cxn modelId="{46D00936-D455-4B44-B863-5DF4378E9F58}" type="presOf" srcId="{60CECECA-10EC-434E-A8E3-BCBCA33AD451}" destId="{EFDD131F-38AA-4F46-8AD6-7769EC6898C6}" srcOrd="0" destOrd="0" presId="urn:microsoft.com/office/officeart/2018/2/layout/IconVerticalSolidList"/>
    <dgm:cxn modelId="{6AEC3187-C198-4C7F-B8E6-2EAA9CEE2584}" srcId="{CF66F992-EF9E-4AB4-A71A-F560C17884E0}" destId="{7374FFA6-1747-457E-A575-2CBCD25AC45A}" srcOrd="1" destOrd="0" parTransId="{3DA51812-047B-453A-8B54-6AECEF55C57B}" sibTransId="{0335BC86-E5D9-4B53-8B3E-E30B77CA0DF3}"/>
    <dgm:cxn modelId="{4E0C43A6-ABC9-45E5-B6FD-D6D589533FEA}" srcId="{CF66F992-EF9E-4AB4-A71A-F560C17884E0}" destId="{8CA7C1B2-81DA-4555-B80D-8850605EA4CA}" srcOrd="0" destOrd="0" parTransId="{777A1D7B-9ECA-4204-8D8A-F9F3B43FB2F2}" sibTransId="{EBAE4003-28BA-47FF-9A19-C01609EFA865}"/>
    <dgm:cxn modelId="{4CC545B0-999B-4012-BF2C-21C7812079D8}" type="presOf" srcId="{8CA7C1B2-81DA-4555-B80D-8850605EA4CA}" destId="{0AF881B3-FBE0-4F35-82AB-7AFCEB3A3EF7}" srcOrd="0" destOrd="0" presId="urn:microsoft.com/office/officeart/2018/2/layout/IconVerticalSolidList"/>
    <dgm:cxn modelId="{01A2F2E0-721A-4139-B1D7-A4F6DDC65770}" srcId="{CF66F992-EF9E-4AB4-A71A-F560C17884E0}" destId="{60CECECA-10EC-434E-A8E3-BCBCA33AD451}" srcOrd="2" destOrd="0" parTransId="{1959DCDF-E257-4D76-BAC5-FED3246B547E}" sibTransId="{CD9501D3-DDC5-4F11-8AF2-4F52B9B63B65}"/>
    <dgm:cxn modelId="{C47DD4B1-5FBA-4B32-83FB-4A20B05D8F1F}" type="presParOf" srcId="{1C16DEC8-5E78-49D0-A7C2-28643DBF8C66}" destId="{C9238243-F30A-4334-839E-B33C1B4A3F5D}" srcOrd="0" destOrd="0" presId="urn:microsoft.com/office/officeart/2018/2/layout/IconVerticalSolidList"/>
    <dgm:cxn modelId="{064788F9-7C77-4A50-8A2E-66D2CEDE126A}" type="presParOf" srcId="{C9238243-F30A-4334-839E-B33C1B4A3F5D}" destId="{313E9615-9C92-4A87-81C5-F9670847F950}" srcOrd="0" destOrd="0" presId="urn:microsoft.com/office/officeart/2018/2/layout/IconVerticalSolidList"/>
    <dgm:cxn modelId="{96766C3E-DF8A-4657-9E22-4FAC40A6A6DD}" type="presParOf" srcId="{C9238243-F30A-4334-839E-B33C1B4A3F5D}" destId="{42A82636-B897-49C9-AD91-C6843660ABA4}" srcOrd="1" destOrd="0" presId="urn:microsoft.com/office/officeart/2018/2/layout/IconVerticalSolidList"/>
    <dgm:cxn modelId="{FE6F2A74-0463-47A5-A47F-E1A1EBBE8C03}" type="presParOf" srcId="{C9238243-F30A-4334-839E-B33C1B4A3F5D}" destId="{E1AED767-4A62-40D7-A0BE-E6ECEA2C72B7}" srcOrd="2" destOrd="0" presId="urn:microsoft.com/office/officeart/2018/2/layout/IconVerticalSolidList"/>
    <dgm:cxn modelId="{65959660-3721-4354-8AAD-57AE71F033E1}" type="presParOf" srcId="{C9238243-F30A-4334-839E-B33C1B4A3F5D}" destId="{0AF881B3-FBE0-4F35-82AB-7AFCEB3A3EF7}" srcOrd="3" destOrd="0" presId="urn:microsoft.com/office/officeart/2018/2/layout/IconVerticalSolidList"/>
    <dgm:cxn modelId="{FEDB761C-3DB3-4D8E-BF4F-A9FBBF397110}" type="presParOf" srcId="{1C16DEC8-5E78-49D0-A7C2-28643DBF8C66}" destId="{D0277459-CE3D-4755-9282-982E0CAACC1D}" srcOrd="1" destOrd="0" presId="urn:microsoft.com/office/officeart/2018/2/layout/IconVerticalSolidList"/>
    <dgm:cxn modelId="{FF113AB5-7461-4873-A164-A320ACFADE5B}" type="presParOf" srcId="{1C16DEC8-5E78-49D0-A7C2-28643DBF8C66}" destId="{0D9C41D3-930B-4331-A4D7-414459FFB1E5}" srcOrd="2" destOrd="0" presId="urn:microsoft.com/office/officeart/2018/2/layout/IconVerticalSolidList"/>
    <dgm:cxn modelId="{052EB5E4-16EC-47AF-B4F4-0BD3CA1D62CC}" type="presParOf" srcId="{0D9C41D3-930B-4331-A4D7-414459FFB1E5}" destId="{4C8CB1B0-5C6A-4D35-9CA9-B3E90997A8D0}" srcOrd="0" destOrd="0" presId="urn:microsoft.com/office/officeart/2018/2/layout/IconVerticalSolidList"/>
    <dgm:cxn modelId="{F47027E4-6813-4336-9956-AEB4475AF0A2}" type="presParOf" srcId="{0D9C41D3-930B-4331-A4D7-414459FFB1E5}" destId="{CE699762-22A3-4C40-B7F0-E1FB7D28834D}" srcOrd="1" destOrd="0" presId="urn:microsoft.com/office/officeart/2018/2/layout/IconVerticalSolidList"/>
    <dgm:cxn modelId="{FDC72C3A-A6F8-4319-92FD-BB92A5F578FB}" type="presParOf" srcId="{0D9C41D3-930B-4331-A4D7-414459FFB1E5}" destId="{46AB1782-F363-40C2-960C-3D62A78AE7D0}" srcOrd="2" destOrd="0" presId="urn:microsoft.com/office/officeart/2018/2/layout/IconVerticalSolidList"/>
    <dgm:cxn modelId="{7873AED0-6B02-45BF-9511-61470E9EB742}" type="presParOf" srcId="{0D9C41D3-930B-4331-A4D7-414459FFB1E5}" destId="{286D76C7-C043-462B-AEB6-7B86D9CD7981}" srcOrd="3" destOrd="0" presId="urn:microsoft.com/office/officeart/2018/2/layout/IconVerticalSolidList"/>
    <dgm:cxn modelId="{E7E7ED5B-D375-42B3-91FD-B41386F55BFF}" type="presParOf" srcId="{1C16DEC8-5E78-49D0-A7C2-28643DBF8C66}" destId="{8FD40E58-E864-44F0-B6E8-0C3D793CAFAD}" srcOrd="3" destOrd="0" presId="urn:microsoft.com/office/officeart/2018/2/layout/IconVerticalSolidList"/>
    <dgm:cxn modelId="{B2CAC328-E289-48E4-B5AB-9CC427D435AE}" type="presParOf" srcId="{1C16DEC8-5E78-49D0-A7C2-28643DBF8C66}" destId="{BC6DE83A-B041-41DC-8C64-E52161097181}" srcOrd="4" destOrd="0" presId="urn:microsoft.com/office/officeart/2018/2/layout/IconVerticalSolidList"/>
    <dgm:cxn modelId="{A909377A-66FC-4201-B808-03E06E294008}" type="presParOf" srcId="{BC6DE83A-B041-41DC-8C64-E52161097181}" destId="{B59710B0-A998-4F3F-AC8E-4237459C3720}" srcOrd="0" destOrd="0" presId="urn:microsoft.com/office/officeart/2018/2/layout/IconVerticalSolidList"/>
    <dgm:cxn modelId="{394E6036-B6C1-4E5F-828A-5024AEB4E448}" type="presParOf" srcId="{BC6DE83A-B041-41DC-8C64-E52161097181}" destId="{6D552F37-96C6-4ABE-94A4-69F2EDB371B7}" srcOrd="1" destOrd="0" presId="urn:microsoft.com/office/officeart/2018/2/layout/IconVerticalSolidList"/>
    <dgm:cxn modelId="{04FFB2D1-B44D-4951-9155-4E155E4776BB}" type="presParOf" srcId="{BC6DE83A-B041-41DC-8C64-E52161097181}" destId="{AFE0DD9E-DBEE-4FE1-B95E-879053B2E8AD}" srcOrd="2" destOrd="0" presId="urn:microsoft.com/office/officeart/2018/2/layout/IconVerticalSolidList"/>
    <dgm:cxn modelId="{F5BCD0B1-1C7D-4467-9429-17D8C23AAF31}" type="presParOf" srcId="{BC6DE83A-B041-41DC-8C64-E52161097181}" destId="{EFDD131F-38AA-4F46-8AD6-7769EC6898C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BA5634-FB31-488D-AA67-7FF4B1D51086}" type="doc">
      <dgm:prSet loTypeId="urn:microsoft.com/office/officeart/2018/2/layout/IconVerticalSolidList" loCatId="icon" qsTypeId="urn:microsoft.com/office/officeart/2005/8/quickstyle/3d3" qsCatId="3D" csTypeId="urn:microsoft.com/office/officeart/2005/8/colors/accent1_2" csCatId="accent1" phldr="1"/>
      <dgm:spPr/>
      <dgm:t>
        <a:bodyPr/>
        <a:lstStyle/>
        <a:p>
          <a:endParaRPr lang="en-US"/>
        </a:p>
      </dgm:t>
    </dgm:pt>
    <dgm:pt modelId="{D7E3B697-3C90-4D10-BB94-E19FF7919055}">
      <dgm:prSet/>
      <dgm:spPr/>
      <dgm:t>
        <a:bodyPr/>
        <a:lstStyle/>
        <a:p>
          <a:pPr>
            <a:lnSpc>
              <a:spcPct val="100000"/>
            </a:lnSpc>
          </a:pPr>
          <a:r>
            <a:rPr lang="en-GB" b="0" baseline="0" dirty="0"/>
            <a:t>Sets frequency action potentials are generated</a:t>
          </a:r>
          <a:endParaRPr lang="en-US" dirty="0"/>
        </a:p>
      </dgm:t>
    </dgm:pt>
    <dgm:pt modelId="{7DEE4ED4-5021-4BB0-82EA-03ABEE1337EE}" type="parTrans" cxnId="{03D9BAB9-32C2-4273-929A-57A3969ACEF3}">
      <dgm:prSet/>
      <dgm:spPr/>
      <dgm:t>
        <a:bodyPr/>
        <a:lstStyle/>
        <a:p>
          <a:endParaRPr lang="en-US"/>
        </a:p>
      </dgm:t>
    </dgm:pt>
    <dgm:pt modelId="{74CC22AF-0A9B-49CD-8E18-70F11DFDF8E0}" type="sibTrans" cxnId="{03D9BAB9-32C2-4273-929A-57A3969ACEF3}">
      <dgm:prSet/>
      <dgm:spPr/>
      <dgm:t>
        <a:bodyPr/>
        <a:lstStyle/>
        <a:p>
          <a:endParaRPr lang="en-US"/>
        </a:p>
      </dgm:t>
    </dgm:pt>
    <dgm:pt modelId="{C8201462-3000-4109-84B3-7166E6525BD5}">
      <dgm:prSet/>
      <dgm:spPr/>
      <dgm:t>
        <a:bodyPr/>
        <a:lstStyle/>
        <a:p>
          <a:pPr>
            <a:lnSpc>
              <a:spcPct val="100000"/>
            </a:lnSpc>
          </a:pPr>
          <a:r>
            <a:rPr lang="en-GB" b="0" baseline="0"/>
            <a:t>Limits rate signals can be transmitted</a:t>
          </a:r>
          <a:endParaRPr lang="en-US"/>
        </a:p>
      </dgm:t>
    </dgm:pt>
    <dgm:pt modelId="{F4B3830A-E627-4598-AAA5-A9C007C875DE}" type="parTrans" cxnId="{AF6E61EB-BB56-44CD-B7DF-E8A77BC45D76}">
      <dgm:prSet/>
      <dgm:spPr/>
      <dgm:t>
        <a:bodyPr/>
        <a:lstStyle/>
        <a:p>
          <a:endParaRPr lang="en-US"/>
        </a:p>
      </dgm:t>
    </dgm:pt>
    <dgm:pt modelId="{24AFE0C0-5A15-4602-9446-FF2F893BC64A}" type="sibTrans" cxnId="{AF6E61EB-BB56-44CD-B7DF-E8A77BC45D76}">
      <dgm:prSet/>
      <dgm:spPr/>
      <dgm:t>
        <a:bodyPr/>
        <a:lstStyle/>
        <a:p>
          <a:endParaRPr lang="en-US"/>
        </a:p>
      </dgm:t>
    </dgm:pt>
    <dgm:pt modelId="{321F8731-9AEB-46DA-AE40-2271F70533E6}">
      <dgm:prSet/>
      <dgm:spPr/>
      <dgm:t>
        <a:bodyPr/>
        <a:lstStyle/>
        <a:p>
          <a:pPr>
            <a:lnSpc>
              <a:spcPct val="100000"/>
            </a:lnSpc>
          </a:pPr>
          <a:r>
            <a:rPr lang="en-GB" b="0" baseline="0" dirty="0"/>
            <a:t>Ensures one way travel of action potential</a:t>
          </a:r>
          <a:endParaRPr lang="en-US" dirty="0"/>
        </a:p>
      </dgm:t>
    </dgm:pt>
    <dgm:pt modelId="{79AA6A9D-03BE-4FD5-823E-A89127120465}" type="parTrans" cxnId="{A3C2A3F7-777D-479A-B486-A9B0D2597BAF}">
      <dgm:prSet/>
      <dgm:spPr/>
      <dgm:t>
        <a:bodyPr/>
        <a:lstStyle/>
        <a:p>
          <a:endParaRPr lang="en-US"/>
        </a:p>
      </dgm:t>
    </dgm:pt>
    <dgm:pt modelId="{4E5639CA-F229-4166-B9A5-FE78ED53BB9F}" type="sibTrans" cxnId="{A3C2A3F7-777D-479A-B486-A9B0D2597BAF}">
      <dgm:prSet/>
      <dgm:spPr/>
      <dgm:t>
        <a:bodyPr/>
        <a:lstStyle/>
        <a:p>
          <a:endParaRPr lang="en-US"/>
        </a:p>
      </dgm:t>
    </dgm:pt>
    <dgm:pt modelId="{668DD904-8E7E-42D5-90C9-26F4ED750814}" type="pres">
      <dgm:prSet presAssocID="{E5BA5634-FB31-488D-AA67-7FF4B1D51086}" presName="root" presStyleCnt="0">
        <dgm:presLayoutVars>
          <dgm:dir/>
          <dgm:resizeHandles val="exact"/>
        </dgm:presLayoutVars>
      </dgm:prSet>
      <dgm:spPr/>
    </dgm:pt>
    <dgm:pt modelId="{B83BD8CE-5CDF-4FBC-82DF-9DCAE30849E5}" type="pres">
      <dgm:prSet presAssocID="{D7E3B697-3C90-4D10-BB94-E19FF7919055}" presName="compNode" presStyleCnt="0"/>
      <dgm:spPr/>
    </dgm:pt>
    <dgm:pt modelId="{DC1E7C56-0F47-4AD0-81C6-213B2D63E209}" type="pres">
      <dgm:prSet presAssocID="{D7E3B697-3C90-4D10-BB94-E19FF7919055}" presName="bgRect" presStyleLbl="bgShp" presStyleIdx="0" presStyleCnt="3"/>
      <dgm:spPr/>
    </dgm:pt>
    <dgm:pt modelId="{B38DFA4D-1F38-4935-B1F1-5CB0DEF7EB7B}" type="pres">
      <dgm:prSet presAssocID="{D7E3B697-3C90-4D10-BB94-E19FF7919055}" presName="iconRect" presStyleLbl="node1" presStyleIdx="0" presStyleCnt="3" custScaleX="131548" custScaleY="128523"/>
      <dgm:spPr>
        <a:blipFill>
          <a:blip xmlns:r="http://schemas.openxmlformats.org/officeDocument/2006/relationships" r:embed="rId1">
            <a:extLst>
              <a:ext uri="{837473B0-CC2E-450A-ABE3-18F120FF3D39}">
                <a1611:picAttrSrcUrl xmlns:a1611="http://schemas.microsoft.com/office/drawing/2016/11/main" r:id="rId2"/>
              </a:ext>
            </a:extLst>
          </a:blip>
          <a:srcRect/>
          <a:stretch>
            <a:fillRect l="-18000" r="-18000"/>
          </a:stretch>
        </a:blipFill>
      </dgm:spPr>
    </dgm:pt>
    <dgm:pt modelId="{C7DB5519-A81D-4239-A1BB-EC6173E3F3C2}" type="pres">
      <dgm:prSet presAssocID="{D7E3B697-3C90-4D10-BB94-E19FF7919055}" presName="spaceRect" presStyleCnt="0"/>
      <dgm:spPr/>
    </dgm:pt>
    <dgm:pt modelId="{B73B5EF6-D822-408A-8083-0C61F6DC0446}" type="pres">
      <dgm:prSet presAssocID="{D7E3B697-3C90-4D10-BB94-E19FF7919055}" presName="parTx" presStyleLbl="revTx" presStyleIdx="0" presStyleCnt="3">
        <dgm:presLayoutVars>
          <dgm:chMax val="0"/>
          <dgm:chPref val="0"/>
        </dgm:presLayoutVars>
      </dgm:prSet>
      <dgm:spPr/>
    </dgm:pt>
    <dgm:pt modelId="{B3479469-3646-41E8-893D-2F9100E9044B}" type="pres">
      <dgm:prSet presAssocID="{74CC22AF-0A9B-49CD-8E18-70F11DFDF8E0}" presName="sibTrans" presStyleCnt="0"/>
      <dgm:spPr/>
    </dgm:pt>
    <dgm:pt modelId="{7D892509-C9B1-4C3C-B435-1EDF10795141}" type="pres">
      <dgm:prSet presAssocID="{C8201462-3000-4109-84B3-7166E6525BD5}" presName="compNode" presStyleCnt="0"/>
      <dgm:spPr/>
    </dgm:pt>
    <dgm:pt modelId="{ECA8E1EF-9D15-4965-93F5-83626E5B0372}" type="pres">
      <dgm:prSet presAssocID="{C8201462-3000-4109-84B3-7166E6525BD5}" presName="bgRect" presStyleLbl="bgShp" presStyleIdx="1" presStyleCnt="3"/>
      <dgm:spPr/>
    </dgm:pt>
    <dgm:pt modelId="{7053B821-57D1-47EC-984B-51AB5E11455A}" type="pres">
      <dgm:prSet presAssocID="{C8201462-3000-4109-84B3-7166E6525BD5}" presName="iconRect" presStyleLbl="node1" presStyleIdx="1" presStyleCnt="3" custScaleX="131548" custScaleY="128523"/>
      <dgm:spPr>
        <a:blipFill>
          <a:blip xmlns:r="http://schemas.openxmlformats.org/officeDocument/2006/relationships" r:embed="rId3">
            <a:extLst>
              <a:ext uri="{837473B0-CC2E-450A-ABE3-18F120FF3D39}">
                <a1611:picAttrSrcUrl xmlns:a1611="http://schemas.microsoft.com/office/drawing/2016/11/main" r:id="rId4"/>
              </a:ext>
            </a:extLst>
          </a:blip>
          <a:srcRect/>
          <a:stretch>
            <a:fillRect l="-48000" r="-48000"/>
          </a:stretch>
        </a:blipFill>
      </dgm:spPr>
    </dgm:pt>
    <dgm:pt modelId="{21942D10-B916-459C-BFF4-EC1E13548C14}" type="pres">
      <dgm:prSet presAssocID="{C8201462-3000-4109-84B3-7166E6525BD5}" presName="spaceRect" presStyleCnt="0"/>
      <dgm:spPr/>
    </dgm:pt>
    <dgm:pt modelId="{A585C97A-BA27-4FF7-B824-A2A39DA6E0F2}" type="pres">
      <dgm:prSet presAssocID="{C8201462-3000-4109-84B3-7166E6525BD5}" presName="parTx" presStyleLbl="revTx" presStyleIdx="1" presStyleCnt="3">
        <dgm:presLayoutVars>
          <dgm:chMax val="0"/>
          <dgm:chPref val="0"/>
        </dgm:presLayoutVars>
      </dgm:prSet>
      <dgm:spPr/>
    </dgm:pt>
    <dgm:pt modelId="{3E2C604B-5193-43D9-8D06-A2D39FC2E2A0}" type="pres">
      <dgm:prSet presAssocID="{24AFE0C0-5A15-4602-9446-FF2F893BC64A}" presName="sibTrans" presStyleCnt="0"/>
      <dgm:spPr/>
    </dgm:pt>
    <dgm:pt modelId="{78D436E0-0278-48B4-83DC-1BB7C6BC2663}" type="pres">
      <dgm:prSet presAssocID="{321F8731-9AEB-46DA-AE40-2271F70533E6}" presName="compNode" presStyleCnt="0"/>
      <dgm:spPr/>
    </dgm:pt>
    <dgm:pt modelId="{455CB88E-C74E-49D8-B90B-E66072F64701}" type="pres">
      <dgm:prSet presAssocID="{321F8731-9AEB-46DA-AE40-2271F70533E6}" presName="bgRect" presStyleLbl="bgShp" presStyleIdx="2" presStyleCnt="3"/>
      <dgm:spPr/>
    </dgm:pt>
    <dgm:pt modelId="{A15392E2-451A-46F6-B4E5-09790FD6DA99}" type="pres">
      <dgm:prSet presAssocID="{321F8731-9AEB-46DA-AE40-2271F70533E6}" presName="iconRect" presStyleLbl="node1" presStyleIdx="2" presStyleCnt="3" custScaleX="131548" custScaleY="128523"/>
      <dgm:spPr>
        <a:blipFill>
          <a:blip xmlns:r="http://schemas.openxmlformats.org/officeDocument/2006/relationships"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l="-50000" r="-50000"/>
          </a:stretch>
        </a:blipFill>
      </dgm:spPr>
    </dgm:pt>
    <dgm:pt modelId="{BFC9B217-868E-4C30-BE30-7630662B91E4}" type="pres">
      <dgm:prSet presAssocID="{321F8731-9AEB-46DA-AE40-2271F70533E6}" presName="spaceRect" presStyleCnt="0"/>
      <dgm:spPr/>
    </dgm:pt>
    <dgm:pt modelId="{B8D52943-2119-4B86-8C97-346576337915}" type="pres">
      <dgm:prSet presAssocID="{321F8731-9AEB-46DA-AE40-2271F70533E6}" presName="parTx" presStyleLbl="revTx" presStyleIdx="2" presStyleCnt="3">
        <dgm:presLayoutVars>
          <dgm:chMax val="0"/>
          <dgm:chPref val="0"/>
        </dgm:presLayoutVars>
      </dgm:prSet>
      <dgm:spPr/>
    </dgm:pt>
  </dgm:ptLst>
  <dgm:cxnLst>
    <dgm:cxn modelId="{7A85265C-896E-48F3-B3E9-493B122FB1FB}" type="presOf" srcId="{E5BA5634-FB31-488D-AA67-7FF4B1D51086}" destId="{668DD904-8E7E-42D5-90C9-26F4ED750814}" srcOrd="0" destOrd="0" presId="urn:microsoft.com/office/officeart/2018/2/layout/IconVerticalSolidList"/>
    <dgm:cxn modelId="{BFE7BE70-1A3E-4380-900B-A100844E5751}" type="presOf" srcId="{321F8731-9AEB-46DA-AE40-2271F70533E6}" destId="{B8D52943-2119-4B86-8C97-346576337915}" srcOrd="0" destOrd="0" presId="urn:microsoft.com/office/officeart/2018/2/layout/IconVerticalSolidList"/>
    <dgm:cxn modelId="{03D9BAB9-32C2-4273-929A-57A3969ACEF3}" srcId="{E5BA5634-FB31-488D-AA67-7FF4B1D51086}" destId="{D7E3B697-3C90-4D10-BB94-E19FF7919055}" srcOrd="0" destOrd="0" parTransId="{7DEE4ED4-5021-4BB0-82EA-03ABEE1337EE}" sibTransId="{74CC22AF-0A9B-49CD-8E18-70F11DFDF8E0}"/>
    <dgm:cxn modelId="{AF6E61EB-BB56-44CD-B7DF-E8A77BC45D76}" srcId="{E5BA5634-FB31-488D-AA67-7FF4B1D51086}" destId="{C8201462-3000-4109-84B3-7166E6525BD5}" srcOrd="1" destOrd="0" parTransId="{F4B3830A-E627-4598-AAA5-A9C007C875DE}" sibTransId="{24AFE0C0-5A15-4602-9446-FF2F893BC64A}"/>
    <dgm:cxn modelId="{D7AB23F0-CFFA-44E1-9CFD-930551D81733}" type="presOf" srcId="{C8201462-3000-4109-84B3-7166E6525BD5}" destId="{A585C97A-BA27-4FF7-B824-A2A39DA6E0F2}" srcOrd="0" destOrd="0" presId="urn:microsoft.com/office/officeart/2018/2/layout/IconVerticalSolidList"/>
    <dgm:cxn modelId="{87798AF7-6AA9-4CF0-800C-34482EA351F4}" type="presOf" srcId="{D7E3B697-3C90-4D10-BB94-E19FF7919055}" destId="{B73B5EF6-D822-408A-8083-0C61F6DC0446}" srcOrd="0" destOrd="0" presId="urn:microsoft.com/office/officeart/2018/2/layout/IconVerticalSolidList"/>
    <dgm:cxn modelId="{A3C2A3F7-777D-479A-B486-A9B0D2597BAF}" srcId="{E5BA5634-FB31-488D-AA67-7FF4B1D51086}" destId="{321F8731-9AEB-46DA-AE40-2271F70533E6}" srcOrd="2" destOrd="0" parTransId="{79AA6A9D-03BE-4FD5-823E-A89127120465}" sibTransId="{4E5639CA-F229-4166-B9A5-FE78ED53BB9F}"/>
    <dgm:cxn modelId="{643BD422-17C6-4F8D-8BDF-0EFFEC11EF45}" type="presParOf" srcId="{668DD904-8E7E-42D5-90C9-26F4ED750814}" destId="{B83BD8CE-5CDF-4FBC-82DF-9DCAE30849E5}" srcOrd="0" destOrd="0" presId="urn:microsoft.com/office/officeart/2018/2/layout/IconVerticalSolidList"/>
    <dgm:cxn modelId="{FE9227C4-180B-47FA-830B-165704CED43C}" type="presParOf" srcId="{B83BD8CE-5CDF-4FBC-82DF-9DCAE30849E5}" destId="{DC1E7C56-0F47-4AD0-81C6-213B2D63E209}" srcOrd="0" destOrd="0" presId="urn:microsoft.com/office/officeart/2018/2/layout/IconVerticalSolidList"/>
    <dgm:cxn modelId="{2A415344-3A1F-4677-8F53-94039F8AC38F}" type="presParOf" srcId="{B83BD8CE-5CDF-4FBC-82DF-9DCAE30849E5}" destId="{B38DFA4D-1F38-4935-B1F1-5CB0DEF7EB7B}" srcOrd="1" destOrd="0" presId="urn:microsoft.com/office/officeart/2018/2/layout/IconVerticalSolidList"/>
    <dgm:cxn modelId="{BDCBFA29-E77C-48D7-8424-CA25BBFF3C02}" type="presParOf" srcId="{B83BD8CE-5CDF-4FBC-82DF-9DCAE30849E5}" destId="{C7DB5519-A81D-4239-A1BB-EC6173E3F3C2}" srcOrd="2" destOrd="0" presId="urn:microsoft.com/office/officeart/2018/2/layout/IconVerticalSolidList"/>
    <dgm:cxn modelId="{13DE2A84-5AB3-4B17-BF87-95DB9C95D3A0}" type="presParOf" srcId="{B83BD8CE-5CDF-4FBC-82DF-9DCAE30849E5}" destId="{B73B5EF6-D822-408A-8083-0C61F6DC0446}" srcOrd="3" destOrd="0" presId="urn:microsoft.com/office/officeart/2018/2/layout/IconVerticalSolidList"/>
    <dgm:cxn modelId="{106AC455-7E20-4724-BA5B-68EF0ED8F3D5}" type="presParOf" srcId="{668DD904-8E7E-42D5-90C9-26F4ED750814}" destId="{B3479469-3646-41E8-893D-2F9100E9044B}" srcOrd="1" destOrd="0" presId="urn:microsoft.com/office/officeart/2018/2/layout/IconVerticalSolidList"/>
    <dgm:cxn modelId="{E2049463-7551-4ED4-8EF7-7AF0987ABBAA}" type="presParOf" srcId="{668DD904-8E7E-42D5-90C9-26F4ED750814}" destId="{7D892509-C9B1-4C3C-B435-1EDF10795141}" srcOrd="2" destOrd="0" presId="urn:microsoft.com/office/officeart/2018/2/layout/IconVerticalSolidList"/>
    <dgm:cxn modelId="{1A895550-D4BC-4EFC-AA93-E519B91E99B8}" type="presParOf" srcId="{7D892509-C9B1-4C3C-B435-1EDF10795141}" destId="{ECA8E1EF-9D15-4965-93F5-83626E5B0372}" srcOrd="0" destOrd="0" presId="urn:microsoft.com/office/officeart/2018/2/layout/IconVerticalSolidList"/>
    <dgm:cxn modelId="{C9D20242-AA3F-49F0-9F22-47DBF9CA5202}" type="presParOf" srcId="{7D892509-C9B1-4C3C-B435-1EDF10795141}" destId="{7053B821-57D1-47EC-984B-51AB5E11455A}" srcOrd="1" destOrd="0" presId="urn:microsoft.com/office/officeart/2018/2/layout/IconVerticalSolidList"/>
    <dgm:cxn modelId="{7E85D77B-376C-4B79-A1EF-D74CAF129E41}" type="presParOf" srcId="{7D892509-C9B1-4C3C-B435-1EDF10795141}" destId="{21942D10-B916-459C-BFF4-EC1E13548C14}" srcOrd="2" destOrd="0" presId="urn:microsoft.com/office/officeart/2018/2/layout/IconVerticalSolidList"/>
    <dgm:cxn modelId="{735E32CD-AC49-4EAD-ACAB-F7B4050FB450}" type="presParOf" srcId="{7D892509-C9B1-4C3C-B435-1EDF10795141}" destId="{A585C97A-BA27-4FF7-B824-A2A39DA6E0F2}" srcOrd="3" destOrd="0" presId="urn:microsoft.com/office/officeart/2018/2/layout/IconVerticalSolidList"/>
    <dgm:cxn modelId="{F60D54EB-FD05-461C-B053-F680A7C958C5}" type="presParOf" srcId="{668DD904-8E7E-42D5-90C9-26F4ED750814}" destId="{3E2C604B-5193-43D9-8D06-A2D39FC2E2A0}" srcOrd="3" destOrd="0" presId="urn:microsoft.com/office/officeart/2018/2/layout/IconVerticalSolidList"/>
    <dgm:cxn modelId="{AA4F4B9A-0825-4046-8B57-A5100275F77D}" type="presParOf" srcId="{668DD904-8E7E-42D5-90C9-26F4ED750814}" destId="{78D436E0-0278-48B4-83DC-1BB7C6BC2663}" srcOrd="4" destOrd="0" presId="urn:microsoft.com/office/officeart/2018/2/layout/IconVerticalSolidList"/>
    <dgm:cxn modelId="{D5FB58A3-EA4D-4195-A52A-B3ECEA4767DF}" type="presParOf" srcId="{78D436E0-0278-48B4-83DC-1BB7C6BC2663}" destId="{455CB88E-C74E-49D8-B90B-E66072F64701}" srcOrd="0" destOrd="0" presId="urn:microsoft.com/office/officeart/2018/2/layout/IconVerticalSolidList"/>
    <dgm:cxn modelId="{F5366BA8-EADA-43FE-9AE8-E956605F67C4}" type="presParOf" srcId="{78D436E0-0278-48B4-83DC-1BB7C6BC2663}" destId="{A15392E2-451A-46F6-B4E5-09790FD6DA99}" srcOrd="1" destOrd="0" presId="urn:microsoft.com/office/officeart/2018/2/layout/IconVerticalSolidList"/>
    <dgm:cxn modelId="{AEF67B92-DE20-4029-B1BD-84993E0AF23B}" type="presParOf" srcId="{78D436E0-0278-48B4-83DC-1BB7C6BC2663}" destId="{BFC9B217-868E-4C30-BE30-7630662B91E4}" srcOrd="2" destOrd="0" presId="urn:microsoft.com/office/officeart/2018/2/layout/IconVerticalSolidList"/>
    <dgm:cxn modelId="{26E2D6F8-EF66-4AE5-B74F-996460992B5C}" type="presParOf" srcId="{78D436E0-0278-48B4-83DC-1BB7C6BC2663}" destId="{B8D52943-2119-4B86-8C97-34657633791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E3F23C-60DE-4625-94EA-5BE3956CAB23}">
      <dsp:nvSpPr>
        <dsp:cNvPr id="0" name=""/>
        <dsp:cNvSpPr/>
      </dsp:nvSpPr>
      <dsp:spPr>
        <a:xfrm>
          <a:off x="0" y="0"/>
          <a:ext cx="5984748" cy="531419"/>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baseline="0" dirty="0"/>
            <a:t>What excitable cells are (specially neurons) and how do they communicate</a:t>
          </a:r>
          <a:endParaRPr lang="en-US" sz="1300" kern="1200" dirty="0"/>
        </a:p>
      </dsp:txBody>
      <dsp:txXfrm>
        <a:off x="15565" y="15565"/>
        <a:ext cx="5349128" cy="500289"/>
      </dsp:txXfrm>
    </dsp:sp>
    <dsp:sp modelId="{AD043A38-BDAE-476F-8328-69896E3BF5BC}">
      <dsp:nvSpPr>
        <dsp:cNvPr id="0" name=""/>
        <dsp:cNvSpPr/>
      </dsp:nvSpPr>
      <dsp:spPr>
        <a:xfrm>
          <a:off x="446913" y="605227"/>
          <a:ext cx="5984748" cy="531419"/>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baseline="0" dirty="0"/>
            <a:t>Concept of Ionic concentration gradients &amp; Electrochemical gradient across cells and how they are maintained</a:t>
          </a:r>
          <a:endParaRPr lang="en-US" sz="1300" kern="1200" dirty="0"/>
        </a:p>
      </dsp:txBody>
      <dsp:txXfrm>
        <a:off x="462478" y="620792"/>
        <a:ext cx="5161282" cy="500289"/>
      </dsp:txXfrm>
    </dsp:sp>
    <dsp:sp modelId="{440F9CD6-8C99-422E-A617-EE4CDBA92311}">
      <dsp:nvSpPr>
        <dsp:cNvPr id="0" name=""/>
        <dsp:cNvSpPr/>
      </dsp:nvSpPr>
      <dsp:spPr>
        <a:xfrm>
          <a:off x="893826" y="1210454"/>
          <a:ext cx="5984748" cy="531419"/>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baseline="0" dirty="0"/>
            <a:t>Equilibrium potentials </a:t>
          </a:r>
          <a:r>
            <a:rPr lang="en-GB" sz="1300" b="0" kern="1200" baseline="0" dirty="0"/>
            <a:t>and how they are achieved</a:t>
          </a:r>
          <a:endParaRPr lang="en-US" sz="1300" kern="1200" dirty="0"/>
        </a:p>
      </dsp:txBody>
      <dsp:txXfrm>
        <a:off x="909391" y="1226019"/>
        <a:ext cx="5161282" cy="500289"/>
      </dsp:txXfrm>
    </dsp:sp>
    <dsp:sp modelId="{13A7C3A2-62CD-4850-850F-2B697D211E5E}">
      <dsp:nvSpPr>
        <dsp:cNvPr id="0" name=""/>
        <dsp:cNvSpPr/>
      </dsp:nvSpPr>
      <dsp:spPr>
        <a:xfrm>
          <a:off x="1340739" y="1815681"/>
          <a:ext cx="5984748" cy="531419"/>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baseline="0" dirty="0"/>
            <a:t>Resting membrane potential </a:t>
          </a:r>
          <a:r>
            <a:rPr lang="en-GB" sz="1300" b="0" kern="1200" baseline="0" dirty="0"/>
            <a:t>and how it is achieved</a:t>
          </a:r>
          <a:endParaRPr lang="en-US" sz="1300" kern="1200" dirty="0"/>
        </a:p>
      </dsp:txBody>
      <dsp:txXfrm>
        <a:off x="1356304" y="1831246"/>
        <a:ext cx="5161282" cy="500289"/>
      </dsp:txXfrm>
    </dsp:sp>
    <dsp:sp modelId="{DB408A67-1E73-44FC-A018-9D5041B3FE83}">
      <dsp:nvSpPr>
        <dsp:cNvPr id="0" name=""/>
        <dsp:cNvSpPr/>
      </dsp:nvSpPr>
      <dsp:spPr>
        <a:xfrm>
          <a:off x="1787652" y="2420908"/>
          <a:ext cx="5984748" cy="531419"/>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0" kern="1200" baseline="0"/>
            <a:t>Impact of extracellular ion concentration changes</a:t>
          </a:r>
          <a:endParaRPr lang="en-US" sz="1300" kern="1200"/>
        </a:p>
      </dsp:txBody>
      <dsp:txXfrm>
        <a:off x="1803217" y="2436473"/>
        <a:ext cx="5161282" cy="500289"/>
      </dsp:txXfrm>
    </dsp:sp>
    <dsp:sp modelId="{208F7B66-D4F7-4A1A-AE2D-78BF9BABA443}">
      <dsp:nvSpPr>
        <dsp:cNvPr id="0" name=""/>
        <dsp:cNvSpPr/>
      </dsp:nvSpPr>
      <dsp:spPr>
        <a:xfrm>
          <a:off x="5639325" y="388231"/>
          <a:ext cx="345422" cy="345422"/>
        </a:xfrm>
        <a:prstGeom prst="downArrow">
          <a:avLst>
            <a:gd name="adj1" fmla="val 55000"/>
            <a:gd name="adj2" fmla="val 45000"/>
          </a:avLst>
        </a:prstGeom>
        <a:solidFill>
          <a:schemeClr val="accent1">
            <a:lumMod val="90000"/>
            <a:alpha val="90000"/>
          </a:schemeClr>
        </a:solidFill>
        <a:ln w="9525" cap="flat" cmpd="sng" algn="ctr">
          <a:solidFill>
            <a:schemeClr val="tx2">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717045" y="388231"/>
        <a:ext cx="189982" cy="259930"/>
      </dsp:txXfrm>
    </dsp:sp>
    <dsp:sp modelId="{50F4609A-1D66-497A-AB87-F99DBE194808}">
      <dsp:nvSpPr>
        <dsp:cNvPr id="0" name=""/>
        <dsp:cNvSpPr/>
      </dsp:nvSpPr>
      <dsp:spPr>
        <a:xfrm>
          <a:off x="6086238" y="993458"/>
          <a:ext cx="345422" cy="345422"/>
        </a:xfrm>
        <a:prstGeom prst="downArrow">
          <a:avLst>
            <a:gd name="adj1" fmla="val 55000"/>
            <a:gd name="adj2" fmla="val 45000"/>
          </a:avLst>
        </a:prstGeom>
        <a:solidFill>
          <a:schemeClr val="accent1">
            <a:lumMod val="90000"/>
            <a:alpha val="90000"/>
          </a:schemeClr>
        </a:solidFill>
        <a:ln w="9525" cap="flat" cmpd="sng" algn="ctr">
          <a:solidFill>
            <a:schemeClr val="tx2">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163958" y="993458"/>
        <a:ext cx="189982" cy="259930"/>
      </dsp:txXfrm>
    </dsp:sp>
    <dsp:sp modelId="{E9A5A883-05BE-45B3-A8D5-2F7210D80461}">
      <dsp:nvSpPr>
        <dsp:cNvPr id="0" name=""/>
        <dsp:cNvSpPr/>
      </dsp:nvSpPr>
      <dsp:spPr>
        <a:xfrm>
          <a:off x="6533151" y="1589828"/>
          <a:ext cx="345422" cy="345422"/>
        </a:xfrm>
        <a:prstGeom prst="downArrow">
          <a:avLst>
            <a:gd name="adj1" fmla="val 55000"/>
            <a:gd name="adj2" fmla="val 45000"/>
          </a:avLst>
        </a:prstGeom>
        <a:solidFill>
          <a:schemeClr val="accent1">
            <a:lumMod val="90000"/>
            <a:alpha val="90000"/>
          </a:schemeClr>
        </a:solidFill>
        <a:ln w="9525" cap="flat" cmpd="sng" algn="ctr">
          <a:solidFill>
            <a:schemeClr val="tx2">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610871" y="1589828"/>
        <a:ext cx="189982" cy="259930"/>
      </dsp:txXfrm>
    </dsp:sp>
    <dsp:sp modelId="{686E82DA-14B4-41B8-9234-581D880A8EE3}">
      <dsp:nvSpPr>
        <dsp:cNvPr id="0" name=""/>
        <dsp:cNvSpPr/>
      </dsp:nvSpPr>
      <dsp:spPr>
        <a:xfrm>
          <a:off x="6980064" y="2200960"/>
          <a:ext cx="345422" cy="345422"/>
        </a:xfrm>
        <a:prstGeom prst="downArrow">
          <a:avLst>
            <a:gd name="adj1" fmla="val 55000"/>
            <a:gd name="adj2" fmla="val 45000"/>
          </a:avLst>
        </a:prstGeom>
        <a:solidFill>
          <a:schemeClr val="accent1">
            <a:lumMod val="90000"/>
            <a:alpha val="90000"/>
          </a:schemeClr>
        </a:solidFill>
        <a:ln w="9525" cap="flat" cmpd="sng" algn="ctr">
          <a:solidFill>
            <a:schemeClr val="tx2">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7057784" y="2200960"/>
        <a:ext cx="189982" cy="259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3E9615-9C92-4A87-81C5-F9670847F950}">
      <dsp:nvSpPr>
        <dsp:cNvPr id="0" name=""/>
        <dsp:cNvSpPr/>
      </dsp:nvSpPr>
      <dsp:spPr>
        <a:xfrm>
          <a:off x="0" y="430"/>
          <a:ext cx="7632848" cy="1007865"/>
        </a:xfrm>
        <a:prstGeom prst="roundRect">
          <a:avLst>
            <a:gd name="adj" fmla="val 10000"/>
          </a:avLst>
        </a:prstGeom>
        <a:gradFill rotWithShape="0">
          <a:gsLst>
            <a:gs pos="0">
              <a:schemeClr val="accent1">
                <a:tint val="40000"/>
                <a:hueOff val="0"/>
                <a:satOff val="0"/>
                <a:lumOff val="0"/>
                <a:alphaOff val="0"/>
                <a:shade val="51000"/>
                <a:satMod val="130000"/>
              </a:schemeClr>
            </a:gs>
            <a:gs pos="80000">
              <a:schemeClr val="accent1">
                <a:tint val="40000"/>
                <a:hueOff val="0"/>
                <a:satOff val="0"/>
                <a:lumOff val="0"/>
                <a:alphaOff val="0"/>
                <a:shade val="93000"/>
                <a:satMod val="130000"/>
              </a:schemeClr>
            </a:gs>
            <a:gs pos="100000">
              <a:schemeClr val="accent1">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42A82636-B897-49C9-AD91-C6843660ABA4}">
      <dsp:nvSpPr>
        <dsp:cNvPr id="0" name=""/>
        <dsp:cNvSpPr/>
      </dsp:nvSpPr>
      <dsp:spPr>
        <a:xfrm>
          <a:off x="266004" y="186734"/>
          <a:ext cx="632076" cy="635257"/>
        </a:xfrm>
        <a:prstGeom prst="rect">
          <a:avLst/>
        </a:prstGeom>
        <a:blipFill>
          <a:blip xmlns:r="http://schemas.openxmlformats.org/officeDocument/2006/relationships" r:embed="rId1"/>
          <a:srcRect/>
          <a:stretch>
            <a:fillRect l="-17000" r="-17000"/>
          </a:stretch>
        </a:blip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AF881B3-FBE0-4F35-82AB-7AFCEB3A3EF7}">
      <dsp:nvSpPr>
        <dsp:cNvPr id="0" name=""/>
        <dsp:cNvSpPr/>
      </dsp:nvSpPr>
      <dsp:spPr>
        <a:xfrm>
          <a:off x="1164085" y="430"/>
          <a:ext cx="6468762" cy="1007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66" tIns="106666" rIns="106666" bIns="106666" numCol="1" spcCol="1270" anchor="ctr" anchorCtr="0">
          <a:noAutofit/>
        </a:bodyPr>
        <a:lstStyle/>
        <a:p>
          <a:pPr marL="0" lvl="0" indent="0" algn="l" defTabSz="711200">
            <a:lnSpc>
              <a:spcPct val="100000"/>
            </a:lnSpc>
            <a:spcBef>
              <a:spcPct val="0"/>
            </a:spcBef>
            <a:spcAft>
              <a:spcPct val="35000"/>
            </a:spcAft>
            <a:buNone/>
          </a:pPr>
          <a:r>
            <a:rPr lang="en-US" sz="1600" b="0" kern="1200" baseline="0" dirty="0"/>
            <a:t>Key aspect of </a:t>
          </a:r>
          <a:r>
            <a:rPr lang="en-US" sz="1600" b="0" kern="1200" baseline="0" dirty="0">
              <a:highlight>
                <a:srgbClr val="FFFF00"/>
              </a:highlight>
            </a:rPr>
            <a:t>cellular homeostasis and cell function </a:t>
          </a:r>
          <a:r>
            <a:rPr lang="en-US" sz="1600" b="0" kern="1200" baseline="0" dirty="0"/>
            <a:t>in electrically excitable tissue</a:t>
          </a:r>
          <a:endParaRPr lang="en-US" sz="1600" kern="1200" dirty="0"/>
        </a:p>
      </dsp:txBody>
      <dsp:txXfrm>
        <a:off x="1164085" y="430"/>
        <a:ext cx="6468762" cy="1007865"/>
      </dsp:txXfrm>
    </dsp:sp>
    <dsp:sp modelId="{4C8CB1B0-5C6A-4D35-9CA9-B3E90997A8D0}">
      <dsp:nvSpPr>
        <dsp:cNvPr id="0" name=""/>
        <dsp:cNvSpPr/>
      </dsp:nvSpPr>
      <dsp:spPr>
        <a:xfrm>
          <a:off x="0" y="1260263"/>
          <a:ext cx="7632848" cy="1007865"/>
        </a:xfrm>
        <a:prstGeom prst="roundRect">
          <a:avLst>
            <a:gd name="adj" fmla="val 10000"/>
          </a:avLst>
        </a:prstGeom>
        <a:gradFill rotWithShape="0">
          <a:gsLst>
            <a:gs pos="0">
              <a:schemeClr val="accent1">
                <a:tint val="40000"/>
                <a:hueOff val="0"/>
                <a:satOff val="0"/>
                <a:lumOff val="0"/>
                <a:alphaOff val="0"/>
                <a:shade val="51000"/>
                <a:satMod val="130000"/>
              </a:schemeClr>
            </a:gs>
            <a:gs pos="80000">
              <a:schemeClr val="accent1">
                <a:tint val="40000"/>
                <a:hueOff val="0"/>
                <a:satOff val="0"/>
                <a:lumOff val="0"/>
                <a:alphaOff val="0"/>
                <a:shade val="93000"/>
                <a:satMod val="130000"/>
              </a:schemeClr>
            </a:gs>
            <a:gs pos="100000">
              <a:schemeClr val="accent1">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CE699762-22A3-4C40-B7F0-E1FB7D28834D}">
      <dsp:nvSpPr>
        <dsp:cNvPr id="0" name=""/>
        <dsp:cNvSpPr/>
      </dsp:nvSpPr>
      <dsp:spPr>
        <a:xfrm>
          <a:off x="238415" y="1439031"/>
          <a:ext cx="687253" cy="65032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7000" r="-17000"/>
          </a:stretch>
        </a:blip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86D76C7-C043-462B-AEB6-7B86D9CD7981}">
      <dsp:nvSpPr>
        <dsp:cNvPr id="0" name=""/>
        <dsp:cNvSpPr/>
      </dsp:nvSpPr>
      <dsp:spPr>
        <a:xfrm>
          <a:off x="1164085" y="1260263"/>
          <a:ext cx="6468762" cy="1007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66" tIns="106666" rIns="106666" bIns="106666" numCol="1" spcCol="1270" anchor="ctr" anchorCtr="0">
          <a:noAutofit/>
        </a:bodyPr>
        <a:lstStyle/>
        <a:p>
          <a:pPr marL="0" lvl="0" indent="0" algn="l" defTabSz="711200">
            <a:lnSpc>
              <a:spcPct val="100000"/>
            </a:lnSpc>
            <a:spcBef>
              <a:spcPct val="0"/>
            </a:spcBef>
            <a:spcAft>
              <a:spcPct val="35000"/>
            </a:spcAft>
            <a:buNone/>
          </a:pPr>
          <a:r>
            <a:rPr lang="en-US" sz="1600" b="0" kern="1200" baseline="0" dirty="0"/>
            <a:t>Opening and closing of ion channels, and movement of ions across membrane is the </a:t>
          </a:r>
          <a:r>
            <a:rPr lang="en-US" sz="1600" b="0" kern="1200" baseline="0" dirty="0">
              <a:highlight>
                <a:srgbClr val="FFFF00"/>
              </a:highlight>
            </a:rPr>
            <a:t>fundamental basis of cellular electrophysiology of nerve impulses, cardiovascular heartbeat, muscle contractility</a:t>
          </a:r>
          <a:endParaRPr lang="en-US" sz="1600" kern="1200" dirty="0">
            <a:highlight>
              <a:srgbClr val="FFFF00"/>
            </a:highlight>
          </a:endParaRPr>
        </a:p>
      </dsp:txBody>
      <dsp:txXfrm>
        <a:off x="1164085" y="1260263"/>
        <a:ext cx="6468762" cy="1007865"/>
      </dsp:txXfrm>
    </dsp:sp>
    <dsp:sp modelId="{B59710B0-A998-4F3F-AC8E-4237459C3720}">
      <dsp:nvSpPr>
        <dsp:cNvPr id="0" name=""/>
        <dsp:cNvSpPr/>
      </dsp:nvSpPr>
      <dsp:spPr>
        <a:xfrm>
          <a:off x="0" y="2520526"/>
          <a:ext cx="7632848" cy="1007865"/>
        </a:xfrm>
        <a:prstGeom prst="roundRect">
          <a:avLst>
            <a:gd name="adj" fmla="val 10000"/>
          </a:avLst>
        </a:prstGeom>
        <a:gradFill rotWithShape="0">
          <a:gsLst>
            <a:gs pos="0">
              <a:schemeClr val="accent1">
                <a:tint val="40000"/>
                <a:hueOff val="0"/>
                <a:satOff val="0"/>
                <a:lumOff val="0"/>
                <a:alphaOff val="0"/>
                <a:shade val="51000"/>
                <a:satMod val="130000"/>
              </a:schemeClr>
            </a:gs>
            <a:gs pos="80000">
              <a:schemeClr val="accent1">
                <a:tint val="40000"/>
                <a:hueOff val="0"/>
                <a:satOff val="0"/>
                <a:lumOff val="0"/>
                <a:alphaOff val="0"/>
                <a:shade val="93000"/>
                <a:satMod val="130000"/>
              </a:schemeClr>
            </a:gs>
            <a:gs pos="100000">
              <a:schemeClr val="accent1">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6D552F37-96C6-4ABE-94A4-69F2EDB371B7}">
      <dsp:nvSpPr>
        <dsp:cNvPr id="0" name=""/>
        <dsp:cNvSpPr/>
      </dsp:nvSpPr>
      <dsp:spPr>
        <a:xfrm>
          <a:off x="304879" y="2746865"/>
          <a:ext cx="554326" cy="554326"/>
        </a:xfrm>
        <a:prstGeom prst="rect">
          <a:avLst/>
        </a:prstGeom>
        <a:blipFill>
          <a:blip xmlns:r="http://schemas.openxmlformats.org/officeDocument/2006/relationships" r:embed="rId3">
            <a:extLst>
              <a:ext uri="{837473B0-CC2E-450A-ABE3-18F120FF3D39}">
                <a1611:picAttrSrcUrl xmlns:a1611="http://schemas.microsoft.com/office/drawing/2016/11/main" r:id="rId4"/>
              </a:ext>
            </a:extLst>
          </a:blip>
          <a:srcRect/>
          <a:stretch>
            <a:fillRect l="-35000" r="-35000"/>
          </a:stretch>
        </a:blip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FDD131F-38AA-4F46-8AD6-7769EC6898C6}">
      <dsp:nvSpPr>
        <dsp:cNvPr id="0" name=""/>
        <dsp:cNvSpPr/>
      </dsp:nvSpPr>
      <dsp:spPr>
        <a:xfrm>
          <a:off x="1164085" y="2520095"/>
          <a:ext cx="6468762" cy="1007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66" tIns="106666" rIns="106666" bIns="106666" numCol="1" spcCol="1270" anchor="ctr" anchorCtr="0">
          <a:noAutofit/>
        </a:bodyPr>
        <a:lstStyle/>
        <a:p>
          <a:pPr marL="0" lvl="0" indent="0" algn="l" defTabSz="711200">
            <a:lnSpc>
              <a:spcPct val="100000"/>
            </a:lnSpc>
            <a:spcBef>
              <a:spcPct val="0"/>
            </a:spcBef>
            <a:spcAft>
              <a:spcPct val="35000"/>
            </a:spcAft>
            <a:buNone/>
          </a:pPr>
          <a:r>
            <a:rPr lang="en-US" sz="1600" b="0" kern="1200" baseline="0" dirty="0">
              <a:highlight>
                <a:srgbClr val="FFFF00"/>
              </a:highlight>
            </a:rPr>
            <a:t>Action potentials </a:t>
          </a:r>
          <a:r>
            <a:rPr lang="en-US" sz="1600" b="0" kern="1200" baseline="0" dirty="0"/>
            <a:t>– process and transmit information</a:t>
          </a:r>
          <a:endParaRPr lang="en-US" sz="1600" kern="1200" dirty="0"/>
        </a:p>
      </dsp:txBody>
      <dsp:txXfrm>
        <a:off x="1164085" y="2520095"/>
        <a:ext cx="6468762" cy="10078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1E7C56-0F47-4AD0-81C6-213B2D63E209}">
      <dsp:nvSpPr>
        <dsp:cNvPr id="0" name=""/>
        <dsp:cNvSpPr/>
      </dsp:nvSpPr>
      <dsp:spPr>
        <a:xfrm>
          <a:off x="0" y="360"/>
          <a:ext cx="7772400" cy="843316"/>
        </a:xfrm>
        <a:prstGeom prst="roundRect">
          <a:avLst>
            <a:gd name="adj" fmla="val 10000"/>
          </a:avLst>
        </a:prstGeom>
        <a:solidFill>
          <a:schemeClr val="accent1">
            <a:tint val="40000"/>
            <a:hueOff val="0"/>
            <a:satOff val="0"/>
            <a:lumOff val="0"/>
            <a:alphaOff val="0"/>
          </a:schemeClr>
        </a:solidFill>
        <a:ln w="9525"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B38DFA4D-1F38-4935-B1F1-5CB0DEF7EB7B}">
      <dsp:nvSpPr>
        <dsp:cNvPr id="0" name=""/>
        <dsp:cNvSpPr/>
      </dsp:nvSpPr>
      <dsp:spPr>
        <a:xfrm>
          <a:off x="181939" y="123958"/>
          <a:ext cx="610151" cy="596120"/>
        </a:xfrm>
        <a:prstGeom prst="rect">
          <a:avLst/>
        </a:prstGeom>
        <a:blipFill>
          <a:blip xmlns:r="http://schemas.openxmlformats.org/officeDocument/2006/relationships" r:embed="rId1">
            <a:extLst>
              <a:ext uri="{837473B0-CC2E-450A-ABE3-18F120FF3D39}">
                <a1611:picAttrSrcUrl xmlns:a1611="http://schemas.microsoft.com/office/drawing/2016/11/main" r:id="rId2"/>
              </a:ext>
            </a:extLst>
          </a:blip>
          <a:srcRect/>
          <a:stretch>
            <a:fillRect l="-18000" r="-18000"/>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73B5EF6-D822-408A-8083-0C61F6DC0446}">
      <dsp:nvSpPr>
        <dsp:cNvPr id="0" name=""/>
        <dsp:cNvSpPr/>
      </dsp:nvSpPr>
      <dsp:spPr>
        <a:xfrm>
          <a:off x="974030" y="360"/>
          <a:ext cx="6798369" cy="84331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89251" tIns="89251" rIns="89251" bIns="89251" numCol="1" spcCol="1270" anchor="ctr" anchorCtr="0">
          <a:noAutofit/>
        </a:bodyPr>
        <a:lstStyle/>
        <a:p>
          <a:pPr marL="0" lvl="0" indent="0" algn="l" defTabSz="1066800">
            <a:lnSpc>
              <a:spcPct val="100000"/>
            </a:lnSpc>
            <a:spcBef>
              <a:spcPct val="0"/>
            </a:spcBef>
            <a:spcAft>
              <a:spcPct val="35000"/>
            </a:spcAft>
            <a:buNone/>
          </a:pPr>
          <a:r>
            <a:rPr lang="en-GB" sz="2400" b="0" kern="1200" baseline="0" dirty="0"/>
            <a:t>Sets frequency action potentials are generated</a:t>
          </a:r>
          <a:endParaRPr lang="en-US" sz="2400" kern="1200" dirty="0"/>
        </a:p>
      </dsp:txBody>
      <dsp:txXfrm>
        <a:off x="974030" y="360"/>
        <a:ext cx="6798369" cy="843316"/>
      </dsp:txXfrm>
    </dsp:sp>
    <dsp:sp modelId="{ECA8E1EF-9D15-4965-93F5-83626E5B0372}">
      <dsp:nvSpPr>
        <dsp:cNvPr id="0" name=""/>
        <dsp:cNvSpPr/>
      </dsp:nvSpPr>
      <dsp:spPr>
        <a:xfrm>
          <a:off x="0" y="1054505"/>
          <a:ext cx="7772400" cy="843316"/>
        </a:xfrm>
        <a:prstGeom prst="roundRect">
          <a:avLst>
            <a:gd name="adj" fmla="val 10000"/>
          </a:avLst>
        </a:prstGeom>
        <a:solidFill>
          <a:schemeClr val="accent1">
            <a:tint val="40000"/>
            <a:hueOff val="0"/>
            <a:satOff val="0"/>
            <a:lumOff val="0"/>
            <a:alphaOff val="0"/>
          </a:schemeClr>
        </a:solidFill>
        <a:ln w="9525"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7053B821-57D1-47EC-984B-51AB5E11455A}">
      <dsp:nvSpPr>
        <dsp:cNvPr id="0" name=""/>
        <dsp:cNvSpPr/>
      </dsp:nvSpPr>
      <dsp:spPr>
        <a:xfrm>
          <a:off x="181939" y="1178103"/>
          <a:ext cx="610151" cy="596120"/>
        </a:xfrm>
        <a:prstGeom prst="rect">
          <a:avLst/>
        </a:prstGeom>
        <a:blipFill>
          <a:blip xmlns:r="http://schemas.openxmlformats.org/officeDocument/2006/relationships" r:embed="rId3">
            <a:extLst>
              <a:ext uri="{837473B0-CC2E-450A-ABE3-18F120FF3D39}">
                <a1611:picAttrSrcUrl xmlns:a1611="http://schemas.microsoft.com/office/drawing/2016/11/main" r:id="rId4"/>
              </a:ext>
            </a:extLst>
          </a:blip>
          <a:srcRect/>
          <a:stretch>
            <a:fillRect l="-48000" r="-48000"/>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585C97A-BA27-4FF7-B824-A2A39DA6E0F2}">
      <dsp:nvSpPr>
        <dsp:cNvPr id="0" name=""/>
        <dsp:cNvSpPr/>
      </dsp:nvSpPr>
      <dsp:spPr>
        <a:xfrm>
          <a:off x="974030" y="1054505"/>
          <a:ext cx="6798369" cy="84331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89251" tIns="89251" rIns="89251" bIns="89251" numCol="1" spcCol="1270" anchor="ctr" anchorCtr="0">
          <a:noAutofit/>
        </a:bodyPr>
        <a:lstStyle/>
        <a:p>
          <a:pPr marL="0" lvl="0" indent="0" algn="l" defTabSz="1066800">
            <a:lnSpc>
              <a:spcPct val="100000"/>
            </a:lnSpc>
            <a:spcBef>
              <a:spcPct val="0"/>
            </a:spcBef>
            <a:spcAft>
              <a:spcPct val="35000"/>
            </a:spcAft>
            <a:buNone/>
          </a:pPr>
          <a:r>
            <a:rPr lang="en-GB" sz="2400" b="0" kern="1200" baseline="0"/>
            <a:t>Limits rate signals can be transmitted</a:t>
          </a:r>
          <a:endParaRPr lang="en-US" sz="2400" kern="1200"/>
        </a:p>
      </dsp:txBody>
      <dsp:txXfrm>
        <a:off x="974030" y="1054505"/>
        <a:ext cx="6798369" cy="843316"/>
      </dsp:txXfrm>
    </dsp:sp>
    <dsp:sp modelId="{455CB88E-C74E-49D8-B90B-E66072F64701}">
      <dsp:nvSpPr>
        <dsp:cNvPr id="0" name=""/>
        <dsp:cNvSpPr/>
      </dsp:nvSpPr>
      <dsp:spPr>
        <a:xfrm>
          <a:off x="0" y="2108651"/>
          <a:ext cx="7772400" cy="843316"/>
        </a:xfrm>
        <a:prstGeom prst="roundRect">
          <a:avLst>
            <a:gd name="adj" fmla="val 10000"/>
          </a:avLst>
        </a:prstGeom>
        <a:solidFill>
          <a:schemeClr val="accent1">
            <a:tint val="40000"/>
            <a:hueOff val="0"/>
            <a:satOff val="0"/>
            <a:lumOff val="0"/>
            <a:alphaOff val="0"/>
          </a:schemeClr>
        </a:solidFill>
        <a:ln w="9525"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15392E2-451A-46F6-B4E5-09790FD6DA99}">
      <dsp:nvSpPr>
        <dsp:cNvPr id="0" name=""/>
        <dsp:cNvSpPr/>
      </dsp:nvSpPr>
      <dsp:spPr>
        <a:xfrm>
          <a:off x="181939" y="2232249"/>
          <a:ext cx="610151" cy="596120"/>
        </a:xfrm>
        <a:prstGeom prst="rect">
          <a:avLst/>
        </a:prstGeom>
        <a:blipFill>
          <a:blip xmlns:r="http://schemas.openxmlformats.org/officeDocument/2006/relationships"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l="-50000" r="-50000"/>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8D52943-2119-4B86-8C97-346576337915}">
      <dsp:nvSpPr>
        <dsp:cNvPr id="0" name=""/>
        <dsp:cNvSpPr/>
      </dsp:nvSpPr>
      <dsp:spPr>
        <a:xfrm>
          <a:off x="974030" y="2108651"/>
          <a:ext cx="6798369" cy="84331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89251" tIns="89251" rIns="89251" bIns="89251" numCol="1" spcCol="1270" anchor="ctr" anchorCtr="0">
          <a:noAutofit/>
        </a:bodyPr>
        <a:lstStyle/>
        <a:p>
          <a:pPr marL="0" lvl="0" indent="0" algn="l" defTabSz="1066800">
            <a:lnSpc>
              <a:spcPct val="100000"/>
            </a:lnSpc>
            <a:spcBef>
              <a:spcPct val="0"/>
            </a:spcBef>
            <a:spcAft>
              <a:spcPct val="35000"/>
            </a:spcAft>
            <a:buNone/>
          </a:pPr>
          <a:r>
            <a:rPr lang="en-GB" sz="2400" b="0" kern="1200" baseline="0" dirty="0"/>
            <a:t>Ensures one way travel of action potential</a:t>
          </a:r>
          <a:endParaRPr lang="en-US" sz="2400" kern="1200" dirty="0"/>
        </a:p>
      </dsp:txBody>
      <dsp:txXfrm>
        <a:off x="974030" y="2108651"/>
        <a:ext cx="6798369" cy="84331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8000E5-E1BF-1B49-8B13-714438104DE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C316E7D2-FA68-9F43-935B-5C4FB410B5F9}"/>
              </a:ext>
            </a:extLst>
          </p:cNvPr>
          <p:cNvSpPr>
            <a:spLocks noGrp="1"/>
          </p:cNvSpPr>
          <p:nvPr>
            <p:ph type="dt" sz="quarter" idx="1"/>
          </p:nvPr>
        </p:nvSpPr>
        <p:spPr>
          <a:xfrm>
            <a:off x="5180013" y="0"/>
            <a:ext cx="3962400" cy="3429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A3251F9C-DD71-D44B-BC61-B9FFF09B63D6}" type="datetimeFigureOut">
              <a:rPr lang="en-US" altLang="en-US"/>
              <a:pPr>
                <a:defRPr/>
              </a:pPr>
              <a:t>9/10/2026</a:t>
            </a:fld>
            <a:endParaRPr lang="en-US" altLang="en-US"/>
          </a:p>
        </p:txBody>
      </p:sp>
      <p:sp>
        <p:nvSpPr>
          <p:cNvPr id="4" name="Footer Placeholder 3">
            <a:extLst>
              <a:ext uri="{FF2B5EF4-FFF2-40B4-BE49-F238E27FC236}">
                <a16:creationId xmlns:a16="http://schemas.microsoft.com/office/drawing/2014/main" id="{B385D875-A649-3A4B-8E3B-058149450C42}"/>
              </a:ext>
            </a:extLst>
          </p:cNvPr>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82201212-A529-7F40-936E-A515A995FDE7}"/>
              </a:ext>
            </a:extLst>
          </p:cNvPr>
          <p:cNvSpPr>
            <a:spLocks noGrp="1"/>
          </p:cNvSpPr>
          <p:nvPr>
            <p:ph type="sldNum" sz="quarter" idx="3"/>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870662C-C48F-D348-A8B1-EF16E886014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814C16E-B00C-4FA4-8953-2E262D1684AF}" type="datetimeFigureOut">
              <a:rPr lang="en-GB" smtClean="0"/>
              <a:t>10/09/2026</a:t>
            </a:fld>
            <a:endParaRPr lang="en-GB"/>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B68C3CB-3118-423E-861A-757A9737E9E3}" type="slidenum">
              <a:rPr lang="en-GB" smtClean="0"/>
              <a:t>‹#›</a:t>
            </a:fld>
            <a:endParaRPr lang="en-GB"/>
          </a:p>
        </p:txBody>
      </p:sp>
    </p:spTree>
    <p:extLst>
      <p:ext uri="{BB962C8B-B14F-4D97-AF65-F5344CB8AC3E}">
        <p14:creationId xmlns:p14="http://schemas.microsoft.com/office/powerpoint/2010/main" val="379535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Introduction to biological basis of electrical excitability and how used in communication in the body. </a:t>
            </a:r>
          </a:p>
          <a:p>
            <a:r>
              <a:rPr lang="en-GB" dirty="0"/>
              <a:t>Two lectures – membrane physiology and then action potential</a:t>
            </a:r>
          </a:p>
          <a:p>
            <a:endParaRPr lang="en-US" dirty="0"/>
          </a:p>
        </p:txBody>
      </p:sp>
      <p:sp>
        <p:nvSpPr>
          <p:cNvPr id="4" name="Slide Number Placeholder 3"/>
          <p:cNvSpPr>
            <a:spLocks noGrp="1"/>
          </p:cNvSpPr>
          <p:nvPr>
            <p:ph type="sldNum" sz="quarter" idx="5"/>
          </p:nvPr>
        </p:nvSpPr>
        <p:spPr/>
        <p:txBody>
          <a:bodyPr/>
          <a:lstStyle/>
          <a:p>
            <a:fld id="{F25D149E-358D-2440-BDD5-072440F2B74A}" type="slidenum">
              <a:rPr lang="en-US" smtClean="0"/>
              <a:t>1</a:t>
            </a:fld>
            <a:endParaRPr lang="en-US"/>
          </a:p>
        </p:txBody>
      </p:sp>
    </p:spTree>
    <p:extLst>
      <p:ext uri="{BB962C8B-B14F-4D97-AF65-F5344CB8AC3E}">
        <p14:creationId xmlns:p14="http://schemas.microsoft.com/office/powerpoint/2010/main" val="3986239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2</a:t>
            </a:fld>
            <a:endParaRPr lang="en-GB"/>
          </a:p>
        </p:txBody>
      </p:sp>
    </p:spTree>
    <p:extLst>
      <p:ext uri="{BB962C8B-B14F-4D97-AF65-F5344CB8AC3E}">
        <p14:creationId xmlns:p14="http://schemas.microsoft.com/office/powerpoint/2010/main" val="2778629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3</a:t>
            </a:fld>
            <a:endParaRPr lang="en-GB"/>
          </a:p>
        </p:txBody>
      </p:sp>
    </p:spTree>
    <p:extLst>
      <p:ext uri="{BB962C8B-B14F-4D97-AF65-F5344CB8AC3E}">
        <p14:creationId xmlns:p14="http://schemas.microsoft.com/office/powerpoint/2010/main" val="3437270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4</a:t>
            </a:fld>
            <a:endParaRPr lang="en-GB"/>
          </a:p>
        </p:txBody>
      </p:sp>
    </p:spTree>
    <p:extLst>
      <p:ext uri="{BB962C8B-B14F-4D97-AF65-F5344CB8AC3E}">
        <p14:creationId xmlns:p14="http://schemas.microsoft.com/office/powerpoint/2010/main" val="323097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5</a:t>
            </a:fld>
            <a:endParaRPr lang="en-GB"/>
          </a:p>
        </p:txBody>
      </p:sp>
    </p:spTree>
    <p:extLst>
      <p:ext uri="{BB962C8B-B14F-4D97-AF65-F5344CB8AC3E}">
        <p14:creationId xmlns:p14="http://schemas.microsoft.com/office/powerpoint/2010/main" val="218675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6</a:t>
            </a:fld>
            <a:endParaRPr lang="en-GB"/>
          </a:p>
        </p:txBody>
      </p:sp>
    </p:spTree>
    <p:extLst>
      <p:ext uri="{BB962C8B-B14F-4D97-AF65-F5344CB8AC3E}">
        <p14:creationId xmlns:p14="http://schemas.microsoft.com/office/powerpoint/2010/main" val="2775965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7</a:t>
            </a:fld>
            <a:endParaRPr lang="en-GB"/>
          </a:p>
        </p:txBody>
      </p:sp>
    </p:spTree>
    <p:extLst>
      <p:ext uri="{BB962C8B-B14F-4D97-AF65-F5344CB8AC3E}">
        <p14:creationId xmlns:p14="http://schemas.microsoft.com/office/powerpoint/2010/main" val="3871101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8</a:t>
            </a:fld>
            <a:endParaRPr lang="en-GB"/>
          </a:p>
        </p:txBody>
      </p:sp>
    </p:spTree>
    <p:extLst>
      <p:ext uri="{BB962C8B-B14F-4D97-AF65-F5344CB8AC3E}">
        <p14:creationId xmlns:p14="http://schemas.microsoft.com/office/powerpoint/2010/main" val="3468112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9</a:t>
            </a:fld>
            <a:endParaRPr lang="en-GB"/>
          </a:p>
        </p:txBody>
      </p:sp>
    </p:spTree>
    <p:extLst>
      <p:ext uri="{BB962C8B-B14F-4D97-AF65-F5344CB8AC3E}">
        <p14:creationId xmlns:p14="http://schemas.microsoft.com/office/powerpoint/2010/main" val="921897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10</a:t>
            </a:fld>
            <a:endParaRPr lang="en-GB"/>
          </a:p>
        </p:txBody>
      </p:sp>
    </p:spTree>
    <p:extLst>
      <p:ext uri="{BB962C8B-B14F-4D97-AF65-F5344CB8AC3E}">
        <p14:creationId xmlns:p14="http://schemas.microsoft.com/office/powerpoint/2010/main" val="943122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12</a:t>
            </a:fld>
            <a:endParaRPr lang="en-GB"/>
          </a:p>
        </p:txBody>
      </p:sp>
    </p:spTree>
    <p:extLst>
      <p:ext uri="{BB962C8B-B14F-4D97-AF65-F5344CB8AC3E}">
        <p14:creationId xmlns:p14="http://schemas.microsoft.com/office/powerpoint/2010/main" val="694377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ltLang="en-US" sz="1000" dirty="0"/>
              <a:t>Membrane potential is the voltage across the cell membrane at any moment and is represented by Vm.</a:t>
            </a:r>
          </a:p>
          <a:p>
            <a:endParaRPr lang="en-GB" altLang="en-US" sz="1000" dirty="0"/>
          </a:p>
          <a:p>
            <a:r>
              <a:rPr lang="en-GB" altLang="en-US" sz="1000" dirty="0"/>
              <a:t>When cell is not active it is at rest, Vm is the resting membrane potential.</a:t>
            </a:r>
          </a:p>
          <a:p>
            <a:r>
              <a:rPr lang="en-GB" altLang="en-US" sz="1000" dirty="0"/>
              <a:t>Vm can change over time – for example during an action potential the membrane potential changes</a:t>
            </a:r>
          </a:p>
          <a:p>
            <a:endParaRPr lang="en-GB" altLang="en-US" sz="1000" dirty="0"/>
          </a:p>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13</a:t>
            </a:fld>
            <a:endParaRPr lang="en-GB"/>
          </a:p>
        </p:txBody>
      </p:sp>
    </p:spTree>
    <p:extLst>
      <p:ext uri="{BB962C8B-B14F-4D97-AF65-F5344CB8AC3E}">
        <p14:creationId xmlns:p14="http://schemas.microsoft.com/office/powerpoint/2010/main" val="3309473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50" dirty="0"/>
              <a:t>Cell membrane – phospholipid bilayer is impermeable to ions.</a:t>
            </a:r>
          </a:p>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14</a:t>
            </a:fld>
            <a:endParaRPr lang="en-GB"/>
          </a:p>
        </p:txBody>
      </p:sp>
    </p:spTree>
    <p:extLst>
      <p:ext uri="{BB962C8B-B14F-4D97-AF65-F5344CB8AC3E}">
        <p14:creationId xmlns:p14="http://schemas.microsoft.com/office/powerpoint/2010/main" val="1192972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This type of imbedded proteins (used here) are integral proteins that traverses across the membrane from one side to the other and represents a variety of ion channels, receptors, adhesion proteins (integrin, cadherin etc) etc.</a:t>
            </a:r>
          </a:p>
          <a:p>
            <a:endParaRPr lang="en-MY" dirty="0"/>
          </a:p>
        </p:txBody>
      </p:sp>
      <p:sp>
        <p:nvSpPr>
          <p:cNvPr id="4" name="Slide Number Placeholder 3"/>
          <p:cNvSpPr>
            <a:spLocks noGrp="1"/>
          </p:cNvSpPr>
          <p:nvPr>
            <p:ph type="sldNum" sz="quarter" idx="5"/>
          </p:nvPr>
        </p:nvSpPr>
        <p:spPr/>
        <p:txBody>
          <a:bodyPr/>
          <a:lstStyle/>
          <a:p>
            <a:fld id="{50DF8779-FCAF-4E29-9BE0-4CA7004A2B1B}" type="slidenum">
              <a:rPr lang="en-GB" smtClean="0"/>
              <a:t>15</a:t>
            </a:fld>
            <a:endParaRPr lang="en-GB"/>
          </a:p>
        </p:txBody>
      </p:sp>
    </p:spTree>
    <p:extLst>
      <p:ext uri="{BB962C8B-B14F-4D97-AF65-F5344CB8AC3E}">
        <p14:creationId xmlns:p14="http://schemas.microsoft.com/office/powerpoint/2010/main" val="958306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Potassium ions are mostly internalized along with the proteins whereas the sodium and chlorides are placed externally. So a clear variation of distribution of ions are visible across the either side of the membrane.</a:t>
            </a:r>
          </a:p>
          <a:p>
            <a:endParaRPr lang="en-MY" dirty="0"/>
          </a:p>
        </p:txBody>
      </p:sp>
      <p:sp>
        <p:nvSpPr>
          <p:cNvPr id="4" name="Slide Number Placeholder 3"/>
          <p:cNvSpPr>
            <a:spLocks noGrp="1"/>
          </p:cNvSpPr>
          <p:nvPr>
            <p:ph type="sldNum" sz="quarter" idx="5"/>
          </p:nvPr>
        </p:nvSpPr>
        <p:spPr/>
        <p:txBody>
          <a:bodyPr/>
          <a:lstStyle/>
          <a:p>
            <a:fld id="{50DF8779-FCAF-4E29-9BE0-4CA7004A2B1B}" type="slidenum">
              <a:rPr lang="en-GB" smtClean="0"/>
              <a:t>18</a:t>
            </a:fld>
            <a:endParaRPr lang="en-GB"/>
          </a:p>
        </p:txBody>
      </p:sp>
    </p:spTree>
    <p:extLst>
      <p:ext uri="{BB962C8B-B14F-4D97-AF65-F5344CB8AC3E}">
        <p14:creationId xmlns:p14="http://schemas.microsoft.com/office/powerpoint/2010/main" val="2601938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19</a:t>
            </a:fld>
            <a:endParaRPr lang="en-GB"/>
          </a:p>
        </p:txBody>
      </p:sp>
    </p:spTree>
    <p:extLst>
      <p:ext uri="{BB962C8B-B14F-4D97-AF65-F5344CB8AC3E}">
        <p14:creationId xmlns:p14="http://schemas.microsoft.com/office/powerpoint/2010/main" val="570021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23</a:t>
            </a:fld>
            <a:endParaRPr lang="en-GB"/>
          </a:p>
        </p:txBody>
      </p:sp>
    </p:spTree>
    <p:extLst>
      <p:ext uri="{BB962C8B-B14F-4D97-AF65-F5344CB8AC3E}">
        <p14:creationId xmlns:p14="http://schemas.microsoft.com/office/powerpoint/2010/main" val="1653720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24</a:t>
            </a:fld>
            <a:endParaRPr lang="en-GB"/>
          </a:p>
        </p:txBody>
      </p:sp>
    </p:spTree>
    <p:extLst>
      <p:ext uri="{BB962C8B-B14F-4D97-AF65-F5344CB8AC3E}">
        <p14:creationId xmlns:p14="http://schemas.microsoft.com/office/powerpoint/2010/main" val="17735312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25</a:t>
            </a:fld>
            <a:endParaRPr lang="en-GB"/>
          </a:p>
        </p:txBody>
      </p:sp>
    </p:spTree>
    <p:extLst>
      <p:ext uri="{BB962C8B-B14F-4D97-AF65-F5344CB8AC3E}">
        <p14:creationId xmlns:p14="http://schemas.microsoft.com/office/powerpoint/2010/main" val="1011038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27</a:t>
            </a:fld>
            <a:endParaRPr lang="en-GB"/>
          </a:p>
        </p:txBody>
      </p:sp>
    </p:spTree>
    <p:extLst>
      <p:ext uri="{BB962C8B-B14F-4D97-AF65-F5344CB8AC3E}">
        <p14:creationId xmlns:p14="http://schemas.microsoft.com/office/powerpoint/2010/main" val="25057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28</a:t>
            </a:fld>
            <a:endParaRPr lang="en-GB"/>
          </a:p>
        </p:txBody>
      </p:sp>
    </p:spTree>
    <p:extLst>
      <p:ext uri="{BB962C8B-B14F-4D97-AF65-F5344CB8AC3E}">
        <p14:creationId xmlns:p14="http://schemas.microsoft.com/office/powerpoint/2010/main" val="1967094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MY" b="1" dirty="0"/>
              <a:t>Note:</a:t>
            </a:r>
            <a:r>
              <a:rPr lang="en-MY" dirty="0"/>
              <a:t> Initially, because of the concentration gradient difference, ions will move across the membrane very easily. This results in gradual accumulation of positive charges outside compared to inside. Now as the process go on, positive ions keep on building outside which eventually tend to inhibit the fruitful movement of K+ ions to outside as we know the similar charges repels and opposite charges attracts one another. What we term this as “electrical  gradient”, acts in opposite direction to concentration gradient and disfavour K+ exit out of the cell. Initially it remains lesser in strength compared to concentration gradient, but as the process continues, there will be one time at which it will be equal and fully stop the exit of K+ or you could say no resultant gain of K+ will occur outside the membrane [</a:t>
            </a:r>
            <a:r>
              <a:rPr lang="en-MY" dirty="0" err="1"/>
              <a:t>ie</a:t>
            </a:r>
            <a:r>
              <a:rPr lang="en-MY" dirty="0"/>
              <a:t>: Physically whatever the number of K+ ions will come out due to concentration gradient will re-enter again due to electrical gradient].</a:t>
            </a:r>
          </a:p>
        </p:txBody>
      </p:sp>
      <p:sp>
        <p:nvSpPr>
          <p:cNvPr id="4" name="Slide Number Placeholder 3"/>
          <p:cNvSpPr>
            <a:spLocks noGrp="1"/>
          </p:cNvSpPr>
          <p:nvPr>
            <p:ph type="sldNum" sz="quarter" idx="5"/>
          </p:nvPr>
        </p:nvSpPr>
        <p:spPr/>
        <p:txBody>
          <a:bodyPr/>
          <a:lstStyle/>
          <a:p>
            <a:fld id="{50DF8779-FCAF-4E29-9BE0-4CA7004A2B1B}" type="slidenum">
              <a:rPr lang="en-GB" smtClean="0"/>
              <a:t>29</a:t>
            </a:fld>
            <a:endParaRPr lang="en-GB"/>
          </a:p>
        </p:txBody>
      </p:sp>
    </p:spTree>
    <p:extLst>
      <p:ext uri="{BB962C8B-B14F-4D97-AF65-F5344CB8AC3E}">
        <p14:creationId xmlns:p14="http://schemas.microsoft.com/office/powerpoint/2010/main" val="29406506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30</a:t>
            </a:fld>
            <a:endParaRPr lang="en-GB"/>
          </a:p>
        </p:txBody>
      </p:sp>
    </p:spTree>
    <p:extLst>
      <p:ext uri="{BB962C8B-B14F-4D97-AF65-F5344CB8AC3E}">
        <p14:creationId xmlns:p14="http://schemas.microsoft.com/office/powerpoint/2010/main" val="1062320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eaLnBrk="1" hangingPunct="1">
              <a:buFont typeface="Arial" panose="020B0604020202020204" pitchFamily="34" charset="0"/>
              <a:buNone/>
              <a:defRPr/>
            </a:pPr>
            <a:r>
              <a:rPr lang="en-GB" sz="1200" i="1" dirty="0"/>
              <a:t>R = Gas constant, 8.135 J K</a:t>
            </a:r>
            <a:r>
              <a:rPr lang="en-GB" sz="1200" i="1" baseline="30000" dirty="0"/>
              <a:t>-1</a:t>
            </a:r>
            <a:r>
              <a:rPr lang="en-GB" sz="1200" i="1" dirty="0"/>
              <a:t> mol</a:t>
            </a:r>
            <a:r>
              <a:rPr lang="en-GB" sz="1200" i="1" baseline="30000" dirty="0"/>
              <a:t>-1</a:t>
            </a:r>
            <a:endParaRPr lang="en-GB" sz="1200" i="1" dirty="0"/>
          </a:p>
          <a:p>
            <a:pPr marL="0" indent="0" eaLnBrk="1" hangingPunct="1">
              <a:buFont typeface="Arial" panose="020B0604020202020204" pitchFamily="34" charset="0"/>
              <a:buNone/>
              <a:defRPr/>
            </a:pPr>
            <a:r>
              <a:rPr lang="en-GB" sz="1200" i="1" dirty="0"/>
              <a:t>T = temperature in K (273 + temp in </a:t>
            </a:r>
            <a:r>
              <a:rPr lang="en-GB" sz="1200" i="1" baseline="30000" dirty="0" err="1"/>
              <a:t>o</a:t>
            </a:r>
            <a:r>
              <a:rPr lang="en-GB" sz="1200" i="1" dirty="0" err="1"/>
              <a:t>C</a:t>
            </a:r>
            <a:r>
              <a:rPr lang="en-GB" sz="1200" i="1" dirty="0"/>
              <a:t>)</a:t>
            </a:r>
          </a:p>
          <a:p>
            <a:pPr marL="0" indent="0" eaLnBrk="1" hangingPunct="1">
              <a:buFont typeface="Arial" panose="020B0604020202020204" pitchFamily="34" charset="0"/>
              <a:buNone/>
              <a:defRPr/>
            </a:pPr>
            <a:r>
              <a:rPr lang="en-GB" sz="1200" i="1" dirty="0"/>
              <a:t>z = valency of ion (K+/Na</a:t>
            </a:r>
            <a:r>
              <a:rPr lang="en-GB" sz="1200" i="1" baseline="30000" dirty="0"/>
              <a:t>+</a:t>
            </a:r>
            <a:r>
              <a:rPr lang="en-GB" sz="1200" i="1" dirty="0"/>
              <a:t> is one, Ca</a:t>
            </a:r>
            <a:r>
              <a:rPr lang="en-GB" sz="1200" i="1" baseline="30000" dirty="0"/>
              <a:t>2+</a:t>
            </a:r>
            <a:r>
              <a:rPr lang="en-GB" sz="1200" i="1" dirty="0"/>
              <a:t> is two and Cl</a:t>
            </a:r>
            <a:r>
              <a:rPr lang="en-GB" sz="1200" i="1" baseline="30000" dirty="0"/>
              <a:t>-</a:t>
            </a:r>
            <a:r>
              <a:rPr lang="en-GB" sz="1200" i="1" dirty="0"/>
              <a:t> is one)</a:t>
            </a:r>
          </a:p>
          <a:p>
            <a:pPr marL="0" indent="0" eaLnBrk="1" hangingPunct="1">
              <a:buFont typeface="Arial" panose="020B0604020202020204" pitchFamily="34" charset="0"/>
              <a:buNone/>
              <a:defRPr/>
            </a:pPr>
            <a:r>
              <a:rPr lang="en-GB" sz="1200" i="1" dirty="0"/>
              <a:t>F = Faraday’s constant, 9.684 x 10</a:t>
            </a:r>
            <a:r>
              <a:rPr lang="en-GB" sz="1200" i="1" baseline="30000" dirty="0"/>
              <a:t>4</a:t>
            </a:r>
            <a:r>
              <a:rPr lang="en-GB" sz="1200" i="1" dirty="0"/>
              <a:t> C mol</a:t>
            </a:r>
            <a:r>
              <a:rPr lang="en-GB" sz="1200" i="1" baseline="30000" dirty="0"/>
              <a:t>-1</a:t>
            </a:r>
            <a:endParaRPr lang="en-GB" sz="1200" i="1" dirty="0"/>
          </a:p>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31</a:t>
            </a:fld>
            <a:endParaRPr lang="en-GB"/>
          </a:p>
        </p:txBody>
      </p:sp>
    </p:spTree>
    <p:extLst>
      <p:ext uri="{BB962C8B-B14F-4D97-AF65-F5344CB8AC3E}">
        <p14:creationId xmlns:p14="http://schemas.microsoft.com/office/powerpoint/2010/main" val="17531890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32</a:t>
            </a:fld>
            <a:endParaRPr lang="en-GB"/>
          </a:p>
        </p:txBody>
      </p:sp>
    </p:spTree>
    <p:extLst>
      <p:ext uri="{BB962C8B-B14F-4D97-AF65-F5344CB8AC3E}">
        <p14:creationId xmlns:p14="http://schemas.microsoft.com/office/powerpoint/2010/main" val="16471241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59538-A592-D5F1-86D3-D62EB677E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542C3-9BEB-D711-71EA-C1128A6AA04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6589757-7E3A-756F-4B98-8F10EA409BA2}"/>
              </a:ext>
            </a:extLst>
          </p:cNvPr>
          <p:cNvSpPr>
            <a:spLocks noGrp="1"/>
          </p:cNvSpPr>
          <p:nvPr>
            <p:ph type="body" idx="1"/>
          </p:nvPr>
        </p:nvSpPr>
        <p:spPr/>
        <p:txBody>
          <a:bodyPr/>
          <a:lstStyle/>
          <a:p>
            <a:r>
              <a:rPr lang="en-GB" dirty="0"/>
              <a:t>Important is the permeability to the ion</a:t>
            </a:r>
          </a:p>
        </p:txBody>
      </p:sp>
      <p:sp>
        <p:nvSpPr>
          <p:cNvPr id="4" name="Slide Number Placeholder 3">
            <a:extLst>
              <a:ext uri="{FF2B5EF4-FFF2-40B4-BE49-F238E27FC236}">
                <a16:creationId xmlns:a16="http://schemas.microsoft.com/office/drawing/2014/main" id="{5FC9F56C-1961-B54A-3A88-79C6B78E7074}"/>
              </a:ext>
            </a:extLst>
          </p:cNvPr>
          <p:cNvSpPr>
            <a:spLocks noGrp="1"/>
          </p:cNvSpPr>
          <p:nvPr>
            <p:ph type="sldNum" sz="quarter" idx="5"/>
          </p:nvPr>
        </p:nvSpPr>
        <p:spPr/>
        <p:txBody>
          <a:bodyPr/>
          <a:lstStyle/>
          <a:p>
            <a:fld id="{0B68C3CB-3118-423E-861A-757A9737E9E3}" type="slidenum">
              <a:rPr lang="en-GB" smtClean="0"/>
              <a:t>33</a:t>
            </a:fld>
            <a:endParaRPr lang="en-GB"/>
          </a:p>
        </p:txBody>
      </p:sp>
    </p:spTree>
    <p:extLst>
      <p:ext uri="{BB962C8B-B14F-4D97-AF65-F5344CB8AC3E}">
        <p14:creationId xmlns:p14="http://schemas.microsoft.com/office/powerpoint/2010/main" val="2917690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34</a:t>
            </a:fld>
            <a:endParaRPr lang="en-GB"/>
          </a:p>
        </p:txBody>
      </p:sp>
    </p:spTree>
    <p:extLst>
      <p:ext uri="{BB962C8B-B14F-4D97-AF65-F5344CB8AC3E}">
        <p14:creationId xmlns:p14="http://schemas.microsoft.com/office/powerpoint/2010/main" val="477344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50DF8779-FCAF-4E29-9BE0-4CA7004A2B1B}" type="slidenum">
              <a:rPr lang="en-GB" smtClean="0"/>
              <a:t>35</a:t>
            </a:fld>
            <a:endParaRPr lang="en-GB"/>
          </a:p>
        </p:txBody>
      </p:sp>
    </p:spTree>
    <p:extLst>
      <p:ext uri="{BB962C8B-B14F-4D97-AF65-F5344CB8AC3E}">
        <p14:creationId xmlns:p14="http://schemas.microsoft.com/office/powerpoint/2010/main" val="3201219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E2FE8-E59D-6F51-1704-1B77985C0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A0213-6F07-F444-7C43-B395AEBA61D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378A1FC-8333-5C52-C3F4-76781D996E92}"/>
              </a:ext>
            </a:extLst>
          </p:cNvPr>
          <p:cNvSpPr>
            <a:spLocks noGrp="1"/>
          </p:cNvSpPr>
          <p:nvPr>
            <p:ph type="body" idx="1"/>
          </p:nvPr>
        </p:nvSpPr>
        <p:spPr/>
        <p:txBody>
          <a:bodyPr/>
          <a:lstStyle/>
          <a:p>
            <a:r>
              <a:rPr lang="en-GB" sz="1050" dirty="0"/>
              <a:t>Extension of </a:t>
            </a:r>
            <a:r>
              <a:rPr lang="en-GB" sz="1050" dirty="0" err="1"/>
              <a:t>nernst</a:t>
            </a:r>
            <a:r>
              <a:rPr lang="en-GB" sz="1050" dirty="0"/>
              <a:t> equation.</a:t>
            </a:r>
          </a:p>
          <a:p>
            <a:r>
              <a:rPr lang="en-GB" sz="1050" dirty="0"/>
              <a:t>Need to consider several permeable ions</a:t>
            </a:r>
            <a:endParaRPr lang="en-GB" dirty="0"/>
          </a:p>
        </p:txBody>
      </p:sp>
      <p:sp>
        <p:nvSpPr>
          <p:cNvPr id="4" name="Slide Number Placeholder 3">
            <a:extLst>
              <a:ext uri="{FF2B5EF4-FFF2-40B4-BE49-F238E27FC236}">
                <a16:creationId xmlns:a16="http://schemas.microsoft.com/office/drawing/2014/main" id="{34985C87-C824-BCC7-64C8-6EDDFEC0CE45}"/>
              </a:ext>
            </a:extLst>
          </p:cNvPr>
          <p:cNvSpPr>
            <a:spLocks noGrp="1"/>
          </p:cNvSpPr>
          <p:nvPr>
            <p:ph type="sldNum" sz="quarter" idx="5"/>
          </p:nvPr>
        </p:nvSpPr>
        <p:spPr/>
        <p:txBody>
          <a:bodyPr/>
          <a:lstStyle/>
          <a:p>
            <a:fld id="{0B68C3CB-3118-423E-861A-757A9737E9E3}" type="slidenum">
              <a:rPr lang="en-GB" smtClean="0"/>
              <a:t>36</a:t>
            </a:fld>
            <a:endParaRPr lang="en-GB"/>
          </a:p>
        </p:txBody>
      </p:sp>
    </p:spTree>
    <p:extLst>
      <p:ext uri="{BB962C8B-B14F-4D97-AF65-F5344CB8AC3E}">
        <p14:creationId xmlns:p14="http://schemas.microsoft.com/office/powerpoint/2010/main" val="6828536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40399-3106-B758-76F6-3CC7CC994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67877-4E4A-AAA4-27B8-241C451D210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D24371A-6A34-1299-E00A-2CB3A7E49E0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3C58EFA-C5ED-1EF6-437E-793F72649761}"/>
              </a:ext>
            </a:extLst>
          </p:cNvPr>
          <p:cNvSpPr>
            <a:spLocks noGrp="1"/>
          </p:cNvSpPr>
          <p:nvPr>
            <p:ph type="sldNum" sz="quarter" idx="5"/>
          </p:nvPr>
        </p:nvSpPr>
        <p:spPr/>
        <p:txBody>
          <a:bodyPr/>
          <a:lstStyle/>
          <a:p>
            <a:fld id="{0B68C3CB-3118-423E-861A-757A9737E9E3}" type="slidenum">
              <a:rPr lang="en-GB" smtClean="0"/>
              <a:t>37</a:t>
            </a:fld>
            <a:endParaRPr lang="en-GB"/>
          </a:p>
        </p:txBody>
      </p:sp>
    </p:spTree>
    <p:extLst>
      <p:ext uri="{BB962C8B-B14F-4D97-AF65-F5344CB8AC3E}">
        <p14:creationId xmlns:p14="http://schemas.microsoft.com/office/powerpoint/2010/main" val="32447979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0FE8D-89A4-C55B-5739-B8E20371A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DEF46-933A-E080-2C7E-1EB0FDF4C15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618F03C-0C09-C5A5-88AB-E4831FF261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100" dirty="0"/>
              <a:t>Major determinant is K, small amount of Na leak into cell</a:t>
            </a:r>
          </a:p>
          <a:p>
            <a:endParaRPr lang="en-GB" dirty="0"/>
          </a:p>
        </p:txBody>
      </p:sp>
      <p:sp>
        <p:nvSpPr>
          <p:cNvPr id="4" name="Slide Number Placeholder 3">
            <a:extLst>
              <a:ext uri="{FF2B5EF4-FFF2-40B4-BE49-F238E27FC236}">
                <a16:creationId xmlns:a16="http://schemas.microsoft.com/office/drawing/2014/main" id="{85D66842-555E-E3BF-5457-7599CC1B7E09}"/>
              </a:ext>
            </a:extLst>
          </p:cNvPr>
          <p:cNvSpPr>
            <a:spLocks noGrp="1"/>
          </p:cNvSpPr>
          <p:nvPr>
            <p:ph type="sldNum" sz="quarter" idx="5"/>
          </p:nvPr>
        </p:nvSpPr>
        <p:spPr/>
        <p:txBody>
          <a:bodyPr/>
          <a:lstStyle/>
          <a:p>
            <a:fld id="{0B68C3CB-3118-423E-861A-757A9737E9E3}" type="slidenum">
              <a:rPr lang="en-GB" smtClean="0"/>
              <a:t>38</a:t>
            </a:fld>
            <a:endParaRPr lang="en-GB"/>
          </a:p>
        </p:txBody>
      </p:sp>
    </p:spTree>
    <p:extLst>
      <p:ext uri="{BB962C8B-B14F-4D97-AF65-F5344CB8AC3E}">
        <p14:creationId xmlns:p14="http://schemas.microsoft.com/office/powerpoint/2010/main" val="16248934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39</a:t>
            </a:fld>
            <a:endParaRPr lang="en-GB"/>
          </a:p>
        </p:txBody>
      </p:sp>
    </p:spTree>
    <p:extLst>
      <p:ext uri="{BB962C8B-B14F-4D97-AF65-F5344CB8AC3E}">
        <p14:creationId xmlns:p14="http://schemas.microsoft.com/office/powerpoint/2010/main" val="1301200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40</a:t>
            </a:fld>
            <a:endParaRPr lang="en-GB"/>
          </a:p>
        </p:txBody>
      </p:sp>
    </p:spTree>
    <p:extLst>
      <p:ext uri="{BB962C8B-B14F-4D97-AF65-F5344CB8AC3E}">
        <p14:creationId xmlns:p14="http://schemas.microsoft.com/office/powerpoint/2010/main" val="20909895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41</a:t>
            </a:fld>
            <a:endParaRPr lang="en-GB"/>
          </a:p>
        </p:txBody>
      </p:sp>
    </p:spTree>
    <p:extLst>
      <p:ext uri="{BB962C8B-B14F-4D97-AF65-F5344CB8AC3E}">
        <p14:creationId xmlns:p14="http://schemas.microsoft.com/office/powerpoint/2010/main" val="39965092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Threshold – </a:t>
            </a:r>
            <a:r>
              <a:rPr lang="en-GB" b="1" dirty="0"/>
              <a:t>is the point at which the Na entry is greater than K efflux</a:t>
            </a:r>
            <a:r>
              <a:rPr lang="en-GB" dirty="0"/>
              <a:t>… causes opening channels and more Na… positive feedback</a:t>
            </a:r>
          </a:p>
        </p:txBody>
      </p:sp>
      <p:sp>
        <p:nvSpPr>
          <p:cNvPr id="4" name="Slide Number Placeholder 3"/>
          <p:cNvSpPr>
            <a:spLocks noGrp="1"/>
          </p:cNvSpPr>
          <p:nvPr>
            <p:ph type="sldNum" sz="quarter" idx="5"/>
          </p:nvPr>
        </p:nvSpPr>
        <p:spPr/>
        <p:txBody>
          <a:bodyPr/>
          <a:lstStyle/>
          <a:p>
            <a:fld id="{0B68C3CB-3118-423E-861A-757A9737E9E3}" type="slidenum">
              <a:rPr lang="en-GB" smtClean="0"/>
              <a:t>43</a:t>
            </a:fld>
            <a:endParaRPr lang="en-GB"/>
          </a:p>
        </p:txBody>
      </p:sp>
    </p:spTree>
    <p:extLst>
      <p:ext uri="{BB962C8B-B14F-4D97-AF65-F5344CB8AC3E}">
        <p14:creationId xmlns:p14="http://schemas.microsoft.com/office/powerpoint/2010/main" val="8900553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Threshold – </a:t>
            </a:r>
            <a:r>
              <a:rPr lang="en-GB" b="1" dirty="0"/>
              <a:t>is the point at which the Na entry is greater than K efflux</a:t>
            </a:r>
            <a:r>
              <a:rPr lang="en-GB" dirty="0"/>
              <a:t>… causes opening channels and more Na… positive feedback</a:t>
            </a:r>
          </a:p>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44</a:t>
            </a:fld>
            <a:endParaRPr lang="en-GB"/>
          </a:p>
        </p:txBody>
      </p:sp>
    </p:spTree>
    <p:extLst>
      <p:ext uri="{BB962C8B-B14F-4D97-AF65-F5344CB8AC3E}">
        <p14:creationId xmlns:p14="http://schemas.microsoft.com/office/powerpoint/2010/main" val="8337223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For AP to occur – must reach a certain membrane potential around -55mV – depending on the cell (</a:t>
            </a:r>
            <a:r>
              <a:rPr lang="en-GB" dirty="0" err="1"/>
              <a:t>Silverthorn</a:t>
            </a:r>
            <a:r>
              <a:rPr lang="en-GB" dirty="0"/>
              <a:t>, p267)</a:t>
            </a:r>
          </a:p>
        </p:txBody>
      </p:sp>
      <p:sp>
        <p:nvSpPr>
          <p:cNvPr id="4" name="Slide Number Placeholder 3"/>
          <p:cNvSpPr>
            <a:spLocks noGrp="1"/>
          </p:cNvSpPr>
          <p:nvPr>
            <p:ph type="sldNum" sz="quarter" idx="5"/>
          </p:nvPr>
        </p:nvSpPr>
        <p:spPr/>
        <p:txBody>
          <a:bodyPr/>
          <a:lstStyle/>
          <a:p>
            <a:fld id="{0B68C3CB-3118-423E-861A-757A9737E9E3}" type="slidenum">
              <a:rPr lang="en-GB" smtClean="0"/>
              <a:t>45</a:t>
            </a:fld>
            <a:endParaRPr lang="en-GB"/>
          </a:p>
        </p:txBody>
      </p:sp>
    </p:spTree>
    <p:extLst>
      <p:ext uri="{BB962C8B-B14F-4D97-AF65-F5344CB8AC3E}">
        <p14:creationId xmlns:p14="http://schemas.microsoft.com/office/powerpoint/2010/main" val="6967368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Hyperpolarising – further from threshold, less excitable</a:t>
            </a:r>
          </a:p>
          <a:p>
            <a:endParaRPr lang="en-GB" dirty="0"/>
          </a:p>
          <a:p>
            <a:r>
              <a:rPr lang="en-GB" dirty="0"/>
              <a:t>If stimulus not large enough to reach threshold – then AP not generated</a:t>
            </a:r>
          </a:p>
          <a:p>
            <a:endParaRPr lang="en-GB" dirty="0"/>
          </a:p>
          <a:p>
            <a:r>
              <a:rPr lang="en-GB" dirty="0"/>
              <a:t>Membrane depolarised to threshold or above then get an AP – all or none principle. Regardless of size of stimulus, if it reaches threshold will have same AP.</a:t>
            </a:r>
          </a:p>
        </p:txBody>
      </p:sp>
      <p:sp>
        <p:nvSpPr>
          <p:cNvPr id="4" name="Slide Number Placeholder 3"/>
          <p:cNvSpPr>
            <a:spLocks noGrp="1"/>
          </p:cNvSpPr>
          <p:nvPr>
            <p:ph type="sldNum" sz="quarter" idx="5"/>
          </p:nvPr>
        </p:nvSpPr>
        <p:spPr/>
        <p:txBody>
          <a:bodyPr/>
          <a:lstStyle/>
          <a:p>
            <a:fld id="{0B68C3CB-3118-423E-861A-757A9737E9E3}" type="slidenum">
              <a:rPr lang="en-GB" smtClean="0"/>
              <a:t>46</a:t>
            </a:fld>
            <a:endParaRPr lang="en-GB"/>
          </a:p>
        </p:txBody>
      </p:sp>
    </p:spTree>
    <p:extLst>
      <p:ext uri="{BB962C8B-B14F-4D97-AF65-F5344CB8AC3E}">
        <p14:creationId xmlns:p14="http://schemas.microsoft.com/office/powerpoint/2010/main" val="9307370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47</a:t>
            </a:fld>
            <a:endParaRPr lang="en-GB"/>
          </a:p>
        </p:txBody>
      </p:sp>
    </p:spTree>
    <p:extLst>
      <p:ext uri="{BB962C8B-B14F-4D97-AF65-F5344CB8AC3E}">
        <p14:creationId xmlns:p14="http://schemas.microsoft.com/office/powerpoint/2010/main" val="23601848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54152EC8-FAC3-49B9-89EC-093B9417293F}" type="slidenum">
              <a:rPr lang="en-GB" smtClean="0"/>
              <a:t>48</a:t>
            </a:fld>
            <a:endParaRPr lang="en-GB"/>
          </a:p>
        </p:txBody>
      </p:sp>
    </p:spTree>
    <p:extLst>
      <p:ext uri="{BB962C8B-B14F-4D97-AF65-F5344CB8AC3E}">
        <p14:creationId xmlns:p14="http://schemas.microsoft.com/office/powerpoint/2010/main" val="24276433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49</a:t>
            </a:fld>
            <a:endParaRPr lang="en-GB"/>
          </a:p>
        </p:txBody>
      </p:sp>
    </p:spTree>
    <p:extLst>
      <p:ext uri="{BB962C8B-B14F-4D97-AF65-F5344CB8AC3E}">
        <p14:creationId xmlns:p14="http://schemas.microsoft.com/office/powerpoint/2010/main" val="6321714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54152EC8-FAC3-49B9-89EC-093B9417293F}" type="slidenum">
              <a:rPr lang="en-GB" smtClean="0"/>
              <a:t>50</a:t>
            </a:fld>
            <a:endParaRPr lang="en-GB"/>
          </a:p>
        </p:txBody>
      </p:sp>
    </p:spTree>
    <p:extLst>
      <p:ext uri="{BB962C8B-B14F-4D97-AF65-F5344CB8AC3E}">
        <p14:creationId xmlns:p14="http://schemas.microsoft.com/office/powerpoint/2010/main" val="11401971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51</a:t>
            </a:fld>
            <a:endParaRPr lang="en-GB"/>
          </a:p>
        </p:txBody>
      </p:sp>
    </p:spTree>
    <p:extLst>
      <p:ext uri="{BB962C8B-B14F-4D97-AF65-F5344CB8AC3E}">
        <p14:creationId xmlns:p14="http://schemas.microsoft.com/office/powerpoint/2010/main" val="7291918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52</a:t>
            </a:fld>
            <a:endParaRPr lang="en-GB"/>
          </a:p>
        </p:txBody>
      </p:sp>
    </p:spTree>
    <p:extLst>
      <p:ext uri="{BB962C8B-B14F-4D97-AF65-F5344CB8AC3E}">
        <p14:creationId xmlns:p14="http://schemas.microsoft.com/office/powerpoint/2010/main" val="31825357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53</a:t>
            </a:fld>
            <a:endParaRPr lang="en-GB"/>
          </a:p>
        </p:txBody>
      </p:sp>
    </p:spTree>
    <p:extLst>
      <p:ext uri="{BB962C8B-B14F-4D97-AF65-F5344CB8AC3E}">
        <p14:creationId xmlns:p14="http://schemas.microsoft.com/office/powerpoint/2010/main" val="16690810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54</a:t>
            </a:fld>
            <a:endParaRPr lang="en-GB"/>
          </a:p>
        </p:txBody>
      </p:sp>
    </p:spTree>
    <p:extLst>
      <p:ext uri="{BB962C8B-B14F-4D97-AF65-F5344CB8AC3E}">
        <p14:creationId xmlns:p14="http://schemas.microsoft.com/office/powerpoint/2010/main" val="5273491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err="1"/>
              <a:t>VGNaC</a:t>
            </a:r>
            <a:r>
              <a:rPr lang="en-GB" dirty="0"/>
              <a:t> inactivated</a:t>
            </a:r>
          </a:p>
          <a:p>
            <a:r>
              <a:rPr lang="en-GB" dirty="0"/>
              <a:t>VGKC are open and causes hyperpolarisation</a:t>
            </a:r>
          </a:p>
        </p:txBody>
      </p:sp>
      <p:sp>
        <p:nvSpPr>
          <p:cNvPr id="4" name="Slide Number Placeholder 3"/>
          <p:cNvSpPr>
            <a:spLocks noGrp="1"/>
          </p:cNvSpPr>
          <p:nvPr>
            <p:ph type="sldNum" sz="quarter" idx="5"/>
          </p:nvPr>
        </p:nvSpPr>
        <p:spPr/>
        <p:txBody>
          <a:bodyPr/>
          <a:lstStyle/>
          <a:p>
            <a:fld id="{0B68C3CB-3118-423E-861A-757A9737E9E3}" type="slidenum">
              <a:rPr lang="en-GB" smtClean="0"/>
              <a:t>56</a:t>
            </a:fld>
            <a:endParaRPr lang="en-GB"/>
          </a:p>
        </p:txBody>
      </p:sp>
    </p:spTree>
    <p:extLst>
      <p:ext uri="{BB962C8B-B14F-4D97-AF65-F5344CB8AC3E}">
        <p14:creationId xmlns:p14="http://schemas.microsoft.com/office/powerpoint/2010/main" val="27923060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57</a:t>
            </a:fld>
            <a:endParaRPr lang="en-GB"/>
          </a:p>
        </p:txBody>
      </p:sp>
    </p:spTree>
    <p:extLst>
      <p:ext uri="{BB962C8B-B14F-4D97-AF65-F5344CB8AC3E}">
        <p14:creationId xmlns:p14="http://schemas.microsoft.com/office/powerpoint/2010/main" val="24703906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defRPr/>
            </a:pPr>
            <a:r>
              <a:rPr lang="en-GB" dirty="0"/>
              <a:t>Relative refractory : Some  Na channels have re-opened, but threshold higher than normal due to hyperpolarisation, need a stronger than</a:t>
            </a:r>
            <a:r>
              <a:rPr lang="en-GB" baseline="0" dirty="0"/>
              <a:t> normal </a:t>
            </a:r>
            <a:r>
              <a:rPr lang="en-GB" dirty="0"/>
              <a:t>stimulus to raise membrane potential to threshold</a:t>
            </a:r>
          </a:p>
          <a:p>
            <a:pPr>
              <a:defRPr/>
            </a:pPr>
            <a:r>
              <a:rPr lang="en-GB" dirty="0"/>
              <a:t>High permeability to K. Goes to more negative membrane potential.</a:t>
            </a:r>
          </a:p>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58</a:t>
            </a:fld>
            <a:endParaRPr lang="en-GB"/>
          </a:p>
        </p:txBody>
      </p:sp>
    </p:spTree>
    <p:extLst>
      <p:ext uri="{BB962C8B-B14F-4D97-AF65-F5344CB8AC3E}">
        <p14:creationId xmlns:p14="http://schemas.microsoft.com/office/powerpoint/2010/main" val="35623495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b="0" i="0" dirty="0">
                <a:solidFill>
                  <a:srgbClr val="2E2E2E"/>
                </a:solidFill>
                <a:effectLst/>
                <a:latin typeface="NexusSansWebPro"/>
              </a:rPr>
              <a:t>Certain pathogens exploit retrograde transport to invade the nervous system. Upon exposure to distal axon terminals, they are able to “hitch-hike” back to the cell soma. Known examples include tetanus toxin, herpes simplex virus, rabies virus, and poliovirus. Thus onset of symptoms will be delayed according to the length of time required for retrograde transport.</a:t>
            </a:r>
            <a:endParaRPr lang="en-MY" dirty="0"/>
          </a:p>
          <a:p>
            <a:endParaRPr lang="en-MY" dirty="0"/>
          </a:p>
        </p:txBody>
      </p:sp>
      <p:sp>
        <p:nvSpPr>
          <p:cNvPr id="4" name="Slide Number Placeholder 3"/>
          <p:cNvSpPr>
            <a:spLocks noGrp="1"/>
          </p:cNvSpPr>
          <p:nvPr>
            <p:ph type="sldNum" sz="quarter" idx="5"/>
          </p:nvPr>
        </p:nvSpPr>
        <p:spPr/>
        <p:txBody>
          <a:bodyPr/>
          <a:lstStyle/>
          <a:p>
            <a:fld id="{54152EC8-FAC3-49B9-89EC-093B9417293F}" type="slidenum">
              <a:rPr lang="en-GB" smtClean="0"/>
              <a:t>59</a:t>
            </a:fld>
            <a:endParaRPr lang="en-GB"/>
          </a:p>
        </p:txBody>
      </p:sp>
    </p:spTree>
    <p:extLst>
      <p:ext uri="{BB962C8B-B14F-4D97-AF65-F5344CB8AC3E}">
        <p14:creationId xmlns:p14="http://schemas.microsoft.com/office/powerpoint/2010/main" val="31225459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61</a:t>
            </a:fld>
            <a:endParaRPr lang="en-GB"/>
          </a:p>
        </p:txBody>
      </p:sp>
    </p:spTree>
    <p:extLst>
      <p:ext uri="{BB962C8B-B14F-4D97-AF65-F5344CB8AC3E}">
        <p14:creationId xmlns:p14="http://schemas.microsoft.com/office/powerpoint/2010/main" val="7217511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54152EC8-FAC3-49B9-89EC-093B9417293F}" type="slidenum">
              <a:rPr lang="en-GB" smtClean="0"/>
              <a:t>66</a:t>
            </a:fld>
            <a:endParaRPr lang="en-GB"/>
          </a:p>
        </p:txBody>
      </p:sp>
    </p:spTree>
    <p:extLst>
      <p:ext uri="{BB962C8B-B14F-4D97-AF65-F5344CB8AC3E}">
        <p14:creationId xmlns:p14="http://schemas.microsoft.com/office/powerpoint/2010/main" val="4086512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Duration of refractory period determines max frequency at which an action potential can occur.</a:t>
            </a:r>
          </a:p>
        </p:txBody>
      </p:sp>
      <p:sp>
        <p:nvSpPr>
          <p:cNvPr id="4" name="Slide Number Placeholder 3"/>
          <p:cNvSpPr>
            <a:spLocks noGrp="1"/>
          </p:cNvSpPr>
          <p:nvPr>
            <p:ph type="sldNum" sz="quarter" idx="5"/>
          </p:nvPr>
        </p:nvSpPr>
        <p:spPr/>
        <p:txBody>
          <a:bodyPr/>
          <a:lstStyle/>
          <a:p>
            <a:fld id="{0B68C3CB-3118-423E-861A-757A9737E9E3}" type="slidenum">
              <a:rPr lang="en-GB" smtClean="0"/>
              <a:t>67</a:t>
            </a:fld>
            <a:endParaRPr lang="en-GB"/>
          </a:p>
        </p:txBody>
      </p:sp>
    </p:spTree>
    <p:extLst>
      <p:ext uri="{BB962C8B-B14F-4D97-AF65-F5344CB8AC3E}">
        <p14:creationId xmlns:p14="http://schemas.microsoft.com/office/powerpoint/2010/main" val="19832389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68</a:t>
            </a:fld>
            <a:endParaRPr lang="en-GB"/>
          </a:p>
        </p:txBody>
      </p:sp>
    </p:spTree>
    <p:extLst>
      <p:ext uri="{BB962C8B-B14F-4D97-AF65-F5344CB8AC3E}">
        <p14:creationId xmlns:p14="http://schemas.microsoft.com/office/powerpoint/2010/main" val="12568877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69</a:t>
            </a:fld>
            <a:endParaRPr lang="en-GB"/>
          </a:p>
        </p:txBody>
      </p:sp>
    </p:spTree>
    <p:extLst>
      <p:ext uri="{BB962C8B-B14F-4D97-AF65-F5344CB8AC3E}">
        <p14:creationId xmlns:p14="http://schemas.microsoft.com/office/powerpoint/2010/main" val="13863707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70</a:t>
            </a:fld>
            <a:endParaRPr lang="en-GB"/>
          </a:p>
        </p:txBody>
      </p:sp>
    </p:spTree>
    <p:extLst>
      <p:ext uri="{BB962C8B-B14F-4D97-AF65-F5344CB8AC3E}">
        <p14:creationId xmlns:p14="http://schemas.microsoft.com/office/powerpoint/2010/main" val="8478931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71</a:t>
            </a:fld>
            <a:endParaRPr lang="en-GB"/>
          </a:p>
        </p:txBody>
      </p:sp>
    </p:spTree>
    <p:extLst>
      <p:ext uri="{BB962C8B-B14F-4D97-AF65-F5344CB8AC3E}">
        <p14:creationId xmlns:p14="http://schemas.microsoft.com/office/powerpoint/2010/main" val="6561155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72</a:t>
            </a:fld>
            <a:endParaRPr lang="en-GB"/>
          </a:p>
        </p:txBody>
      </p:sp>
    </p:spTree>
    <p:extLst>
      <p:ext uri="{BB962C8B-B14F-4D97-AF65-F5344CB8AC3E}">
        <p14:creationId xmlns:p14="http://schemas.microsoft.com/office/powerpoint/2010/main" val="37097272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sz="1200" dirty="0">
                <a:latin typeface="Arial Rounded MT Bold" pitchFamily="34" charset="0"/>
              </a:rPr>
              <a:t>It </a:t>
            </a:r>
            <a:r>
              <a:rPr lang="en-GB" sz="1200" dirty="0">
                <a:latin typeface="Arial Rounded MT Bold" pitchFamily="34" charset="0"/>
              </a:rPr>
              <a:t>is the most common neurological disorder among young adults and affects ~ 85,000 people in the UK.</a:t>
            </a:r>
          </a:p>
          <a:p>
            <a:r>
              <a:rPr lang="en-US" sz="1200" dirty="0">
                <a:latin typeface="Arial Rounded MT Bold" pitchFamily="34" charset="0"/>
              </a:rPr>
              <a:t>demyelination of axons in the nervous system results in </a:t>
            </a:r>
            <a:r>
              <a:rPr lang="en-US" sz="1200" dirty="0" err="1">
                <a:latin typeface="Arial Rounded MT Bold" pitchFamily="34" charset="0"/>
              </a:rPr>
              <a:t>a.p’s</a:t>
            </a:r>
            <a:r>
              <a:rPr lang="en-US" sz="1200" dirty="0">
                <a:latin typeface="Arial Rounded MT Bold" pitchFamily="34" charset="0"/>
              </a:rPr>
              <a:t> being unable to jump between nodes of Ranvier, so </a:t>
            </a:r>
            <a:r>
              <a:rPr lang="en-US" sz="1200" dirty="0" err="1">
                <a:latin typeface="Arial Rounded MT Bold" pitchFamily="34" charset="0"/>
              </a:rPr>
              <a:t>a.p</a:t>
            </a:r>
            <a:r>
              <a:rPr lang="en-US" sz="1200" dirty="0">
                <a:latin typeface="Arial Rounded MT Bold" pitchFamily="34" charset="0"/>
              </a:rPr>
              <a:t>. propagation ceases</a:t>
            </a:r>
            <a:r>
              <a:rPr lang="en-GB" sz="1200" b="0" dirty="0">
                <a:latin typeface="Arial Rounded MT Bold" pitchFamily="34" charset="0"/>
              </a:rPr>
              <a:t> </a:t>
            </a:r>
          </a:p>
          <a:p>
            <a:r>
              <a:rPr lang="en-US" dirty="0"/>
              <a:t>Damage to myelin causes </a:t>
            </a:r>
            <a:r>
              <a:rPr lang="en-US" b="1" dirty="0"/>
              <a:t>interference in the communication between your brain, spinal cord and other areas of your body.</a:t>
            </a:r>
            <a:r>
              <a:rPr lang="en-US" dirty="0"/>
              <a:t> This condition may result in deterioration of the nerves themselves, a process that's not reversible.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Symptoms vary widely, depending on the amount of damage and the nerves that are affected. People with severe cases of multiple sclerosis may lose the ability to walk or speak clearly. Multiple sclerosis can be difficult to diagnose early in the course of the disease because symptoms often come and go — sometimes disappearing for months. Symptoms: </a:t>
            </a:r>
            <a:r>
              <a:rPr lang="en-MY" b="1" i="0" dirty="0">
                <a:solidFill>
                  <a:srgbClr val="2E2E2E"/>
                </a:solidFill>
                <a:effectLst/>
                <a:latin typeface="NexusSansWebPro"/>
              </a:rPr>
              <a:t>Scanning speech, intention tremor, nystagmus, optic neuritis (sudden vision loss), hemiparesis, incontinence.</a:t>
            </a:r>
          </a:p>
          <a:p>
            <a:pPr marL="0" marR="0" indent="0" algn="l" defTabSz="914400" rtl="0" eaLnBrk="1" fontAlgn="auto" latinLnBrk="0" hangingPunct="1">
              <a:lnSpc>
                <a:spcPct val="100000"/>
              </a:lnSpc>
              <a:spcBef>
                <a:spcPts val="0"/>
              </a:spcBef>
              <a:spcAft>
                <a:spcPts val="0"/>
              </a:spcAft>
              <a:buClrTx/>
              <a:buSzTx/>
              <a:buFontTx/>
              <a:buNone/>
              <a:tabLst/>
              <a:defRPr/>
            </a:pPr>
            <a:endParaRPr lang="en-MY" b="1" i="0" dirty="0">
              <a:solidFill>
                <a:srgbClr val="2E2E2E"/>
              </a:solidFill>
              <a:effectLst/>
              <a:latin typeface="NexusSansWebPro"/>
            </a:endParaRPr>
          </a:p>
          <a:p>
            <a:pPr marL="0" marR="0" indent="0" algn="l" defTabSz="914400" rtl="0" eaLnBrk="1" fontAlgn="auto" latinLnBrk="0" hangingPunct="1">
              <a:lnSpc>
                <a:spcPct val="100000"/>
              </a:lnSpc>
              <a:spcBef>
                <a:spcPts val="0"/>
              </a:spcBef>
              <a:spcAft>
                <a:spcPts val="0"/>
              </a:spcAft>
              <a:buClrTx/>
              <a:buSzTx/>
              <a:buFontTx/>
              <a:buNone/>
              <a:tabLst/>
              <a:defRPr/>
            </a:pPr>
            <a:r>
              <a:rPr lang="en-MY" b="0" i="0" dirty="0">
                <a:solidFill>
                  <a:srgbClr val="2E2E2E"/>
                </a:solidFill>
                <a:effectLst/>
                <a:latin typeface="NexusSansWebPro"/>
              </a:rPr>
              <a:t>Other examples of myelinated diseases: </a:t>
            </a:r>
            <a:r>
              <a:rPr lang="en-MY" b="1" i="0" dirty="0">
                <a:solidFill>
                  <a:srgbClr val="2E2E2E"/>
                </a:solidFill>
                <a:effectLst/>
                <a:latin typeface="NexusSansWebPro"/>
              </a:rPr>
              <a:t>Guillain Barré syndrome (PNS) : </a:t>
            </a:r>
            <a:r>
              <a:rPr lang="en-MY" b="0" i="0" dirty="0">
                <a:solidFill>
                  <a:srgbClr val="2E2E2E"/>
                </a:solidFill>
                <a:effectLst/>
                <a:latin typeface="NexusSansWebPro"/>
              </a:rPr>
              <a:t>Symmetric ascending muscle weakness/paralysis</a:t>
            </a:r>
          </a:p>
          <a:p>
            <a:pPr marL="0" marR="0" indent="0" algn="l" defTabSz="914400" rtl="0" eaLnBrk="1" fontAlgn="auto" latinLnBrk="0" hangingPunct="1">
              <a:lnSpc>
                <a:spcPct val="100000"/>
              </a:lnSpc>
              <a:spcBef>
                <a:spcPts val="0"/>
              </a:spcBef>
              <a:spcAft>
                <a:spcPts val="0"/>
              </a:spcAft>
              <a:buClrTx/>
              <a:buSzTx/>
              <a:buFontTx/>
              <a:buNone/>
              <a:tabLst/>
              <a:defRPr/>
            </a:pPr>
            <a:r>
              <a:rPr lang="en-MY" b="1" i="0" dirty="0">
                <a:solidFill>
                  <a:srgbClr val="2E2E2E"/>
                </a:solidFill>
                <a:effectLst/>
                <a:latin typeface="NexusSansWebPro"/>
              </a:rPr>
              <a:t>Tabes dorsalis : (PNS) : </a:t>
            </a:r>
            <a:r>
              <a:rPr lang="en-MY" b="0" i="0" dirty="0">
                <a:solidFill>
                  <a:srgbClr val="2E2E2E"/>
                </a:solidFill>
                <a:effectLst/>
                <a:latin typeface="NexusSansWebPro"/>
              </a:rPr>
              <a:t>Impaired sensation and proprioception worst in lower extremities</a:t>
            </a:r>
            <a:endParaRPr lang="en-US" b="1"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Multiple sclerosis has no cure. However, treatments may help treat MS attacks, manage symptoms and reduce progress of the disease. </a:t>
            </a:r>
            <a:endParaRPr lang="en-GB" dirty="0"/>
          </a:p>
        </p:txBody>
      </p:sp>
      <p:sp>
        <p:nvSpPr>
          <p:cNvPr id="4" name="Slide Number Placeholder 3"/>
          <p:cNvSpPr>
            <a:spLocks noGrp="1"/>
          </p:cNvSpPr>
          <p:nvPr>
            <p:ph type="sldNum" sz="quarter" idx="10"/>
          </p:nvPr>
        </p:nvSpPr>
        <p:spPr/>
        <p:txBody>
          <a:bodyPr/>
          <a:lstStyle/>
          <a:p>
            <a:fld id="{18CE1B3F-9489-48C0-8561-6CE33F5CCD35}" type="slidenum">
              <a:rPr lang="en-GB" smtClean="0"/>
              <a:t>73</a:t>
            </a:fld>
            <a:endParaRPr lang="en-GB"/>
          </a:p>
        </p:txBody>
      </p:sp>
    </p:spTree>
    <p:extLst>
      <p:ext uri="{BB962C8B-B14F-4D97-AF65-F5344CB8AC3E}">
        <p14:creationId xmlns:p14="http://schemas.microsoft.com/office/powerpoint/2010/main" val="177281637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8CE1B3F-9489-48C0-8561-6CE33F5CCD35}" type="slidenum">
              <a:rPr lang="en-GB" smtClean="0"/>
              <a:t>74</a:t>
            </a:fld>
            <a:endParaRPr lang="en-GB"/>
          </a:p>
        </p:txBody>
      </p:sp>
    </p:spTree>
    <p:extLst>
      <p:ext uri="{BB962C8B-B14F-4D97-AF65-F5344CB8AC3E}">
        <p14:creationId xmlns:p14="http://schemas.microsoft.com/office/powerpoint/2010/main" val="28107331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75</a:t>
            </a:fld>
            <a:endParaRPr lang="en-GB"/>
          </a:p>
        </p:txBody>
      </p:sp>
    </p:spTree>
    <p:extLst>
      <p:ext uri="{BB962C8B-B14F-4D97-AF65-F5344CB8AC3E}">
        <p14:creationId xmlns:p14="http://schemas.microsoft.com/office/powerpoint/2010/main" val="30210014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E0DF7-5D3D-B999-8F62-AA888D1AE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790C6-F775-9C04-9CA6-EDD6B858280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100F5D1-5463-9848-7D4E-50B8FB0EDD0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B758E55-825B-73DF-E386-B445B3ED2403}"/>
              </a:ext>
            </a:extLst>
          </p:cNvPr>
          <p:cNvSpPr>
            <a:spLocks noGrp="1"/>
          </p:cNvSpPr>
          <p:nvPr>
            <p:ph type="sldNum" sz="quarter" idx="5"/>
          </p:nvPr>
        </p:nvSpPr>
        <p:spPr/>
        <p:txBody>
          <a:bodyPr/>
          <a:lstStyle/>
          <a:p>
            <a:fld id="{0B68C3CB-3118-423E-861A-757A9737E9E3}" type="slidenum">
              <a:rPr lang="en-GB" smtClean="0"/>
              <a:t>76</a:t>
            </a:fld>
            <a:endParaRPr lang="en-GB"/>
          </a:p>
        </p:txBody>
      </p:sp>
    </p:spTree>
    <p:extLst>
      <p:ext uri="{BB962C8B-B14F-4D97-AF65-F5344CB8AC3E}">
        <p14:creationId xmlns:p14="http://schemas.microsoft.com/office/powerpoint/2010/main" val="31233236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77</a:t>
            </a:fld>
            <a:endParaRPr lang="en-GB"/>
          </a:p>
        </p:txBody>
      </p:sp>
    </p:spTree>
    <p:extLst>
      <p:ext uri="{BB962C8B-B14F-4D97-AF65-F5344CB8AC3E}">
        <p14:creationId xmlns:p14="http://schemas.microsoft.com/office/powerpoint/2010/main" val="11744573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78</a:t>
            </a:fld>
            <a:endParaRPr lang="en-GB"/>
          </a:p>
        </p:txBody>
      </p:sp>
    </p:spTree>
    <p:extLst>
      <p:ext uri="{BB962C8B-B14F-4D97-AF65-F5344CB8AC3E}">
        <p14:creationId xmlns:p14="http://schemas.microsoft.com/office/powerpoint/2010/main" val="41323213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79</a:t>
            </a:fld>
            <a:endParaRPr lang="en-GB"/>
          </a:p>
        </p:txBody>
      </p:sp>
    </p:spTree>
    <p:extLst>
      <p:ext uri="{BB962C8B-B14F-4D97-AF65-F5344CB8AC3E}">
        <p14:creationId xmlns:p14="http://schemas.microsoft.com/office/powerpoint/2010/main" val="2704937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67544" y="1543050"/>
            <a:ext cx="6552728" cy="596652"/>
          </a:xfrm>
          <a:prstGeom prst="rect">
            <a:avLst/>
          </a:prstGeom>
        </p:spPr>
        <p:txBody>
          <a:bodyPr/>
          <a:lstStyle>
            <a:lvl1pPr>
              <a:defRPr>
                <a:solidFill>
                  <a:schemeClr val="tx1"/>
                </a:solidFill>
                <a:latin typeface="Georgia"/>
                <a:cs typeface="Georgia"/>
              </a:defRPr>
            </a:lvl1pPr>
          </a:lstStyle>
          <a:p>
            <a:r>
              <a:rPr lang="en-GB" dirty="0"/>
              <a:t>Click to edit Master title style</a:t>
            </a:r>
          </a:p>
        </p:txBody>
      </p:sp>
      <p:sp>
        <p:nvSpPr>
          <p:cNvPr id="5" name="Text Placeholder 4"/>
          <p:cNvSpPr>
            <a:spLocks noGrp="1"/>
          </p:cNvSpPr>
          <p:nvPr>
            <p:ph type="body" sz="quarter" idx="10" hasCustomPrompt="1"/>
          </p:nvPr>
        </p:nvSpPr>
        <p:spPr>
          <a:xfrm>
            <a:off x="468313" y="2211388"/>
            <a:ext cx="6551612" cy="360362"/>
          </a:xfrm>
          <a:prstGeom prst="rect">
            <a:avLst/>
          </a:prstGeom>
        </p:spPr>
        <p:txBody>
          <a:bodyPr/>
          <a:lstStyle>
            <a:lvl1pPr>
              <a:defRPr sz="1600" baseline="0">
                <a:solidFill>
                  <a:schemeClr val="tx1"/>
                </a:solidFill>
              </a:defRPr>
            </a:lvl1pPr>
          </a:lstStyle>
          <a:p>
            <a:pPr lvl="0"/>
            <a:r>
              <a:rPr lang="en-GB" dirty="0"/>
              <a:t>Click to edit subtitle</a:t>
            </a:r>
          </a:p>
        </p:txBody>
      </p:sp>
    </p:spTree>
    <p:extLst>
      <p:ext uri="{BB962C8B-B14F-4D97-AF65-F5344CB8AC3E}">
        <p14:creationId xmlns:p14="http://schemas.microsoft.com/office/powerpoint/2010/main" val="698038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11510"/>
            <a:ext cx="7772400" cy="857250"/>
          </a:xfrm>
          <a:prstGeom prst="rect">
            <a:avLst/>
          </a:prstGeom>
        </p:spPr>
        <p:txBody>
          <a:bodyPr/>
          <a:lstStyle>
            <a:lvl1pPr>
              <a:defRPr sz="2800">
                <a:solidFill>
                  <a:schemeClr val="tx1"/>
                </a:solidFill>
                <a:latin typeface="Georgia"/>
                <a:cs typeface="Georgia"/>
              </a:defRPr>
            </a:lvl1pPr>
          </a:lstStyle>
          <a:p>
            <a:r>
              <a:rPr lang="en-GB" dirty="0"/>
              <a:t>Click to edit slide heading</a:t>
            </a:r>
          </a:p>
        </p:txBody>
      </p:sp>
      <p:sp>
        <p:nvSpPr>
          <p:cNvPr id="3" name="Content Placeholder 2"/>
          <p:cNvSpPr>
            <a:spLocks noGrp="1"/>
          </p:cNvSpPr>
          <p:nvPr>
            <p:ph idx="1" hasCustomPrompt="1"/>
          </p:nvPr>
        </p:nvSpPr>
        <p:spPr>
          <a:xfrm>
            <a:off x="395536" y="1347614"/>
            <a:ext cx="7772400" cy="2952328"/>
          </a:xfrm>
          <a:prstGeom prst="rect">
            <a:avLst/>
          </a:prstGeom>
        </p:spPr>
        <p:txBody>
          <a:bodyPr/>
          <a:lstStyle>
            <a:lvl1pPr marL="342900" indent="-342900">
              <a:buClr>
                <a:schemeClr val="tx1"/>
              </a:buClr>
              <a:buFont typeface="Wingdings" panose="05000000000000000000" pitchFamily="2" charset="2"/>
              <a:buChar char="§"/>
              <a:defRPr b="0" baseline="0">
                <a:solidFill>
                  <a:schemeClr val="tx1"/>
                </a:solidFill>
              </a:defRPr>
            </a:lvl1pPr>
            <a:lvl2pPr>
              <a:defRPr b="0"/>
            </a:lvl2pPr>
            <a:lvl3pPr>
              <a:defRPr b="0"/>
            </a:lvl3pPr>
            <a:lvl4pPr>
              <a:defRPr b="0"/>
            </a:lvl4pPr>
            <a:lvl5pPr>
              <a:defRPr b="0"/>
            </a:lvl5pPr>
          </a:lstStyle>
          <a:p>
            <a:pPr lvl="0"/>
            <a:r>
              <a:rPr lang="en-US" dirty="0"/>
              <a:t>Click to add content</a:t>
            </a:r>
          </a:p>
        </p:txBody>
      </p:sp>
    </p:spTree>
    <p:extLst>
      <p:ext uri="{BB962C8B-B14F-4D97-AF65-F5344CB8AC3E}">
        <p14:creationId xmlns:p14="http://schemas.microsoft.com/office/powerpoint/2010/main" val="423751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lan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11510"/>
            <a:ext cx="7772400" cy="857250"/>
          </a:xfrm>
          <a:prstGeom prst="rect">
            <a:avLst/>
          </a:prstGeom>
        </p:spPr>
        <p:txBody>
          <a:bodyPr/>
          <a:lstStyle>
            <a:lvl1pPr>
              <a:defRPr sz="2800">
                <a:solidFill>
                  <a:schemeClr val="tx1"/>
                </a:solidFill>
                <a:latin typeface="Georgia"/>
                <a:cs typeface="Georgia"/>
              </a:defRPr>
            </a:lvl1pPr>
          </a:lstStyle>
          <a:p>
            <a:r>
              <a:rPr lang="en-GB" dirty="0"/>
              <a:t>Click to edit slide heading</a:t>
            </a:r>
          </a:p>
        </p:txBody>
      </p:sp>
      <p:sp>
        <p:nvSpPr>
          <p:cNvPr id="3" name="Content Placeholder 2"/>
          <p:cNvSpPr>
            <a:spLocks noGrp="1"/>
          </p:cNvSpPr>
          <p:nvPr>
            <p:ph idx="1" hasCustomPrompt="1"/>
          </p:nvPr>
        </p:nvSpPr>
        <p:spPr>
          <a:xfrm>
            <a:off x="395536" y="1347614"/>
            <a:ext cx="7772400" cy="3384376"/>
          </a:xfrm>
          <a:prstGeom prst="rect">
            <a:avLst/>
          </a:prstGeom>
        </p:spPr>
        <p:txBody>
          <a:bodyPr/>
          <a:lstStyle>
            <a:lvl1pPr marL="342900" indent="-342900">
              <a:buClr>
                <a:schemeClr val="tx1"/>
              </a:buClr>
              <a:buFont typeface="Wingdings" panose="05000000000000000000" pitchFamily="2" charset="2"/>
              <a:buChar char="§"/>
              <a:defRPr b="0" baseline="0">
                <a:solidFill>
                  <a:schemeClr val="tx1"/>
                </a:solidFill>
              </a:defRPr>
            </a:lvl1pPr>
            <a:lvl2pPr>
              <a:defRPr b="0"/>
            </a:lvl2pPr>
            <a:lvl3pPr>
              <a:defRPr b="0"/>
            </a:lvl3pPr>
            <a:lvl4pPr>
              <a:defRPr b="0"/>
            </a:lvl4pPr>
            <a:lvl5pPr>
              <a:defRPr b="0"/>
            </a:lvl5pPr>
          </a:lstStyle>
          <a:p>
            <a:pPr lvl="0"/>
            <a:r>
              <a:rPr lang="en-US" dirty="0"/>
              <a:t>Click to add content</a:t>
            </a:r>
          </a:p>
        </p:txBody>
      </p:sp>
    </p:spTree>
    <p:extLst>
      <p:ext uri="{BB962C8B-B14F-4D97-AF65-F5344CB8AC3E}">
        <p14:creationId xmlns:p14="http://schemas.microsoft.com/office/powerpoint/2010/main" val="99895518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11907"/>
            <a:ext cx="4535165" cy="918269"/>
          </a:xfrm>
          <a:prstGeom prst="rect">
            <a:avLst/>
          </a:prstGeom>
        </p:spPr>
        <p:txBody>
          <a:bodyPr/>
          <a:lstStyle>
            <a:lvl1pPr>
              <a:defRPr sz="2800">
                <a:solidFill>
                  <a:schemeClr val="tx1"/>
                </a:solidFill>
                <a:latin typeface="Georgia"/>
                <a:cs typeface="Georgia"/>
              </a:defRPr>
            </a:lvl1pPr>
          </a:lstStyle>
          <a:p>
            <a:r>
              <a:rPr lang="en-GB" dirty="0"/>
              <a:t>Click to edit slide heading</a:t>
            </a:r>
          </a:p>
        </p:txBody>
      </p:sp>
      <p:sp>
        <p:nvSpPr>
          <p:cNvPr id="3" name="Content Placeholder 2"/>
          <p:cNvSpPr>
            <a:spLocks noGrp="1"/>
          </p:cNvSpPr>
          <p:nvPr>
            <p:ph idx="1" hasCustomPrompt="1"/>
          </p:nvPr>
        </p:nvSpPr>
        <p:spPr>
          <a:xfrm>
            <a:off x="395536" y="1440607"/>
            <a:ext cx="4535165" cy="2715319"/>
          </a:xfrm>
          <a:prstGeom prst="rect">
            <a:avLst/>
          </a:prstGeom>
        </p:spPr>
        <p:txBody>
          <a:bodyPr/>
          <a:lstStyle>
            <a:lvl1pPr marL="342900" indent="-342900">
              <a:buClr>
                <a:schemeClr val="tx1"/>
              </a:buClr>
              <a:buFont typeface="Wingdings" panose="05000000000000000000" pitchFamily="2" charset="2"/>
              <a:buChar char="§"/>
              <a:defRPr b="0" baseline="0">
                <a:solidFill>
                  <a:schemeClr val="tx1"/>
                </a:solidFill>
              </a:defRPr>
            </a:lvl1pPr>
            <a:lvl2pPr>
              <a:defRPr b="0"/>
            </a:lvl2pPr>
            <a:lvl3pPr>
              <a:defRPr b="0"/>
            </a:lvl3pPr>
            <a:lvl4pPr>
              <a:defRPr b="0"/>
            </a:lvl4pPr>
            <a:lvl5pPr>
              <a:defRPr b="0"/>
            </a:lvl5pPr>
          </a:lstStyle>
          <a:p>
            <a:pPr lvl="0"/>
            <a:r>
              <a:rPr lang="en-US" dirty="0"/>
              <a:t>Click to add content</a:t>
            </a:r>
          </a:p>
        </p:txBody>
      </p:sp>
      <p:sp>
        <p:nvSpPr>
          <p:cNvPr id="5" name="Picture Placeholder 4"/>
          <p:cNvSpPr>
            <a:spLocks noGrp="1"/>
          </p:cNvSpPr>
          <p:nvPr>
            <p:ph type="pic" sz="quarter" idx="10"/>
          </p:nvPr>
        </p:nvSpPr>
        <p:spPr>
          <a:xfrm>
            <a:off x="5129032" y="411510"/>
            <a:ext cx="1657350" cy="1657350"/>
          </a:xfrm>
          <a:prstGeom prst="rect">
            <a:avLst/>
          </a:prstGeom>
        </p:spPr>
        <p:txBody>
          <a:bodyPr/>
          <a:lstStyle/>
          <a:p>
            <a:endParaRPr lang="en-GB" dirty="0"/>
          </a:p>
        </p:txBody>
      </p:sp>
      <p:sp>
        <p:nvSpPr>
          <p:cNvPr id="6" name="Picture Placeholder 4"/>
          <p:cNvSpPr>
            <a:spLocks noGrp="1"/>
          </p:cNvSpPr>
          <p:nvPr>
            <p:ph type="pic" sz="quarter" idx="11"/>
          </p:nvPr>
        </p:nvSpPr>
        <p:spPr>
          <a:xfrm>
            <a:off x="6946925" y="2215474"/>
            <a:ext cx="1657350" cy="1657350"/>
          </a:xfrm>
          <a:prstGeom prst="rect">
            <a:avLst/>
          </a:prstGeom>
        </p:spPr>
        <p:txBody>
          <a:bodyPr/>
          <a:lstStyle/>
          <a:p>
            <a:endParaRPr lang="en-GB"/>
          </a:p>
        </p:txBody>
      </p:sp>
      <p:sp>
        <p:nvSpPr>
          <p:cNvPr id="7" name="Picture Placeholder 4"/>
          <p:cNvSpPr>
            <a:spLocks noGrp="1"/>
          </p:cNvSpPr>
          <p:nvPr>
            <p:ph type="pic" sz="quarter" idx="12"/>
          </p:nvPr>
        </p:nvSpPr>
        <p:spPr>
          <a:xfrm>
            <a:off x="6946925" y="411510"/>
            <a:ext cx="1657350" cy="1657350"/>
          </a:xfrm>
          <a:prstGeom prst="rect">
            <a:avLst/>
          </a:prstGeom>
        </p:spPr>
        <p:txBody>
          <a:bodyPr/>
          <a:lstStyle/>
          <a:p>
            <a:endParaRPr lang="en-GB"/>
          </a:p>
        </p:txBody>
      </p:sp>
      <p:sp>
        <p:nvSpPr>
          <p:cNvPr id="8" name="Picture Placeholder 4"/>
          <p:cNvSpPr>
            <a:spLocks noGrp="1"/>
          </p:cNvSpPr>
          <p:nvPr>
            <p:ph type="pic" sz="quarter" idx="13"/>
          </p:nvPr>
        </p:nvSpPr>
        <p:spPr>
          <a:xfrm>
            <a:off x="5126154" y="2221260"/>
            <a:ext cx="1657350" cy="1657350"/>
          </a:xfrm>
          <a:prstGeom prst="rect">
            <a:avLst/>
          </a:prstGeom>
        </p:spPr>
        <p:txBody>
          <a:bodyPr/>
          <a:lstStyle/>
          <a:p>
            <a:endParaRPr lang="en-GB"/>
          </a:p>
        </p:txBody>
      </p:sp>
    </p:spTree>
    <p:extLst>
      <p:ext uri="{BB962C8B-B14F-4D97-AF65-F5344CB8AC3E}">
        <p14:creationId xmlns:p14="http://schemas.microsoft.com/office/powerpoint/2010/main" val="138338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11510"/>
            <a:ext cx="7772400" cy="857250"/>
          </a:xfrm>
          <a:prstGeom prst="rect">
            <a:avLst/>
          </a:prstGeom>
        </p:spPr>
        <p:txBody>
          <a:bodyPr/>
          <a:lstStyle>
            <a:lvl1pPr>
              <a:defRPr sz="2800">
                <a:solidFill>
                  <a:schemeClr val="tx1"/>
                </a:solidFill>
                <a:latin typeface="Georgia"/>
                <a:cs typeface="Georgia"/>
              </a:defRPr>
            </a:lvl1pPr>
          </a:lstStyle>
          <a:p>
            <a:r>
              <a:rPr lang="en-GB" dirty="0"/>
              <a:t>Click to edit slide heading</a:t>
            </a:r>
          </a:p>
        </p:txBody>
      </p:sp>
      <p:sp>
        <p:nvSpPr>
          <p:cNvPr id="3" name="Content Placeholder 2"/>
          <p:cNvSpPr>
            <a:spLocks noGrp="1"/>
          </p:cNvSpPr>
          <p:nvPr>
            <p:ph idx="1" hasCustomPrompt="1"/>
          </p:nvPr>
        </p:nvSpPr>
        <p:spPr>
          <a:xfrm>
            <a:off x="395536" y="1347614"/>
            <a:ext cx="7772400" cy="2742009"/>
          </a:xfrm>
          <a:prstGeom prst="rect">
            <a:avLst/>
          </a:prstGeom>
        </p:spPr>
        <p:txBody>
          <a:bodyPr/>
          <a:lstStyle>
            <a:lvl1pPr marL="342900" indent="-342900">
              <a:buClr>
                <a:schemeClr val="tx1"/>
              </a:buClr>
              <a:buFont typeface="Wingdings" panose="05000000000000000000" pitchFamily="2" charset="2"/>
              <a:buChar char="§"/>
              <a:defRPr b="0" baseline="0">
                <a:solidFill>
                  <a:schemeClr val="tx1"/>
                </a:solidFill>
              </a:defRPr>
            </a:lvl1pPr>
            <a:lvl2pPr>
              <a:defRPr b="0"/>
            </a:lvl2pPr>
            <a:lvl3pPr>
              <a:defRPr b="0"/>
            </a:lvl3pPr>
            <a:lvl4pPr>
              <a:defRPr b="0"/>
            </a:lvl4pPr>
            <a:lvl5pPr>
              <a:defRPr b="0"/>
            </a:lvl5pPr>
          </a:lstStyle>
          <a:p>
            <a:pPr lvl="0"/>
            <a:r>
              <a:rPr lang="en-US" dirty="0"/>
              <a:t>Click to add content</a:t>
            </a:r>
          </a:p>
        </p:txBody>
      </p:sp>
    </p:spTree>
    <p:extLst>
      <p:ext uri="{BB962C8B-B14F-4D97-AF65-F5344CB8AC3E}">
        <p14:creationId xmlns:p14="http://schemas.microsoft.com/office/powerpoint/2010/main" val="3083941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Slide_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602FD7-1231-064E-CF9F-7F8C08F8EF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2200" cy="5142488"/>
          </a:xfrm>
          <a:prstGeom prst="rect">
            <a:avLst/>
          </a:prstGeom>
        </p:spPr>
      </p:pic>
      <p:sp>
        <p:nvSpPr>
          <p:cNvPr id="2" name="Title 1">
            <a:extLst>
              <a:ext uri="{FF2B5EF4-FFF2-40B4-BE49-F238E27FC236}">
                <a16:creationId xmlns:a16="http://schemas.microsoft.com/office/drawing/2014/main" id="{8CC78C08-B324-DDE3-8FA4-2E0FECB9847B}"/>
              </a:ext>
            </a:extLst>
          </p:cNvPr>
          <p:cNvSpPr>
            <a:spLocks noGrp="1"/>
          </p:cNvSpPr>
          <p:nvPr>
            <p:ph type="ctrTitle" hasCustomPrompt="1"/>
          </p:nvPr>
        </p:nvSpPr>
        <p:spPr>
          <a:xfrm>
            <a:off x="304800" y="956072"/>
            <a:ext cx="6858000" cy="1790700"/>
          </a:xfrm>
          <a:prstGeom prst="rect">
            <a:avLst/>
          </a:prstGeom>
        </p:spPr>
        <p:txBody>
          <a:bodyPr anchor="b"/>
          <a:lstStyle>
            <a:lvl1pPr algn="l">
              <a:lnSpc>
                <a:spcPts val="3038"/>
              </a:lnSpc>
              <a:defRPr sz="3375"/>
            </a:lvl1pPr>
          </a:lstStyle>
          <a:p>
            <a:r>
              <a:rPr lang="en-GB"/>
              <a:t>Insert headline here. </a:t>
            </a:r>
            <a:br>
              <a:rPr lang="en-GB"/>
            </a:br>
            <a:r>
              <a:rPr lang="en-GB"/>
              <a:t>Should be between </a:t>
            </a:r>
            <a:br>
              <a:rPr lang="en-GB"/>
            </a:br>
            <a:r>
              <a:rPr lang="en-GB"/>
              <a:t>1-3 lines max. </a:t>
            </a:r>
            <a:endParaRPr lang="en-US"/>
          </a:p>
        </p:txBody>
      </p:sp>
      <p:pic>
        <p:nvPicPr>
          <p:cNvPr id="14" name="Graphic 13">
            <a:extLst>
              <a:ext uri="{FF2B5EF4-FFF2-40B4-BE49-F238E27FC236}">
                <a16:creationId xmlns:a16="http://schemas.microsoft.com/office/drawing/2014/main" id="{4504F269-56E3-639E-F1B1-41EEC4813B5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4801" y="4340384"/>
            <a:ext cx="1465544" cy="425804"/>
          </a:xfrm>
          <a:prstGeom prst="rect">
            <a:avLst/>
          </a:prstGeom>
        </p:spPr>
      </p:pic>
      <p:sp>
        <p:nvSpPr>
          <p:cNvPr id="15" name="Subtitle 2">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304800" y="2780776"/>
            <a:ext cx="6858000" cy="1241822"/>
          </a:xfrm>
          <a:prstGeom prst="rect">
            <a:avLst/>
          </a:prstGeom>
        </p:spPr>
        <p:txBody>
          <a:bodyPr>
            <a:normAutofit/>
          </a:bodyPr>
          <a:lstStyle>
            <a:lvl1pPr marL="0" indent="0" algn="l">
              <a:lnSpc>
                <a:spcPct val="100000"/>
              </a:lnSpc>
              <a:spcBef>
                <a:spcPts val="0"/>
              </a:spcBef>
              <a:buNone/>
              <a:defRPr sz="1125" b="0" i="0">
                <a:latin typeface="Arial" panose="020B060402020202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a:solidFill>
                  <a:srgbClr val="FFFFFF"/>
                </a:solidFill>
                <a:effectLst/>
                <a:latin typeface="Helvetica" pitchFamily="2" charset="0"/>
              </a:rPr>
              <a:t>Insert sub copy here.</a:t>
            </a:r>
          </a:p>
          <a:p>
            <a:br>
              <a:rPr lang="en-GB"/>
            </a:br>
            <a:endParaRPr lang="en-GB"/>
          </a:p>
          <a:p>
            <a:r>
              <a:rPr lang="en-GB"/>
              <a:t>image box on the right click on icon or drag </a:t>
            </a:r>
            <a:br>
              <a:rPr lang="en-GB"/>
            </a:br>
            <a:r>
              <a:rPr lang="en-GB"/>
              <a:t>image into the space to add.</a:t>
            </a:r>
            <a:endParaRPr lang="en-US"/>
          </a:p>
        </p:txBody>
      </p:sp>
      <p:sp>
        <p:nvSpPr>
          <p:cNvPr id="16" name="Text Placeholder 2">
            <a:extLst>
              <a:ext uri="{FF2B5EF4-FFF2-40B4-BE49-F238E27FC236}">
                <a16:creationId xmlns:a16="http://schemas.microsoft.com/office/drawing/2014/main" id="{7CE02850-963E-BCA7-D70C-3BCCF65A0640}"/>
              </a:ext>
            </a:extLst>
          </p:cNvPr>
          <p:cNvSpPr>
            <a:spLocks noGrp="1"/>
          </p:cNvSpPr>
          <p:nvPr>
            <p:ph type="body" idx="10" hasCustomPrompt="1"/>
          </p:nvPr>
        </p:nvSpPr>
        <p:spPr>
          <a:xfrm>
            <a:off x="304800" y="523637"/>
            <a:ext cx="6865620" cy="187615"/>
          </a:xfrm>
          <a:prstGeom prst="rect">
            <a:avLst/>
          </a:prstGeom>
        </p:spPr>
        <p:txBody>
          <a:bodyPr wrap="square">
            <a:spAutoFit/>
          </a:bodyPr>
          <a:lstStyle>
            <a:lvl1pPr marL="0" indent="0">
              <a:buNone/>
              <a:defRPr sz="619">
                <a:solidFill>
                  <a:schemeClr val="tx1"/>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GB"/>
              <a:t>SECTION TITLE</a:t>
            </a:r>
          </a:p>
        </p:txBody>
      </p:sp>
      <p:sp>
        <p:nvSpPr>
          <p:cNvPr id="17" name="Picture Placeholder 16">
            <a:extLst>
              <a:ext uri="{FF2B5EF4-FFF2-40B4-BE49-F238E27FC236}">
                <a16:creationId xmlns:a16="http://schemas.microsoft.com/office/drawing/2014/main" id="{5BD1D972-DB48-9F79-3343-53455BAD1A3F}"/>
              </a:ext>
            </a:extLst>
          </p:cNvPr>
          <p:cNvSpPr>
            <a:spLocks noGrp="1"/>
          </p:cNvSpPr>
          <p:nvPr>
            <p:ph type="pic" idx="12" hasCustomPrompt="1"/>
          </p:nvPr>
        </p:nvSpPr>
        <p:spPr>
          <a:xfrm>
            <a:off x="5738007" y="0"/>
            <a:ext cx="3405994" cy="5140569"/>
          </a:xfrm>
          <a:custGeom>
            <a:avLst/>
            <a:gdLst>
              <a:gd name="connsiteX0" fmla="*/ 1895608 w 4541325"/>
              <a:gd name="connsiteY0" fmla="*/ 0 h 6854092"/>
              <a:gd name="connsiteX1" fmla="*/ 4541325 w 4541325"/>
              <a:gd name="connsiteY1" fmla="*/ 0 h 6854092"/>
              <a:gd name="connsiteX2" fmla="*/ 4541325 w 4541325"/>
              <a:gd name="connsiteY2" fmla="*/ 6854092 h 6854092"/>
              <a:gd name="connsiteX3" fmla="*/ 2610437 w 4541325"/>
              <a:gd name="connsiteY3" fmla="*/ 6854092 h 6854092"/>
              <a:gd name="connsiteX4" fmla="*/ 0 w 4541325"/>
              <a:gd name="connsiteY4" fmla="*/ 4568092 h 6854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1325" h="6854092">
                <a:moveTo>
                  <a:pt x="1895608" y="0"/>
                </a:moveTo>
                <a:lnTo>
                  <a:pt x="4541325" y="0"/>
                </a:lnTo>
                <a:lnTo>
                  <a:pt x="4541325" y="6854092"/>
                </a:lnTo>
                <a:lnTo>
                  <a:pt x="2610437" y="6854092"/>
                </a:lnTo>
                <a:lnTo>
                  <a:pt x="0" y="4568092"/>
                </a:lnTo>
                <a:close/>
              </a:path>
            </a:pathLst>
          </a:custGeom>
        </p:spPr>
        <p:txBody>
          <a:bodyPr wrap="square" anchor="ctr">
            <a:noAutofit/>
          </a:bodyPr>
          <a:lstStyle>
            <a:lvl1pPr marL="0" indent="0" algn="ctr">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 </a:t>
            </a:r>
          </a:p>
        </p:txBody>
      </p:sp>
    </p:spTree>
    <p:extLst>
      <p:ext uri="{BB962C8B-B14F-4D97-AF65-F5344CB8AC3E}">
        <p14:creationId xmlns:p14="http://schemas.microsoft.com/office/powerpoint/2010/main" val="3559650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GB"/>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0199B1B-11D7-41D8-A9A4-D605632CBBFC}"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694578-B1E7-4DF8-A0FA-A5874DC20BE8}" type="slidenum">
              <a:rPr lang="en-GB" smtClean="0"/>
              <a:t>‹#›</a:t>
            </a:fld>
            <a:endParaRPr lang="en-GB"/>
          </a:p>
        </p:txBody>
      </p:sp>
    </p:spTree>
    <p:extLst>
      <p:ext uri="{BB962C8B-B14F-4D97-AF65-F5344CB8AC3E}">
        <p14:creationId xmlns:p14="http://schemas.microsoft.com/office/powerpoint/2010/main" val="2283086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99B1B-11D7-41D8-A9A4-D605632CBBFC}" type="datetimeFigureOut">
              <a:rPr lang="en-GB" smtClean="0"/>
              <a:t>10/09/2026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3694578-B1E7-4DF8-A0FA-A5874DC20BE8}" type="slidenum">
              <a:rPr lang="en-GB" smtClean="0"/>
              <a:t>‹#›</a:t>
            </a:fld>
            <a:endParaRPr lang="en-GB"/>
          </a:p>
        </p:txBody>
      </p:sp>
    </p:spTree>
    <p:extLst>
      <p:ext uri="{BB962C8B-B14F-4D97-AF65-F5344CB8AC3E}">
        <p14:creationId xmlns:p14="http://schemas.microsoft.com/office/powerpoint/2010/main" val="3499432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0199B1B-11D7-41D8-A9A4-D605632CBBFC}"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3694578-B1E7-4DF8-A0FA-A5874DC20BE8}" type="slidenum">
              <a:rPr lang="en-GB" smtClean="0"/>
              <a:t>‹#›</a:t>
            </a:fld>
            <a:endParaRPr lang="en-GB"/>
          </a:p>
        </p:txBody>
      </p:sp>
    </p:spTree>
    <p:extLst>
      <p:ext uri="{BB962C8B-B14F-4D97-AF65-F5344CB8AC3E}">
        <p14:creationId xmlns:p14="http://schemas.microsoft.com/office/powerpoint/2010/main" val="3423539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09/10/2026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348740"/>
            <a:ext cx="7886700" cy="3322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081875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44" r:id="rId1"/>
    <p:sldLayoutId id="2147483946" r:id="rId2"/>
    <p:sldLayoutId id="2147483949" r:id="rId3"/>
    <p:sldLayoutId id="2147483948" r:id="rId4"/>
    <p:sldLayoutId id="2147483947" r:id="rId5"/>
    <p:sldLayoutId id="2147483950" r:id="rId6"/>
    <p:sldLayoutId id="2147483951" r:id="rId7"/>
    <p:sldLayoutId id="2147483952" r:id="rId8"/>
    <p:sldLayoutId id="2147483953" r:id="rId9"/>
    <p:sldLayoutId id="2147483954" r:id="rId10"/>
  </p:sldLayoutIdLst>
  <p:txStyles>
    <p:titleStyle>
      <a:lvl1pPr algn="l" rtl="0" eaLnBrk="0" fontAlgn="base" hangingPunct="0">
        <a:spcBef>
          <a:spcPct val="0"/>
        </a:spcBef>
        <a:spcAft>
          <a:spcPct val="0"/>
        </a:spcAft>
        <a:defRPr sz="3600">
          <a:solidFill>
            <a:srgbClr val="489EBD"/>
          </a:solidFill>
          <a:latin typeface="Georgia"/>
          <a:ea typeface="ＭＳ Ｐゴシック" charset="0"/>
          <a:cs typeface="Georgia"/>
        </a:defRPr>
      </a:lvl1pPr>
      <a:lvl2pPr algn="l" rtl="0" eaLnBrk="0" fontAlgn="base" hangingPunct="0">
        <a:spcBef>
          <a:spcPct val="0"/>
        </a:spcBef>
        <a:spcAft>
          <a:spcPct val="0"/>
        </a:spcAft>
        <a:defRPr sz="4000">
          <a:solidFill>
            <a:schemeClr val="bg1"/>
          </a:solidFill>
          <a:latin typeface="Georgia" charset="0"/>
          <a:ea typeface="ＭＳ Ｐゴシック" charset="0"/>
          <a:cs typeface="Georgia" panose="02040502050405020303" pitchFamily="18" charset="0"/>
        </a:defRPr>
      </a:lvl2pPr>
      <a:lvl3pPr algn="l" rtl="0" eaLnBrk="0" fontAlgn="base" hangingPunct="0">
        <a:spcBef>
          <a:spcPct val="0"/>
        </a:spcBef>
        <a:spcAft>
          <a:spcPct val="0"/>
        </a:spcAft>
        <a:defRPr sz="4000">
          <a:solidFill>
            <a:schemeClr val="bg1"/>
          </a:solidFill>
          <a:latin typeface="Georgia" charset="0"/>
          <a:ea typeface="ＭＳ Ｐゴシック" charset="0"/>
          <a:cs typeface="Georgia" panose="02040502050405020303" pitchFamily="18" charset="0"/>
        </a:defRPr>
      </a:lvl3pPr>
      <a:lvl4pPr algn="l" rtl="0" eaLnBrk="0" fontAlgn="base" hangingPunct="0">
        <a:spcBef>
          <a:spcPct val="0"/>
        </a:spcBef>
        <a:spcAft>
          <a:spcPct val="0"/>
        </a:spcAft>
        <a:defRPr sz="4000">
          <a:solidFill>
            <a:schemeClr val="bg1"/>
          </a:solidFill>
          <a:latin typeface="Georgia" charset="0"/>
          <a:ea typeface="ＭＳ Ｐゴシック" charset="0"/>
          <a:cs typeface="Georgia" panose="02040502050405020303" pitchFamily="18" charset="0"/>
        </a:defRPr>
      </a:lvl4pPr>
      <a:lvl5pPr algn="l" rtl="0" eaLnBrk="0" fontAlgn="base" hangingPunct="0">
        <a:spcBef>
          <a:spcPct val="0"/>
        </a:spcBef>
        <a:spcAft>
          <a:spcPct val="0"/>
        </a:spcAft>
        <a:defRPr sz="4000">
          <a:solidFill>
            <a:schemeClr val="bg1"/>
          </a:solidFill>
          <a:latin typeface="Georgia" charset="0"/>
          <a:ea typeface="ＭＳ Ｐゴシック" charset="0"/>
          <a:cs typeface="Georgia" panose="02040502050405020303" pitchFamily="18" charset="0"/>
        </a:defRPr>
      </a:lvl5pPr>
      <a:lvl6pPr marL="457200" algn="l" rtl="0" fontAlgn="base">
        <a:spcBef>
          <a:spcPct val="0"/>
        </a:spcBef>
        <a:spcAft>
          <a:spcPct val="0"/>
        </a:spcAft>
        <a:defRPr sz="4000">
          <a:solidFill>
            <a:schemeClr val="tx2"/>
          </a:solidFill>
          <a:latin typeface="Times New Roman" pitchFamily="18" charset="0"/>
        </a:defRPr>
      </a:lvl6pPr>
      <a:lvl7pPr marL="914400" algn="l" rtl="0" fontAlgn="base">
        <a:spcBef>
          <a:spcPct val="0"/>
        </a:spcBef>
        <a:spcAft>
          <a:spcPct val="0"/>
        </a:spcAft>
        <a:defRPr sz="4000">
          <a:solidFill>
            <a:schemeClr val="tx2"/>
          </a:solidFill>
          <a:latin typeface="Times New Roman" pitchFamily="18" charset="0"/>
        </a:defRPr>
      </a:lvl7pPr>
      <a:lvl8pPr marL="1371600" algn="l" rtl="0" fontAlgn="base">
        <a:spcBef>
          <a:spcPct val="0"/>
        </a:spcBef>
        <a:spcAft>
          <a:spcPct val="0"/>
        </a:spcAft>
        <a:defRPr sz="4000">
          <a:solidFill>
            <a:schemeClr val="tx2"/>
          </a:solidFill>
          <a:latin typeface="Times New Roman" pitchFamily="18" charset="0"/>
        </a:defRPr>
      </a:lvl8pPr>
      <a:lvl9pPr marL="1828800" algn="l" rtl="0" fontAlgn="base">
        <a:spcBef>
          <a:spcPct val="0"/>
        </a:spcBef>
        <a:spcAft>
          <a:spcPct val="0"/>
        </a:spcAft>
        <a:defRPr sz="4000">
          <a:solidFill>
            <a:schemeClr val="tx2"/>
          </a:solidFill>
          <a:latin typeface="Times New Roman" pitchFamily="18" charset="0"/>
        </a:defRPr>
      </a:lvl9pPr>
    </p:titleStyle>
    <p:bodyStyle>
      <a:lvl1pPr marL="0" indent="0" algn="l" rtl="0" eaLnBrk="0" fontAlgn="base" hangingPunct="0">
        <a:spcBef>
          <a:spcPct val="20000"/>
        </a:spcBef>
        <a:spcAft>
          <a:spcPct val="0"/>
        </a:spcAft>
        <a:buClr>
          <a:srgbClr val="0A648F"/>
        </a:buClr>
        <a:buSzPct val="80000"/>
        <a:buFont typeface="Wingdings" pitchFamily="2" charset="2"/>
        <a:buNone/>
        <a:defRPr sz="2000" baseline="0">
          <a:solidFill>
            <a:schemeClr val="tx1"/>
          </a:solidFill>
          <a:latin typeface="+mn-lt"/>
          <a:ea typeface="ＭＳ Ｐゴシック" charset="0"/>
          <a:cs typeface="ＭＳ Ｐゴシック" charset="0"/>
        </a:defRPr>
      </a:lvl1pPr>
      <a:lvl2pPr marL="457200" indent="0" algn="l" rtl="0" eaLnBrk="0" fontAlgn="base" hangingPunct="0">
        <a:spcBef>
          <a:spcPct val="20000"/>
        </a:spcBef>
        <a:spcAft>
          <a:spcPct val="0"/>
        </a:spcAft>
        <a:buClr>
          <a:srgbClr val="0A648F"/>
        </a:buClr>
        <a:buNone/>
        <a:defRPr sz="1600">
          <a:solidFill>
            <a:schemeClr val="tx1"/>
          </a:solidFill>
          <a:latin typeface="+mn-lt"/>
          <a:ea typeface="ＭＳ Ｐゴシック" charset="0"/>
        </a:defRPr>
      </a:lvl2pPr>
      <a:lvl3pPr marL="1143000" indent="-228600" algn="l" rtl="0" eaLnBrk="0" fontAlgn="base" hangingPunct="0">
        <a:spcBef>
          <a:spcPct val="20000"/>
        </a:spcBef>
        <a:spcAft>
          <a:spcPct val="0"/>
        </a:spcAft>
        <a:buClr>
          <a:srgbClr val="0A648F"/>
        </a:buClr>
        <a:buSzPct val="65000"/>
        <a:buFont typeface="Wingdings" pitchFamily="2" charset="2"/>
        <a:buChar char="o"/>
        <a:defRPr sz="2800">
          <a:solidFill>
            <a:schemeClr val="bg1"/>
          </a:solidFill>
          <a:latin typeface="+mn-lt"/>
          <a:ea typeface="ＭＳ Ｐゴシック" charset="0"/>
        </a:defRPr>
      </a:lvl3pPr>
      <a:lvl4pPr marL="1600200" indent="-228600" algn="l" rtl="0" eaLnBrk="0" fontAlgn="base" hangingPunct="0">
        <a:spcBef>
          <a:spcPct val="20000"/>
        </a:spcBef>
        <a:spcAft>
          <a:spcPct val="0"/>
        </a:spcAft>
        <a:buClr>
          <a:srgbClr val="0A648F"/>
        </a:buClr>
        <a:buSzPct val="80000"/>
        <a:buChar char="–"/>
        <a:defRPr sz="2800">
          <a:solidFill>
            <a:schemeClr val="bg1"/>
          </a:solidFill>
          <a:latin typeface="+mn-lt"/>
          <a:ea typeface="ＭＳ Ｐゴシック" charset="0"/>
        </a:defRPr>
      </a:lvl4pPr>
      <a:lvl5pPr marL="2057400" indent="-228600" algn="l" rtl="0" eaLnBrk="0" fontAlgn="base" hangingPunct="0">
        <a:spcBef>
          <a:spcPct val="20000"/>
        </a:spcBef>
        <a:spcAft>
          <a:spcPct val="0"/>
        </a:spcAft>
        <a:buClr>
          <a:srgbClr val="0A648F"/>
        </a:buClr>
        <a:buSzPct val="90000"/>
        <a:buChar char="»"/>
        <a:defRPr sz="2800">
          <a:solidFill>
            <a:schemeClr val="bg1"/>
          </a:solidFill>
          <a:latin typeface="+mn-lt"/>
          <a:ea typeface="ＭＳ Ｐゴシック" charset="0"/>
        </a:defRPr>
      </a:lvl5pPr>
      <a:lvl6pPr marL="2514600" indent="-228600" algn="l" rtl="0" fontAlgn="base">
        <a:spcBef>
          <a:spcPct val="20000"/>
        </a:spcBef>
        <a:spcAft>
          <a:spcPct val="0"/>
        </a:spcAft>
        <a:buClr>
          <a:srgbClr val="CCFFFF"/>
        </a:buClr>
        <a:buSzPct val="90000"/>
        <a:buChar char="»"/>
        <a:defRPr sz="2800" b="1">
          <a:solidFill>
            <a:schemeClr val="tx1"/>
          </a:solidFill>
          <a:latin typeface="+mn-lt"/>
        </a:defRPr>
      </a:lvl6pPr>
      <a:lvl7pPr marL="2971800" indent="-228600" algn="l" rtl="0" fontAlgn="base">
        <a:spcBef>
          <a:spcPct val="20000"/>
        </a:spcBef>
        <a:spcAft>
          <a:spcPct val="0"/>
        </a:spcAft>
        <a:buClr>
          <a:srgbClr val="CCFFFF"/>
        </a:buClr>
        <a:buSzPct val="90000"/>
        <a:buChar char="»"/>
        <a:defRPr sz="2800" b="1">
          <a:solidFill>
            <a:schemeClr val="tx1"/>
          </a:solidFill>
          <a:latin typeface="+mn-lt"/>
        </a:defRPr>
      </a:lvl7pPr>
      <a:lvl8pPr marL="3429000" indent="-228600" algn="l" rtl="0" fontAlgn="base">
        <a:spcBef>
          <a:spcPct val="20000"/>
        </a:spcBef>
        <a:spcAft>
          <a:spcPct val="0"/>
        </a:spcAft>
        <a:buClr>
          <a:srgbClr val="CCFFFF"/>
        </a:buClr>
        <a:buSzPct val="90000"/>
        <a:buChar char="»"/>
        <a:defRPr sz="2800" b="1">
          <a:solidFill>
            <a:schemeClr val="tx1"/>
          </a:solidFill>
          <a:latin typeface="+mn-lt"/>
        </a:defRPr>
      </a:lvl8pPr>
      <a:lvl9pPr marL="3886200" indent="-228600" algn="l" rtl="0" fontAlgn="base">
        <a:spcBef>
          <a:spcPct val="20000"/>
        </a:spcBef>
        <a:spcAft>
          <a:spcPct val="0"/>
        </a:spcAft>
        <a:buClr>
          <a:srgbClr val="CCFFFF"/>
        </a:buClr>
        <a:buSzPct val="90000"/>
        <a:buChar char="»"/>
        <a:defRPr sz="28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my/imgres?imgurl=http://www.willamette.edu/~gorr/classes/cs449/figs/neurons.jpg&amp;imgrefurl=http://www.willamette.edu/~gorr/classes/cs449/brain.html&amp;docid=-lGlHp5yY4-jsM&amp;tbnid=lnW9i7gwTq7cYM:&amp;w=580&amp;h=356&amp;ei=8gEwUquUH8KJrQecqYCoBQ&amp;ved=0CAIQxiAwAA&amp;iact=c"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google.com.my/url?sa=i&amp;rct=j&amp;q=&amp;esrc=s&amp;frm=1&amp;source=images&amp;cd=&amp;cad=rja&amp;docid=zlr8iYVSDlq42M&amp;tbnid=tzPYHZQS4QobNM:&amp;ved=0CAUQjRw&amp;url=http://tuesdaypoem.blogspot.com/&amp;ei=HedgUr63FMfTrQe2uYHADA&amp;bvm=bv.54934254,d.bmk&amp;psig=AFQjCNEzb1cyVARsVTGoWRdqeMjHRuB_tg&amp;ust=138216840244999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google.com.my/imgres?imgurl=http://www.willamette.edu/~gorr/classes/cs449/figs/neurons.jpg&amp;imgrefurl=http://www.willamette.edu/~gorr/classes/cs449/brain.html&amp;docid=-lGlHp5yY4-jsM&amp;tbnid=lnW9i7gwTq7cYM:&amp;w=580&amp;h=356&amp;ei=8gEwUquUH8KJrQecqYCoBQ&amp;ved=0CAIQxiAwAA&amp;iact=c"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0.jpeg"/><Relationship Id="rId7" Type="http://schemas.openxmlformats.org/officeDocument/2006/relationships/diagramColors" Target="../diagrams/colors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4.xml"/><Relationship Id="rId7" Type="http://schemas.openxmlformats.org/officeDocument/2006/relationships/notesSlide" Target="../notesSlides/notesSlide3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10.xml"/><Relationship Id="rId5" Type="http://schemas.openxmlformats.org/officeDocument/2006/relationships/tags" Target="../tags/tag6.xml"/><Relationship Id="rId4" Type="http://schemas.openxmlformats.org/officeDocument/2006/relationships/tags" Target="../tags/tag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9.xml"/><Relationship Id="rId7" Type="http://schemas.openxmlformats.org/officeDocument/2006/relationships/notesSlide" Target="../notesSlides/notesSlide64.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0.xml"/><Relationship Id="rId5" Type="http://schemas.openxmlformats.org/officeDocument/2006/relationships/tags" Target="../tags/tag11.xml"/><Relationship Id="rId4" Type="http://schemas.openxmlformats.org/officeDocument/2006/relationships/tags" Target="../tags/tag1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314F977-DAAD-FF47-3FD5-579190CEB9B4}"/>
              </a:ext>
            </a:extLst>
          </p:cNvPr>
          <p:cNvSpPr>
            <a:spLocks noGrp="1"/>
          </p:cNvSpPr>
          <p:nvPr>
            <p:ph type="subTitle" idx="1"/>
          </p:nvPr>
        </p:nvSpPr>
        <p:spPr>
          <a:xfrm>
            <a:off x="581484" y="2356453"/>
            <a:ext cx="3998306" cy="1342368"/>
          </a:xfrm>
        </p:spPr>
        <p:txBody>
          <a:bodyPr>
            <a:noAutofit/>
          </a:bodyPr>
          <a:lstStyle/>
          <a:p>
            <a:pPr algn="ctr"/>
            <a:r>
              <a:rPr lang="en-US" sz="2400" dirty="0">
                <a:solidFill>
                  <a:srgbClr val="0070C0"/>
                </a:solidFill>
              </a:rPr>
              <a:t>Lecture :</a:t>
            </a:r>
          </a:p>
          <a:p>
            <a:pPr algn="ctr"/>
            <a:r>
              <a:rPr lang="en-US" sz="2400" dirty="0">
                <a:solidFill>
                  <a:srgbClr val="0070C0"/>
                </a:solidFill>
              </a:rPr>
              <a:t>Dr Ratnadeep Saha</a:t>
            </a:r>
          </a:p>
          <a:p>
            <a:pPr algn="ctr"/>
            <a:r>
              <a:rPr lang="en-US" sz="2400" dirty="0">
                <a:solidFill>
                  <a:schemeClr val="bg1"/>
                </a:solidFill>
              </a:rPr>
              <a:t>Email: r.saha@bham.ac.uk</a:t>
            </a:r>
          </a:p>
          <a:p>
            <a:pPr algn="ctr"/>
            <a:endParaRPr lang="en-US" dirty="0"/>
          </a:p>
        </p:txBody>
      </p:sp>
      <p:pic>
        <p:nvPicPr>
          <p:cNvPr id="7" name="Picture Placeholder 3" descr="A high angle view of a city&#10;&#10;Description automatically generated">
            <a:extLst>
              <a:ext uri="{FF2B5EF4-FFF2-40B4-BE49-F238E27FC236}">
                <a16:creationId xmlns:a16="http://schemas.microsoft.com/office/drawing/2014/main" id="{F813AF6A-9651-DAA2-42A8-8E39E70C26F8}"/>
              </a:ext>
            </a:extLst>
          </p:cNvPr>
          <p:cNvPicPr>
            <a:picLocks noGrp="1" noChangeAspect="1"/>
          </p:cNvPicPr>
          <p:nvPr>
            <p:ph type="pic" idx="12"/>
          </p:nvPr>
        </p:nvPicPr>
        <p:blipFill rotWithShape="1">
          <a:blip r:embed="rId3" cstate="screen">
            <a:extLst>
              <a:ext uri="{28A0092B-C50C-407E-A947-70E740481C1C}">
                <a14:useLocalDpi xmlns:a14="http://schemas.microsoft.com/office/drawing/2010/main"/>
              </a:ext>
            </a:extLst>
          </a:blip>
          <a:srcRect/>
          <a:stretch/>
        </p:blipFill>
        <p:spPr>
          <a:xfrm>
            <a:off x="5446217" y="642938"/>
            <a:ext cx="2554784" cy="3855839"/>
          </a:xfrm>
        </p:spPr>
      </p:pic>
      <p:pic>
        <p:nvPicPr>
          <p:cNvPr id="4" name="Picture 3"/>
          <p:cNvPicPr>
            <a:picLocks noChangeAspect="1"/>
          </p:cNvPicPr>
          <p:nvPr/>
        </p:nvPicPr>
        <p:blipFill>
          <a:blip r:embed="rId4"/>
          <a:stretch>
            <a:fillRect/>
          </a:stretch>
        </p:blipFill>
        <p:spPr>
          <a:xfrm>
            <a:off x="2494352" y="3796000"/>
            <a:ext cx="679001" cy="521253"/>
          </a:xfrm>
          <a:prstGeom prst="rect">
            <a:avLst/>
          </a:prstGeom>
        </p:spPr>
      </p:pic>
      <p:sp>
        <p:nvSpPr>
          <p:cNvPr id="5" name="Title 1">
            <a:extLst>
              <a:ext uri="{FF2B5EF4-FFF2-40B4-BE49-F238E27FC236}">
                <a16:creationId xmlns:a16="http://schemas.microsoft.com/office/drawing/2014/main" id="{F72E99A9-FA26-6962-93B5-AC16F9EA1024}"/>
              </a:ext>
            </a:extLst>
          </p:cNvPr>
          <p:cNvSpPr txBox="1">
            <a:spLocks/>
          </p:cNvSpPr>
          <p:nvPr/>
        </p:nvSpPr>
        <p:spPr>
          <a:xfrm>
            <a:off x="113594" y="102138"/>
            <a:ext cx="4761515" cy="2063065"/>
          </a:xfrm>
          <a:prstGeom prst="rect">
            <a:avLst/>
          </a:prstGeom>
        </p:spPr>
        <p:txBody>
          <a:bodyPr wrap="square" lIns="0" tIns="0" rIns="0" bIns="0" anchor="b">
            <a:spAutoFit/>
          </a:bodyPr>
          <a:lstStyle>
            <a:lvl1pPr algn="l">
              <a:lnSpc>
                <a:spcPts val="4050"/>
              </a:lnSpc>
              <a:defRPr sz="4500" b="0" i="0">
                <a:solidFill>
                  <a:srgbClr val="660066"/>
                </a:solidFill>
                <a:latin typeface="Calibri"/>
                <a:ea typeface="+mj-ea"/>
                <a:cs typeface="Calibri"/>
              </a:defRPr>
            </a:lvl1pPr>
          </a:lstStyle>
          <a:p>
            <a:pPr algn="ctr"/>
            <a:r>
              <a:rPr lang="en-GB" sz="2700" dirty="0">
                <a:solidFill>
                  <a:srgbClr val="0070C0"/>
                </a:solidFill>
              </a:rPr>
              <a:t>Module: FNP</a:t>
            </a:r>
            <a:r>
              <a:rPr lang="en-GB" sz="3375" dirty="0"/>
              <a:t> </a:t>
            </a:r>
            <a:br>
              <a:rPr lang="en-GB" sz="3300" dirty="0"/>
            </a:br>
            <a:r>
              <a:rPr lang="en-GB" sz="2700" dirty="0">
                <a:solidFill>
                  <a:schemeClr val="bg1"/>
                </a:solidFill>
              </a:rPr>
              <a:t>Membrane potential and the basis of cellular excitability &amp; Action potential</a:t>
            </a:r>
            <a:endParaRPr lang="en-GB" sz="2700" dirty="0"/>
          </a:p>
        </p:txBody>
      </p:sp>
    </p:spTree>
    <p:extLst>
      <p:ext uri="{BB962C8B-B14F-4D97-AF65-F5344CB8AC3E}">
        <p14:creationId xmlns:p14="http://schemas.microsoft.com/office/powerpoint/2010/main" val="1493578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17D9-6B73-5DD2-D787-776352DD1119}"/>
              </a:ext>
            </a:extLst>
          </p:cNvPr>
          <p:cNvSpPr>
            <a:spLocks noGrp="1"/>
          </p:cNvSpPr>
          <p:nvPr>
            <p:ph type="title"/>
          </p:nvPr>
        </p:nvSpPr>
        <p:spPr>
          <a:xfrm>
            <a:off x="395536" y="267494"/>
            <a:ext cx="7772400" cy="857250"/>
          </a:xfrm>
        </p:spPr>
        <p:txBody>
          <a:bodyPr/>
          <a:lstStyle/>
          <a:p>
            <a:r>
              <a:rPr lang="en-GB" dirty="0"/>
              <a:t>Learning Outcome</a:t>
            </a:r>
          </a:p>
        </p:txBody>
      </p:sp>
      <p:sp>
        <p:nvSpPr>
          <p:cNvPr id="4" name="Content Placeholder 2">
            <a:extLst>
              <a:ext uri="{FF2B5EF4-FFF2-40B4-BE49-F238E27FC236}">
                <a16:creationId xmlns:a16="http://schemas.microsoft.com/office/drawing/2014/main" id="{DE87AD2A-10FA-75EC-C3A6-5199CE513708}"/>
              </a:ext>
            </a:extLst>
          </p:cNvPr>
          <p:cNvSpPr txBox="1">
            <a:spLocks/>
          </p:cNvSpPr>
          <p:nvPr/>
        </p:nvSpPr>
        <p:spPr>
          <a:xfrm>
            <a:off x="264196" y="1124744"/>
            <a:ext cx="8700292" cy="2016224"/>
          </a:xfrm>
          <a:prstGeom prst="rect">
            <a:avLst/>
          </a:prstGeom>
        </p:spPr>
        <p:txBody>
          <a:bodyPr/>
          <a:lstStyle>
            <a:lvl1pPr marL="342900" indent="-342900" algn="l" rtl="0" eaLnBrk="0" fontAlgn="base" hangingPunct="0">
              <a:spcBef>
                <a:spcPct val="20000"/>
              </a:spcBef>
              <a:spcAft>
                <a:spcPct val="0"/>
              </a:spcAft>
              <a:buClr>
                <a:schemeClr val="tx1"/>
              </a:buClr>
              <a:buSzPct val="80000"/>
              <a:buFont typeface="Wingdings" panose="05000000000000000000" pitchFamily="2" charset="2"/>
              <a:buChar char="§"/>
              <a:defRPr sz="2000" b="0" baseline="0">
                <a:solidFill>
                  <a:schemeClr val="tx1"/>
                </a:solidFill>
                <a:latin typeface="+mn-lt"/>
                <a:ea typeface="ＭＳ Ｐゴシック" charset="0"/>
                <a:cs typeface="ＭＳ Ｐゴシック" charset="0"/>
              </a:defRPr>
            </a:lvl1pPr>
            <a:lvl2pPr marL="457200" indent="0" algn="l" rtl="0" eaLnBrk="0" fontAlgn="base" hangingPunct="0">
              <a:spcBef>
                <a:spcPct val="20000"/>
              </a:spcBef>
              <a:spcAft>
                <a:spcPct val="0"/>
              </a:spcAft>
              <a:buClr>
                <a:srgbClr val="0A648F"/>
              </a:buClr>
              <a:buNone/>
              <a:defRPr sz="1600" b="0">
                <a:solidFill>
                  <a:schemeClr val="tx1"/>
                </a:solidFill>
                <a:latin typeface="+mn-lt"/>
                <a:ea typeface="ＭＳ Ｐゴシック" charset="0"/>
              </a:defRPr>
            </a:lvl2pPr>
            <a:lvl3pPr marL="1143000" indent="-228600" algn="l" rtl="0" eaLnBrk="0" fontAlgn="base" hangingPunct="0">
              <a:spcBef>
                <a:spcPct val="20000"/>
              </a:spcBef>
              <a:spcAft>
                <a:spcPct val="0"/>
              </a:spcAft>
              <a:buClr>
                <a:srgbClr val="0A648F"/>
              </a:buClr>
              <a:buSzPct val="65000"/>
              <a:buFont typeface="Wingdings" pitchFamily="2" charset="2"/>
              <a:buChar char="o"/>
              <a:defRPr sz="2800" b="0">
                <a:solidFill>
                  <a:schemeClr val="bg1"/>
                </a:solidFill>
                <a:latin typeface="+mn-lt"/>
                <a:ea typeface="ＭＳ Ｐゴシック" charset="0"/>
              </a:defRPr>
            </a:lvl3pPr>
            <a:lvl4pPr marL="1600200" indent="-228600" algn="l" rtl="0" eaLnBrk="0" fontAlgn="base" hangingPunct="0">
              <a:spcBef>
                <a:spcPct val="20000"/>
              </a:spcBef>
              <a:spcAft>
                <a:spcPct val="0"/>
              </a:spcAft>
              <a:buClr>
                <a:srgbClr val="0A648F"/>
              </a:buClr>
              <a:buSzPct val="80000"/>
              <a:buChar char="–"/>
              <a:defRPr sz="2800" b="0">
                <a:solidFill>
                  <a:schemeClr val="bg1"/>
                </a:solidFill>
                <a:latin typeface="+mn-lt"/>
                <a:ea typeface="ＭＳ Ｐゴシック" charset="0"/>
              </a:defRPr>
            </a:lvl4pPr>
            <a:lvl5pPr marL="2057400" indent="-228600" algn="l" rtl="0" eaLnBrk="0" fontAlgn="base" hangingPunct="0">
              <a:spcBef>
                <a:spcPct val="20000"/>
              </a:spcBef>
              <a:spcAft>
                <a:spcPct val="0"/>
              </a:spcAft>
              <a:buClr>
                <a:srgbClr val="0A648F"/>
              </a:buClr>
              <a:buSzPct val="90000"/>
              <a:buChar char="»"/>
              <a:defRPr sz="2800" b="0">
                <a:solidFill>
                  <a:schemeClr val="bg1"/>
                </a:solidFill>
                <a:latin typeface="+mn-lt"/>
                <a:ea typeface="ＭＳ Ｐゴシック" charset="0"/>
              </a:defRPr>
            </a:lvl5pPr>
            <a:lvl6pPr marL="2514600" indent="-228600" algn="l" rtl="0" fontAlgn="base">
              <a:spcBef>
                <a:spcPct val="20000"/>
              </a:spcBef>
              <a:spcAft>
                <a:spcPct val="0"/>
              </a:spcAft>
              <a:buClr>
                <a:srgbClr val="CCFFFF"/>
              </a:buClr>
              <a:buSzPct val="90000"/>
              <a:buChar char="»"/>
              <a:defRPr sz="2800" b="1">
                <a:solidFill>
                  <a:schemeClr val="tx1"/>
                </a:solidFill>
                <a:latin typeface="+mn-lt"/>
              </a:defRPr>
            </a:lvl6pPr>
            <a:lvl7pPr marL="2971800" indent="-228600" algn="l" rtl="0" fontAlgn="base">
              <a:spcBef>
                <a:spcPct val="20000"/>
              </a:spcBef>
              <a:spcAft>
                <a:spcPct val="0"/>
              </a:spcAft>
              <a:buClr>
                <a:srgbClr val="CCFFFF"/>
              </a:buClr>
              <a:buSzPct val="90000"/>
              <a:buChar char="»"/>
              <a:defRPr sz="2800" b="1">
                <a:solidFill>
                  <a:schemeClr val="tx1"/>
                </a:solidFill>
                <a:latin typeface="+mn-lt"/>
              </a:defRPr>
            </a:lvl7pPr>
            <a:lvl8pPr marL="3429000" indent="-228600" algn="l" rtl="0" fontAlgn="base">
              <a:spcBef>
                <a:spcPct val="20000"/>
              </a:spcBef>
              <a:spcAft>
                <a:spcPct val="0"/>
              </a:spcAft>
              <a:buClr>
                <a:srgbClr val="CCFFFF"/>
              </a:buClr>
              <a:buSzPct val="90000"/>
              <a:buChar char="»"/>
              <a:defRPr sz="2800" b="1">
                <a:solidFill>
                  <a:schemeClr val="tx1"/>
                </a:solidFill>
                <a:latin typeface="+mn-lt"/>
              </a:defRPr>
            </a:lvl8pPr>
            <a:lvl9pPr marL="3886200" indent="-228600" algn="l" rtl="0" fontAlgn="base">
              <a:spcBef>
                <a:spcPct val="20000"/>
              </a:spcBef>
              <a:spcAft>
                <a:spcPct val="0"/>
              </a:spcAft>
              <a:buClr>
                <a:srgbClr val="CCFFFF"/>
              </a:buClr>
              <a:buSzPct val="90000"/>
              <a:buChar char="»"/>
              <a:defRPr sz="2800" b="1">
                <a:solidFill>
                  <a:schemeClr val="tx1"/>
                </a:solidFill>
                <a:latin typeface="+mn-lt"/>
              </a:defRPr>
            </a:lvl9pPr>
          </a:lstStyle>
          <a:p>
            <a:endParaRPr lang="en-GB" kern="0" dirty="0"/>
          </a:p>
          <a:p>
            <a:r>
              <a:rPr lang="en-GB" kern="0" dirty="0"/>
              <a:t>You should be able to understand and explain the principles by which neurons generate electrical signals.</a:t>
            </a:r>
          </a:p>
          <a:p>
            <a:r>
              <a:rPr lang="en-GB" kern="0" dirty="0"/>
              <a:t>Should be able to explain the part played by the cell membrane, ion channels and ion pumps in generating and maintaining the RMP</a:t>
            </a:r>
          </a:p>
        </p:txBody>
      </p:sp>
    </p:spTree>
    <p:extLst>
      <p:ext uri="{BB962C8B-B14F-4D97-AF65-F5344CB8AC3E}">
        <p14:creationId xmlns:p14="http://schemas.microsoft.com/office/powerpoint/2010/main" val="2913090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 name="Content Placeholder 4">
            <a:extLst>
              <a:ext uri="{FF2B5EF4-FFF2-40B4-BE49-F238E27FC236}">
                <a16:creationId xmlns:a16="http://schemas.microsoft.com/office/drawing/2014/main" id="{6282BEF3-5918-2C62-00B4-173B171D64A8}"/>
              </a:ext>
            </a:extLst>
          </p:cNvPr>
          <p:cNvGraphicFramePr>
            <a:graphicFrameLocks noGrp="1"/>
          </p:cNvGraphicFramePr>
          <p:nvPr>
            <p:ph idx="1"/>
            <p:extLst>
              <p:ext uri="{D42A27DB-BD31-4B8C-83A1-F6EECF244321}">
                <p14:modId xmlns:p14="http://schemas.microsoft.com/office/powerpoint/2010/main" val="1512676281"/>
              </p:ext>
            </p:extLst>
          </p:nvPr>
        </p:nvGraphicFramePr>
        <p:xfrm>
          <a:off x="395536" y="1347614"/>
          <a:ext cx="7772400" cy="2952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6">
            <a:extLst>
              <a:ext uri="{FF2B5EF4-FFF2-40B4-BE49-F238E27FC236}">
                <a16:creationId xmlns:a16="http://schemas.microsoft.com/office/drawing/2014/main" id="{9370F6D6-C35C-8A73-E069-F37AB960465A}"/>
              </a:ext>
            </a:extLst>
          </p:cNvPr>
          <p:cNvSpPr>
            <a:spLocks noGrp="1"/>
          </p:cNvSpPr>
          <p:nvPr>
            <p:ph type="title"/>
          </p:nvPr>
        </p:nvSpPr>
        <p:spPr/>
        <p:txBody>
          <a:bodyPr/>
          <a:lstStyle/>
          <a:p>
            <a:r>
              <a:rPr lang="en-GB" dirty="0"/>
              <a:t>What we will cover for membrane potential</a:t>
            </a:r>
          </a:p>
        </p:txBody>
      </p:sp>
    </p:spTree>
    <p:extLst>
      <p:ext uri="{BB962C8B-B14F-4D97-AF65-F5344CB8AC3E}">
        <p14:creationId xmlns:p14="http://schemas.microsoft.com/office/powerpoint/2010/main" val="4179023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6B38A5-4D32-3E0F-F86E-663C007A1DFB}"/>
              </a:ext>
            </a:extLst>
          </p:cNvPr>
          <p:cNvSpPr txBox="1"/>
          <p:nvPr/>
        </p:nvSpPr>
        <p:spPr>
          <a:xfrm>
            <a:off x="1043608" y="116633"/>
            <a:ext cx="5688632" cy="582910"/>
          </a:xfrm>
          <a:prstGeom prst="rect">
            <a:avLst/>
          </a:prstGeom>
          <a:noFill/>
        </p:spPr>
        <p:txBody>
          <a:bodyPr wrap="square" rtlCol="0">
            <a:spAutoFit/>
          </a:bodyPr>
          <a:lstStyle/>
          <a:p>
            <a:r>
              <a:rPr lang="en-US" sz="3200" b="1" dirty="0">
                <a:solidFill>
                  <a:srgbClr val="FF0000"/>
                </a:solidFill>
              </a:rPr>
              <a:t>What are Excitable cells?</a:t>
            </a:r>
            <a:endParaRPr lang="en-GB" sz="3200" b="1" dirty="0">
              <a:solidFill>
                <a:srgbClr val="FF0000"/>
              </a:solidFill>
            </a:endParaRPr>
          </a:p>
        </p:txBody>
      </p:sp>
      <p:sp>
        <p:nvSpPr>
          <p:cNvPr id="5" name="Rectangle 4">
            <a:extLst>
              <a:ext uri="{FF2B5EF4-FFF2-40B4-BE49-F238E27FC236}">
                <a16:creationId xmlns:a16="http://schemas.microsoft.com/office/drawing/2014/main" id="{92971622-8544-6774-14E4-E0E449F71178}"/>
              </a:ext>
            </a:extLst>
          </p:cNvPr>
          <p:cNvSpPr/>
          <p:nvPr/>
        </p:nvSpPr>
        <p:spPr>
          <a:xfrm>
            <a:off x="179512" y="699543"/>
            <a:ext cx="8424936" cy="1015663"/>
          </a:xfrm>
          <a:prstGeom prst="rect">
            <a:avLst/>
          </a:prstGeom>
        </p:spPr>
        <p:txBody>
          <a:bodyPr wrap="square">
            <a:spAutoFit/>
          </a:bodyPr>
          <a:lstStyle/>
          <a:p>
            <a:r>
              <a:rPr lang="en-GB" sz="2000" b="0" dirty="0">
                <a:solidFill>
                  <a:srgbClr val="222222"/>
                </a:solidFill>
              </a:rPr>
              <a:t>Ability of cells to be get excited resulting in the generation of action potentials. Neurons, muscle cells (skeletal, cardiac, and smooth), some endocrine cells are some examples.</a:t>
            </a:r>
            <a:endParaRPr lang="en-MY" sz="2000" b="0" dirty="0"/>
          </a:p>
        </p:txBody>
      </p:sp>
      <p:pic>
        <p:nvPicPr>
          <p:cNvPr id="6" name="Picture 2" descr="https://encrypted-tbn1.gstatic.com/images?q=tbn:ANd9GcRaTHFo6UhPefAAsgr4vf2IoQa7kcxGlWjeBiHnsRHMXQp_Afzt">
            <a:hlinkClick r:id="rId3"/>
            <a:extLst>
              <a:ext uri="{FF2B5EF4-FFF2-40B4-BE49-F238E27FC236}">
                <a16:creationId xmlns:a16="http://schemas.microsoft.com/office/drawing/2014/main" id="{C61A29A3-4F10-5805-B091-6F1EA46881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5711" y="1540549"/>
            <a:ext cx="4633058" cy="347984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3">
            <a:extLst>
              <a:ext uri="{FF2B5EF4-FFF2-40B4-BE49-F238E27FC236}">
                <a16:creationId xmlns:a16="http://schemas.microsoft.com/office/drawing/2014/main" id="{74060A3A-BC93-14E0-C59C-6E447F063A7D}"/>
              </a:ext>
            </a:extLst>
          </p:cNvPr>
          <p:cNvSpPr txBox="1">
            <a:spLocks noChangeArrowheads="1"/>
          </p:cNvSpPr>
          <p:nvPr/>
        </p:nvSpPr>
        <p:spPr bwMode="auto">
          <a:xfrm>
            <a:off x="6763568" y="3795886"/>
            <a:ext cx="18923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algn="ctr" eaLnBrk="0" hangingPunct="0"/>
            <a:r>
              <a:rPr lang="en-US" sz="2800" dirty="0">
                <a:solidFill>
                  <a:schemeClr val="bg1"/>
                </a:solidFill>
                <a:latin typeface="Arial Rounded MT Bold" pitchFamily="34" charset="0"/>
              </a:rPr>
              <a:t>2 x 10</a:t>
            </a:r>
            <a:r>
              <a:rPr lang="en-US" sz="2800" baseline="30000" dirty="0">
                <a:solidFill>
                  <a:schemeClr val="bg1"/>
                </a:solidFill>
                <a:latin typeface="Arial Rounded MT Bold" pitchFamily="34" charset="0"/>
              </a:rPr>
              <a:t>12</a:t>
            </a:r>
          </a:p>
          <a:p>
            <a:pPr algn="ctr" eaLnBrk="0" hangingPunct="0"/>
            <a:r>
              <a:rPr lang="en-US" sz="2800" dirty="0">
                <a:solidFill>
                  <a:schemeClr val="bg1"/>
                </a:solidFill>
                <a:latin typeface="Arial Rounded MT Bold" pitchFamily="34" charset="0"/>
              </a:rPr>
              <a:t>(2 billion!)</a:t>
            </a:r>
            <a:endParaRPr lang="en-US" sz="2800" dirty="0">
              <a:latin typeface="Arial Rounded MT Bold" pitchFamily="34" charset="0"/>
            </a:endParaRPr>
          </a:p>
        </p:txBody>
      </p:sp>
      <p:sp>
        <p:nvSpPr>
          <p:cNvPr id="2" name="TextBox 1">
            <a:extLst>
              <a:ext uri="{FF2B5EF4-FFF2-40B4-BE49-F238E27FC236}">
                <a16:creationId xmlns:a16="http://schemas.microsoft.com/office/drawing/2014/main" id="{BAED4659-4DBC-56A2-750D-87700DCC62D9}"/>
              </a:ext>
            </a:extLst>
          </p:cNvPr>
          <p:cNvSpPr txBox="1"/>
          <p:nvPr/>
        </p:nvSpPr>
        <p:spPr>
          <a:xfrm>
            <a:off x="346212" y="2449474"/>
            <a:ext cx="3528392" cy="830997"/>
          </a:xfrm>
          <a:prstGeom prst="rect">
            <a:avLst/>
          </a:prstGeom>
          <a:noFill/>
          <a:ln w="28575">
            <a:solidFill>
              <a:schemeClr val="tx1"/>
            </a:solidFill>
          </a:ln>
        </p:spPr>
        <p:txBody>
          <a:bodyPr wrap="square" rtlCol="0">
            <a:spAutoFit/>
          </a:bodyPr>
          <a:lstStyle/>
          <a:p>
            <a:r>
              <a:rPr lang="en-MY" sz="1600" b="0" dirty="0"/>
              <a:t>No Physical isolation; They prefer to stay in groups and have close interconnection with one another.</a:t>
            </a:r>
            <a:endParaRPr lang="en-GB" sz="1600" b="0" dirty="0"/>
          </a:p>
        </p:txBody>
      </p:sp>
    </p:spTree>
    <p:extLst>
      <p:ext uri="{BB962C8B-B14F-4D97-AF65-F5344CB8AC3E}">
        <p14:creationId xmlns:p14="http://schemas.microsoft.com/office/powerpoint/2010/main" val="220166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 calcmode="lin" valueType="num">
                                      <p:cBhvr additive="base">
                                        <p:cTn id="22"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7">
                                            <p:txEl>
                                              <p:pRg st="0" end="0"/>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anim calcmode="lin" valueType="num">
                                      <p:cBhvr additive="base">
                                        <p:cTn id="26"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7D6D7-EFCE-0C70-6BA3-E687435FCD30}"/>
            </a:ext>
          </a:extLst>
        </p:cNvPr>
        <p:cNvGrpSpPr/>
        <p:nvPr/>
      </p:nvGrpSpPr>
      <p:grpSpPr>
        <a:xfrm>
          <a:off x="0" y="0"/>
          <a:ext cx="0" cy="0"/>
          <a:chOff x="0" y="0"/>
          <a:chExt cx="0" cy="0"/>
        </a:xfrm>
      </p:grpSpPr>
      <p:pic>
        <p:nvPicPr>
          <p:cNvPr id="2" name="Picture 4" descr="wiring_diagram1">
            <a:extLst>
              <a:ext uri="{FF2B5EF4-FFF2-40B4-BE49-F238E27FC236}">
                <a16:creationId xmlns:a16="http://schemas.microsoft.com/office/drawing/2014/main" id="{7F73D2D7-38FD-EB66-388A-3EEAA2B79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9875" y="288457"/>
            <a:ext cx="3687332" cy="484026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IY Install daytime running lights">
            <a:extLst>
              <a:ext uri="{FF2B5EF4-FFF2-40B4-BE49-F238E27FC236}">
                <a16:creationId xmlns:a16="http://schemas.microsoft.com/office/drawing/2014/main" id="{A6058069-37CE-E703-BD13-3E1550F2E2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7" y="119334"/>
            <a:ext cx="3252490" cy="21643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ED3EC27-FAC8-7A57-4ECA-B1FBDDB3432A}"/>
              </a:ext>
            </a:extLst>
          </p:cNvPr>
          <p:cNvSpPr txBox="1"/>
          <p:nvPr/>
        </p:nvSpPr>
        <p:spPr>
          <a:xfrm>
            <a:off x="251520" y="2451067"/>
            <a:ext cx="5088355" cy="1938992"/>
          </a:xfrm>
          <a:prstGeom prst="rect">
            <a:avLst/>
          </a:prstGeom>
          <a:noFill/>
        </p:spPr>
        <p:txBody>
          <a:bodyPr wrap="square" rtlCol="0">
            <a:spAutoFit/>
          </a:bodyPr>
          <a:lstStyle/>
          <a:p>
            <a:pPr marL="285750" indent="-285750">
              <a:buFont typeface="Wingdings" panose="05000000000000000000" pitchFamily="2" charset="2"/>
              <a:buChar char="§"/>
            </a:pPr>
            <a:r>
              <a:rPr lang="en-MY" sz="2400" b="0" dirty="0"/>
              <a:t>Brain has extensive interactions within its own part &amp; the bodily neurons</a:t>
            </a:r>
          </a:p>
          <a:p>
            <a:pPr marL="285750" indent="-285750">
              <a:buFont typeface="Wingdings" panose="05000000000000000000" pitchFamily="2" charset="2"/>
              <a:buChar char="§"/>
            </a:pPr>
            <a:r>
              <a:rPr lang="en-MY" sz="2400" b="0" dirty="0"/>
              <a:t>Neurones enables </a:t>
            </a:r>
            <a:r>
              <a:rPr lang="en-MY" sz="2400" b="0" u="sng" dirty="0">
                <a:solidFill>
                  <a:srgbClr val="FF0000"/>
                </a:solidFill>
              </a:rPr>
              <a:t>tremendous computational power</a:t>
            </a:r>
          </a:p>
        </p:txBody>
      </p:sp>
    </p:spTree>
    <p:extLst>
      <p:ext uri="{BB962C8B-B14F-4D97-AF65-F5344CB8AC3E}">
        <p14:creationId xmlns:p14="http://schemas.microsoft.com/office/powerpoint/2010/main" val="303462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BDDB-BE51-1609-E77D-6D1AFA6958D2}"/>
            </a:ext>
          </a:extLst>
        </p:cNvPr>
        <p:cNvGrpSpPr/>
        <p:nvPr/>
      </p:nvGrpSpPr>
      <p:grpSpPr>
        <a:xfrm>
          <a:off x="0" y="0"/>
          <a:ext cx="0" cy="0"/>
          <a:chOff x="0" y="0"/>
          <a:chExt cx="0" cy="0"/>
        </a:xfrm>
      </p:grpSpPr>
      <p:pic>
        <p:nvPicPr>
          <p:cNvPr id="2" name="Picture 2" descr="http://fc01.deviantart.net/fs19/f/2007/249/1/5/The_Optical_Illusive_by_amyrivard207.jpg">
            <a:extLst>
              <a:ext uri="{FF2B5EF4-FFF2-40B4-BE49-F238E27FC236}">
                <a16:creationId xmlns:a16="http://schemas.microsoft.com/office/drawing/2014/main" id="{B9826454-303C-0AC0-753A-235C0E07B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23478"/>
            <a:ext cx="5364596" cy="42273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C499DD-4918-D94C-7226-CA70993018F7}"/>
              </a:ext>
            </a:extLst>
          </p:cNvPr>
          <p:cNvSpPr txBox="1"/>
          <p:nvPr/>
        </p:nvSpPr>
        <p:spPr>
          <a:xfrm>
            <a:off x="5723620" y="1347614"/>
            <a:ext cx="3420380" cy="1569660"/>
          </a:xfrm>
          <a:prstGeom prst="rect">
            <a:avLst/>
          </a:prstGeom>
          <a:noFill/>
        </p:spPr>
        <p:txBody>
          <a:bodyPr wrap="square" rtlCol="0">
            <a:spAutoFit/>
          </a:bodyPr>
          <a:lstStyle/>
          <a:p>
            <a:pPr algn="ctr"/>
            <a:r>
              <a:rPr lang="en-MY" sz="3200" b="0" dirty="0"/>
              <a:t>How many person you could recognize?</a:t>
            </a:r>
          </a:p>
        </p:txBody>
      </p:sp>
    </p:spTree>
    <p:extLst>
      <p:ext uri="{BB962C8B-B14F-4D97-AF65-F5344CB8AC3E}">
        <p14:creationId xmlns:p14="http://schemas.microsoft.com/office/powerpoint/2010/main" val="114592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1E4D-9C94-22F1-2A45-CD45870922B6}"/>
            </a:ext>
          </a:extLst>
        </p:cNvPr>
        <p:cNvGrpSpPr/>
        <p:nvPr/>
      </p:nvGrpSpPr>
      <p:grpSpPr>
        <a:xfrm>
          <a:off x="0" y="0"/>
          <a:ext cx="0" cy="0"/>
          <a:chOff x="0" y="0"/>
          <a:chExt cx="0" cy="0"/>
        </a:xfrm>
      </p:grpSpPr>
      <p:pic>
        <p:nvPicPr>
          <p:cNvPr id="2" name="Picture 2" descr="http://3.bp.blogspot.com/-M7jK4vE4lU8/UjYzbBMpRAI/AAAAAAAAIG0/NqtWS2TcgjA/s1600/steinmetz-camel-shadows-615.jpg">
            <a:hlinkClick r:id="rId3"/>
            <a:extLst>
              <a:ext uri="{FF2B5EF4-FFF2-40B4-BE49-F238E27FC236}">
                <a16:creationId xmlns:a16="http://schemas.microsoft.com/office/drawing/2014/main" id="{0CAE7B1F-482B-9D7D-8804-04EF3019CC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03" y="13635"/>
            <a:ext cx="5486401" cy="42142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F455B20-E80A-ED56-4907-5FBE44BA8A80}"/>
              </a:ext>
            </a:extLst>
          </p:cNvPr>
          <p:cNvSpPr txBox="1"/>
          <p:nvPr/>
        </p:nvSpPr>
        <p:spPr>
          <a:xfrm>
            <a:off x="5292080" y="1220188"/>
            <a:ext cx="4176464" cy="954107"/>
          </a:xfrm>
          <a:prstGeom prst="rect">
            <a:avLst/>
          </a:prstGeom>
          <a:noFill/>
        </p:spPr>
        <p:txBody>
          <a:bodyPr wrap="square" rtlCol="0">
            <a:spAutoFit/>
          </a:bodyPr>
          <a:lstStyle/>
          <a:p>
            <a:pPr algn="ctr"/>
            <a:r>
              <a:rPr lang="en-MY" b="0" dirty="0"/>
              <a:t>What are the actual camels in this picture?</a:t>
            </a:r>
          </a:p>
        </p:txBody>
      </p:sp>
    </p:spTree>
    <p:extLst>
      <p:ext uri="{BB962C8B-B14F-4D97-AF65-F5344CB8AC3E}">
        <p14:creationId xmlns:p14="http://schemas.microsoft.com/office/powerpoint/2010/main" val="47859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7AD77-D3C6-23E3-1C69-DE26B7A33297}"/>
            </a:ext>
          </a:extLst>
        </p:cNvPr>
        <p:cNvGrpSpPr/>
        <p:nvPr/>
      </p:nvGrpSpPr>
      <p:grpSpPr>
        <a:xfrm>
          <a:off x="0" y="0"/>
          <a:ext cx="0" cy="0"/>
          <a:chOff x="0" y="0"/>
          <a:chExt cx="0" cy="0"/>
        </a:xfrm>
      </p:grpSpPr>
      <p:pic>
        <p:nvPicPr>
          <p:cNvPr id="3" name="Picture 2" descr="http://www.boredpanda.com/blog/wp-content/uuuploads/optical-illusions/optical-illusions-10.jpg">
            <a:extLst>
              <a:ext uri="{FF2B5EF4-FFF2-40B4-BE49-F238E27FC236}">
                <a16:creationId xmlns:a16="http://schemas.microsoft.com/office/drawing/2014/main" id="{E09F6E52-8B89-62D9-1018-CCBD1566EA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15" y="25209"/>
            <a:ext cx="5899659" cy="44187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B9F3933-2943-47D6-31BB-1B04342CC4D2}"/>
              </a:ext>
            </a:extLst>
          </p:cNvPr>
          <p:cNvSpPr txBox="1"/>
          <p:nvPr/>
        </p:nvSpPr>
        <p:spPr>
          <a:xfrm>
            <a:off x="6072239" y="915566"/>
            <a:ext cx="3040014" cy="1384995"/>
          </a:xfrm>
          <a:prstGeom prst="rect">
            <a:avLst/>
          </a:prstGeom>
          <a:noFill/>
        </p:spPr>
        <p:txBody>
          <a:bodyPr wrap="square" rtlCol="0">
            <a:spAutoFit/>
          </a:bodyPr>
          <a:lstStyle/>
          <a:p>
            <a:pPr algn="ctr"/>
            <a:r>
              <a:rPr lang="en-MY" b="0" dirty="0"/>
              <a:t>Who is being lifted by the boy his picture?</a:t>
            </a:r>
          </a:p>
        </p:txBody>
      </p:sp>
    </p:spTree>
    <p:extLst>
      <p:ext uri="{BB962C8B-B14F-4D97-AF65-F5344CB8AC3E}">
        <p14:creationId xmlns:p14="http://schemas.microsoft.com/office/powerpoint/2010/main" val="864855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some leaves">
            <a:extLst>
              <a:ext uri="{FF2B5EF4-FFF2-40B4-BE49-F238E27FC236}">
                <a16:creationId xmlns:a16="http://schemas.microsoft.com/office/drawing/2014/main" id="{B79A70A7-6806-54E1-10E0-DFD234D8EE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23" y="31687"/>
            <a:ext cx="3846805" cy="4376426"/>
          </a:xfrm>
          <a:prstGeom prst="rect">
            <a:avLst/>
          </a:prstGeom>
        </p:spPr>
      </p:pic>
      <p:sp>
        <p:nvSpPr>
          <p:cNvPr id="8" name="TextBox 7">
            <a:extLst>
              <a:ext uri="{FF2B5EF4-FFF2-40B4-BE49-F238E27FC236}">
                <a16:creationId xmlns:a16="http://schemas.microsoft.com/office/drawing/2014/main" id="{D0FFBE9B-FA2E-DC6E-AEAE-9B5509D1DA46}"/>
              </a:ext>
            </a:extLst>
          </p:cNvPr>
          <p:cNvSpPr txBox="1"/>
          <p:nvPr/>
        </p:nvSpPr>
        <p:spPr>
          <a:xfrm>
            <a:off x="4427984" y="915566"/>
            <a:ext cx="4414410" cy="1384995"/>
          </a:xfrm>
          <a:prstGeom prst="rect">
            <a:avLst/>
          </a:prstGeom>
          <a:noFill/>
        </p:spPr>
        <p:txBody>
          <a:bodyPr wrap="square" rtlCol="0">
            <a:spAutoFit/>
          </a:bodyPr>
          <a:lstStyle/>
          <a:p>
            <a:r>
              <a:rPr lang="en-MY" b="0" dirty="0"/>
              <a:t>Can you say where this Autumn leaves are placed in this picture?</a:t>
            </a:r>
          </a:p>
        </p:txBody>
      </p:sp>
    </p:spTree>
    <p:extLst>
      <p:ext uri="{BB962C8B-B14F-4D97-AF65-F5344CB8AC3E}">
        <p14:creationId xmlns:p14="http://schemas.microsoft.com/office/powerpoint/2010/main" val="109376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43856-4257-83EF-8D61-9D7D0104F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8FF16C-DA73-F882-DCCB-DFBE13F3ABF1}"/>
              </a:ext>
            </a:extLst>
          </p:cNvPr>
          <p:cNvSpPr txBox="1"/>
          <p:nvPr/>
        </p:nvSpPr>
        <p:spPr>
          <a:xfrm>
            <a:off x="107504" y="267494"/>
            <a:ext cx="8640960" cy="2677656"/>
          </a:xfrm>
          <a:prstGeom prst="rect">
            <a:avLst/>
          </a:prstGeom>
          <a:noFill/>
        </p:spPr>
        <p:txBody>
          <a:bodyPr wrap="square">
            <a:spAutoFit/>
          </a:bodyPr>
          <a:lstStyle/>
          <a:p>
            <a:r>
              <a:rPr lang="en-MY" sz="2800" b="0" dirty="0">
                <a:solidFill>
                  <a:srgbClr val="FF0000"/>
                </a:solidFill>
              </a:rPr>
              <a:t>Message: </a:t>
            </a:r>
          </a:p>
          <a:p>
            <a:r>
              <a:rPr lang="en-MY" sz="2800" b="0" dirty="0"/>
              <a:t>Our brain interpret any picture subconsciously based on our previous experiences and expectation in split seconds but if the pictures are a bit odd (did not see earlier), brain could take longer time to recognize it in a meaningful way.</a:t>
            </a:r>
          </a:p>
        </p:txBody>
      </p:sp>
      <p:sp>
        <p:nvSpPr>
          <p:cNvPr id="5" name="TextBox 4">
            <a:extLst>
              <a:ext uri="{FF2B5EF4-FFF2-40B4-BE49-F238E27FC236}">
                <a16:creationId xmlns:a16="http://schemas.microsoft.com/office/drawing/2014/main" id="{43A826EB-214B-595A-911F-6A952AA32388}"/>
              </a:ext>
            </a:extLst>
          </p:cNvPr>
          <p:cNvSpPr txBox="1"/>
          <p:nvPr/>
        </p:nvSpPr>
        <p:spPr>
          <a:xfrm>
            <a:off x="1259632" y="3291830"/>
            <a:ext cx="6912768" cy="954107"/>
          </a:xfrm>
          <a:prstGeom prst="rect">
            <a:avLst/>
          </a:prstGeom>
          <a:noFill/>
        </p:spPr>
        <p:txBody>
          <a:bodyPr wrap="square">
            <a:spAutoFit/>
          </a:bodyPr>
          <a:lstStyle/>
          <a:p>
            <a:pPr algn="ctr"/>
            <a:r>
              <a:rPr lang="en-MY" sz="2800" b="0" dirty="0">
                <a:solidFill>
                  <a:srgbClr val="FF0000"/>
                </a:solidFill>
              </a:rPr>
              <a:t>Basis:</a:t>
            </a:r>
            <a:r>
              <a:rPr lang="en-MY" sz="2800" b="0" dirty="0"/>
              <a:t> </a:t>
            </a:r>
            <a:r>
              <a:rPr lang="en-MY" sz="2800" b="0" dirty="0">
                <a:solidFill>
                  <a:srgbClr val="0070C0"/>
                </a:solidFill>
              </a:rPr>
              <a:t>Tremendous computational Power </a:t>
            </a:r>
            <a:r>
              <a:rPr lang="en-MY" sz="2800" b="0" dirty="0"/>
              <a:t>(Enabled by Neural structure)</a:t>
            </a:r>
            <a:endParaRPr lang="en-GB" b="0" dirty="0"/>
          </a:p>
        </p:txBody>
      </p:sp>
    </p:spTree>
    <p:extLst>
      <p:ext uri="{BB962C8B-B14F-4D97-AF65-F5344CB8AC3E}">
        <p14:creationId xmlns:p14="http://schemas.microsoft.com/office/powerpoint/2010/main" val="1852748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encrypted-tbn1.gstatic.com/images?q=tbn:ANd9GcRaTHFo6UhPefAAsgr4vf2IoQa7kcxGlWjeBiHnsRHMXQp_Afzt">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677" y="269815"/>
            <a:ext cx="5955389" cy="4473034"/>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a:spLocks noChangeArrowheads="1"/>
          </p:cNvSpPr>
          <p:nvPr/>
        </p:nvSpPr>
        <p:spPr bwMode="auto">
          <a:xfrm>
            <a:off x="2249742" y="1059582"/>
            <a:ext cx="5180777"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3000" dirty="0">
                <a:solidFill>
                  <a:schemeClr val="bg1"/>
                </a:solidFill>
                <a:latin typeface="Arial Rounded MT Bold" pitchFamily="34" charset="0"/>
              </a:rPr>
              <a:t>How do </a:t>
            </a:r>
            <a:r>
              <a:rPr lang="en-US" sz="3000" dirty="0" err="1">
                <a:solidFill>
                  <a:schemeClr val="bg1"/>
                </a:solidFill>
                <a:latin typeface="Arial Rounded MT Bold" pitchFamily="34" charset="0"/>
              </a:rPr>
              <a:t>neurones</a:t>
            </a:r>
            <a:r>
              <a:rPr lang="en-US" sz="3000" dirty="0">
                <a:solidFill>
                  <a:schemeClr val="bg1"/>
                </a:solidFill>
                <a:latin typeface="Arial Rounded MT Bold" pitchFamily="34" charset="0"/>
              </a:rPr>
              <a:t> work? </a:t>
            </a:r>
            <a:r>
              <a:rPr lang="en-US" sz="3000" dirty="0">
                <a:solidFill>
                  <a:schemeClr val="bg1"/>
                </a:solidFill>
                <a:latin typeface="Arial Rounded MT Bold" pitchFamily="34" charset="0"/>
                <a:sym typeface="Wingdings" pitchFamily="2" charset="2"/>
              </a:rPr>
              <a:t></a:t>
            </a:r>
            <a:endParaRPr lang="en-US" sz="3000" dirty="0">
              <a:latin typeface="Arial Rounded MT Bold" pitchFamily="34" charset="0"/>
            </a:endParaRPr>
          </a:p>
        </p:txBody>
      </p:sp>
      <p:sp>
        <p:nvSpPr>
          <p:cNvPr id="6" name="Text Box 4"/>
          <p:cNvSpPr txBox="1">
            <a:spLocks noChangeArrowheads="1"/>
          </p:cNvSpPr>
          <p:nvPr/>
        </p:nvSpPr>
        <p:spPr bwMode="auto">
          <a:xfrm>
            <a:off x="2112392" y="2338315"/>
            <a:ext cx="509851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700" dirty="0">
                <a:solidFill>
                  <a:schemeClr val="bg1"/>
                </a:solidFill>
                <a:latin typeface="Arial Rounded MT Bold" pitchFamily="34" charset="0"/>
              </a:rPr>
              <a:t>How do the interconnections </a:t>
            </a:r>
          </a:p>
          <a:p>
            <a:pPr eaLnBrk="0" hangingPunct="0"/>
            <a:r>
              <a:rPr lang="en-US" sz="2700" dirty="0">
                <a:solidFill>
                  <a:schemeClr val="bg1"/>
                </a:solidFill>
                <a:latin typeface="Arial Rounded MT Bold" pitchFamily="34" charset="0"/>
              </a:rPr>
              <a:t>work? </a:t>
            </a:r>
            <a:r>
              <a:rPr lang="en-US" sz="2700" dirty="0">
                <a:solidFill>
                  <a:schemeClr val="bg1"/>
                </a:solidFill>
                <a:latin typeface="Arial Rounded MT Bold" pitchFamily="34" charset="0"/>
                <a:sym typeface="Wingdings" pitchFamily="2" charset="2"/>
              </a:rPr>
              <a:t></a:t>
            </a:r>
            <a:r>
              <a:rPr lang="en-US" sz="2100" dirty="0">
                <a:solidFill>
                  <a:schemeClr val="bg1"/>
                </a:solidFill>
                <a:latin typeface="Arial Rounded MT Bold" pitchFamily="34" charset="0"/>
              </a:rPr>
              <a:t> </a:t>
            </a:r>
            <a:endParaRPr lang="en-US" sz="2100" dirty="0">
              <a:latin typeface="Arial Rounded MT Bold" pitchFamily="34" charset="0"/>
            </a:endParaRPr>
          </a:p>
        </p:txBody>
      </p:sp>
    </p:spTree>
    <p:extLst>
      <p:ext uri="{BB962C8B-B14F-4D97-AF65-F5344CB8AC3E}">
        <p14:creationId xmlns:p14="http://schemas.microsoft.com/office/powerpoint/2010/main" val="316561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4E38-706B-4F3D-7FE9-1DDA705E0519}"/>
            </a:ext>
          </a:extLst>
        </p:cNvPr>
        <p:cNvGrpSpPr/>
        <p:nvPr/>
      </p:nvGrpSpPr>
      <p:grpSpPr>
        <a:xfrm>
          <a:off x="0" y="0"/>
          <a:ext cx="0" cy="0"/>
          <a:chOff x="0" y="0"/>
          <a:chExt cx="0" cy="0"/>
        </a:xfrm>
      </p:grpSpPr>
      <p:sp>
        <p:nvSpPr>
          <p:cNvPr id="2" name="Text Box 8">
            <a:extLst>
              <a:ext uri="{FF2B5EF4-FFF2-40B4-BE49-F238E27FC236}">
                <a16:creationId xmlns:a16="http://schemas.microsoft.com/office/drawing/2014/main" id="{5F926B8A-CBA5-3C55-2236-81460B764C66}"/>
              </a:ext>
            </a:extLst>
          </p:cNvPr>
          <p:cNvSpPr txBox="1">
            <a:spLocks noChangeArrowheads="1"/>
          </p:cNvSpPr>
          <p:nvPr/>
        </p:nvSpPr>
        <p:spPr bwMode="auto">
          <a:xfrm>
            <a:off x="4909773" y="123479"/>
            <a:ext cx="42392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dirty="0">
                <a:latin typeface="Arial Rounded MT Bold" pitchFamily="34" charset="0"/>
              </a:rPr>
              <a:t>How neurons communicate</a:t>
            </a:r>
          </a:p>
        </p:txBody>
      </p:sp>
      <p:pic>
        <p:nvPicPr>
          <p:cNvPr id="7" name="Picture 6" descr="neurons_1">
            <a:extLst>
              <a:ext uri="{FF2B5EF4-FFF2-40B4-BE49-F238E27FC236}">
                <a16:creationId xmlns:a16="http://schemas.microsoft.com/office/drawing/2014/main" id="{B4AC78DB-5D99-EEB6-EE97-04A478B08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2" y="471487"/>
            <a:ext cx="4876800" cy="467201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F49AE587-782A-4AF3-83F7-99A61E80745D}"/>
              </a:ext>
            </a:extLst>
          </p:cNvPr>
          <p:cNvSpPr/>
          <p:nvPr/>
        </p:nvSpPr>
        <p:spPr>
          <a:xfrm>
            <a:off x="11212" y="699542"/>
            <a:ext cx="1035496"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9" name="Rectangle 8">
            <a:extLst>
              <a:ext uri="{FF2B5EF4-FFF2-40B4-BE49-F238E27FC236}">
                <a16:creationId xmlns:a16="http://schemas.microsoft.com/office/drawing/2014/main" id="{2B258C6E-2255-CB34-7B56-F37D71F11134}"/>
              </a:ext>
            </a:extLst>
          </p:cNvPr>
          <p:cNvSpPr/>
          <p:nvPr/>
        </p:nvSpPr>
        <p:spPr>
          <a:xfrm>
            <a:off x="1187624" y="2139702"/>
            <a:ext cx="1035496" cy="1800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0" name="Rectangle 9">
            <a:extLst>
              <a:ext uri="{FF2B5EF4-FFF2-40B4-BE49-F238E27FC236}">
                <a16:creationId xmlns:a16="http://schemas.microsoft.com/office/drawing/2014/main" id="{3B7C247B-2C23-08EF-DB26-0BECD16D97F2}"/>
              </a:ext>
            </a:extLst>
          </p:cNvPr>
          <p:cNvSpPr/>
          <p:nvPr/>
        </p:nvSpPr>
        <p:spPr>
          <a:xfrm>
            <a:off x="2449612" y="1779662"/>
            <a:ext cx="1035496"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1" name="Rectangle 10">
            <a:extLst>
              <a:ext uri="{FF2B5EF4-FFF2-40B4-BE49-F238E27FC236}">
                <a16:creationId xmlns:a16="http://schemas.microsoft.com/office/drawing/2014/main" id="{A69AF4A2-BB92-65D4-9EB3-827529608D28}"/>
              </a:ext>
            </a:extLst>
          </p:cNvPr>
          <p:cNvSpPr/>
          <p:nvPr/>
        </p:nvSpPr>
        <p:spPr>
          <a:xfrm>
            <a:off x="1931864" y="2859782"/>
            <a:ext cx="2640136"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2" name="Rectangle 7">
            <a:extLst>
              <a:ext uri="{FF2B5EF4-FFF2-40B4-BE49-F238E27FC236}">
                <a16:creationId xmlns:a16="http://schemas.microsoft.com/office/drawing/2014/main" id="{B7F29472-F549-CBF0-C1D7-359545F2EBBC}"/>
              </a:ext>
            </a:extLst>
          </p:cNvPr>
          <p:cNvSpPr>
            <a:spLocks noChangeArrowheads="1"/>
          </p:cNvSpPr>
          <p:nvPr/>
        </p:nvSpPr>
        <p:spPr bwMode="auto">
          <a:xfrm>
            <a:off x="4984304" y="848240"/>
            <a:ext cx="3548136" cy="4171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defTabSz="762000" eaLnBrk="0" hangingPunct="0">
              <a:buFontTx/>
              <a:buChar char="•"/>
            </a:pPr>
            <a:r>
              <a:rPr lang="en-GB" sz="2000" b="0" dirty="0">
                <a:solidFill>
                  <a:srgbClr val="00B0F0"/>
                </a:solidFill>
              </a:rPr>
              <a:t>Four regions</a:t>
            </a:r>
          </a:p>
          <a:p>
            <a:pPr marL="342900" indent="-342900" defTabSz="762000" eaLnBrk="0" hangingPunct="0">
              <a:buFontTx/>
              <a:buChar char="•"/>
            </a:pPr>
            <a:endParaRPr lang="en-GB" sz="2000" b="0" dirty="0"/>
          </a:p>
          <a:p>
            <a:pPr marL="342900" indent="-342900" defTabSz="762000" eaLnBrk="0" hangingPunct="0">
              <a:buFontTx/>
              <a:buChar char="•"/>
            </a:pPr>
            <a:r>
              <a:rPr lang="en-GB" sz="2000" b="0" dirty="0"/>
              <a:t>The ‘message’ is an electrical impulse called an </a:t>
            </a:r>
            <a:r>
              <a:rPr lang="en-GB" sz="2000" b="0" dirty="0">
                <a:solidFill>
                  <a:srgbClr val="FF0000"/>
                </a:solidFill>
              </a:rPr>
              <a:t>action potential (A.P.)</a:t>
            </a:r>
            <a:r>
              <a:rPr lang="en-GB" sz="2000" b="0" dirty="0"/>
              <a:t> </a:t>
            </a:r>
          </a:p>
          <a:p>
            <a:pPr marL="342900" indent="-342900" defTabSz="762000" eaLnBrk="0" hangingPunct="0">
              <a:buFontTx/>
              <a:buChar char="•"/>
            </a:pPr>
            <a:endParaRPr lang="en-GB" sz="2000" b="0" dirty="0"/>
          </a:p>
          <a:p>
            <a:pPr marL="342900" indent="-342900" defTabSz="762000" eaLnBrk="0" hangingPunct="0">
              <a:buFontTx/>
              <a:buChar char="•"/>
            </a:pPr>
            <a:r>
              <a:rPr lang="en-GB" sz="2000" b="0" dirty="0"/>
              <a:t>The A.P initiates</a:t>
            </a:r>
          </a:p>
          <a:p>
            <a:pPr defTabSz="762000" eaLnBrk="0" hangingPunct="0"/>
            <a:r>
              <a:rPr lang="en-GB" sz="2000" b="0" dirty="0">
                <a:solidFill>
                  <a:srgbClr val="FF0000"/>
                </a:solidFill>
              </a:rPr>
              <a:t>synaptic transmission</a:t>
            </a:r>
          </a:p>
          <a:p>
            <a:pPr defTabSz="762000" eaLnBrk="0" hangingPunct="0"/>
            <a:r>
              <a:rPr lang="en-GB" sz="2000" b="0" dirty="0"/>
              <a:t>at the nerve terminal convey message to the next cell</a:t>
            </a:r>
            <a:endParaRPr lang="en-GB" sz="2400" dirty="0"/>
          </a:p>
        </p:txBody>
      </p:sp>
    </p:spTree>
    <p:extLst>
      <p:ext uri="{BB962C8B-B14F-4D97-AF65-F5344CB8AC3E}">
        <p14:creationId xmlns:p14="http://schemas.microsoft.com/office/powerpoint/2010/main" val="153547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Effect transition="in" filter="barn(inVertical)">
                                      <p:cBhvr>
                                        <p:cTn id="35" dur="500"/>
                                        <p:tgtEl>
                                          <p:spTgt spid="12">
                                            <p:txEl>
                                              <p:pRg st="4" end="4"/>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12">
                                            <p:txEl>
                                              <p:pRg st="5" end="5"/>
                                            </p:txEl>
                                          </p:spTgt>
                                        </p:tgtEl>
                                        <p:attrNameLst>
                                          <p:attrName>style.visibility</p:attrName>
                                        </p:attrNameLst>
                                      </p:cBhvr>
                                      <p:to>
                                        <p:strVal val="visible"/>
                                      </p:to>
                                    </p:set>
                                    <p:animEffect transition="in" filter="barn(inVertical)">
                                      <p:cBhvr>
                                        <p:cTn id="38" dur="500"/>
                                        <p:tgtEl>
                                          <p:spTgt spid="12">
                                            <p:txEl>
                                              <p:pRg st="5" end="5"/>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12">
                                            <p:txEl>
                                              <p:pRg st="6" end="6"/>
                                            </p:txEl>
                                          </p:spTgt>
                                        </p:tgtEl>
                                        <p:attrNameLst>
                                          <p:attrName>style.visibility</p:attrName>
                                        </p:attrNameLst>
                                      </p:cBhvr>
                                      <p:to>
                                        <p:strVal val="visible"/>
                                      </p:to>
                                    </p:set>
                                    <p:animEffect transition="in" filter="barn(inVertical)">
                                      <p:cBhvr>
                                        <p:cTn id="41"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uiExpand="1"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9ECEF-BC8D-BB1E-66CD-F7FB4019B8BB}"/>
              </a:ext>
            </a:extLst>
          </p:cNvPr>
          <p:cNvSpPr>
            <a:spLocks noGrp="1"/>
          </p:cNvSpPr>
          <p:nvPr>
            <p:ph type="title"/>
          </p:nvPr>
        </p:nvSpPr>
        <p:spPr>
          <a:xfrm>
            <a:off x="0" y="32956"/>
            <a:ext cx="4396493" cy="456971"/>
          </a:xfrm>
        </p:spPr>
        <p:txBody>
          <a:bodyPr/>
          <a:lstStyle/>
          <a:p>
            <a:r>
              <a:rPr lang="en-GB" dirty="0"/>
              <a:t>Membrane potential (Vm)</a:t>
            </a:r>
          </a:p>
        </p:txBody>
      </p:sp>
      <p:pic>
        <p:nvPicPr>
          <p:cNvPr id="4" name="Picture 19" descr="figure_2.2.jpg">
            <a:extLst>
              <a:ext uri="{FF2B5EF4-FFF2-40B4-BE49-F238E27FC236}">
                <a16:creationId xmlns:a16="http://schemas.microsoft.com/office/drawing/2014/main" id="{7820EC84-2A82-70FA-68CD-7C2CD2A027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7504" y="704826"/>
            <a:ext cx="3168352" cy="3733848"/>
          </a:xfrm>
          <a:prstGeom prst="rect">
            <a:avLst/>
          </a:prstGeom>
          <a:noFill/>
        </p:spPr>
      </p:pic>
      <p:sp>
        <p:nvSpPr>
          <p:cNvPr id="6" name="TextBox 5">
            <a:extLst>
              <a:ext uri="{FF2B5EF4-FFF2-40B4-BE49-F238E27FC236}">
                <a16:creationId xmlns:a16="http://schemas.microsoft.com/office/drawing/2014/main" id="{C0384B0E-A166-F70D-01CB-A3B8FE3396A2}"/>
              </a:ext>
            </a:extLst>
          </p:cNvPr>
          <p:cNvSpPr txBox="1"/>
          <p:nvPr/>
        </p:nvSpPr>
        <p:spPr>
          <a:xfrm>
            <a:off x="3548142" y="2715766"/>
            <a:ext cx="4680520" cy="1815882"/>
          </a:xfrm>
          <a:prstGeom prst="rect">
            <a:avLst/>
          </a:prstGeom>
          <a:noFill/>
        </p:spPr>
        <p:txBody>
          <a:bodyPr wrap="square">
            <a:spAutoFit/>
          </a:bodyPr>
          <a:lstStyle/>
          <a:p>
            <a:pPr marL="0" indent="0" eaLnBrk="1" hangingPunct="1">
              <a:spcBef>
                <a:spcPct val="0"/>
              </a:spcBef>
              <a:buNone/>
            </a:pPr>
            <a:r>
              <a:rPr lang="en-GB" altLang="en-US" sz="1600" b="0" i="1" dirty="0">
                <a:latin typeface="Arial" panose="020B0604020202020204" pitchFamily="34" charset="0"/>
              </a:rPr>
              <a:t>To understand the negative membrane potential </a:t>
            </a:r>
          </a:p>
          <a:p>
            <a:pPr marL="0" indent="0" algn="ctr" eaLnBrk="1" hangingPunct="1">
              <a:spcBef>
                <a:spcPct val="0"/>
              </a:spcBef>
              <a:buNone/>
            </a:pPr>
            <a:endParaRPr lang="en-GB" altLang="en-US" sz="1600" b="0" i="1" dirty="0">
              <a:latin typeface="Arial" panose="020B0604020202020204" pitchFamily="34" charset="0"/>
            </a:endParaRPr>
          </a:p>
          <a:p>
            <a:pPr marL="0" indent="0" eaLnBrk="1" hangingPunct="1">
              <a:spcBef>
                <a:spcPct val="0"/>
              </a:spcBef>
              <a:buNone/>
            </a:pPr>
            <a:r>
              <a:rPr lang="en-GB" altLang="en-US" sz="1600" i="1" dirty="0">
                <a:latin typeface="Arial" panose="020B0604020202020204" pitchFamily="34" charset="0"/>
              </a:rPr>
              <a:t>Consider</a:t>
            </a:r>
            <a:r>
              <a:rPr lang="en-GB" altLang="en-US" sz="1600" b="0" i="1" dirty="0">
                <a:latin typeface="Arial" panose="020B0604020202020204" pitchFamily="34" charset="0"/>
              </a:rPr>
              <a:t>:</a:t>
            </a:r>
          </a:p>
          <a:p>
            <a:pPr marL="0" indent="0" eaLnBrk="1" hangingPunct="1">
              <a:spcBef>
                <a:spcPct val="0"/>
              </a:spcBef>
              <a:buNone/>
            </a:pPr>
            <a:endParaRPr lang="en-GB" altLang="en-US" sz="1600" b="0" i="1" dirty="0">
              <a:latin typeface="Arial" panose="020B0604020202020204" pitchFamily="34" charset="0"/>
            </a:endParaRPr>
          </a:p>
          <a:p>
            <a:pPr marL="285750" indent="-285750" eaLnBrk="1" hangingPunct="1">
              <a:spcBef>
                <a:spcPct val="0"/>
              </a:spcBef>
              <a:buFont typeface="Arial" panose="020B0604020202020204" pitchFamily="34" charset="0"/>
              <a:buChar char="•"/>
            </a:pPr>
            <a:r>
              <a:rPr lang="en-GB" altLang="en-US" sz="1600" b="0" i="1" dirty="0">
                <a:latin typeface="Arial" panose="020B0604020202020204" pitchFamily="34" charset="0"/>
              </a:rPr>
              <a:t>Properties of the cell membrane</a:t>
            </a:r>
          </a:p>
          <a:p>
            <a:pPr marL="285750" indent="-285750" eaLnBrk="1" hangingPunct="1">
              <a:spcBef>
                <a:spcPct val="0"/>
              </a:spcBef>
              <a:buFont typeface="Arial" panose="020B0604020202020204" pitchFamily="34" charset="0"/>
              <a:buChar char="•"/>
            </a:pPr>
            <a:r>
              <a:rPr lang="en-GB" altLang="en-US" sz="1600" b="0" i="1" dirty="0">
                <a:latin typeface="Arial" panose="020B0604020202020204" pitchFamily="34" charset="0"/>
              </a:rPr>
              <a:t>Ionic concentrations inside and outside of the cell</a:t>
            </a:r>
          </a:p>
        </p:txBody>
      </p:sp>
      <p:sp>
        <p:nvSpPr>
          <p:cNvPr id="7" name="TextBox 6">
            <a:extLst>
              <a:ext uri="{FF2B5EF4-FFF2-40B4-BE49-F238E27FC236}">
                <a16:creationId xmlns:a16="http://schemas.microsoft.com/office/drawing/2014/main" id="{B2F2893B-2617-8C3C-28CB-61AEE6C0AFD2}"/>
              </a:ext>
            </a:extLst>
          </p:cNvPr>
          <p:cNvSpPr txBox="1"/>
          <p:nvPr/>
        </p:nvSpPr>
        <p:spPr>
          <a:xfrm>
            <a:off x="3548142" y="739381"/>
            <a:ext cx="4984298" cy="1815882"/>
          </a:xfrm>
          <a:prstGeom prst="rect">
            <a:avLst/>
          </a:prstGeom>
          <a:noFill/>
        </p:spPr>
        <p:txBody>
          <a:bodyPr wrap="square" rtlCol="0">
            <a:spAutoFit/>
          </a:bodyPr>
          <a:lstStyle/>
          <a:p>
            <a:pPr eaLnBrk="1" hangingPunct="1"/>
            <a:r>
              <a:rPr lang="en-GB" altLang="en-US" sz="1600" b="0" i="1" dirty="0"/>
              <a:t>Voltage across the membrane at any moment = Vm</a:t>
            </a:r>
          </a:p>
          <a:p>
            <a:pPr eaLnBrk="1" hangingPunct="1"/>
            <a:r>
              <a:rPr lang="en-GB" altLang="en-US" sz="1600" b="0" i="1" dirty="0"/>
              <a:t>Vm can change over time</a:t>
            </a:r>
          </a:p>
          <a:p>
            <a:pPr eaLnBrk="1" hangingPunct="1"/>
            <a:endParaRPr lang="en-GB" altLang="en-US" sz="1600" b="0" i="1" dirty="0"/>
          </a:p>
          <a:p>
            <a:pPr eaLnBrk="1" hangingPunct="1"/>
            <a:r>
              <a:rPr lang="en-GB" altLang="en-US" sz="1600" b="0" i="1" dirty="0"/>
              <a:t>Typical neuron membrane potential (@ rest) is approx. -70mV</a:t>
            </a:r>
          </a:p>
          <a:p>
            <a:pPr eaLnBrk="1" hangingPunct="1"/>
            <a:endParaRPr lang="en-GB" altLang="en-US" sz="1600" b="0" i="1" dirty="0"/>
          </a:p>
          <a:p>
            <a:pPr eaLnBrk="1" hangingPunct="1"/>
            <a:r>
              <a:rPr lang="en-GB" altLang="en-US" sz="1600" b="0" i="1" dirty="0"/>
              <a:t>Absolute requirement functioning nervous system</a:t>
            </a:r>
            <a:endParaRPr lang="en-GB" sz="1600" dirty="0"/>
          </a:p>
        </p:txBody>
      </p:sp>
    </p:spTree>
    <p:extLst>
      <p:ext uri="{BB962C8B-B14F-4D97-AF65-F5344CB8AC3E}">
        <p14:creationId xmlns:p14="http://schemas.microsoft.com/office/powerpoint/2010/main" val="291995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9F8D2D-80FE-3307-3B13-10DE4009E9FB}"/>
              </a:ext>
            </a:extLst>
          </p:cNvPr>
          <p:cNvSpPr>
            <a:spLocks noGrp="1"/>
          </p:cNvSpPr>
          <p:nvPr>
            <p:ph type="title"/>
          </p:nvPr>
        </p:nvSpPr>
        <p:spPr/>
        <p:txBody>
          <a:bodyPr/>
          <a:lstStyle/>
          <a:p>
            <a:r>
              <a:rPr lang="en-GB" dirty="0"/>
              <a:t>ICF versus ECF</a:t>
            </a:r>
          </a:p>
        </p:txBody>
      </p:sp>
      <p:pic>
        <p:nvPicPr>
          <p:cNvPr id="4" name="Picture 3">
            <a:extLst>
              <a:ext uri="{FF2B5EF4-FFF2-40B4-BE49-F238E27FC236}">
                <a16:creationId xmlns:a16="http://schemas.microsoft.com/office/drawing/2014/main" id="{66760B77-C9FB-0427-A9DB-D49E32FA4385}"/>
              </a:ext>
            </a:extLst>
          </p:cNvPr>
          <p:cNvPicPr>
            <a:picLocks noChangeAspect="1"/>
          </p:cNvPicPr>
          <p:nvPr/>
        </p:nvPicPr>
        <p:blipFill>
          <a:blip r:embed="rId3"/>
          <a:stretch>
            <a:fillRect/>
          </a:stretch>
        </p:blipFill>
        <p:spPr>
          <a:xfrm>
            <a:off x="3196377" y="339502"/>
            <a:ext cx="4994144" cy="3724914"/>
          </a:xfrm>
          <a:prstGeom prst="rect">
            <a:avLst/>
          </a:prstGeom>
        </p:spPr>
      </p:pic>
      <p:sp>
        <p:nvSpPr>
          <p:cNvPr id="2" name="TextBox 1">
            <a:extLst>
              <a:ext uri="{FF2B5EF4-FFF2-40B4-BE49-F238E27FC236}">
                <a16:creationId xmlns:a16="http://schemas.microsoft.com/office/drawing/2014/main" id="{9E238B52-EBDC-F5A0-4AC0-ECB1BE9C658E}"/>
              </a:ext>
            </a:extLst>
          </p:cNvPr>
          <p:cNvSpPr txBox="1"/>
          <p:nvPr/>
        </p:nvSpPr>
        <p:spPr>
          <a:xfrm>
            <a:off x="539553" y="1268760"/>
            <a:ext cx="2656824" cy="738664"/>
          </a:xfrm>
          <a:prstGeom prst="rect">
            <a:avLst/>
          </a:prstGeom>
          <a:noFill/>
          <a:ln w="12700">
            <a:solidFill>
              <a:schemeClr val="accent1"/>
            </a:solidFill>
          </a:ln>
        </p:spPr>
        <p:txBody>
          <a:bodyPr wrap="square" rtlCol="0">
            <a:spAutoFit/>
          </a:bodyPr>
          <a:lstStyle/>
          <a:p>
            <a:pPr algn="ctr"/>
            <a:r>
              <a:rPr lang="en-GB" sz="1400" dirty="0"/>
              <a:t>Cell membrane is impermeable to any particles that are hydrophilic</a:t>
            </a:r>
          </a:p>
        </p:txBody>
      </p:sp>
      <p:sp>
        <p:nvSpPr>
          <p:cNvPr id="3" name="TextBox 2">
            <a:extLst>
              <a:ext uri="{FF2B5EF4-FFF2-40B4-BE49-F238E27FC236}">
                <a16:creationId xmlns:a16="http://schemas.microsoft.com/office/drawing/2014/main" id="{9C319AA3-FC6E-7C86-9D6E-3A98755E2FC6}"/>
              </a:ext>
            </a:extLst>
          </p:cNvPr>
          <p:cNvSpPr txBox="1"/>
          <p:nvPr/>
        </p:nvSpPr>
        <p:spPr>
          <a:xfrm>
            <a:off x="4572000" y="3698157"/>
            <a:ext cx="2088231" cy="954107"/>
          </a:xfrm>
          <a:prstGeom prst="rect">
            <a:avLst/>
          </a:prstGeom>
          <a:noFill/>
        </p:spPr>
        <p:txBody>
          <a:bodyPr wrap="square" rtlCol="0">
            <a:spAutoFit/>
          </a:bodyPr>
          <a:lstStyle/>
          <a:p>
            <a:pPr algn="ctr"/>
            <a:r>
              <a:rPr lang="en-GB" sz="1400" dirty="0"/>
              <a:t>Inside and outside of the cell membrane exists in aqueous surroundings</a:t>
            </a:r>
          </a:p>
        </p:txBody>
      </p:sp>
      <p:sp>
        <p:nvSpPr>
          <p:cNvPr id="6" name="TextBox 5">
            <a:extLst>
              <a:ext uri="{FF2B5EF4-FFF2-40B4-BE49-F238E27FC236}">
                <a16:creationId xmlns:a16="http://schemas.microsoft.com/office/drawing/2014/main" id="{C116FA23-48F0-2723-1AF2-3A9E6BC03505}"/>
              </a:ext>
            </a:extLst>
          </p:cNvPr>
          <p:cNvSpPr txBox="1"/>
          <p:nvPr/>
        </p:nvSpPr>
        <p:spPr>
          <a:xfrm>
            <a:off x="539552" y="2283718"/>
            <a:ext cx="2656824" cy="738664"/>
          </a:xfrm>
          <a:prstGeom prst="rect">
            <a:avLst/>
          </a:prstGeom>
          <a:noFill/>
          <a:ln w="12700">
            <a:solidFill>
              <a:schemeClr val="accent1"/>
            </a:solidFill>
          </a:ln>
        </p:spPr>
        <p:txBody>
          <a:bodyPr wrap="square" rtlCol="0">
            <a:spAutoFit/>
          </a:bodyPr>
          <a:lstStyle/>
          <a:p>
            <a:pPr algn="ctr"/>
            <a:r>
              <a:rPr lang="en-GB" sz="1400" dirty="0"/>
              <a:t>Cell membrane influences the composition of the intracellular environment</a:t>
            </a:r>
          </a:p>
        </p:txBody>
      </p:sp>
      <p:sp>
        <p:nvSpPr>
          <p:cNvPr id="7" name="TextBox 6">
            <a:extLst>
              <a:ext uri="{FF2B5EF4-FFF2-40B4-BE49-F238E27FC236}">
                <a16:creationId xmlns:a16="http://schemas.microsoft.com/office/drawing/2014/main" id="{B3C9E911-8605-FE5A-0278-043F98AED616}"/>
              </a:ext>
            </a:extLst>
          </p:cNvPr>
          <p:cNvSpPr txBox="1"/>
          <p:nvPr/>
        </p:nvSpPr>
        <p:spPr>
          <a:xfrm>
            <a:off x="539552" y="3339028"/>
            <a:ext cx="2656824" cy="954107"/>
          </a:xfrm>
          <a:prstGeom prst="rect">
            <a:avLst/>
          </a:prstGeom>
          <a:noFill/>
          <a:ln w="12700">
            <a:solidFill>
              <a:schemeClr val="accent1"/>
            </a:solidFill>
          </a:ln>
        </p:spPr>
        <p:txBody>
          <a:bodyPr wrap="square" rtlCol="0">
            <a:spAutoFit/>
          </a:bodyPr>
          <a:lstStyle/>
          <a:p>
            <a:pPr algn="ctr"/>
            <a:r>
              <a:rPr lang="en-GB" sz="1400" dirty="0"/>
              <a:t>Cell membrane establish distinctive internal environments (specific anions and cations)</a:t>
            </a:r>
          </a:p>
        </p:txBody>
      </p:sp>
      <p:sp>
        <p:nvSpPr>
          <p:cNvPr id="10" name="TextBox 9">
            <a:extLst>
              <a:ext uri="{FF2B5EF4-FFF2-40B4-BE49-F238E27FC236}">
                <a16:creationId xmlns:a16="http://schemas.microsoft.com/office/drawing/2014/main" id="{1F07763A-36E5-812C-D021-8F7CD94512B8}"/>
              </a:ext>
            </a:extLst>
          </p:cNvPr>
          <p:cNvSpPr txBox="1"/>
          <p:nvPr/>
        </p:nvSpPr>
        <p:spPr>
          <a:xfrm>
            <a:off x="4932040" y="4699440"/>
            <a:ext cx="4104456" cy="400110"/>
          </a:xfrm>
          <a:prstGeom prst="rect">
            <a:avLst/>
          </a:prstGeom>
          <a:noFill/>
          <a:ln w="28575">
            <a:solidFill>
              <a:schemeClr val="tx1"/>
            </a:solidFill>
          </a:ln>
        </p:spPr>
        <p:txBody>
          <a:bodyPr wrap="square" rtlCol="0">
            <a:spAutoFit/>
          </a:bodyPr>
          <a:lstStyle/>
          <a:p>
            <a:r>
              <a:rPr lang="en-GB" sz="2000" dirty="0">
                <a:solidFill>
                  <a:srgbClr val="FF0000"/>
                </a:solidFill>
              </a:rPr>
              <a:t>Let see, at the cellular level …..</a:t>
            </a:r>
          </a:p>
        </p:txBody>
      </p:sp>
    </p:spTree>
    <p:extLst>
      <p:ext uri="{BB962C8B-B14F-4D97-AF65-F5344CB8AC3E}">
        <p14:creationId xmlns:p14="http://schemas.microsoft.com/office/powerpoint/2010/main" val="424153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6" grpId="0" animBg="1"/>
      <p:bldP spid="7"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5047099" y="2231358"/>
            <a:ext cx="3034904" cy="1916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chemeClr val="hlink"/>
                </a:solidFill>
              </a:rPr>
              <a:t>Like all cells, excitable cells have lipid bilayer membranes, </a:t>
            </a:r>
            <a:r>
              <a:rPr lang="en-GB" sz="2400" dirty="0"/>
              <a:t>with embedded proteins.</a:t>
            </a:r>
          </a:p>
        </p:txBody>
      </p:sp>
      <p:grpSp>
        <p:nvGrpSpPr>
          <p:cNvPr id="6154" name="Group 10"/>
          <p:cNvGrpSpPr>
            <a:grpSpLocks/>
          </p:cNvGrpSpPr>
          <p:nvPr/>
        </p:nvGrpSpPr>
        <p:grpSpPr bwMode="auto">
          <a:xfrm>
            <a:off x="1676400" y="1543050"/>
            <a:ext cx="2933700" cy="3124200"/>
            <a:chOff x="448" y="1296"/>
            <a:chExt cx="2464" cy="2624"/>
          </a:xfrm>
        </p:grpSpPr>
        <p:sp>
          <p:nvSpPr>
            <p:cNvPr id="6147" name="Oval 3"/>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148" name="Oval 4"/>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149" name="Freeform 5"/>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50" name="Freeform 6"/>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51" name="Freeform 7"/>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52" name="Freeform 8"/>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53" name="Freeform 9"/>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6155" name="Freeform 11"/>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56" name="Freeform 12"/>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3" name="Rectangle 2"/>
          <p:cNvSpPr txBox="1">
            <a:spLocks noChangeArrowheads="1"/>
          </p:cNvSpPr>
          <p:nvPr/>
        </p:nvSpPr>
        <p:spPr>
          <a:xfrm>
            <a:off x="219076" y="249492"/>
            <a:ext cx="8601396" cy="1028700"/>
          </a:xfrm>
          <a:prstGeom prst="rect">
            <a:avLst/>
          </a:prstGeom>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400" dirty="0">
                <a:solidFill>
                  <a:srgbClr val="FF0000"/>
                </a:solidFill>
                <a:latin typeface="Arial Rounded MT Bold" pitchFamily="34" charset="0"/>
              </a:rPr>
              <a:t>How is membrane potential maintained and how does it change?</a:t>
            </a:r>
          </a:p>
        </p:txBody>
      </p:sp>
    </p:spTree>
    <p:extLst>
      <p:ext uri="{BB962C8B-B14F-4D97-AF65-F5344CB8AC3E}">
        <p14:creationId xmlns:p14="http://schemas.microsoft.com/office/powerpoint/2010/main" val="338182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6154"/>
                                        </p:tgtEl>
                                        <p:attrNameLst>
                                          <p:attrName>style.visibility</p:attrName>
                                        </p:attrNameLst>
                                      </p:cBhvr>
                                      <p:to>
                                        <p:strVal val="visible"/>
                                      </p:to>
                                    </p:set>
                                    <p:animEffect transition="in" filter="barn(inVertical)">
                                      <p:cBhvr>
                                        <p:cTn id="11" dur="500"/>
                                        <p:tgtEl>
                                          <p:spTgt spid="6154"/>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6146"/>
                                        </p:tgtEl>
                                        <p:attrNameLst>
                                          <p:attrName>style.visibility</p:attrName>
                                        </p:attrNameLst>
                                      </p:cBhvr>
                                      <p:to>
                                        <p:strVal val="visible"/>
                                      </p:to>
                                    </p:set>
                                    <p:animEffect transition="in" filter="barn(inVertical)">
                                      <p:cBhvr>
                                        <p:cTn id="14"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13"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179512" y="239317"/>
            <a:ext cx="8856984" cy="808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Like all cells, excitable cells have lipid bilayer membranes, with embedded proteins.</a:t>
            </a:r>
          </a:p>
        </p:txBody>
      </p:sp>
      <p:grpSp>
        <p:nvGrpSpPr>
          <p:cNvPr id="9226" name="Group 10"/>
          <p:cNvGrpSpPr>
            <a:grpSpLocks/>
          </p:cNvGrpSpPr>
          <p:nvPr/>
        </p:nvGrpSpPr>
        <p:grpSpPr bwMode="auto">
          <a:xfrm>
            <a:off x="1676400" y="1543050"/>
            <a:ext cx="2933700" cy="3124200"/>
            <a:chOff x="448" y="1296"/>
            <a:chExt cx="2464" cy="2624"/>
          </a:xfrm>
        </p:grpSpPr>
        <p:sp>
          <p:nvSpPr>
            <p:cNvPr id="9219" name="Oval 3"/>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9220" name="Oval 4"/>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9221" name="Freeform 5"/>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9222" name="Freeform 6"/>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9223" name="Freeform 7"/>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9224" name="Freeform 8"/>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9225" name="Freeform 9"/>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9227" name="Freeform 11"/>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9228" name="Freeform 12"/>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9229" name="Rectangle 13"/>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9230" name="Rectangle 14"/>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9231" name="Rectangle 15"/>
          <p:cNvSpPr>
            <a:spLocks noChangeArrowheads="1"/>
          </p:cNvSpPr>
          <p:nvPr/>
        </p:nvSpPr>
        <p:spPr bwMode="auto">
          <a:xfrm>
            <a:off x="2674144" y="2296716"/>
            <a:ext cx="49051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K+</a:t>
            </a:r>
          </a:p>
        </p:txBody>
      </p:sp>
      <p:sp>
        <p:nvSpPr>
          <p:cNvPr id="9232" name="Rectangle 16"/>
          <p:cNvSpPr>
            <a:spLocks noChangeArrowheads="1"/>
          </p:cNvSpPr>
          <p:nvPr/>
        </p:nvSpPr>
        <p:spPr bwMode="auto">
          <a:xfrm>
            <a:off x="5760244" y="2239566"/>
            <a:ext cx="49051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K+</a:t>
            </a:r>
          </a:p>
        </p:txBody>
      </p:sp>
      <p:sp>
        <p:nvSpPr>
          <p:cNvPr id="9233" name="Rectangle 17"/>
          <p:cNvSpPr>
            <a:spLocks noChangeArrowheads="1"/>
          </p:cNvSpPr>
          <p:nvPr/>
        </p:nvSpPr>
        <p:spPr bwMode="auto">
          <a:xfrm>
            <a:off x="3359944" y="2296716"/>
            <a:ext cx="58669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150</a:t>
            </a:r>
          </a:p>
        </p:txBody>
      </p:sp>
      <p:sp>
        <p:nvSpPr>
          <p:cNvPr id="9234" name="Rectangle 18"/>
          <p:cNvSpPr>
            <a:spLocks noChangeArrowheads="1"/>
          </p:cNvSpPr>
          <p:nvPr/>
        </p:nvSpPr>
        <p:spPr bwMode="auto">
          <a:xfrm>
            <a:off x="6446044" y="2239566"/>
            <a:ext cx="82715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5 mM</a:t>
            </a:r>
          </a:p>
        </p:txBody>
      </p:sp>
    </p:spTree>
    <p:extLst>
      <p:ext uri="{BB962C8B-B14F-4D97-AF65-F5344CB8AC3E}">
        <p14:creationId xmlns:p14="http://schemas.microsoft.com/office/powerpoint/2010/main" val="3092358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179512" y="239317"/>
            <a:ext cx="8712968" cy="808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Like all cells, excitable cells have lipid bilayer membranes, with embedded proteins.</a:t>
            </a:r>
          </a:p>
        </p:txBody>
      </p:sp>
      <p:grpSp>
        <p:nvGrpSpPr>
          <p:cNvPr id="11274" name="Group 10"/>
          <p:cNvGrpSpPr>
            <a:grpSpLocks/>
          </p:cNvGrpSpPr>
          <p:nvPr/>
        </p:nvGrpSpPr>
        <p:grpSpPr bwMode="auto">
          <a:xfrm>
            <a:off x="1676400" y="1543050"/>
            <a:ext cx="2933700" cy="3124200"/>
            <a:chOff x="448" y="1296"/>
            <a:chExt cx="2464" cy="2624"/>
          </a:xfrm>
        </p:grpSpPr>
        <p:sp>
          <p:nvSpPr>
            <p:cNvPr id="11267" name="Oval 3"/>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1268" name="Oval 4"/>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1269" name="Freeform 5"/>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0" name="Freeform 6"/>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1" name="Freeform 7"/>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2" name="Freeform 8"/>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3" name="Freeform 9"/>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11275" name="Freeform 11"/>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6" name="Freeform 12"/>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7" name="Rectangle 13"/>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11278" name="Rectangle 14"/>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11279" name="Rectangle 15"/>
          <p:cNvSpPr>
            <a:spLocks noChangeArrowheads="1"/>
          </p:cNvSpPr>
          <p:nvPr/>
        </p:nvSpPr>
        <p:spPr bwMode="auto">
          <a:xfrm>
            <a:off x="2674144" y="2296716"/>
            <a:ext cx="49051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K+</a:t>
            </a:r>
          </a:p>
        </p:txBody>
      </p:sp>
      <p:sp>
        <p:nvSpPr>
          <p:cNvPr id="11280" name="Rectangle 16"/>
          <p:cNvSpPr>
            <a:spLocks noChangeArrowheads="1"/>
          </p:cNvSpPr>
          <p:nvPr/>
        </p:nvSpPr>
        <p:spPr bwMode="auto">
          <a:xfrm>
            <a:off x="5760244" y="2239566"/>
            <a:ext cx="49051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K+</a:t>
            </a:r>
          </a:p>
        </p:txBody>
      </p:sp>
      <p:sp>
        <p:nvSpPr>
          <p:cNvPr id="11281" name="Rectangle 17"/>
          <p:cNvSpPr>
            <a:spLocks noChangeArrowheads="1"/>
          </p:cNvSpPr>
          <p:nvPr/>
        </p:nvSpPr>
        <p:spPr bwMode="auto">
          <a:xfrm>
            <a:off x="3359944" y="2296716"/>
            <a:ext cx="58669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150</a:t>
            </a:r>
          </a:p>
        </p:txBody>
      </p:sp>
      <p:sp>
        <p:nvSpPr>
          <p:cNvPr id="11282" name="Rectangle 18"/>
          <p:cNvSpPr>
            <a:spLocks noChangeArrowheads="1"/>
          </p:cNvSpPr>
          <p:nvPr/>
        </p:nvSpPr>
        <p:spPr bwMode="auto">
          <a:xfrm>
            <a:off x="6446044" y="2239566"/>
            <a:ext cx="82715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5 mM</a:t>
            </a:r>
          </a:p>
        </p:txBody>
      </p:sp>
      <p:sp>
        <p:nvSpPr>
          <p:cNvPr id="11283" name="Rectangle 19"/>
          <p:cNvSpPr>
            <a:spLocks noChangeArrowheads="1"/>
          </p:cNvSpPr>
          <p:nvPr/>
        </p:nvSpPr>
        <p:spPr bwMode="auto">
          <a:xfrm>
            <a:off x="2616994" y="2725341"/>
            <a:ext cx="639598"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Na+</a:t>
            </a:r>
          </a:p>
        </p:txBody>
      </p:sp>
      <p:sp>
        <p:nvSpPr>
          <p:cNvPr id="11284" name="Rectangle 20"/>
          <p:cNvSpPr>
            <a:spLocks noChangeArrowheads="1"/>
          </p:cNvSpPr>
          <p:nvPr/>
        </p:nvSpPr>
        <p:spPr bwMode="auto">
          <a:xfrm>
            <a:off x="5703094" y="2725341"/>
            <a:ext cx="639598"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Na+</a:t>
            </a:r>
          </a:p>
        </p:txBody>
      </p:sp>
      <p:sp>
        <p:nvSpPr>
          <p:cNvPr id="11285" name="Rectangle 21"/>
          <p:cNvSpPr>
            <a:spLocks noChangeArrowheads="1"/>
          </p:cNvSpPr>
          <p:nvPr/>
        </p:nvSpPr>
        <p:spPr bwMode="auto">
          <a:xfrm>
            <a:off x="3417094" y="2725341"/>
            <a:ext cx="43761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15</a:t>
            </a:r>
          </a:p>
        </p:txBody>
      </p:sp>
      <p:sp>
        <p:nvSpPr>
          <p:cNvPr id="11286" name="Rectangle 22"/>
          <p:cNvSpPr>
            <a:spLocks noChangeArrowheads="1"/>
          </p:cNvSpPr>
          <p:nvPr/>
        </p:nvSpPr>
        <p:spPr bwMode="auto">
          <a:xfrm>
            <a:off x="6446044" y="2725341"/>
            <a:ext cx="58669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150</a:t>
            </a:r>
          </a:p>
        </p:txBody>
      </p:sp>
    </p:spTree>
    <p:extLst>
      <p:ext uri="{BB962C8B-B14F-4D97-AF65-F5344CB8AC3E}">
        <p14:creationId xmlns:p14="http://schemas.microsoft.com/office/powerpoint/2010/main" val="3235124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217612" y="180975"/>
            <a:ext cx="8784976" cy="808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Like all cells, excitable cells have lipid bilayer membranes, with embedded proteins.</a:t>
            </a:r>
          </a:p>
        </p:txBody>
      </p:sp>
      <p:grpSp>
        <p:nvGrpSpPr>
          <p:cNvPr id="12298" name="Group 10"/>
          <p:cNvGrpSpPr>
            <a:grpSpLocks/>
          </p:cNvGrpSpPr>
          <p:nvPr/>
        </p:nvGrpSpPr>
        <p:grpSpPr bwMode="auto">
          <a:xfrm>
            <a:off x="1676400" y="1543050"/>
            <a:ext cx="2933700" cy="3124200"/>
            <a:chOff x="448" y="1296"/>
            <a:chExt cx="2464" cy="2624"/>
          </a:xfrm>
        </p:grpSpPr>
        <p:sp>
          <p:nvSpPr>
            <p:cNvPr id="12291" name="Oval 3"/>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2292" name="Oval 4"/>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2293" name="Freeform 5"/>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2294" name="Freeform 6"/>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2295" name="Freeform 7"/>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2296" name="Freeform 8"/>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2297" name="Freeform 9"/>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12299" name="Freeform 11"/>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2300" name="Freeform 12"/>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2301" name="Rectangle 13"/>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12302" name="Rectangle 14"/>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12303" name="Rectangle 15"/>
          <p:cNvSpPr>
            <a:spLocks noChangeArrowheads="1"/>
          </p:cNvSpPr>
          <p:nvPr/>
        </p:nvSpPr>
        <p:spPr bwMode="auto">
          <a:xfrm>
            <a:off x="2639616" y="2296717"/>
            <a:ext cx="453649"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K</a:t>
            </a:r>
            <a:r>
              <a:rPr lang="en-GB" sz="2400" baseline="30000"/>
              <a:t>+</a:t>
            </a:r>
            <a:endParaRPr lang="en-GB" sz="2100"/>
          </a:p>
        </p:txBody>
      </p:sp>
      <p:sp>
        <p:nvSpPr>
          <p:cNvPr id="12304" name="Rectangle 16"/>
          <p:cNvSpPr>
            <a:spLocks noChangeArrowheads="1"/>
          </p:cNvSpPr>
          <p:nvPr/>
        </p:nvSpPr>
        <p:spPr bwMode="auto">
          <a:xfrm>
            <a:off x="5782866" y="2239567"/>
            <a:ext cx="453649"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K</a:t>
            </a:r>
            <a:r>
              <a:rPr lang="en-GB" sz="2400" baseline="30000"/>
              <a:t>+</a:t>
            </a:r>
            <a:endParaRPr lang="en-GB" sz="2100"/>
          </a:p>
        </p:txBody>
      </p:sp>
      <p:sp>
        <p:nvSpPr>
          <p:cNvPr id="12305" name="Rectangle 17"/>
          <p:cNvSpPr>
            <a:spLocks noChangeArrowheads="1"/>
          </p:cNvSpPr>
          <p:nvPr/>
        </p:nvSpPr>
        <p:spPr bwMode="auto">
          <a:xfrm>
            <a:off x="3359944" y="2296716"/>
            <a:ext cx="58669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150</a:t>
            </a:r>
          </a:p>
        </p:txBody>
      </p:sp>
      <p:sp>
        <p:nvSpPr>
          <p:cNvPr id="12306" name="Rectangle 18"/>
          <p:cNvSpPr>
            <a:spLocks noChangeArrowheads="1"/>
          </p:cNvSpPr>
          <p:nvPr/>
        </p:nvSpPr>
        <p:spPr bwMode="auto">
          <a:xfrm>
            <a:off x="6503194" y="2239566"/>
            <a:ext cx="82715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5 mM</a:t>
            </a:r>
          </a:p>
        </p:txBody>
      </p:sp>
      <p:sp>
        <p:nvSpPr>
          <p:cNvPr id="12307" name="Rectangle 19"/>
          <p:cNvSpPr>
            <a:spLocks noChangeArrowheads="1"/>
          </p:cNvSpPr>
          <p:nvPr/>
        </p:nvSpPr>
        <p:spPr bwMode="auto">
          <a:xfrm>
            <a:off x="2558654" y="2725342"/>
            <a:ext cx="602729"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Na</a:t>
            </a:r>
            <a:r>
              <a:rPr lang="en-GB" sz="2400" baseline="30000"/>
              <a:t>+</a:t>
            </a:r>
            <a:endParaRPr lang="en-GB" sz="2100"/>
          </a:p>
        </p:txBody>
      </p:sp>
      <p:sp>
        <p:nvSpPr>
          <p:cNvPr id="12308" name="Rectangle 20"/>
          <p:cNvSpPr>
            <a:spLocks noChangeArrowheads="1"/>
          </p:cNvSpPr>
          <p:nvPr/>
        </p:nvSpPr>
        <p:spPr bwMode="auto">
          <a:xfrm>
            <a:off x="5701904" y="2725342"/>
            <a:ext cx="602729"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Na</a:t>
            </a:r>
            <a:r>
              <a:rPr lang="en-GB" sz="2400" baseline="30000"/>
              <a:t>+</a:t>
            </a:r>
            <a:endParaRPr lang="en-GB" sz="2100"/>
          </a:p>
        </p:txBody>
      </p:sp>
      <p:sp>
        <p:nvSpPr>
          <p:cNvPr id="12309" name="Rectangle 21"/>
          <p:cNvSpPr>
            <a:spLocks noChangeArrowheads="1"/>
          </p:cNvSpPr>
          <p:nvPr/>
        </p:nvSpPr>
        <p:spPr bwMode="auto">
          <a:xfrm>
            <a:off x="3438526" y="2725341"/>
            <a:ext cx="43761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15</a:t>
            </a:r>
          </a:p>
        </p:txBody>
      </p:sp>
      <p:sp>
        <p:nvSpPr>
          <p:cNvPr id="12310" name="Rectangle 22"/>
          <p:cNvSpPr>
            <a:spLocks noChangeArrowheads="1"/>
          </p:cNvSpPr>
          <p:nvPr/>
        </p:nvSpPr>
        <p:spPr bwMode="auto">
          <a:xfrm>
            <a:off x="6602017" y="2725341"/>
            <a:ext cx="58669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150</a:t>
            </a:r>
          </a:p>
        </p:txBody>
      </p:sp>
      <p:sp>
        <p:nvSpPr>
          <p:cNvPr id="12311" name="Rectangle 23"/>
          <p:cNvSpPr>
            <a:spLocks noChangeArrowheads="1"/>
          </p:cNvSpPr>
          <p:nvPr/>
        </p:nvSpPr>
        <p:spPr bwMode="auto">
          <a:xfrm>
            <a:off x="2628900" y="3211117"/>
            <a:ext cx="477695"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Cl</a:t>
            </a:r>
            <a:r>
              <a:rPr lang="en-GB" sz="2400" baseline="30000"/>
              <a:t>-</a:t>
            </a:r>
            <a:endParaRPr lang="en-GB" sz="2100"/>
          </a:p>
        </p:txBody>
      </p:sp>
      <p:sp>
        <p:nvSpPr>
          <p:cNvPr id="12312" name="Rectangle 24"/>
          <p:cNvSpPr>
            <a:spLocks noChangeArrowheads="1"/>
          </p:cNvSpPr>
          <p:nvPr/>
        </p:nvSpPr>
        <p:spPr bwMode="auto">
          <a:xfrm>
            <a:off x="5688807" y="3239692"/>
            <a:ext cx="640556"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a:t>Cl</a:t>
            </a:r>
            <a:r>
              <a:rPr lang="en-GB" sz="2400" baseline="30000"/>
              <a:t>-</a:t>
            </a:r>
            <a:endParaRPr lang="en-GB" sz="2100"/>
          </a:p>
        </p:txBody>
      </p:sp>
      <p:sp>
        <p:nvSpPr>
          <p:cNvPr id="12313" name="Rectangle 25"/>
          <p:cNvSpPr>
            <a:spLocks noChangeArrowheads="1"/>
          </p:cNvSpPr>
          <p:nvPr/>
        </p:nvSpPr>
        <p:spPr bwMode="auto">
          <a:xfrm>
            <a:off x="3518297" y="3211116"/>
            <a:ext cx="288541"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9</a:t>
            </a:r>
          </a:p>
        </p:txBody>
      </p:sp>
      <p:sp>
        <p:nvSpPr>
          <p:cNvPr id="12314" name="Rectangle 26"/>
          <p:cNvSpPr>
            <a:spLocks noChangeArrowheads="1"/>
          </p:cNvSpPr>
          <p:nvPr/>
        </p:nvSpPr>
        <p:spPr bwMode="auto">
          <a:xfrm>
            <a:off x="6503194" y="3239691"/>
            <a:ext cx="81200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a:solidFill>
                  <a:schemeClr val="hlink"/>
                </a:solidFill>
              </a:rPr>
              <a:t>125</a:t>
            </a:r>
          </a:p>
        </p:txBody>
      </p:sp>
      <p:sp>
        <p:nvSpPr>
          <p:cNvPr id="12315" name="Rectangle 27"/>
          <p:cNvSpPr>
            <a:spLocks noChangeArrowheads="1"/>
          </p:cNvSpPr>
          <p:nvPr/>
        </p:nvSpPr>
        <p:spPr bwMode="auto">
          <a:xfrm>
            <a:off x="2331244" y="3725466"/>
            <a:ext cx="1053172"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protein</a:t>
            </a:r>
          </a:p>
        </p:txBody>
      </p:sp>
      <p:sp>
        <p:nvSpPr>
          <p:cNvPr id="12316" name="Rectangle 28"/>
          <p:cNvSpPr>
            <a:spLocks noChangeArrowheads="1"/>
          </p:cNvSpPr>
          <p:nvPr/>
        </p:nvSpPr>
        <p:spPr bwMode="auto">
          <a:xfrm>
            <a:off x="3438526" y="3725466"/>
            <a:ext cx="43761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45</a:t>
            </a:r>
          </a:p>
        </p:txBody>
      </p:sp>
      <p:sp>
        <p:nvSpPr>
          <p:cNvPr id="12317" name="Rectangle 29"/>
          <p:cNvSpPr>
            <a:spLocks noChangeArrowheads="1"/>
          </p:cNvSpPr>
          <p:nvPr/>
        </p:nvSpPr>
        <p:spPr bwMode="auto">
          <a:xfrm>
            <a:off x="6640116" y="3725466"/>
            <a:ext cx="512961"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hlink"/>
                </a:solidFill>
              </a:rPr>
              <a:t>0.1</a:t>
            </a:r>
          </a:p>
        </p:txBody>
      </p:sp>
      <p:sp>
        <p:nvSpPr>
          <p:cNvPr id="12318" name="Rectangle 30"/>
          <p:cNvSpPr>
            <a:spLocks noChangeArrowheads="1"/>
          </p:cNvSpPr>
          <p:nvPr/>
        </p:nvSpPr>
        <p:spPr bwMode="auto">
          <a:xfrm>
            <a:off x="5474494" y="3725466"/>
            <a:ext cx="1053172"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protein</a:t>
            </a:r>
          </a:p>
        </p:txBody>
      </p:sp>
    </p:spTree>
    <p:extLst>
      <p:ext uri="{BB962C8B-B14F-4D97-AF65-F5344CB8AC3E}">
        <p14:creationId xmlns:p14="http://schemas.microsoft.com/office/powerpoint/2010/main" val="1439503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51520" y="171450"/>
            <a:ext cx="8892480" cy="857250"/>
          </a:xfrm>
          <a:noFill/>
          <a:ln/>
        </p:spPr>
        <p:txBody>
          <a:bodyPr>
            <a:noAutofit/>
          </a:bodyPr>
          <a:lstStyle/>
          <a:p>
            <a:pPr algn="l"/>
            <a:r>
              <a:rPr lang="en-GB" sz="2400" b="1" dirty="0">
                <a:solidFill>
                  <a:srgbClr val="FF0000"/>
                </a:solidFill>
                <a:latin typeface="+mn-lt"/>
              </a:rPr>
              <a:t>This unequal distribution of ions leads to a slight negative charge inside the membrane -- the Resting Membrane Potential (RMP)</a:t>
            </a:r>
          </a:p>
        </p:txBody>
      </p:sp>
      <p:sp>
        <p:nvSpPr>
          <p:cNvPr id="14339" name="Rectangle 3"/>
          <p:cNvSpPr>
            <a:spLocks noGrp="1" noChangeArrowheads="1"/>
          </p:cNvSpPr>
          <p:nvPr>
            <p:ph type="body" idx="1"/>
          </p:nvPr>
        </p:nvSpPr>
        <p:spPr>
          <a:xfrm>
            <a:off x="683568" y="1600200"/>
            <a:ext cx="8136904" cy="3371850"/>
          </a:xfrm>
          <a:noFill/>
          <a:ln/>
        </p:spPr>
        <p:txBody>
          <a:bodyPr/>
          <a:lstStyle/>
          <a:p>
            <a:pPr>
              <a:spcBef>
                <a:spcPct val="0"/>
              </a:spcBef>
            </a:pPr>
            <a:r>
              <a:rPr lang="en-GB" sz="2800" dirty="0">
                <a:latin typeface="Arial Rounded MT Bold" pitchFamily="34" charset="0"/>
              </a:rPr>
              <a:t>The RMP is </a:t>
            </a:r>
            <a:r>
              <a:rPr lang="en-GB" sz="2800" dirty="0">
                <a:highlight>
                  <a:srgbClr val="FFFF00"/>
                </a:highlight>
                <a:latin typeface="Arial Rounded MT Bold" pitchFamily="34" charset="0"/>
              </a:rPr>
              <a:t>maintained</a:t>
            </a:r>
            <a:r>
              <a:rPr lang="en-GB" sz="2800" dirty="0">
                <a:latin typeface="Arial Rounded MT Bold" pitchFamily="34" charset="0"/>
              </a:rPr>
              <a:t> by:</a:t>
            </a:r>
          </a:p>
          <a:p>
            <a:pPr lvl="1"/>
            <a:r>
              <a:rPr lang="en-GB" sz="2800" dirty="0">
                <a:latin typeface="Arial Rounded MT Bold" pitchFamily="34" charset="0"/>
              </a:rPr>
              <a:t>the high permeability of the membrane to </a:t>
            </a:r>
            <a:r>
              <a:rPr lang="en-GB" sz="2800" dirty="0">
                <a:solidFill>
                  <a:schemeClr val="hlink"/>
                </a:solidFill>
                <a:latin typeface="Arial Rounded MT Bold" pitchFamily="34" charset="0"/>
              </a:rPr>
              <a:t>K</a:t>
            </a:r>
            <a:r>
              <a:rPr lang="en-GB" sz="2800" baseline="30000" dirty="0">
                <a:solidFill>
                  <a:schemeClr val="hlink"/>
                </a:solidFill>
                <a:latin typeface="Arial Rounded MT Bold" pitchFamily="34" charset="0"/>
              </a:rPr>
              <a:t>+ </a:t>
            </a:r>
            <a:r>
              <a:rPr lang="en-GB" sz="2800" dirty="0">
                <a:solidFill>
                  <a:schemeClr val="hlink"/>
                </a:solidFill>
                <a:highlight>
                  <a:srgbClr val="FFFF00"/>
                </a:highlight>
                <a:latin typeface="Arial Rounded MT Bold" pitchFamily="34" charset="0"/>
              </a:rPr>
              <a:t>(This is the main)</a:t>
            </a:r>
          </a:p>
          <a:p>
            <a:pPr lvl="1"/>
            <a:r>
              <a:rPr lang="en-GB" sz="2800" dirty="0">
                <a:latin typeface="Arial Rounded MT Bold" pitchFamily="34" charset="0"/>
              </a:rPr>
              <a:t>the active transport of </a:t>
            </a:r>
            <a:r>
              <a:rPr lang="en-GB" sz="2800" dirty="0">
                <a:solidFill>
                  <a:schemeClr val="hlink"/>
                </a:solidFill>
                <a:latin typeface="Arial Rounded MT Bold" pitchFamily="34" charset="0"/>
              </a:rPr>
              <a:t>Na</a:t>
            </a:r>
            <a:r>
              <a:rPr lang="en-GB" sz="2800" baseline="30000" dirty="0">
                <a:solidFill>
                  <a:schemeClr val="hlink"/>
                </a:solidFill>
                <a:latin typeface="Arial Rounded MT Bold" pitchFamily="34" charset="0"/>
              </a:rPr>
              <a:t>+</a:t>
            </a:r>
            <a:r>
              <a:rPr lang="en-GB" sz="2800" dirty="0">
                <a:latin typeface="Arial Rounded MT Bold" pitchFamily="34" charset="0"/>
              </a:rPr>
              <a:t> (Outside) across the membrane (</a:t>
            </a:r>
            <a:r>
              <a:rPr lang="en-GB" sz="2800" dirty="0">
                <a:highlight>
                  <a:srgbClr val="FFFF00"/>
                </a:highlight>
                <a:latin typeface="Arial Rounded MT Bold" pitchFamily="34" charset="0"/>
              </a:rPr>
              <a:t>Supportive role</a:t>
            </a:r>
            <a:r>
              <a:rPr lang="en-GB" sz="2800" dirty="0">
                <a:latin typeface="Arial Rounded MT Bold" pitchFamily="34" charset="0"/>
              </a:rPr>
              <a:t>)</a:t>
            </a:r>
          </a:p>
          <a:p>
            <a:r>
              <a:rPr lang="en-GB" sz="2800" dirty="0">
                <a:latin typeface="Arial Rounded MT Bold" pitchFamily="34" charset="0"/>
              </a:rPr>
              <a:t>both via </a:t>
            </a:r>
            <a:r>
              <a:rPr lang="en-GB" sz="2800" dirty="0">
                <a:solidFill>
                  <a:schemeClr val="hlink"/>
                </a:solidFill>
                <a:latin typeface="Arial Rounded MT Bold" pitchFamily="34" charset="0"/>
              </a:rPr>
              <a:t>transmembrane proteins</a:t>
            </a:r>
          </a:p>
        </p:txBody>
      </p:sp>
    </p:spTree>
    <p:extLst>
      <p:ext uri="{BB962C8B-B14F-4D97-AF65-F5344CB8AC3E}">
        <p14:creationId xmlns:p14="http://schemas.microsoft.com/office/powerpoint/2010/main" val="27994418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3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bldLvl="3"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539552" y="239317"/>
            <a:ext cx="8496944" cy="808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The transmembrane proteins form ion channels, allowing ions to cross the membrane</a:t>
            </a:r>
            <a:r>
              <a:rPr lang="en-GB" sz="2100" dirty="0">
                <a:solidFill>
                  <a:srgbClr val="FF0000"/>
                </a:solidFill>
              </a:rPr>
              <a:t>.</a:t>
            </a:r>
          </a:p>
        </p:txBody>
      </p:sp>
      <p:grpSp>
        <p:nvGrpSpPr>
          <p:cNvPr id="16394" name="Group 10"/>
          <p:cNvGrpSpPr>
            <a:grpSpLocks/>
          </p:cNvGrpSpPr>
          <p:nvPr/>
        </p:nvGrpSpPr>
        <p:grpSpPr bwMode="auto">
          <a:xfrm>
            <a:off x="1676400" y="1543050"/>
            <a:ext cx="2933700" cy="3124200"/>
            <a:chOff x="448" y="1296"/>
            <a:chExt cx="2464" cy="2624"/>
          </a:xfrm>
        </p:grpSpPr>
        <p:sp>
          <p:nvSpPr>
            <p:cNvPr id="16387" name="Oval 3"/>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6388" name="Oval 4"/>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6389" name="Freeform 5"/>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0" name="Freeform 6"/>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1" name="Freeform 7"/>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2" name="Freeform 8"/>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3" name="Freeform 9"/>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16395" name="Freeform 11"/>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6" name="Freeform 12"/>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7" name="Rectangle 13"/>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16398" name="Rectangle 14"/>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16399" name="Rectangle 15"/>
          <p:cNvSpPr>
            <a:spLocks noChangeArrowheads="1"/>
          </p:cNvSpPr>
          <p:nvPr/>
        </p:nvSpPr>
        <p:spPr bwMode="auto">
          <a:xfrm>
            <a:off x="4675585" y="1496616"/>
            <a:ext cx="297517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1) the </a:t>
            </a:r>
            <a:r>
              <a:rPr lang="en-GB" sz="2100" dirty="0">
                <a:solidFill>
                  <a:schemeClr val="hlink"/>
                </a:solidFill>
              </a:rPr>
              <a:t>K+</a:t>
            </a:r>
            <a:r>
              <a:rPr lang="en-GB" sz="2100" dirty="0"/>
              <a:t> leak channel</a:t>
            </a:r>
          </a:p>
        </p:txBody>
      </p:sp>
    </p:spTree>
    <p:extLst>
      <p:ext uri="{BB962C8B-B14F-4D97-AF65-F5344CB8AC3E}">
        <p14:creationId xmlns:p14="http://schemas.microsoft.com/office/powerpoint/2010/main" val="1429688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7" name="Group 9"/>
          <p:cNvGrpSpPr>
            <a:grpSpLocks/>
          </p:cNvGrpSpPr>
          <p:nvPr/>
        </p:nvGrpSpPr>
        <p:grpSpPr bwMode="auto">
          <a:xfrm>
            <a:off x="1676400" y="1543050"/>
            <a:ext cx="2933700" cy="3124200"/>
            <a:chOff x="448" y="1296"/>
            <a:chExt cx="2464" cy="2624"/>
          </a:xfrm>
        </p:grpSpPr>
        <p:sp>
          <p:nvSpPr>
            <p:cNvPr id="22530" name="Oval 2"/>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22531" name="Oval 3"/>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22532" name="Freeform 4"/>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3" name="Freeform 5"/>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4" name="Freeform 6"/>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5" name="Freeform 7"/>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6" name="Freeform 8"/>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22538" name="Freeform 10"/>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9" name="Freeform 11"/>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40" name="Rectangle 12"/>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22541" name="Rectangle 13"/>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22542" name="Rectangle 14"/>
          <p:cNvSpPr>
            <a:spLocks noChangeArrowheads="1"/>
          </p:cNvSpPr>
          <p:nvPr/>
        </p:nvSpPr>
        <p:spPr bwMode="auto">
          <a:xfrm>
            <a:off x="4675585" y="1496616"/>
            <a:ext cx="297517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1) the </a:t>
            </a:r>
            <a:r>
              <a:rPr lang="en-GB" sz="2100" dirty="0">
                <a:solidFill>
                  <a:schemeClr val="hlink"/>
                </a:solidFill>
              </a:rPr>
              <a:t>K+</a:t>
            </a:r>
            <a:r>
              <a:rPr lang="en-GB" sz="2100" dirty="0"/>
              <a:t> leak channel</a:t>
            </a:r>
          </a:p>
        </p:txBody>
      </p:sp>
      <p:sp>
        <p:nvSpPr>
          <p:cNvPr id="22543" name="Rectangle 15"/>
          <p:cNvSpPr>
            <a:spLocks noChangeArrowheads="1"/>
          </p:cNvSpPr>
          <p:nvPr/>
        </p:nvSpPr>
        <p:spPr bwMode="auto">
          <a:xfrm>
            <a:off x="2502694" y="23657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44" name="Rectangle 16"/>
          <p:cNvSpPr>
            <a:spLocks noChangeArrowheads="1"/>
          </p:cNvSpPr>
          <p:nvPr/>
        </p:nvSpPr>
        <p:spPr bwMode="auto">
          <a:xfrm>
            <a:off x="3531394" y="32801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45" name="Rectangle 17"/>
          <p:cNvSpPr>
            <a:spLocks noChangeArrowheads="1"/>
          </p:cNvSpPr>
          <p:nvPr/>
        </p:nvSpPr>
        <p:spPr bwMode="auto">
          <a:xfrm>
            <a:off x="2502694" y="37373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46" name="Rectangle 18"/>
          <p:cNvSpPr>
            <a:spLocks noChangeArrowheads="1"/>
          </p:cNvSpPr>
          <p:nvPr/>
        </p:nvSpPr>
        <p:spPr bwMode="auto">
          <a:xfrm>
            <a:off x="4102894" y="21943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47" name="Rectangle 19"/>
          <p:cNvSpPr>
            <a:spLocks noChangeArrowheads="1"/>
          </p:cNvSpPr>
          <p:nvPr/>
        </p:nvSpPr>
        <p:spPr bwMode="auto">
          <a:xfrm>
            <a:off x="2959894" y="3223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48" name="Rectangle 20"/>
          <p:cNvSpPr>
            <a:spLocks noChangeArrowheads="1"/>
          </p:cNvSpPr>
          <p:nvPr/>
        </p:nvSpPr>
        <p:spPr bwMode="auto">
          <a:xfrm>
            <a:off x="2102644" y="31087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49" name="Rectangle 21"/>
          <p:cNvSpPr>
            <a:spLocks noChangeArrowheads="1"/>
          </p:cNvSpPr>
          <p:nvPr/>
        </p:nvSpPr>
        <p:spPr bwMode="auto">
          <a:xfrm>
            <a:off x="3245644" y="3851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50" name="Rectangle 22"/>
          <p:cNvSpPr>
            <a:spLocks noChangeArrowheads="1"/>
          </p:cNvSpPr>
          <p:nvPr/>
        </p:nvSpPr>
        <p:spPr bwMode="auto">
          <a:xfrm>
            <a:off x="2959894" y="26515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51" name="Rectangle 23"/>
          <p:cNvSpPr>
            <a:spLocks noChangeArrowheads="1"/>
          </p:cNvSpPr>
          <p:nvPr/>
        </p:nvSpPr>
        <p:spPr bwMode="auto">
          <a:xfrm>
            <a:off x="5645944" y="28801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52" name="Rectangle 24"/>
          <p:cNvSpPr>
            <a:spLocks noChangeArrowheads="1"/>
          </p:cNvSpPr>
          <p:nvPr/>
        </p:nvSpPr>
        <p:spPr bwMode="auto">
          <a:xfrm>
            <a:off x="2559844" y="2708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53" name="Rectangle 25"/>
          <p:cNvSpPr>
            <a:spLocks noChangeArrowheads="1"/>
          </p:cNvSpPr>
          <p:nvPr/>
        </p:nvSpPr>
        <p:spPr bwMode="auto">
          <a:xfrm>
            <a:off x="5760244" y="2080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2554" name="Line 26"/>
          <p:cNvSpPr>
            <a:spLocks noChangeShapeType="1"/>
          </p:cNvSpPr>
          <p:nvPr/>
        </p:nvSpPr>
        <p:spPr bwMode="auto">
          <a:xfrm flipV="1">
            <a:off x="3943350" y="21717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55" name="Line 27"/>
          <p:cNvSpPr>
            <a:spLocks noChangeShapeType="1"/>
          </p:cNvSpPr>
          <p:nvPr/>
        </p:nvSpPr>
        <p:spPr bwMode="auto">
          <a:xfrm flipV="1">
            <a:off x="3943350" y="24003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56" name="Rectangle 28"/>
          <p:cNvSpPr>
            <a:spLocks noChangeArrowheads="1"/>
          </p:cNvSpPr>
          <p:nvPr/>
        </p:nvSpPr>
        <p:spPr bwMode="auto">
          <a:xfrm>
            <a:off x="467544" y="239317"/>
            <a:ext cx="8280920"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K+ flows out of cell down its concentration gradient</a:t>
            </a:r>
            <a:r>
              <a:rPr lang="en-GB" sz="2100" dirty="0">
                <a:solidFill>
                  <a:srgbClr val="FF0000"/>
                </a:solidFill>
              </a:rPr>
              <a:t>.</a:t>
            </a:r>
          </a:p>
        </p:txBody>
      </p:sp>
    </p:spTree>
    <p:extLst>
      <p:ext uri="{BB962C8B-B14F-4D97-AF65-F5344CB8AC3E}">
        <p14:creationId xmlns:p14="http://schemas.microsoft.com/office/powerpoint/2010/main" val="2199802973"/>
      </p:ext>
    </p:extLst>
  </p:cSld>
  <p:clrMapOvr>
    <a:masterClrMapping/>
  </p:clrMapOvr>
  <p:transition spd="slow">
    <p:sndAc>
      <p:stSnd loop="1">
        <p:snd r:embed="rId2" name="Whoosh"/>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9" name="Group 9"/>
          <p:cNvGrpSpPr>
            <a:grpSpLocks/>
          </p:cNvGrpSpPr>
          <p:nvPr/>
        </p:nvGrpSpPr>
        <p:grpSpPr bwMode="auto">
          <a:xfrm>
            <a:off x="1676400" y="1543050"/>
            <a:ext cx="2933700" cy="3124200"/>
            <a:chOff x="448" y="1296"/>
            <a:chExt cx="2464" cy="2624"/>
          </a:xfrm>
        </p:grpSpPr>
        <p:sp>
          <p:nvSpPr>
            <p:cNvPr id="25602" name="Oval 2"/>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25603" name="Oval 3"/>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25604" name="Freeform 4"/>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05" name="Freeform 5"/>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06" name="Freeform 6"/>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07" name="Freeform 7"/>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08" name="Freeform 8"/>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25610" name="Freeform 10"/>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11" name="Freeform 11"/>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12" name="Rectangle 12"/>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25613" name="Rectangle 13"/>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25614" name="Rectangle 14"/>
          <p:cNvSpPr>
            <a:spLocks noChangeArrowheads="1"/>
          </p:cNvSpPr>
          <p:nvPr/>
        </p:nvSpPr>
        <p:spPr bwMode="auto">
          <a:xfrm>
            <a:off x="4675585" y="1496616"/>
            <a:ext cx="297517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1) the </a:t>
            </a:r>
            <a:r>
              <a:rPr lang="en-GB" sz="2100" dirty="0">
                <a:solidFill>
                  <a:schemeClr val="hlink"/>
                </a:solidFill>
              </a:rPr>
              <a:t>K+</a:t>
            </a:r>
            <a:r>
              <a:rPr lang="en-GB" sz="2100" dirty="0"/>
              <a:t> leak channel</a:t>
            </a:r>
          </a:p>
        </p:txBody>
      </p:sp>
      <p:sp>
        <p:nvSpPr>
          <p:cNvPr id="25615" name="Rectangle 15"/>
          <p:cNvSpPr>
            <a:spLocks noChangeArrowheads="1"/>
          </p:cNvSpPr>
          <p:nvPr/>
        </p:nvSpPr>
        <p:spPr bwMode="auto">
          <a:xfrm>
            <a:off x="2502694" y="23657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16" name="Rectangle 16"/>
          <p:cNvSpPr>
            <a:spLocks noChangeArrowheads="1"/>
          </p:cNvSpPr>
          <p:nvPr/>
        </p:nvSpPr>
        <p:spPr bwMode="auto">
          <a:xfrm>
            <a:off x="3531394" y="32801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17" name="Rectangle 17"/>
          <p:cNvSpPr>
            <a:spLocks noChangeArrowheads="1"/>
          </p:cNvSpPr>
          <p:nvPr/>
        </p:nvSpPr>
        <p:spPr bwMode="auto">
          <a:xfrm>
            <a:off x="2502694" y="37373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18" name="Rectangle 18"/>
          <p:cNvSpPr>
            <a:spLocks noChangeArrowheads="1"/>
          </p:cNvSpPr>
          <p:nvPr/>
        </p:nvSpPr>
        <p:spPr bwMode="auto">
          <a:xfrm>
            <a:off x="4788694" y="2080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19" name="Rectangle 19"/>
          <p:cNvSpPr>
            <a:spLocks noChangeArrowheads="1"/>
          </p:cNvSpPr>
          <p:nvPr/>
        </p:nvSpPr>
        <p:spPr bwMode="auto">
          <a:xfrm>
            <a:off x="2959894" y="3223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20" name="Rectangle 20"/>
          <p:cNvSpPr>
            <a:spLocks noChangeArrowheads="1"/>
          </p:cNvSpPr>
          <p:nvPr/>
        </p:nvSpPr>
        <p:spPr bwMode="auto">
          <a:xfrm>
            <a:off x="2102644" y="31087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21" name="Rectangle 21"/>
          <p:cNvSpPr>
            <a:spLocks noChangeArrowheads="1"/>
          </p:cNvSpPr>
          <p:nvPr/>
        </p:nvSpPr>
        <p:spPr bwMode="auto">
          <a:xfrm>
            <a:off x="3245644" y="3851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22" name="Rectangle 22"/>
          <p:cNvSpPr>
            <a:spLocks noChangeArrowheads="1"/>
          </p:cNvSpPr>
          <p:nvPr/>
        </p:nvSpPr>
        <p:spPr bwMode="auto">
          <a:xfrm>
            <a:off x="2959894" y="26515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23" name="Rectangle 23"/>
          <p:cNvSpPr>
            <a:spLocks noChangeArrowheads="1"/>
          </p:cNvSpPr>
          <p:nvPr/>
        </p:nvSpPr>
        <p:spPr bwMode="auto">
          <a:xfrm>
            <a:off x="5645944" y="28801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24" name="Rectangle 24"/>
          <p:cNvSpPr>
            <a:spLocks noChangeArrowheads="1"/>
          </p:cNvSpPr>
          <p:nvPr/>
        </p:nvSpPr>
        <p:spPr bwMode="auto">
          <a:xfrm>
            <a:off x="2559844" y="2708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25" name="Rectangle 25"/>
          <p:cNvSpPr>
            <a:spLocks noChangeArrowheads="1"/>
          </p:cNvSpPr>
          <p:nvPr/>
        </p:nvSpPr>
        <p:spPr bwMode="auto">
          <a:xfrm>
            <a:off x="5760244" y="2080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5626" name="Line 26"/>
          <p:cNvSpPr>
            <a:spLocks noChangeShapeType="1"/>
          </p:cNvSpPr>
          <p:nvPr/>
        </p:nvSpPr>
        <p:spPr bwMode="auto">
          <a:xfrm flipV="1">
            <a:off x="3943350" y="21717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27" name="Line 27"/>
          <p:cNvSpPr>
            <a:spLocks noChangeShapeType="1"/>
          </p:cNvSpPr>
          <p:nvPr/>
        </p:nvSpPr>
        <p:spPr bwMode="auto">
          <a:xfrm flipV="1">
            <a:off x="3943350" y="24003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28" name="Arc 28"/>
          <p:cNvSpPr>
            <a:spLocks/>
          </p:cNvSpPr>
          <p:nvPr/>
        </p:nvSpPr>
        <p:spPr bwMode="auto">
          <a:xfrm>
            <a:off x="3543300" y="217170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5629" name="Rectangle 29"/>
          <p:cNvSpPr>
            <a:spLocks noChangeArrowheads="1"/>
          </p:cNvSpPr>
          <p:nvPr/>
        </p:nvSpPr>
        <p:spPr bwMode="auto">
          <a:xfrm>
            <a:off x="323528" y="239317"/>
            <a:ext cx="8568952"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K+ flows out of cell down its concentration gradient.</a:t>
            </a:r>
          </a:p>
        </p:txBody>
      </p:sp>
    </p:spTree>
    <p:extLst>
      <p:ext uri="{BB962C8B-B14F-4D97-AF65-F5344CB8AC3E}">
        <p14:creationId xmlns:p14="http://schemas.microsoft.com/office/powerpoint/2010/main" val="3038595022"/>
      </p:ext>
    </p:extLst>
  </p:cSld>
  <p:clrMapOvr>
    <a:masterClrMapping/>
  </p:clrMapOvr>
  <p:transition spd="slow">
    <p:sndAc>
      <p:end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94" name="Rectangle 30"/>
          <p:cNvSpPr>
            <a:spLocks noChangeArrowheads="1"/>
          </p:cNvSpPr>
          <p:nvPr/>
        </p:nvSpPr>
        <p:spPr bwMode="auto">
          <a:xfrm>
            <a:off x="168052" y="83044"/>
            <a:ext cx="9036496" cy="1177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This movement of K+ down its concentration gradient causes a slight accumulation of  +</a:t>
            </a:r>
            <a:r>
              <a:rPr lang="en-GB" sz="2400" dirty="0" err="1">
                <a:solidFill>
                  <a:srgbClr val="FF0000"/>
                </a:solidFill>
              </a:rPr>
              <a:t>ve</a:t>
            </a:r>
            <a:r>
              <a:rPr lang="en-GB" sz="2400" dirty="0">
                <a:solidFill>
                  <a:srgbClr val="FF0000"/>
                </a:solidFill>
              </a:rPr>
              <a:t> charges on the outside of cell membrane. </a:t>
            </a:r>
          </a:p>
        </p:txBody>
      </p:sp>
      <p:grpSp>
        <p:nvGrpSpPr>
          <p:cNvPr id="62499" name="Group 35"/>
          <p:cNvGrpSpPr>
            <a:grpSpLocks/>
          </p:cNvGrpSpPr>
          <p:nvPr/>
        </p:nvGrpSpPr>
        <p:grpSpPr bwMode="auto">
          <a:xfrm>
            <a:off x="1676400" y="1096566"/>
            <a:ext cx="5974557" cy="3570684"/>
            <a:chOff x="448" y="921"/>
            <a:chExt cx="5018" cy="2999"/>
          </a:xfrm>
        </p:grpSpPr>
        <p:grpSp>
          <p:nvGrpSpPr>
            <p:cNvPr id="62466" name="Group 2"/>
            <p:cNvGrpSpPr>
              <a:grpSpLocks/>
            </p:cNvGrpSpPr>
            <p:nvPr/>
          </p:nvGrpSpPr>
          <p:grpSpPr bwMode="auto">
            <a:xfrm>
              <a:off x="448" y="1296"/>
              <a:ext cx="2464" cy="2624"/>
              <a:chOff x="448" y="1296"/>
              <a:chExt cx="2464" cy="2624"/>
            </a:xfrm>
          </p:grpSpPr>
          <p:sp>
            <p:nvSpPr>
              <p:cNvPr id="62467" name="Oval 3"/>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2468" name="Oval 4"/>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2469" name="Freeform 5"/>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70" name="Freeform 6"/>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71" name="Freeform 7"/>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72" name="Freeform 8"/>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73" name="Freeform 9"/>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62474" name="Freeform 10"/>
            <p:cNvSpPr>
              <a:spLocks/>
            </p:cNvSpPr>
            <p:nvPr/>
          </p:nvSpPr>
          <p:spPr bwMode="auto">
            <a:xfrm>
              <a:off x="2401" y="1786"/>
              <a:ext cx="465" cy="273"/>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75" name="Freeform 11"/>
            <p:cNvSpPr>
              <a:spLocks/>
            </p:cNvSpPr>
            <p:nvPr/>
          </p:nvSpPr>
          <p:spPr bwMode="auto">
            <a:xfrm>
              <a:off x="2497" y="3034"/>
              <a:ext cx="465" cy="273"/>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76" name="Rectangle 12"/>
            <p:cNvSpPr>
              <a:spLocks noChangeArrowheads="1"/>
            </p:cNvSpPr>
            <p:nvPr/>
          </p:nvSpPr>
          <p:spPr bwMode="auto">
            <a:xfrm>
              <a:off x="1430" y="921"/>
              <a:ext cx="48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62477" name="Rectangle 13"/>
            <p:cNvSpPr>
              <a:spLocks noChangeArrowheads="1"/>
            </p:cNvSpPr>
            <p:nvPr/>
          </p:nvSpPr>
          <p:spPr bwMode="auto">
            <a:xfrm>
              <a:off x="3974" y="921"/>
              <a:ext cx="57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62478" name="Rectangle 14"/>
            <p:cNvSpPr>
              <a:spLocks noChangeArrowheads="1"/>
            </p:cNvSpPr>
            <p:nvPr/>
          </p:nvSpPr>
          <p:spPr bwMode="auto">
            <a:xfrm>
              <a:off x="2967" y="1257"/>
              <a:ext cx="249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1) the </a:t>
              </a:r>
              <a:r>
                <a:rPr lang="en-GB" sz="2100" dirty="0">
                  <a:solidFill>
                    <a:schemeClr val="hlink"/>
                  </a:solidFill>
                </a:rPr>
                <a:t>K+</a:t>
              </a:r>
              <a:r>
                <a:rPr lang="en-GB" sz="2100" dirty="0"/>
                <a:t> leak channel</a:t>
              </a:r>
            </a:p>
          </p:txBody>
        </p:sp>
        <p:sp>
          <p:nvSpPr>
            <p:cNvPr id="62479" name="Rectangle 15"/>
            <p:cNvSpPr>
              <a:spLocks noChangeArrowheads="1"/>
            </p:cNvSpPr>
            <p:nvPr/>
          </p:nvSpPr>
          <p:spPr bwMode="auto">
            <a:xfrm>
              <a:off x="1142" y="1987"/>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0" name="Rectangle 16"/>
            <p:cNvSpPr>
              <a:spLocks noChangeArrowheads="1"/>
            </p:cNvSpPr>
            <p:nvPr/>
          </p:nvSpPr>
          <p:spPr bwMode="auto">
            <a:xfrm>
              <a:off x="2006" y="2755"/>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1" name="Rectangle 17"/>
            <p:cNvSpPr>
              <a:spLocks noChangeArrowheads="1"/>
            </p:cNvSpPr>
            <p:nvPr/>
          </p:nvSpPr>
          <p:spPr bwMode="auto">
            <a:xfrm>
              <a:off x="1142" y="3139"/>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2" name="Rectangle 18"/>
            <p:cNvSpPr>
              <a:spLocks noChangeArrowheads="1"/>
            </p:cNvSpPr>
            <p:nvPr/>
          </p:nvSpPr>
          <p:spPr bwMode="auto">
            <a:xfrm>
              <a:off x="3062" y="1747"/>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3" name="Rectangle 19"/>
            <p:cNvSpPr>
              <a:spLocks noChangeArrowheads="1"/>
            </p:cNvSpPr>
            <p:nvPr/>
          </p:nvSpPr>
          <p:spPr bwMode="auto">
            <a:xfrm>
              <a:off x="1526" y="2707"/>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4" name="Rectangle 20"/>
            <p:cNvSpPr>
              <a:spLocks noChangeArrowheads="1"/>
            </p:cNvSpPr>
            <p:nvPr/>
          </p:nvSpPr>
          <p:spPr bwMode="auto">
            <a:xfrm>
              <a:off x="806" y="2611"/>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5" name="Rectangle 21"/>
            <p:cNvSpPr>
              <a:spLocks noChangeArrowheads="1"/>
            </p:cNvSpPr>
            <p:nvPr/>
          </p:nvSpPr>
          <p:spPr bwMode="auto">
            <a:xfrm>
              <a:off x="1766" y="3235"/>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6" name="Rectangle 22"/>
            <p:cNvSpPr>
              <a:spLocks noChangeArrowheads="1"/>
            </p:cNvSpPr>
            <p:nvPr/>
          </p:nvSpPr>
          <p:spPr bwMode="auto">
            <a:xfrm>
              <a:off x="1526" y="2227"/>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7" name="Rectangle 23"/>
            <p:cNvSpPr>
              <a:spLocks noChangeArrowheads="1"/>
            </p:cNvSpPr>
            <p:nvPr/>
          </p:nvSpPr>
          <p:spPr bwMode="auto">
            <a:xfrm>
              <a:off x="3782" y="2419"/>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8" name="Rectangle 24"/>
            <p:cNvSpPr>
              <a:spLocks noChangeArrowheads="1"/>
            </p:cNvSpPr>
            <p:nvPr/>
          </p:nvSpPr>
          <p:spPr bwMode="auto">
            <a:xfrm>
              <a:off x="1190" y="2275"/>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89" name="Rectangle 25"/>
            <p:cNvSpPr>
              <a:spLocks noChangeArrowheads="1"/>
            </p:cNvSpPr>
            <p:nvPr/>
          </p:nvSpPr>
          <p:spPr bwMode="auto">
            <a:xfrm>
              <a:off x="3878" y="1747"/>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2490" name="Line 26"/>
            <p:cNvSpPr>
              <a:spLocks noChangeShapeType="1"/>
            </p:cNvSpPr>
            <p:nvPr/>
          </p:nvSpPr>
          <p:spPr bwMode="auto">
            <a:xfrm flipV="1">
              <a:off x="2352" y="1824"/>
              <a:ext cx="528" cy="9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91" name="Line 27"/>
            <p:cNvSpPr>
              <a:spLocks noChangeShapeType="1"/>
            </p:cNvSpPr>
            <p:nvPr/>
          </p:nvSpPr>
          <p:spPr bwMode="auto">
            <a:xfrm flipV="1">
              <a:off x="2352" y="2016"/>
              <a:ext cx="672" cy="4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92" name="Arc 28"/>
            <p:cNvSpPr>
              <a:spLocks/>
            </p:cNvSpPr>
            <p:nvPr/>
          </p:nvSpPr>
          <p:spPr bwMode="auto">
            <a:xfrm>
              <a:off x="2016" y="1824"/>
              <a:ext cx="1056" cy="144"/>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2495" name="Rectangle 31"/>
            <p:cNvSpPr>
              <a:spLocks noChangeArrowheads="1"/>
            </p:cNvSpPr>
            <p:nvPr/>
          </p:nvSpPr>
          <p:spPr bwMode="auto">
            <a:xfrm>
              <a:off x="2496" y="2208"/>
              <a:ext cx="19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sp>
          <p:nvSpPr>
            <p:cNvPr id="62496" name="Rectangle 32"/>
            <p:cNvSpPr>
              <a:spLocks noChangeArrowheads="1"/>
            </p:cNvSpPr>
            <p:nvPr/>
          </p:nvSpPr>
          <p:spPr bwMode="auto">
            <a:xfrm>
              <a:off x="2880" y="2112"/>
              <a:ext cx="25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2497" name="Rectangle 33"/>
            <p:cNvSpPr>
              <a:spLocks noChangeArrowheads="1"/>
            </p:cNvSpPr>
            <p:nvPr/>
          </p:nvSpPr>
          <p:spPr bwMode="auto">
            <a:xfrm>
              <a:off x="2976" y="2208"/>
              <a:ext cx="25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2498" name="Rectangle 34"/>
            <p:cNvSpPr>
              <a:spLocks noChangeArrowheads="1"/>
            </p:cNvSpPr>
            <p:nvPr/>
          </p:nvSpPr>
          <p:spPr bwMode="auto">
            <a:xfrm>
              <a:off x="2592" y="2304"/>
              <a:ext cx="19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grpSp>
    </p:spTree>
    <p:extLst>
      <p:ext uri="{BB962C8B-B14F-4D97-AF65-F5344CB8AC3E}">
        <p14:creationId xmlns:p14="http://schemas.microsoft.com/office/powerpoint/2010/main" val="977615067"/>
      </p:ext>
    </p:extLst>
  </p:cSld>
  <p:clrMapOvr>
    <a:masterClrMapping/>
  </p:clrMapOvr>
  <p:transition spd="slow">
    <p:sndAc>
      <p:end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1245394" y="239317"/>
            <a:ext cx="6525816"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400" dirty="0">
                <a:solidFill>
                  <a:srgbClr val="FF0000"/>
                </a:solidFill>
              </a:rPr>
              <a:t>But K+ is not the only ion around.</a:t>
            </a:r>
          </a:p>
        </p:txBody>
      </p:sp>
      <p:grpSp>
        <p:nvGrpSpPr>
          <p:cNvPr id="26634" name="Group 10"/>
          <p:cNvGrpSpPr>
            <a:grpSpLocks/>
          </p:cNvGrpSpPr>
          <p:nvPr/>
        </p:nvGrpSpPr>
        <p:grpSpPr bwMode="auto">
          <a:xfrm>
            <a:off x="1676400" y="1543050"/>
            <a:ext cx="2933700" cy="3124200"/>
            <a:chOff x="448" y="1296"/>
            <a:chExt cx="2464" cy="2624"/>
          </a:xfrm>
        </p:grpSpPr>
        <p:sp>
          <p:nvSpPr>
            <p:cNvPr id="26627" name="Oval 3"/>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26628" name="Oval 4"/>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26629" name="Freeform 5"/>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30" name="Freeform 6"/>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31" name="Freeform 7"/>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32" name="Freeform 8"/>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33" name="Freeform 9"/>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26635" name="Freeform 11"/>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36" name="Freeform 12"/>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37" name="Rectangle 13"/>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26638" name="Rectangle 14"/>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26639" name="Rectangle 15"/>
          <p:cNvSpPr>
            <a:spLocks noChangeArrowheads="1"/>
          </p:cNvSpPr>
          <p:nvPr/>
        </p:nvSpPr>
        <p:spPr bwMode="auto">
          <a:xfrm>
            <a:off x="4675585" y="1496616"/>
            <a:ext cx="297517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1) the </a:t>
            </a:r>
            <a:r>
              <a:rPr lang="en-GB" sz="2100" dirty="0">
                <a:solidFill>
                  <a:schemeClr val="hlink"/>
                </a:solidFill>
              </a:rPr>
              <a:t>K+</a:t>
            </a:r>
            <a:r>
              <a:rPr lang="en-GB" sz="2100" dirty="0"/>
              <a:t> leak channel</a:t>
            </a:r>
          </a:p>
        </p:txBody>
      </p:sp>
      <p:sp>
        <p:nvSpPr>
          <p:cNvPr id="26640" name="Rectangle 16"/>
          <p:cNvSpPr>
            <a:spLocks noChangeArrowheads="1"/>
          </p:cNvSpPr>
          <p:nvPr/>
        </p:nvSpPr>
        <p:spPr bwMode="auto">
          <a:xfrm>
            <a:off x="3254395" y="2165747"/>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dirty="0"/>
              <a:t>K+</a:t>
            </a:r>
          </a:p>
        </p:txBody>
      </p:sp>
      <p:sp>
        <p:nvSpPr>
          <p:cNvPr id="26641" name="Rectangle 17"/>
          <p:cNvSpPr>
            <a:spLocks noChangeArrowheads="1"/>
          </p:cNvSpPr>
          <p:nvPr/>
        </p:nvSpPr>
        <p:spPr bwMode="auto">
          <a:xfrm>
            <a:off x="3531394" y="32801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6642" name="Rectangle 18"/>
          <p:cNvSpPr>
            <a:spLocks noChangeArrowheads="1"/>
          </p:cNvSpPr>
          <p:nvPr/>
        </p:nvSpPr>
        <p:spPr bwMode="auto">
          <a:xfrm>
            <a:off x="2502694" y="37373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6643" name="Rectangle 19"/>
          <p:cNvSpPr>
            <a:spLocks noChangeArrowheads="1"/>
          </p:cNvSpPr>
          <p:nvPr/>
        </p:nvSpPr>
        <p:spPr bwMode="auto">
          <a:xfrm>
            <a:off x="4788694" y="2080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6644" name="Rectangle 20"/>
          <p:cNvSpPr>
            <a:spLocks noChangeArrowheads="1"/>
          </p:cNvSpPr>
          <p:nvPr/>
        </p:nvSpPr>
        <p:spPr bwMode="auto">
          <a:xfrm>
            <a:off x="2959894" y="3223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6645" name="Rectangle 21"/>
          <p:cNvSpPr>
            <a:spLocks noChangeArrowheads="1"/>
          </p:cNvSpPr>
          <p:nvPr/>
        </p:nvSpPr>
        <p:spPr bwMode="auto">
          <a:xfrm>
            <a:off x="2102644" y="31087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6646" name="Rectangle 22"/>
          <p:cNvSpPr>
            <a:spLocks noChangeArrowheads="1"/>
          </p:cNvSpPr>
          <p:nvPr/>
        </p:nvSpPr>
        <p:spPr bwMode="auto">
          <a:xfrm>
            <a:off x="3245644" y="3851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6647" name="Rectangle 23"/>
          <p:cNvSpPr>
            <a:spLocks noChangeArrowheads="1"/>
          </p:cNvSpPr>
          <p:nvPr/>
        </p:nvSpPr>
        <p:spPr bwMode="auto">
          <a:xfrm>
            <a:off x="2959894" y="26515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6648" name="Rectangle 24"/>
          <p:cNvSpPr>
            <a:spLocks noChangeArrowheads="1"/>
          </p:cNvSpPr>
          <p:nvPr/>
        </p:nvSpPr>
        <p:spPr bwMode="auto">
          <a:xfrm>
            <a:off x="2559844" y="2708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26649" name="Line 25"/>
          <p:cNvSpPr>
            <a:spLocks noChangeShapeType="1"/>
          </p:cNvSpPr>
          <p:nvPr/>
        </p:nvSpPr>
        <p:spPr bwMode="auto">
          <a:xfrm flipV="1">
            <a:off x="3943350" y="21717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50" name="Line 26"/>
          <p:cNvSpPr>
            <a:spLocks noChangeShapeType="1"/>
          </p:cNvSpPr>
          <p:nvPr/>
        </p:nvSpPr>
        <p:spPr bwMode="auto">
          <a:xfrm flipV="1">
            <a:off x="3943350" y="24003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51" name="Rectangle 27"/>
          <p:cNvSpPr>
            <a:spLocks noChangeArrowheads="1"/>
          </p:cNvSpPr>
          <p:nvPr/>
        </p:nvSpPr>
        <p:spPr bwMode="auto">
          <a:xfrm>
            <a:off x="3474244" y="27086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52" name="Rectangle 28"/>
          <p:cNvSpPr>
            <a:spLocks noChangeArrowheads="1"/>
          </p:cNvSpPr>
          <p:nvPr/>
        </p:nvSpPr>
        <p:spPr bwMode="auto">
          <a:xfrm>
            <a:off x="2902744" y="20228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53" name="Rectangle 29"/>
          <p:cNvSpPr>
            <a:spLocks noChangeArrowheads="1"/>
          </p:cNvSpPr>
          <p:nvPr/>
        </p:nvSpPr>
        <p:spPr bwMode="auto">
          <a:xfrm>
            <a:off x="5874544" y="2308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54" name="Rectangle 30"/>
          <p:cNvSpPr>
            <a:spLocks noChangeArrowheads="1"/>
          </p:cNvSpPr>
          <p:nvPr/>
        </p:nvSpPr>
        <p:spPr bwMode="auto">
          <a:xfrm>
            <a:off x="6960394" y="21943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55" name="Rectangle 31"/>
          <p:cNvSpPr>
            <a:spLocks noChangeArrowheads="1"/>
          </p:cNvSpPr>
          <p:nvPr/>
        </p:nvSpPr>
        <p:spPr bwMode="auto">
          <a:xfrm>
            <a:off x="6331744" y="28801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56" name="Arc 32"/>
          <p:cNvSpPr>
            <a:spLocks/>
          </p:cNvSpPr>
          <p:nvPr/>
        </p:nvSpPr>
        <p:spPr bwMode="auto">
          <a:xfrm>
            <a:off x="3543300" y="217170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6657" name="Rectangle 33"/>
          <p:cNvSpPr>
            <a:spLocks noChangeArrowheads="1"/>
          </p:cNvSpPr>
          <p:nvPr/>
        </p:nvSpPr>
        <p:spPr bwMode="auto">
          <a:xfrm>
            <a:off x="7360444" y="37373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58" name="Rectangle 34"/>
          <p:cNvSpPr>
            <a:spLocks noChangeArrowheads="1"/>
          </p:cNvSpPr>
          <p:nvPr/>
        </p:nvSpPr>
        <p:spPr bwMode="auto">
          <a:xfrm>
            <a:off x="6172200" y="4114800"/>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59" name="Rectangle 35"/>
          <p:cNvSpPr>
            <a:spLocks noChangeArrowheads="1"/>
          </p:cNvSpPr>
          <p:nvPr/>
        </p:nvSpPr>
        <p:spPr bwMode="auto">
          <a:xfrm>
            <a:off x="5200650" y="3143250"/>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60" name="Rectangle 36"/>
          <p:cNvSpPr>
            <a:spLocks noChangeArrowheads="1"/>
          </p:cNvSpPr>
          <p:nvPr/>
        </p:nvSpPr>
        <p:spPr bwMode="auto">
          <a:xfrm>
            <a:off x="5829300" y="3657600"/>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61" name="Rectangle 37"/>
          <p:cNvSpPr>
            <a:spLocks noChangeArrowheads="1"/>
          </p:cNvSpPr>
          <p:nvPr/>
        </p:nvSpPr>
        <p:spPr bwMode="auto">
          <a:xfrm>
            <a:off x="4914900" y="4343400"/>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62" name="Rectangle 38"/>
          <p:cNvSpPr>
            <a:spLocks noChangeArrowheads="1"/>
          </p:cNvSpPr>
          <p:nvPr/>
        </p:nvSpPr>
        <p:spPr bwMode="auto">
          <a:xfrm>
            <a:off x="6788944" y="4194572"/>
            <a:ext cx="507206"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1500">
                <a:solidFill>
                  <a:schemeClr val="accent2"/>
                </a:solidFill>
              </a:rPr>
              <a:t>Na+</a:t>
            </a:r>
          </a:p>
        </p:txBody>
      </p:sp>
      <p:sp>
        <p:nvSpPr>
          <p:cNvPr id="26663" name="Rectangle 39"/>
          <p:cNvSpPr>
            <a:spLocks noChangeArrowheads="1"/>
          </p:cNvSpPr>
          <p:nvPr/>
        </p:nvSpPr>
        <p:spPr bwMode="auto">
          <a:xfrm>
            <a:off x="2845594" y="41374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26664" name="Rectangle 40"/>
          <p:cNvSpPr>
            <a:spLocks noChangeArrowheads="1"/>
          </p:cNvSpPr>
          <p:nvPr/>
        </p:nvSpPr>
        <p:spPr bwMode="auto">
          <a:xfrm>
            <a:off x="2445544" y="33373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Tree>
    <p:extLst>
      <p:ext uri="{BB962C8B-B14F-4D97-AF65-F5344CB8AC3E}">
        <p14:creationId xmlns:p14="http://schemas.microsoft.com/office/powerpoint/2010/main" val="2951214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801" name="Group 9"/>
          <p:cNvGrpSpPr>
            <a:grpSpLocks/>
          </p:cNvGrpSpPr>
          <p:nvPr/>
        </p:nvGrpSpPr>
        <p:grpSpPr bwMode="auto">
          <a:xfrm>
            <a:off x="1676400" y="1543050"/>
            <a:ext cx="2933700" cy="3124200"/>
            <a:chOff x="448" y="1296"/>
            <a:chExt cx="2464" cy="2624"/>
          </a:xfrm>
        </p:grpSpPr>
        <p:sp>
          <p:nvSpPr>
            <p:cNvPr id="33794" name="Oval 2"/>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33795" name="Oval 3"/>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33796" name="Freeform 4"/>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797" name="Freeform 5"/>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798" name="Freeform 6"/>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799" name="Freeform 7"/>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00" name="Freeform 8"/>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33802" name="Freeform 10"/>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03" name="Freeform 11"/>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04" name="Rectangle 12"/>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33805" name="Rectangle 13"/>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33806" name="Rectangle 14"/>
          <p:cNvSpPr>
            <a:spLocks noChangeArrowheads="1"/>
          </p:cNvSpPr>
          <p:nvPr/>
        </p:nvSpPr>
        <p:spPr bwMode="auto">
          <a:xfrm>
            <a:off x="4675585" y="1496616"/>
            <a:ext cx="297517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1) the </a:t>
            </a:r>
            <a:r>
              <a:rPr lang="en-GB" sz="2100" dirty="0">
                <a:solidFill>
                  <a:schemeClr val="hlink"/>
                </a:solidFill>
              </a:rPr>
              <a:t>K+</a:t>
            </a:r>
            <a:r>
              <a:rPr lang="en-GB" sz="2100" dirty="0"/>
              <a:t> leak channel</a:t>
            </a:r>
          </a:p>
        </p:txBody>
      </p:sp>
      <p:sp>
        <p:nvSpPr>
          <p:cNvPr id="33807" name="Rectangle 15"/>
          <p:cNvSpPr>
            <a:spLocks noChangeArrowheads="1"/>
          </p:cNvSpPr>
          <p:nvPr/>
        </p:nvSpPr>
        <p:spPr bwMode="auto">
          <a:xfrm>
            <a:off x="2502694" y="23657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08" name="Rectangle 16"/>
          <p:cNvSpPr>
            <a:spLocks noChangeArrowheads="1"/>
          </p:cNvSpPr>
          <p:nvPr/>
        </p:nvSpPr>
        <p:spPr bwMode="auto">
          <a:xfrm>
            <a:off x="3588544" y="33373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09" name="Rectangle 17"/>
          <p:cNvSpPr>
            <a:spLocks noChangeArrowheads="1"/>
          </p:cNvSpPr>
          <p:nvPr/>
        </p:nvSpPr>
        <p:spPr bwMode="auto">
          <a:xfrm>
            <a:off x="2502694" y="37373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10" name="Rectangle 18"/>
          <p:cNvSpPr>
            <a:spLocks noChangeArrowheads="1"/>
          </p:cNvSpPr>
          <p:nvPr/>
        </p:nvSpPr>
        <p:spPr bwMode="auto">
          <a:xfrm>
            <a:off x="4788694" y="2080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11" name="Rectangle 19"/>
          <p:cNvSpPr>
            <a:spLocks noChangeArrowheads="1"/>
          </p:cNvSpPr>
          <p:nvPr/>
        </p:nvSpPr>
        <p:spPr bwMode="auto">
          <a:xfrm>
            <a:off x="2959894" y="3223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12" name="Rectangle 20"/>
          <p:cNvSpPr>
            <a:spLocks noChangeArrowheads="1"/>
          </p:cNvSpPr>
          <p:nvPr/>
        </p:nvSpPr>
        <p:spPr bwMode="auto">
          <a:xfrm>
            <a:off x="2102644" y="31087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13" name="Rectangle 21"/>
          <p:cNvSpPr>
            <a:spLocks noChangeArrowheads="1"/>
          </p:cNvSpPr>
          <p:nvPr/>
        </p:nvSpPr>
        <p:spPr bwMode="auto">
          <a:xfrm>
            <a:off x="3074194" y="37373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14" name="Rectangle 22"/>
          <p:cNvSpPr>
            <a:spLocks noChangeArrowheads="1"/>
          </p:cNvSpPr>
          <p:nvPr/>
        </p:nvSpPr>
        <p:spPr bwMode="auto">
          <a:xfrm>
            <a:off x="2959894" y="26515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15" name="Rectangle 23"/>
          <p:cNvSpPr>
            <a:spLocks noChangeArrowheads="1"/>
          </p:cNvSpPr>
          <p:nvPr/>
        </p:nvSpPr>
        <p:spPr bwMode="auto">
          <a:xfrm>
            <a:off x="2559844" y="2708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16" name="Line 24"/>
          <p:cNvSpPr>
            <a:spLocks noChangeShapeType="1"/>
          </p:cNvSpPr>
          <p:nvPr/>
        </p:nvSpPr>
        <p:spPr bwMode="auto">
          <a:xfrm flipV="1">
            <a:off x="3943350" y="21717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17" name="Line 25"/>
          <p:cNvSpPr>
            <a:spLocks noChangeShapeType="1"/>
          </p:cNvSpPr>
          <p:nvPr/>
        </p:nvSpPr>
        <p:spPr bwMode="auto">
          <a:xfrm flipV="1">
            <a:off x="3943350" y="24003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18" name="Rectangle 26"/>
          <p:cNvSpPr>
            <a:spLocks noChangeArrowheads="1"/>
          </p:cNvSpPr>
          <p:nvPr/>
        </p:nvSpPr>
        <p:spPr bwMode="auto">
          <a:xfrm>
            <a:off x="7360444" y="37373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19" name="Rectangle 27"/>
          <p:cNvSpPr>
            <a:spLocks noChangeArrowheads="1"/>
          </p:cNvSpPr>
          <p:nvPr/>
        </p:nvSpPr>
        <p:spPr bwMode="auto">
          <a:xfrm>
            <a:off x="2902744" y="20228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20" name="Rectangle 28"/>
          <p:cNvSpPr>
            <a:spLocks noChangeArrowheads="1"/>
          </p:cNvSpPr>
          <p:nvPr/>
        </p:nvSpPr>
        <p:spPr bwMode="auto">
          <a:xfrm>
            <a:off x="3588544" y="38516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21" name="Rectangle 29"/>
          <p:cNvSpPr>
            <a:spLocks noChangeArrowheads="1"/>
          </p:cNvSpPr>
          <p:nvPr/>
        </p:nvSpPr>
        <p:spPr bwMode="auto">
          <a:xfrm>
            <a:off x="6160294" y="2308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22" name="Rectangle 30"/>
          <p:cNvSpPr>
            <a:spLocks noChangeArrowheads="1"/>
          </p:cNvSpPr>
          <p:nvPr/>
        </p:nvSpPr>
        <p:spPr bwMode="auto">
          <a:xfrm>
            <a:off x="5531644" y="19657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23" name="Rectangle 31"/>
          <p:cNvSpPr>
            <a:spLocks noChangeArrowheads="1"/>
          </p:cNvSpPr>
          <p:nvPr/>
        </p:nvSpPr>
        <p:spPr bwMode="auto">
          <a:xfrm>
            <a:off x="4845844" y="2753916"/>
            <a:ext cx="2276712" cy="7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2) the </a:t>
            </a:r>
            <a:r>
              <a:rPr lang="en-GB" sz="2100" dirty="0">
                <a:solidFill>
                  <a:schemeClr val="hlink"/>
                </a:solidFill>
              </a:rPr>
              <a:t>Na+</a:t>
            </a:r>
            <a:r>
              <a:rPr lang="en-GB" sz="2100" dirty="0"/>
              <a:t> pump</a:t>
            </a:r>
          </a:p>
          <a:p>
            <a:pPr defTabSz="571500"/>
            <a:r>
              <a:rPr lang="en-GB" sz="2100" dirty="0"/>
              <a:t>(Na+/K+ ATPase)</a:t>
            </a:r>
          </a:p>
        </p:txBody>
      </p:sp>
      <p:sp>
        <p:nvSpPr>
          <p:cNvPr id="33824" name="Line 32"/>
          <p:cNvSpPr>
            <a:spLocks noChangeShapeType="1"/>
          </p:cNvSpPr>
          <p:nvPr/>
        </p:nvSpPr>
        <p:spPr bwMode="auto">
          <a:xfrm flipV="1">
            <a:off x="4114800" y="36576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25" name="Line 33"/>
          <p:cNvSpPr>
            <a:spLocks noChangeShapeType="1"/>
          </p:cNvSpPr>
          <p:nvPr/>
        </p:nvSpPr>
        <p:spPr bwMode="auto">
          <a:xfrm flipV="1">
            <a:off x="4000500" y="38862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26" name="Arc 34"/>
          <p:cNvSpPr>
            <a:spLocks/>
          </p:cNvSpPr>
          <p:nvPr/>
        </p:nvSpPr>
        <p:spPr bwMode="auto">
          <a:xfrm>
            <a:off x="4057650" y="371475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508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27" name="Rectangle 35"/>
          <p:cNvSpPr>
            <a:spLocks noChangeArrowheads="1"/>
          </p:cNvSpPr>
          <p:nvPr/>
        </p:nvSpPr>
        <p:spPr bwMode="auto">
          <a:xfrm>
            <a:off x="3474244" y="36230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28" name="Rectangle 36"/>
          <p:cNvSpPr>
            <a:spLocks noChangeArrowheads="1"/>
          </p:cNvSpPr>
          <p:nvPr/>
        </p:nvSpPr>
        <p:spPr bwMode="auto">
          <a:xfrm>
            <a:off x="6331744" y="42517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29" name="Rectangle 37"/>
          <p:cNvSpPr>
            <a:spLocks noChangeArrowheads="1"/>
          </p:cNvSpPr>
          <p:nvPr/>
        </p:nvSpPr>
        <p:spPr bwMode="auto">
          <a:xfrm>
            <a:off x="4902994" y="3451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30" name="Rectangle 38"/>
          <p:cNvSpPr>
            <a:spLocks noChangeArrowheads="1"/>
          </p:cNvSpPr>
          <p:nvPr/>
        </p:nvSpPr>
        <p:spPr bwMode="auto">
          <a:xfrm>
            <a:off x="4674394" y="3851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31" name="Rectangle 39"/>
          <p:cNvSpPr>
            <a:spLocks noChangeArrowheads="1"/>
          </p:cNvSpPr>
          <p:nvPr/>
        </p:nvSpPr>
        <p:spPr bwMode="auto">
          <a:xfrm>
            <a:off x="5645944" y="44231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32" name="Rectangle 40"/>
          <p:cNvSpPr>
            <a:spLocks noChangeArrowheads="1"/>
          </p:cNvSpPr>
          <p:nvPr/>
        </p:nvSpPr>
        <p:spPr bwMode="auto">
          <a:xfrm>
            <a:off x="4674394" y="36230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3833" name="Rectangle 41"/>
          <p:cNvSpPr>
            <a:spLocks noChangeArrowheads="1"/>
          </p:cNvSpPr>
          <p:nvPr/>
        </p:nvSpPr>
        <p:spPr bwMode="auto">
          <a:xfrm>
            <a:off x="3702844" y="3451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34" name="Rectangle 42"/>
          <p:cNvSpPr>
            <a:spLocks noChangeArrowheads="1"/>
          </p:cNvSpPr>
          <p:nvPr/>
        </p:nvSpPr>
        <p:spPr bwMode="auto">
          <a:xfrm>
            <a:off x="7017544" y="22514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35" name="Rectangle 43"/>
          <p:cNvSpPr>
            <a:spLocks noChangeArrowheads="1"/>
          </p:cNvSpPr>
          <p:nvPr/>
        </p:nvSpPr>
        <p:spPr bwMode="auto">
          <a:xfrm>
            <a:off x="5817394" y="40802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36" name="Rectangle 44"/>
          <p:cNvSpPr>
            <a:spLocks noChangeArrowheads="1"/>
          </p:cNvSpPr>
          <p:nvPr/>
        </p:nvSpPr>
        <p:spPr bwMode="auto">
          <a:xfrm>
            <a:off x="4217194" y="4594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3837" name="Rectangle 45"/>
          <p:cNvSpPr>
            <a:spLocks noChangeArrowheads="1"/>
          </p:cNvSpPr>
          <p:nvPr/>
        </p:nvSpPr>
        <p:spPr bwMode="auto">
          <a:xfrm>
            <a:off x="6788944" y="4194572"/>
            <a:ext cx="507206"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1500">
                <a:solidFill>
                  <a:schemeClr val="accent2"/>
                </a:solidFill>
              </a:rPr>
              <a:t>Na+</a:t>
            </a:r>
          </a:p>
        </p:txBody>
      </p:sp>
      <p:sp>
        <p:nvSpPr>
          <p:cNvPr id="33838" name="Arc 46"/>
          <p:cNvSpPr>
            <a:spLocks/>
          </p:cNvSpPr>
          <p:nvPr/>
        </p:nvSpPr>
        <p:spPr bwMode="auto">
          <a:xfrm>
            <a:off x="3657600" y="222885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39" name="Arc 47"/>
          <p:cNvSpPr>
            <a:spLocks/>
          </p:cNvSpPr>
          <p:nvPr/>
        </p:nvSpPr>
        <p:spPr bwMode="auto">
          <a:xfrm>
            <a:off x="3487341" y="3830241"/>
            <a:ext cx="1200150" cy="171450"/>
          </a:xfrm>
          <a:custGeom>
            <a:avLst/>
            <a:gdLst>
              <a:gd name="G0" fmla="+- 21600 0 0"/>
              <a:gd name="G1" fmla="+- 21600 0 0"/>
              <a:gd name="G2" fmla="+- 21600 0 0"/>
              <a:gd name="T0" fmla="*/ 0 w 21600"/>
              <a:gd name="T1" fmla="*/ 21600 h 21600"/>
              <a:gd name="T2" fmla="*/ 21579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7" y="11"/>
                  <a:pt x="21579" y="0"/>
                </a:cubicBezTo>
              </a:path>
              <a:path w="21600" h="21600" stroke="0" extrusionOk="0">
                <a:moveTo>
                  <a:pt x="0" y="21600"/>
                </a:moveTo>
                <a:cubicBezTo>
                  <a:pt x="0" y="9678"/>
                  <a:pt x="9657" y="11"/>
                  <a:pt x="21579" y="0"/>
                </a:cubicBezTo>
                <a:lnTo>
                  <a:pt x="21600" y="21600"/>
                </a:lnTo>
                <a:close/>
              </a:path>
            </a:pathLst>
          </a:custGeom>
          <a:noFill/>
          <a:ln w="508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3840" name="Rectangle 48"/>
          <p:cNvSpPr>
            <a:spLocks noChangeArrowheads="1"/>
          </p:cNvSpPr>
          <p:nvPr/>
        </p:nvSpPr>
        <p:spPr bwMode="auto">
          <a:xfrm>
            <a:off x="1245394" y="239317"/>
            <a:ext cx="6525816"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400" dirty="0">
                <a:solidFill>
                  <a:srgbClr val="FF0000"/>
                </a:solidFill>
              </a:rPr>
              <a:t>But the Na+ pump pulls Na+ out of the cell.</a:t>
            </a:r>
          </a:p>
        </p:txBody>
      </p:sp>
    </p:spTree>
    <p:extLst>
      <p:ext uri="{BB962C8B-B14F-4D97-AF65-F5344CB8AC3E}">
        <p14:creationId xmlns:p14="http://schemas.microsoft.com/office/powerpoint/2010/main" val="2363503250"/>
      </p:ext>
    </p:extLst>
  </p:cSld>
  <p:clrMapOvr>
    <a:masterClrMapping/>
  </p:clrMapOvr>
  <p:transition spd="slow">
    <p:sndAc>
      <p:end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25" name="Group 9"/>
          <p:cNvGrpSpPr>
            <a:grpSpLocks/>
          </p:cNvGrpSpPr>
          <p:nvPr/>
        </p:nvGrpSpPr>
        <p:grpSpPr bwMode="auto">
          <a:xfrm>
            <a:off x="1676400" y="1543050"/>
            <a:ext cx="2933700" cy="3124200"/>
            <a:chOff x="448" y="1296"/>
            <a:chExt cx="2464" cy="2624"/>
          </a:xfrm>
        </p:grpSpPr>
        <p:sp>
          <p:nvSpPr>
            <p:cNvPr id="34818" name="Oval 2"/>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34819" name="Oval 3"/>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34820" name="Freeform 4"/>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21" name="Freeform 5"/>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22" name="Freeform 6"/>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23" name="Freeform 7"/>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24" name="Freeform 8"/>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34826" name="Freeform 10"/>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27" name="Freeform 11"/>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28" name="Rectangle 12"/>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34829" name="Rectangle 13"/>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34830" name="Rectangle 14"/>
          <p:cNvSpPr>
            <a:spLocks noChangeArrowheads="1"/>
          </p:cNvSpPr>
          <p:nvPr/>
        </p:nvSpPr>
        <p:spPr bwMode="auto">
          <a:xfrm>
            <a:off x="4675585" y="1496616"/>
            <a:ext cx="297517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1) the </a:t>
            </a:r>
            <a:r>
              <a:rPr lang="en-GB" sz="2100" dirty="0">
                <a:solidFill>
                  <a:schemeClr val="hlink"/>
                </a:solidFill>
              </a:rPr>
              <a:t>K+</a:t>
            </a:r>
            <a:r>
              <a:rPr lang="en-GB" sz="2100" dirty="0"/>
              <a:t> leak channel</a:t>
            </a:r>
          </a:p>
        </p:txBody>
      </p:sp>
      <p:sp>
        <p:nvSpPr>
          <p:cNvPr id="34831" name="Rectangle 15"/>
          <p:cNvSpPr>
            <a:spLocks noChangeArrowheads="1"/>
          </p:cNvSpPr>
          <p:nvPr/>
        </p:nvSpPr>
        <p:spPr bwMode="auto">
          <a:xfrm>
            <a:off x="2502694" y="23657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32" name="Rectangle 16"/>
          <p:cNvSpPr>
            <a:spLocks noChangeArrowheads="1"/>
          </p:cNvSpPr>
          <p:nvPr/>
        </p:nvSpPr>
        <p:spPr bwMode="auto">
          <a:xfrm>
            <a:off x="3588544" y="33373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33" name="Rectangle 17"/>
          <p:cNvSpPr>
            <a:spLocks noChangeArrowheads="1"/>
          </p:cNvSpPr>
          <p:nvPr/>
        </p:nvSpPr>
        <p:spPr bwMode="auto">
          <a:xfrm>
            <a:off x="2502694" y="37373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34" name="Rectangle 18"/>
          <p:cNvSpPr>
            <a:spLocks noChangeArrowheads="1"/>
          </p:cNvSpPr>
          <p:nvPr/>
        </p:nvSpPr>
        <p:spPr bwMode="auto">
          <a:xfrm>
            <a:off x="4788694" y="2080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35" name="Rectangle 19"/>
          <p:cNvSpPr>
            <a:spLocks noChangeArrowheads="1"/>
          </p:cNvSpPr>
          <p:nvPr/>
        </p:nvSpPr>
        <p:spPr bwMode="auto">
          <a:xfrm>
            <a:off x="2959894" y="3223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36" name="Rectangle 20"/>
          <p:cNvSpPr>
            <a:spLocks noChangeArrowheads="1"/>
          </p:cNvSpPr>
          <p:nvPr/>
        </p:nvSpPr>
        <p:spPr bwMode="auto">
          <a:xfrm>
            <a:off x="2102644" y="31087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37" name="Rectangle 21"/>
          <p:cNvSpPr>
            <a:spLocks noChangeArrowheads="1"/>
          </p:cNvSpPr>
          <p:nvPr/>
        </p:nvSpPr>
        <p:spPr bwMode="auto">
          <a:xfrm>
            <a:off x="3074194" y="37373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38" name="Rectangle 22"/>
          <p:cNvSpPr>
            <a:spLocks noChangeArrowheads="1"/>
          </p:cNvSpPr>
          <p:nvPr/>
        </p:nvSpPr>
        <p:spPr bwMode="auto">
          <a:xfrm>
            <a:off x="2959894" y="26515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39" name="Rectangle 23"/>
          <p:cNvSpPr>
            <a:spLocks noChangeArrowheads="1"/>
          </p:cNvSpPr>
          <p:nvPr/>
        </p:nvSpPr>
        <p:spPr bwMode="auto">
          <a:xfrm>
            <a:off x="2559844" y="2708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40" name="Line 24"/>
          <p:cNvSpPr>
            <a:spLocks noChangeShapeType="1"/>
          </p:cNvSpPr>
          <p:nvPr/>
        </p:nvSpPr>
        <p:spPr bwMode="auto">
          <a:xfrm flipV="1">
            <a:off x="3943350" y="21717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41" name="Line 25"/>
          <p:cNvSpPr>
            <a:spLocks noChangeShapeType="1"/>
          </p:cNvSpPr>
          <p:nvPr/>
        </p:nvSpPr>
        <p:spPr bwMode="auto">
          <a:xfrm flipV="1">
            <a:off x="3943350" y="24003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42" name="Rectangle 26"/>
          <p:cNvSpPr>
            <a:spLocks noChangeArrowheads="1"/>
          </p:cNvSpPr>
          <p:nvPr/>
        </p:nvSpPr>
        <p:spPr bwMode="auto">
          <a:xfrm>
            <a:off x="7360444" y="37373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43" name="Rectangle 27"/>
          <p:cNvSpPr>
            <a:spLocks noChangeArrowheads="1"/>
          </p:cNvSpPr>
          <p:nvPr/>
        </p:nvSpPr>
        <p:spPr bwMode="auto">
          <a:xfrm>
            <a:off x="2902744" y="20228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44" name="Rectangle 28"/>
          <p:cNvSpPr>
            <a:spLocks noChangeArrowheads="1"/>
          </p:cNvSpPr>
          <p:nvPr/>
        </p:nvSpPr>
        <p:spPr bwMode="auto">
          <a:xfrm>
            <a:off x="5645944" y="38516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45" name="Rectangle 29"/>
          <p:cNvSpPr>
            <a:spLocks noChangeArrowheads="1"/>
          </p:cNvSpPr>
          <p:nvPr/>
        </p:nvSpPr>
        <p:spPr bwMode="auto">
          <a:xfrm>
            <a:off x="6160294" y="2308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46" name="Rectangle 30"/>
          <p:cNvSpPr>
            <a:spLocks noChangeArrowheads="1"/>
          </p:cNvSpPr>
          <p:nvPr/>
        </p:nvSpPr>
        <p:spPr bwMode="auto">
          <a:xfrm>
            <a:off x="5531644" y="19657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47" name="Rectangle 31"/>
          <p:cNvSpPr>
            <a:spLocks noChangeArrowheads="1"/>
          </p:cNvSpPr>
          <p:nvPr/>
        </p:nvSpPr>
        <p:spPr bwMode="auto">
          <a:xfrm>
            <a:off x="4845844" y="2753916"/>
            <a:ext cx="2276712" cy="7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2) the </a:t>
            </a:r>
            <a:r>
              <a:rPr lang="en-GB" sz="2100" dirty="0">
                <a:solidFill>
                  <a:schemeClr val="hlink"/>
                </a:solidFill>
              </a:rPr>
              <a:t>Na+</a:t>
            </a:r>
            <a:r>
              <a:rPr lang="en-GB" sz="2100" dirty="0"/>
              <a:t> pump</a:t>
            </a:r>
          </a:p>
          <a:p>
            <a:pPr defTabSz="571500"/>
            <a:r>
              <a:rPr lang="en-GB" sz="2100" dirty="0"/>
              <a:t>(Na+/K+ ATPase)</a:t>
            </a:r>
          </a:p>
        </p:txBody>
      </p:sp>
      <p:sp>
        <p:nvSpPr>
          <p:cNvPr id="34848" name="Line 32"/>
          <p:cNvSpPr>
            <a:spLocks noChangeShapeType="1"/>
          </p:cNvSpPr>
          <p:nvPr/>
        </p:nvSpPr>
        <p:spPr bwMode="auto">
          <a:xfrm flipV="1">
            <a:off x="4114800" y="36576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49" name="Line 33"/>
          <p:cNvSpPr>
            <a:spLocks noChangeShapeType="1"/>
          </p:cNvSpPr>
          <p:nvPr/>
        </p:nvSpPr>
        <p:spPr bwMode="auto">
          <a:xfrm flipV="1">
            <a:off x="4000500" y="38862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50" name="Arc 34"/>
          <p:cNvSpPr>
            <a:spLocks/>
          </p:cNvSpPr>
          <p:nvPr/>
        </p:nvSpPr>
        <p:spPr bwMode="auto">
          <a:xfrm>
            <a:off x="4057650" y="371475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508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51" name="Rectangle 35"/>
          <p:cNvSpPr>
            <a:spLocks noChangeArrowheads="1"/>
          </p:cNvSpPr>
          <p:nvPr/>
        </p:nvSpPr>
        <p:spPr bwMode="auto">
          <a:xfrm>
            <a:off x="5188744" y="37945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52" name="Rectangle 36"/>
          <p:cNvSpPr>
            <a:spLocks noChangeArrowheads="1"/>
          </p:cNvSpPr>
          <p:nvPr/>
        </p:nvSpPr>
        <p:spPr bwMode="auto">
          <a:xfrm>
            <a:off x="6331744" y="42517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53" name="Rectangle 37"/>
          <p:cNvSpPr>
            <a:spLocks noChangeArrowheads="1"/>
          </p:cNvSpPr>
          <p:nvPr/>
        </p:nvSpPr>
        <p:spPr bwMode="auto">
          <a:xfrm>
            <a:off x="4902994" y="3451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54" name="Rectangle 38"/>
          <p:cNvSpPr>
            <a:spLocks noChangeArrowheads="1"/>
          </p:cNvSpPr>
          <p:nvPr/>
        </p:nvSpPr>
        <p:spPr bwMode="auto">
          <a:xfrm>
            <a:off x="3359944" y="35087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55" name="Rectangle 39"/>
          <p:cNvSpPr>
            <a:spLocks noChangeArrowheads="1"/>
          </p:cNvSpPr>
          <p:nvPr/>
        </p:nvSpPr>
        <p:spPr bwMode="auto">
          <a:xfrm>
            <a:off x="5645944" y="44231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56" name="Rectangle 40"/>
          <p:cNvSpPr>
            <a:spLocks noChangeArrowheads="1"/>
          </p:cNvSpPr>
          <p:nvPr/>
        </p:nvSpPr>
        <p:spPr bwMode="auto">
          <a:xfrm>
            <a:off x="3188494" y="40802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34857" name="Rectangle 41"/>
          <p:cNvSpPr>
            <a:spLocks noChangeArrowheads="1"/>
          </p:cNvSpPr>
          <p:nvPr/>
        </p:nvSpPr>
        <p:spPr bwMode="auto">
          <a:xfrm>
            <a:off x="5360194" y="35659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58" name="Rectangle 42"/>
          <p:cNvSpPr>
            <a:spLocks noChangeArrowheads="1"/>
          </p:cNvSpPr>
          <p:nvPr/>
        </p:nvSpPr>
        <p:spPr bwMode="auto">
          <a:xfrm>
            <a:off x="7017544" y="22514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59" name="Rectangle 43"/>
          <p:cNvSpPr>
            <a:spLocks noChangeArrowheads="1"/>
          </p:cNvSpPr>
          <p:nvPr/>
        </p:nvSpPr>
        <p:spPr bwMode="auto">
          <a:xfrm>
            <a:off x="5817394" y="40802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60" name="Rectangle 44"/>
          <p:cNvSpPr>
            <a:spLocks noChangeArrowheads="1"/>
          </p:cNvSpPr>
          <p:nvPr/>
        </p:nvSpPr>
        <p:spPr bwMode="auto">
          <a:xfrm>
            <a:off x="4217194" y="4594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34861" name="Rectangle 45"/>
          <p:cNvSpPr>
            <a:spLocks noChangeArrowheads="1"/>
          </p:cNvSpPr>
          <p:nvPr/>
        </p:nvSpPr>
        <p:spPr bwMode="auto">
          <a:xfrm>
            <a:off x="6788944" y="4194572"/>
            <a:ext cx="507206"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1500">
                <a:solidFill>
                  <a:schemeClr val="accent2"/>
                </a:solidFill>
              </a:rPr>
              <a:t>Na+</a:t>
            </a:r>
          </a:p>
        </p:txBody>
      </p:sp>
      <p:sp>
        <p:nvSpPr>
          <p:cNvPr id="34862" name="Arc 46"/>
          <p:cNvSpPr>
            <a:spLocks/>
          </p:cNvSpPr>
          <p:nvPr/>
        </p:nvSpPr>
        <p:spPr bwMode="auto">
          <a:xfrm>
            <a:off x="3657600" y="222885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63" name="Arc 47"/>
          <p:cNvSpPr>
            <a:spLocks/>
          </p:cNvSpPr>
          <p:nvPr/>
        </p:nvSpPr>
        <p:spPr bwMode="auto">
          <a:xfrm>
            <a:off x="3487341" y="3830241"/>
            <a:ext cx="1200150" cy="171450"/>
          </a:xfrm>
          <a:custGeom>
            <a:avLst/>
            <a:gdLst>
              <a:gd name="G0" fmla="+- 21600 0 0"/>
              <a:gd name="G1" fmla="+- 21600 0 0"/>
              <a:gd name="G2" fmla="+- 21600 0 0"/>
              <a:gd name="T0" fmla="*/ 0 w 21600"/>
              <a:gd name="T1" fmla="*/ 21600 h 21600"/>
              <a:gd name="T2" fmla="*/ 21579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7" y="11"/>
                  <a:pt x="21579" y="0"/>
                </a:cubicBezTo>
              </a:path>
              <a:path w="21600" h="21600" stroke="0" extrusionOk="0">
                <a:moveTo>
                  <a:pt x="0" y="21600"/>
                </a:moveTo>
                <a:cubicBezTo>
                  <a:pt x="0" y="9678"/>
                  <a:pt x="9657" y="11"/>
                  <a:pt x="21579" y="0"/>
                </a:cubicBezTo>
                <a:lnTo>
                  <a:pt x="21600" y="21600"/>
                </a:lnTo>
                <a:close/>
              </a:path>
            </a:pathLst>
          </a:custGeom>
          <a:noFill/>
          <a:ln w="508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34864" name="Rectangle 48"/>
          <p:cNvSpPr>
            <a:spLocks noChangeArrowheads="1"/>
          </p:cNvSpPr>
          <p:nvPr/>
        </p:nvSpPr>
        <p:spPr bwMode="auto">
          <a:xfrm>
            <a:off x="107504" y="173872"/>
            <a:ext cx="8928992" cy="808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But the Na+ pump pulls Na+ out of the cell, and at the same time pushes K+ into the cell.</a:t>
            </a:r>
          </a:p>
        </p:txBody>
      </p:sp>
    </p:spTree>
    <p:extLst>
      <p:ext uri="{BB962C8B-B14F-4D97-AF65-F5344CB8AC3E}">
        <p14:creationId xmlns:p14="http://schemas.microsoft.com/office/powerpoint/2010/main" val="2833168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Oval 2"/>
          <p:cNvSpPr>
            <a:spLocks noChangeArrowheads="1"/>
          </p:cNvSpPr>
          <p:nvPr/>
        </p:nvSpPr>
        <p:spPr bwMode="auto">
          <a:xfrm>
            <a:off x="1676400" y="1676400"/>
            <a:ext cx="2933700" cy="299085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3491" name="Oval 3"/>
          <p:cNvSpPr>
            <a:spLocks noChangeArrowheads="1"/>
          </p:cNvSpPr>
          <p:nvPr/>
        </p:nvSpPr>
        <p:spPr bwMode="auto">
          <a:xfrm>
            <a:off x="1847850" y="1790700"/>
            <a:ext cx="2590800" cy="276225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3492" name="Freeform 4"/>
          <p:cNvSpPr>
            <a:spLocks/>
          </p:cNvSpPr>
          <p:nvPr/>
        </p:nvSpPr>
        <p:spPr bwMode="auto">
          <a:xfrm>
            <a:off x="2120503" y="1885950"/>
            <a:ext cx="203597" cy="322660"/>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3" name="Freeform 5"/>
          <p:cNvSpPr>
            <a:spLocks/>
          </p:cNvSpPr>
          <p:nvPr/>
        </p:nvSpPr>
        <p:spPr bwMode="auto">
          <a:xfrm>
            <a:off x="1834753" y="2286000"/>
            <a:ext cx="203597" cy="322660"/>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4" name="Freeform 6"/>
          <p:cNvSpPr>
            <a:spLocks/>
          </p:cNvSpPr>
          <p:nvPr/>
        </p:nvSpPr>
        <p:spPr bwMode="auto">
          <a:xfrm>
            <a:off x="3040856" y="1543050"/>
            <a:ext cx="109538" cy="332185"/>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5" name="Freeform 7"/>
          <p:cNvSpPr>
            <a:spLocks/>
          </p:cNvSpPr>
          <p:nvPr/>
        </p:nvSpPr>
        <p:spPr bwMode="auto">
          <a:xfrm>
            <a:off x="3783806" y="4229100"/>
            <a:ext cx="109538" cy="332185"/>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6" name="Freeform 8"/>
          <p:cNvSpPr>
            <a:spLocks/>
          </p:cNvSpPr>
          <p:nvPr/>
        </p:nvSpPr>
        <p:spPr bwMode="auto">
          <a:xfrm>
            <a:off x="2240756" y="4114800"/>
            <a:ext cx="109538" cy="332185"/>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7" name="Freeform 9"/>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8" name="Freeform 10"/>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9" name="Oval 11"/>
          <p:cNvSpPr>
            <a:spLocks noChangeArrowheads="1"/>
          </p:cNvSpPr>
          <p:nvPr/>
        </p:nvSpPr>
        <p:spPr bwMode="auto">
          <a:xfrm>
            <a:off x="2862263" y="3376613"/>
            <a:ext cx="3362325" cy="847725"/>
          </a:xfrm>
          <a:prstGeom prst="ellipse">
            <a:avLst/>
          </a:prstGeom>
          <a:solidFill>
            <a:schemeClr val="bg1">
              <a:alpha val="50000"/>
            </a:schemeClr>
          </a:solidFill>
          <a:ln w="12700">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dirty="0"/>
          </a:p>
        </p:txBody>
      </p:sp>
      <p:sp>
        <p:nvSpPr>
          <p:cNvPr id="63500" name="Rectangle 12"/>
          <p:cNvSpPr>
            <a:spLocks noChangeArrowheads="1"/>
          </p:cNvSpPr>
          <p:nvPr/>
        </p:nvSpPr>
        <p:spPr bwMode="auto">
          <a:xfrm>
            <a:off x="2845594" y="9822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63501" name="Rectangle 13"/>
          <p:cNvSpPr>
            <a:spLocks noChangeArrowheads="1"/>
          </p:cNvSpPr>
          <p:nvPr/>
        </p:nvSpPr>
        <p:spPr bwMode="auto">
          <a:xfrm>
            <a:off x="5874544" y="9822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63502" name="Rectangle 14"/>
          <p:cNvSpPr>
            <a:spLocks noChangeArrowheads="1"/>
          </p:cNvSpPr>
          <p:nvPr/>
        </p:nvSpPr>
        <p:spPr bwMode="auto">
          <a:xfrm>
            <a:off x="4675585" y="1496616"/>
            <a:ext cx="297517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solidFill>
                  <a:schemeClr val="bg2"/>
                </a:solidFill>
              </a:rPr>
              <a:t>1) the K+ leak channel</a:t>
            </a:r>
          </a:p>
        </p:txBody>
      </p:sp>
      <p:sp>
        <p:nvSpPr>
          <p:cNvPr id="63503" name="Rectangle 15"/>
          <p:cNvSpPr>
            <a:spLocks noChangeArrowheads="1"/>
          </p:cNvSpPr>
          <p:nvPr/>
        </p:nvSpPr>
        <p:spPr bwMode="auto">
          <a:xfrm>
            <a:off x="2502694" y="23657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3504" name="Rectangle 16"/>
          <p:cNvSpPr>
            <a:spLocks noChangeArrowheads="1"/>
          </p:cNvSpPr>
          <p:nvPr/>
        </p:nvSpPr>
        <p:spPr bwMode="auto">
          <a:xfrm>
            <a:off x="4788694" y="2080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3505" name="Rectangle 17"/>
          <p:cNvSpPr>
            <a:spLocks noChangeArrowheads="1"/>
          </p:cNvSpPr>
          <p:nvPr/>
        </p:nvSpPr>
        <p:spPr bwMode="auto">
          <a:xfrm>
            <a:off x="2102644" y="31087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3506" name="Rectangle 18"/>
          <p:cNvSpPr>
            <a:spLocks noChangeArrowheads="1"/>
          </p:cNvSpPr>
          <p:nvPr/>
        </p:nvSpPr>
        <p:spPr bwMode="auto">
          <a:xfrm>
            <a:off x="3028950" y="3623072"/>
            <a:ext cx="857250" cy="346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1800"/>
              <a:t>2 K+</a:t>
            </a:r>
          </a:p>
        </p:txBody>
      </p:sp>
      <p:sp>
        <p:nvSpPr>
          <p:cNvPr id="63507" name="Rectangle 19"/>
          <p:cNvSpPr>
            <a:spLocks noChangeArrowheads="1"/>
          </p:cNvSpPr>
          <p:nvPr/>
        </p:nvSpPr>
        <p:spPr bwMode="auto">
          <a:xfrm>
            <a:off x="2959894" y="26515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3508" name="Rectangle 20"/>
          <p:cNvSpPr>
            <a:spLocks noChangeArrowheads="1"/>
          </p:cNvSpPr>
          <p:nvPr/>
        </p:nvSpPr>
        <p:spPr bwMode="auto">
          <a:xfrm>
            <a:off x="2559844" y="2708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3509" name="Line 21"/>
          <p:cNvSpPr>
            <a:spLocks noChangeShapeType="1"/>
          </p:cNvSpPr>
          <p:nvPr/>
        </p:nvSpPr>
        <p:spPr bwMode="auto">
          <a:xfrm flipV="1">
            <a:off x="3943350" y="21717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10" name="Line 22"/>
          <p:cNvSpPr>
            <a:spLocks noChangeShapeType="1"/>
          </p:cNvSpPr>
          <p:nvPr/>
        </p:nvSpPr>
        <p:spPr bwMode="auto">
          <a:xfrm flipV="1">
            <a:off x="3943350" y="24003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11" name="Rectangle 23"/>
          <p:cNvSpPr>
            <a:spLocks noChangeArrowheads="1"/>
          </p:cNvSpPr>
          <p:nvPr/>
        </p:nvSpPr>
        <p:spPr bwMode="auto">
          <a:xfrm>
            <a:off x="2902744" y="20228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63512" name="Rectangle 24"/>
          <p:cNvSpPr>
            <a:spLocks noChangeArrowheads="1"/>
          </p:cNvSpPr>
          <p:nvPr/>
        </p:nvSpPr>
        <p:spPr bwMode="auto">
          <a:xfrm>
            <a:off x="6160294" y="2308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63513" name="Rectangle 25"/>
          <p:cNvSpPr>
            <a:spLocks noChangeArrowheads="1"/>
          </p:cNvSpPr>
          <p:nvPr/>
        </p:nvSpPr>
        <p:spPr bwMode="auto">
          <a:xfrm>
            <a:off x="5531644" y="19657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63514" name="Rectangle 26"/>
          <p:cNvSpPr>
            <a:spLocks noChangeArrowheads="1"/>
          </p:cNvSpPr>
          <p:nvPr/>
        </p:nvSpPr>
        <p:spPr bwMode="auto">
          <a:xfrm>
            <a:off x="4845844" y="2753916"/>
            <a:ext cx="2276712" cy="7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2) the </a:t>
            </a:r>
            <a:r>
              <a:rPr lang="en-GB" sz="2100">
                <a:solidFill>
                  <a:schemeClr val="hlink"/>
                </a:solidFill>
              </a:rPr>
              <a:t>Na+</a:t>
            </a:r>
            <a:r>
              <a:rPr lang="en-GB" sz="2100"/>
              <a:t> pump</a:t>
            </a:r>
          </a:p>
          <a:p>
            <a:pPr defTabSz="571500"/>
            <a:r>
              <a:rPr lang="en-GB" sz="2100"/>
              <a:t>(Na+/K+ ATPase)</a:t>
            </a:r>
          </a:p>
        </p:txBody>
      </p:sp>
      <p:sp>
        <p:nvSpPr>
          <p:cNvPr id="63515" name="Line 27"/>
          <p:cNvSpPr>
            <a:spLocks noChangeShapeType="1"/>
          </p:cNvSpPr>
          <p:nvPr/>
        </p:nvSpPr>
        <p:spPr bwMode="auto">
          <a:xfrm flipV="1">
            <a:off x="4114800" y="36576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16" name="Line 28"/>
          <p:cNvSpPr>
            <a:spLocks noChangeShapeType="1"/>
          </p:cNvSpPr>
          <p:nvPr/>
        </p:nvSpPr>
        <p:spPr bwMode="auto">
          <a:xfrm flipV="1">
            <a:off x="4000500" y="38862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17" name="Arc 29"/>
          <p:cNvSpPr>
            <a:spLocks/>
          </p:cNvSpPr>
          <p:nvPr/>
        </p:nvSpPr>
        <p:spPr bwMode="auto">
          <a:xfrm>
            <a:off x="4057650" y="371475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50800" cap="rnd">
            <a:solidFill>
              <a:srgbClr val="FF0000"/>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dirty="0">
              <a:solidFill>
                <a:srgbClr val="0070C0"/>
              </a:solidFill>
              <a:highlight>
                <a:srgbClr val="0000FF"/>
              </a:highlight>
            </a:endParaRPr>
          </a:p>
        </p:txBody>
      </p:sp>
      <p:sp>
        <p:nvSpPr>
          <p:cNvPr id="63518" name="Rectangle 30"/>
          <p:cNvSpPr>
            <a:spLocks noChangeArrowheads="1"/>
          </p:cNvSpPr>
          <p:nvPr/>
        </p:nvSpPr>
        <p:spPr bwMode="auto">
          <a:xfrm>
            <a:off x="5360194" y="3531394"/>
            <a:ext cx="761426" cy="346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800">
                <a:solidFill>
                  <a:schemeClr val="accent2"/>
                </a:solidFill>
              </a:rPr>
              <a:t>3 Na+</a:t>
            </a:r>
          </a:p>
        </p:txBody>
      </p:sp>
      <p:sp>
        <p:nvSpPr>
          <p:cNvPr id="63519" name="Rectangle 31"/>
          <p:cNvSpPr>
            <a:spLocks noChangeArrowheads="1"/>
          </p:cNvSpPr>
          <p:nvPr/>
        </p:nvSpPr>
        <p:spPr bwMode="auto">
          <a:xfrm>
            <a:off x="7017544" y="22514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63520" name="Arc 32"/>
          <p:cNvSpPr>
            <a:spLocks/>
          </p:cNvSpPr>
          <p:nvPr/>
        </p:nvSpPr>
        <p:spPr bwMode="auto">
          <a:xfrm>
            <a:off x="3657600" y="222885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21" name="Arc 33"/>
          <p:cNvSpPr>
            <a:spLocks/>
          </p:cNvSpPr>
          <p:nvPr/>
        </p:nvSpPr>
        <p:spPr bwMode="auto">
          <a:xfrm>
            <a:off x="3487341" y="3830241"/>
            <a:ext cx="1200150" cy="171450"/>
          </a:xfrm>
          <a:custGeom>
            <a:avLst/>
            <a:gdLst>
              <a:gd name="G0" fmla="+- 21600 0 0"/>
              <a:gd name="G1" fmla="+- 21600 0 0"/>
              <a:gd name="G2" fmla="+- 21600 0 0"/>
              <a:gd name="T0" fmla="*/ 0 w 21600"/>
              <a:gd name="T1" fmla="*/ 21600 h 21600"/>
              <a:gd name="T2" fmla="*/ 21579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7" y="11"/>
                  <a:pt x="21579" y="0"/>
                </a:cubicBezTo>
              </a:path>
              <a:path w="21600" h="21600" stroke="0" extrusionOk="0">
                <a:moveTo>
                  <a:pt x="0" y="21600"/>
                </a:moveTo>
                <a:cubicBezTo>
                  <a:pt x="0" y="9678"/>
                  <a:pt x="9657" y="11"/>
                  <a:pt x="21579" y="0"/>
                </a:cubicBezTo>
                <a:lnTo>
                  <a:pt x="21600" y="21600"/>
                </a:lnTo>
                <a:close/>
              </a:path>
            </a:pathLst>
          </a:custGeom>
          <a:noFill/>
          <a:ln w="508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22" name="Rectangle 34"/>
          <p:cNvSpPr>
            <a:spLocks noChangeArrowheads="1"/>
          </p:cNvSpPr>
          <p:nvPr/>
        </p:nvSpPr>
        <p:spPr bwMode="auto">
          <a:xfrm>
            <a:off x="4674394" y="4239816"/>
            <a:ext cx="3040856" cy="7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a:t>pumps Na+ out of cell via active transport</a:t>
            </a:r>
          </a:p>
        </p:txBody>
      </p:sp>
      <p:sp>
        <p:nvSpPr>
          <p:cNvPr id="63524" name="Rectangle 36"/>
          <p:cNvSpPr>
            <a:spLocks noChangeArrowheads="1"/>
          </p:cNvSpPr>
          <p:nvPr/>
        </p:nvSpPr>
        <p:spPr bwMode="auto">
          <a:xfrm>
            <a:off x="251520" y="125016"/>
            <a:ext cx="8712968" cy="900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700" dirty="0">
                <a:solidFill>
                  <a:srgbClr val="FF0000"/>
                </a:solidFill>
              </a:rPr>
              <a:t>The Na+ pump is </a:t>
            </a:r>
            <a:r>
              <a:rPr lang="en-GB" sz="2700" u="sng" dirty="0" err="1">
                <a:solidFill>
                  <a:srgbClr val="FF0000"/>
                </a:solidFill>
              </a:rPr>
              <a:t>Electrogenic</a:t>
            </a:r>
            <a:r>
              <a:rPr lang="en-GB" sz="2700" dirty="0">
                <a:solidFill>
                  <a:srgbClr val="FF0000"/>
                </a:solidFill>
              </a:rPr>
              <a:t> : it creates a slight positive charge on the outside.</a:t>
            </a:r>
          </a:p>
        </p:txBody>
      </p:sp>
      <p:sp>
        <p:nvSpPr>
          <p:cNvPr id="63525" name="Rectangle 37"/>
          <p:cNvSpPr>
            <a:spLocks noChangeArrowheads="1"/>
          </p:cNvSpPr>
          <p:nvPr/>
        </p:nvSpPr>
        <p:spPr bwMode="auto">
          <a:xfrm>
            <a:off x="4218966" y="2779511"/>
            <a:ext cx="228601"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solidFill>
                  <a:srgbClr val="FF0000"/>
                </a:solidFill>
              </a:rPr>
              <a:t>-</a:t>
            </a:r>
          </a:p>
        </p:txBody>
      </p:sp>
      <p:sp>
        <p:nvSpPr>
          <p:cNvPr id="63526" name="Rectangle 38"/>
          <p:cNvSpPr>
            <a:spLocks noChangeArrowheads="1"/>
          </p:cNvSpPr>
          <p:nvPr/>
        </p:nvSpPr>
        <p:spPr bwMode="auto">
          <a:xfrm>
            <a:off x="4229100" y="2936820"/>
            <a:ext cx="17026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solidFill>
                  <a:srgbClr val="FF0000"/>
                </a:solidFill>
              </a:rPr>
              <a:t>-</a:t>
            </a:r>
          </a:p>
        </p:txBody>
      </p:sp>
      <p:sp>
        <p:nvSpPr>
          <p:cNvPr id="63528" name="Rectangle 40"/>
          <p:cNvSpPr>
            <a:spLocks noChangeArrowheads="1"/>
          </p:cNvSpPr>
          <p:nvPr/>
        </p:nvSpPr>
        <p:spPr bwMode="auto">
          <a:xfrm>
            <a:off x="4572001" y="2800350"/>
            <a:ext cx="29765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3532" name="Rectangle 44"/>
          <p:cNvSpPr>
            <a:spLocks noChangeArrowheads="1"/>
          </p:cNvSpPr>
          <p:nvPr/>
        </p:nvSpPr>
        <p:spPr bwMode="auto">
          <a:xfrm>
            <a:off x="4572001" y="2971800"/>
            <a:ext cx="29765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solidFill>
                  <a:srgbClr val="FF0000"/>
                </a:solidFill>
              </a:rPr>
              <a:t>+</a:t>
            </a:r>
          </a:p>
        </p:txBody>
      </p:sp>
    </p:spTree>
    <p:extLst>
      <p:ext uri="{BB962C8B-B14F-4D97-AF65-F5344CB8AC3E}">
        <p14:creationId xmlns:p14="http://schemas.microsoft.com/office/powerpoint/2010/main" val="1043405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Oval 2"/>
          <p:cNvSpPr>
            <a:spLocks noChangeArrowheads="1"/>
          </p:cNvSpPr>
          <p:nvPr/>
        </p:nvSpPr>
        <p:spPr bwMode="auto">
          <a:xfrm>
            <a:off x="1676400" y="1676400"/>
            <a:ext cx="2933700" cy="299085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4515" name="Oval 3"/>
          <p:cNvSpPr>
            <a:spLocks noChangeArrowheads="1"/>
          </p:cNvSpPr>
          <p:nvPr/>
        </p:nvSpPr>
        <p:spPr bwMode="auto">
          <a:xfrm>
            <a:off x="1847850" y="1790700"/>
            <a:ext cx="2590800" cy="276225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4516" name="Freeform 4"/>
          <p:cNvSpPr>
            <a:spLocks/>
          </p:cNvSpPr>
          <p:nvPr/>
        </p:nvSpPr>
        <p:spPr bwMode="auto">
          <a:xfrm>
            <a:off x="2120503" y="1885950"/>
            <a:ext cx="203597" cy="322660"/>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17" name="Freeform 5"/>
          <p:cNvSpPr>
            <a:spLocks/>
          </p:cNvSpPr>
          <p:nvPr/>
        </p:nvSpPr>
        <p:spPr bwMode="auto">
          <a:xfrm>
            <a:off x="1834753" y="2286000"/>
            <a:ext cx="203597" cy="322660"/>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18" name="Freeform 6"/>
          <p:cNvSpPr>
            <a:spLocks/>
          </p:cNvSpPr>
          <p:nvPr/>
        </p:nvSpPr>
        <p:spPr bwMode="auto">
          <a:xfrm>
            <a:off x="3040856" y="1543050"/>
            <a:ext cx="109538" cy="332185"/>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19" name="Freeform 7"/>
          <p:cNvSpPr>
            <a:spLocks/>
          </p:cNvSpPr>
          <p:nvPr/>
        </p:nvSpPr>
        <p:spPr bwMode="auto">
          <a:xfrm>
            <a:off x="3783806" y="4229100"/>
            <a:ext cx="109538" cy="332185"/>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20" name="Freeform 8"/>
          <p:cNvSpPr>
            <a:spLocks/>
          </p:cNvSpPr>
          <p:nvPr/>
        </p:nvSpPr>
        <p:spPr bwMode="auto">
          <a:xfrm>
            <a:off x="2240756" y="4114800"/>
            <a:ext cx="109538" cy="332185"/>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21" name="Freeform 9"/>
          <p:cNvSpPr>
            <a:spLocks/>
          </p:cNvSpPr>
          <p:nvPr/>
        </p:nvSpPr>
        <p:spPr bwMode="auto">
          <a:xfrm>
            <a:off x="4001692" y="21264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22" name="Freeform 10"/>
          <p:cNvSpPr>
            <a:spLocks/>
          </p:cNvSpPr>
          <p:nvPr/>
        </p:nvSpPr>
        <p:spPr bwMode="auto">
          <a:xfrm>
            <a:off x="4115992" y="3612356"/>
            <a:ext cx="553640" cy="325041"/>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chemeClr val="hlink"/>
          </a:solidFill>
          <a:ln w="12700" cap="rnd"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23" name="Oval 11"/>
          <p:cNvSpPr>
            <a:spLocks noChangeArrowheads="1"/>
          </p:cNvSpPr>
          <p:nvPr/>
        </p:nvSpPr>
        <p:spPr bwMode="auto">
          <a:xfrm>
            <a:off x="2862263" y="3376613"/>
            <a:ext cx="3362325" cy="847725"/>
          </a:xfrm>
          <a:prstGeom prst="ellipse">
            <a:avLst/>
          </a:prstGeom>
          <a:solidFill>
            <a:schemeClr val="bg1">
              <a:alpha val="50000"/>
            </a:schemeClr>
          </a:solidFill>
          <a:ln w="12700">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4524" name="Rectangle 12"/>
          <p:cNvSpPr>
            <a:spLocks noChangeArrowheads="1"/>
          </p:cNvSpPr>
          <p:nvPr/>
        </p:nvSpPr>
        <p:spPr bwMode="auto">
          <a:xfrm>
            <a:off x="2845594" y="1096566"/>
            <a:ext cx="57387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64525" name="Rectangle 13"/>
          <p:cNvSpPr>
            <a:spLocks noChangeArrowheads="1"/>
          </p:cNvSpPr>
          <p:nvPr/>
        </p:nvSpPr>
        <p:spPr bwMode="auto">
          <a:xfrm>
            <a:off x="5874544" y="1096566"/>
            <a:ext cx="67807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64526" name="Rectangle 14"/>
          <p:cNvSpPr>
            <a:spLocks noChangeArrowheads="1"/>
          </p:cNvSpPr>
          <p:nvPr/>
        </p:nvSpPr>
        <p:spPr bwMode="auto">
          <a:xfrm>
            <a:off x="4675585" y="1496616"/>
            <a:ext cx="297517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1) the </a:t>
            </a:r>
            <a:r>
              <a:rPr lang="en-GB" sz="2100" dirty="0">
                <a:solidFill>
                  <a:schemeClr val="hlink"/>
                </a:solidFill>
              </a:rPr>
              <a:t>K+</a:t>
            </a:r>
            <a:r>
              <a:rPr lang="en-GB" sz="2100" dirty="0"/>
              <a:t> leak channel</a:t>
            </a:r>
          </a:p>
        </p:txBody>
      </p:sp>
      <p:sp>
        <p:nvSpPr>
          <p:cNvPr id="64527" name="Rectangle 15"/>
          <p:cNvSpPr>
            <a:spLocks noChangeArrowheads="1"/>
          </p:cNvSpPr>
          <p:nvPr/>
        </p:nvSpPr>
        <p:spPr bwMode="auto">
          <a:xfrm>
            <a:off x="2502694" y="23657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4528" name="Rectangle 16"/>
          <p:cNvSpPr>
            <a:spLocks noChangeArrowheads="1"/>
          </p:cNvSpPr>
          <p:nvPr/>
        </p:nvSpPr>
        <p:spPr bwMode="auto">
          <a:xfrm>
            <a:off x="4788694" y="20800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4529" name="Rectangle 17"/>
          <p:cNvSpPr>
            <a:spLocks noChangeArrowheads="1"/>
          </p:cNvSpPr>
          <p:nvPr/>
        </p:nvSpPr>
        <p:spPr bwMode="auto">
          <a:xfrm>
            <a:off x="2102644" y="31087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4530" name="Rectangle 18"/>
          <p:cNvSpPr>
            <a:spLocks noChangeArrowheads="1"/>
          </p:cNvSpPr>
          <p:nvPr/>
        </p:nvSpPr>
        <p:spPr bwMode="auto">
          <a:xfrm>
            <a:off x="3028950" y="3623072"/>
            <a:ext cx="857250" cy="346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1800"/>
              <a:t>2 K+</a:t>
            </a:r>
          </a:p>
        </p:txBody>
      </p:sp>
      <p:sp>
        <p:nvSpPr>
          <p:cNvPr id="64531" name="Rectangle 19"/>
          <p:cNvSpPr>
            <a:spLocks noChangeArrowheads="1"/>
          </p:cNvSpPr>
          <p:nvPr/>
        </p:nvSpPr>
        <p:spPr bwMode="auto">
          <a:xfrm>
            <a:off x="2959894" y="265152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4532" name="Rectangle 20"/>
          <p:cNvSpPr>
            <a:spLocks noChangeArrowheads="1"/>
          </p:cNvSpPr>
          <p:nvPr/>
        </p:nvSpPr>
        <p:spPr bwMode="auto">
          <a:xfrm>
            <a:off x="2559844" y="2708672"/>
            <a:ext cx="3911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4533" name="Line 21"/>
          <p:cNvSpPr>
            <a:spLocks noChangeShapeType="1"/>
          </p:cNvSpPr>
          <p:nvPr/>
        </p:nvSpPr>
        <p:spPr bwMode="auto">
          <a:xfrm flipV="1">
            <a:off x="3943350" y="21717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34" name="Line 22"/>
          <p:cNvSpPr>
            <a:spLocks noChangeShapeType="1"/>
          </p:cNvSpPr>
          <p:nvPr/>
        </p:nvSpPr>
        <p:spPr bwMode="auto">
          <a:xfrm flipV="1">
            <a:off x="3943350" y="24003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35" name="Rectangle 23"/>
          <p:cNvSpPr>
            <a:spLocks noChangeArrowheads="1"/>
          </p:cNvSpPr>
          <p:nvPr/>
        </p:nvSpPr>
        <p:spPr bwMode="auto">
          <a:xfrm>
            <a:off x="2902744" y="20228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64536" name="Rectangle 24"/>
          <p:cNvSpPr>
            <a:spLocks noChangeArrowheads="1"/>
          </p:cNvSpPr>
          <p:nvPr/>
        </p:nvSpPr>
        <p:spPr bwMode="auto">
          <a:xfrm>
            <a:off x="6160294" y="23086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64537" name="Rectangle 25"/>
          <p:cNvSpPr>
            <a:spLocks noChangeArrowheads="1"/>
          </p:cNvSpPr>
          <p:nvPr/>
        </p:nvSpPr>
        <p:spPr bwMode="auto">
          <a:xfrm>
            <a:off x="5531644" y="196572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64538" name="Rectangle 26"/>
          <p:cNvSpPr>
            <a:spLocks noChangeArrowheads="1"/>
          </p:cNvSpPr>
          <p:nvPr/>
        </p:nvSpPr>
        <p:spPr bwMode="auto">
          <a:xfrm>
            <a:off x="4845844" y="2753916"/>
            <a:ext cx="2276712" cy="7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2) the </a:t>
            </a:r>
            <a:r>
              <a:rPr lang="en-GB" sz="2100" dirty="0">
                <a:solidFill>
                  <a:schemeClr val="hlink"/>
                </a:solidFill>
              </a:rPr>
              <a:t>Na+</a:t>
            </a:r>
            <a:r>
              <a:rPr lang="en-GB" sz="2100" dirty="0"/>
              <a:t> pump</a:t>
            </a:r>
          </a:p>
          <a:p>
            <a:pPr defTabSz="571500"/>
            <a:r>
              <a:rPr lang="en-GB" sz="2100" dirty="0"/>
              <a:t>(Na+/K+ ATPase)</a:t>
            </a:r>
          </a:p>
        </p:txBody>
      </p:sp>
      <p:sp>
        <p:nvSpPr>
          <p:cNvPr id="64539" name="Line 27"/>
          <p:cNvSpPr>
            <a:spLocks noChangeShapeType="1"/>
          </p:cNvSpPr>
          <p:nvPr/>
        </p:nvSpPr>
        <p:spPr bwMode="auto">
          <a:xfrm flipV="1">
            <a:off x="4114800" y="3657600"/>
            <a:ext cx="628650" cy="1143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40" name="Line 28"/>
          <p:cNvSpPr>
            <a:spLocks noChangeShapeType="1"/>
          </p:cNvSpPr>
          <p:nvPr/>
        </p:nvSpPr>
        <p:spPr bwMode="auto">
          <a:xfrm flipV="1">
            <a:off x="4000500" y="3886200"/>
            <a:ext cx="800100" cy="571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41" name="Arc 29"/>
          <p:cNvSpPr>
            <a:spLocks/>
          </p:cNvSpPr>
          <p:nvPr/>
        </p:nvSpPr>
        <p:spPr bwMode="auto">
          <a:xfrm>
            <a:off x="4057650" y="371475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508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42" name="Rectangle 30"/>
          <p:cNvSpPr>
            <a:spLocks noChangeArrowheads="1"/>
          </p:cNvSpPr>
          <p:nvPr/>
        </p:nvSpPr>
        <p:spPr bwMode="auto">
          <a:xfrm>
            <a:off x="5360194" y="3531394"/>
            <a:ext cx="761426" cy="346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800">
                <a:solidFill>
                  <a:schemeClr val="accent2"/>
                </a:solidFill>
              </a:rPr>
              <a:t>3 Na+</a:t>
            </a:r>
          </a:p>
        </p:txBody>
      </p:sp>
      <p:sp>
        <p:nvSpPr>
          <p:cNvPr id="64543" name="Rectangle 31"/>
          <p:cNvSpPr>
            <a:spLocks noChangeArrowheads="1"/>
          </p:cNvSpPr>
          <p:nvPr/>
        </p:nvSpPr>
        <p:spPr bwMode="auto">
          <a:xfrm>
            <a:off x="7017544" y="2251472"/>
            <a:ext cx="498533" cy="30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solidFill>
                  <a:schemeClr val="accent2"/>
                </a:solidFill>
              </a:rPr>
              <a:t>Na+</a:t>
            </a:r>
          </a:p>
        </p:txBody>
      </p:sp>
      <p:sp>
        <p:nvSpPr>
          <p:cNvPr id="64544" name="Arc 32"/>
          <p:cNvSpPr>
            <a:spLocks/>
          </p:cNvSpPr>
          <p:nvPr/>
        </p:nvSpPr>
        <p:spPr bwMode="auto">
          <a:xfrm>
            <a:off x="3657600" y="2228850"/>
            <a:ext cx="1257300" cy="1714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45" name="Arc 33"/>
          <p:cNvSpPr>
            <a:spLocks/>
          </p:cNvSpPr>
          <p:nvPr/>
        </p:nvSpPr>
        <p:spPr bwMode="auto">
          <a:xfrm>
            <a:off x="3487341" y="3830241"/>
            <a:ext cx="1200150" cy="171450"/>
          </a:xfrm>
          <a:custGeom>
            <a:avLst/>
            <a:gdLst>
              <a:gd name="G0" fmla="+- 21600 0 0"/>
              <a:gd name="G1" fmla="+- 21600 0 0"/>
              <a:gd name="G2" fmla="+- 21600 0 0"/>
              <a:gd name="T0" fmla="*/ 0 w 21600"/>
              <a:gd name="T1" fmla="*/ 21600 h 21600"/>
              <a:gd name="T2" fmla="*/ 21579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8"/>
                  <a:pt x="9657" y="11"/>
                  <a:pt x="21579" y="0"/>
                </a:cubicBezTo>
              </a:path>
              <a:path w="21600" h="21600" stroke="0" extrusionOk="0">
                <a:moveTo>
                  <a:pt x="0" y="21600"/>
                </a:moveTo>
                <a:cubicBezTo>
                  <a:pt x="0" y="9678"/>
                  <a:pt x="9657" y="11"/>
                  <a:pt x="21579" y="0"/>
                </a:cubicBezTo>
                <a:lnTo>
                  <a:pt x="21600" y="21600"/>
                </a:lnTo>
                <a:close/>
              </a:path>
            </a:pathLst>
          </a:custGeom>
          <a:noFill/>
          <a:ln w="508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4546" name="Rectangle 34"/>
          <p:cNvSpPr>
            <a:spLocks noChangeArrowheads="1"/>
          </p:cNvSpPr>
          <p:nvPr/>
        </p:nvSpPr>
        <p:spPr bwMode="auto">
          <a:xfrm>
            <a:off x="4674394" y="4239816"/>
            <a:ext cx="3040856" cy="7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t>pumps Na+ out of cell via active transport</a:t>
            </a:r>
          </a:p>
        </p:txBody>
      </p:sp>
      <p:sp>
        <p:nvSpPr>
          <p:cNvPr id="64548" name="Rectangle 36"/>
          <p:cNvSpPr>
            <a:spLocks noChangeArrowheads="1"/>
          </p:cNvSpPr>
          <p:nvPr/>
        </p:nvSpPr>
        <p:spPr bwMode="auto">
          <a:xfrm>
            <a:off x="4229100" y="2743200"/>
            <a:ext cx="22922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sp>
        <p:nvSpPr>
          <p:cNvPr id="64549" name="Rectangle 37"/>
          <p:cNvSpPr>
            <a:spLocks noChangeArrowheads="1"/>
          </p:cNvSpPr>
          <p:nvPr/>
        </p:nvSpPr>
        <p:spPr bwMode="auto">
          <a:xfrm>
            <a:off x="4229100" y="2914650"/>
            <a:ext cx="17026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4550" name="Rectangle 38"/>
          <p:cNvSpPr>
            <a:spLocks noChangeArrowheads="1"/>
          </p:cNvSpPr>
          <p:nvPr/>
        </p:nvSpPr>
        <p:spPr bwMode="auto">
          <a:xfrm>
            <a:off x="4502944" y="2468166"/>
            <a:ext cx="294423"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solidFill>
                  <a:srgbClr val="FF0000"/>
                </a:solidFill>
              </a:rPr>
              <a:t>+</a:t>
            </a:r>
          </a:p>
        </p:txBody>
      </p:sp>
      <p:sp>
        <p:nvSpPr>
          <p:cNvPr id="64551" name="Rectangle 39"/>
          <p:cNvSpPr>
            <a:spLocks noChangeArrowheads="1"/>
          </p:cNvSpPr>
          <p:nvPr/>
        </p:nvSpPr>
        <p:spPr bwMode="auto">
          <a:xfrm>
            <a:off x="4572001" y="2800350"/>
            <a:ext cx="29765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4552" name="Rectangle 40"/>
          <p:cNvSpPr>
            <a:spLocks noChangeArrowheads="1"/>
          </p:cNvSpPr>
          <p:nvPr/>
        </p:nvSpPr>
        <p:spPr bwMode="auto">
          <a:xfrm>
            <a:off x="4171950" y="2571749"/>
            <a:ext cx="379808"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solidFill>
                  <a:srgbClr val="FF0000"/>
                </a:solidFill>
              </a:rPr>
              <a:t>-</a:t>
            </a:r>
          </a:p>
        </p:txBody>
      </p:sp>
      <p:sp>
        <p:nvSpPr>
          <p:cNvPr id="64553" name="Rectangle 41"/>
          <p:cNvSpPr>
            <a:spLocks noChangeArrowheads="1"/>
          </p:cNvSpPr>
          <p:nvPr/>
        </p:nvSpPr>
        <p:spPr bwMode="auto">
          <a:xfrm>
            <a:off x="4114800" y="2457450"/>
            <a:ext cx="229229"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sp>
        <p:nvSpPr>
          <p:cNvPr id="64554" name="Rectangle 42"/>
          <p:cNvSpPr>
            <a:spLocks noChangeArrowheads="1"/>
          </p:cNvSpPr>
          <p:nvPr/>
        </p:nvSpPr>
        <p:spPr bwMode="auto">
          <a:xfrm>
            <a:off x="4572001" y="2628900"/>
            <a:ext cx="29765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4555" name="Rectangle 43"/>
          <p:cNvSpPr>
            <a:spLocks noChangeArrowheads="1"/>
          </p:cNvSpPr>
          <p:nvPr/>
        </p:nvSpPr>
        <p:spPr bwMode="auto">
          <a:xfrm>
            <a:off x="4572001" y="2971800"/>
            <a:ext cx="29765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4556" name="Rectangle 44"/>
          <p:cNvSpPr>
            <a:spLocks noChangeArrowheads="1"/>
          </p:cNvSpPr>
          <p:nvPr/>
        </p:nvSpPr>
        <p:spPr bwMode="auto">
          <a:xfrm>
            <a:off x="205532" y="43390"/>
            <a:ext cx="8892480" cy="1177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400" dirty="0">
                <a:solidFill>
                  <a:srgbClr val="FF0000"/>
                </a:solidFill>
              </a:rPr>
              <a:t>These two transmembrane proteins ensure that the membrane has a slight negative charge on the </a:t>
            </a:r>
            <a:r>
              <a:rPr lang="en-GB" sz="2400" u="sng" dirty="0">
                <a:solidFill>
                  <a:srgbClr val="FF0000"/>
                </a:solidFill>
              </a:rPr>
              <a:t>inside</a:t>
            </a:r>
            <a:r>
              <a:rPr lang="en-GB" sz="2400" dirty="0">
                <a:solidFill>
                  <a:srgbClr val="FF0000"/>
                </a:solidFill>
              </a:rPr>
              <a:t>, relative to the </a:t>
            </a:r>
            <a:r>
              <a:rPr lang="en-GB" sz="2400" u="sng" dirty="0">
                <a:solidFill>
                  <a:srgbClr val="FF0000"/>
                </a:solidFill>
              </a:rPr>
              <a:t>outside.</a:t>
            </a:r>
            <a:r>
              <a:rPr lang="en-GB" sz="2400" dirty="0">
                <a:solidFill>
                  <a:srgbClr val="FF0000"/>
                </a:solidFill>
              </a:rPr>
              <a:t> </a:t>
            </a:r>
          </a:p>
        </p:txBody>
      </p:sp>
    </p:spTree>
    <p:extLst>
      <p:ext uri="{BB962C8B-B14F-4D97-AF65-F5344CB8AC3E}">
        <p14:creationId xmlns:p14="http://schemas.microsoft.com/office/powerpoint/2010/main" val="3778748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1632644" y="56456"/>
            <a:ext cx="6525816" cy="43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400" dirty="0">
                <a:solidFill>
                  <a:srgbClr val="FF0000"/>
                </a:solidFill>
                <a:latin typeface="Arial Rounded MT Bold" pitchFamily="34" charset="0"/>
              </a:rPr>
              <a:t>How big is the electrical difference?</a:t>
            </a:r>
            <a:endParaRPr lang="en-GB" sz="2400" dirty="0">
              <a:solidFill>
                <a:srgbClr val="FF0000"/>
              </a:solidFill>
            </a:endParaRPr>
          </a:p>
        </p:txBody>
      </p:sp>
      <p:grpSp>
        <p:nvGrpSpPr>
          <p:cNvPr id="43100" name="Group 92"/>
          <p:cNvGrpSpPr>
            <a:grpSpLocks/>
          </p:cNvGrpSpPr>
          <p:nvPr/>
        </p:nvGrpSpPr>
        <p:grpSpPr bwMode="auto">
          <a:xfrm>
            <a:off x="1331641" y="835381"/>
            <a:ext cx="5993086" cy="3468291"/>
            <a:chOff x="528" y="758"/>
            <a:chExt cx="4723" cy="2913"/>
          </a:xfrm>
        </p:grpSpPr>
        <p:grpSp>
          <p:nvGrpSpPr>
            <p:cNvPr id="43084" name="Group 76"/>
            <p:cNvGrpSpPr>
              <a:grpSpLocks/>
            </p:cNvGrpSpPr>
            <p:nvPr/>
          </p:nvGrpSpPr>
          <p:grpSpPr bwMode="auto">
            <a:xfrm>
              <a:off x="528" y="758"/>
              <a:ext cx="4069" cy="2913"/>
              <a:chOff x="288" y="662"/>
              <a:chExt cx="4069" cy="2913"/>
            </a:xfrm>
          </p:grpSpPr>
          <p:grpSp>
            <p:nvGrpSpPr>
              <p:cNvPr id="43050" name="Group 42"/>
              <p:cNvGrpSpPr>
                <a:grpSpLocks/>
              </p:cNvGrpSpPr>
              <p:nvPr/>
            </p:nvGrpSpPr>
            <p:grpSpPr bwMode="auto">
              <a:xfrm>
                <a:off x="288" y="951"/>
                <a:ext cx="2464" cy="2624"/>
                <a:chOff x="448" y="1296"/>
                <a:chExt cx="2464" cy="2624"/>
              </a:xfrm>
            </p:grpSpPr>
            <p:sp>
              <p:nvSpPr>
                <p:cNvPr id="43051" name="Oval 43"/>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3052" name="Oval 44"/>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3053" name="Freeform 45"/>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54" name="Freeform 46"/>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55" name="Freeform 47"/>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56" name="Freeform 48"/>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57" name="Freeform 49"/>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43058" name="Freeform 50"/>
              <p:cNvSpPr>
                <a:spLocks/>
              </p:cNvSpPr>
              <p:nvPr/>
            </p:nvSpPr>
            <p:spPr bwMode="auto">
              <a:xfrm>
                <a:off x="2241" y="1441"/>
                <a:ext cx="465" cy="273"/>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60" name="Rectangle 52"/>
              <p:cNvSpPr>
                <a:spLocks noChangeArrowheads="1"/>
              </p:cNvSpPr>
              <p:nvPr/>
            </p:nvSpPr>
            <p:spPr bwMode="auto">
              <a:xfrm>
                <a:off x="1275" y="662"/>
                <a:ext cx="48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ICF</a:t>
                </a:r>
              </a:p>
            </p:txBody>
          </p:sp>
          <p:sp>
            <p:nvSpPr>
              <p:cNvPr id="43061" name="Rectangle 53"/>
              <p:cNvSpPr>
                <a:spLocks noChangeArrowheads="1"/>
              </p:cNvSpPr>
              <p:nvPr/>
            </p:nvSpPr>
            <p:spPr bwMode="auto">
              <a:xfrm>
                <a:off x="3787" y="733"/>
                <a:ext cx="57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ECF</a:t>
                </a:r>
              </a:p>
            </p:txBody>
          </p:sp>
          <p:sp>
            <p:nvSpPr>
              <p:cNvPr id="43062" name="Rectangle 54"/>
              <p:cNvSpPr>
                <a:spLocks noChangeArrowheads="1"/>
              </p:cNvSpPr>
              <p:nvPr/>
            </p:nvSpPr>
            <p:spPr bwMode="auto">
              <a:xfrm>
                <a:off x="2807" y="912"/>
                <a:ext cx="11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endParaRPr lang="en-US" sz="2100"/>
              </a:p>
            </p:txBody>
          </p:sp>
          <p:sp>
            <p:nvSpPr>
              <p:cNvPr id="43063" name="Rectangle 55"/>
              <p:cNvSpPr>
                <a:spLocks noChangeArrowheads="1"/>
              </p:cNvSpPr>
              <p:nvPr/>
            </p:nvSpPr>
            <p:spPr bwMode="auto">
              <a:xfrm>
                <a:off x="982" y="164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64" name="Rectangle 56"/>
              <p:cNvSpPr>
                <a:spLocks noChangeArrowheads="1"/>
              </p:cNvSpPr>
              <p:nvPr/>
            </p:nvSpPr>
            <p:spPr bwMode="auto">
              <a:xfrm>
                <a:off x="1846" y="2410"/>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65" name="Rectangle 57"/>
              <p:cNvSpPr>
                <a:spLocks noChangeArrowheads="1"/>
              </p:cNvSpPr>
              <p:nvPr/>
            </p:nvSpPr>
            <p:spPr bwMode="auto">
              <a:xfrm>
                <a:off x="982" y="2794"/>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66" name="Rectangle 58"/>
              <p:cNvSpPr>
                <a:spLocks noChangeArrowheads="1"/>
              </p:cNvSpPr>
              <p:nvPr/>
            </p:nvSpPr>
            <p:spPr bwMode="auto">
              <a:xfrm>
                <a:off x="2902" y="140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67" name="Rectangle 59"/>
              <p:cNvSpPr>
                <a:spLocks noChangeArrowheads="1"/>
              </p:cNvSpPr>
              <p:nvPr/>
            </p:nvSpPr>
            <p:spPr bwMode="auto">
              <a:xfrm>
                <a:off x="1366" y="236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68" name="Rectangle 60"/>
              <p:cNvSpPr>
                <a:spLocks noChangeArrowheads="1"/>
              </p:cNvSpPr>
              <p:nvPr/>
            </p:nvSpPr>
            <p:spPr bwMode="auto">
              <a:xfrm>
                <a:off x="646" y="2266"/>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69" name="Rectangle 61"/>
              <p:cNvSpPr>
                <a:spLocks noChangeArrowheads="1"/>
              </p:cNvSpPr>
              <p:nvPr/>
            </p:nvSpPr>
            <p:spPr bwMode="auto">
              <a:xfrm>
                <a:off x="1606" y="2890"/>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70" name="Rectangle 62"/>
              <p:cNvSpPr>
                <a:spLocks noChangeArrowheads="1"/>
              </p:cNvSpPr>
              <p:nvPr/>
            </p:nvSpPr>
            <p:spPr bwMode="auto">
              <a:xfrm>
                <a:off x="1366" y="188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71" name="Rectangle 63"/>
              <p:cNvSpPr>
                <a:spLocks noChangeArrowheads="1"/>
              </p:cNvSpPr>
              <p:nvPr/>
            </p:nvSpPr>
            <p:spPr bwMode="auto">
              <a:xfrm>
                <a:off x="3622" y="2074"/>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72" name="Rectangle 64"/>
              <p:cNvSpPr>
                <a:spLocks noChangeArrowheads="1"/>
              </p:cNvSpPr>
              <p:nvPr/>
            </p:nvSpPr>
            <p:spPr bwMode="auto">
              <a:xfrm>
                <a:off x="1030" y="1930"/>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73" name="Rectangle 65"/>
              <p:cNvSpPr>
                <a:spLocks noChangeArrowheads="1"/>
              </p:cNvSpPr>
              <p:nvPr/>
            </p:nvSpPr>
            <p:spPr bwMode="auto">
              <a:xfrm>
                <a:off x="3718" y="140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43074" name="Line 66"/>
              <p:cNvSpPr>
                <a:spLocks noChangeShapeType="1"/>
              </p:cNvSpPr>
              <p:nvPr/>
            </p:nvSpPr>
            <p:spPr bwMode="auto">
              <a:xfrm flipV="1">
                <a:off x="2192" y="1479"/>
                <a:ext cx="528" cy="9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75" name="Line 67"/>
              <p:cNvSpPr>
                <a:spLocks noChangeShapeType="1"/>
              </p:cNvSpPr>
              <p:nvPr/>
            </p:nvSpPr>
            <p:spPr bwMode="auto">
              <a:xfrm flipV="1">
                <a:off x="2192" y="1671"/>
                <a:ext cx="672" cy="4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76" name="Arc 68"/>
              <p:cNvSpPr>
                <a:spLocks/>
              </p:cNvSpPr>
              <p:nvPr/>
            </p:nvSpPr>
            <p:spPr bwMode="auto">
              <a:xfrm>
                <a:off x="1856" y="1479"/>
                <a:ext cx="1056" cy="144"/>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77" name="Rectangle 69"/>
              <p:cNvSpPr>
                <a:spLocks noChangeArrowheads="1"/>
              </p:cNvSpPr>
              <p:nvPr/>
            </p:nvSpPr>
            <p:spPr bwMode="auto">
              <a:xfrm>
                <a:off x="2400" y="1844"/>
                <a:ext cx="1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sp>
            <p:nvSpPr>
              <p:cNvPr id="43078" name="Rectangle 70"/>
              <p:cNvSpPr>
                <a:spLocks noChangeArrowheads="1"/>
              </p:cNvSpPr>
              <p:nvPr/>
            </p:nvSpPr>
            <p:spPr bwMode="auto">
              <a:xfrm>
                <a:off x="2720" y="1767"/>
                <a:ext cx="25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43079" name="Rectangle 71"/>
              <p:cNvSpPr>
                <a:spLocks noChangeArrowheads="1"/>
              </p:cNvSpPr>
              <p:nvPr/>
            </p:nvSpPr>
            <p:spPr bwMode="auto">
              <a:xfrm>
                <a:off x="2763" y="1971"/>
                <a:ext cx="39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solidFill>
                      <a:srgbClr val="FF0000"/>
                    </a:solidFill>
                  </a:rPr>
                  <a:t>+</a:t>
                </a:r>
              </a:p>
            </p:txBody>
          </p:sp>
          <p:sp>
            <p:nvSpPr>
              <p:cNvPr id="43080" name="Rectangle 72"/>
              <p:cNvSpPr>
                <a:spLocks noChangeArrowheads="1"/>
              </p:cNvSpPr>
              <p:nvPr/>
            </p:nvSpPr>
            <p:spPr bwMode="auto">
              <a:xfrm>
                <a:off x="2432" y="1959"/>
                <a:ext cx="1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grpSp>
        <p:grpSp>
          <p:nvGrpSpPr>
            <p:cNvPr id="43099" name="Group 91"/>
            <p:cNvGrpSpPr>
              <a:grpSpLocks/>
            </p:cNvGrpSpPr>
            <p:nvPr/>
          </p:nvGrpSpPr>
          <p:grpSpPr bwMode="auto">
            <a:xfrm>
              <a:off x="2160" y="2784"/>
              <a:ext cx="3091" cy="330"/>
              <a:chOff x="2160" y="2784"/>
              <a:chExt cx="3091" cy="330"/>
            </a:xfrm>
          </p:grpSpPr>
          <p:sp>
            <p:nvSpPr>
              <p:cNvPr id="43082" name="Line 74"/>
              <p:cNvSpPr>
                <a:spLocks noChangeShapeType="1"/>
              </p:cNvSpPr>
              <p:nvPr/>
            </p:nvSpPr>
            <p:spPr bwMode="auto">
              <a:xfrm>
                <a:off x="2160" y="2947"/>
                <a:ext cx="1440" cy="0"/>
              </a:xfrm>
              <a:prstGeom prst="line">
                <a:avLst/>
              </a:prstGeom>
              <a:noFill/>
              <a:ln w="1016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dirty="0"/>
              </a:p>
            </p:txBody>
          </p:sp>
          <p:sp>
            <p:nvSpPr>
              <p:cNvPr id="43083" name="Rectangle 75"/>
              <p:cNvSpPr>
                <a:spLocks noChangeArrowheads="1"/>
              </p:cNvSpPr>
              <p:nvPr/>
            </p:nvSpPr>
            <p:spPr bwMode="auto">
              <a:xfrm>
                <a:off x="3638" y="2784"/>
                <a:ext cx="161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chemeClr val="accent2"/>
                    </a:solidFill>
                  </a:rPr>
                  <a:t>concentration</a:t>
                </a:r>
                <a:endParaRPr lang="en-GB" sz="2100" dirty="0">
                  <a:solidFill>
                    <a:schemeClr val="hlink"/>
                  </a:solidFill>
                </a:endParaRPr>
              </a:p>
            </p:txBody>
          </p:sp>
        </p:grpSp>
      </p:grpSp>
      <p:grpSp>
        <p:nvGrpSpPr>
          <p:cNvPr id="43101" name="Group 93"/>
          <p:cNvGrpSpPr>
            <a:grpSpLocks/>
          </p:cNvGrpSpPr>
          <p:nvPr/>
        </p:nvGrpSpPr>
        <p:grpSpPr bwMode="auto">
          <a:xfrm>
            <a:off x="3538800" y="3634458"/>
            <a:ext cx="3064669" cy="392908"/>
            <a:chOff x="2160" y="3753"/>
            <a:chExt cx="2574" cy="330"/>
          </a:xfrm>
        </p:grpSpPr>
        <p:sp>
          <p:nvSpPr>
            <p:cNvPr id="43096" name="Line 88"/>
            <p:cNvSpPr>
              <a:spLocks noChangeShapeType="1"/>
            </p:cNvSpPr>
            <p:nvPr/>
          </p:nvSpPr>
          <p:spPr bwMode="auto">
            <a:xfrm flipH="1">
              <a:off x="2160" y="3917"/>
              <a:ext cx="1296" cy="0"/>
            </a:xfrm>
            <a:prstGeom prst="line">
              <a:avLst/>
            </a:prstGeom>
            <a:noFill/>
            <a:ln w="38100">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97" name="Rectangle 89"/>
            <p:cNvSpPr>
              <a:spLocks noChangeArrowheads="1"/>
            </p:cNvSpPr>
            <p:nvPr/>
          </p:nvSpPr>
          <p:spPr bwMode="auto">
            <a:xfrm>
              <a:off x="3638" y="3753"/>
              <a:ext cx="1096" cy="33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chemeClr val="accent2"/>
                  </a:solidFill>
                </a:rPr>
                <a:t>electrical</a:t>
              </a:r>
            </a:p>
          </p:txBody>
        </p:sp>
      </p:grpSp>
      <p:grpSp>
        <p:nvGrpSpPr>
          <p:cNvPr id="43091" name="Group 83"/>
          <p:cNvGrpSpPr>
            <a:grpSpLocks/>
          </p:cNvGrpSpPr>
          <p:nvPr/>
        </p:nvGrpSpPr>
        <p:grpSpPr bwMode="auto">
          <a:xfrm>
            <a:off x="4031457" y="2551510"/>
            <a:ext cx="870347" cy="901304"/>
            <a:chOff x="2426" y="2143"/>
            <a:chExt cx="731" cy="757"/>
          </a:xfrm>
        </p:grpSpPr>
        <p:sp>
          <p:nvSpPr>
            <p:cNvPr id="43088" name="Rectangle 80"/>
            <p:cNvSpPr>
              <a:spLocks noChangeArrowheads="1"/>
            </p:cNvSpPr>
            <p:nvPr/>
          </p:nvSpPr>
          <p:spPr bwMode="auto">
            <a:xfrm>
              <a:off x="2821" y="2208"/>
              <a:ext cx="336"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43090" name="Rectangle 82"/>
            <p:cNvSpPr>
              <a:spLocks noChangeArrowheads="1"/>
            </p:cNvSpPr>
            <p:nvPr/>
          </p:nvSpPr>
          <p:spPr bwMode="auto">
            <a:xfrm>
              <a:off x="2426" y="2143"/>
              <a:ext cx="210" cy="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solidFill>
                    <a:srgbClr val="FF0000"/>
                  </a:solidFill>
                </a:rPr>
                <a:t>-</a:t>
              </a:r>
            </a:p>
            <a:p>
              <a:pPr defTabSz="571500"/>
              <a:r>
                <a:rPr lang="en-GB" sz="2100" dirty="0">
                  <a:solidFill>
                    <a:srgbClr val="FF0000"/>
                  </a:solidFill>
                </a:rPr>
                <a:t>-</a:t>
              </a:r>
              <a:endParaRPr lang="en-GB" sz="1200" dirty="0">
                <a:solidFill>
                  <a:srgbClr val="FF0000"/>
                </a:solidFill>
              </a:endParaRPr>
            </a:p>
            <a:p>
              <a:pPr defTabSz="571500"/>
              <a:endParaRPr lang="en-GB" sz="1200" dirty="0">
                <a:solidFill>
                  <a:schemeClr val="hlink"/>
                </a:solidFill>
              </a:endParaRPr>
            </a:p>
          </p:txBody>
        </p:sp>
      </p:grpSp>
      <p:sp>
        <p:nvSpPr>
          <p:cNvPr id="2" name="Rectangle 1"/>
          <p:cNvSpPr/>
          <p:nvPr/>
        </p:nvSpPr>
        <p:spPr>
          <a:xfrm>
            <a:off x="2811248" y="508071"/>
            <a:ext cx="3700052" cy="415498"/>
          </a:xfrm>
          <a:prstGeom prst="rect">
            <a:avLst/>
          </a:prstGeom>
        </p:spPr>
        <p:txBody>
          <a:bodyPr wrap="none">
            <a:spAutoFit/>
          </a:bodyPr>
          <a:lstStyle/>
          <a:p>
            <a:r>
              <a:rPr lang="en-GB" sz="2100" dirty="0">
                <a:solidFill>
                  <a:srgbClr val="0070C0"/>
                </a:solidFill>
              </a:rPr>
              <a:t>When will K+ stop moving?</a:t>
            </a:r>
          </a:p>
        </p:txBody>
      </p:sp>
      <p:sp>
        <p:nvSpPr>
          <p:cNvPr id="4" name="Rectangle 3">
            <a:extLst>
              <a:ext uri="{FF2B5EF4-FFF2-40B4-BE49-F238E27FC236}">
                <a16:creationId xmlns:a16="http://schemas.microsoft.com/office/drawing/2014/main" id="{05BE08AE-CC88-4A61-A93B-23612BF12F29}"/>
              </a:ext>
            </a:extLst>
          </p:cNvPr>
          <p:cNvSpPr/>
          <p:nvPr/>
        </p:nvSpPr>
        <p:spPr>
          <a:xfrm>
            <a:off x="0" y="4274209"/>
            <a:ext cx="9036496" cy="923330"/>
          </a:xfrm>
          <a:prstGeom prst="rect">
            <a:avLst/>
          </a:prstGeom>
        </p:spPr>
        <p:txBody>
          <a:bodyPr wrap="square">
            <a:spAutoFit/>
          </a:bodyPr>
          <a:lstStyle/>
          <a:p>
            <a:r>
              <a:rPr lang="en-MY" sz="1800" dirty="0"/>
              <a:t>An </a:t>
            </a:r>
            <a:r>
              <a:rPr lang="en-MY" sz="1800" dirty="0">
                <a:solidFill>
                  <a:srgbClr val="FF0000"/>
                </a:solidFill>
              </a:rPr>
              <a:t>electrical  gradient </a:t>
            </a:r>
            <a:r>
              <a:rPr lang="en-MY" sz="1800" dirty="0"/>
              <a:t>acts in opposite direction to concentration gradient and disfavour K+ exit out of the cell. Initially this remains small but gradually strengthens.</a:t>
            </a:r>
          </a:p>
        </p:txBody>
      </p:sp>
    </p:spTree>
    <p:extLst>
      <p:ext uri="{BB962C8B-B14F-4D97-AF65-F5344CB8AC3E}">
        <p14:creationId xmlns:p14="http://schemas.microsoft.com/office/powerpoint/2010/main" val="3743664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30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3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08" name="Rectangle 48"/>
          <p:cNvSpPr>
            <a:spLocks noChangeArrowheads="1"/>
          </p:cNvSpPr>
          <p:nvPr/>
        </p:nvSpPr>
        <p:spPr bwMode="auto">
          <a:xfrm>
            <a:off x="631565" y="4505326"/>
            <a:ext cx="8147570" cy="377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000" dirty="0">
                <a:solidFill>
                  <a:schemeClr val="hlink"/>
                </a:solidFill>
              </a:rPr>
              <a:t>The voltage at which this occurs = the </a:t>
            </a:r>
            <a:r>
              <a:rPr lang="en-GB" sz="2000" dirty="0">
                <a:solidFill>
                  <a:srgbClr val="0070C0"/>
                </a:solidFill>
              </a:rPr>
              <a:t>Equilibrium Potential </a:t>
            </a:r>
            <a:r>
              <a:rPr lang="en-GB" sz="2000" dirty="0">
                <a:solidFill>
                  <a:schemeClr val="hlink"/>
                </a:solidFill>
              </a:rPr>
              <a:t>(E</a:t>
            </a:r>
            <a:r>
              <a:rPr lang="en-GB" sz="2000" baseline="-25000" dirty="0">
                <a:solidFill>
                  <a:schemeClr val="hlink"/>
                </a:solidFill>
              </a:rPr>
              <a:t>K</a:t>
            </a:r>
            <a:r>
              <a:rPr lang="en-GB" sz="2000" dirty="0">
                <a:solidFill>
                  <a:schemeClr val="hlink"/>
                </a:solidFill>
              </a:rPr>
              <a:t>)</a:t>
            </a:r>
          </a:p>
        </p:txBody>
      </p:sp>
      <p:grpSp>
        <p:nvGrpSpPr>
          <p:cNvPr id="66610" name="Group 50"/>
          <p:cNvGrpSpPr>
            <a:grpSpLocks/>
          </p:cNvGrpSpPr>
          <p:nvPr/>
        </p:nvGrpSpPr>
        <p:grpSpPr bwMode="auto">
          <a:xfrm>
            <a:off x="1201341" y="90488"/>
            <a:ext cx="6628209" cy="4280297"/>
            <a:chOff x="49" y="76"/>
            <a:chExt cx="5567" cy="3595"/>
          </a:xfrm>
        </p:grpSpPr>
        <p:grpSp>
          <p:nvGrpSpPr>
            <p:cNvPr id="66563" name="Group 3"/>
            <p:cNvGrpSpPr>
              <a:grpSpLocks/>
            </p:cNvGrpSpPr>
            <p:nvPr/>
          </p:nvGrpSpPr>
          <p:grpSpPr bwMode="auto">
            <a:xfrm>
              <a:off x="528" y="672"/>
              <a:ext cx="4723" cy="2999"/>
              <a:chOff x="528" y="672"/>
              <a:chExt cx="4723" cy="2999"/>
            </a:xfrm>
          </p:grpSpPr>
          <p:grpSp>
            <p:nvGrpSpPr>
              <p:cNvPr id="66564" name="Group 4"/>
              <p:cNvGrpSpPr>
                <a:grpSpLocks/>
              </p:cNvGrpSpPr>
              <p:nvPr/>
            </p:nvGrpSpPr>
            <p:grpSpPr bwMode="auto">
              <a:xfrm>
                <a:off x="528" y="672"/>
                <a:ext cx="4096" cy="2999"/>
                <a:chOff x="288" y="576"/>
                <a:chExt cx="4096" cy="2999"/>
              </a:xfrm>
            </p:grpSpPr>
            <p:grpSp>
              <p:nvGrpSpPr>
                <p:cNvPr id="66565" name="Group 5"/>
                <p:cNvGrpSpPr>
                  <a:grpSpLocks/>
                </p:cNvGrpSpPr>
                <p:nvPr/>
              </p:nvGrpSpPr>
              <p:grpSpPr bwMode="auto">
                <a:xfrm>
                  <a:off x="288" y="951"/>
                  <a:ext cx="2464" cy="2624"/>
                  <a:chOff x="448" y="1296"/>
                  <a:chExt cx="2464" cy="2624"/>
                </a:xfrm>
              </p:grpSpPr>
              <p:sp>
                <p:nvSpPr>
                  <p:cNvPr id="66566" name="Oval 6"/>
                  <p:cNvSpPr>
                    <a:spLocks noChangeArrowheads="1"/>
                  </p:cNvSpPr>
                  <p:nvPr/>
                </p:nvSpPr>
                <p:spPr bwMode="auto">
                  <a:xfrm>
                    <a:off x="448" y="1408"/>
                    <a:ext cx="2464" cy="2512"/>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6567" name="Oval 7"/>
                  <p:cNvSpPr>
                    <a:spLocks noChangeArrowheads="1"/>
                  </p:cNvSpPr>
                  <p:nvPr/>
                </p:nvSpPr>
                <p:spPr bwMode="auto">
                  <a:xfrm>
                    <a:off x="592" y="1504"/>
                    <a:ext cx="2176" cy="232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6568" name="Freeform 8"/>
                  <p:cNvSpPr>
                    <a:spLocks/>
                  </p:cNvSpPr>
                  <p:nvPr/>
                </p:nvSpPr>
                <p:spPr bwMode="auto">
                  <a:xfrm>
                    <a:off x="821" y="1584"/>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569" name="Freeform 9"/>
                  <p:cNvSpPr>
                    <a:spLocks/>
                  </p:cNvSpPr>
                  <p:nvPr/>
                </p:nvSpPr>
                <p:spPr bwMode="auto">
                  <a:xfrm>
                    <a:off x="581" y="1920"/>
                    <a:ext cx="171" cy="271"/>
                  </a:xfrm>
                  <a:custGeom>
                    <a:avLst/>
                    <a:gdLst>
                      <a:gd name="T0" fmla="*/ 43 w 171"/>
                      <a:gd name="T1" fmla="*/ 0 h 271"/>
                      <a:gd name="T2" fmla="*/ 0 w 171"/>
                      <a:gd name="T3" fmla="*/ 66 h 271"/>
                      <a:gd name="T4" fmla="*/ 0 w 171"/>
                      <a:gd name="T5" fmla="*/ 100 h 271"/>
                      <a:gd name="T6" fmla="*/ 23 w 171"/>
                      <a:gd name="T7" fmla="*/ 134 h 271"/>
                      <a:gd name="T8" fmla="*/ 57 w 171"/>
                      <a:gd name="T9" fmla="*/ 179 h 271"/>
                      <a:gd name="T10" fmla="*/ 80 w 171"/>
                      <a:gd name="T11" fmla="*/ 213 h 271"/>
                      <a:gd name="T12" fmla="*/ 102 w 171"/>
                      <a:gd name="T13" fmla="*/ 247 h 271"/>
                      <a:gd name="T14" fmla="*/ 136 w 171"/>
                      <a:gd name="T15" fmla="*/ 270 h 271"/>
                      <a:gd name="T16" fmla="*/ 170 w 171"/>
                      <a:gd name="T17" fmla="*/ 270 h 271"/>
                      <a:gd name="T18" fmla="*/ 170 w 171"/>
                      <a:gd name="T19" fmla="*/ 236 h 271"/>
                      <a:gd name="T20" fmla="*/ 170 w 171"/>
                      <a:gd name="T21" fmla="*/ 202 h 271"/>
                      <a:gd name="T22" fmla="*/ 170 w 171"/>
                      <a:gd name="T23" fmla="*/ 168 h 271"/>
                      <a:gd name="T24" fmla="*/ 136 w 171"/>
                      <a:gd name="T25" fmla="*/ 145 h 271"/>
                      <a:gd name="T26" fmla="*/ 114 w 171"/>
                      <a:gd name="T27" fmla="*/ 112 h 271"/>
                      <a:gd name="T28" fmla="*/ 102 w 171"/>
                      <a:gd name="T29" fmla="*/ 78 h 271"/>
                      <a:gd name="T30" fmla="*/ 91 w 171"/>
                      <a:gd name="T31" fmla="*/ 44 h 271"/>
                      <a:gd name="T32" fmla="*/ 43 w 171"/>
                      <a:gd name="T33" fmla="*/ 0 h 271"/>
                      <a:gd name="T34" fmla="*/ 43 w 171"/>
                      <a:gd name="T35"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71">
                        <a:moveTo>
                          <a:pt x="43" y="0"/>
                        </a:moveTo>
                        <a:lnTo>
                          <a:pt x="0" y="66"/>
                        </a:lnTo>
                        <a:lnTo>
                          <a:pt x="0" y="100"/>
                        </a:lnTo>
                        <a:lnTo>
                          <a:pt x="23" y="134"/>
                        </a:lnTo>
                        <a:lnTo>
                          <a:pt x="57" y="179"/>
                        </a:lnTo>
                        <a:lnTo>
                          <a:pt x="80" y="213"/>
                        </a:lnTo>
                        <a:lnTo>
                          <a:pt x="102" y="247"/>
                        </a:lnTo>
                        <a:lnTo>
                          <a:pt x="136" y="270"/>
                        </a:lnTo>
                        <a:lnTo>
                          <a:pt x="170" y="270"/>
                        </a:lnTo>
                        <a:lnTo>
                          <a:pt x="170" y="236"/>
                        </a:lnTo>
                        <a:lnTo>
                          <a:pt x="170" y="202"/>
                        </a:lnTo>
                        <a:lnTo>
                          <a:pt x="170" y="168"/>
                        </a:lnTo>
                        <a:lnTo>
                          <a:pt x="136" y="145"/>
                        </a:lnTo>
                        <a:lnTo>
                          <a:pt x="114" y="112"/>
                        </a:lnTo>
                        <a:lnTo>
                          <a:pt x="102" y="78"/>
                        </a:lnTo>
                        <a:lnTo>
                          <a:pt x="91" y="44"/>
                        </a:lnTo>
                        <a:lnTo>
                          <a:pt x="43" y="0"/>
                        </a:lnTo>
                        <a:lnTo>
                          <a:pt x="43"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570" name="Freeform 10"/>
                  <p:cNvSpPr>
                    <a:spLocks/>
                  </p:cNvSpPr>
                  <p:nvPr/>
                </p:nvSpPr>
                <p:spPr bwMode="auto">
                  <a:xfrm>
                    <a:off x="1594" y="129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571" name="Freeform 11"/>
                  <p:cNvSpPr>
                    <a:spLocks/>
                  </p:cNvSpPr>
                  <p:nvPr/>
                </p:nvSpPr>
                <p:spPr bwMode="auto">
                  <a:xfrm>
                    <a:off x="2218" y="3552"/>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572" name="Freeform 12"/>
                  <p:cNvSpPr>
                    <a:spLocks/>
                  </p:cNvSpPr>
                  <p:nvPr/>
                </p:nvSpPr>
                <p:spPr bwMode="auto">
                  <a:xfrm>
                    <a:off x="922" y="3456"/>
                    <a:ext cx="92" cy="279"/>
                  </a:xfrm>
                  <a:custGeom>
                    <a:avLst/>
                    <a:gdLst>
                      <a:gd name="T0" fmla="*/ 38 w 92"/>
                      <a:gd name="T1" fmla="*/ 0 h 279"/>
                      <a:gd name="T2" fmla="*/ 23 w 92"/>
                      <a:gd name="T3" fmla="*/ 51 h 279"/>
                      <a:gd name="T4" fmla="*/ 0 w 92"/>
                      <a:gd name="T5" fmla="*/ 85 h 279"/>
                      <a:gd name="T6" fmla="*/ 0 w 92"/>
                      <a:gd name="T7" fmla="*/ 119 h 279"/>
                      <a:gd name="T8" fmla="*/ 11 w 92"/>
                      <a:gd name="T9" fmla="*/ 165 h 279"/>
                      <a:gd name="T10" fmla="*/ 11 w 92"/>
                      <a:gd name="T11" fmla="*/ 198 h 279"/>
                      <a:gd name="T12" fmla="*/ 23 w 92"/>
                      <a:gd name="T13" fmla="*/ 232 h 279"/>
                      <a:gd name="T14" fmla="*/ 34 w 92"/>
                      <a:gd name="T15" fmla="*/ 266 h 279"/>
                      <a:gd name="T16" fmla="*/ 68 w 92"/>
                      <a:gd name="T17" fmla="*/ 278 h 279"/>
                      <a:gd name="T18" fmla="*/ 91 w 92"/>
                      <a:gd name="T19" fmla="*/ 244 h 279"/>
                      <a:gd name="T20" fmla="*/ 91 w 92"/>
                      <a:gd name="T21" fmla="*/ 210 h 279"/>
                      <a:gd name="T22" fmla="*/ 91 w 92"/>
                      <a:gd name="T23" fmla="*/ 176 h 279"/>
                      <a:gd name="T24" fmla="*/ 79 w 92"/>
                      <a:gd name="T25" fmla="*/ 142 h 279"/>
                      <a:gd name="T26" fmla="*/ 57 w 92"/>
                      <a:gd name="T27" fmla="*/ 108 h 279"/>
                      <a:gd name="T28" fmla="*/ 34 w 92"/>
                      <a:gd name="T29" fmla="*/ 74 h 279"/>
                      <a:gd name="T30" fmla="*/ 38 w 92"/>
                      <a:gd name="T31" fmla="*/ 0 h 279"/>
                      <a:gd name="T32" fmla="*/ 38 w 92"/>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 h="279">
                        <a:moveTo>
                          <a:pt x="38" y="0"/>
                        </a:moveTo>
                        <a:lnTo>
                          <a:pt x="23" y="51"/>
                        </a:lnTo>
                        <a:lnTo>
                          <a:pt x="0" y="85"/>
                        </a:lnTo>
                        <a:lnTo>
                          <a:pt x="0" y="119"/>
                        </a:lnTo>
                        <a:lnTo>
                          <a:pt x="11" y="165"/>
                        </a:lnTo>
                        <a:lnTo>
                          <a:pt x="11" y="198"/>
                        </a:lnTo>
                        <a:lnTo>
                          <a:pt x="23" y="232"/>
                        </a:lnTo>
                        <a:lnTo>
                          <a:pt x="34" y="266"/>
                        </a:lnTo>
                        <a:lnTo>
                          <a:pt x="68" y="278"/>
                        </a:lnTo>
                        <a:lnTo>
                          <a:pt x="91" y="244"/>
                        </a:lnTo>
                        <a:lnTo>
                          <a:pt x="91" y="210"/>
                        </a:lnTo>
                        <a:lnTo>
                          <a:pt x="91" y="176"/>
                        </a:lnTo>
                        <a:lnTo>
                          <a:pt x="79" y="142"/>
                        </a:lnTo>
                        <a:lnTo>
                          <a:pt x="57" y="108"/>
                        </a:lnTo>
                        <a:lnTo>
                          <a:pt x="34" y="74"/>
                        </a:lnTo>
                        <a:lnTo>
                          <a:pt x="38" y="0"/>
                        </a:lnTo>
                        <a:lnTo>
                          <a:pt x="38" y="0"/>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66573" name="Freeform 13"/>
                <p:cNvSpPr>
                  <a:spLocks/>
                </p:cNvSpPr>
                <p:nvPr/>
              </p:nvSpPr>
              <p:spPr bwMode="auto">
                <a:xfrm>
                  <a:off x="2241" y="1441"/>
                  <a:ext cx="465" cy="273"/>
                </a:xfrm>
                <a:custGeom>
                  <a:avLst/>
                  <a:gdLst>
                    <a:gd name="T0" fmla="*/ 431 w 465"/>
                    <a:gd name="T1" fmla="*/ 86 h 273"/>
                    <a:gd name="T2" fmla="*/ 385 w 465"/>
                    <a:gd name="T3" fmla="*/ 68 h 273"/>
                    <a:gd name="T4" fmla="*/ 351 w 465"/>
                    <a:gd name="T5" fmla="*/ 68 h 273"/>
                    <a:gd name="T6" fmla="*/ 335 w 465"/>
                    <a:gd name="T7" fmla="*/ 86 h 273"/>
                    <a:gd name="T8" fmla="*/ 306 w 465"/>
                    <a:gd name="T9" fmla="*/ 91 h 273"/>
                    <a:gd name="T10" fmla="*/ 287 w 465"/>
                    <a:gd name="T11" fmla="*/ 86 h 273"/>
                    <a:gd name="T12" fmla="*/ 260 w 465"/>
                    <a:gd name="T13" fmla="*/ 91 h 273"/>
                    <a:gd name="T14" fmla="*/ 226 w 465"/>
                    <a:gd name="T15" fmla="*/ 91 h 273"/>
                    <a:gd name="T16" fmla="*/ 193 w 465"/>
                    <a:gd name="T17" fmla="*/ 91 h 273"/>
                    <a:gd name="T18" fmla="*/ 159 w 465"/>
                    <a:gd name="T19" fmla="*/ 102 h 273"/>
                    <a:gd name="T20" fmla="*/ 125 w 465"/>
                    <a:gd name="T21" fmla="*/ 114 h 273"/>
                    <a:gd name="T22" fmla="*/ 91 w 465"/>
                    <a:gd name="T23" fmla="*/ 136 h 273"/>
                    <a:gd name="T24" fmla="*/ 57 w 465"/>
                    <a:gd name="T25" fmla="*/ 136 h 273"/>
                    <a:gd name="T26" fmla="*/ 23 w 465"/>
                    <a:gd name="T27" fmla="*/ 136 h 273"/>
                    <a:gd name="T28" fmla="*/ 11 w 465"/>
                    <a:gd name="T29" fmla="*/ 170 h 273"/>
                    <a:gd name="T30" fmla="*/ 0 w 465"/>
                    <a:gd name="T31" fmla="*/ 204 h 273"/>
                    <a:gd name="T32" fmla="*/ 11 w 465"/>
                    <a:gd name="T33" fmla="*/ 249 h 273"/>
                    <a:gd name="T34" fmla="*/ 45 w 465"/>
                    <a:gd name="T35" fmla="*/ 272 h 273"/>
                    <a:gd name="T36" fmla="*/ 79 w 465"/>
                    <a:gd name="T37" fmla="*/ 272 h 273"/>
                    <a:gd name="T38" fmla="*/ 113 w 465"/>
                    <a:gd name="T39" fmla="*/ 272 h 273"/>
                    <a:gd name="T40" fmla="*/ 147 w 465"/>
                    <a:gd name="T41" fmla="*/ 261 h 273"/>
                    <a:gd name="T42" fmla="*/ 181 w 465"/>
                    <a:gd name="T43" fmla="*/ 261 h 273"/>
                    <a:gd name="T44" fmla="*/ 215 w 465"/>
                    <a:gd name="T45" fmla="*/ 238 h 273"/>
                    <a:gd name="T46" fmla="*/ 249 w 465"/>
                    <a:gd name="T47" fmla="*/ 238 h 273"/>
                    <a:gd name="T48" fmla="*/ 283 w 465"/>
                    <a:gd name="T49" fmla="*/ 238 h 273"/>
                    <a:gd name="T50" fmla="*/ 317 w 465"/>
                    <a:gd name="T51" fmla="*/ 238 h 273"/>
                    <a:gd name="T52" fmla="*/ 351 w 465"/>
                    <a:gd name="T53" fmla="*/ 238 h 273"/>
                    <a:gd name="T54" fmla="*/ 385 w 465"/>
                    <a:gd name="T55" fmla="*/ 227 h 273"/>
                    <a:gd name="T56" fmla="*/ 419 w 465"/>
                    <a:gd name="T57" fmla="*/ 227 h 273"/>
                    <a:gd name="T58" fmla="*/ 453 w 465"/>
                    <a:gd name="T59" fmla="*/ 204 h 273"/>
                    <a:gd name="T60" fmla="*/ 453 w 465"/>
                    <a:gd name="T61" fmla="*/ 170 h 273"/>
                    <a:gd name="T62" fmla="*/ 464 w 465"/>
                    <a:gd name="T63" fmla="*/ 136 h 273"/>
                    <a:gd name="T64" fmla="*/ 431 w 465"/>
                    <a:gd name="T65" fmla="*/ 86 h 273"/>
                    <a:gd name="T66" fmla="*/ 453 w 465"/>
                    <a:gd name="T67" fmla="*/ 34 h 273"/>
                    <a:gd name="T68" fmla="*/ 442 w 465"/>
                    <a:gd name="T69" fmla="*/ 0 h 273"/>
                    <a:gd name="T70" fmla="*/ 431 w 465"/>
                    <a:gd name="T71" fmla="*/ 86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5" h="273">
                      <a:moveTo>
                        <a:pt x="431" y="86"/>
                      </a:moveTo>
                      <a:lnTo>
                        <a:pt x="385" y="68"/>
                      </a:lnTo>
                      <a:lnTo>
                        <a:pt x="351" y="68"/>
                      </a:lnTo>
                      <a:lnTo>
                        <a:pt x="335" y="86"/>
                      </a:lnTo>
                      <a:lnTo>
                        <a:pt x="306" y="91"/>
                      </a:lnTo>
                      <a:lnTo>
                        <a:pt x="287" y="86"/>
                      </a:lnTo>
                      <a:lnTo>
                        <a:pt x="260" y="91"/>
                      </a:lnTo>
                      <a:lnTo>
                        <a:pt x="226" y="91"/>
                      </a:lnTo>
                      <a:lnTo>
                        <a:pt x="193" y="91"/>
                      </a:lnTo>
                      <a:lnTo>
                        <a:pt x="159" y="102"/>
                      </a:lnTo>
                      <a:lnTo>
                        <a:pt x="125" y="114"/>
                      </a:lnTo>
                      <a:lnTo>
                        <a:pt x="91" y="136"/>
                      </a:lnTo>
                      <a:lnTo>
                        <a:pt x="57" y="136"/>
                      </a:lnTo>
                      <a:lnTo>
                        <a:pt x="23" y="136"/>
                      </a:lnTo>
                      <a:lnTo>
                        <a:pt x="11" y="170"/>
                      </a:lnTo>
                      <a:lnTo>
                        <a:pt x="0" y="204"/>
                      </a:lnTo>
                      <a:lnTo>
                        <a:pt x="11" y="249"/>
                      </a:lnTo>
                      <a:lnTo>
                        <a:pt x="45" y="272"/>
                      </a:lnTo>
                      <a:lnTo>
                        <a:pt x="79" y="272"/>
                      </a:lnTo>
                      <a:lnTo>
                        <a:pt x="113" y="272"/>
                      </a:lnTo>
                      <a:lnTo>
                        <a:pt x="147" y="261"/>
                      </a:lnTo>
                      <a:lnTo>
                        <a:pt x="181" y="261"/>
                      </a:lnTo>
                      <a:lnTo>
                        <a:pt x="215" y="238"/>
                      </a:lnTo>
                      <a:lnTo>
                        <a:pt x="249" y="238"/>
                      </a:lnTo>
                      <a:lnTo>
                        <a:pt x="283" y="238"/>
                      </a:lnTo>
                      <a:lnTo>
                        <a:pt x="317" y="238"/>
                      </a:lnTo>
                      <a:lnTo>
                        <a:pt x="351" y="238"/>
                      </a:lnTo>
                      <a:lnTo>
                        <a:pt x="385" y="227"/>
                      </a:lnTo>
                      <a:lnTo>
                        <a:pt x="419" y="227"/>
                      </a:lnTo>
                      <a:lnTo>
                        <a:pt x="453" y="204"/>
                      </a:lnTo>
                      <a:lnTo>
                        <a:pt x="453" y="170"/>
                      </a:lnTo>
                      <a:lnTo>
                        <a:pt x="464" y="136"/>
                      </a:lnTo>
                      <a:lnTo>
                        <a:pt x="431" y="86"/>
                      </a:lnTo>
                      <a:lnTo>
                        <a:pt x="453" y="34"/>
                      </a:lnTo>
                      <a:lnTo>
                        <a:pt x="442" y="0"/>
                      </a:lnTo>
                      <a:lnTo>
                        <a:pt x="431" y="86"/>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574" name="Rectangle 14"/>
                <p:cNvSpPr>
                  <a:spLocks noChangeArrowheads="1"/>
                </p:cNvSpPr>
                <p:nvPr/>
              </p:nvSpPr>
              <p:spPr bwMode="auto">
                <a:xfrm>
                  <a:off x="1270" y="576"/>
                  <a:ext cx="48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ICF</a:t>
                  </a:r>
                </a:p>
              </p:txBody>
            </p:sp>
            <p:sp>
              <p:nvSpPr>
                <p:cNvPr id="66575" name="Rectangle 15"/>
                <p:cNvSpPr>
                  <a:spLocks noChangeArrowheads="1"/>
                </p:cNvSpPr>
                <p:nvPr/>
              </p:nvSpPr>
              <p:spPr bwMode="auto">
                <a:xfrm>
                  <a:off x="3814" y="576"/>
                  <a:ext cx="57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t>ECF</a:t>
                  </a:r>
                </a:p>
              </p:txBody>
            </p:sp>
            <p:sp>
              <p:nvSpPr>
                <p:cNvPr id="66576" name="Rectangle 16"/>
                <p:cNvSpPr>
                  <a:spLocks noChangeArrowheads="1"/>
                </p:cNvSpPr>
                <p:nvPr/>
              </p:nvSpPr>
              <p:spPr bwMode="auto">
                <a:xfrm>
                  <a:off x="2807" y="912"/>
                  <a:ext cx="11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endParaRPr lang="en-US" sz="2100"/>
                </a:p>
              </p:txBody>
            </p:sp>
            <p:sp>
              <p:nvSpPr>
                <p:cNvPr id="66577" name="Rectangle 17"/>
                <p:cNvSpPr>
                  <a:spLocks noChangeArrowheads="1"/>
                </p:cNvSpPr>
                <p:nvPr/>
              </p:nvSpPr>
              <p:spPr bwMode="auto">
                <a:xfrm>
                  <a:off x="982" y="164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78" name="Rectangle 18"/>
                <p:cNvSpPr>
                  <a:spLocks noChangeArrowheads="1"/>
                </p:cNvSpPr>
                <p:nvPr/>
              </p:nvSpPr>
              <p:spPr bwMode="auto">
                <a:xfrm>
                  <a:off x="1846" y="2410"/>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79" name="Rectangle 19"/>
                <p:cNvSpPr>
                  <a:spLocks noChangeArrowheads="1"/>
                </p:cNvSpPr>
                <p:nvPr/>
              </p:nvSpPr>
              <p:spPr bwMode="auto">
                <a:xfrm>
                  <a:off x="982" y="2794"/>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0" name="Rectangle 20"/>
                <p:cNvSpPr>
                  <a:spLocks noChangeArrowheads="1"/>
                </p:cNvSpPr>
                <p:nvPr/>
              </p:nvSpPr>
              <p:spPr bwMode="auto">
                <a:xfrm>
                  <a:off x="2902" y="140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1" name="Rectangle 21"/>
                <p:cNvSpPr>
                  <a:spLocks noChangeArrowheads="1"/>
                </p:cNvSpPr>
                <p:nvPr/>
              </p:nvSpPr>
              <p:spPr bwMode="auto">
                <a:xfrm>
                  <a:off x="1366" y="236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2" name="Rectangle 22"/>
                <p:cNvSpPr>
                  <a:spLocks noChangeArrowheads="1"/>
                </p:cNvSpPr>
                <p:nvPr/>
              </p:nvSpPr>
              <p:spPr bwMode="auto">
                <a:xfrm>
                  <a:off x="646" y="2266"/>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3" name="Rectangle 23"/>
                <p:cNvSpPr>
                  <a:spLocks noChangeArrowheads="1"/>
                </p:cNvSpPr>
                <p:nvPr/>
              </p:nvSpPr>
              <p:spPr bwMode="auto">
                <a:xfrm>
                  <a:off x="1606" y="2890"/>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4" name="Rectangle 24"/>
                <p:cNvSpPr>
                  <a:spLocks noChangeArrowheads="1"/>
                </p:cNvSpPr>
                <p:nvPr/>
              </p:nvSpPr>
              <p:spPr bwMode="auto">
                <a:xfrm>
                  <a:off x="1366" y="188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5" name="Rectangle 25"/>
                <p:cNvSpPr>
                  <a:spLocks noChangeArrowheads="1"/>
                </p:cNvSpPr>
                <p:nvPr/>
              </p:nvSpPr>
              <p:spPr bwMode="auto">
                <a:xfrm>
                  <a:off x="3622" y="2074"/>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6" name="Rectangle 26"/>
                <p:cNvSpPr>
                  <a:spLocks noChangeArrowheads="1"/>
                </p:cNvSpPr>
                <p:nvPr/>
              </p:nvSpPr>
              <p:spPr bwMode="auto">
                <a:xfrm>
                  <a:off x="1030" y="1930"/>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7" name="Rectangle 27"/>
                <p:cNvSpPr>
                  <a:spLocks noChangeArrowheads="1"/>
                </p:cNvSpPr>
                <p:nvPr/>
              </p:nvSpPr>
              <p:spPr bwMode="auto">
                <a:xfrm>
                  <a:off x="3718" y="1402"/>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sp>
              <p:nvSpPr>
                <p:cNvPr id="66588" name="Line 28"/>
                <p:cNvSpPr>
                  <a:spLocks noChangeShapeType="1"/>
                </p:cNvSpPr>
                <p:nvPr/>
              </p:nvSpPr>
              <p:spPr bwMode="auto">
                <a:xfrm flipV="1">
                  <a:off x="2192" y="1479"/>
                  <a:ext cx="528" cy="9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589" name="Line 29"/>
                <p:cNvSpPr>
                  <a:spLocks noChangeShapeType="1"/>
                </p:cNvSpPr>
                <p:nvPr/>
              </p:nvSpPr>
              <p:spPr bwMode="auto">
                <a:xfrm flipV="1">
                  <a:off x="2192" y="1671"/>
                  <a:ext cx="672" cy="4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590" name="Arc 30"/>
                <p:cNvSpPr>
                  <a:spLocks/>
                </p:cNvSpPr>
                <p:nvPr/>
              </p:nvSpPr>
              <p:spPr bwMode="auto">
                <a:xfrm>
                  <a:off x="1856" y="1479"/>
                  <a:ext cx="1056" cy="144"/>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591" name="Rectangle 31"/>
                <p:cNvSpPr>
                  <a:spLocks noChangeArrowheads="1"/>
                </p:cNvSpPr>
                <p:nvPr/>
              </p:nvSpPr>
              <p:spPr bwMode="auto">
                <a:xfrm>
                  <a:off x="2336" y="1863"/>
                  <a:ext cx="19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sp>
              <p:nvSpPr>
                <p:cNvPr id="66592" name="Rectangle 32"/>
                <p:cNvSpPr>
                  <a:spLocks noChangeArrowheads="1"/>
                </p:cNvSpPr>
                <p:nvPr/>
              </p:nvSpPr>
              <p:spPr bwMode="auto">
                <a:xfrm>
                  <a:off x="2720" y="1767"/>
                  <a:ext cx="25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6593" name="Rectangle 33"/>
                <p:cNvSpPr>
                  <a:spLocks noChangeArrowheads="1"/>
                </p:cNvSpPr>
                <p:nvPr/>
              </p:nvSpPr>
              <p:spPr bwMode="auto">
                <a:xfrm>
                  <a:off x="2776" y="1942"/>
                  <a:ext cx="3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solidFill>
                        <a:srgbClr val="FF0000"/>
                      </a:solidFill>
                    </a:rPr>
                    <a:t>+</a:t>
                  </a:r>
                </a:p>
              </p:txBody>
            </p:sp>
            <p:sp>
              <p:nvSpPr>
                <p:cNvPr id="66594" name="Rectangle 34"/>
                <p:cNvSpPr>
                  <a:spLocks noChangeArrowheads="1"/>
                </p:cNvSpPr>
                <p:nvPr/>
              </p:nvSpPr>
              <p:spPr bwMode="auto">
                <a:xfrm>
                  <a:off x="2432" y="1959"/>
                  <a:ext cx="19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grpSp>
          <p:grpSp>
            <p:nvGrpSpPr>
              <p:cNvPr id="66595" name="Group 35"/>
              <p:cNvGrpSpPr>
                <a:grpSpLocks/>
              </p:cNvGrpSpPr>
              <p:nvPr/>
            </p:nvGrpSpPr>
            <p:grpSpPr bwMode="auto">
              <a:xfrm>
                <a:off x="2160" y="2784"/>
                <a:ext cx="3091" cy="330"/>
                <a:chOff x="2160" y="2784"/>
                <a:chExt cx="3091" cy="330"/>
              </a:xfrm>
            </p:grpSpPr>
            <p:sp>
              <p:nvSpPr>
                <p:cNvPr id="66596" name="Line 36"/>
                <p:cNvSpPr>
                  <a:spLocks noChangeShapeType="1"/>
                </p:cNvSpPr>
                <p:nvPr/>
              </p:nvSpPr>
              <p:spPr bwMode="auto">
                <a:xfrm>
                  <a:off x="2160" y="2947"/>
                  <a:ext cx="1440" cy="0"/>
                </a:xfrm>
                <a:prstGeom prst="line">
                  <a:avLst/>
                </a:prstGeom>
                <a:noFill/>
                <a:ln w="1016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dirty="0"/>
                </a:p>
              </p:txBody>
            </p:sp>
            <p:sp>
              <p:nvSpPr>
                <p:cNvPr id="66597" name="Rectangle 37"/>
                <p:cNvSpPr>
                  <a:spLocks noChangeArrowheads="1"/>
                </p:cNvSpPr>
                <p:nvPr/>
              </p:nvSpPr>
              <p:spPr bwMode="auto">
                <a:xfrm>
                  <a:off x="3638" y="2784"/>
                  <a:ext cx="161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concentration</a:t>
                  </a:r>
                </a:p>
              </p:txBody>
            </p:sp>
          </p:grpSp>
        </p:grpSp>
        <p:grpSp>
          <p:nvGrpSpPr>
            <p:cNvPr id="66598" name="Group 38"/>
            <p:cNvGrpSpPr>
              <a:grpSpLocks/>
            </p:cNvGrpSpPr>
            <p:nvPr/>
          </p:nvGrpSpPr>
          <p:grpSpPr bwMode="auto">
            <a:xfrm>
              <a:off x="2160" y="3072"/>
              <a:ext cx="2574" cy="330"/>
              <a:chOff x="2160" y="3753"/>
              <a:chExt cx="2574" cy="330"/>
            </a:xfrm>
          </p:grpSpPr>
          <p:sp>
            <p:nvSpPr>
              <p:cNvPr id="66599" name="Line 39"/>
              <p:cNvSpPr>
                <a:spLocks noChangeShapeType="1"/>
              </p:cNvSpPr>
              <p:nvPr/>
            </p:nvSpPr>
            <p:spPr bwMode="auto">
              <a:xfrm flipH="1">
                <a:off x="2160" y="3917"/>
                <a:ext cx="1296" cy="0"/>
              </a:xfrm>
              <a:prstGeom prst="line">
                <a:avLst/>
              </a:prstGeom>
              <a:noFill/>
              <a:ln w="38100">
                <a:solidFill>
                  <a:schemeClr val="accent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600" name="Rectangle 40"/>
              <p:cNvSpPr>
                <a:spLocks noChangeArrowheads="1"/>
              </p:cNvSpPr>
              <p:nvPr/>
            </p:nvSpPr>
            <p:spPr bwMode="auto">
              <a:xfrm>
                <a:off x="3638" y="3753"/>
                <a:ext cx="109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electrical</a:t>
                </a:r>
              </a:p>
            </p:txBody>
          </p:sp>
        </p:grpSp>
        <p:grpSp>
          <p:nvGrpSpPr>
            <p:cNvPr id="66601" name="Group 41"/>
            <p:cNvGrpSpPr>
              <a:grpSpLocks/>
            </p:cNvGrpSpPr>
            <p:nvPr/>
          </p:nvGrpSpPr>
          <p:grpSpPr bwMode="auto">
            <a:xfrm>
              <a:off x="2668" y="2179"/>
              <a:ext cx="692" cy="757"/>
              <a:chOff x="2668" y="2179"/>
              <a:chExt cx="692" cy="757"/>
            </a:xfrm>
          </p:grpSpPr>
          <p:sp>
            <p:nvSpPr>
              <p:cNvPr id="66602" name="Rectangle 42"/>
              <p:cNvSpPr>
                <a:spLocks noChangeArrowheads="1"/>
              </p:cNvSpPr>
              <p:nvPr/>
            </p:nvSpPr>
            <p:spPr bwMode="auto">
              <a:xfrm>
                <a:off x="3024" y="2208"/>
                <a:ext cx="336"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100" dirty="0">
                    <a:solidFill>
                      <a:srgbClr val="FF0000"/>
                    </a:solidFill>
                  </a:rPr>
                  <a:t>++</a:t>
                </a:r>
              </a:p>
            </p:txBody>
          </p:sp>
          <p:sp>
            <p:nvSpPr>
              <p:cNvPr id="66603" name="Rectangle 43"/>
              <p:cNvSpPr>
                <a:spLocks noChangeArrowheads="1"/>
              </p:cNvSpPr>
              <p:nvPr/>
            </p:nvSpPr>
            <p:spPr bwMode="auto">
              <a:xfrm>
                <a:off x="2668" y="2179"/>
                <a:ext cx="193" cy="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a:p>
                <a:pPr defTabSz="571500"/>
                <a:r>
                  <a:rPr lang="en-GB" sz="2100" dirty="0">
                    <a:solidFill>
                      <a:srgbClr val="FF0000"/>
                    </a:solidFill>
                  </a:rPr>
                  <a:t>-</a:t>
                </a:r>
                <a:endParaRPr lang="en-GB" sz="1200" dirty="0">
                  <a:solidFill>
                    <a:srgbClr val="FF0000"/>
                  </a:solidFill>
                </a:endParaRPr>
              </a:p>
              <a:p>
                <a:pPr defTabSz="571500"/>
                <a:endParaRPr lang="en-GB" sz="1200" dirty="0">
                  <a:solidFill>
                    <a:schemeClr val="hlink"/>
                  </a:solidFill>
                </a:endParaRPr>
              </a:p>
            </p:txBody>
          </p:sp>
        </p:grpSp>
        <p:grpSp>
          <p:nvGrpSpPr>
            <p:cNvPr id="66604" name="Group 44"/>
            <p:cNvGrpSpPr>
              <a:grpSpLocks/>
            </p:cNvGrpSpPr>
            <p:nvPr/>
          </p:nvGrpSpPr>
          <p:grpSpPr bwMode="auto">
            <a:xfrm>
              <a:off x="1920" y="1730"/>
              <a:ext cx="1201" cy="298"/>
              <a:chOff x="1920" y="1730"/>
              <a:chExt cx="1201" cy="298"/>
            </a:xfrm>
          </p:grpSpPr>
          <p:sp>
            <p:nvSpPr>
              <p:cNvPr id="66605" name="Arc 45"/>
              <p:cNvSpPr>
                <a:spLocks/>
              </p:cNvSpPr>
              <p:nvPr/>
            </p:nvSpPr>
            <p:spPr bwMode="auto">
              <a:xfrm rot="-11007908">
                <a:off x="2209" y="1730"/>
                <a:ext cx="912" cy="96"/>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6606" name="Rectangle 46"/>
              <p:cNvSpPr>
                <a:spLocks noChangeArrowheads="1"/>
              </p:cNvSpPr>
              <p:nvPr/>
            </p:nvSpPr>
            <p:spPr bwMode="auto">
              <a:xfrm>
                <a:off x="1920" y="1776"/>
                <a:ext cx="32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1500"/>
                  <a:t>K+</a:t>
                </a:r>
              </a:p>
            </p:txBody>
          </p:sp>
        </p:grpSp>
        <p:sp>
          <p:nvSpPr>
            <p:cNvPr id="66607" name="Line 47"/>
            <p:cNvSpPr>
              <a:spLocks noChangeShapeType="1"/>
            </p:cNvSpPr>
            <p:nvPr/>
          </p:nvSpPr>
          <p:spPr bwMode="auto">
            <a:xfrm flipH="1">
              <a:off x="2016" y="3216"/>
              <a:ext cx="1536" cy="0"/>
            </a:xfrm>
            <a:prstGeom prst="line">
              <a:avLst/>
            </a:prstGeom>
            <a:noFill/>
            <a:ln w="101600">
              <a:solidFill>
                <a:srgbClr val="FF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dirty="0"/>
            </a:p>
          </p:txBody>
        </p:sp>
        <p:sp>
          <p:nvSpPr>
            <p:cNvPr id="66609" name="Rectangle 49"/>
            <p:cNvSpPr>
              <a:spLocks noChangeArrowheads="1"/>
            </p:cNvSpPr>
            <p:nvPr/>
          </p:nvSpPr>
          <p:spPr bwMode="auto">
            <a:xfrm>
              <a:off x="49" y="76"/>
              <a:ext cx="5567"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2400" dirty="0">
                  <a:solidFill>
                    <a:schemeClr val="hlink"/>
                  </a:solidFill>
                </a:rPr>
                <a:t>K+ will stop moving when the electrical gradient is equal and opposite to the concentration gradient.</a:t>
              </a:r>
            </a:p>
          </p:txBody>
        </p:sp>
      </p:grpSp>
    </p:spTree>
    <p:extLst>
      <p:ext uri="{BB962C8B-B14F-4D97-AF65-F5344CB8AC3E}">
        <p14:creationId xmlns:p14="http://schemas.microsoft.com/office/powerpoint/2010/main" val="6006285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6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08"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39552" y="228600"/>
            <a:ext cx="8208912" cy="914400"/>
          </a:xfrm>
          <a:noFill/>
          <a:ln/>
        </p:spPr>
        <p:txBody>
          <a:bodyPr/>
          <a:lstStyle/>
          <a:p>
            <a:r>
              <a:rPr lang="en-GB" sz="2400" b="1" dirty="0">
                <a:solidFill>
                  <a:schemeClr val="tx1"/>
                </a:solidFill>
                <a:latin typeface="Arial Rounded MT Bold" pitchFamily="34" charset="0"/>
              </a:rPr>
              <a:t>The equilibrium potential (E</a:t>
            </a:r>
            <a:r>
              <a:rPr lang="en-GB" sz="2400" b="1" baseline="-25000" dirty="0">
                <a:solidFill>
                  <a:schemeClr val="tx1"/>
                </a:solidFill>
                <a:latin typeface="Arial Rounded MT Bold" pitchFamily="34" charset="0"/>
              </a:rPr>
              <a:t>ion</a:t>
            </a:r>
            <a:r>
              <a:rPr lang="en-GB" sz="2400" b="1" dirty="0">
                <a:solidFill>
                  <a:schemeClr val="tx1"/>
                </a:solidFill>
                <a:latin typeface="Arial Rounded MT Bold" pitchFamily="34" charset="0"/>
              </a:rPr>
              <a:t>) can be determined:</a:t>
            </a:r>
          </a:p>
        </p:txBody>
      </p:sp>
      <p:sp>
        <p:nvSpPr>
          <p:cNvPr id="47107" name="Rectangle 3"/>
          <p:cNvSpPr>
            <a:spLocks noGrp="1" noChangeArrowheads="1"/>
          </p:cNvSpPr>
          <p:nvPr>
            <p:ph type="body" idx="1"/>
          </p:nvPr>
        </p:nvSpPr>
        <p:spPr>
          <a:xfrm>
            <a:off x="1657350" y="1428750"/>
            <a:ext cx="5829300" cy="1657350"/>
          </a:xfrm>
          <a:noFill/>
          <a:ln/>
        </p:spPr>
        <p:txBody>
          <a:bodyPr/>
          <a:lstStyle/>
          <a:p>
            <a:r>
              <a:rPr lang="en-GB" sz="2800" b="1" dirty="0">
                <a:latin typeface="Arial Rounded MT Bold" pitchFamily="34" charset="0"/>
              </a:rPr>
              <a:t>The Nernst Equation: </a:t>
            </a:r>
          </a:p>
          <a:p>
            <a:pPr lvl="1">
              <a:buFontTx/>
              <a:buNone/>
            </a:pPr>
            <a:r>
              <a:rPr lang="en-GB" sz="2700" b="1" dirty="0">
                <a:latin typeface="Arial Rounded MT Bold" pitchFamily="34" charset="0"/>
              </a:rPr>
              <a:t>E</a:t>
            </a:r>
            <a:r>
              <a:rPr lang="en-GB" sz="2700" b="1" baseline="-25000" dirty="0">
                <a:latin typeface="Arial Rounded MT Bold" pitchFamily="34" charset="0"/>
              </a:rPr>
              <a:t>ion</a:t>
            </a:r>
            <a:r>
              <a:rPr lang="en-GB" sz="2700" b="1" dirty="0">
                <a:latin typeface="Arial Rounded MT Bold" pitchFamily="34" charset="0"/>
              </a:rPr>
              <a:t> = -</a:t>
            </a:r>
            <a:r>
              <a:rPr lang="en-GB" sz="2700" b="1" u="sng" dirty="0">
                <a:latin typeface="Arial Rounded MT Bold" pitchFamily="34" charset="0"/>
              </a:rPr>
              <a:t>RT</a:t>
            </a:r>
            <a:r>
              <a:rPr lang="en-GB" sz="2700" b="1" dirty="0">
                <a:latin typeface="Arial Rounded MT Bold" pitchFamily="34" charset="0"/>
              </a:rPr>
              <a:t>  </a:t>
            </a:r>
            <a:r>
              <a:rPr lang="en-GB" sz="2700" b="1" i="1" dirty="0">
                <a:latin typeface="Arial Rounded MT Bold" pitchFamily="34" charset="0"/>
              </a:rPr>
              <a:t>ln</a:t>
            </a:r>
            <a:r>
              <a:rPr lang="en-GB" sz="2700" b="1" dirty="0">
                <a:latin typeface="Arial Rounded MT Bold" pitchFamily="34" charset="0"/>
              </a:rPr>
              <a:t>  </a:t>
            </a:r>
            <a:r>
              <a:rPr lang="en-GB" sz="2700" b="1" u="sng" dirty="0">
                <a:latin typeface="Arial Rounded MT Bold" pitchFamily="34" charset="0"/>
              </a:rPr>
              <a:t>[ion]</a:t>
            </a:r>
            <a:r>
              <a:rPr lang="en-GB" sz="2700" b="1" u="sng" baseline="-25000" dirty="0">
                <a:latin typeface="Arial Rounded MT Bold" pitchFamily="34" charset="0"/>
              </a:rPr>
              <a:t>in</a:t>
            </a:r>
            <a:endParaRPr lang="en-GB" sz="2700" b="1" u="sng" dirty="0">
              <a:latin typeface="Arial Rounded MT Bold" pitchFamily="34" charset="0"/>
            </a:endParaRPr>
          </a:p>
          <a:p>
            <a:pPr lvl="1">
              <a:buFontTx/>
              <a:buNone/>
            </a:pPr>
            <a:r>
              <a:rPr lang="en-GB" sz="2700" b="1" dirty="0">
                <a:latin typeface="Arial Rounded MT Bold" pitchFamily="34" charset="0"/>
              </a:rPr>
              <a:t>            </a:t>
            </a:r>
            <a:r>
              <a:rPr lang="en-GB" sz="2700" b="1" dirty="0" err="1">
                <a:latin typeface="Arial Rounded MT Bold" pitchFamily="34" charset="0"/>
              </a:rPr>
              <a:t>zF</a:t>
            </a:r>
            <a:r>
              <a:rPr lang="en-GB" sz="2700" b="1" dirty="0">
                <a:latin typeface="Arial Rounded MT Bold" pitchFamily="34" charset="0"/>
              </a:rPr>
              <a:t>         [ion]</a:t>
            </a:r>
            <a:r>
              <a:rPr lang="en-GB" sz="2700" b="1" baseline="-25000" dirty="0">
                <a:latin typeface="Arial Rounded MT Bold" pitchFamily="34" charset="0"/>
              </a:rPr>
              <a:t>out</a:t>
            </a:r>
          </a:p>
        </p:txBody>
      </p:sp>
      <p:grpSp>
        <p:nvGrpSpPr>
          <p:cNvPr id="47120" name="Group 16"/>
          <p:cNvGrpSpPr>
            <a:grpSpLocks/>
          </p:cNvGrpSpPr>
          <p:nvPr/>
        </p:nvGrpSpPr>
        <p:grpSpPr bwMode="auto">
          <a:xfrm>
            <a:off x="1547664" y="1962150"/>
            <a:ext cx="7416824" cy="2819400"/>
            <a:chOff x="288" y="1472"/>
            <a:chExt cx="6342" cy="2368"/>
          </a:xfrm>
        </p:grpSpPr>
        <p:sp>
          <p:nvSpPr>
            <p:cNvPr id="47109" name="Text Box 5"/>
            <p:cNvSpPr txBox="1">
              <a:spLocks noChangeArrowheads="1"/>
            </p:cNvSpPr>
            <p:nvPr/>
          </p:nvSpPr>
          <p:spPr bwMode="auto">
            <a:xfrm>
              <a:off x="288" y="2832"/>
              <a:ext cx="6342"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lvl="1"/>
              <a:r>
                <a:rPr lang="en-GB" sz="1800" b="0" dirty="0">
                  <a:latin typeface="Arial Rounded MT Bold" panose="020F0704030504030204" pitchFamily="34" charset="0"/>
                </a:rPr>
                <a:t>R = Gas constant; </a:t>
              </a:r>
              <a:r>
                <a:rPr lang="en-GB" sz="1800" b="0" i="1" dirty="0">
                  <a:latin typeface="Arial Rounded MT Bold" panose="020F0704030504030204" pitchFamily="34" charset="0"/>
                </a:rPr>
                <a:t>8.135 J K</a:t>
              </a:r>
              <a:r>
                <a:rPr lang="en-GB" sz="1800" b="0" i="1" baseline="30000" dirty="0">
                  <a:latin typeface="Arial Rounded MT Bold" panose="020F0704030504030204" pitchFamily="34" charset="0"/>
                </a:rPr>
                <a:t>-1</a:t>
              </a:r>
              <a:r>
                <a:rPr lang="en-GB" sz="1800" b="0" i="1" dirty="0">
                  <a:latin typeface="Arial Rounded MT Bold" panose="020F0704030504030204" pitchFamily="34" charset="0"/>
                </a:rPr>
                <a:t> mol</a:t>
              </a:r>
              <a:r>
                <a:rPr lang="en-GB" sz="1800" b="0" i="1" baseline="30000" dirty="0">
                  <a:latin typeface="Arial Rounded MT Bold" panose="020F0704030504030204" pitchFamily="34" charset="0"/>
                </a:rPr>
                <a:t>-1</a:t>
              </a:r>
              <a:endParaRPr lang="en-GB" sz="1800" b="0" dirty="0">
                <a:latin typeface="Arial Rounded MT Bold" pitchFamily="34" charset="0"/>
              </a:endParaRPr>
            </a:p>
            <a:p>
              <a:pPr lvl="1"/>
              <a:r>
                <a:rPr lang="en-GB" sz="1800" b="0" dirty="0">
                  <a:latin typeface="Arial Rounded MT Bold" pitchFamily="34" charset="0"/>
                </a:rPr>
                <a:t>T = Absolute temperature in K; </a:t>
              </a:r>
              <a:r>
                <a:rPr lang="en-GB" sz="1800" b="0" i="1" dirty="0">
                  <a:latin typeface="Arial Rounded MT Bold" panose="020F0704030504030204" pitchFamily="34" charset="0"/>
                </a:rPr>
                <a:t>(273 + temp in </a:t>
              </a:r>
              <a:r>
                <a:rPr lang="en-GB" sz="1800" b="0" i="1" baseline="30000" dirty="0" err="1">
                  <a:latin typeface="Arial Rounded MT Bold" panose="020F0704030504030204" pitchFamily="34" charset="0"/>
                </a:rPr>
                <a:t>o</a:t>
              </a:r>
              <a:r>
                <a:rPr lang="en-GB" sz="1800" b="0" i="1" dirty="0" err="1">
                  <a:latin typeface="Arial Rounded MT Bold" panose="020F0704030504030204" pitchFamily="34" charset="0"/>
                </a:rPr>
                <a:t>C</a:t>
              </a:r>
              <a:r>
                <a:rPr lang="en-GB" sz="1800" b="0" i="1" dirty="0">
                  <a:latin typeface="Arial Rounded MT Bold" panose="020F0704030504030204" pitchFamily="34" charset="0"/>
                </a:rPr>
                <a:t>)</a:t>
              </a:r>
              <a:endParaRPr lang="en-GB" sz="1800" b="0" dirty="0">
                <a:latin typeface="Arial Rounded MT Bold" pitchFamily="34" charset="0"/>
              </a:endParaRPr>
            </a:p>
            <a:p>
              <a:pPr lvl="1"/>
              <a:r>
                <a:rPr lang="en-GB" sz="1800" b="0" dirty="0">
                  <a:latin typeface="Arial Rounded MT Bold" pitchFamily="34" charset="0"/>
                </a:rPr>
                <a:t>z = Valence of ion (</a:t>
              </a:r>
              <a:r>
                <a:rPr lang="en-GB" sz="1800" b="0" i="1" dirty="0">
                  <a:latin typeface="Arial Rounded MT Bold" panose="020F0704030504030204" pitchFamily="34" charset="0"/>
                </a:rPr>
                <a:t>(K+/Na</a:t>
              </a:r>
              <a:r>
                <a:rPr lang="en-GB" sz="1800" b="0" i="1" baseline="30000" dirty="0">
                  <a:latin typeface="Arial Rounded MT Bold" panose="020F0704030504030204" pitchFamily="34" charset="0"/>
                </a:rPr>
                <a:t>+</a:t>
              </a:r>
              <a:r>
                <a:rPr lang="en-GB" sz="1800" b="0" i="1" dirty="0">
                  <a:latin typeface="Arial Rounded MT Bold" panose="020F0704030504030204" pitchFamily="34" charset="0"/>
                </a:rPr>
                <a:t> is one, Ca</a:t>
              </a:r>
              <a:r>
                <a:rPr lang="en-GB" sz="1800" b="0" i="1" baseline="30000" dirty="0">
                  <a:latin typeface="Arial Rounded MT Bold" panose="020F0704030504030204" pitchFamily="34" charset="0"/>
                </a:rPr>
                <a:t>2+</a:t>
              </a:r>
              <a:r>
                <a:rPr lang="en-GB" sz="1800" b="0" i="1" dirty="0">
                  <a:latin typeface="Arial Rounded MT Bold" panose="020F0704030504030204" pitchFamily="34" charset="0"/>
                </a:rPr>
                <a:t> is two and Cl</a:t>
              </a:r>
              <a:r>
                <a:rPr lang="en-GB" sz="1800" b="0" i="1" baseline="30000" dirty="0">
                  <a:latin typeface="Arial Rounded MT Bold" panose="020F0704030504030204" pitchFamily="34" charset="0"/>
                </a:rPr>
                <a:t>-</a:t>
              </a:r>
              <a:r>
                <a:rPr lang="en-GB" sz="1800" b="0" i="1" dirty="0">
                  <a:latin typeface="Arial Rounded MT Bold" panose="020F0704030504030204" pitchFamily="34" charset="0"/>
                </a:rPr>
                <a:t> is one)</a:t>
              </a:r>
              <a:endParaRPr lang="en-GB" sz="1800" b="0" dirty="0">
                <a:latin typeface="Arial Rounded MT Bold" pitchFamily="34" charset="0"/>
              </a:endParaRPr>
            </a:p>
            <a:p>
              <a:pPr lvl="1"/>
              <a:r>
                <a:rPr lang="en-GB" sz="1800" b="0" dirty="0">
                  <a:latin typeface="Arial Rounded MT Bold" pitchFamily="34" charset="0"/>
                </a:rPr>
                <a:t>F = Faraday constant ; </a:t>
              </a:r>
              <a:r>
                <a:rPr lang="en-GB" sz="1800" b="0" i="1" dirty="0">
                  <a:latin typeface="Arial Rounded MT Bold" panose="020F0704030504030204" pitchFamily="34" charset="0"/>
                </a:rPr>
                <a:t>9.684 x 10</a:t>
              </a:r>
              <a:r>
                <a:rPr lang="en-GB" sz="1800" b="0" i="1" baseline="30000" dirty="0">
                  <a:latin typeface="Arial Rounded MT Bold" panose="020F0704030504030204" pitchFamily="34" charset="0"/>
                </a:rPr>
                <a:t>4</a:t>
              </a:r>
              <a:r>
                <a:rPr lang="en-GB" sz="1800" b="0" i="1" dirty="0">
                  <a:latin typeface="Arial Rounded MT Bold" panose="020F0704030504030204" pitchFamily="34" charset="0"/>
                </a:rPr>
                <a:t> C mol</a:t>
              </a:r>
              <a:r>
                <a:rPr lang="en-GB" sz="1800" b="0" i="1" baseline="30000" dirty="0">
                  <a:latin typeface="Arial Rounded MT Bold" panose="020F0704030504030204" pitchFamily="34" charset="0"/>
                </a:rPr>
                <a:t>-1</a:t>
              </a:r>
              <a:endParaRPr lang="en-US" sz="1800" b="0" dirty="0">
                <a:latin typeface="Arial Rounded MT Bold" panose="020F0704030504030204" pitchFamily="34" charset="0"/>
              </a:endParaRPr>
            </a:p>
          </p:txBody>
        </p:sp>
        <p:grpSp>
          <p:nvGrpSpPr>
            <p:cNvPr id="47119" name="Group 15"/>
            <p:cNvGrpSpPr>
              <a:grpSpLocks/>
            </p:cNvGrpSpPr>
            <p:nvPr/>
          </p:nvGrpSpPr>
          <p:grpSpPr bwMode="auto">
            <a:xfrm>
              <a:off x="1056" y="1472"/>
              <a:ext cx="1200" cy="1408"/>
              <a:chOff x="1056" y="1472"/>
              <a:chExt cx="1200" cy="1408"/>
            </a:xfrm>
          </p:grpSpPr>
          <p:sp>
            <p:nvSpPr>
              <p:cNvPr id="47110" name="Oval 6"/>
              <p:cNvSpPr>
                <a:spLocks noChangeArrowheads="1"/>
              </p:cNvSpPr>
              <p:nvPr/>
            </p:nvSpPr>
            <p:spPr bwMode="auto">
              <a:xfrm>
                <a:off x="1584" y="1472"/>
                <a:ext cx="672" cy="864"/>
              </a:xfrm>
              <a:prstGeom prst="ellipse">
                <a:avLst/>
              </a:prstGeom>
              <a:noFill/>
              <a:ln w="381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7112" name="Freeform 8"/>
              <p:cNvSpPr>
                <a:spLocks/>
              </p:cNvSpPr>
              <p:nvPr/>
            </p:nvSpPr>
            <p:spPr bwMode="auto">
              <a:xfrm>
                <a:off x="1056" y="2304"/>
                <a:ext cx="528" cy="576"/>
              </a:xfrm>
              <a:custGeom>
                <a:avLst/>
                <a:gdLst>
                  <a:gd name="T0" fmla="*/ 628 w 628"/>
                  <a:gd name="T1" fmla="*/ 0 h 662"/>
                  <a:gd name="T2" fmla="*/ 0 w 628"/>
                  <a:gd name="T3" fmla="*/ 662 h 662"/>
                </a:gdLst>
                <a:ahLst/>
                <a:cxnLst>
                  <a:cxn ang="0">
                    <a:pos x="T0" y="T1"/>
                  </a:cxn>
                  <a:cxn ang="0">
                    <a:pos x="T2" y="T3"/>
                  </a:cxn>
                </a:cxnLst>
                <a:rect l="0" t="0" r="r" b="b"/>
                <a:pathLst>
                  <a:path w="628" h="662">
                    <a:moveTo>
                      <a:pt x="628" y="0"/>
                    </a:moveTo>
                    <a:lnTo>
                      <a:pt x="0" y="66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grpSp>
      </p:grpSp>
    </p:spTree>
    <p:extLst>
      <p:ext uri="{BB962C8B-B14F-4D97-AF65-F5344CB8AC3E}">
        <p14:creationId xmlns:p14="http://schemas.microsoft.com/office/powerpoint/2010/main" val="3525364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1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7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Text Box 5"/>
          <p:cNvSpPr txBox="1">
            <a:spLocks noChangeArrowheads="1"/>
          </p:cNvSpPr>
          <p:nvPr/>
        </p:nvSpPr>
        <p:spPr bwMode="auto">
          <a:xfrm>
            <a:off x="1314450" y="342900"/>
            <a:ext cx="4841726"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lvl="1"/>
            <a:r>
              <a:rPr lang="en-GB">
                <a:latin typeface="Arial Rounded MT Bold" pitchFamily="34" charset="0"/>
              </a:rPr>
              <a:t>For K</a:t>
            </a:r>
            <a:r>
              <a:rPr lang="en-GB" baseline="30000">
                <a:latin typeface="Arial Rounded MT Bold" pitchFamily="34" charset="0"/>
              </a:rPr>
              <a:t>+</a:t>
            </a:r>
            <a:r>
              <a:rPr lang="en-GB">
                <a:latin typeface="Arial Rounded MT Bold" pitchFamily="34" charset="0"/>
              </a:rPr>
              <a:t>:</a:t>
            </a:r>
            <a:endParaRPr lang="en-GB" sz="1800">
              <a:latin typeface="Arial Rounded MT Bold" pitchFamily="34" charset="0"/>
            </a:endParaRPr>
          </a:p>
          <a:p>
            <a:pPr lvl="1"/>
            <a:endParaRPr lang="en-GB" sz="1800">
              <a:latin typeface="Arial Rounded MT Bold" pitchFamily="34" charset="0"/>
            </a:endParaRPr>
          </a:p>
          <a:p>
            <a:pPr lvl="1"/>
            <a:r>
              <a:rPr lang="en-GB" sz="2700">
                <a:latin typeface="Arial Rounded MT Bold" pitchFamily="34" charset="0"/>
              </a:rPr>
              <a:t>E</a:t>
            </a:r>
            <a:r>
              <a:rPr lang="en-GB" sz="2700" baseline="-25000">
                <a:latin typeface="Arial Rounded MT Bold" pitchFamily="34" charset="0"/>
              </a:rPr>
              <a:t>K</a:t>
            </a:r>
            <a:r>
              <a:rPr lang="en-GB" sz="2700">
                <a:latin typeface="Arial Rounded MT Bold" pitchFamily="34" charset="0"/>
              </a:rPr>
              <a:t> = -58 </a:t>
            </a:r>
            <a:r>
              <a:rPr lang="en-GB" sz="2700" i="1">
                <a:latin typeface="Arial Rounded MT Bold" pitchFamily="34" charset="0"/>
              </a:rPr>
              <a:t>log</a:t>
            </a:r>
            <a:r>
              <a:rPr lang="en-GB" sz="2700" i="1" baseline="-25000">
                <a:latin typeface="Arial Rounded MT Bold" pitchFamily="34" charset="0"/>
              </a:rPr>
              <a:t>10</a:t>
            </a:r>
            <a:r>
              <a:rPr lang="en-GB" sz="2700" baseline="-25000">
                <a:latin typeface="Arial Rounded MT Bold" pitchFamily="34" charset="0"/>
              </a:rPr>
              <a:t> </a:t>
            </a:r>
            <a:r>
              <a:rPr lang="en-GB" sz="2700" u="sng">
                <a:latin typeface="Arial Rounded MT Bold" pitchFamily="34" charset="0"/>
              </a:rPr>
              <a:t>[K+]</a:t>
            </a:r>
            <a:r>
              <a:rPr lang="en-GB" sz="2700" u="sng" baseline="-25000">
                <a:latin typeface="Arial Rounded MT Bold" pitchFamily="34" charset="0"/>
              </a:rPr>
              <a:t>in</a:t>
            </a:r>
            <a:endParaRPr lang="en-GB" sz="2700" u="sng">
              <a:latin typeface="Arial Rounded MT Bold" pitchFamily="34" charset="0"/>
            </a:endParaRPr>
          </a:p>
          <a:p>
            <a:pPr lvl="1"/>
            <a:r>
              <a:rPr lang="en-GB" sz="2700">
                <a:latin typeface="Arial Rounded MT Bold" pitchFamily="34" charset="0"/>
              </a:rPr>
              <a:t>                          [K+]</a:t>
            </a:r>
            <a:r>
              <a:rPr lang="en-GB" sz="2700" baseline="-25000">
                <a:latin typeface="Arial Rounded MT Bold" pitchFamily="34" charset="0"/>
              </a:rPr>
              <a:t>out</a:t>
            </a:r>
          </a:p>
          <a:p>
            <a:pPr eaLnBrk="0" hangingPunct="0"/>
            <a:endParaRPr lang="en-US" sz="2100">
              <a:latin typeface="Arial Rounded MT Bold" pitchFamily="34" charset="0"/>
            </a:endParaRPr>
          </a:p>
        </p:txBody>
      </p:sp>
      <p:sp>
        <p:nvSpPr>
          <p:cNvPr id="48135" name="Text Box 7"/>
          <p:cNvSpPr txBox="1">
            <a:spLocks noChangeArrowheads="1"/>
          </p:cNvSpPr>
          <p:nvPr/>
        </p:nvSpPr>
        <p:spPr bwMode="auto">
          <a:xfrm>
            <a:off x="1314451" y="2343150"/>
            <a:ext cx="386836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lvl="1"/>
            <a:r>
              <a:rPr lang="en-GB" sz="2700">
                <a:latin typeface="Arial Rounded MT Bold" pitchFamily="34" charset="0"/>
              </a:rPr>
              <a:t>E</a:t>
            </a:r>
            <a:r>
              <a:rPr lang="en-GB" sz="2700" baseline="-25000">
                <a:latin typeface="Arial Rounded MT Bold" pitchFamily="34" charset="0"/>
              </a:rPr>
              <a:t>K</a:t>
            </a:r>
            <a:r>
              <a:rPr lang="en-GB" sz="2700">
                <a:latin typeface="Arial Rounded MT Bold" pitchFamily="34" charset="0"/>
              </a:rPr>
              <a:t> = -58 </a:t>
            </a:r>
            <a:r>
              <a:rPr lang="en-GB" sz="2700" i="1">
                <a:latin typeface="Arial Rounded MT Bold" pitchFamily="34" charset="0"/>
              </a:rPr>
              <a:t>log</a:t>
            </a:r>
            <a:r>
              <a:rPr lang="en-GB" sz="2700" i="1" baseline="-25000">
                <a:latin typeface="Arial Rounded MT Bold" pitchFamily="34" charset="0"/>
              </a:rPr>
              <a:t>10</a:t>
            </a:r>
            <a:r>
              <a:rPr lang="en-GB" sz="2700" baseline="-25000">
                <a:latin typeface="Arial Rounded MT Bold" pitchFamily="34" charset="0"/>
              </a:rPr>
              <a:t> </a:t>
            </a:r>
            <a:r>
              <a:rPr lang="en-GB" sz="2700" u="sng">
                <a:latin typeface="Arial Rounded MT Bold" pitchFamily="34" charset="0"/>
              </a:rPr>
              <a:t>[150]</a:t>
            </a:r>
          </a:p>
          <a:p>
            <a:pPr lvl="1"/>
            <a:r>
              <a:rPr lang="en-GB" sz="2700">
                <a:latin typeface="Arial Rounded MT Bold" pitchFamily="34" charset="0"/>
              </a:rPr>
              <a:t>                            [5]</a:t>
            </a:r>
            <a:endParaRPr lang="en-US" sz="2700" baseline="-25000">
              <a:latin typeface="Arial Rounded MT Bold" pitchFamily="34" charset="0"/>
            </a:endParaRPr>
          </a:p>
        </p:txBody>
      </p:sp>
      <p:sp>
        <p:nvSpPr>
          <p:cNvPr id="48136" name="Text Box 8"/>
          <p:cNvSpPr txBox="1">
            <a:spLocks noChangeArrowheads="1"/>
          </p:cNvSpPr>
          <p:nvPr/>
        </p:nvSpPr>
        <p:spPr bwMode="auto">
          <a:xfrm>
            <a:off x="1314451" y="3684985"/>
            <a:ext cx="268535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lvl="1"/>
            <a:r>
              <a:rPr lang="en-GB" sz="2700" dirty="0">
                <a:latin typeface="Arial Rounded MT Bold" pitchFamily="34" charset="0"/>
              </a:rPr>
              <a:t>E</a:t>
            </a:r>
            <a:r>
              <a:rPr lang="en-GB" sz="2700" baseline="-25000" dirty="0">
                <a:latin typeface="Arial Rounded MT Bold" pitchFamily="34" charset="0"/>
              </a:rPr>
              <a:t>K</a:t>
            </a:r>
            <a:r>
              <a:rPr lang="en-GB" sz="2700" dirty="0">
                <a:latin typeface="Arial Rounded MT Bold" pitchFamily="34" charset="0"/>
              </a:rPr>
              <a:t> </a:t>
            </a:r>
            <a:r>
              <a:rPr lang="en-GB" sz="2700" dirty="0">
                <a:latin typeface="Arial Rounded MT Bold" pitchFamily="34" charset="0"/>
                <a:sym typeface="Symbol" pitchFamily="18" charset="2"/>
              </a:rPr>
              <a:t></a:t>
            </a:r>
            <a:r>
              <a:rPr lang="en-GB" sz="2700" dirty="0">
                <a:latin typeface="Arial Rounded MT Bold" pitchFamily="34" charset="0"/>
              </a:rPr>
              <a:t> -86 mV</a:t>
            </a:r>
            <a:endParaRPr lang="en-US" sz="2100" dirty="0">
              <a:latin typeface="Arial Rounded MT Bold" pitchFamily="34" charset="0"/>
            </a:endParaRPr>
          </a:p>
        </p:txBody>
      </p:sp>
    </p:spTree>
    <p:extLst>
      <p:ext uri="{BB962C8B-B14F-4D97-AF65-F5344CB8AC3E}">
        <p14:creationId xmlns:p14="http://schemas.microsoft.com/office/powerpoint/2010/main" val="8249484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81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autoUpdateAnimBg="0"/>
      <p:bldP spid="48136"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45DE6-1EEB-7E59-8386-075EE3F0D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15786-9CF7-0224-0095-902CD76133DB}"/>
              </a:ext>
            </a:extLst>
          </p:cNvPr>
          <p:cNvSpPr>
            <a:spLocks noGrp="1"/>
          </p:cNvSpPr>
          <p:nvPr>
            <p:ph type="title"/>
          </p:nvPr>
        </p:nvSpPr>
        <p:spPr>
          <a:xfrm>
            <a:off x="395536" y="411510"/>
            <a:ext cx="8640960" cy="857250"/>
          </a:xfrm>
        </p:spPr>
        <p:txBody>
          <a:bodyPr/>
          <a:lstStyle/>
          <a:p>
            <a:r>
              <a:rPr lang="en-GB" dirty="0"/>
              <a:t>Equilibrium potentials, </a:t>
            </a:r>
            <a:r>
              <a:rPr lang="en-GB" dirty="0" err="1"/>
              <a:t>E</a:t>
            </a:r>
            <a:r>
              <a:rPr lang="en-GB" baseline="-25000" dirty="0" err="1"/>
              <a:t>ion</a:t>
            </a:r>
            <a:r>
              <a:rPr lang="en-GB" dirty="0"/>
              <a:t> are different for each ion</a:t>
            </a:r>
          </a:p>
        </p:txBody>
      </p:sp>
      <p:graphicFrame>
        <p:nvGraphicFramePr>
          <p:cNvPr id="4" name="Content Placeholder 3">
            <a:extLst>
              <a:ext uri="{FF2B5EF4-FFF2-40B4-BE49-F238E27FC236}">
                <a16:creationId xmlns:a16="http://schemas.microsoft.com/office/drawing/2014/main" id="{70D0D50B-61EE-EE8D-DBE5-E05EBA36C44F}"/>
              </a:ext>
            </a:extLst>
          </p:cNvPr>
          <p:cNvGraphicFramePr>
            <a:graphicFrameLocks/>
          </p:cNvGraphicFramePr>
          <p:nvPr/>
        </p:nvGraphicFramePr>
        <p:xfrm>
          <a:off x="1259632" y="1132265"/>
          <a:ext cx="6624736" cy="2592290"/>
        </p:xfrm>
        <a:graphic>
          <a:graphicData uri="http://schemas.openxmlformats.org/drawingml/2006/table">
            <a:tbl>
              <a:tblPr firstRow="1" bandRow="1">
                <a:tableStyleId>{1E171933-4619-4E11-9A3F-F7608DF75F80}</a:tableStyleId>
              </a:tblPr>
              <a:tblGrid>
                <a:gridCol w="1656184">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1656184">
                  <a:extLst>
                    <a:ext uri="{9D8B030D-6E8A-4147-A177-3AD203B41FA5}">
                      <a16:colId xmlns:a16="http://schemas.microsoft.com/office/drawing/2014/main" val="20002"/>
                    </a:ext>
                  </a:extLst>
                </a:gridCol>
                <a:gridCol w="1656184">
                  <a:extLst>
                    <a:ext uri="{9D8B030D-6E8A-4147-A177-3AD203B41FA5}">
                      <a16:colId xmlns:a16="http://schemas.microsoft.com/office/drawing/2014/main" val="20003"/>
                    </a:ext>
                  </a:extLst>
                </a:gridCol>
              </a:tblGrid>
              <a:tr h="518458">
                <a:tc>
                  <a:txBody>
                    <a:bodyPr/>
                    <a:lstStyle/>
                    <a:p>
                      <a:pPr algn="ctr"/>
                      <a:r>
                        <a:rPr lang="en-GB" sz="2000" dirty="0"/>
                        <a:t>Ion</a:t>
                      </a:r>
                    </a:p>
                  </a:txBody>
                  <a:tcPr marL="91437" marR="91437" marT="45733" marB="45733" anchor="ctr"/>
                </a:tc>
                <a:tc>
                  <a:txBody>
                    <a:bodyPr/>
                    <a:lstStyle/>
                    <a:p>
                      <a:pPr algn="ctr"/>
                      <a:r>
                        <a:rPr lang="en-GB" sz="2000" dirty="0"/>
                        <a:t>[ICF]</a:t>
                      </a:r>
                    </a:p>
                  </a:txBody>
                  <a:tcPr marL="91437" marR="91437" marT="45733" marB="45733" anchor="ctr"/>
                </a:tc>
                <a:tc>
                  <a:txBody>
                    <a:bodyPr/>
                    <a:lstStyle/>
                    <a:p>
                      <a:pPr algn="ctr"/>
                      <a:r>
                        <a:rPr lang="en-GB" sz="2000" dirty="0"/>
                        <a:t>[ECF]</a:t>
                      </a:r>
                    </a:p>
                  </a:txBody>
                  <a:tcPr marL="91437" marR="91437" marT="45733" marB="45733" anchor="ctr"/>
                </a:tc>
                <a:tc>
                  <a:txBody>
                    <a:bodyPr/>
                    <a:lstStyle/>
                    <a:p>
                      <a:pPr algn="ctr"/>
                      <a:r>
                        <a:rPr lang="en-GB" sz="2000" dirty="0" err="1"/>
                        <a:t>E</a:t>
                      </a:r>
                      <a:r>
                        <a:rPr lang="en-GB" sz="2000" baseline="-25000" dirty="0" err="1"/>
                        <a:t>ion</a:t>
                      </a:r>
                      <a:endParaRPr lang="en-GB" sz="2000" baseline="-25000" dirty="0"/>
                    </a:p>
                  </a:txBody>
                  <a:tcPr marL="91437" marR="91437" marT="45733" marB="45733" anchor="ctr"/>
                </a:tc>
                <a:extLst>
                  <a:ext uri="{0D108BD9-81ED-4DB2-BD59-A6C34878D82A}">
                    <a16:rowId xmlns:a16="http://schemas.microsoft.com/office/drawing/2014/main" val="10000"/>
                  </a:ext>
                </a:extLst>
              </a:tr>
              <a:tr h="518458">
                <a:tc>
                  <a:txBody>
                    <a:bodyPr/>
                    <a:lstStyle/>
                    <a:p>
                      <a:pPr algn="ctr"/>
                      <a:r>
                        <a:rPr lang="en-GB" sz="2000" dirty="0"/>
                        <a:t>K</a:t>
                      </a:r>
                      <a:r>
                        <a:rPr lang="en-GB" sz="2000" baseline="30000" dirty="0"/>
                        <a:t>+</a:t>
                      </a:r>
                    </a:p>
                  </a:txBody>
                  <a:tcPr marL="91437" marR="91437" marT="45733" marB="45733" anchor="ctr"/>
                </a:tc>
                <a:tc>
                  <a:txBody>
                    <a:bodyPr/>
                    <a:lstStyle/>
                    <a:p>
                      <a:pPr algn="ctr"/>
                      <a:r>
                        <a:rPr lang="en-GB" sz="2000" dirty="0"/>
                        <a:t>100mM</a:t>
                      </a:r>
                    </a:p>
                  </a:txBody>
                  <a:tcPr marL="91437" marR="91437" marT="45733" marB="45733" anchor="ctr"/>
                </a:tc>
                <a:tc>
                  <a:txBody>
                    <a:bodyPr/>
                    <a:lstStyle/>
                    <a:p>
                      <a:pPr algn="ctr"/>
                      <a:r>
                        <a:rPr lang="en-GB" sz="2000" dirty="0"/>
                        <a:t>5mM</a:t>
                      </a:r>
                    </a:p>
                  </a:txBody>
                  <a:tcPr marL="91437" marR="91437" marT="45733" marB="45733" anchor="ctr"/>
                </a:tc>
                <a:tc>
                  <a:txBody>
                    <a:bodyPr/>
                    <a:lstStyle/>
                    <a:p>
                      <a:pPr algn="ctr"/>
                      <a:r>
                        <a:rPr lang="en-GB" sz="2000" dirty="0"/>
                        <a:t>-80mV</a:t>
                      </a:r>
                    </a:p>
                  </a:txBody>
                  <a:tcPr marL="91437" marR="91437" marT="45733" marB="45733" anchor="ctr"/>
                </a:tc>
                <a:extLst>
                  <a:ext uri="{0D108BD9-81ED-4DB2-BD59-A6C34878D82A}">
                    <a16:rowId xmlns:a16="http://schemas.microsoft.com/office/drawing/2014/main" val="10001"/>
                  </a:ext>
                </a:extLst>
              </a:tr>
              <a:tr h="518458">
                <a:tc>
                  <a:txBody>
                    <a:bodyPr/>
                    <a:lstStyle/>
                    <a:p>
                      <a:pPr algn="ctr"/>
                      <a:r>
                        <a:rPr lang="en-GB" sz="2000" dirty="0"/>
                        <a:t>Na</a:t>
                      </a:r>
                      <a:r>
                        <a:rPr lang="en-GB" sz="2000" baseline="30000" dirty="0"/>
                        <a:t>+</a:t>
                      </a:r>
                    </a:p>
                  </a:txBody>
                  <a:tcPr marL="91437" marR="91437" marT="45733" marB="45733" anchor="ctr"/>
                </a:tc>
                <a:tc>
                  <a:txBody>
                    <a:bodyPr/>
                    <a:lstStyle/>
                    <a:p>
                      <a:pPr algn="ctr"/>
                      <a:r>
                        <a:rPr lang="en-GB" sz="2000" dirty="0"/>
                        <a:t>15mM</a:t>
                      </a:r>
                    </a:p>
                  </a:txBody>
                  <a:tcPr marL="91437" marR="91437" marT="45733" marB="45733" anchor="ctr"/>
                </a:tc>
                <a:tc>
                  <a:txBody>
                    <a:bodyPr/>
                    <a:lstStyle/>
                    <a:p>
                      <a:pPr algn="ctr"/>
                      <a:r>
                        <a:rPr lang="en-GB" sz="2000" dirty="0"/>
                        <a:t>150mM</a:t>
                      </a:r>
                    </a:p>
                  </a:txBody>
                  <a:tcPr marL="91437" marR="91437" marT="45733" marB="45733" anchor="ctr"/>
                </a:tc>
                <a:tc>
                  <a:txBody>
                    <a:bodyPr/>
                    <a:lstStyle/>
                    <a:p>
                      <a:pPr algn="ctr"/>
                      <a:r>
                        <a:rPr lang="en-GB" sz="2000" dirty="0"/>
                        <a:t>+62mV</a:t>
                      </a:r>
                    </a:p>
                  </a:txBody>
                  <a:tcPr marL="91437" marR="91437" marT="45733" marB="45733" anchor="ctr"/>
                </a:tc>
                <a:extLst>
                  <a:ext uri="{0D108BD9-81ED-4DB2-BD59-A6C34878D82A}">
                    <a16:rowId xmlns:a16="http://schemas.microsoft.com/office/drawing/2014/main" val="10002"/>
                  </a:ext>
                </a:extLst>
              </a:tr>
              <a:tr h="518458">
                <a:tc>
                  <a:txBody>
                    <a:bodyPr/>
                    <a:lstStyle/>
                    <a:p>
                      <a:pPr algn="ctr"/>
                      <a:r>
                        <a:rPr lang="en-GB" sz="2000" dirty="0" err="1"/>
                        <a:t>Cl</a:t>
                      </a:r>
                      <a:r>
                        <a:rPr lang="en-GB" sz="2000" baseline="30000" dirty="0"/>
                        <a:t>-</a:t>
                      </a:r>
                    </a:p>
                  </a:txBody>
                  <a:tcPr marL="91437" marR="91437" marT="45733" marB="45733" anchor="ctr"/>
                </a:tc>
                <a:tc>
                  <a:txBody>
                    <a:bodyPr/>
                    <a:lstStyle/>
                    <a:p>
                      <a:pPr algn="ctr"/>
                      <a:r>
                        <a:rPr lang="en-GB" sz="2000" dirty="0"/>
                        <a:t>13mM</a:t>
                      </a:r>
                    </a:p>
                  </a:txBody>
                  <a:tcPr marL="91437" marR="91437" marT="45733" marB="45733" anchor="ctr"/>
                </a:tc>
                <a:tc>
                  <a:txBody>
                    <a:bodyPr/>
                    <a:lstStyle/>
                    <a:p>
                      <a:pPr algn="ctr"/>
                      <a:r>
                        <a:rPr lang="en-GB" sz="2000" dirty="0"/>
                        <a:t>150mM</a:t>
                      </a:r>
                    </a:p>
                  </a:txBody>
                  <a:tcPr marL="91437" marR="91437" marT="45733" marB="45733" anchor="ctr"/>
                </a:tc>
                <a:tc>
                  <a:txBody>
                    <a:bodyPr/>
                    <a:lstStyle/>
                    <a:p>
                      <a:pPr algn="ctr"/>
                      <a:r>
                        <a:rPr lang="en-GB" sz="2000" dirty="0"/>
                        <a:t>-65mV</a:t>
                      </a:r>
                    </a:p>
                  </a:txBody>
                  <a:tcPr marL="91437" marR="91437" marT="45733" marB="45733" anchor="ctr"/>
                </a:tc>
                <a:extLst>
                  <a:ext uri="{0D108BD9-81ED-4DB2-BD59-A6C34878D82A}">
                    <a16:rowId xmlns:a16="http://schemas.microsoft.com/office/drawing/2014/main" val="10003"/>
                  </a:ext>
                </a:extLst>
              </a:tr>
              <a:tr h="518458">
                <a:tc>
                  <a:txBody>
                    <a:bodyPr/>
                    <a:lstStyle/>
                    <a:p>
                      <a:pPr algn="ctr"/>
                      <a:r>
                        <a:rPr lang="en-GB" sz="2000" dirty="0"/>
                        <a:t>Ca</a:t>
                      </a:r>
                      <a:r>
                        <a:rPr lang="en-GB" sz="2000" baseline="30000" dirty="0"/>
                        <a:t>2+</a:t>
                      </a:r>
                    </a:p>
                  </a:txBody>
                  <a:tcPr marL="91437" marR="91437" marT="45733" marB="45733" anchor="ctr"/>
                </a:tc>
                <a:tc>
                  <a:txBody>
                    <a:bodyPr/>
                    <a:lstStyle/>
                    <a:p>
                      <a:pPr algn="ctr"/>
                      <a:r>
                        <a:rPr lang="en-GB" sz="2000" dirty="0"/>
                        <a:t>0.0002mM</a:t>
                      </a:r>
                    </a:p>
                  </a:txBody>
                  <a:tcPr marL="91437" marR="91437" marT="45733" marB="45733" anchor="ctr"/>
                </a:tc>
                <a:tc>
                  <a:txBody>
                    <a:bodyPr/>
                    <a:lstStyle/>
                    <a:p>
                      <a:pPr algn="ctr"/>
                      <a:r>
                        <a:rPr lang="en-GB" sz="2000" dirty="0"/>
                        <a:t>2mM</a:t>
                      </a:r>
                    </a:p>
                  </a:txBody>
                  <a:tcPr marL="91437" marR="91437" marT="45733" marB="45733" anchor="ctr"/>
                </a:tc>
                <a:tc>
                  <a:txBody>
                    <a:bodyPr/>
                    <a:lstStyle/>
                    <a:p>
                      <a:pPr algn="ctr"/>
                      <a:r>
                        <a:rPr lang="en-GB" sz="2000" dirty="0"/>
                        <a:t>+123mV</a:t>
                      </a:r>
                    </a:p>
                  </a:txBody>
                  <a:tcPr marL="91437" marR="91437" marT="45733" marB="45733" anchor="ct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42486A74-3319-3D43-A5A6-371F0D28CDB3}"/>
              </a:ext>
            </a:extLst>
          </p:cNvPr>
          <p:cNvSpPr txBox="1"/>
          <p:nvPr/>
        </p:nvSpPr>
        <p:spPr>
          <a:xfrm>
            <a:off x="6084168" y="4834496"/>
            <a:ext cx="3082895" cy="369332"/>
          </a:xfrm>
          <a:prstGeom prst="rect">
            <a:avLst/>
          </a:prstGeom>
          <a:noFill/>
        </p:spPr>
        <p:txBody>
          <a:bodyPr wrap="none" rtlCol="0">
            <a:spAutoFit/>
          </a:bodyPr>
          <a:lstStyle/>
          <a:p>
            <a:r>
              <a:rPr lang="en-GB" sz="1800" b="0" dirty="0"/>
              <a:t>Bear Neuroscience 4e. Ch3.</a:t>
            </a:r>
          </a:p>
        </p:txBody>
      </p:sp>
      <p:sp>
        <p:nvSpPr>
          <p:cNvPr id="5" name="TextBox 4">
            <a:extLst>
              <a:ext uri="{FF2B5EF4-FFF2-40B4-BE49-F238E27FC236}">
                <a16:creationId xmlns:a16="http://schemas.microsoft.com/office/drawing/2014/main" id="{2E8E5745-F22A-BE66-3AA6-17D9475C6AAC}"/>
              </a:ext>
            </a:extLst>
          </p:cNvPr>
          <p:cNvSpPr txBox="1"/>
          <p:nvPr/>
        </p:nvSpPr>
        <p:spPr>
          <a:xfrm>
            <a:off x="2893757" y="3997867"/>
            <a:ext cx="6142739" cy="584775"/>
          </a:xfrm>
          <a:prstGeom prst="rect">
            <a:avLst/>
          </a:prstGeom>
          <a:noFill/>
        </p:spPr>
        <p:txBody>
          <a:bodyPr wrap="square" rtlCol="0">
            <a:spAutoFit/>
          </a:bodyPr>
          <a:lstStyle/>
          <a:p>
            <a:pPr algn="ctr"/>
            <a:r>
              <a:rPr lang="en-GB" sz="1600" b="0" i="1" dirty="0" err="1"/>
              <a:t>E</a:t>
            </a:r>
            <a:r>
              <a:rPr lang="en-GB" sz="1400" b="0" i="1" baseline="-25000" dirty="0" err="1"/>
              <a:t>ion</a:t>
            </a:r>
            <a:r>
              <a:rPr lang="en-GB" sz="1600" b="0" i="1" dirty="0"/>
              <a:t> is the membrane potential that would be achieved (at body temp) if the membrane was selectively permeable to that ion </a:t>
            </a:r>
          </a:p>
        </p:txBody>
      </p:sp>
    </p:spTree>
    <p:extLst>
      <p:ext uri="{BB962C8B-B14F-4D97-AF65-F5344CB8AC3E}">
        <p14:creationId xmlns:p14="http://schemas.microsoft.com/office/powerpoint/2010/main" val="1890271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3B8129-0C31-4F05-8B7A-9957269DE49F}"/>
              </a:ext>
            </a:extLst>
          </p:cNvPr>
          <p:cNvPicPr>
            <a:picLocks noChangeAspect="1"/>
          </p:cNvPicPr>
          <p:nvPr/>
        </p:nvPicPr>
        <p:blipFill>
          <a:blip r:embed="rId3"/>
          <a:stretch>
            <a:fillRect/>
          </a:stretch>
        </p:blipFill>
        <p:spPr>
          <a:xfrm>
            <a:off x="5885176" y="0"/>
            <a:ext cx="3111132" cy="5143500"/>
          </a:xfrm>
          <a:prstGeom prst="rect">
            <a:avLst/>
          </a:prstGeom>
        </p:spPr>
      </p:pic>
      <p:sp>
        <p:nvSpPr>
          <p:cNvPr id="6" name="Rectangle 5">
            <a:extLst>
              <a:ext uri="{FF2B5EF4-FFF2-40B4-BE49-F238E27FC236}">
                <a16:creationId xmlns:a16="http://schemas.microsoft.com/office/drawing/2014/main" id="{F0D20728-377D-446E-9BE1-CB27012CF4D2}"/>
              </a:ext>
            </a:extLst>
          </p:cNvPr>
          <p:cNvSpPr/>
          <p:nvPr/>
        </p:nvSpPr>
        <p:spPr>
          <a:xfrm>
            <a:off x="6786246" y="87474"/>
            <a:ext cx="648072" cy="49685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100"/>
          </a:p>
        </p:txBody>
      </p:sp>
      <p:sp>
        <p:nvSpPr>
          <p:cNvPr id="7" name="TextBox 6">
            <a:extLst>
              <a:ext uri="{FF2B5EF4-FFF2-40B4-BE49-F238E27FC236}">
                <a16:creationId xmlns:a16="http://schemas.microsoft.com/office/drawing/2014/main" id="{CEE4B154-D7DA-4566-A927-26FFA688CDD0}"/>
              </a:ext>
            </a:extLst>
          </p:cNvPr>
          <p:cNvSpPr txBox="1"/>
          <p:nvPr/>
        </p:nvSpPr>
        <p:spPr>
          <a:xfrm>
            <a:off x="0" y="95281"/>
            <a:ext cx="5724127" cy="646331"/>
          </a:xfrm>
          <a:prstGeom prst="rect">
            <a:avLst/>
          </a:prstGeom>
          <a:noFill/>
        </p:spPr>
        <p:txBody>
          <a:bodyPr wrap="square" rtlCol="0">
            <a:spAutoFit/>
          </a:bodyPr>
          <a:lstStyle/>
          <a:p>
            <a:pPr algn="just"/>
            <a:r>
              <a:rPr lang="en-MY" sz="1800" dirty="0">
                <a:solidFill>
                  <a:srgbClr val="FF0000"/>
                </a:solidFill>
              </a:rPr>
              <a:t>The electrochemical gradients established for different ions in a stable membrane (Some facts)</a:t>
            </a:r>
          </a:p>
        </p:txBody>
      </p:sp>
      <p:pic>
        <p:nvPicPr>
          <p:cNvPr id="8" name="Picture 7">
            <a:extLst>
              <a:ext uri="{FF2B5EF4-FFF2-40B4-BE49-F238E27FC236}">
                <a16:creationId xmlns:a16="http://schemas.microsoft.com/office/drawing/2014/main" id="{1C64F38D-D285-43D0-BB7C-B60537C54DF1}"/>
              </a:ext>
            </a:extLst>
          </p:cNvPr>
          <p:cNvPicPr>
            <a:picLocks noChangeAspect="1"/>
          </p:cNvPicPr>
          <p:nvPr/>
        </p:nvPicPr>
        <p:blipFill rotWithShape="1">
          <a:blip r:embed="rId3"/>
          <a:srcRect l="81317" b="68900"/>
          <a:stretch/>
        </p:blipFill>
        <p:spPr>
          <a:xfrm>
            <a:off x="6816517" y="249492"/>
            <a:ext cx="581243" cy="1599642"/>
          </a:xfrm>
          <a:prstGeom prst="rect">
            <a:avLst/>
          </a:prstGeom>
        </p:spPr>
      </p:pic>
      <p:sp>
        <p:nvSpPr>
          <p:cNvPr id="9" name="Text Box 4">
            <a:extLst>
              <a:ext uri="{FF2B5EF4-FFF2-40B4-BE49-F238E27FC236}">
                <a16:creationId xmlns:a16="http://schemas.microsoft.com/office/drawing/2014/main" id="{A3613C8F-911B-40D8-8BE2-2BFA6862B4C3}"/>
              </a:ext>
            </a:extLst>
          </p:cNvPr>
          <p:cNvSpPr txBox="1">
            <a:spLocks noChangeArrowheads="1"/>
          </p:cNvSpPr>
          <p:nvPr/>
        </p:nvSpPr>
        <p:spPr bwMode="auto">
          <a:xfrm>
            <a:off x="3548615" y="4522170"/>
            <a:ext cx="15491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dirty="0">
                <a:latin typeface="Arial Rounded MT Bold" pitchFamily="34" charset="0"/>
              </a:rPr>
              <a:t>So what?</a:t>
            </a:r>
            <a:endParaRPr lang="en-US" sz="2100" dirty="0">
              <a:latin typeface="Arial Rounded MT Bold" pitchFamily="34" charset="0"/>
            </a:endParaRPr>
          </a:p>
        </p:txBody>
      </p:sp>
      <p:pic>
        <p:nvPicPr>
          <p:cNvPr id="10" name="Picture 9">
            <a:extLst>
              <a:ext uri="{FF2B5EF4-FFF2-40B4-BE49-F238E27FC236}">
                <a16:creationId xmlns:a16="http://schemas.microsoft.com/office/drawing/2014/main" id="{7BBC3BEE-330F-4320-867F-250F6F8F498E}"/>
              </a:ext>
            </a:extLst>
          </p:cNvPr>
          <p:cNvPicPr>
            <a:picLocks noChangeAspect="1"/>
          </p:cNvPicPr>
          <p:nvPr/>
        </p:nvPicPr>
        <p:blipFill rotWithShape="1">
          <a:blip r:embed="rId3"/>
          <a:srcRect l="81317" t="31100" b="33201"/>
          <a:stretch/>
        </p:blipFill>
        <p:spPr>
          <a:xfrm>
            <a:off x="6774221" y="1599642"/>
            <a:ext cx="581243" cy="1836204"/>
          </a:xfrm>
          <a:prstGeom prst="rect">
            <a:avLst/>
          </a:prstGeom>
        </p:spPr>
      </p:pic>
      <p:pic>
        <p:nvPicPr>
          <p:cNvPr id="11" name="Picture 10">
            <a:extLst>
              <a:ext uri="{FF2B5EF4-FFF2-40B4-BE49-F238E27FC236}">
                <a16:creationId xmlns:a16="http://schemas.microsoft.com/office/drawing/2014/main" id="{CA290AE0-4A1C-45A1-B72A-FA23924D0977}"/>
              </a:ext>
            </a:extLst>
          </p:cNvPr>
          <p:cNvPicPr>
            <a:picLocks noChangeAspect="1"/>
          </p:cNvPicPr>
          <p:nvPr/>
        </p:nvPicPr>
        <p:blipFill rotWithShape="1">
          <a:blip r:embed="rId3"/>
          <a:srcRect l="81317" t="66800"/>
          <a:stretch/>
        </p:blipFill>
        <p:spPr>
          <a:xfrm>
            <a:off x="6822406" y="3435846"/>
            <a:ext cx="581243" cy="1707654"/>
          </a:xfrm>
          <a:prstGeom prst="rect">
            <a:avLst/>
          </a:prstGeom>
        </p:spPr>
      </p:pic>
      <p:sp>
        <p:nvSpPr>
          <p:cNvPr id="12" name="TextBox 11">
            <a:extLst>
              <a:ext uri="{FF2B5EF4-FFF2-40B4-BE49-F238E27FC236}">
                <a16:creationId xmlns:a16="http://schemas.microsoft.com/office/drawing/2014/main" id="{D25611DE-9CD6-45E2-A5BC-ED304386B793}"/>
              </a:ext>
            </a:extLst>
          </p:cNvPr>
          <p:cNvSpPr txBox="1"/>
          <p:nvPr/>
        </p:nvSpPr>
        <p:spPr>
          <a:xfrm>
            <a:off x="190675" y="983497"/>
            <a:ext cx="5043324" cy="923330"/>
          </a:xfrm>
          <a:prstGeom prst="rect">
            <a:avLst/>
          </a:prstGeom>
          <a:noFill/>
        </p:spPr>
        <p:txBody>
          <a:bodyPr wrap="square" rtlCol="0">
            <a:spAutoFit/>
          </a:bodyPr>
          <a:lstStyle/>
          <a:p>
            <a:r>
              <a:rPr lang="en-MY" sz="1800" b="0" dirty="0"/>
              <a:t>A. Large concentration gradient for K favours movement out of the cell but negative RMP partially opposes</a:t>
            </a:r>
          </a:p>
        </p:txBody>
      </p:sp>
      <p:sp>
        <p:nvSpPr>
          <p:cNvPr id="13" name="TextBox 12">
            <a:extLst>
              <a:ext uri="{FF2B5EF4-FFF2-40B4-BE49-F238E27FC236}">
                <a16:creationId xmlns:a16="http://schemas.microsoft.com/office/drawing/2014/main" id="{549BBBB8-3FF6-4FBB-A085-C32FFD78DC41}"/>
              </a:ext>
            </a:extLst>
          </p:cNvPr>
          <p:cNvSpPr txBox="1"/>
          <p:nvPr/>
        </p:nvSpPr>
        <p:spPr>
          <a:xfrm>
            <a:off x="190674" y="2147143"/>
            <a:ext cx="5389437" cy="1200329"/>
          </a:xfrm>
          <a:prstGeom prst="rect">
            <a:avLst/>
          </a:prstGeom>
          <a:noFill/>
        </p:spPr>
        <p:txBody>
          <a:bodyPr wrap="square" rtlCol="0">
            <a:spAutoFit/>
          </a:bodyPr>
          <a:lstStyle/>
          <a:p>
            <a:r>
              <a:rPr lang="en-MY" sz="1800" b="0" dirty="0"/>
              <a:t>B. Gradients favours Na movement inside. Only the relative non-permeability of the membrane &amp; action of Na-K Pump maintain this electrochemical gradient</a:t>
            </a:r>
          </a:p>
        </p:txBody>
      </p:sp>
      <p:sp>
        <p:nvSpPr>
          <p:cNvPr id="14" name="TextBox 13">
            <a:extLst>
              <a:ext uri="{FF2B5EF4-FFF2-40B4-BE49-F238E27FC236}">
                <a16:creationId xmlns:a16="http://schemas.microsoft.com/office/drawing/2014/main" id="{24DC3692-8312-45BA-9AE6-21F07851BCAC}"/>
              </a:ext>
            </a:extLst>
          </p:cNvPr>
          <p:cNvSpPr txBox="1"/>
          <p:nvPr/>
        </p:nvSpPr>
        <p:spPr>
          <a:xfrm>
            <a:off x="223719" y="3553789"/>
            <a:ext cx="5356392" cy="923330"/>
          </a:xfrm>
          <a:prstGeom prst="rect">
            <a:avLst/>
          </a:prstGeom>
          <a:noFill/>
        </p:spPr>
        <p:txBody>
          <a:bodyPr wrap="square" rtlCol="0">
            <a:spAutoFit/>
          </a:bodyPr>
          <a:lstStyle/>
          <a:p>
            <a:r>
              <a:rPr lang="en-MY" sz="1800" b="0" dirty="0"/>
              <a:t>C. Cl has inward concentration gradient but as it is (-)</a:t>
            </a:r>
            <a:r>
              <a:rPr lang="en-MY" sz="1800" b="0" dirty="0" err="1"/>
              <a:t>ve</a:t>
            </a:r>
            <a:r>
              <a:rPr lang="en-MY" sz="1800" b="0" dirty="0"/>
              <a:t> </a:t>
            </a:r>
            <a:r>
              <a:rPr lang="en-MY" sz="1800" b="0" dirty="0" err="1"/>
              <a:t>ly</a:t>
            </a:r>
            <a:r>
              <a:rPr lang="en-MY" sz="1800" b="0" dirty="0"/>
              <a:t> charged , the negative RMP opposes the inward movement</a:t>
            </a:r>
          </a:p>
        </p:txBody>
      </p:sp>
    </p:spTree>
    <p:extLst>
      <p:ext uri="{BB962C8B-B14F-4D97-AF65-F5344CB8AC3E}">
        <p14:creationId xmlns:p14="http://schemas.microsoft.com/office/powerpoint/2010/main" val="391487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heel(1)">
                                      <p:cBhvr>
                                        <p:cTn id="20" dur="2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down)">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autoUpdateAnimBg="0"/>
      <p:bldP spid="12" grpId="0"/>
      <p:bldP spid="1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79512" y="228600"/>
            <a:ext cx="8856984" cy="1485900"/>
          </a:xfrm>
          <a:noFill/>
          <a:ln/>
        </p:spPr>
        <p:txBody>
          <a:bodyPr>
            <a:normAutofit/>
          </a:bodyPr>
          <a:lstStyle/>
          <a:p>
            <a:pPr algn="l"/>
            <a:r>
              <a:rPr lang="en-GB" sz="2400" b="1" dirty="0">
                <a:solidFill>
                  <a:srgbClr val="FF0000"/>
                </a:solidFill>
                <a:latin typeface="Arial Rounded MT Bold" pitchFamily="34" charset="0"/>
              </a:rPr>
              <a:t>All the potentials generated by the different ion gradients sum to give the Resting Membrane Potential (RMP) of the entire membrane</a:t>
            </a:r>
          </a:p>
        </p:txBody>
      </p:sp>
      <p:sp>
        <p:nvSpPr>
          <p:cNvPr id="50179" name="Rectangle 3"/>
          <p:cNvSpPr>
            <a:spLocks noGrp="1" noChangeArrowheads="1"/>
          </p:cNvSpPr>
          <p:nvPr>
            <p:ph type="body" idx="1"/>
          </p:nvPr>
        </p:nvSpPr>
        <p:spPr>
          <a:xfrm>
            <a:off x="1371600" y="4229100"/>
            <a:ext cx="5829300" cy="457200"/>
          </a:xfrm>
          <a:noFill/>
          <a:ln/>
        </p:spPr>
        <p:txBody>
          <a:bodyPr/>
          <a:lstStyle/>
          <a:p>
            <a:pPr>
              <a:lnSpc>
                <a:spcPct val="90000"/>
              </a:lnSpc>
            </a:pPr>
            <a:r>
              <a:rPr lang="en-GB" b="1" dirty="0">
                <a:latin typeface="Arial Rounded MT Bold" pitchFamily="34" charset="0"/>
              </a:rPr>
              <a:t>P</a:t>
            </a:r>
            <a:r>
              <a:rPr lang="en-GB" b="1" baseline="-25000" dirty="0">
                <a:latin typeface="Arial Rounded MT Bold" pitchFamily="34" charset="0"/>
              </a:rPr>
              <a:t>K+</a:t>
            </a:r>
            <a:r>
              <a:rPr lang="en-GB" b="1" dirty="0">
                <a:latin typeface="Arial Rounded MT Bold" pitchFamily="34" charset="0"/>
              </a:rPr>
              <a:t> &gt;&gt; P</a:t>
            </a:r>
            <a:r>
              <a:rPr lang="en-GB" b="1" baseline="-25000" dirty="0">
                <a:latin typeface="Arial Rounded MT Bold" pitchFamily="34" charset="0"/>
              </a:rPr>
              <a:t>Na+</a:t>
            </a:r>
            <a:r>
              <a:rPr lang="en-GB" b="1" dirty="0">
                <a:latin typeface="Arial Rounded MT Bold" pitchFamily="34" charset="0"/>
              </a:rPr>
              <a:t> &gt;&gt; </a:t>
            </a:r>
            <a:r>
              <a:rPr lang="en-GB" b="1" dirty="0" err="1">
                <a:latin typeface="Arial Rounded MT Bold" pitchFamily="34" charset="0"/>
              </a:rPr>
              <a:t>P</a:t>
            </a:r>
            <a:r>
              <a:rPr lang="en-GB" b="1" baseline="-25000" dirty="0" err="1">
                <a:latin typeface="Arial Rounded MT Bold" pitchFamily="34" charset="0"/>
              </a:rPr>
              <a:t>Cl</a:t>
            </a:r>
            <a:r>
              <a:rPr lang="en-GB" b="1" dirty="0">
                <a:latin typeface="Arial Rounded MT Bold" pitchFamily="34" charset="0"/>
              </a:rPr>
              <a:t>- &gt;&gt; </a:t>
            </a:r>
            <a:r>
              <a:rPr lang="en-GB" b="1" dirty="0" err="1">
                <a:latin typeface="Arial Rounded MT Bold" pitchFamily="34" charset="0"/>
              </a:rPr>
              <a:t>P</a:t>
            </a:r>
            <a:r>
              <a:rPr lang="en-GB" b="1" baseline="-25000" dirty="0" err="1">
                <a:latin typeface="Arial Rounded MT Bold" pitchFamily="34" charset="0"/>
              </a:rPr>
              <a:t>protein</a:t>
            </a:r>
            <a:endParaRPr lang="en-GB" b="1" baseline="-25000" dirty="0">
              <a:latin typeface="Arial Rounded MT Bold" pitchFamily="34" charset="0"/>
            </a:endParaRPr>
          </a:p>
          <a:p>
            <a:pPr>
              <a:lnSpc>
                <a:spcPct val="90000"/>
              </a:lnSpc>
            </a:pPr>
            <a:endParaRPr lang="en-GB" baseline="-25000" dirty="0">
              <a:latin typeface="Arial Rounded MT Bold" pitchFamily="34" charset="0"/>
            </a:endParaRPr>
          </a:p>
        </p:txBody>
      </p:sp>
      <p:sp>
        <p:nvSpPr>
          <p:cNvPr id="50181" name="Text Box 5"/>
          <p:cNvSpPr txBox="1">
            <a:spLocks noChangeArrowheads="1"/>
          </p:cNvSpPr>
          <p:nvPr/>
        </p:nvSpPr>
        <p:spPr bwMode="auto">
          <a:xfrm>
            <a:off x="611560" y="3314700"/>
            <a:ext cx="835292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GB" dirty="0">
                <a:latin typeface="Arial Rounded MT Bold" pitchFamily="34" charset="0"/>
              </a:rPr>
              <a:t>The biggest weighting will be given to the ion that is the most permeable - K+.</a:t>
            </a:r>
            <a:endParaRPr lang="en-US" sz="1200" dirty="0">
              <a:latin typeface="Arial Rounded MT Bold" pitchFamily="34" charset="0"/>
            </a:endParaRPr>
          </a:p>
        </p:txBody>
      </p:sp>
      <p:sp>
        <p:nvSpPr>
          <p:cNvPr id="50182" name="Text Box 6"/>
          <p:cNvSpPr txBox="1">
            <a:spLocks noChangeArrowheads="1"/>
          </p:cNvSpPr>
          <p:nvPr/>
        </p:nvSpPr>
        <p:spPr bwMode="auto">
          <a:xfrm>
            <a:off x="611560" y="1621608"/>
            <a:ext cx="3357009"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r>
              <a:rPr lang="en-GB" sz="1800" b="0" dirty="0">
                <a:latin typeface="Arial Rounded MT Bold" pitchFamily="34" charset="0"/>
              </a:rPr>
              <a:t> </a:t>
            </a:r>
            <a:r>
              <a:rPr lang="en-GB" sz="2700" dirty="0">
                <a:latin typeface="Arial Rounded MT Bold" pitchFamily="34" charset="0"/>
              </a:rPr>
              <a:t>E</a:t>
            </a:r>
            <a:r>
              <a:rPr lang="en-GB" sz="2700" baseline="-25000" dirty="0">
                <a:latin typeface="Arial Rounded MT Bold" pitchFamily="34" charset="0"/>
              </a:rPr>
              <a:t>m </a:t>
            </a:r>
            <a:r>
              <a:rPr lang="en-GB" sz="2700" dirty="0">
                <a:latin typeface="Arial Rounded MT Bold" pitchFamily="34" charset="0"/>
                <a:sym typeface="Symbol" pitchFamily="18" charset="2"/>
              </a:rPr>
              <a:t></a:t>
            </a:r>
            <a:r>
              <a:rPr lang="en-GB" sz="2700" dirty="0">
                <a:latin typeface="Arial Rounded MT Bold" pitchFamily="34" charset="0"/>
              </a:rPr>
              <a:t> -70</a:t>
            </a:r>
            <a:r>
              <a:rPr lang="en-GB" sz="2700" dirty="0">
                <a:solidFill>
                  <a:schemeClr val="hlink"/>
                </a:solidFill>
                <a:latin typeface="Arial Rounded MT Bold" pitchFamily="34" charset="0"/>
              </a:rPr>
              <a:t> </a:t>
            </a:r>
            <a:r>
              <a:rPr lang="en-GB" sz="2700" dirty="0">
                <a:latin typeface="Arial Rounded MT Bold" pitchFamily="34" charset="0"/>
              </a:rPr>
              <a:t>mV  (RMP)</a:t>
            </a:r>
            <a:endParaRPr lang="en-GB" sz="2700" dirty="0">
              <a:solidFill>
                <a:schemeClr val="hlink"/>
              </a:solidFill>
              <a:latin typeface="Arial Rounded MT Bold" pitchFamily="34" charset="0"/>
            </a:endParaRPr>
          </a:p>
          <a:p>
            <a:pPr eaLnBrk="0" hangingPunct="0"/>
            <a:endParaRPr lang="en-US" sz="1350" dirty="0">
              <a:latin typeface="Arial Rounded MT Bold" pitchFamily="34" charset="0"/>
            </a:endParaRPr>
          </a:p>
        </p:txBody>
      </p:sp>
      <p:sp>
        <p:nvSpPr>
          <p:cNvPr id="50183" name="Text Box 7"/>
          <p:cNvSpPr txBox="1">
            <a:spLocks noChangeArrowheads="1"/>
          </p:cNvSpPr>
          <p:nvPr/>
        </p:nvSpPr>
        <p:spPr bwMode="auto">
          <a:xfrm>
            <a:off x="3985937" y="1624220"/>
            <a:ext cx="43478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dirty="0">
                <a:solidFill>
                  <a:srgbClr val="0070C0"/>
                </a:solidFill>
                <a:latin typeface="Arial Rounded MT Bold" pitchFamily="34" charset="0"/>
              </a:rPr>
              <a:t>- The Goldmann Equation</a:t>
            </a:r>
          </a:p>
        </p:txBody>
      </p:sp>
      <p:sp>
        <p:nvSpPr>
          <p:cNvPr id="50184" name="Text Box 8"/>
          <p:cNvSpPr txBox="1">
            <a:spLocks noChangeArrowheads="1"/>
          </p:cNvSpPr>
          <p:nvPr/>
        </p:nvSpPr>
        <p:spPr bwMode="auto">
          <a:xfrm>
            <a:off x="611560" y="2343150"/>
            <a:ext cx="81369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buFontTx/>
              <a:buChar char="•"/>
            </a:pPr>
            <a:r>
              <a:rPr lang="en-US" dirty="0">
                <a:latin typeface="Arial Rounded MT Bold" pitchFamily="34" charset="0"/>
              </a:rPr>
              <a:t>  The RMP is much closer to E</a:t>
            </a:r>
            <a:r>
              <a:rPr lang="en-US" baseline="-25000" dirty="0">
                <a:latin typeface="Arial Rounded MT Bold" pitchFamily="34" charset="0"/>
              </a:rPr>
              <a:t>K</a:t>
            </a:r>
            <a:r>
              <a:rPr lang="en-US" dirty="0">
                <a:latin typeface="Arial Rounded MT Bold" pitchFamily="34" charset="0"/>
              </a:rPr>
              <a:t> (-86 mV) than it is to </a:t>
            </a:r>
            <a:r>
              <a:rPr lang="en-US" dirty="0" err="1">
                <a:latin typeface="Arial Rounded MT Bold" pitchFamily="34" charset="0"/>
              </a:rPr>
              <a:t>E</a:t>
            </a:r>
            <a:r>
              <a:rPr lang="en-US" baseline="-25000" dirty="0" err="1">
                <a:latin typeface="Arial Rounded MT Bold" pitchFamily="34" charset="0"/>
              </a:rPr>
              <a:t>Na</a:t>
            </a:r>
            <a:r>
              <a:rPr lang="en-US" dirty="0">
                <a:latin typeface="Arial Rounded MT Bold" pitchFamily="34" charset="0"/>
              </a:rPr>
              <a:t> (+60 mV). Why?</a:t>
            </a:r>
            <a:endParaRPr lang="en-US" sz="2100" dirty="0">
              <a:latin typeface="Arial Rounded MT Bold" pitchFamily="34" charset="0"/>
            </a:endParaRPr>
          </a:p>
        </p:txBody>
      </p:sp>
    </p:spTree>
    <p:extLst>
      <p:ext uri="{BB962C8B-B14F-4D97-AF65-F5344CB8AC3E}">
        <p14:creationId xmlns:p14="http://schemas.microsoft.com/office/powerpoint/2010/main" val="39028331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01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018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018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018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0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animBg="1" autoUpdateAnimBg="0"/>
      <p:bldP spid="50181" grpId="0" autoUpdateAnimBg="0"/>
      <p:bldP spid="50182" grpId="0" autoUpdateAnimBg="0"/>
      <p:bldP spid="50183" grpId="0" autoUpdateAnimBg="0"/>
      <p:bldP spid="50184"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131DA-5649-709C-86C6-D298BA0E6C59}"/>
            </a:ext>
          </a:extLst>
        </p:cNvPr>
        <p:cNvGrpSpPr/>
        <p:nvPr/>
      </p:nvGrpSpPr>
      <p:grpSpPr>
        <a:xfrm>
          <a:off x="0" y="0"/>
          <a:ext cx="0" cy="0"/>
          <a:chOff x="0" y="0"/>
          <a:chExt cx="0" cy="0"/>
        </a:xfrm>
      </p:grpSpPr>
      <p:pic>
        <p:nvPicPr>
          <p:cNvPr id="4" name="Picture 12" descr="figure_1-10.jpg">
            <a:extLst>
              <a:ext uri="{FF2B5EF4-FFF2-40B4-BE49-F238E27FC236}">
                <a16:creationId xmlns:a16="http://schemas.microsoft.com/office/drawing/2014/main" id="{0B44D645-9AFA-92B7-8766-052F52E6A1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411510"/>
            <a:ext cx="4752380" cy="420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94141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00AFD-9B07-42F3-70B8-50693E32BD5E}"/>
            </a:ext>
          </a:extLst>
        </p:cNvPr>
        <p:cNvGrpSpPr/>
        <p:nvPr/>
      </p:nvGrpSpPr>
      <p:grpSpPr>
        <a:xfrm>
          <a:off x="0" y="0"/>
          <a:ext cx="0" cy="0"/>
          <a:chOff x="0" y="0"/>
          <a:chExt cx="0" cy="0"/>
        </a:xfrm>
      </p:grpSpPr>
      <p:pic>
        <p:nvPicPr>
          <p:cNvPr id="6" name="Picture 4" descr="3D neurons connecting">
            <a:extLst>
              <a:ext uri="{FF2B5EF4-FFF2-40B4-BE49-F238E27FC236}">
                <a16:creationId xmlns:a16="http://schemas.microsoft.com/office/drawing/2014/main" id="{4E6FEB98-1D1D-0A76-BF74-728B57AF0A37}"/>
              </a:ext>
            </a:extLst>
          </p:cNvPr>
          <p:cNvPicPr>
            <a:picLocks noChangeAspect="1"/>
          </p:cNvPicPr>
          <p:nvPr/>
        </p:nvPicPr>
        <p:blipFill rotWithShape="1">
          <a:blip r:embed="rId3"/>
          <a:srcRect l="1215" r="4669"/>
          <a:stretch/>
        </p:blipFill>
        <p:spPr>
          <a:xfrm>
            <a:off x="2843808" y="580343"/>
            <a:ext cx="6228182" cy="4563157"/>
          </a:xfrm>
          <a:prstGeom prst="rect">
            <a:avLst/>
          </a:prstGeom>
        </p:spPr>
      </p:pic>
      <p:sp>
        <p:nvSpPr>
          <p:cNvPr id="2" name="Title 1">
            <a:extLst>
              <a:ext uri="{FF2B5EF4-FFF2-40B4-BE49-F238E27FC236}">
                <a16:creationId xmlns:a16="http://schemas.microsoft.com/office/drawing/2014/main" id="{C4449E14-F17D-DC1D-791D-CCE6C3879D70}"/>
              </a:ext>
            </a:extLst>
          </p:cNvPr>
          <p:cNvSpPr>
            <a:spLocks noGrp="1"/>
          </p:cNvSpPr>
          <p:nvPr>
            <p:ph type="title"/>
          </p:nvPr>
        </p:nvSpPr>
        <p:spPr>
          <a:xfrm>
            <a:off x="2483768" y="50269"/>
            <a:ext cx="6480720" cy="369312"/>
          </a:xfrm>
        </p:spPr>
        <p:txBody>
          <a:bodyPr vert="horz" lIns="91440" tIns="45720" rIns="91440" bIns="45720" rtlCol="0" anchor="ctr">
            <a:normAutofit fontScale="90000"/>
          </a:bodyPr>
          <a:lstStyle/>
          <a:p>
            <a:pPr eaLnBrk="1" hangingPunct="1">
              <a:lnSpc>
                <a:spcPct val="90000"/>
              </a:lnSpc>
            </a:pPr>
            <a:r>
              <a:rPr lang="en-US" sz="3200" b="1" kern="1200" dirty="0">
                <a:solidFill>
                  <a:srgbClr val="0070C0"/>
                </a:solidFill>
                <a:latin typeface="+mj-lt"/>
                <a:ea typeface="+mj-ea"/>
                <a:cs typeface="+mj-cs"/>
              </a:rPr>
              <a:t>Why is membrane potential important?</a:t>
            </a:r>
          </a:p>
        </p:txBody>
      </p:sp>
      <p:graphicFrame>
        <p:nvGraphicFramePr>
          <p:cNvPr id="23" name="Content Placeholder 2">
            <a:extLst>
              <a:ext uri="{FF2B5EF4-FFF2-40B4-BE49-F238E27FC236}">
                <a16:creationId xmlns:a16="http://schemas.microsoft.com/office/drawing/2014/main" id="{5A3A6480-06E3-CE1A-F55C-D84FC89F2CBC}"/>
              </a:ext>
            </a:extLst>
          </p:cNvPr>
          <p:cNvGraphicFramePr>
            <a:graphicFrameLocks noGrp="1"/>
          </p:cNvGraphicFramePr>
          <p:nvPr>
            <p:ph idx="1"/>
            <p:extLst>
              <p:ext uri="{D42A27DB-BD31-4B8C-83A1-F6EECF244321}">
                <p14:modId xmlns:p14="http://schemas.microsoft.com/office/powerpoint/2010/main" val="789552078"/>
              </p:ext>
            </p:extLst>
          </p:nvPr>
        </p:nvGraphicFramePr>
        <p:xfrm>
          <a:off x="467544" y="1419622"/>
          <a:ext cx="7632848" cy="35283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2469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6C7E1-B349-9AE2-8C3A-A7F907929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F6B48-A3A5-10F3-69AC-5CAA7C9B8F9C}"/>
              </a:ext>
            </a:extLst>
          </p:cNvPr>
          <p:cNvSpPr>
            <a:spLocks noGrp="1"/>
          </p:cNvSpPr>
          <p:nvPr>
            <p:ph type="title"/>
          </p:nvPr>
        </p:nvSpPr>
        <p:spPr/>
        <p:txBody>
          <a:bodyPr/>
          <a:lstStyle/>
          <a:p>
            <a:r>
              <a:rPr lang="en-GB" dirty="0"/>
              <a:t>Resting Membrane Potential</a:t>
            </a:r>
          </a:p>
        </p:txBody>
      </p:sp>
      <p:sp>
        <p:nvSpPr>
          <p:cNvPr id="3" name="Content Placeholder 2">
            <a:extLst>
              <a:ext uri="{FF2B5EF4-FFF2-40B4-BE49-F238E27FC236}">
                <a16:creationId xmlns:a16="http://schemas.microsoft.com/office/drawing/2014/main" id="{E589158A-724C-5F76-9DDB-EF60BE4787B2}"/>
              </a:ext>
            </a:extLst>
          </p:cNvPr>
          <p:cNvSpPr>
            <a:spLocks noGrp="1"/>
          </p:cNvSpPr>
          <p:nvPr>
            <p:ph idx="1"/>
          </p:nvPr>
        </p:nvSpPr>
        <p:spPr>
          <a:xfrm>
            <a:off x="395536" y="1347614"/>
            <a:ext cx="4968552" cy="2952328"/>
          </a:xfrm>
        </p:spPr>
        <p:txBody>
          <a:bodyPr/>
          <a:lstStyle/>
          <a:p>
            <a:pPr eaLnBrk="1" hangingPunct="1">
              <a:defRPr/>
            </a:pPr>
            <a:r>
              <a:rPr lang="en-GB" altLang="en-US" sz="1600" dirty="0"/>
              <a:t>In most cells membrane potential relatively stable</a:t>
            </a:r>
          </a:p>
          <a:p>
            <a:pPr eaLnBrk="1" hangingPunct="1">
              <a:defRPr/>
            </a:pPr>
            <a:r>
              <a:rPr lang="en-GB" altLang="en-US" sz="1600" dirty="0"/>
              <a:t>Always negative inside the cell (at rest)</a:t>
            </a:r>
          </a:p>
          <a:p>
            <a:pPr eaLnBrk="1" hangingPunct="1">
              <a:defRPr/>
            </a:pPr>
            <a:r>
              <a:rPr lang="en-GB" altLang="en-US" sz="1600" dirty="0"/>
              <a:t>Arises from action of ion channels</a:t>
            </a:r>
          </a:p>
          <a:p>
            <a:pPr eaLnBrk="1" hangingPunct="1">
              <a:defRPr/>
            </a:pPr>
            <a:r>
              <a:rPr lang="en-GB" altLang="en-US" sz="1600" dirty="0"/>
              <a:t>Major determinant is K</a:t>
            </a:r>
            <a:r>
              <a:rPr lang="en-GB" altLang="en-US" sz="1600" baseline="30000" dirty="0"/>
              <a:t>+</a:t>
            </a:r>
            <a:r>
              <a:rPr lang="en-GB" altLang="en-US" sz="1600" dirty="0"/>
              <a:t> efflux through K</a:t>
            </a:r>
            <a:r>
              <a:rPr lang="en-GB" altLang="en-US" sz="1600" baseline="30000" dirty="0"/>
              <a:t>+</a:t>
            </a:r>
            <a:r>
              <a:rPr lang="en-GB" altLang="en-US" sz="1600" dirty="0"/>
              <a:t> ion channels (Leaky channels)</a:t>
            </a:r>
          </a:p>
          <a:p>
            <a:pPr eaLnBrk="1" hangingPunct="1">
              <a:defRPr/>
            </a:pPr>
            <a:endParaRPr lang="en-GB" altLang="en-US" sz="1600" dirty="0"/>
          </a:p>
          <a:p>
            <a:pPr eaLnBrk="1" hangingPunct="1">
              <a:defRPr/>
            </a:pPr>
            <a:r>
              <a:rPr lang="en-GB" altLang="en-US" sz="1600" dirty="0"/>
              <a:t>Any channel that transfers charge across the membrane has the potential to influence membrane potential</a:t>
            </a:r>
          </a:p>
          <a:p>
            <a:endParaRPr lang="en-GB" sz="1200" dirty="0"/>
          </a:p>
        </p:txBody>
      </p:sp>
      <p:pic>
        <p:nvPicPr>
          <p:cNvPr id="4" name="Picture 18" descr="figure_2.6.jpg">
            <a:extLst>
              <a:ext uri="{FF2B5EF4-FFF2-40B4-BE49-F238E27FC236}">
                <a16:creationId xmlns:a16="http://schemas.microsoft.com/office/drawing/2014/main" id="{83DDD00D-28F0-8B8A-26F6-967DED95211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781636"/>
            <a:ext cx="2923924" cy="4084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56E3CA8-17D5-E8AC-B319-99D1FC9E4211}"/>
              </a:ext>
            </a:extLst>
          </p:cNvPr>
          <p:cNvSpPr txBox="1"/>
          <p:nvPr/>
        </p:nvSpPr>
        <p:spPr>
          <a:xfrm>
            <a:off x="7404954" y="1635646"/>
            <a:ext cx="1271502" cy="338554"/>
          </a:xfrm>
          <a:prstGeom prst="rect">
            <a:avLst/>
          </a:prstGeom>
          <a:solidFill>
            <a:srgbClr val="FFFF99"/>
          </a:solidFill>
          <a:ln>
            <a:solidFill>
              <a:schemeClr val="tx2"/>
            </a:solidFill>
          </a:ln>
        </p:spPr>
        <p:txBody>
          <a:bodyPr wrap="square" rtlCol="0">
            <a:spAutoFit/>
          </a:bodyPr>
          <a:lstStyle/>
          <a:p>
            <a:r>
              <a:rPr lang="en-GB" sz="1600" dirty="0">
                <a:highlight>
                  <a:srgbClr val="FFFF99"/>
                </a:highlight>
              </a:rPr>
              <a:t>E</a:t>
            </a:r>
            <a:r>
              <a:rPr lang="en-GB" sz="1600" baseline="-25000" dirty="0">
                <a:highlight>
                  <a:srgbClr val="FFFF99"/>
                </a:highlight>
              </a:rPr>
              <a:t>K</a:t>
            </a:r>
            <a:r>
              <a:rPr lang="en-GB" sz="1600" dirty="0">
                <a:highlight>
                  <a:srgbClr val="FFFF99"/>
                </a:highlight>
              </a:rPr>
              <a:t> = -80mV</a:t>
            </a:r>
          </a:p>
        </p:txBody>
      </p:sp>
      <p:sp>
        <p:nvSpPr>
          <p:cNvPr id="6" name="Text Box 4">
            <a:extLst>
              <a:ext uri="{FF2B5EF4-FFF2-40B4-BE49-F238E27FC236}">
                <a16:creationId xmlns:a16="http://schemas.microsoft.com/office/drawing/2014/main" id="{08E0D751-44F4-EC75-E820-82949C7214CB}"/>
              </a:ext>
            </a:extLst>
          </p:cNvPr>
          <p:cNvSpPr txBox="1">
            <a:spLocks noChangeArrowheads="1"/>
          </p:cNvSpPr>
          <p:nvPr/>
        </p:nvSpPr>
        <p:spPr bwMode="auto">
          <a:xfrm>
            <a:off x="6280800" y="225699"/>
            <a:ext cx="17599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u="sng" dirty="0">
                <a:latin typeface="Arial Rounded MT Bold" pitchFamily="34" charset="0"/>
              </a:rPr>
              <a:t>SUMMARY</a:t>
            </a:r>
            <a:endParaRPr lang="en-US" sz="2100" dirty="0">
              <a:latin typeface="Arial Rounded MT Bold" pitchFamily="34" charset="0"/>
            </a:endParaRPr>
          </a:p>
        </p:txBody>
      </p:sp>
    </p:spTree>
    <p:extLst>
      <p:ext uri="{BB962C8B-B14F-4D97-AF65-F5344CB8AC3E}">
        <p14:creationId xmlns:p14="http://schemas.microsoft.com/office/powerpoint/2010/main" val="2654570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3" name="Text Box 3"/>
          <p:cNvSpPr txBox="1">
            <a:spLocks noChangeArrowheads="1"/>
          </p:cNvSpPr>
          <p:nvPr/>
        </p:nvSpPr>
        <p:spPr bwMode="auto">
          <a:xfrm>
            <a:off x="1547812" y="250032"/>
            <a:ext cx="61002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dirty="0">
                <a:latin typeface="Arial Rounded MT Bold" pitchFamily="34" charset="0"/>
              </a:rPr>
              <a:t>At the beginning of the lecture, we said:</a:t>
            </a:r>
          </a:p>
        </p:txBody>
      </p:sp>
      <p:sp>
        <p:nvSpPr>
          <p:cNvPr id="81924" name="Rectangle 4"/>
          <p:cNvSpPr>
            <a:spLocks noChangeArrowheads="1"/>
          </p:cNvSpPr>
          <p:nvPr/>
        </p:nvSpPr>
        <p:spPr bwMode="auto">
          <a:xfrm>
            <a:off x="89248" y="735806"/>
            <a:ext cx="8965504"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p>
            <a:pPr marL="257175" indent="-257175" defTabSz="571500">
              <a:spcBef>
                <a:spcPct val="20000"/>
              </a:spcBef>
              <a:buFontTx/>
              <a:buChar char="•"/>
            </a:pPr>
            <a:r>
              <a:rPr lang="en-GB" sz="2400" b="0" dirty="0"/>
              <a:t>An action potential is a rapid change in membrane potential</a:t>
            </a:r>
          </a:p>
        </p:txBody>
      </p:sp>
      <p:sp>
        <p:nvSpPr>
          <p:cNvPr id="81930" name="Rectangle 10"/>
          <p:cNvSpPr>
            <a:spLocks noChangeArrowheads="1"/>
          </p:cNvSpPr>
          <p:nvPr/>
        </p:nvSpPr>
        <p:spPr bwMode="auto">
          <a:xfrm>
            <a:off x="1547813" y="2625329"/>
            <a:ext cx="5832872" cy="702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p>
            <a:pPr marL="257175" indent="-257175" defTabSz="571500">
              <a:lnSpc>
                <a:spcPct val="90000"/>
              </a:lnSpc>
              <a:spcBef>
                <a:spcPct val="20000"/>
              </a:spcBef>
              <a:buFontTx/>
              <a:buChar char="•"/>
            </a:pPr>
            <a:r>
              <a:rPr lang="en-GB" sz="2400" dirty="0"/>
              <a:t>P</a:t>
            </a:r>
            <a:r>
              <a:rPr lang="en-GB" sz="2400" baseline="-25000" dirty="0"/>
              <a:t>Na+</a:t>
            </a:r>
            <a:r>
              <a:rPr lang="en-GB" sz="2400" dirty="0"/>
              <a:t> &gt;&gt; P</a:t>
            </a:r>
            <a:r>
              <a:rPr lang="en-GB" sz="2400" baseline="-25000" dirty="0"/>
              <a:t>K+</a:t>
            </a:r>
            <a:r>
              <a:rPr lang="en-GB" sz="2400" dirty="0"/>
              <a:t> &gt;&gt; </a:t>
            </a:r>
            <a:r>
              <a:rPr lang="en-GB" sz="2400" dirty="0" err="1"/>
              <a:t>P</a:t>
            </a:r>
            <a:r>
              <a:rPr lang="en-GB" sz="2400" baseline="-25000" dirty="0" err="1"/>
              <a:t>Cl</a:t>
            </a:r>
            <a:r>
              <a:rPr lang="en-GB" sz="2400" dirty="0"/>
              <a:t>- &gt;&gt; </a:t>
            </a:r>
            <a:r>
              <a:rPr lang="en-GB" sz="2400" dirty="0" err="1"/>
              <a:t>P</a:t>
            </a:r>
            <a:r>
              <a:rPr lang="en-GB" sz="2400" baseline="-25000" dirty="0" err="1"/>
              <a:t>protein</a:t>
            </a:r>
            <a:endParaRPr lang="en-GB" sz="2400" b="0" baseline="-25000" dirty="0"/>
          </a:p>
        </p:txBody>
      </p:sp>
      <p:sp>
        <p:nvSpPr>
          <p:cNvPr id="81932" name="Text Box 12"/>
          <p:cNvSpPr txBox="1">
            <a:spLocks noChangeArrowheads="1"/>
          </p:cNvSpPr>
          <p:nvPr/>
        </p:nvSpPr>
        <p:spPr bwMode="auto">
          <a:xfrm>
            <a:off x="89248" y="1667055"/>
            <a:ext cx="86592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marL="342900" indent="-342900" eaLnBrk="0" hangingPunct="0">
              <a:buFont typeface="Arial" panose="020B0604020202020204" pitchFamily="34" charset="0"/>
              <a:buChar char="•"/>
            </a:pPr>
            <a:r>
              <a:rPr lang="en-GB" b="0" dirty="0">
                <a:latin typeface="+mn-lt"/>
              </a:rPr>
              <a:t>There is a very brief and rapid switch in permeability from K+ to Na+</a:t>
            </a:r>
            <a:endParaRPr lang="en-US" sz="1200" b="0" dirty="0">
              <a:latin typeface="+mn-lt"/>
            </a:endParaRPr>
          </a:p>
        </p:txBody>
      </p:sp>
      <p:sp>
        <p:nvSpPr>
          <p:cNvPr id="81933" name="Rectangle 13"/>
          <p:cNvSpPr>
            <a:spLocks noChangeArrowheads="1"/>
          </p:cNvSpPr>
          <p:nvPr/>
        </p:nvSpPr>
        <p:spPr bwMode="auto">
          <a:xfrm>
            <a:off x="89248" y="3468351"/>
            <a:ext cx="89655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b="0" dirty="0"/>
              <a:t>The membrane potential therefore moves from the RMP (-70mV) towards </a:t>
            </a:r>
            <a:r>
              <a:rPr lang="en-US" sz="2400" b="0" dirty="0" err="1"/>
              <a:t>E</a:t>
            </a:r>
            <a:r>
              <a:rPr lang="en-US" sz="2400" b="0" baseline="-25000" dirty="0" err="1"/>
              <a:t>Na</a:t>
            </a:r>
            <a:r>
              <a:rPr lang="en-US" sz="2400" b="0" dirty="0"/>
              <a:t> (+60mV). This voltage change is called the action potential. </a:t>
            </a:r>
            <a:r>
              <a:rPr lang="en-US" sz="2400" dirty="0">
                <a:solidFill>
                  <a:srgbClr val="FF0000"/>
                </a:solidFill>
              </a:rPr>
              <a:t>[We will discuss it next……]</a:t>
            </a:r>
            <a:endParaRPr lang="en-GB" sz="2400" dirty="0">
              <a:solidFill>
                <a:srgbClr val="FF0000"/>
              </a:solidFill>
            </a:endParaRPr>
          </a:p>
        </p:txBody>
      </p:sp>
    </p:spTree>
    <p:extLst>
      <p:ext uri="{BB962C8B-B14F-4D97-AF65-F5344CB8AC3E}">
        <p14:creationId xmlns:p14="http://schemas.microsoft.com/office/powerpoint/2010/main" val="16041014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3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0" grpId="0" autoUpdateAnimBg="0"/>
      <p:bldP spid="81932" grpId="0" autoUpdateAnimBg="0"/>
      <p:bldP spid="8193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p:txBody>
          <a:bodyPr/>
          <a:lstStyle>
            <a:defPPr>
              <a:defRPr lang="en-FI"/>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FI"/>
              <a:t>Join the Vevox session </a:t>
            </a:r>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defPPr>
              <a:defRPr lang="en-FI"/>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FI"/>
              <a:t> </a:t>
            </a:r>
            <a:endParaRPr lang="en-FI" dirty="0"/>
          </a:p>
        </p:txBody>
      </p:sp>
      <p:sp>
        <p:nvSpPr>
          <p:cNvPr id="4" name="TextBox 3">
            <a:extLst>
              <a:ext uri="{FF2B5EF4-FFF2-40B4-BE49-F238E27FC236}">
                <a16:creationId xmlns:a16="http://schemas.microsoft.com/office/drawing/2014/main" id="{1022B390-7442-4798-949A-24F00BD41D07}"/>
              </a:ext>
            </a:extLst>
          </p:cNvPr>
          <p:cNvSpPr txBox="1"/>
          <p:nvPr>
            <p:custDataLst>
              <p:tags r:id="rId4"/>
            </p:custDataLst>
          </p:nvPr>
        </p:nvSpPr>
        <p:spPr>
          <a:xfrm>
            <a:off x="628650" y="1348740"/>
            <a:ext cx="4711700" cy="3322320"/>
          </a:xfrm>
          <a:prstGeom prst="rect">
            <a:avLst/>
          </a:prstGeom>
          <a:noFill/>
        </p:spPr>
        <p:txBody>
          <a:bodyPr vertOverflow="overflow" vert="horz" wrap="square" rtlCol="0" anchor="t">
            <a:spAutoFit/>
          </a:bodyPr>
          <a:lstStyle/>
          <a:p>
            <a:pPr algn="l"/>
            <a:r>
              <a:rPr lang="en-GB" sz="3500"/>
              <a:t>Go to vevox.app</a:t>
            </a:r>
          </a:p>
          <a:p>
            <a:pPr algn="l"/>
            <a:endParaRPr lang="en-GB" sz="3500"/>
          </a:p>
          <a:p>
            <a:pPr algn="l"/>
            <a:r>
              <a:rPr lang="en-GB" sz="3500"/>
              <a:t>Enter the session ID: 165-606-947</a:t>
            </a:r>
          </a:p>
          <a:p>
            <a:pPr algn="l"/>
            <a:endParaRPr lang="en-GB" sz="3500"/>
          </a:p>
          <a:p>
            <a:pPr algn="l"/>
            <a:r>
              <a:rPr lang="en-GB" sz="3500"/>
              <a:t>Or scan the QR code</a:t>
            </a:r>
          </a:p>
        </p:txBody>
      </p:sp>
      <p:pic>
        <p:nvPicPr>
          <p:cNvPr id="5" name="Picture 4" descr="QR code instruction to join https://vevox.app/#/m/165606947">
            <a:extLst>
              <a:ext uri="{FF2B5EF4-FFF2-40B4-BE49-F238E27FC236}">
                <a16:creationId xmlns:a16="http://schemas.microsoft.com/office/drawing/2014/main" id="{7FB8E310-D10B-B34D-7A38-1122AF1ADF2B}"/>
              </a:ext>
            </a:extLst>
          </p:cNvPr>
          <p:cNvPicPr>
            <a:picLocks/>
          </p:cNvPicPr>
          <p:nvPr>
            <p:custDataLst>
              <p:tags r:id="rId5"/>
            </p:custDataLst>
          </p:nvPr>
        </p:nvPicPr>
        <p:blipFill>
          <a:blip r:embed="rId8"/>
          <a:stretch>
            <a:fillRect/>
          </a:stretch>
        </p:blipFill>
        <p:spPr>
          <a:xfrm>
            <a:off x="5340350" y="226060"/>
            <a:ext cx="3175000" cy="3175000"/>
          </a:xfrm>
          <a:prstGeom prst="rect">
            <a:avLst/>
          </a:prstGeom>
        </p:spPr>
      </p:pic>
    </p:spTree>
    <p:custDataLst>
      <p:tags r:id="rId1"/>
    </p:custDataLst>
    <p:extLst>
      <p:ext uri="{BB962C8B-B14F-4D97-AF65-F5344CB8AC3E}">
        <p14:creationId xmlns:p14="http://schemas.microsoft.com/office/powerpoint/2010/main" val="17739988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A4988-C307-9FBB-4413-1702753B8D33}"/>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8B344DDD-C05F-6573-349F-28A781FAA4DE}"/>
              </a:ext>
            </a:extLst>
          </p:cNvPr>
          <p:cNvSpPr>
            <a:spLocks noGrp="1"/>
          </p:cNvSpPr>
          <p:nvPr>
            <p:ph idx="1"/>
          </p:nvPr>
        </p:nvSpPr>
        <p:spPr/>
        <p:txBody>
          <a:bodyPr/>
          <a:lstStyle/>
          <a:p>
            <a:endParaRPr lang="en-GB" dirty="0"/>
          </a:p>
        </p:txBody>
      </p:sp>
      <p:sp>
        <p:nvSpPr>
          <p:cNvPr id="4" name="TextBox 3">
            <a:extLst>
              <a:ext uri="{FF2B5EF4-FFF2-40B4-BE49-F238E27FC236}">
                <a16:creationId xmlns:a16="http://schemas.microsoft.com/office/drawing/2014/main" id="{88FC098B-26C7-5E42-3CE5-B9298D6ABBA4}"/>
              </a:ext>
            </a:extLst>
          </p:cNvPr>
          <p:cNvSpPr txBox="1"/>
          <p:nvPr/>
        </p:nvSpPr>
        <p:spPr>
          <a:xfrm>
            <a:off x="323528" y="1971585"/>
            <a:ext cx="8712968" cy="646331"/>
          </a:xfrm>
          <a:prstGeom prst="rect">
            <a:avLst/>
          </a:prstGeom>
          <a:noFill/>
          <a:ln w="38100">
            <a:solidFill>
              <a:schemeClr val="tx1"/>
            </a:solidFill>
          </a:ln>
        </p:spPr>
        <p:txBody>
          <a:bodyPr wrap="square" rtlCol="0">
            <a:spAutoFit/>
          </a:bodyPr>
          <a:lstStyle/>
          <a:p>
            <a:pPr algn="ctr"/>
            <a:r>
              <a:rPr lang="en-GB" sz="3600" dirty="0"/>
              <a:t> Action potential (2</a:t>
            </a:r>
            <a:r>
              <a:rPr lang="en-GB" sz="3600" baseline="30000" dirty="0"/>
              <a:t>nd</a:t>
            </a:r>
            <a:r>
              <a:rPr lang="en-GB" sz="3600" dirty="0"/>
              <a:t> part)</a:t>
            </a:r>
          </a:p>
        </p:txBody>
      </p:sp>
    </p:spTree>
    <p:extLst>
      <p:ext uri="{BB962C8B-B14F-4D97-AF65-F5344CB8AC3E}">
        <p14:creationId xmlns:p14="http://schemas.microsoft.com/office/powerpoint/2010/main" val="7647166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B4315-F1CB-9C98-9DD1-550DC0895DBF}"/>
              </a:ext>
            </a:extLst>
          </p:cNvPr>
          <p:cNvSpPr>
            <a:spLocks noGrp="1"/>
          </p:cNvSpPr>
          <p:nvPr>
            <p:ph type="title"/>
          </p:nvPr>
        </p:nvSpPr>
        <p:spPr/>
        <p:txBody>
          <a:bodyPr/>
          <a:lstStyle/>
          <a:p>
            <a:pPr algn="ctr"/>
            <a:r>
              <a:rPr lang="en-GB" b="1" dirty="0">
                <a:latin typeface="+mn-lt"/>
              </a:rPr>
              <a:t>Aims for this session…</a:t>
            </a:r>
          </a:p>
        </p:txBody>
      </p:sp>
      <p:sp>
        <p:nvSpPr>
          <p:cNvPr id="3" name="Content Placeholder 2">
            <a:extLst>
              <a:ext uri="{FF2B5EF4-FFF2-40B4-BE49-F238E27FC236}">
                <a16:creationId xmlns:a16="http://schemas.microsoft.com/office/drawing/2014/main" id="{8416F17B-A4B2-5AF3-DB88-A60534A0C390}"/>
              </a:ext>
            </a:extLst>
          </p:cNvPr>
          <p:cNvSpPr>
            <a:spLocks noGrp="1"/>
          </p:cNvSpPr>
          <p:nvPr>
            <p:ph idx="1"/>
          </p:nvPr>
        </p:nvSpPr>
        <p:spPr>
          <a:xfrm>
            <a:off x="395536" y="1347614"/>
            <a:ext cx="8424936" cy="2952328"/>
          </a:xfrm>
        </p:spPr>
        <p:txBody>
          <a:bodyPr/>
          <a:lstStyle/>
          <a:p>
            <a:r>
              <a:rPr lang="en-GB" sz="2800" dirty="0"/>
              <a:t>Generation of the action potential</a:t>
            </a:r>
          </a:p>
          <a:p>
            <a:r>
              <a:rPr lang="en-GB" sz="2800" dirty="0"/>
              <a:t>Movement of ions that underpin the generation of the action potential</a:t>
            </a:r>
          </a:p>
          <a:p>
            <a:endParaRPr lang="en-GB" dirty="0"/>
          </a:p>
        </p:txBody>
      </p:sp>
    </p:spTree>
    <p:extLst>
      <p:ext uri="{BB962C8B-B14F-4D97-AF65-F5344CB8AC3E}">
        <p14:creationId xmlns:p14="http://schemas.microsoft.com/office/powerpoint/2010/main" val="6851245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C06D-C30D-7DCB-8BBF-84A9EA40D48D}"/>
              </a:ext>
            </a:extLst>
          </p:cNvPr>
          <p:cNvSpPr>
            <a:spLocks noGrp="1"/>
          </p:cNvSpPr>
          <p:nvPr>
            <p:ph type="title"/>
          </p:nvPr>
        </p:nvSpPr>
        <p:spPr/>
        <p:txBody>
          <a:bodyPr/>
          <a:lstStyle/>
          <a:p>
            <a:r>
              <a:rPr lang="en-GB" dirty="0"/>
              <a:t>What determines how a neuronal cell responds to electrical activation?</a:t>
            </a:r>
          </a:p>
        </p:txBody>
      </p:sp>
      <p:sp>
        <p:nvSpPr>
          <p:cNvPr id="3" name="Content Placeholder 2">
            <a:extLst>
              <a:ext uri="{FF2B5EF4-FFF2-40B4-BE49-F238E27FC236}">
                <a16:creationId xmlns:a16="http://schemas.microsoft.com/office/drawing/2014/main" id="{BE553ACF-FD49-6337-765F-947F7B94490E}"/>
              </a:ext>
            </a:extLst>
          </p:cNvPr>
          <p:cNvSpPr>
            <a:spLocks noGrp="1"/>
          </p:cNvSpPr>
          <p:nvPr>
            <p:ph idx="1"/>
          </p:nvPr>
        </p:nvSpPr>
        <p:spPr>
          <a:xfrm>
            <a:off x="5004048" y="1792985"/>
            <a:ext cx="4032448" cy="2952328"/>
          </a:xfrm>
        </p:spPr>
        <p:txBody>
          <a:bodyPr/>
          <a:lstStyle/>
          <a:p>
            <a:r>
              <a:rPr lang="en-GB" dirty="0"/>
              <a:t>At rest, the cell will be at RMP</a:t>
            </a:r>
          </a:p>
          <a:p>
            <a:r>
              <a:rPr lang="en-GB" dirty="0"/>
              <a:t>If neuron is activated the membrane will depolarise from RMP</a:t>
            </a:r>
          </a:p>
          <a:p>
            <a:r>
              <a:rPr lang="en-GB" dirty="0"/>
              <a:t>Level of depolarisation will be proportional to the strength of the stimulus applied</a:t>
            </a:r>
          </a:p>
          <a:p>
            <a:endParaRPr lang="en-GB" dirty="0"/>
          </a:p>
        </p:txBody>
      </p:sp>
      <p:pic>
        <p:nvPicPr>
          <p:cNvPr id="4" name="Content Placeholder 6">
            <a:extLst>
              <a:ext uri="{FF2B5EF4-FFF2-40B4-BE49-F238E27FC236}">
                <a16:creationId xmlns:a16="http://schemas.microsoft.com/office/drawing/2014/main" id="{F5693CFA-3193-C592-73F7-FB24B711F1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1635646"/>
            <a:ext cx="4078934" cy="2781975"/>
          </a:xfrm>
          <a:prstGeom prst="rect">
            <a:avLst/>
          </a:prstGeom>
        </p:spPr>
      </p:pic>
      <p:sp>
        <p:nvSpPr>
          <p:cNvPr id="5" name="TextBox 4">
            <a:extLst>
              <a:ext uri="{FF2B5EF4-FFF2-40B4-BE49-F238E27FC236}">
                <a16:creationId xmlns:a16="http://schemas.microsoft.com/office/drawing/2014/main" id="{A376388E-2871-C236-3644-47925A0F3398}"/>
              </a:ext>
            </a:extLst>
          </p:cNvPr>
          <p:cNvSpPr txBox="1"/>
          <p:nvPr/>
        </p:nvSpPr>
        <p:spPr>
          <a:xfrm>
            <a:off x="218840" y="1462134"/>
            <a:ext cx="864096" cy="2292935"/>
          </a:xfrm>
          <a:prstGeom prst="rect">
            <a:avLst/>
          </a:prstGeom>
          <a:solidFill>
            <a:schemeClr val="bg1"/>
          </a:solidFill>
        </p:spPr>
        <p:txBody>
          <a:bodyPr wrap="square" rtlCol="0">
            <a:spAutoFit/>
          </a:bodyPr>
          <a:lstStyle/>
          <a:p>
            <a:endParaRPr lang="en-GB" sz="1600" dirty="0"/>
          </a:p>
          <a:p>
            <a:endParaRPr lang="en-GB" sz="1600" dirty="0"/>
          </a:p>
          <a:p>
            <a:pPr algn="ctr"/>
            <a:r>
              <a:rPr lang="en-GB" sz="1050" dirty="0"/>
              <a:t>Membrane potential </a:t>
            </a:r>
          </a:p>
          <a:p>
            <a:endParaRPr lang="en-GB" sz="1600" dirty="0"/>
          </a:p>
          <a:p>
            <a:endParaRPr lang="en-GB" sz="1600" dirty="0"/>
          </a:p>
          <a:p>
            <a:pPr algn="ctr"/>
            <a:r>
              <a:rPr lang="en-GB" sz="1400" dirty="0"/>
              <a:t>-55mV</a:t>
            </a:r>
          </a:p>
          <a:p>
            <a:endParaRPr lang="en-GB" sz="1400" dirty="0"/>
          </a:p>
          <a:p>
            <a:pPr algn="ctr"/>
            <a:r>
              <a:rPr lang="en-GB" sz="1400" dirty="0"/>
              <a:t>-70mV</a:t>
            </a:r>
          </a:p>
          <a:p>
            <a:endParaRPr lang="en-GB" sz="1600" dirty="0"/>
          </a:p>
        </p:txBody>
      </p:sp>
    </p:spTree>
    <p:extLst>
      <p:ext uri="{BB962C8B-B14F-4D97-AF65-F5344CB8AC3E}">
        <p14:creationId xmlns:p14="http://schemas.microsoft.com/office/powerpoint/2010/main" val="23603398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16BA6C4-D113-6B3C-01FA-772877C8B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1" y="1632462"/>
            <a:ext cx="4110852" cy="2808312"/>
          </a:xfrm>
          <a:prstGeom prst="rect">
            <a:avLst/>
          </a:prstGeom>
        </p:spPr>
      </p:pic>
      <p:sp>
        <p:nvSpPr>
          <p:cNvPr id="2" name="Title 1">
            <a:extLst>
              <a:ext uri="{FF2B5EF4-FFF2-40B4-BE49-F238E27FC236}">
                <a16:creationId xmlns:a16="http://schemas.microsoft.com/office/drawing/2014/main" id="{A135C06D-C30D-7DCB-8BBF-84A9EA40D48D}"/>
              </a:ext>
            </a:extLst>
          </p:cNvPr>
          <p:cNvSpPr>
            <a:spLocks noGrp="1"/>
          </p:cNvSpPr>
          <p:nvPr>
            <p:ph type="title"/>
          </p:nvPr>
        </p:nvSpPr>
        <p:spPr/>
        <p:txBody>
          <a:bodyPr/>
          <a:lstStyle/>
          <a:p>
            <a:r>
              <a:rPr lang="en-GB" dirty="0"/>
              <a:t>What determines how a neuronal cell responds to electrical activation?</a:t>
            </a:r>
          </a:p>
        </p:txBody>
      </p:sp>
      <p:sp>
        <p:nvSpPr>
          <p:cNvPr id="3" name="Content Placeholder 2">
            <a:extLst>
              <a:ext uri="{FF2B5EF4-FFF2-40B4-BE49-F238E27FC236}">
                <a16:creationId xmlns:a16="http://schemas.microsoft.com/office/drawing/2014/main" id="{BE553ACF-FD49-6337-765F-947F7B94490E}"/>
              </a:ext>
            </a:extLst>
          </p:cNvPr>
          <p:cNvSpPr>
            <a:spLocks noGrp="1"/>
          </p:cNvSpPr>
          <p:nvPr>
            <p:ph idx="1"/>
          </p:nvPr>
        </p:nvSpPr>
        <p:spPr>
          <a:xfrm>
            <a:off x="5004048" y="1792985"/>
            <a:ext cx="4032448" cy="2952328"/>
          </a:xfrm>
        </p:spPr>
        <p:txBody>
          <a:bodyPr/>
          <a:lstStyle/>
          <a:p>
            <a:r>
              <a:rPr lang="en-GB" dirty="0"/>
              <a:t>If membrane is sufficiently depolarised to a critical point ‘threshold’, generate an all-or-none event</a:t>
            </a:r>
          </a:p>
          <a:p>
            <a:pPr marL="742950" lvl="1" indent="-285750">
              <a:buFont typeface="Wingdings" panose="05000000000000000000" pitchFamily="2" charset="2"/>
              <a:buChar char="§"/>
            </a:pPr>
            <a:r>
              <a:rPr lang="en-GB" sz="1800" dirty="0"/>
              <a:t>Action Potential</a:t>
            </a:r>
          </a:p>
          <a:p>
            <a:endParaRPr lang="en-GB" dirty="0"/>
          </a:p>
        </p:txBody>
      </p:sp>
      <p:sp>
        <p:nvSpPr>
          <p:cNvPr id="5" name="TextBox 4">
            <a:extLst>
              <a:ext uri="{FF2B5EF4-FFF2-40B4-BE49-F238E27FC236}">
                <a16:creationId xmlns:a16="http://schemas.microsoft.com/office/drawing/2014/main" id="{A376388E-2871-C236-3644-47925A0F3398}"/>
              </a:ext>
            </a:extLst>
          </p:cNvPr>
          <p:cNvSpPr txBox="1"/>
          <p:nvPr/>
        </p:nvSpPr>
        <p:spPr>
          <a:xfrm>
            <a:off x="218840" y="1462134"/>
            <a:ext cx="864096" cy="2354491"/>
          </a:xfrm>
          <a:prstGeom prst="rect">
            <a:avLst/>
          </a:prstGeom>
          <a:solidFill>
            <a:schemeClr val="bg1"/>
          </a:solidFill>
        </p:spPr>
        <p:txBody>
          <a:bodyPr wrap="square" rtlCol="0">
            <a:spAutoFit/>
          </a:bodyPr>
          <a:lstStyle/>
          <a:p>
            <a:endParaRPr lang="en-GB" sz="1600" dirty="0"/>
          </a:p>
          <a:p>
            <a:endParaRPr lang="en-GB" sz="1600" dirty="0"/>
          </a:p>
          <a:p>
            <a:pPr algn="ctr"/>
            <a:r>
              <a:rPr lang="en-GB" sz="1050" dirty="0"/>
              <a:t>Membrane potential </a:t>
            </a:r>
          </a:p>
          <a:p>
            <a:endParaRPr lang="en-GB" sz="1600" dirty="0"/>
          </a:p>
          <a:p>
            <a:endParaRPr lang="en-GB" sz="1600" dirty="0"/>
          </a:p>
          <a:p>
            <a:pPr algn="ctr"/>
            <a:r>
              <a:rPr lang="en-GB" sz="1400" dirty="0"/>
              <a:t>-55mV</a:t>
            </a:r>
          </a:p>
          <a:p>
            <a:endParaRPr lang="en-GB" sz="1600" dirty="0"/>
          </a:p>
          <a:p>
            <a:pPr algn="ctr"/>
            <a:r>
              <a:rPr lang="en-GB" sz="1400" dirty="0"/>
              <a:t>-70mV</a:t>
            </a:r>
          </a:p>
          <a:p>
            <a:endParaRPr lang="en-GB" sz="1600" dirty="0"/>
          </a:p>
        </p:txBody>
      </p:sp>
    </p:spTree>
    <p:extLst>
      <p:ext uri="{BB962C8B-B14F-4D97-AF65-F5344CB8AC3E}">
        <p14:creationId xmlns:p14="http://schemas.microsoft.com/office/powerpoint/2010/main" val="42817862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674F2EF-B80B-383A-5C96-BECAA4F03277}"/>
              </a:ext>
            </a:extLst>
          </p:cNvPr>
          <p:cNvSpPr>
            <a:spLocks noGrp="1"/>
          </p:cNvSpPr>
          <p:nvPr>
            <p:ph idx="1"/>
          </p:nvPr>
        </p:nvSpPr>
        <p:spPr/>
        <p:txBody>
          <a:bodyPr/>
          <a:lstStyle/>
          <a:p>
            <a:endParaRPr lang="en-GB" dirty="0"/>
          </a:p>
          <a:p>
            <a:endParaRPr lang="en-GB" dirty="0"/>
          </a:p>
          <a:p>
            <a:r>
              <a:rPr lang="en-GB" dirty="0"/>
              <a:t>Changes in ion permeability (K</a:t>
            </a:r>
            <a:r>
              <a:rPr lang="en-GB" baseline="30000" dirty="0"/>
              <a:t>+</a:t>
            </a:r>
            <a:r>
              <a:rPr lang="en-GB" dirty="0"/>
              <a:t> and Na</a:t>
            </a:r>
            <a:r>
              <a:rPr lang="en-GB" baseline="30000" dirty="0"/>
              <a:t>+</a:t>
            </a:r>
            <a:r>
              <a:rPr lang="en-GB" dirty="0"/>
              <a:t>)</a:t>
            </a:r>
          </a:p>
          <a:p>
            <a:r>
              <a:rPr lang="en-GB" dirty="0"/>
              <a:t>Open / close of ion channels</a:t>
            </a:r>
          </a:p>
          <a:p>
            <a:endParaRPr lang="en-GB" dirty="0"/>
          </a:p>
        </p:txBody>
      </p:sp>
      <p:sp>
        <p:nvSpPr>
          <p:cNvPr id="7" name="Title 6">
            <a:extLst>
              <a:ext uri="{FF2B5EF4-FFF2-40B4-BE49-F238E27FC236}">
                <a16:creationId xmlns:a16="http://schemas.microsoft.com/office/drawing/2014/main" id="{FA1B99D5-F8E8-7B44-7C83-96775F4EFA30}"/>
              </a:ext>
            </a:extLst>
          </p:cNvPr>
          <p:cNvSpPr>
            <a:spLocks noGrp="1"/>
          </p:cNvSpPr>
          <p:nvPr>
            <p:ph type="title"/>
          </p:nvPr>
        </p:nvSpPr>
        <p:spPr/>
        <p:txBody>
          <a:bodyPr/>
          <a:lstStyle/>
          <a:p>
            <a:r>
              <a:rPr lang="en-GB" dirty="0"/>
              <a:t>Transient increase in Na</a:t>
            </a:r>
            <a:r>
              <a:rPr lang="en-GB" baseline="30000" dirty="0"/>
              <a:t>+</a:t>
            </a:r>
            <a:r>
              <a:rPr lang="en-GB" dirty="0"/>
              <a:t> permeability underlies the generation of the action potential</a:t>
            </a:r>
          </a:p>
        </p:txBody>
      </p:sp>
      <p:sp>
        <p:nvSpPr>
          <p:cNvPr id="2" name="Rectangle: Folded Corner 1">
            <a:extLst>
              <a:ext uri="{FF2B5EF4-FFF2-40B4-BE49-F238E27FC236}">
                <a16:creationId xmlns:a16="http://schemas.microsoft.com/office/drawing/2014/main" id="{FC15FD7C-06EA-7AB3-78C4-0CC94C74F88F}"/>
              </a:ext>
            </a:extLst>
          </p:cNvPr>
          <p:cNvSpPr/>
          <p:nvPr/>
        </p:nvSpPr>
        <p:spPr bwMode="auto">
          <a:xfrm rot="363422">
            <a:off x="5887952" y="1522832"/>
            <a:ext cx="2261878" cy="1859944"/>
          </a:xfrm>
          <a:prstGeom prst="foldedCorner">
            <a:avLst/>
          </a:prstGeom>
          <a:solidFill>
            <a:srgbClr val="FFFF99"/>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Candara" panose="020E0502030303020204"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chemeClr val="tx1"/>
                </a:solidFill>
                <a:effectLst/>
                <a:latin typeface="Candara" panose="020E0502030303020204" pitchFamily="34" charset="0"/>
              </a:rPr>
              <a:t>Change in ion permeability will cause a change in membrane potential</a:t>
            </a:r>
          </a:p>
        </p:txBody>
      </p:sp>
      <p:sp>
        <p:nvSpPr>
          <p:cNvPr id="3" name="TextBox 2">
            <a:extLst>
              <a:ext uri="{FF2B5EF4-FFF2-40B4-BE49-F238E27FC236}">
                <a16:creationId xmlns:a16="http://schemas.microsoft.com/office/drawing/2014/main" id="{B5A01D2E-9760-C785-2369-565E87E69C0C}"/>
              </a:ext>
            </a:extLst>
          </p:cNvPr>
          <p:cNvSpPr txBox="1"/>
          <p:nvPr/>
        </p:nvSpPr>
        <p:spPr>
          <a:xfrm>
            <a:off x="1306883" y="3668604"/>
            <a:ext cx="5184576" cy="584775"/>
          </a:xfrm>
          <a:prstGeom prst="rect">
            <a:avLst/>
          </a:prstGeom>
          <a:solidFill>
            <a:schemeClr val="accent4">
              <a:lumMod val="20000"/>
              <a:lumOff val="80000"/>
            </a:schemeClr>
          </a:solidFill>
          <a:ln w="22225" cmpd="sng">
            <a:solidFill>
              <a:srgbClr val="7030A0"/>
            </a:solidFill>
          </a:ln>
        </p:spPr>
        <p:txBody>
          <a:bodyPr wrap="square">
            <a:spAutoFit/>
          </a:bodyPr>
          <a:lstStyle/>
          <a:p>
            <a:pPr algn="ctr">
              <a:defRPr/>
            </a:pPr>
            <a:r>
              <a:rPr lang="en-GB" sz="1600" dirty="0">
                <a:latin typeface="+mn-lt"/>
              </a:rPr>
              <a:t>For neuron to generate an action potential the membrane potential must reach the threshold</a:t>
            </a:r>
          </a:p>
        </p:txBody>
      </p:sp>
      <p:sp>
        <p:nvSpPr>
          <p:cNvPr id="4" name="Rectangle: Folded Corner 3">
            <a:extLst>
              <a:ext uri="{FF2B5EF4-FFF2-40B4-BE49-F238E27FC236}">
                <a16:creationId xmlns:a16="http://schemas.microsoft.com/office/drawing/2014/main" id="{4E6F21B1-7B05-E357-A590-5D9E6E50D9CB}"/>
              </a:ext>
            </a:extLst>
          </p:cNvPr>
          <p:cNvSpPr/>
          <p:nvPr/>
        </p:nvSpPr>
        <p:spPr bwMode="auto">
          <a:xfrm rot="20912068">
            <a:off x="7244648" y="3370792"/>
            <a:ext cx="1675611" cy="1560290"/>
          </a:xfrm>
          <a:prstGeom prst="foldedCorner">
            <a:avLst/>
          </a:prstGeom>
          <a:solidFill>
            <a:srgbClr val="FFFF99"/>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1" i="0" u="none" strike="noStrike" cap="none" normalizeH="0" baseline="0" dirty="0">
              <a:ln>
                <a:noFill/>
              </a:ln>
              <a:solidFill>
                <a:schemeClr val="tx1"/>
              </a:solidFill>
              <a:effectLst/>
              <a:latin typeface="Candara" panose="020E0502030303020204" pitchFamily="34"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chemeClr val="tx1"/>
                </a:solidFill>
                <a:effectLst/>
                <a:latin typeface="Candara" panose="020E0502030303020204" pitchFamily="34" charset="0"/>
              </a:rPr>
              <a:t>Threshold is the point where Na entry is greater than K efflux</a:t>
            </a:r>
          </a:p>
        </p:txBody>
      </p:sp>
    </p:spTree>
    <p:extLst>
      <p:ext uri="{BB962C8B-B14F-4D97-AF65-F5344CB8AC3E}">
        <p14:creationId xmlns:p14="http://schemas.microsoft.com/office/powerpoint/2010/main" val="338198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B777F-3090-8BE6-926C-6370AADF2230}"/>
              </a:ext>
            </a:extLst>
          </p:cNvPr>
          <p:cNvSpPr>
            <a:spLocks noGrp="1"/>
          </p:cNvSpPr>
          <p:nvPr>
            <p:ph type="title"/>
          </p:nvPr>
        </p:nvSpPr>
        <p:spPr/>
        <p:txBody>
          <a:bodyPr/>
          <a:lstStyle/>
          <a:p>
            <a:r>
              <a:rPr lang="en-GB" dirty="0"/>
              <a:t>All or nothing…</a:t>
            </a:r>
          </a:p>
        </p:txBody>
      </p:sp>
      <p:grpSp>
        <p:nvGrpSpPr>
          <p:cNvPr id="6" name="Group 63">
            <a:extLst>
              <a:ext uri="{FF2B5EF4-FFF2-40B4-BE49-F238E27FC236}">
                <a16:creationId xmlns:a16="http://schemas.microsoft.com/office/drawing/2014/main" id="{57A07A0E-04C2-1478-2C31-EAA6EE8F2386}"/>
              </a:ext>
            </a:extLst>
          </p:cNvPr>
          <p:cNvGrpSpPr>
            <a:grpSpLocks/>
          </p:cNvGrpSpPr>
          <p:nvPr/>
        </p:nvGrpSpPr>
        <p:grpSpPr bwMode="auto">
          <a:xfrm>
            <a:off x="2655080" y="1414613"/>
            <a:ext cx="2328593" cy="509065"/>
            <a:chOff x="2199408" y="2023795"/>
            <a:chExt cx="2459012" cy="651787"/>
          </a:xfrm>
        </p:grpSpPr>
        <p:cxnSp>
          <p:nvCxnSpPr>
            <p:cNvPr id="7" name="Straight Connector 6">
              <a:extLst>
                <a:ext uri="{FF2B5EF4-FFF2-40B4-BE49-F238E27FC236}">
                  <a16:creationId xmlns:a16="http://schemas.microsoft.com/office/drawing/2014/main" id="{A3E825B9-C199-2E97-A161-8B5C92C789CF}"/>
                </a:ext>
              </a:extLst>
            </p:cNvPr>
            <p:cNvCxnSpPr/>
            <p:nvPr/>
          </p:nvCxnSpPr>
          <p:spPr>
            <a:xfrm>
              <a:off x="2199408" y="2055589"/>
              <a:ext cx="457217"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AE3FF4A-FEF9-E6E4-794A-73A70ECFEF0B}"/>
                </a:ext>
              </a:extLst>
            </p:cNvPr>
            <p:cNvCxnSpPr/>
            <p:nvPr/>
          </p:nvCxnSpPr>
          <p:spPr>
            <a:xfrm>
              <a:off x="2663834" y="2023795"/>
              <a:ext cx="0" cy="395842"/>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175E26C-DCE7-3F10-69BA-66FE6FDEF8A9}"/>
                </a:ext>
              </a:extLst>
            </p:cNvPr>
            <p:cNvCxnSpPr/>
            <p:nvPr/>
          </p:nvCxnSpPr>
          <p:spPr>
            <a:xfrm>
              <a:off x="2649421" y="2375136"/>
              <a:ext cx="360376"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8FE766E-76CA-BAB4-5E6B-7013E0B9E96F}"/>
                </a:ext>
              </a:extLst>
            </p:cNvPr>
            <p:cNvCxnSpPr/>
            <p:nvPr/>
          </p:nvCxnSpPr>
          <p:spPr>
            <a:xfrm flipV="1">
              <a:off x="2988179" y="2023795"/>
              <a:ext cx="0" cy="395842"/>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05A734-7327-D65B-BA24-696235B6B89C}"/>
                </a:ext>
              </a:extLst>
            </p:cNvPr>
            <p:cNvCxnSpPr/>
            <p:nvPr/>
          </p:nvCxnSpPr>
          <p:spPr>
            <a:xfrm>
              <a:off x="3009797" y="2055589"/>
              <a:ext cx="647726"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C556073-2671-C0F0-7B7A-757746C1726B}"/>
                </a:ext>
              </a:extLst>
            </p:cNvPr>
            <p:cNvCxnSpPr/>
            <p:nvPr/>
          </p:nvCxnSpPr>
          <p:spPr>
            <a:xfrm>
              <a:off x="3650317" y="2026974"/>
              <a:ext cx="0" cy="648608"/>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B49D5B1-91D1-A03C-8B9E-0A2EAD58EF98}"/>
                </a:ext>
              </a:extLst>
            </p:cNvPr>
            <p:cNvCxnSpPr/>
            <p:nvPr/>
          </p:nvCxnSpPr>
          <p:spPr>
            <a:xfrm>
              <a:off x="3652636" y="2638230"/>
              <a:ext cx="360377"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4A173B-7526-9403-EB2D-F8FE7A4C60B6}"/>
                </a:ext>
              </a:extLst>
            </p:cNvPr>
            <p:cNvCxnSpPr/>
            <p:nvPr/>
          </p:nvCxnSpPr>
          <p:spPr>
            <a:xfrm>
              <a:off x="4038538" y="2026974"/>
              <a:ext cx="0" cy="648608"/>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CA4E628-B9C6-5168-C074-6571C229B6CC}"/>
                </a:ext>
              </a:extLst>
            </p:cNvPr>
            <p:cNvCxnSpPr/>
            <p:nvPr/>
          </p:nvCxnSpPr>
          <p:spPr>
            <a:xfrm>
              <a:off x="4010694" y="2055589"/>
              <a:ext cx="647726"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64">
            <a:extLst>
              <a:ext uri="{FF2B5EF4-FFF2-40B4-BE49-F238E27FC236}">
                <a16:creationId xmlns:a16="http://schemas.microsoft.com/office/drawing/2014/main" id="{8C55B51E-CC4E-4AAD-4E75-2D5706E02A31}"/>
              </a:ext>
            </a:extLst>
          </p:cNvPr>
          <p:cNvGrpSpPr>
            <a:grpSpLocks/>
          </p:cNvGrpSpPr>
          <p:nvPr/>
        </p:nvGrpSpPr>
        <p:grpSpPr bwMode="auto">
          <a:xfrm>
            <a:off x="4938760" y="952553"/>
            <a:ext cx="1224338" cy="493367"/>
            <a:chOff x="4684004" y="1436589"/>
            <a:chExt cx="1271242" cy="653404"/>
          </a:xfrm>
        </p:grpSpPr>
        <p:cxnSp>
          <p:nvCxnSpPr>
            <p:cNvPr id="17" name="Straight Connector 16">
              <a:extLst>
                <a:ext uri="{FF2B5EF4-FFF2-40B4-BE49-F238E27FC236}">
                  <a16:creationId xmlns:a16="http://schemas.microsoft.com/office/drawing/2014/main" id="{E3BAAF41-A950-7226-D3E1-4CE709356358}"/>
                </a:ext>
              </a:extLst>
            </p:cNvPr>
            <p:cNvCxnSpPr/>
            <p:nvPr/>
          </p:nvCxnSpPr>
          <p:spPr>
            <a:xfrm>
              <a:off x="5616962" y="1436589"/>
              <a:ext cx="0" cy="648647"/>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CD8339D-B36B-2EF1-431B-5ED71914E30C}"/>
                </a:ext>
              </a:extLst>
            </p:cNvPr>
            <p:cNvCxnSpPr/>
            <p:nvPr/>
          </p:nvCxnSpPr>
          <p:spPr>
            <a:xfrm>
              <a:off x="5941071" y="1436589"/>
              <a:ext cx="0" cy="648647"/>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286A5EC-15A4-893D-C562-F46D9C54DABF}"/>
                </a:ext>
              </a:extLst>
            </p:cNvPr>
            <p:cNvCxnSpPr/>
            <p:nvPr/>
          </p:nvCxnSpPr>
          <p:spPr>
            <a:xfrm>
              <a:off x="5594956" y="1465136"/>
              <a:ext cx="36029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2716579-FE75-8D6A-0D44-DC138428F1C8}"/>
                </a:ext>
              </a:extLst>
            </p:cNvPr>
            <p:cNvCxnSpPr/>
            <p:nvPr/>
          </p:nvCxnSpPr>
          <p:spPr>
            <a:xfrm>
              <a:off x="4700716" y="1729988"/>
              <a:ext cx="0" cy="360005"/>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686E211-EEC5-B284-C21C-ACAE7FFB89F9}"/>
                </a:ext>
              </a:extLst>
            </p:cNvPr>
            <p:cNvCxnSpPr/>
            <p:nvPr/>
          </p:nvCxnSpPr>
          <p:spPr>
            <a:xfrm>
              <a:off x="4684004" y="1758534"/>
              <a:ext cx="360289"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F23BA8E-0EB5-DA6F-C548-C6C3C5D5649E}"/>
                </a:ext>
              </a:extLst>
            </p:cNvPr>
            <p:cNvCxnSpPr/>
            <p:nvPr/>
          </p:nvCxnSpPr>
          <p:spPr>
            <a:xfrm flipV="1">
              <a:off x="5023347" y="1729987"/>
              <a:ext cx="0" cy="360006"/>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6551109-DE49-931A-FC0B-601D1A354422}"/>
                </a:ext>
              </a:extLst>
            </p:cNvPr>
            <p:cNvCxnSpPr/>
            <p:nvPr/>
          </p:nvCxnSpPr>
          <p:spPr>
            <a:xfrm>
              <a:off x="4999861" y="2056689"/>
              <a:ext cx="647569"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4">
            <a:extLst>
              <a:ext uri="{FF2B5EF4-FFF2-40B4-BE49-F238E27FC236}">
                <a16:creationId xmlns:a16="http://schemas.microsoft.com/office/drawing/2014/main" id="{0F6EA739-7B24-13DF-0111-8E64AC5A6082}"/>
              </a:ext>
            </a:extLst>
          </p:cNvPr>
          <p:cNvGrpSpPr>
            <a:grpSpLocks/>
          </p:cNvGrpSpPr>
          <p:nvPr/>
        </p:nvGrpSpPr>
        <p:grpSpPr bwMode="auto">
          <a:xfrm>
            <a:off x="724056" y="1088279"/>
            <a:ext cx="8240977" cy="3678978"/>
            <a:chOff x="1987108" y="2937152"/>
            <a:chExt cx="6803011" cy="3434534"/>
          </a:xfrm>
        </p:grpSpPr>
        <p:sp>
          <p:nvSpPr>
            <p:cNvPr id="25" name="TextBox 8">
              <a:extLst>
                <a:ext uri="{FF2B5EF4-FFF2-40B4-BE49-F238E27FC236}">
                  <a16:creationId xmlns:a16="http://schemas.microsoft.com/office/drawing/2014/main" id="{17E9581C-7818-9E84-946B-467BDBD931DC}"/>
                </a:ext>
              </a:extLst>
            </p:cNvPr>
            <p:cNvSpPr txBox="1">
              <a:spLocks noChangeArrowheads="1"/>
            </p:cNvSpPr>
            <p:nvPr/>
          </p:nvSpPr>
          <p:spPr bwMode="auto">
            <a:xfrm>
              <a:off x="7065812" y="6055627"/>
              <a:ext cx="1724307" cy="31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600" b="1" dirty="0">
                  <a:latin typeface="Calibri" pitchFamily="34" charset="0"/>
                </a:rPr>
                <a:t>Time msec</a:t>
              </a:r>
              <a:endParaRPr lang="en-US" altLang="en-US" sz="1600" b="1" dirty="0">
                <a:latin typeface="Calibri" pitchFamily="34" charset="0"/>
              </a:endParaRPr>
            </a:p>
          </p:txBody>
        </p:sp>
        <p:sp>
          <p:nvSpPr>
            <p:cNvPr id="26" name="TextBox 15">
              <a:extLst>
                <a:ext uri="{FF2B5EF4-FFF2-40B4-BE49-F238E27FC236}">
                  <a16:creationId xmlns:a16="http://schemas.microsoft.com/office/drawing/2014/main" id="{D78F1008-8C66-4F8C-A7E9-BC2BB167C616}"/>
                </a:ext>
              </a:extLst>
            </p:cNvPr>
            <p:cNvSpPr txBox="1">
              <a:spLocks noChangeArrowheads="1"/>
            </p:cNvSpPr>
            <p:nvPr/>
          </p:nvSpPr>
          <p:spPr bwMode="auto">
            <a:xfrm>
              <a:off x="3795039" y="6046251"/>
              <a:ext cx="374650" cy="31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600" b="1" dirty="0">
                  <a:latin typeface="Calibri" pitchFamily="34" charset="0"/>
                </a:rPr>
                <a:t>1</a:t>
              </a:r>
              <a:endParaRPr lang="en-US" altLang="en-US" sz="1600" b="1" dirty="0">
                <a:latin typeface="Calibri" pitchFamily="34" charset="0"/>
              </a:endParaRPr>
            </a:p>
          </p:txBody>
        </p:sp>
        <p:sp>
          <p:nvSpPr>
            <p:cNvPr id="27" name="TextBox 16">
              <a:extLst>
                <a:ext uri="{FF2B5EF4-FFF2-40B4-BE49-F238E27FC236}">
                  <a16:creationId xmlns:a16="http://schemas.microsoft.com/office/drawing/2014/main" id="{FA89C482-3D2F-B1E2-457B-22928F9F6949}"/>
                </a:ext>
              </a:extLst>
            </p:cNvPr>
            <p:cNvSpPr txBox="1">
              <a:spLocks noChangeArrowheads="1"/>
            </p:cNvSpPr>
            <p:nvPr/>
          </p:nvSpPr>
          <p:spPr bwMode="auto">
            <a:xfrm>
              <a:off x="4474828" y="6046251"/>
              <a:ext cx="374650" cy="31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600" b="1">
                  <a:latin typeface="Calibri" pitchFamily="34" charset="0"/>
                </a:rPr>
                <a:t>2</a:t>
              </a:r>
              <a:endParaRPr lang="en-US" altLang="en-US" sz="1600" b="1">
                <a:latin typeface="Calibri" pitchFamily="34" charset="0"/>
              </a:endParaRPr>
            </a:p>
          </p:txBody>
        </p:sp>
        <p:sp>
          <p:nvSpPr>
            <p:cNvPr id="28" name="TextBox 17">
              <a:extLst>
                <a:ext uri="{FF2B5EF4-FFF2-40B4-BE49-F238E27FC236}">
                  <a16:creationId xmlns:a16="http://schemas.microsoft.com/office/drawing/2014/main" id="{8E71EF94-A5DB-55B5-2FA1-61C02253B49E}"/>
                </a:ext>
              </a:extLst>
            </p:cNvPr>
            <p:cNvSpPr txBox="1">
              <a:spLocks noChangeArrowheads="1"/>
            </p:cNvSpPr>
            <p:nvPr/>
          </p:nvSpPr>
          <p:spPr bwMode="auto">
            <a:xfrm>
              <a:off x="5205078" y="6046251"/>
              <a:ext cx="374650" cy="31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600" b="1" dirty="0">
                  <a:latin typeface="Calibri" pitchFamily="34" charset="0"/>
                </a:rPr>
                <a:t>3</a:t>
              </a:r>
              <a:endParaRPr lang="en-US" altLang="en-US" sz="1600" b="1" dirty="0">
                <a:latin typeface="Calibri" pitchFamily="34" charset="0"/>
              </a:endParaRPr>
            </a:p>
          </p:txBody>
        </p:sp>
        <p:cxnSp>
          <p:nvCxnSpPr>
            <p:cNvPr id="29" name="Straight Connector 28">
              <a:extLst>
                <a:ext uri="{FF2B5EF4-FFF2-40B4-BE49-F238E27FC236}">
                  <a16:creationId xmlns:a16="http://schemas.microsoft.com/office/drawing/2014/main" id="{1D2A8DED-DBD5-011E-C5B8-EF8229BD3A30}"/>
                </a:ext>
              </a:extLst>
            </p:cNvPr>
            <p:cNvCxnSpPr/>
            <p:nvPr/>
          </p:nvCxnSpPr>
          <p:spPr bwMode="auto">
            <a:xfrm rot="5400000" flipH="1" flipV="1">
              <a:off x="1418546" y="4491491"/>
              <a:ext cx="3017757"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0482078-BEDE-0A24-04D7-34EE56497982}"/>
                </a:ext>
              </a:extLst>
            </p:cNvPr>
            <p:cNvCxnSpPr/>
            <p:nvPr/>
          </p:nvCxnSpPr>
          <p:spPr bwMode="auto">
            <a:xfrm>
              <a:off x="2784677" y="5991571"/>
              <a:ext cx="554337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31" name="TextBox 7">
              <a:extLst>
                <a:ext uri="{FF2B5EF4-FFF2-40B4-BE49-F238E27FC236}">
                  <a16:creationId xmlns:a16="http://schemas.microsoft.com/office/drawing/2014/main" id="{90BE651A-0B96-E0FE-1EFC-31033A495948}"/>
                </a:ext>
              </a:extLst>
            </p:cNvPr>
            <p:cNvSpPr txBox="1">
              <a:spLocks noChangeArrowheads="1"/>
            </p:cNvSpPr>
            <p:nvPr/>
          </p:nvSpPr>
          <p:spPr bwMode="auto">
            <a:xfrm rot="16200000">
              <a:off x="505017" y="4419243"/>
              <a:ext cx="3396106" cy="431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algn="ctr" eaLnBrk="1" hangingPunct="1">
                <a:spcBef>
                  <a:spcPct val="0"/>
                </a:spcBef>
                <a:buClrTx/>
                <a:buSzTx/>
                <a:buFontTx/>
                <a:buNone/>
              </a:pPr>
              <a:r>
                <a:rPr lang="en-GB" altLang="en-US" sz="1400" b="1" dirty="0">
                  <a:latin typeface="Calibri" pitchFamily="34" charset="0"/>
                </a:rPr>
                <a:t>Membrane potential</a:t>
              </a:r>
            </a:p>
            <a:p>
              <a:pPr algn="ctr" eaLnBrk="1" hangingPunct="1">
                <a:spcBef>
                  <a:spcPct val="0"/>
                </a:spcBef>
                <a:buClrTx/>
                <a:buSzTx/>
                <a:buFontTx/>
                <a:buNone/>
              </a:pPr>
              <a:r>
                <a:rPr lang="en-GB" altLang="en-US" sz="1400" b="1" dirty="0">
                  <a:latin typeface="Calibri" pitchFamily="34" charset="0"/>
                </a:rPr>
                <a:t>mV</a:t>
              </a:r>
              <a:endParaRPr lang="en-US" altLang="en-US" sz="1400" b="1" dirty="0">
                <a:latin typeface="Calibri" pitchFamily="34" charset="0"/>
              </a:endParaRPr>
            </a:p>
          </p:txBody>
        </p:sp>
        <p:sp>
          <p:nvSpPr>
            <p:cNvPr id="32" name="TextBox 43">
              <a:extLst>
                <a:ext uri="{FF2B5EF4-FFF2-40B4-BE49-F238E27FC236}">
                  <a16:creationId xmlns:a16="http://schemas.microsoft.com/office/drawing/2014/main" id="{765C8BEF-5CFB-9493-1F77-3B0BC5A1C581}"/>
                </a:ext>
              </a:extLst>
            </p:cNvPr>
            <p:cNvSpPr txBox="1">
              <a:spLocks noChangeArrowheads="1"/>
            </p:cNvSpPr>
            <p:nvPr/>
          </p:nvSpPr>
          <p:spPr bwMode="auto">
            <a:xfrm>
              <a:off x="2379785" y="5481639"/>
              <a:ext cx="587376" cy="31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600" b="1">
                  <a:latin typeface="Calibri" pitchFamily="34" charset="0"/>
                </a:rPr>
                <a:t>-ve</a:t>
              </a:r>
              <a:endParaRPr lang="en-US" altLang="en-US" sz="1600" b="1">
                <a:latin typeface="Calibri" pitchFamily="34" charset="0"/>
              </a:endParaRPr>
            </a:p>
          </p:txBody>
        </p:sp>
        <p:sp>
          <p:nvSpPr>
            <p:cNvPr id="33" name="TextBox 44">
              <a:extLst>
                <a:ext uri="{FF2B5EF4-FFF2-40B4-BE49-F238E27FC236}">
                  <a16:creationId xmlns:a16="http://schemas.microsoft.com/office/drawing/2014/main" id="{F56634D4-9E73-7FFB-571F-145FB698BB6B}"/>
                </a:ext>
              </a:extLst>
            </p:cNvPr>
            <p:cNvSpPr txBox="1">
              <a:spLocks noChangeArrowheads="1"/>
            </p:cNvSpPr>
            <p:nvPr/>
          </p:nvSpPr>
          <p:spPr bwMode="auto">
            <a:xfrm>
              <a:off x="2297969" y="3214688"/>
              <a:ext cx="642938" cy="31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600" b="1">
                  <a:latin typeface="Calibri" pitchFamily="34" charset="0"/>
                </a:rPr>
                <a:t>+ve</a:t>
              </a:r>
              <a:endParaRPr lang="en-US" altLang="en-US" sz="1600" b="1">
                <a:latin typeface="Calibri" pitchFamily="34" charset="0"/>
              </a:endParaRPr>
            </a:p>
          </p:txBody>
        </p:sp>
        <p:sp>
          <p:nvSpPr>
            <p:cNvPr id="34" name="TextBox 45">
              <a:extLst>
                <a:ext uri="{FF2B5EF4-FFF2-40B4-BE49-F238E27FC236}">
                  <a16:creationId xmlns:a16="http://schemas.microsoft.com/office/drawing/2014/main" id="{82B6F2C5-563A-BE19-2AAE-705D7AE6F650}"/>
                </a:ext>
              </a:extLst>
            </p:cNvPr>
            <p:cNvSpPr txBox="1">
              <a:spLocks noChangeArrowheads="1"/>
            </p:cNvSpPr>
            <p:nvPr/>
          </p:nvSpPr>
          <p:spPr bwMode="auto">
            <a:xfrm>
              <a:off x="2578223" y="4429126"/>
              <a:ext cx="374650" cy="31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600" b="1">
                  <a:latin typeface="Calibri" pitchFamily="34" charset="0"/>
                </a:rPr>
                <a:t>0</a:t>
              </a:r>
              <a:endParaRPr lang="en-US" altLang="en-US" sz="1600" b="1">
                <a:latin typeface="Calibri" pitchFamily="34" charset="0"/>
              </a:endParaRPr>
            </a:p>
          </p:txBody>
        </p:sp>
        <p:sp>
          <p:nvSpPr>
            <p:cNvPr id="35" name="TextBox 22">
              <a:extLst>
                <a:ext uri="{FF2B5EF4-FFF2-40B4-BE49-F238E27FC236}">
                  <a16:creationId xmlns:a16="http://schemas.microsoft.com/office/drawing/2014/main" id="{1B95D6BD-1C4B-6B41-273F-4EC5C0BD2C86}"/>
                </a:ext>
              </a:extLst>
            </p:cNvPr>
            <p:cNvSpPr txBox="1">
              <a:spLocks noChangeArrowheads="1"/>
            </p:cNvSpPr>
            <p:nvPr/>
          </p:nvSpPr>
          <p:spPr bwMode="auto">
            <a:xfrm>
              <a:off x="2987334" y="4932903"/>
              <a:ext cx="2643187" cy="244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050" i="1" dirty="0">
                  <a:latin typeface="Calibri" pitchFamily="34" charset="0"/>
                </a:rPr>
                <a:t>Threshold of excitation</a:t>
              </a:r>
              <a:endParaRPr lang="en-US" altLang="en-US" sz="1050" i="1" dirty="0">
                <a:latin typeface="Calibri" pitchFamily="34" charset="0"/>
              </a:endParaRPr>
            </a:p>
          </p:txBody>
        </p:sp>
        <p:cxnSp>
          <p:nvCxnSpPr>
            <p:cNvPr id="36" name="Straight Connector 35">
              <a:extLst>
                <a:ext uri="{FF2B5EF4-FFF2-40B4-BE49-F238E27FC236}">
                  <a16:creationId xmlns:a16="http://schemas.microsoft.com/office/drawing/2014/main" id="{9B0EDE17-4364-1953-D663-EDC461841684}"/>
                </a:ext>
              </a:extLst>
            </p:cNvPr>
            <p:cNvCxnSpPr/>
            <p:nvPr/>
          </p:nvCxnSpPr>
          <p:spPr>
            <a:xfrm>
              <a:off x="2927425" y="5142551"/>
              <a:ext cx="5161395" cy="4400"/>
            </a:xfrm>
            <a:prstGeom prst="line">
              <a:avLst/>
            </a:prstGeom>
            <a:ln w="34925">
              <a:prstDash val="dash"/>
            </a:ln>
          </p:spPr>
          <p:style>
            <a:lnRef idx="1">
              <a:schemeClr val="accent1"/>
            </a:lnRef>
            <a:fillRef idx="0">
              <a:schemeClr val="accent1"/>
            </a:fillRef>
            <a:effectRef idx="0">
              <a:schemeClr val="accent1"/>
            </a:effectRef>
            <a:fontRef idx="minor">
              <a:schemeClr val="tx1"/>
            </a:fontRef>
          </p:style>
        </p:cxnSp>
      </p:grpSp>
      <p:sp>
        <p:nvSpPr>
          <p:cNvPr id="37" name="TextBox 50">
            <a:extLst>
              <a:ext uri="{FF2B5EF4-FFF2-40B4-BE49-F238E27FC236}">
                <a16:creationId xmlns:a16="http://schemas.microsoft.com/office/drawing/2014/main" id="{A23339E5-5352-32DD-1769-EE02B4262628}"/>
              </a:ext>
            </a:extLst>
          </p:cNvPr>
          <p:cNvSpPr txBox="1">
            <a:spLocks noChangeArrowheads="1"/>
          </p:cNvSpPr>
          <p:nvPr/>
        </p:nvSpPr>
        <p:spPr bwMode="auto">
          <a:xfrm>
            <a:off x="2286144" y="1734289"/>
            <a:ext cx="18552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100" dirty="0">
                <a:solidFill>
                  <a:srgbClr val="FF0000"/>
                </a:solidFill>
              </a:rPr>
              <a:t>Hyperpolarising stimuli</a:t>
            </a:r>
          </a:p>
        </p:txBody>
      </p:sp>
      <p:sp>
        <p:nvSpPr>
          <p:cNvPr id="38" name="TextBox 51">
            <a:extLst>
              <a:ext uri="{FF2B5EF4-FFF2-40B4-BE49-F238E27FC236}">
                <a16:creationId xmlns:a16="http://schemas.microsoft.com/office/drawing/2014/main" id="{CACF4F06-2ACB-54A9-491C-3437DF89E9E5}"/>
              </a:ext>
            </a:extLst>
          </p:cNvPr>
          <p:cNvSpPr txBox="1">
            <a:spLocks noChangeArrowheads="1"/>
          </p:cNvSpPr>
          <p:nvPr/>
        </p:nvSpPr>
        <p:spPr bwMode="auto">
          <a:xfrm>
            <a:off x="3995936" y="915566"/>
            <a:ext cx="166036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algn="ctr" eaLnBrk="1" hangingPunct="1">
              <a:spcBef>
                <a:spcPct val="0"/>
              </a:spcBef>
              <a:buClrTx/>
              <a:buSzTx/>
              <a:buFontTx/>
              <a:buNone/>
            </a:pPr>
            <a:r>
              <a:rPr lang="en-GB" altLang="en-US" sz="1100" dirty="0">
                <a:solidFill>
                  <a:srgbClr val="FF0000"/>
                </a:solidFill>
              </a:rPr>
              <a:t>Sub-threshold stimuli</a:t>
            </a:r>
          </a:p>
        </p:txBody>
      </p:sp>
      <p:sp>
        <p:nvSpPr>
          <p:cNvPr id="39" name="TextBox 52">
            <a:extLst>
              <a:ext uri="{FF2B5EF4-FFF2-40B4-BE49-F238E27FC236}">
                <a16:creationId xmlns:a16="http://schemas.microsoft.com/office/drawing/2014/main" id="{203FF921-7313-781B-42BE-9D1D061A7BC9}"/>
              </a:ext>
            </a:extLst>
          </p:cNvPr>
          <p:cNvSpPr txBox="1">
            <a:spLocks noChangeArrowheads="1"/>
          </p:cNvSpPr>
          <p:nvPr/>
        </p:nvSpPr>
        <p:spPr bwMode="auto">
          <a:xfrm>
            <a:off x="5508104" y="627534"/>
            <a:ext cx="216311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algn="ctr" eaLnBrk="1" hangingPunct="1">
              <a:spcBef>
                <a:spcPct val="0"/>
              </a:spcBef>
              <a:buClrTx/>
              <a:buSzTx/>
              <a:buFontTx/>
              <a:buNone/>
            </a:pPr>
            <a:r>
              <a:rPr lang="en-GB" altLang="en-US" sz="1100" dirty="0">
                <a:solidFill>
                  <a:srgbClr val="FF0000"/>
                </a:solidFill>
              </a:rPr>
              <a:t>Supra-threshold stimuli</a:t>
            </a:r>
          </a:p>
        </p:txBody>
      </p:sp>
      <p:sp>
        <p:nvSpPr>
          <p:cNvPr id="40" name="TextBox 53">
            <a:extLst>
              <a:ext uri="{FF2B5EF4-FFF2-40B4-BE49-F238E27FC236}">
                <a16:creationId xmlns:a16="http://schemas.microsoft.com/office/drawing/2014/main" id="{8B332BC9-AC1E-8D24-C75C-DF15B5CB90AA}"/>
              </a:ext>
            </a:extLst>
          </p:cNvPr>
          <p:cNvSpPr txBox="1">
            <a:spLocks noChangeArrowheads="1"/>
          </p:cNvSpPr>
          <p:nvPr/>
        </p:nvSpPr>
        <p:spPr bwMode="auto">
          <a:xfrm>
            <a:off x="2173305" y="3929906"/>
            <a:ext cx="24876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100" dirty="0"/>
              <a:t>hyperpolarisation</a:t>
            </a:r>
          </a:p>
        </p:txBody>
      </p:sp>
      <p:sp>
        <p:nvSpPr>
          <p:cNvPr id="41" name="TextBox 54">
            <a:extLst>
              <a:ext uri="{FF2B5EF4-FFF2-40B4-BE49-F238E27FC236}">
                <a16:creationId xmlns:a16="http://schemas.microsoft.com/office/drawing/2014/main" id="{66252D4D-F6A0-DE4A-05A7-4EFDCB5882F4}"/>
              </a:ext>
            </a:extLst>
          </p:cNvPr>
          <p:cNvSpPr txBox="1">
            <a:spLocks noChangeArrowheads="1"/>
          </p:cNvSpPr>
          <p:nvPr/>
        </p:nvSpPr>
        <p:spPr bwMode="auto">
          <a:xfrm>
            <a:off x="4651393" y="2966294"/>
            <a:ext cx="16347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eaLnBrk="1" hangingPunct="1">
              <a:spcBef>
                <a:spcPct val="0"/>
              </a:spcBef>
              <a:buClrTx/>
              <a:buSzTx/>
              <a:buFontTx/>
              <a:buNone/>
            </a:pPr>
            <a:r>
              <a:rPr lang="en-GB" altLang="en-US" sz="1100"/>
              <a:t>depolarisation</a:t>
            </a:r>
          </a:p>
        </p:txBody>
      </p:sp>
      <p:sp>
        <p:nvSpPr>
          <p:cNvPr id="42" name="TextBox 55">
            <a:extLst>
              <a:ext uri="{FF2B5EF4-FFF2-40B4-BE49-F238E27FC236}">
                <a16:creationId xmlns:a16="http://schemas.microsoft.com/office/drawing/2014/main" id="{4DCFDE86-E627-FE38-DE5E-C7C9502B0B21}"/>
              </a:ext>
            </a:extLst>
          </p:cNvPr>
          <p:cNvSpPr txBox="1">
            <a:spLocks noChangeArrowheads="1"/>
          </p:cNvSpPr>
          <p:nvPr/>
        </p:nvSpPr>
        <p:spPr bwMode="auto">
          <a:xfrm>
            <a:off x="6459168" y="2322357"/>
            <a:ext cx="242409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742950" indent="-28575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algn="ctr" eaLnBrk="1" hangingPunct="1">
              <a:spcBef>
                <a:spcPct val="0"/>
              </a:spcBef>
              <a:buClrTx/>
              <a:buSzTx/>
              <a:buFontTx/>
              <a:buNone/>
            </a:pPr>
            <a:r>
              <a:rPr lang="en-GB" altLang="en-US" sz="1100" i="1" dirty="0"/>
              <a:t>Depolarisation and all or nothing</a:t>
            </a:r>
          </a:p>
          <a:p>
            <a:pPr algn="ctr" eaLnBrk="1" hangingPunct="1">
              <a:spcBef>
                <a:spcPct val="0"/>
              </a:spcBef>
              <a:buClrTx/>
              <a:buSzTx/>
              <a:buFontTx/>
              <a:buNone/>
            </a:pPr>
            <a:r>
              <a:rPr lang="en-GB" altLang="en-US" sz="1100" i="1" dirty="0"/>
              <a:t>action potential</a:t>
            </a:r>
          </a:p>
        </p:txBody>
      </p:sp>
      <p:sp>
        <p:nvSpPr>
          <p:cNvPr id="43" name="Freeform 43">
            <a:extLst>
              <a:ext uri="{FF2B5EF4-FFF2-40B4-BE49-F238E27FC236}">
                <a16:creationId xmlns:a16="http://schemas.microsoft.com/office/drawing/2014/main" id="{BBE1694B-5C4D-93C2-1ECB-9403482E4AD9}"/>
              </a:ext>
            </a:extLst>
          </p:cNvPr>
          <p:cNvSpPr/>
          <p:nvPr/>
        </p:nvSpPr>
        <p:spPr>
          <a:xfrm>
            <a:off x="2804052" y="3676672"/>
            <a:ext cx="2004889" cy="380520"/>
          </a:xfrm>
          <a:custGeom>
            <a:avLst/>
            <a:gdLst>
              <a:gd name="connsiteX0" fmla="*/ 0 w 2228850"/>
              <a:gd name="connsiteY0" fmla="*/ 9877 h 445557"/>
              <a:gd name="connsiteX1" fmla="*/ 352425 w 2228850"/>
              <a:gd name="connsiteY1" fmla="*/ 9877 h 445557"/>
              <a:gd name="connsiteX2" fmla="*/ 466725 w 2228850"/>
              <a:gd name="connsiteY2" fmla="*/ 19402 h 445557"/>
              <a:gd name="connsiteX3" fmla="*/ 504825 w 2228850"/>
              <a:gd name="connsiteY3" fmla="*/ 124177 h 445557"/>
              <a:gd name="connsiteX4" fmla="*/ 552450 w 2228850"/>
              <a:gd name="connsiteY4" fmla="*/ 219427 h 445557"/>
              <a:gd name="connsiteX5" fmla="*/ 647700 w 2228850"/>
              <a:gd name="connsiteY5" fmla="*/ 248002 h 445557"/>
              <a:gd name="connsiteX6" fmla="*/ 762000 w 2228850"/>
              <a:gd name="connsiteY6" fmla="*/ 248002 h 445557"/>
              <a:gd name="connsiteX7" fmla="*/ 781050 w 2228850"/>
              <a:gd name="connsiteY7" fmla="*/ 190852 h 445557"/>
              <a:gd name="connsiteX8" fmla="*/ 809625 w 2228850"/>
              <a:gd name="connsiteY8" fmla="*/ 76552 h 445557"/>
              <a:gd name="connsiteX9" fmla="*/ 857250 w 2228850"/>
              <a:gd name="connsiteY9" fmla="*/ 9877 h 445557"/>
              <a:gd name="connsiteX10" fmla="*/ 1038225 w 2228850"/>
              <a:gd name="connsiteY10" fmla="*/ 9877 h 445557"/>
              <a:gd name="connsiteX11" fmla="*/ 1171575 w 2228850"/>
              <a:gd name="connsiteY11" fmla="*/ 9877 h 445557"/>
              <a:gd name="connsiteX12" fmla="*/ 1343025 w 2228850"/>
              <a:gd name="connsiteY12" fmla="*/ 9877 h 445557"/>
              <a:gd name="connsiteX13" fmla="*/ 1371600 w 2228850"/>
              <a:gd name="connsiteY13" fmla="*/ 143227 h 445557"/>
              <a:gd name="connsiteX14" fmla="*/ 1409700 w 2228850"/>
              <a:gd name="connsiteY14" fmla="*/ 305152 h 445557"/>
              <a:gd name="connsiteX15" fmla="*/ 1419225 w 2228850"/>
              <a:gd name="connsiteY15" fmla="*/ 400402 h 445557"/>
              <a:gd name="connsiteX16" fmla="*/ 1485900 w 2228850"/>
              <a:gd name="connsiteY16" fmla="*/ 438502 h 445557"/>
              <a:gd name="connsiteX17" fmla="*/ 1562100 w 2228850"/>
              <a:gd name="connsiteY17" fmla="*/ 438502 h 445557"/>
              <a:gd name="connsiteX18" fmla="*/ 1647825 w 2228850"/>
              <a:gd name="connsiteY18" fmla="*/ 438502 h 445557"/>
              <a:gd name="connsiteX19" fmla="*/ 1676400 w 2228850"/>
              <a:gd name="connsiteY19" fmla="*/ 438502 h 445557"/>
              <a:gd name="connsiteX20" fmla="*/ 1676400 w 2228850"/>
              <a:gd name="connsiteY20" fmla="*/ 343252 h 445557"/>
              <a:gd name="connsiteX21" fmla="*/ 1704975 w 2228850"/>
              <a:gd name="connsiteY21" fmla="*/ 181327 h 445557"/>
              <a:gd name="connsiteX22" fmla="*/ 1733550 w 2228850"/>
              <a:gd name="connsiteY22" fmla="*/ 76552 h 445557"/>
              <a:gd name="connsiteX23" fmla="*/ 1790700 w 2228850"/>
              <a:gd name="connsiteY23" fmla="*/ 28927 h 445557"/>
              <a:gd name="connsiteX24" fmla="*/ 1885950 w 2228850"/>
              <a:gd name="connsiteY24" fmla="*/ 28927 h 445557"/>
              <a:gd name="connsiteX25" fmla="*/ 2019300 w 2228850"/>
              <a:gd name="connsiteY25" fmla="*/ 19402 h 445557"/>
              <a:gd name="connsiteX26" fmla="*/ 2143125 w 2228850"/>
              <a:gd name="connsiteY26" fmla="*/ 19402 h 445557"/>
              <a:gd name="connsiteX27" fmla="*/ 2228850 w 2228850"/>
              <a:gd name="connsiteY27" fmla="*/ 19402 h 445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28850" h="445557">
                <a:moveTo>
                  <a:pt x="0" y="9877"/>
                </a:moveTo>
                <a:lnTo>
                  <a:pt x="352425" y="9877"/>
                </a:lnTo>
                <a:cubicBezTo>
                  <a:pt x="430212" y="11464"/>
                  <a:pt x="441325" y="352"/>
                  <a:pt x="466725" y="19402"/>
                </a:cubicBezTo>
                <a:cubicBezTo>
                  <a:pt x="492125" y="38452"/>
                  <a:pt x="490538" y="90840"/>
                  <a:pt x="504825" y="124177"/>
                </a:cubicBezTo>
                <a:cubicBezTo>
                  <a:pt x="519112" y="157514"/>
                  <a:pt x="528638" y="198790"/>
                  <a:pt x="552450" y="219427"/>
                </a:cubicBezTo>
                <a:cubicBezTo>
                  <a:pt x="576262" y="240064"/>
                  <a:pt x="612775" y="243240"/>
                  <a:pt x="647700" y="248002"/>
                </a:cubicBezTo>
                <a:cubicBezTo>
                  <a:pt x="682625" y="252765"/>
                  <a:pt x="739775" y="257527"/>
                  <a:pt x="762000" y="248002"/>
                </a:cubicBezTo>
                <a:cubicBezTo>
                  <a:pt x="784225" y="238477"/>
                  <a:pt x="773112" y="219427"/>
                  <a:pt x="781050" y="190852"/>
                </a:cubicBezTo>
                <a:cubicBezTo>
                  <a:pt x="788988" y="162277"/>
                  <a:pt x="796925" y="106715"/>
                  <a:pt x="809625" y="76552"/>
                </a:cubicBezTo>
                <a:cubicBezTo>
                  <a:pt x="822325" y="46390"/>
                  <a:pt x="819150" y="20989"/>
                  <a:pt x="857250" y="9877"/>
                </a:cubicBezTo>
                <a:cubicBezTo>
                  <a:pt x="895350" y="-1235"/>
                  <a:pt x="1038225" y="9877"/>
                  <a:pt x="1038225" y="9877"/>
                </a:cubicBezTo>
                <a:lnTo>
                  <a:pt x="1171575" y="9877"/>
                </a:lnTo>
                <a:cubicBezTo>
                  <a:pt x="1222375" y="9877"/>
                  <a:pt x="1309688" y="-12348"/>
                  <a:pt x="1343025" y="9877"/>
                </a:cubicBezTo>
                <a:cubicBezTo>
                  <a:pt x="1376362" y="32102"/>
                  <a:pt x="1360488" y="94015"/>
                  <a:pt x="1371600" y="143227"/>
                </a:cubicBezTo>
                <a:cubicBezTo>
                  <a:pt x="1382712" y="192439"/>
                  <a:pt x="1401763" y="262290"/>
                  <a:pt x="1409700" y="305152"/>
                </a:cubicBezTo>
                <a:cubicBezTo>
                  <a:pt x="1417637" y="348014"/>
                  <a:pt x="1406525" y="378177"/>
                  <a:pt x="1419225" y="400402"/>
                </a:cubicBezTo>
                <a:cubicBezTo>
                  <a:pt x="1431925" y="422627"/>
                  <a:pt x="1462088" y="432152"/>
                  <a:pt x="1485900" y="438502"/>
                </a:cubicBezTo>
                <a:cubicBezTo>
                  <a:pt x="1509712" y="444852"/>
                  <a:pt x="1562100" y="438502"/>
                  <a:pt x="1562100" y="438502"/>
                </a:cubicBezTo>
                <a:lnTo>
                  <a:pt x="1647825" y="438502"/>
                </a:lnTo>
                <a:cubicBezTo>
                  <a:pt x="1666875" y="438502"/>
                  <a:pt x="1671638" y="454377"/>
                  <a:pt x="1676400" y="438502"/>
                </a:cubicBezTo>
                <a:cubicBezTo>
                  <a:pt x="1681162" y="422627"/>
                  <a:pt x="1671638" y="386115"/>
                  <a:pt x="1676400" y="343252"/>
                </a:cubicBezTo>
                <a:cubicBezTo>
                  <a:pt x="1681163" y="300390"/>
                  <a:pt x="1695450" y="225777"/>
                  <a:pt x="1704975" y="181327"/>
                </a:cubicBezTo>
                <a:cubicBezTo>
                  <a:pt x="1714500" y="136877"/>
                  <a:pt x="1719263" y="101952"/>
                  <a:pt x="1733550" y="76552"/>
                </a:cubicBezTo>
                <a:cubicBezTo>
                  <a:pt x="1747837" y="51152"/>
                  <a:pt x="1765300" y="36864"/>
                  <a:pt x="1790700" y="28927"/>
                </a:cubicBezTo>
                <a:cubicBezTo>
                  <a:pt x="1816100" y="20990"/>
                  <a:pt x="1847850" y="30515"/>
                  <a:pt x="1885950" y="28927"/>
                </a:cubicBezTo>
                <a:cubicBezTo>
                  <a:pt x="1924050" y="27339"/>
                  <a:pt x="1976438" y="20989"/>
                  <a:pt x="2019300" y="19402"/>
                </a:cubicBezTo>
                <a:cubicBezTo>
                  <a:pt x="2062162" y="17815"/>
                  <a:pt x="2143125" y="19402"/>
                  <a:pt x="2143125" y="19402"/>
                </a:cubicBezTo>
                <a:lnTo>
                  <a:pt x="2228850" y="19402"/>
                </a:lnTo>
              </a:path>
            </a:pathLst>
          </a:custGeom>
          <a:ln/>
        </p:spPr>
        <p:style>
          <a:lnRef idx="3">
            <a:schemeClr val="accent2"/>
          </a:lnRef>
          <a:fillRef idx="0">
            <a:schemeClr val="accent2"/>
          </a:fillRef>
          <a:effectRef idx="2">
            <a:schemeClr val="accent2"/>
          </a:effectRef>
          <a:fontRef idx="minor">
            <a:schemeClr val="tx1"/>
          </a:fontRef>
        </p:style>
        <p:txBody>
          <a:bodyPr anchor="ctr"/>
          <a:lstStyle/>
          <a:p>
            <a:pPr algn="ctr">
              <a:defRPr/>
            </a:pPr>
            <a:endParaRPr lang="en-GB"/>
          </a:p>
        </p:txBody>
      </p:sp>
      <p:sp>
        <p:nvSpPr>
          <p:cNvPr id="44" name="Freeform 44">
            <a:extLst>
              <a:ext uri="{FF2B5EF4-FFF2-40B4-BE49-F238E27FC236}">
                <a16:creationId xmlns:a16="http://schemas.microsoft.com/office/drawing/2014/main" id="{F44A5F69-84D8-69A3-D7D0-AB24A8A83EB6}"/>
              </a:ext>
            </a:extLst>
          </p:cNvPr>
          <p:cNvSpPr/>
          <p:nvPr/>
        </p:nvSpPr>
        <p:spPr>
          <a:xfrm>
            <a:off x="4788024" y="1906666"/>
            <a:ext cx="2844544" cy="2053408"/>
          </a:xfrm>
          <a:custGeom>
            <a:avLst/>
            <a:gdLst>
              <a:gd name="connsiteX0" fmla="*/ 0 w 3162300"/>
              <a:gd name="connsiteY0" fmla="*/ 2302199 h 2646888"/>
              <a:gd name="connsiteX1" fmla="*/ 171450 w 3162300"/>
              <a:gd name="connsiteY1" fmla="*/ 2311724 h 2646888"/>
              <a:gd name="connsiteX2" fmla="*/ 314325 w 3162300"/>
              <a:gd name="connsiteY2" fmla="*/ 2302199 h 2646888"/>
              <a:gd name="connsiteX3" fmla="*/ 361950 w 3162300"/>
              <a:gd name="connsiteY3" fmla="*/ 2178374 h 2646888"/>
              <a:gd name="connsiteX4" fmla="*/ 438150 w 3162300"/>
              <a:gd name="connsiteY4" fmla="*/ 2121224 h 2646888"/>
              <a:gd name="connsiteX5" fmla="*/ 581025 w 3162300"/>
              <a:gd name="connsiteY5" fmla="*/ 2111699 h 2646888"/>
              <a:gd name="connsiteX6" fmla="*/ 657225 w 3162300"/>
              <a:gd name="connsiteY6" fmla="*/ 2111699 h 2646888"/>
              <a:gd name="connsiteX7" fmla="*/ 676275 w 3162300"/>
              <a:gd name="connsiteY7" fmla="*/ 2187899 h 2646888"/>
              <a:gd name="connsiteX8" fmla="*/ 714375 w 3162300"/>
              <a:gd name="connsiteY8" fmla="*/ 2254574 h 2646888"/>
              <a:gd name="connsiteX9" fmla="*/ 800100 w 3162300"/>
              <a:gd name="connsiteY9" fmla="*/ 2283149 h 2646888"/>
              <a:gd name="connsiteX10" fmla="*/ 962025 w 3162300"/>
              <a:gd name="connsiteY10" fmla="*/ 2302199 h 2646888"/>
              <a:gd name="connsiteX11" fmla="*/ 1104900 w 3162300"/>
              <a:gd name="connsiteY11" fmla="*/ 2302199 h 2646888"/>
              <a:gd name="connsiteX12" fmla="*/ 1171575 w 3162300"/>
              <a:gd name="connsiteY12" fmla="*/ 2292674 h 2646888"/>
              <a:gd name="connsiteX13" fmla="*/ 1200150 w 3162300"/>
              <a:gd name="connsiteY13" fmla="*/ 2225999 h 2646888"/>
              <a:gd name="connsiteX14" fmla="*/ 1200150 w 3162300"/>
              <a:gd name="connsiteY14" fmla="*/ 2140274 h 2646888"/>
              <a:gd name="connsiteX15" fmla="*/ 1209675 w 3162300"/>
              <a:gd name="connsiteY15" fmla="*/ 2064074 h 2646888"/>
              <a:gd name="connsiteX16" fmla="*/ 1238250 w 3162300"/>
              <a:gd name="connsiteY16" fmla="*/ 1997399 h 2646888"/>
              <a:gd name="connsiteX17" fmla="*/ 1276350 w 3162300"/>
              <a:gd name="connsiteY17" fmla="*/ 1378274 h 2646888"/>
              <a:gd name="connsiteX18" fmla="*/ 1314450 w 3162300"/>
              <a:gd name="connsiteY18" fmla="*/ 120974 h 2646888"/>
              <a:gd name="connsiteX19" fmla="*/ 1333500 w 3162300"/>
              <a:gd name="connsiteY19" fmla="*/ 63824 h 2646888"/>
              <a:gd name="connsiteX20" fmla="*/ 1381125 w 3162300"/>
              <a:gd name="connsiteY20" fmla="*/ 244799 h 2646888"/>
              <a:gd name="connsiteX21" fmla="*/ 1409700 w 3162300"/>
              <a:gd name="connsiteY21" fmla="*/ 911549 h 2646888"/>
              <a:gd name="connsiteX22" fmla="*/ 1524000 w 3162300"/>
              <a:gd name="connsiteY22" fmla="*/ 2349824 h 2646888"/>
              <a:gd name="connsiteX23" fmla="*/ 1647825 w 3162300"/>
              <a:gd name="connsiteY23" fmla="*/ 2616524 h 2646888"/>
              <a:gd name="connsiteX24" fmla="*/ 1743075 w 3162300"/>
              <a:gd name="connsiteY24" fmla="*/ 2635574 h 2646888"/>
              <a:gd name="connsiteX25" fmla="*/ 1885950 w 3162300"/>
              <a:gd name="connsiteY25" fmla="*/ 2568899 h 2646888"/>
              <a:gd name="connsiteX26" fmla="*/ 2181225 w 3162300"/>
              <a:gd name="connsiteY26" fmla="*/ 2435549 h 2646888"/>
              <a:gd name="connsiteX27" fmla="*/ 2447925 w 3162300"/>
              <a:gd name="connsiteY27" fmla="*/ 2330774 h 2646888"/>
              <a:gd name="connsiteX28" fmla="*/ 2752725 w 3162300"/>
              <a:gd name="connsiteY28" fmla="*/ 2283149 h 2646888"/>
              <a:gd name="connsiteX29" fmla="*/ 3162300 w 3162300"/>
              <a:gd name="connsiteY29" fmla="*/ 2264099 h 2646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162300" h="2646888">
                <a:moveTo>
                  <a:pt x="0" y="2302199"/>
                </a:moveTo>
                <a:cubicBezTo>
                  <a:pt x="59531" y="2306961"/>
                  <a:pt x="119063" y="2311724"/>
                  <a:pt x="171450" y="2311724"/>
                </a:cubicBezTo>
                <a:cubicBezTo>
                  <a:pt x="223837" y="2311724"/>
                  <a:pt x="282575" y="2324424"/>
                  <a:pt x="314325" y="2302199"/>
                </a:cubicBezTo>
                <a:cubicBezTo>
                  <a:pt x="346075" y="2279974"/>
                  <a:pt x="341313" y="2208536"/>
                  <a:pt x="361950" y="2178374"/>
                </a:cubicBezTo>
                <a:cubicBezTo>
                  <a:pt x="382587" y="2148212"/>
                  <a:pt x="401638" y="2132336"/>
                  <a:pt x="438150" y="2121224"/>
                </a:cubicBezTo>
                <a:cubicBezTo>
                  <a:pt x="474662" y="2110112"/>
                  <a:pt x="544513" y="2113286"/>
                  <a:pt x="581025" y="2111699"/>
                </a:cubicBezTo>
                <a:cubicBezTo>
                  <a:pt x="617537" y="2110112"/>
                  <a:pt x="641350" y="2098999"/>
                  <a:pt x="657225" y="2111699"/>
                </a:cubicBezTo>
                <a:cubicBezTo>
                  <a:pt x="673100" y="2124399"/>
                  <a:pt x="666750" y="2164086"/>
                  <a:pt x="676275" y="2187899"/>
                </a:cubicBezTo>
                <a:cubicBezTo>
                  <a:pt x="685800" y="2211711"/>
                  <a:pt x="693738" y="2238699"/>
                  <a:pt x="714375" y="2254574"/>
                </a:cubicBezTo>
                <a:cubicBezTo>
                  <a:pt x="735013" y="2270449"/>
                  <a:pt x="758825" y="2275212"/>
                  <a:pt x="800100" y="2283149"/>
                </a:cubicBezTo>
                <a:cubicBezTo>
                  <a:pt x="841375" y="2291086"/>
                  <a:pt x="911225" y="2299024"/>
                  <a:pt x="962025" y="2302199"/>
                </a:cubicBezTo>
                <a:cubicBezTo>
                  <a:pt x="1012825" y="2305374"/>
                  <a:pt x="1069975" y="2303787"/>
                  <a:pt x="1104900" y="2302199"/>
                </a:cubicBezTo>
                <a:cubicBezTo>
                  <a:pt x="1139825" y="2300611"/>
                  <a:pt x="1155700" y="2305374"/>
                  <a:pt x="1171575" y="2292674"/>
                </a:cubicBezTo>
                <a:cubicBezTo>
                  <a:pt x="1187450" y="2279974"/>
                  <a:pt x="1195388" y="2251399"/>
                  <a:pt x="1200150" y="2225999"/>
                </a:cubicBezTo>
                <a:cubicBezTo>
                  <a:pt x="1204912" y="2200599"/>
                  <a:pt x="1198563" y="2167261"/>
                  <a:pt x="1200150" y="2140274"/>
                </a:cubicBezTo>
                <a:cubicBezTo>
                  <a:pt x="1201737" y="2113287"/>
                  <a:pt x="1203325" y="2087886"/>
                  <a:pt x="1209675" y="2064074"/>
                </a:cubicBezTo>
                <a:cubicBezTo>
                  <a:pt x="1216025" y="2040262"/>
                  <a:pt x="1227138" y="2111699"/>
                  <a:pt x="1238250" y="1997399"/>
                </a:cubicBezTo>
                <a:cubicBezTo>
                  <a:pt x="1249362" y="1883099"/>
                  <a:pt x="1263650" y="1691011"/>
                  <a:pt x="1276350" y="1378274"/>
                </a:cubicBezTo>
                <a:cubicBezTo>
                  <a:pt x="1289050" y="1065537"/>
                  <a:pt x="1304925" y="340049"/>
                  <a:pt x="1314450" y="120974"/>
                </a:cubicBezTo>
                <a:cubicBezTo>
                  <a:pt x="1323975" y="-98101"/>
                  <a:pt x="1322388" y="43187"/>
                  <a:pt x="1333500" y="63824"/>
                </a:cubicBezTo>
                <a:cubicBezTo>
                  <a:pt x="1344612" y="84461"/>
                  <a:pt x="1368425" y="103511"/>
                  <a:pt x="1381125" y="244799"/>
                </a:cubicBezTo>
                <a:cubicBezTo>
                  <a:pt x="1393825" y="386087"/>
                  <a:pt x="1385888" y="560712"/>
                  <a:pt x="1409700" y="911549"/>
                </a:cubicBezTo>
                <a:cubicBezTo>
                  <a:pt x="1433512" y="1262386"/>
                  <a:pt x="1484313" y="2065661"/>
                  <a:pt x="1524000" y="2349824"/>
                </a:cubicBezTo>
                <a:cubicBezTo>
                  <a:pt x="1563688" y="2633987"/>
                  <a:pt x="1611313" y="2568899"/>
                  <a:pt x="1647825" y="2616524"/>
                </a:cubicBezTo>
                <a:cubicBezTo>
                  <a:pt x="1684338" y="2664149"/>
                  <a:pt x="1703388" y="2643511"/>
                  <a:pt x="1743075" y="2635574"/>
                </a:cubicBezTo>
                <a:cubicBezTo>
                  <a:pt x="1782762" y="2627637"/>
                  <a:pt x="1885950" y="2568899"/>
                  <a:pt x="1885950" y="2568899"/>
                </a:cubicBezTo>
                <a:cubicBezTo>
                  <a:pt x="1958975" y="2535562"/>
                  <a:pt x="2087563" y="2475237"/>
                  <a:pt x="2181225" y="2435549"/>
                </a:cubicBezTo>
                <a:cubicBezTo>
                  <a:pt x="2274888" y="2395862"/>
                  <a:pt x="2352675" y="2356174"/>
                  <a:pt x="2447925" y="2330774"/>
                </a:cubicBezTo>
                <a:cubicBezTo>
                  <a:pt x="2543175" y="2305374"/>
                  <a:pt x="2633663" y="2294261"/>
                  <a:pt x="2752725" y="2283149"/>
                </a:cubicBezTo>
                <a:cubicBezTo>
                  <a:pt x="2871787" y="2272037"/>
                  <a:pt x="3017043" y="2268068"/>
                  <a:pt x="3162300" y="2264099"/>
                </a:cubicBezTo>
              </a:path>
            </a:pathLst>
          </a:custGeom>
          <a:ln/>
        </p:spPr>
        <p:style>
          <a:lnRef idx="3">
            <a:schemeClr val="accent2"/>
          </a:lnRef>
          <a:fillRef idx="0">
            <a:schemeClr val="accent2"/>
          </a:fillRef>
          <a:effectRef idx="2">
            <a:schemeClr val="accent2"/>
          </a:effectRef>
          <a:fontRef idx="minor">
            <a:schemeClr val="tx1"/>
          </a:fontRef>
        </p:style>
        <p:txBody>
          <a:bodyPr anchor="ctr"/>
          <a:lstStyle/>
          <a:p>
            <a:pPr algn="ctr">
              <a:defRPr/>
            </a:pPr>
            <a:endParaRPr lang="en-GB"/>
          </a:p>
        </p:txBody>
      </p:sp>
    </p:spTree>
    <p:extLst>
      <p:ext uri="{BB962C8B-B14F-4D97-AF65-F5344CB8AC3E}">
        <p14:creationId xmlns:p14="http://schemas.microsoft.com/office/powerpoint/2010/main" val="2496547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500"/>
                                        <p:tgtEl>
                                          <p:spTgt spid="4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1" grpId="0"/>
      <p:bldP spid="42" grpId="0"/>
      <p:bldP spid="4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26"/>
          <p:cNvSpPr>
            <a:spLocks noGrp="1" noChangeArrowheads="1"/>
          </p:cNvSpPr>
          <p:nvPr>
            <p:ph type="title"/>
          </p:nvPr>
        </p:nvSpPr>
        <p:spPr>
          <a:xfrm>
            <a:off x="2171700" y="0"/>
            <a:ext cx="5829300" cy="857250"/>
          </a:xfrm>
          <a:noFill/>
          <a:ln/>
        </p:spPr>
        <p:txBody>
          <a:bodyPr lIns="69056" tIns="34529" rIns="69056" bIns="34529"/>
          <a:lstStyle/>
          <a:p>
            <a:pPr algn="l"/>
            <a:r>
              <a:rPr lang="en-GB" sz="2400" b="1" dirty="0">
                <a:solidFill>
                  <a:schemeClr val="tx1"/>
                </a:solidFill>
                <a:latin typeface="Arial Rounded MT Bold" pitchFamily="34" charset="0"/>
              </a:rPr>
              <a:t>What is an action potential?</a:t>
            </a:r>
          </a:p>
        </p:txBody>
      </p:sp>
      <p:sp>
        <p:nvSpPr>
          <p:cNvPr id="71684" name="Line 1028"/>
          <p:cNvSpPr>
            <a:spLocks noChangeShapeType="1"/>
          </p:cNvSpPr>
          <p:nvPr/>
        </p:nvSpPr>
        <p:spPr bwMode="auto">
          <a:xfrm>
            <a:off x="2686050" y="1085850"/>
            <a:ext cx="0" cy="291465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685" name="Line 1029"/>
          <p:cNvSpPr>
            <a:spLocks noChangeShapeType="1"/>
          </p:cNvSpPr>
          <p:nvPr/>
        </p:nvSpPr>
        <p:spPr bwMode="auto">
          <a:xfrm>
            <a:off x="2686050" y="4000500"/>
            <a:ext cx="400050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687" name="Rectangle 1031"/>
          <p:cNvSpPr>
            <a:spLocks noChangeArrowheads="1"/>
          </p:cNvSpPr>
          <p:nvPr/>
        </p:nvSpPr>
        <p:spPr bwMode="auto">
          <a:xfrm>
            <a:off x="3359944" y="4354116"/>
            <a:ext cx="1352934"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time (ms)</a:t>
            </a:r>
          </a:p>
        </p:txBody>
      </p:sp>
      <p:sp>
        <p:nvSpPr>
          <p:cNvPr id="71691" name="Line 1035"/>
          <p:cNvSpPr>
            <a:spLocks noChangeShapeType="1"/>
          </p:cNvSpPr>
          <p:nvPr/>
        </p:nvSpPr>
        <p:spPr bwMode="auto">
          <a:xfrm>
            <a:off x="2514600" y="3486150"/>
            <a:ext cx="3429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692" name="Line 1036"/>
          <p:cNvSpPr>
            <a:spLocks noChangeShapeType="1"/>
          </p:cNvSpPr>
          <p:nvPr/>
        </p:nvSpPr>
        <p:spPr bwMode="auto">
          <a:xfrm>
            <a:off x="2514600" y="2171700"/>
            <a:ext cx="400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693" name="Line 1037"/>
          <p:cNvSpPr>
            <a:spLocks noChangeShapeType="1"/>
          </p:cNvSpPr>
          <p:nvPr/>
        </p:nvSpPr>
        <p:spPr bwMode="auto">
          <a:xfrm>
            <a:off x="2514600" y="1257300"/>
            <a:ext cx="400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694" name="Line 1038"/>
          <p:cNvSpPr>
            <a:spLocks noChangeShapeType="1"/>
          </p:cNvSpPr>
          <p:nvPr/>
        </p:nvSpPr>
        <p:spPr bwMode="auto">
          <a:xfrm>
            <a:off x="2971800" y="3486150"/>
            <a:ext cx="365760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695" name="Freeform 1039"/>
          <p:cNvSpPr>
            <a:spLocks/>
          </p:cNvSpPr>
          <p:nvPr/>
        </p:nvSpPr>
        <p:spPr bwMode="auto">
          <a:xfrm>
            <a:off x="2914650" y="1257300"/>
            <a:ext cx="2801541" cy="2588419"/>
          </a:xfrm>
          <a:custGeom>
            <a:avLst/>
            <a:gdLst>
              <a:gd name="T0" fmla="*/ 80 w 2353"/>
              <a:gd name="T1" fmla="*/ 1879 h 2174"/>
              <a:gd name="T2" fmla="*/ 182 w 2353"/>
              <a:gd name="T3" fmla="*/ 1845 h 2174"/>
              <a:gd name="T4" fmla="*/ 261 w 2353"/>
              <a:gd name="T5" fmla="*/ 1743 h 2174"/>
              <a:gd name="T6" fmla="*/ 318 w 2353"/>
              <a:gd name="T7" fmla="*/ 1641 h 2174"/>
              <a:gd name="T8" fmla="*/ 363 w 2353"/>
              <a:gd name="T9" fmla="*/ 1528 h 2174"/>
              <a:gd name="T10" fmla="*/ 397 w 2353"/>
              <a:gd name="T11" fmla="*/ 1426 h 2174"/>
              <a:gd name="T12" fmla="*/ 431 w 2353"/>
              <a:gd name="T13" fmla="*/ 1313 h 2174"/>
              <a:gd name="T14" fmla="*/ 465 w 2353"/>
              <a:gd name="T15" fmla="*/ 1109 h 2174"/>
              <a:gd name="T16" fmla="*/ 499 w 2353"/>
              <a:gd name="T17" fmla="*/ 849 h 2174"/>
              <a:gd name="T18" fmla="*/ 544 w 2353"/>
              <a:gd name="T19" fmla="*/ 724 h 2174"/>
              <a:gd name="T20" fmla="*/ 578 w 2353"/>
              <a:gd name="T21" fmla="*/ 611 h 2174"/>
              <a:gd name="T22" fmla="*/ 601 w 2353"/>
              <a:gd name="T23" fmla="*/ 509 h 2174"/>
              <a:gd name="T24" fmla="*/ 624 w 2353"/>
              <a:gd name="T25" fmla="*/ 407 h 2174"/>
              <a:gd name="T26" fmla="*/ 646 w 2353"/>
              <a:gd name="T27" fmla="*/ 306 h 2174"/>
              <a:gd name="T28" fmla="*/ 658 w 2353"/>
              <a:gd name="T29" fmla="*/ 192 h 2174"/>
              <a:gd name="T30" fmla="*/ 680 w 2353"/>
              <a:gd name="T31" fmla="*/ 90 h 2174"/>
              <a:gd name="T32" fmla="*/ 748 w 2353"/>
              <a:gd name="T33" fmla="*/ 0 h 2174"/>
              <a:gd name="T34" fmla="*/ 816 w 2353"/>
              <a:gd name="T35" fmla="*/ 79 h 2174"/>
              <a:gd name="T36" fmla="*/ 861 w 2353"/>
              <a:gd name="T37" fmla="*/ 181 h 2174"/>
              <a:gd name="T38" fmla="*/ 884 w 2353"/>
              <a:gd name="T39" fmla="*/ 294 h 2174"/>
              <a:gd name="T40" fmla="*/ 907 w 2353"/>
              <a:gd name="T41" fmla="*/ 396 h 2174"/>
              <a:gd name="T42" fmla="*/ 929 w 2353"/>
              <a:gd name="T43" fmla="*/ 498 h 2174"/>
              <a:gd name="T44" fmla="*/ 952 w 2353"/>
              <a:gd name="T45" fmla="*/ 600 h 2174"/>
              <a:gd name="T46" fmla="*/ 963 w 2353"/>
              <a:gd name="T47" fmla="*/ 713 h 2174"/>
              <a:gd name="T48" fmla="*/ 975 w 2353"/>
              <a:gd name="T49" fmla="*/ 826 h 2174"/>
              <a:gd name="T50" fmla="*/ 997 w 2353"/>
              <a:gd name="T51" fmla="*/ 939 h 2174"/>
              <a:gd name="T52" fmla="*/ 1009 w 2353"/>
              <a:gd name="T53" fmla="*/ 1053 h 2174"/>
              <a:gd name="T54" fmla="*/ 1031 w 2353"/>
              <a:gd name="T55" fmla="*/ 1177 h 2174"/>
              <a:gd name="T56" fmla="*/ 1043 w 2353"/>
              <a:gd name="T57" fmla="*/ 1302 h 2174"/>
              <a:gd name="T58" fmla="*/ 1065 w 2353"/>
              <a:gd name="T59" fmla="*/ 1403 h 2174"/>
              <a:gd name="T60" fmla="*/ 1088 w 2353"/>
              <a:gd name="T61" fmla="*/ 1505 h 2174"/>
              <a:gd name="T62" fmla="*/ 1111 w 2353"/>
              <a:gd name="T63" fmla="*/ 1607 h 2174"/>
              <a:gd name="T64" fmla="*/ 1133 w 2353"/>
              <a:gd name="T65" fmla="*/ 1720 h 2174"/>
              <a:gd name="T66" fmla="*/ 1167 w 2353"/>
              <a:gd name="T67" fmla="*/ 1901 h 2174"/>
              <a:gd name="T68" fmla="*/ 1201 w 2353"/>
              <a:gd name="T69" fmla="*/ 2003 h 2174"/>
              <a:gd name="T70" fmla="*/ 1280 w 2353"/>
              <a:gd name="T71" fmla="*/ 2094 h 2174"/>
              <a:gd name="T72" fmla="*/ 1382 w 2353"/>
              <a:gd name="T73" fmla="*/ 2150 h 2174"/>
              <a:gd name="T74" fmla="*/ 1484 w 2353"/>
              <a:gd name="T75" fmla="*/ 2173 h 2174"/>
              <a:gd name="T76" fmla="*/ 1586 w 2353"/>
              <a:gd name="T77" fmla="*/ 2162 h 2174"/>
              <a:gd name="T78" fmla="*/ 1688 w 2353"/>
              <a:gd name="T79" fmla="*/ 2117 h 2174"/>
              <a:gd name="T80" fmla="*/ 1790 w 2353"/>
              <a:gd name="T81" fmla="*/ 2083 h 2174"/>
              <a:gd name="T82" fmla="*/ 1892 w 2353"/>
              <a:gd name="T83" fmla="*/ 2037 h 2174"/>
              <a:gd name="T84" fmla="*/ 1994 w 2353"/>
              <a:gd name="T85" fmla="*/ 1981 h 2174"/>
              <a:gd name="T86" fmla="*/ 2096 w 2353"/>
              <a:gd name="T87" fmla="*/ 1969 h 2174"/>
              <a:gd name="T88" fmla="*/ 2198 w 2353"/>
              <a:gd name="T89" fmla="*/ 1958 h 2174"/>
              <a:gd name="T90" fmla="*/ 2300 w 2353"/>
              <a:gd name="T91" fmla="*/ 1947 h 2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53" h="2174">
                <a:moveTo>
                  <a:pt x="0" y="1874"/>
                </a:moveTo>
                <a:lnTo>
                  <a:pt x="46" y="1879"/>
                </a:lnTo>
                <a:lnTo>
                  <a:pt x="80" y="1879"/>
                </a:lnTo>
                <a:lnTo>
                  <a:pt x="114" y="1879"/>
                </a:lnTo>
                <a:lnTo>
                  <a:pt x="148" y="1868"/>
                </a:lnTo>
                <a:lnTo>
                  <a:pt x="182" y="1845"/>
                </a:lnTo>
                <a:lnTo>
                  <a:pt x="205" y="1811"/>
                </a:lnTo>
                <a:lnTo>
                  <a:pt x="239" y="1777"/>
                </a:lnTo>
                <a:lnTo>
                  <a:pt x="261" y="1743"/>
                </a:lnTo>
                <a:lnTo>
                  <a:pt x="284" y="1709"/>
                </a:lnTo>
                <a:lnTo>
                  <a:pt x="307" y="1675"/>
                </a:lnTo>
                <a:lnTo>
                  <a:pt x="318" y="1641"/>
                </a:lnTo>
                <a:lnTo>
                  <a:pt x="341" y="1596"/>
                </a:lnTo>
                <a:lnTo>
                  <a:pt x="352" y="1562"/>
                </a:lnTo>
                <a:lnTo>
                  <a:pt x="363" y="1528"/>
                </a:lnTo>
                <a:lnTo>
                  <a:pt x="375" y="1494"/>
                </a:lnTo>
                <a:lnTo>
                  <a:pt x="386" y="1460"/>
                </a:lnTo>
                <a:lnTo>
                  <a:pt x="397" y="1426"/>
                </a:lnTo>
                <a:lnTo>
                  <a:pt x="409" y="1392"/>
                </a:lnTo>
                <a:lnTo>
                  <a:pt x="420" y="1358"/>
                </a:lnTo>
                <a:lnTo>
                  <a:pt x="431" y="1313"/>
                </a:lnTo>
                <a:lnTo>
                  <a:pt x="443" y="1245"/>
                </a:lnTo>
                <a:lnTo>
                  <a:pt x="454" y="1200"/>
                </a:lnTo>
                <a:lnTo>
                  <a:pt x="465" y="1109"/>
                </a:lnTo>
                <a:lnTo>
                  <a:pt x="476" y="1019"/>
                </a:lnTo>
                <a:lnTo>
                  <a:pt x="488" y="939"/>
                </a:lnTo>
                <a:lnTo>
                  <a:pt x="499" y="849"/>
                </a:lnTo>
                <a:lnTo>
                  <a:pt x="510" y="804"/>
                </a:lnTo>
                <a:lnTo>
                  <a:pt x="522" y="758"/>
                </a:lnTo>
                <a:lnTo>
                  <a:pt x="544" y="724"/>
                </a:lnTo>
                <a:lnTo>
                  <a:pt x="556" y="679"/>
                </a:lnTo>
                <a:lnTo>
                  <a:pt x="567" y="645"/>
                </a:lnTo>
                <a:lnTo>
                  <a:pt x="578" y="611"/>
                </a:lnTo>
                <a:lnTo>
                  <a:pt x="590" y="577"/>
                </a:lnTo>
                <a:lnTo>
                  <a:pt x="601" y="543"/>
                </a:lnTo>
                <a:lnTo>
                  <a:pt x="601" y="509"/>
                </a:lnTo>
                <a:lnTo>
                  <a:pt x="612" y="475"/>
                </a:lnTo>
                <a:lnTo>
                  <a:pt x="612" y="441"/>
                </a:lnTo>
                <a:lnTo>
                  <a:pt x="624" y="407"/>
                </a:lnTo>
                <a:lnTo>
                  <a:pt x="624" y="373"/>
                </a:lnTo>
                <a:lnTo>
                  <a:pt x="635" y="339"/>
                </a:lnTo>
                <a:lnTo>
                  <a:pt x="646" y="306"/>
                </a:lnTo>
                <a:lnTo>
                  <a:pt x="646" y="272"/>
                </a:lnTo>
                <a:lnTo>
                  <a:pt x="658" y="238"/>
                </a:lnTo>
                <a:lnTo>
                  <a:pt x="658" y="192"/>
                </a:lnTo>
                <a:lnTo>
                  <a:pt x="669" y="158"/>
                </a:lnTo>
                <a:lnTo>
                  <a:pt x="680" y="124"/>
                </a:lnTo>
                <a:lnTo>
                  <a:pt x="680" y="90"/>
                </a:lnTo>
                <a:lnTo>
                  <a:pt x="692" y="56"/>
                </a:lnTo>
                <a:lnTo>
                  <a:pt x="714" y="23"/>
                </a:lnTo>
                <a:lnTo>
                  <a:pt x="748" y="0"/>
                </a:lnTo>
                <a:lnTo>
                  <a:pt x="782" y="11"/>
                </a:lnTo>
                <a:lnTo>
                  <a:pt x="805" y="45"/>
                </a:lnTo>
                <a:lnTo>
                  <a:pt x="816" y="79"/>
                </a:lnTo>
                <a:lnTo>
                  <a:pt x="839" y="113"/>
                </a:lnTo>
                <a:lnTo>
                  <a:pt x="850" y="147"/>
                </a:lnTo>
                <a:lnTo>
                  <a:pt x="861" y="181"/>
                </a:lnTo>
                <a:lnTo>
                  <a:pt x="873" y="215"/>
                </a:lnTo>
                <a:lnTo>
                  <a:pt x="873" y="249"/>
                </a:lnTo>
                <a:lnTo>
                  <a:pt x="884" y="294"/>
                </a:lnTo>
                <a:lnTo>
                  <a:pt x="895" y="328"/>
                </a:lnTo>
                <a:lnTo>
                  <a:pt x="895" y="362"/>
                </a:lnTo>
                <a:lnTo>
                  <a:pt x="907" y="396"/>
                </a:lnTo>
                <a:lnTo>
                  <a:pt x="918" y="430"/>
                </a:lnTo>
                <a:lnTo>
                  <a:pt x="918" y="464"/>
                </a:lnTo>
                <a:lnTo>
                  <a:pt x="929" y="498"/>
                </a:lnTo>
                <a:lnTo>
                  <a:pt x="929" y="532"/>
                </a:lnTo>
                <a:lnTo>
                  <a:pt x="941" y="566"/>
                </a:lnTo>
                <a:lnTo>
                  <a:pt x="952" y="600"/>
                </a:lnTo>
                <a:lnTo>
                  <a:pt x="952" y="634"/>
                </a:lnTo>
                <a:lnTo>
                  <a:pt x="952" y="668"/>
                </a:lnTo>
                <a:lnTo>
                  <a:pt x="963" y="713"/>
                </a:lnTo>
                <a:lnTo>
                  <a:pt x="963" y="747"/>
                </a:lnTo>
                <a:lnTo>
                  <a:pt x="975" y="792"/>
                </a:lnTo>
                <a:lnTo>
                  <a:pt x="975" y="826"/>
                </a:lnTo>
                <a:lnTo>
                  <a:pt x="986" y="871"/>
                </a:lnTo>
                <a:lnTo>
                  <a:pt x="986" y="905"/>
                </a:lnTo>
                <a:lnTo>
                  <a:pt x="997" y="939"/>
                </a:lnTo>
                <a:lnTo>
                  <a:pt x="997" y="985"/>
                </a:lnTo>
                <a:lnTo>
                  <a:pt x="1009" y="1019"/>
                </a:lnTo>
                <a:lnTo>
                  <a:pt x="1009" y="1053"/>
                </a:lnTo>
                <a:lnTo>
                  <a:pt x="1020" y="1098"/>
                </a:lnTo>
                <a:lnTo>
                  <a:pt x="1020" y="1132"/>
                </a:lnTo>
                <a:lnTo>
                  <a:pt x="1031" y="1177"/>
                </a:lnTo>
                <a:lnTo>
                  <a:pt x="1031" y="1211"/>
                </a:lnTo>
                <a:lnTo>
                  <a:pt x="1043" y="1256"/>
                </a:lnTo>
                <a:lnTo>
                  <a:pt x="1043" y="1302"/>
                </a:lnTo>
                <a:lnTo>
                  <a:pt x="1054" y="1336"/>
                </a:lnTo>
                <a:lnTo>
                  <a:pt x="1065" y="1369"/>
                </a:lnTo>
                <a:lnTo>
                  <a:pt x="1065" y="1403"/>
                </a:lnTo>
                <a:lnTo>
                  <a:pt x="1077" y="1437"/>
                </a:lnTo>
                <a:lnTo>
                  <a:pt x="1077" y="1471"/>
                </a:lnTo>
                <a:lnTo>
                  <a:pt x="1088" y="1505"/>
                </a:lnTo>
                <a:lnTo>
                  <a:pt x="1088" y="1539"/>
                </a:lnTo>
                <a:lnTo>
                  <a:pt x="1099" y="1573"/>
                </a:lnTo>
                <a:lnTo>
                  <a:pt x="1111" y="1607"/>
                </a:lnTo>
                <a:lnTo>
                  <a:pt x="1111" y="1641"/>
                </a:lnTo>
                <a:lnTo>
                  <a:pt x="1122" y="1686"/>
                </a:lnTo>
                <a:lnTo>
                  <a:pt x="1133" y="1720"/>
                </a:lnTo>
                <a:lnTo>
                  <a:pt x="1145" y="1754"/>
                </a:lnTo>
                <a:lnTo>
                  <a:pt x="1145" y="1822"/>
                </a:lnTo>
                <a:lnTo>
                  <a:pt x="1167" y="1901"/>
                </a:lnTo>
                <a:lnTo>
                  <a:pt x="1167" y="1935"/>
                </a:lnTo>
                <a:lnTo>
                  <a:pt x="1179" y="1969"/>
                </a:lnTo>
                <a:lnTo>
                  <a:pt x="1201" y="2003"/>
                </a:lnTo>
                <a:lnTo>
                  <a:pt x="1213" y="2037"/>
                </a:lnTo>
                <a:lnTo>
                  <a:pt x="1246" y="2071"/>
                </a:lnTo>
                <a:lnTo>
                  <a:pt x="1280" y="2094"/>
                </a:lnTo>
                <a:lnTo>
                  <a:pt x="1314" y="2117"/>
                </a:lnTo>
                <a:lnTo>
                  <a:pt x="1348" y="2139"/>
                </a:lnTo>
                <a:lnTo>
                  <a:pt x="1382" y="2150"/>
                </a:lnTo>
                <a:lnTo>
                  <a:pt x="1416" y="2162"/>
                </a:lnTo>
                <a:lnTo>
                  <a:pt x="1450" y="2173"/>
                </a:lnTo>
                <a:lnTo>
                  <a:pt x="1484" y="2173"/>
                </a:lnTo>
                <a:lnTo>
                  <a:pt x="1518" y="2173"/>
                </a:lnTo>
                <a:lnTo>
                  <a:pt x="1552" y="2173"/>
                </a:lnTo>
                <a:lnTo>
                  <a:pt x="1586" y="2162"/>
                </a:lnTo>
                <a:lnTo>
                  <a:pt x="1620" y="2150"/>
                </a:lnTo>
                <a:lnTo>
                  <a:pt x="1654" y="2139"/>
                </a:lnTo>
                <a:lnTo>
                  <a:pt x="1688" y="2117"/>
                </a:lnTo>
                <a:lnTo>
                  <a:pt x="1722" y="2105"/>
                </a:lnTo>
                <a:lnTo>
                  <a:pt x="1756" y="2105"/>
                </a:lnTo>
                <a:lnTo>
                  <a:pt x="1790" y="2083"/>
                </a:lnTo>
                <a:lnTo>
                  <a:pt x="1824" y="2071"/>
                </a:lnTo>
                <a:lnTo>
                  <a:pt x="1858" y="2060"/>
                </a:lnTo>
                <a:lnTo>
                  <a:pt x="1892" y="2037"/>
                </a:lnTo>
                <a:lnTo>
                  <a:pt x="1926" y="2015"/>
                </a:lnTo>
                <a:lnTo>
                  <a:pt x="1960" y="2003"/>
                </a:lnTo>
                <a:lnTo>
                  <a:pt x="1994" y="1981"/>
                </a:lnTo>
                <a:lnTo>
                  <a:pt x="2028" y="1969"/>
                </a:lnTo>
                <a:lnTo>
                  <a:pt x="2062" y="1969"/>
                </a:lnTo>
                <a:lnTo>
                  <a:pt x="2096" y="1969"/>
                </a:lnTo>
                <a:lnTo>
                  <a:pt x="2130" y="1969"/>
                </a:lnTo>
                <a:lnTo>
                  <a:pt x="2164" y="1969"/>
                </a:lnTo>
                <a:lnTo>
                  <a:pt x="2198" y="1958"/>
                </a:lnTo>
                <a:lnTo>
                  <a:pt x="2232" y="1947"/>
                </a:lnTo>
                <a:lnTo>
                  <a:pt x="2266" y="1947"/>
                </a:lnTo>
                <a:lnTo>
                  <a:pt x="2300" y="1947"/>
                </a:lnTo>
                <a:lnTo>
                  <a:pt x="2334" y="1947"/>
                </a:lnTo>
                <a:lnTo>
                  <a:pt x="2352" y="1970"/>
                </a:lnTo>
              </a:path>
            </a:pathLst>
          </a:custGeom>
          <a:noFill/>
          <a:ln w="50800" cap="rnd" cmpd="sng">
            <a:solidFill>
              <a:srgbClr val="0070C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dirty="0"/>
          </a:p>
        </p:txBody>
      </p:sp>
      <p:sp>
        <p:nvSpPr>
          <p:cNvPr id="71696" name="Rectangle 1040"/>
          <p:cNvSpPr>
            <a:spLocks noChangeArrowheads="1"/>
          </p:cNvSpPr>
          <p:nvPr/>
        </p:nvSpPr>
        <p:spPr bwMode="auto">
          <a:xfrm>
            <a:off x="1988344" y="3325416"/>
            <a:ext cx="54983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-70</a:t>
            </a:r>
          </a:p>
        </p:txBody>
      </p:sp>
      <p:sp>
        <p:nvSpPr>
          <p:cNvPr id="71697" name="Rectangle 1041"/>
          <p:cNvSpPr>
            <a:spLocks noChangeArrowheads="1"/>
          </p:cNvSpPr>
          <p:nvPr/>
        </p:nvSpPr>
        <p:spPr bwMode="auto">
          <a:xfrm>
            <a:off x="1931194" y="1896666"/>
            <a:ext cx="54983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-55</a:t>
            </a:r>
          </a:p>
        </p:txBody>
      </p:sp>
      <p:sp>
        <p:nvSpPr>
          <p:cNvPr id="71698" name="Rectangle 1042"/>
          <p:cNvSpPr>
            <a:spLocks noChangeArrowheads="1"/>
          </p:cNvSpPr>
          <p:nvPr/>
        </p:nvSpPr>
        <p:spPr bwMode="auto">
          <a:xfrm>
            <a:off x="1931194" y="1039416"/>
            <a:ext cx="61715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+30</a:t>
            </a:r>
          </a:p>
        </p:txBody>
      </p:sp>
      <p:sp>
        <p:nvSpPr>
          <p:cNvPr id="71702" name="Text Box 1046"/>
          <p:cNvSpPr txBox="1">
            <a:spLocks noChangeArrowheads="1"/>
          </p:cNvSpPr>
          <p:nvPr/>
        </p:nvSpPr>
        <p:spPr bwMode="auto">
          <a:xfrm>
            <a:off x="2686050" y="800100"/>
            <a:ext cx="202651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sz="2100">
                <a:latin typeface="Arial" charset="0"/>
              </a:rPr>
              <a:t>depolarisation</a:t>
            </a:r>
          </a:p>
        </p:txBody>
      </p:sp>
      <p:sp>
        <p:nvSpPr>
          <p:cNvPr id="71703" name="Text Box 1047"/>
          <p:cNvSpPr txBox="1">
            <a:spLocks noChangeArrowheads="1"/>
          </p:cNvSpPr>
          <p:nvPr/>
        </p:nvSpPr>
        <p:spPr bwMode="auto">
          <a:xfrm>
            <a:off x="4457701" y="1657350"/>
            <a:ext cx="196560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sz="2100" dirty="0">
                <a:latin typeface="Arial" charset="0"/>
              </a:rPr>
              <a:t>repolarisation</a:t>
            </a:r>
          </a:p>
        </p:txBody>
      </p:sp>
      <p:sp>
        <p:nvSpPr>
          <p:cNvPr id="71704" name="Text Box 1048"/>
          <p:cNvSpPr txBox="1">
            <a:spLocks noChangeArrowheads="1"/>
          </p:cNvSpPr>
          <p:nvPr/>
        </p:nvSpPr>
        <p:spPr bwMode="auto">
          <a:xfrm>
            <a:off x="5200650" y="2686050"/>
            <a:ext cx="277031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sz="2100">
                <a:latin typeface="Arial" charset="0"/>
              </a:rPr>
              <a:t>hyperpolarisation </a:t>
            </a:r>
          </a:p>
          <a:p>
            <a:pPr eaLnBrk="0" hangingPunct="0"/>
            <a:r>
              <a:rPr lang="en-GB" sz="2100">
                <a:latin typeface="Arial" charset="0"/>
              </a:rPr>
              <a:t>	(undershoot)</a:t>
            </a:r>
          </a:p>
        </p:txBody>
      </p:sp>
      <p:sp>
        <p:nvSpPr>
          <p:cNvPr id="71705" name="Freeform 1049"/>
          <p:cNvSpPr>
            <a:spLocks/>
          </p:cNvSpPr>
          <p:nvPr/>
        </p:nvSpPr>
        <p:spPr bwMode="auto">
          <a:xfrm>
            <a:off x="3086100" y="1143000"/>
            <a:ext cx="285750" cy="1143000"/>
          </a:xfrm>
          <a:custGeom>
            <a:avLst/>
            <a:gdLst>
              <a:gd name="T0" fmla="*/ 0 w 240"/>
              <a:gd name="T1" fmla="*/ 0 h 960"/>
              <a:gd name="T2" fmla="*/ 96 w 240"/>
              <a:gd name="T3" fmla="*/ 720 h 960"/>
              <a:gd name="T4" fmla="*/ 240 w 240"/>
              <a:gd name="T5" fmla="*/ 960 h 960"/>
            </a:gdLst>
            <a:ahLst/>
            <a:cxnLst>
              <a:cxn ang="0">
                <a:pos x="T0" y="T1"/>
              </a:cxn>
              <a:cxn ang="0">
                <a:pos x="T2" y="T3"/>
              </a:cxn>
              <a:cxn ang="0">
                <a:pos x="T4" y="T5"/>
              </a:cxn>
            </a:cxnLst>
            <a:rect l="0" t="0" r="r" b="b"/>
            <a:pathLst>
              <a:path w="240" h="960">
                <a:moveTo>
                  <a:pt x="0" y="0"/>
                </a:moveTo>
                <a:cubicBezTo>
                  <a:pt x="28" y="280"/>
                  <a:pt x="56" y="560"/>
                  <a:pt x="96" y="720"/>
                </a:cubicBezTo>
                <a:cubicBezTo>
                  <a:pt x="136" y="880"/>
                  <a:pt x="216" y="920"/>
                  <a:pt x="240" y="960"/>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706" name="Freeform 1050"/>
          <p:cNvSpPr>
            <a:spLocks/>
          </p:cNvSpPr>
          <p:nvPr/>
        </p:nvSpPr>
        <p:spPr bwMode="auto">
          <a:xfrm>
            <a:off x="4286250" y="2057400"/>
            <a:ext cx="514350" cy="342900"/>
          </a:xfrm>
          <a:custGeom>
            <a:avLst/>
            <a:gdLst>
              <a:gd name="T0" fmla="*/ 432 w 432"/>
              <a:gd name="T1" fmla="*/ 0 h 288"/>
              <a:gd name="T2" fmla="*/ 288 w 432"/>
              <a:gd name="T3" fmla="*/ 192 h 288"/>
              <a:gd name="T4" fmla="*/ 0 w 432"/>
              <a:gd name="T5" fmla="*/ 288 h 288"/>
            </a:gdLst>
            <a:ahLst/>
            <a:cxnLst>
              <a:cxn ang="0">
                <a:pos x="T0" y="T1"/>
              </a:cxn>
              <a:cxn ang="0">
                <a:pos x="T2" y="T3"/>
              </a:cxn>
              <a:cxn ang="0">
                <a:pos x="T4" y="T5"/>
              </a:cxn>
            </a:cxnLst>
            <a:rect l="0" t="0" r="r" b="b"/>
            <a:pathLst>
              <a:path w="432" h="288">
                <a:moveTo>
                  <a:pt x="432" y="0"/>
                </a:moveTo>
                <a:cubicBezTo>
                  <a:pt x="396" y="72"/>
                  <a:pt x="360" y="144"/>
                  <a:pt x="288" y="192"/>
                </a:cubicBezTo>
                <a:cubicBezTo>
                  <a:pt x="216" y="240"/>
                  <a:pt x="48" y="272"/>
                  <a:pt x="0" y="288"/>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707" name="Freeform 1051"/>
          <p:cNvSpPr>
            <a:spLocks/>
          </p:cNvSpPr>
          <p:nvPr/>
        </p:nvSpPr>
        <p:spPr bwMode="auto">
          <a:xfrm>
            <a:off x="4800600" y="3028950"/>
            <a:ext cx="628650" cy="628650"/>
          </a:xfrm>
          <a:custGeom>
            <a:avLst/>
            <a:gdLst>
              <a:gd name="T0" fmla="*/ 528 w 528"/>
              <a:gd name="T1" fmla="*/ 0 h 528"/>
              <a:gd name="T2" fmla="*/ 144 w 528"/>
              <a:gd name="T3" fmla="*/ 240 h 528"/>
              <a:gd name="T4" fmla="*/ 0 w 528"/>
              <a:gd name="T5" fmla="*/ 528 h 528"/>
            </a:gdLst>
            <a:ahLst/>
            <a:cxnLst>
              <a:cxn ang="0">
                <a:pos x="T0" y="T1"/>
              </a:cxn>
              <a:cxn ang="0">
                <a:pos x="T2" y="T3"/>
              </a:cxn>
              <a:cxn ang="0">
                <a:pos x="T4" y="T5"/>
              </a:cxn>
            </a:cxnLst>
            <a:rect l="0" t="0" r="r" b="b"/>
            <a:pathLst>
              <a:path w="528" h="528">
                <a:moveTo>
                  <a:pt x="528" y="0"/>
                </a:moveTo>
                <a:cubicBezTo>
                  <a:pt x="380" y="76"/>
                  <a:pt x="232" y="152"/>
                  <a:pt x="144" y="240"/>
                </a:cubicBezTo>
                <a:cubicBezTo>
                  <a:pt x="56" y="328"/>
                  <a:pt x="28" y="428"/>
                  <a:pt x="0" y="528"/>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714" name="Rectangle 1058"/>
          <p:cNvSpPr>
            <a:spLocks noChangeArrowheads="1"/>
          </p:cNvSpPr>
          <p:nvPr/>
        </p:nvSpPr>
        <p:spPr bwMode="auto">
          <a:xfrm rot="-5400000">
            <a:off x="-35699" y="2185397"/>
            <a:ext cx="343491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latin typeface="Arial Rounded MT Bold" pitchFamily="34" charset="0"/>
              </a:rPr>
              <a:t>Membrane potential (mV)</a:t>
            </a:r>
          </a:p>
        </p:txBody>
      </p:sp>
      <p:sp>
        <p:nvSpPr>
          <p:cNvPr id="71715" name="Text Box 1059"/>
          <p:cNvSpPr txBox="1">
            <a:spLocks noChangeArrowheads="1"/>
          </p:cNvSpPr>
          <p:nvPr/>
        </p:nvSpPr>
        <p:spPr bwMode="auto">
          <a:xfrm>
            <a:off x="6572251" y="3314700"/>
            <a:ext cx="78258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100">
                <a:latin typeface="Arial Rounded MT Bold" pitchFamily="34" charset="0"/>
              </a:rPr>
              <a:t>RMP</a:t>
            </a:r>
            <a:endParaRPr lang="en-US" sz="2100"/>
          </a:p>
        </p:txBody>
      </p:sp>
      <p:grpSp>
        <p:nvGrpSpPr>
          <p:cNvPr id="71720" name="Group 1064"/>
          <p:cNvGrpSpPr>
            <a:grpSpLocks/>
          </p:cNvGrpSpPr>
          <p:nvPr/>
        </p:nvGrpSpPr>
        <p:grpSpPr bwMode="auto">
          <a:xfrm>
            <a:off x="2743200" y="3829046"/>
            <a:ext cx="3145632" cy="701278"/>
            <a:chOff x="1344" y="3216"/>
            <a:chExt cx="2642" cy="589"/>
          </a:xfrm>
        </p:grpSpPr>
        <p:sp>
          <p:nvSpPr>
            <p:cNvPr id="71716" name="Line 1060"/>
            <p:cNvSpPr>
              <a:spLocks noChangeShapeType="1"/>
            </p:cNvSpPr>
            <p:nvPr/>
          </p:nvSpPr>
          <p:spPr bwMode="auto">
            <a:xfrm rot="-5400000">
              <a:off x="1325" y="3360"/>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717" name="Line 1061"/>
            <p:cNvSpPr>
              <a:spLocks noChangeShapeType="1"/>
            </p:cNvSpPr>
            <p:nvPr/>
          </p:nvSpPr>
          <p:spPr bwMode="auto">
            <a:xfrm rot="-5400000">
              <a:off x="3677" y="3360"/>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718" name="Text Box 1062"/>
            <p:cNvSpPr txBox="1">
              <a:spLocks noChangeArrowheads="1"/>
            </p:cNvSpPr>
            <p:nvPr/>
          </p:nvSpPr>
          <p:spPr bwMode="auto">
            <a:xfrm>
              <a:off x="1344" y="3456"/>
              <a:ext cx="290"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100">
                  <a:latin typeface="Arial Rounded MT Bold" pitchFamily="34" charset="0"/>
                </a:rPr>
                <a:t>0</a:t>
              </a:r>
              <a:endParaRPr lang="en-US" sz="2100"/>
            </a:p>
          </p:txBody>
        </p:sp>
        <p:sp>
          <p:nvSpPr>
            <p:cNvPr id="71719" name="Text Box 1063"/>
            <p:cNvSpPr txBox="1">
              <a:spLocks noChangeArrowheads="1"/>
            </p:cNvSpPr>
            <p:nvPr/>
          </p:nvSpPr>
          <p:spPr bwMode="auto">
            <a:xfrm>
              <a:off x="3696" y="3456"/>
              <a:ext cx="290"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100">
                  <a:latin typeface="Arial Rounded MT Bold" pitchFamily="34" charset="0"/>
                </a:rPr>
                <a:t>4</a:t>
              </a:r>
              <a:endParaRPr lang="en-US" sz="2100"/>
            </a:p>
          </p:txBody>
        </p:sp>
      </p:grpSp>
    </p:spTree>
    <p:extLst>
      <p:ext uri="{BB962C8B-B14F-4D97-AF65-F5344CB8AC3E}">
        <p14:creationId xmlns:p14="http://schemas.microsoft.com/office/powerpoint/2010/main" val="27002159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695"/>
                                        </p:tgtEl>
                                        <p:attrNameLst>
                                          <p:attrName>style.visibility</p:attrName>
                                        </p:attrNameLst>
                                      </p:cBhvr>
                                      <p:to>
                                        <p:strVal val="visible"/>
                                      </p:to>
                                    </p:set>
                                    <p:animEffect transition="in" filter="wipe(left)">
                                      <p:cBhvr>
                                        <p:cTn id="7" dur="500"/>
                                        <p:tgtEl>
                                          <p:spTgt spid="716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7172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71705"/>
                                        </p:tgtEl>
                                        <p:attrNameLst>
                                          <p:attrName>style.visibility</p:attrName>
                                        </p:attrNameLst>
                                      </p:cBhvr>
                                      <p:to>
                                        <p:strVal val="visible"/>
                                      </p:to>
                                    </p:set>
                                  </p:childTnLst>
                                  <p:subTnLst>
                                    <p:animClr clrSpc="rgb" dir="cw">
                                      <p:cBhvr override="childStyle">
                                        <p:cTn dur="1" fill="hold" display="0" masterRel="nextClick" afterEffect="1"/>
                                        <p:tgtEl>
                                          <p:spTgt spid="71705"/>
                                        </p:tgtEl>
                                        <p:attrNameLst>
                                          <p:attrName>ppt_c</p:attrName>
                                        </p:attrNameLst>
                                      </p:cBhvr>
                                      <p:to>
                                        <a:schemeClr val="bg2"/>
                                      </p:to>
                                    </p:animClr>
                                  </p:sub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71702"/>
                                        </p:tgtEl>
                                        <p:attrNameLst>
                                          <p:attrName>style.visibility</p:attrName>
                                        </p:attrNameLst>
                                      </p:cBhvr>
                                      <p:to>
                                        <p:strVal val="visible"/>
                                      </p:to>
                                    </p:set>
                                  </p:childTnLst>
                                  <p:subTnLst>
                                    <p:animClr clrSpc="rgb" dir="cw">
                                      <p:cBhvr override="childStyle">
                                        <p:cTn dur="1" fill="hold" display="0" masterRel="nextClick" afterEffect="1"/>
                                        <p:tgtEl>
                                          <p:spTgt spid="71702"/>
                                        </p:tgtEl>
                                        <p:attrNameLst>
                                          <p:attrName>ppt_c</p:attrName>
                                        </p:attrNameLst>
                                      </p:cBhvr>
                                      <p:to>
                                        <a:schemeClr val="bg2"/>
                                      </p:to>
                                    </p:animClr>
                                  </p:sub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71706"/>
                                        </p:tgtEl>
                                        <p:attrNameLst>
                                          <p:attrName>style.visibility</p:attrName>
                                        </p:attrNameLst>
                                      </p:cBhvr>
                                      <p:to>
                                        <p:strVal val="visible"/>
                                      </p:to>
                                    </p:set>
                                  </p:childTnLst>
                                  <p:subTnLst>
                                    <p:animClr clrSpc="rgb" dir="cw">
                                      <p:cBhvr override="childStyle">
                                        <p:cTn dur="1" fill="hold" display="0" masterRel="nextClick" afterEffect="1"/>
                                        <p:tgtEl>
                                          <p:spTgt spid="71706"/>
                                        </p:tgtEl>
                                        <p:attrNameLst>
                                          <p:attrName>ppt_c</p:attrName>
                                        </p:attrNameLst>
                                      </p:cBhvr>
                                      <p:to>
                                        <a:schemeClr val="bg2"/>
                                      </p:to>
                                    </p:animClr>
                                  </p:sub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71703"/>
                                        </p:tgtEl>
                                        <p:attrNameLst>
                                          <p:attrName>style.visibility</p:attrName>
                                        </p:attrNameLst>
                                      </p:cBhvr>
                                      <p:to>
                                        <p:strVal val="visible"/>
                                      </p:to>
                                    </p:set>
                                  </p:childTnLst>
                                  <p:subTnLst>
                                    <p:animClr clrSpc="rgb" dir="cw">
                                      <p:cBhvr override="childStyle">
                                        <p:cTn dur="1" fill="hold" display="0" masterRel="nextClick" afterEffect="1"/>
                                        <p:tgtEl>
                                          <p:spTgt spid="71703"/>
                                        </p:tgtEl>
                                        <p:attrNameLst>
                                          <p:attrName>ppt_c</p:attrName>
                                        </p:attrNameLst>
                                      </p:cBhvr>
                                      <p:to>
                                        <a:schemeClr val="bg2"/>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71707"/>
                                        </p:tgtEl>
                                        <p:attrNameLst>
                                          <p:attrName>style.visibility</p:attrName>
                                        </p:attrNameLst>
                                      </p:cBhvr>
                                      <p:to>
                                        <p:strVal val="visible"/>
                                      </p:to>
                                    </p:set>
                                  </p:childTnLst>
                                  <p:subTnLst>
                                    <p:animClr clrSpc="rgb" dir="cw">
                                      <p:cBhvr override="childStyle">
                                        <p:cTn dur="1" fill="hold" display="0" masterRel="nextClick" afterEffect="1"/>
                                        <p:tgtEl>
                                          <p:spTgt spid="71707"/>
                                        </p:tgtEl>
                                        <p:attrNameLst>
                                          <p:attrName>ppt_c</p:attrName>
                                        </p:attrNameLst>
                                      </p:cBhvr>
                                      <p:to>
                                        <a:schemeClr val="bg2"/>
                                      </p:to>
                                    </p:animClr>
                                  </p:sub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71704"/>
                                        </p:tgtEl>
                                        <p:attrNameLst>
                                          <p:attrName>style.visibility</p:attrName>
                                        </p:attrNameLst>
                                      </p:cBhvr>
                                      <p:to>
                                        <p:strVal val="visible"/>
                                      </p:to>
                                    </p:set>
                                  </p:childTnLst>
                                  <p:subTnLst>
                                    <p:animClr clrSpc="rgb" dir="cw">
                                      <p:cBhvr override="childStyle">
                                        <p:cTn dur="1" fill="hold" display="0" masterRel="nextClick" afterEffect="1"/>
                                        <p:tgtEl>
                                          <p:spTgt spid="71704"/>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5" grpId="0" animBg="1"/>
      <p:bldP spid="71702" grpId="0" autoUpdateAnimBg="0"/>
      <p:bldP spid="71703" grpId="0" autoUpdateAnimBg="0"/>
      <p:bldP spid="71704" grpId="0" autoUpdateAnimBg="0"/>
      <p:bldP spid="71705" grpId="0" animBg="1"/>
      <p:bldP spid="71706" grpId="0" animBg="1"/>
      <p:bldP spid="71707"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1026"/>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195" name="Rectangle 1027"/>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196" name="Rectangle 1028"/>
          <p:cNvSpPr>
            <a:spLocks noGrp="1" noChangeArrowheads="1"/>
          </p:cNvSpPr>
          <p:nvPr>
            <p:ph type="title"/>
          </p:nvPr>
        </p:nvSpPr>
        <p:spPr>
          <a:xfrm>
            <a:off x="1543050" y="228600"/>
            <a:ext cx="5829300" cy="1314450"/>
          </a:xfrm>
          <a:noFill/>
          <a:ln/>
        </p:spPr>
        <p:txBody>
          <a:bodyPr/>
          <a:lstStyle/>
          <a:p>
            <a:r>
              <a:rPr lang="en-GB" sz="2400" dirty="0">
                <a:solidFill>
                  <a:schemeClr val="tx1"/>
                </a:solidFill>
                <a:latin typeface="Arial Rounded MT Bold" pitchFamily="34" charset="0"/>
              </a:rPr>
              <a:t>Ionic currents cross the membrane through voltage-gated channels:</a:t>
            </a:r>
          </a:p>
        </p:txBody>
      </p:sp>
      <p:sp>
        <p:nvSpPr>
          <p:cNvPr id="8197" name="Rectangle 1029"/>
          <p:cNvSpPr>
            <a:spLocks noGrp="1" noChangeArrowheads="1"/>
          </p:cNvSpPr>
          <p:nvPr>
            <p:ph type="body" idx="1"/>
          </p:nvPr>
        </p:nvSpPr>
        <p:spPr>
          <a:xfrm>
            <a:off x="1657350" y="1714500"/>
            <a:ext cx="5829300" cy="1943100"/>
          </a:xfrm>
          <a:noFill/>
          <a:ln/>
        </p:spPr>
        <p:txBody>
          <a:bodyPr/>
          <a:lstStyle/>
          <a:p>
            <a:pPr marL="342900" indent="-342900">
              <a:buFont typeface="Arial" panose="020B0604020202020204" pitchFamily="34" charset="0"/>
              <a:buChar char="•"/>
            </a:pPr>
            <a:r>
              <a:rPr lang="en-GB" dirty="0">
                <a:solidFill>
                  <a:srgbClr val="0070C0"/>
                </a:solidFill>
                <a:latin typeface="Arial Rounded MT Bold" pitchFamily="34" charset="0"/>
              </a:rPr>
              <a:t>the voltage-gated Na+ channel</a:t>
            </a:r>
            <a:endParaRPr lang="en-GB" sz="2100" dirty="0">
              <a:solidFill>
                <a:srgbClr val="0070C0"/>
              </a:solidFill>
              <a:latin typeface="Arial Rounded MT Bold" pitchFamily="34" charset="0"/>
            </a:endParaRPr>
          </a:p>
          <a:p>
            <a:r>
              <a:rPr lang="en-GB" sz="1800" dirty="0">
                <a:solidFill>
                  <a:srgbClr val="0070C0"/>
                </a:solidFill>
                <a:latin typeface="Arial Rounded MT Bold" pitchFamily="34" charset="0"/>
              </a:rPr>
              <a:t>     opens and Na+ ions enter the cell</a:t>
            </a:r>
          </a:p>
          <a:p>
            <a:pPr marL="742950" lvl="1" indent="-285750">
              <a:buFont typeface="Arial" panose="020B0604020202020204" pitchFamily="34" charset="0"/>
              <a:buChar char="•"/>
            </a:pPr>
            <a:endParaRPr lang="en-GB" dirty="0">
              <a:solidFill>
                <a:srgbClr val="0070C0"/>
              </a:solidFill>
              <a:latin typeface="Arial Rounded MT Bold" pitchFamily="34" charset="0"/>
            </a:endParaRPr>
          </a:p>
          <a:p>
            <a:pPr marL="342900" indent="-342900">
              <a:buFont typeface="Arial" panose="020B0604020202020204" pitchFamily="34" charset="0"/>
              <a:buChar char="•"/>
            </a:pPr>
            <a:r>
              <a:rPr lang="en-GB" dirty="0">
                <a:solidFill>
                  <a:srgbClr val="0070C0"/>
                </a:solidFill>
                <a:latin typeface="Arial Rounded MT Bold" pitchFamily="34" charset="0"/>
              </a:rPr>
              <a:t>the voltage-gated K+ channel </a:t>
            </a:r>
          </a:p>
          <a:p>
            <a:pPr lvl="1"/>
            <a:r>
              <a:rPr lang="en-GB" sz="1800" dirty="0">
                <a:solidFill>
                  <a:srgbClr val="0070C0"/>
                </a:solidFill>
                <a:latin typeface="Arial Rounded MT Bold" pitchFamily="34" charset="0"/>
              </a:rPr>
              <a:t>opens and K+ ions leave the cell</a:t>
            </a:r>
          </a:p>
        </p:txBody>
      </p:sp>
      <p:sp>
        <p:nvSpPr>
          <p:cNvPr id="8198" name="Text Box 1030"/>
          <p:cNvSpPr txBox="1">
            <a:spLocks noChangeArrowheads="1"/>
          </p:cNvSpPr>
          <p:nvPr/>
        </p:nvSpPr>
        <p:spPr bwMode="auto">
          <a:xfrm>
            <a:off x="1428750" y="4057650"/>
            <a:ext cx="62865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FontTx/>
              <a:buChar char="•"/>
            </a:pPr>
            <a:r>
              <a:rPr lang="en-US" sz="2400" b="0" dirty="0">
                <a:solidFill>
                  <a:schemeClr val="hlink"/>
                </a:solidFill>
              </a:rPr>
              <a:t> </a:t>
            </a:r>
            <a:r>
              <a:rPr lang="en-US" sz="2400" b="0" dirty="0">
                <a:latin typeface="Arial Rounded MT Bold" pitchFamily="34" charset="0"/>
              </a:rPr>
              <a:t>These channels are different from the Na</a:t>
            </a:r>
            <a:r>
              <a:rPr lang="en-US" sz="2400" b="0" baseline="30000" dirty="0">
                <a:latin typeface="Arial Rounded MT Bold" pitchFamily="34" charset="0"/>
              </a:rPr>
              <a:t>+</a:t>
            </a:r>
            <a:r>
              <a:rPr lang="en-US" sz="2400" b="0" dirty="0">
                <a:latin typeface="Arial Rounded MT Bold" pitchFamily="34" charset="0"/>
              </a:rPr>
              <a:t>-K</a:t>
            </a:r>
            <a:r>
              <a:rPr lang="en-US" sz="2400" b="0" baseline="30000" dirty="0">
                <a:latin typeface="Arial Rounded MT Bold" pitchFamily="34" charset="0"/>
              </a:rPr>
              <a:t>+</a:t>
            </a:r>
            <a:r>
              <a:rPr lang="en-US" sz="2400" b="0" dirty="0">
                <a:latin typeface="Arial Rounded MT Bold" pitchFamily="34" charset="0"/>
              </a:rPr>
              <a:t> pump and the K</a:t>
            </a:r>
            <a:r>
              <a:rPr lang="en-US" sz="2400" b="0" baseline="30000" dirty="0">
                <a:latin typeface="Arial Rounded MT Bold" pitchFamily="34" charset="0"/>
              </a:rPr>
              <a:t>+</a:t>
            </a:r>
            <a:r>
              <a:rPr lang="en-US" sz="2400" b="0" dirty="0">
                <a:latin typeface="Arial Rounded MT Bold" pitchFamily="34" charset="0"/>
              </a:rPr>
              <a:t> leaky channel</a:t>
            </a:r>
            <a:endParaRPr lang="en-US" sz="2400" b="0" dirty="0"/>
          </a:p>
        </p:txBody>
      </p:sp>
    </p:spTree>
    <p:extLst>
      <p:ext uri="{BB962C8B-B14F-4D97-AF65-F5344CB8AC3E}">
        <p14:creationId xmlns:p14="http://schemas.microsoft.com/office/powerpoint/2010/main" val="47554796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19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8197">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p" autoUpdateAnimBg="0"/>
      <p:bldP spid="8198"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1485900" y="114300"/>
            <a:ext cx="582930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66" tIns="33338" rIns="67866" bIns="33338" anchor="ctr"/>
          <a:lstStyle/>
          <a:p>
            <a:pPr algn="ctr" defTabSz="571500"/>
            <a:r>
              <a:rPr lang="en-GB" sz="2400" dirty="0">
                <a:latin typeface="Arial Rounded MT Bold" pitchFamily="34" charset="0"/>
              </a:rPr>
              <a:t>The phases of the action potential and corresponding movements of ions:</a:t>
            </a:r>
          </a:p>
        </p:txBody>
      </p:sp>
      <p:pic>
        <p:nvPicPr>
          <p:cNvPr id="79875" name="Picture 3" descr="action_potential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1701" y="1085850"/>
            <a:ext cx="4623197" cy="382786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6A681892-7ECA-4EC9-992D-9AB94103399F}"/>
              </a:ext>
            </a:extLst>
          </p:cNvPr>
          <p:cNvSpPr/>
          <p:nvPr/>
        </p:nvSpPr>
        <p:spPr>
          <a:xfrm>
            <a:off x="2087724" y="3003798"/>
            <a:ext cx="810090" cy="3780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100"/>
          </a:p>
        </p:txBody>
      </p:sp>
      <p:sp>
        <p:nvSpPr>
          <p:cNvPr id="5" name="Oval 4">
            <a:extLst>
              <a:ext uri="{FF2B5EF4-FFF2-40B4-BE49-F238E27FC236}">
                <a16:creationId xmlns:a16="http://schemas.microsoft.com/office/drawing/2014/main" id="{C35386FB-F864-4D6C-BB55-AF6760A217E1}"/>
              </a:ext>
            </a:extLst>
          </p:cNvPr>
          <p:cNvSpPr/>
          <p:nvPr/>
        </p:nvSpPr>
        <p:spPr>
          <a:xfrm>
            <a:off x="2910586" y="3043377"/>
            <a:ext cx="810090" cy="3780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100" dirty="0"/>
          </a:p>
        </p:txBody>
      </p:sp>
      <p:sp>
        <p:nvSpPr>
          <p:cNvPr id="6" name="Oval 5">
            <a:extLst>
              <a:ext uri="{FF2B5EF4-FFF2-40B4-BE49-F238E27FC236}">
                <a16:creationId xmlns:a16="http://schemas.microsoft.com/office/drawing/2014/main" id="{EFF6F226-A850-4493-855F-1FC61D45BE95}"/>
              </a:ext>
            </a:extLst>
          </p:cNvPr>
          <p:cNvSpPr/>
          <p:nvPr/>
        </p:nvSpPr>
        <p:spPr>
          <a:xfrm>
            <a:off x="4501550" y="3023588"/>
            <a:ext cx="810090" cy="3780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100"/>
          </a:p>
        </p:txBody>
      </p:sp>
      <p:sp>
        <p:nvSpPr>
          <p:cNvPr id="7" name="Oval 6">
            <a:extLst>
              <a:ext uri="{FF2B5EF4-FFF2-40B4-BE49-F238E27FC236}">
                <a16:creationId xmlns:a16="http://schemas.microsoft.com/office/drawing/2014/main" id="{761836D2-755C-4847-A9BD-B9BD320F7AAA}"/>
              </a:ext>
            </a:extLst>
          </p:cNvPr>
          <p:cNvSpPr/>
          <p:nvPr/>
        </p:nvSpPr>
        <p:spPr>
          <a:xfrm>
            <a:off x="5311640" y="3043377"/>
            <a:ext cx="934547" cy="3384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100"/>
          </a:p>
        </p:txBody>
      </p:sp>
      <p:sp>
        <p:nvSpPr>
          <p:cNvPr id="8" name="Oval 7">
            <a:extLst>
              <a:ext uri="{FF2B5EF4-FFF2-40B4-BE49-F238E27FC236}">
                <a16:creationId xmlns:a16="http://schemas.microsoft.com/office/drawing/2014/main" id="{25C090A1-5BF5-4DEA-A9C6-1B297624C6EF}"/>
              </a:ext>
            </a:extLst>
          </p:cNvPr>
          <p:cNvSpPr/>
          <p:nvPr/>
        </p:nvSpPr>
        <p:spPr>
          <a:xfrm>
            <a:off x="3685074" y="3043377"/>
            <a:ext cx="810090" cy="3780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100"/>
          </a:p>
        </p:txBody>
      </p:sp>
    </p:spTree>
    <p:extLst>
      <p:ext uri="{BB962C8B-B14F-4D97-AF65-F5344CB8AC3E}">
        <p14:creationId xmlns:p14="http://schemas.microsoft.com/office/powerpoint/2010/main" val="4237108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98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943100" y="171450"/>
            <a:ext cx="5829300" cy="857250"/>
          </a:xfrm>
          <a:noFill/>
          <a:ln/>
        </p:spPr>
        <p:txBody>
          <a:bodyPr lIns="69056" tIns="34529" rIns="69056" bIns="34529"/>
          <a:lstStyle/>
          <a:p>
            <a:pPr algn="l"/>
            <a:r>
              <a:rPr lang="en-GB" sz="2400" b="1">
                <a:solidFill>
                  <a:schemeClr val="hlink"/>
                </a:solidFill>
                <a:latin typeface="Arial Rounded MT Bold" pitchFamily="34" charset="0"/>
              </a:rPr>
              <a:t>What is an action potential?</a:t>
            </a:r>
          </a:p>
        </p:txBody>
      </p:sp>
      <p:sp>
        <p:nvSpPr>
          <p:cNvPr id="78851" name="Line 3"/>
          <p:cNvSpPr>
            <a:spLocks noChangeShapeType="1"/>
          </p:cNvSpPr>
          <p:nvPr/>
        </p:nvSpPr>
        <p:spPr bwMode="auto">
          <a:xfrm>
            <a:off x="2457450" y="857250"/>
            <a:ext cx="0" cy="34290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52" name="Line 4"/>
          <p:cNvSpPr>
            <a:spLocks noChangeShapeType="1"/>
          </p:cNvSpPr>
          <p:nvPr/>
        </p:nvSpPr>
        <p:spPr bwMode="auto">
          <a:xfrm>
            <a:off x="2457450" y="4286250"/>
            <a:ext cx="400050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53" name="Rectangle 5"/>
          <p:cNvSpPr>
            <a:spLocks noChangeArrowheads="1"/>
          </p:cNvSpPr>
          <p:nvPr/>
        </p:nvSpPr>
        <p:spPr bwMode="auto">
          <a:xfrm rot="-5400000">
            <a:off x="-204768" y="2334225"/>
            <a:ext cx="343491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Membrane potential (mV)</a:t>
            </a:r>
          </a:p>
        </p:txBody>
      </p:sp>
      <p:sp>
        <p:nvSpPr>
          <p:cNvPr id="78854" name="Rectangle 6"/>
          <p:cNvSpPr>
            <a:spLocks noChangeArrowheads="1"/>
          </p:cNvSpPr>
          <p:nvPr/>
        </p:nvSpPr>
        <p:spPr bwMode="auto">
          <a:xfrm>
            <a:off x="3131344" y="4525566"/>
            <a:ext cx="1352934"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time (ms)</a:t>
            </a:r>
          </a:p>
        </p:txBody>
      </p:sp>
      <p:sp>
        <p:nvSpPr>
          <p:cNvPr id="78855" name="Line 7"/>
          <p:cNvSpPr>
            <a:spLocks noChangeShapeType="1"/>
          </p:cNvSpPr>
          <p:nvPr/>
        </p:nvSpPr>
        <p:spPr bwMode="auto">
          <a:xfrm>
            <a:off x="2286000" y="3657600"/>
            <a:ext cx="3429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56" name="Line 8"/>
          <p:cNvSpPr>
            <a:spLocks noChangeShapeType="1"/>
          </p:cNvSpPr>
          <p:nvPr/>
        </p:nvSpPr>
        <p:spPr bwMode="auto">
          <a:xfrm>
            <a:off x="2286000" y="2343150"/>
            <a:ext cx="400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57" name="Line 9"/>
          <p:cNvSpPr>
            <a:spLocks noChangeShapeType="1"/>
          </p:cNvSpPr>
          <p:nvPr/>
        </p:nvSpPr>
        <p:spPr bwMode="auto">
          <a:xfrm>
            <a:off x="2286000" y="1428750"/>
            <a:ext cx="400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58" name="Line 10"/>
          <p:cNvSpPr>
            <a:spLocks noChangeShapeType="1"/>
          </p:cNvSpPr>
          <p:nvPr/>
        </p:nvSpPr>
        <p:spPr bwMode="auto">
          <a:xfrm>
            <a:off x="2743200" y="3657600"/>
            <a:ext cx="365760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59" name="Freeform 11"/>
          <p:cNvSpPr>
            <a:spLocks/>
          </p:cNvSpPr>
          <p:nvPr/>
        </p:nvSpPr>
        <p:spPr bwMode="auto">
          <a:xfrm>
            <a:off x="2686050" y="1428750"/>
            <a:ext cx="2801541" cy="2588419"/>
          </a:xfrm>
          <a:custGeom>
            <a:avLst/>
            <a:gdLst>
              <a:gd name="T0" fmla="*/ 80 w 2353"/>
              <a:gd name="T1" fmla="*/ 1879 h 2174"/>
              <a:gd name="T2" fmla="*/ 182 w 2353"/>
              <a:gd name="T3" fmla="*/ 1845 h 2174"/>
              <a:gd name="T4" fmla="*/ 261 w 2353"/>
              <a:gd name="T5" fmla="*/ 1743 h 2174"/>
              <a:gd name="T6" fmla="*/ 318 w 2353"/>
              <a:gd name="T7" fmla="*/ 1641 h 2174"/>
              <a:gd name="T8" fmla="*/ 363 w 2353"/>
              <a:gd name="T9" fmla="*/ 1528 h 2174"/>
              <a:gd name="T10" fmla="*/ 397 w 2353"/>
              <a:gd name="T11" fmla="*/ 1426 h 2174"/>
              <a:gd name="T12" fmla="*/ 431 w 2353"/>
              <a:gd name="T13" fmla="*/ 1313 h 2174"/>
              <a:gd name="T14" fmla="*/ 465 w 2353"/>
              <a:gd name="T15" fmla="*/ 1109 h 2174"/>
              <a:gd name="T16" fmla="*/ 499 w 2353"/>
              <a:gd name="T17" fmla="*/ 849 h 2174"/>
              <a:gd name="T18" fmla="*/ 544 w 2353"/>
              <a:gd name="T19" fmla="*/ 724 h 2174"/>
              <a:gd name="T20" fmla="*/ 578 w 2353"/>
              <a:gd name="T21" fmla="*/ 611 h 2174"/>
              <a:gd name="T22" fmla="*/ 601 w 2353"/>
              <a:gd name="T23" fmla="*/ 509 h 2174"/>
              <a:gd name="T24" fmla="*/ 624 w 2353"/>
              <a:gd name="T25" fmla="*/ 407 h 2174"/>
              <a:gd name="T26" fmla="*/ 646 w 2353"/>
              <a:gd name="T27" fmla="*/ 306 h 2174"/>
              <a:gd name="T28" fmla="*/ 658 w 2353"/>
              <a:gd name="T29" fmla="*/ 192 h 2174"/>
              <a:gd name="T30" fmla="*/ 680 w 2353"/>
              <a:gd name="T31" fmla="*/ 90 h 2174"/>
              <a:gd name="T32" fmla="*/ 748 w 2353"/>
              <a:gd name="T33" fmla="*/ 0 h 2174"/>
              <a:gd name="T34" fmla="*/ 816 w 2353"/>
              <a:gd name="T35" fmla="*/ 79 h 2174"/>
              <a:gd name="T36" fmla="*/ 861 w 2353"/>
              <a:gd name="T37" fmla="*/ 181 h 2174"/>
              <a:gd name="T38" fmla="*/ 884 w 2353"/>
              <a:gd name="T39" fmla="*/ 294 h 2174"/>
              <a:gd name="T40" fmla="*/ 907 w 2353"/>
              <a:gd name="T41" fmla="*/ 396 h 2174"/>
              <a:gd name="T42" fmla="*/ 929 w 2353"/>
              <a:gd name="T43" fmla="*/ 498 h 2174"/>
              <a:gd name="T44" fmla="*/ 952 w 2353"/>
              <a:gd name="T45" fmla="*/ 600 h 2174"/>
              <a:gd name="T46" fmla="*/ 963 w 2353"/>
              <a:gd name="T47" fmla="*/ 713 h 2174"/>
              <a:gd name="T48" fmla="*/ 975 w 2353"/>
              <a:gd name="T49" fmla="*/ 826 h 2174"/>
              <a:gd name="T50" fmla="*/ 997 w 2353"/>
              <a:gd name="T51" fmla="*/ 939 h 2174"/>
              <a:gd name="T52" fmla="*/ 1009 w 2353"/>
              <a:gd name="T53" fmla="*/ 1053 h 2174"/>
              <a:gd name="T54" fmla="*/ 1031 w 2353"/>
              <a:gd name="T55" fmla="*/ 1177 h 2174"/>
              <a:gd name="T56" fmla="*/ 1043 w 2353"/>
              <a:gd name="T57" fmla="*/ 1302 h 2174"/>
              <a:gd name="T58" fmla="*/ 1065 w 2353"/>
              <a:gd name="T59" fmla="*/ 1403 h 2174"/>
              <a:gd name="T60" fmla="*/ 1088 w 2353"/>
              <a:gd name="T61" fmla="*/ 1505 h 2174"/>
              <a:gd name="T62" fmla="*/ 1111 w 2353"/>
              <a:gd name="T63" fmla="*/ 1607 h 2174"/>
              <a:gd name="T64" fmla="*/ 1133 w 2353"/>
              <a:gd name="T65" fmla="*/ 1720 h 2174"/>
              <a:gd name="T66" fmla="*/ 1167 w 2353"/>
              <a:gd name="T67" fmla="*/ 1901 h 2174"/>
              <a:gd name="T68" fmla="*/ 1201 w 2353"/>
              <a:gd name="T69" fmla="*/ 2003 h 2174"/>
              <a:gd name="T70" fmla="*/ 1280 w 2353"/>
              <a:gd name="T71" fmla="*/ 2094 h 2174"/>
              <a:gd name="T72" fmla="*/ 1382 w 2353"/>
              <a:gd name="T73" fmla="*/ 2150 h 2174"/>
              <a:gd name="T74" fmla="*/ 1484 w 2353"/>
              <a:gd name="T75" fmla="*/ 2173 h 2174"/>
              <a:gd name="T76" fmla="*/ 1586 w 2353"/>
              <a:gd name="T77" fmla="*/ 2162 h 2174"/>
              <a:gd name="T78" fmla="*/ 1688 w 2353"/>
              <a:gd name="T79" fmla="*/ 2117 h 2174"/>
              <a:gd name="T80" fmla="*/ 1790 w 2353"/>
              <a:gd name="T81" fmla="*/ 2083 h 2174"/>
              <a:gd name="T82" fmla="*/ 1892 w 2353"/>
              <a:gd name="T83" fmla="*/ 2037 h 2174"/>
              <a:gd name="T84" fmla="*/ 1994 w 2353"/>
              <a:gd name="T85" fmla="*/ 1981 h 2174"/>
              <a:gd name="T86" fmla="*/ 2096 w 2353"/>
              <a:gd name="T87" fmla="*/ 1969 h 2174"/>
              <a:gd name="T88" fmla="*/ 2198 w 2353"/>
              <a:gd name="T89" fmla="*/ 1958 h 2174"/>
              <a:gd name="T90" fmla="*/ 2300 w 2353"/>
              <a:gd name="T91" fmla="*/ 1947 h 2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53" h="2174">
                <a:moveTo>
                  <a:pt x="0" y="1874"/>
                </a:moveTo>
                <a:lnTo>
                  <a:pt x="46" y="1879"/>
                </a:lnTo>
                <a:lnTo>
                  <a:pt x="80" y="1879"/>
                </a:lnTo>
                <a:lnTo>
                  <a:pt x="114" y="1879"/>
                </a:lnTo>
                <a:lnTo>
                  <a:pt x="148" y="1868"/>
                </a:lnTo>
                <a:lnTo>
                  <a:pt x="182" y="1845"/>
                </a:lnTo>
                <a:lnTo>
                  <a:pt x="205" y="1811"/>
                </a:lnTo>
                <a:lnTo>
                  <a:pt x="239" y="1777"/>
                </a:lnTo>
                <a:lnTo>
                  <a:pt x="261" y="1743"/>
                </a:lnTo>
                <a:lnTo>
                  <a:pt x="284" y="1709"/>
                </a:lnTo>
                <a:lnTo>
                  <a:pt x="307" y="1675"/>
                </a:lnTo>
                <a:lnTo>
                  <a:pt x="318" y="1641"/>
                </a:lnTo>
                <a:lnTo>
                  <a:pt x="341" y="1596"/>
                </a:lnTo>
                <a:lnTo>
                  <a:pt x="352" y="1562"/>
                </a:lnTo>
                <a:lnTo>
                  <a:pt x="363" y="1528"/>
                </a:lnTo>
                <a:lnTo>
                  <a:pt x="375" y="1494"/>
                </a:lnTo>
                <a:lnTo>
                  <a:pt x="386" y="1460"/>
                </a:lnTo>
                <a:lnTo>
                  <a:pt x="397" y="1426"/>
                </a:lnTo>
                <a:lnTo>
                  <a:pt x="409" y="1392"/>
                </a:lnTo>
                <a:lnTo>
                  <a:pt x="420" y="1358"/>
                </a:lnTo>
                <a:lnTo>
                  <a:pt x="431" y="1313"/>
                </a:lnTo>
                <a:lnTo>
                  <a:pt x="443" y="1245"/>
                </a:lnTo>
                <a:lnTo>
                  <a:pt x="454" y="1200"/>
                </a:lnTo>
                <a:lnTo>
                  <a:pt x="465" y="1109"/>
                </a:lnTo>
                <a:lnTo>
                  <a:pt x="476" y="1019"/>
                </a:lnTo>
                <a:lnTo>
                  <a:pt x="488" y="939"/>
                </a:lnTo>
                <a:lnTo>
                  <a:pt x="499" y="849"/>
                </a:lnTo>
                <a:lnTo>
                  <a:pt x="510" y="804"/>
                </a:lnTo>
                <a:lnTo>
                  <a:pt x="522" y="758"/>
                </a:lnTo>
                <a:lnTo>
                  <a:pt x="544" y="724"/>
                </a:lnTo>
                <a:lnTo>
                  <a:pt x="556" y="679"/>
                </a:lnTo>
                <a:lnTo>
                  <a:pt x="567" y="645"/>
                </a:lnTo>
                <a:lnTo>
                  <a:pt x="578" y="611"/>
                </a:lnTo>
                <a:lnTo>
                  <a:pt x="590" y="577"/>
                </a:lnTo>
                <a:lnTo>
                  <a:pt x="601" y="543"/>
                </a:lnTo>
                <a:lnTo>
                  <a:pt x="601" y="509"/>
                </a:lnTo>
                <a:lnTo>
                  <a:pt x="612" y="475"/>
                </a:lnTo>
                <a:lnTo>
                  <a:pt x="612" y="441"/>
                </a:lnTo>
                <a:lnTo>
                  <a:pt x="624" y="407"/>
                </a:lnTo>
                <a:lnTo>
                  <a:pt x="624" y="373"/>
                </a:lnTo>
                <a:lnTo>
                  <a:pt x="635" y="339"/>
                </a:lnTo>
                <a:lnTo>
                  <a:pt x="646" y="306"/>
                </a:lnTo>
                <a:lnTo>
                  <a:pt x="646" y="272"/>
                </a:lnTo>
                <a:lnTo>
                  <a:pt x="658" y="238"/>
                </a:lnTo>
                <a:lnTo>
                  <a:pt x="658" y="192"/>
                </a:lnTo>
                <a:lnTo>
                  <a:pt x="669" y="158"/>
                </a:lnTo>
                <a:lnTo>
                  <a:pt x="680" y="124"/>
                </a:lnTo>
                <a:lnTo>
                  <a:pt x="680" y="90"/>
                </a:lnTo>
                <a:lnTo>
                  <a:pt x="692" y="56"/>
                </a:lnTo>
                <a:lnTo>
                  <a:pt x="714" y="23"/>
                </a:lnTo>
                <a:lnTo>
                  <a:pt x="748" y="0"/>
                </a:lnTo>
                <a:lnTo>
                  <a:pt x="782" y="11"/>
                </a:lnTo>
                <a:lnTo>
                  <a:pt x="805" y="45"/>
                </a:lnTo>
                <a:lnTo>
                  <a:pt x="816" y="79"/>
                </a:lnTo>
                <a:lnTo>
                  <a:pt x="839" y="113"/>
                </a:lnTo>
                <a:lnTo>
                  <a:pt x="850" y="147"/>
                </a:lnTo>
                <a:lnTo>
                  <a:pt x="861" y="181"/>
                </a:lnTo>
                <a:lnTo>
                  <a:pt x="873" y="215"/>
                </a:lnTo>
                <a:lnTo>
                  <a:pt x="873" y="249"/>
                </a:lnTo>
                <a:lnTo>
                  <a:pt x="884" y="294"/>
                </a:lnTo>
                <a:lnTo>
                  <a:pt x="895" y="328"/>
                </a:lnTo>
                <a:lnTo>
                  <a:pt x="895" y="362"/>
                </a:lnTo>
                <a:lnTo>
                  <a:pt x="907" y="396"/>
                </a:lnTo>
                <a:lnTo>
                  <a:pt x="918" y="430"/>
                </a:lnTo>
                <a:lnTo>
                  <a:pt x="918" y="464"/>
                </a:lnTo>
                <a:lnTo>
                  <a:pt x="929" y="498"/>
                </a:lnTo>
                <a:lnTo>
                  <a:pt x="929" y="532"/>
                </a:lnTo>
                <a:lnTo>
                  <a:pt x="941" y="566"/>
                </a:lnTo>
                <a:lnTo>
                  <a:pt x="952" y="600"/>
                </a:lnTo>
                <a:lnTo>
                  <a:pt x="952" y="634"/>
                </a:lnTo>
                <a:lnTo>
                  <a:pt x="952" y="668"/>
                </a:lnTo>
                <a:lnTo>
                  <a:pt x="963" y="713"/>
                </a:lnTo>
                <a:lnTo>
                  <a:pt x="963" y="747"/>
                </a:lnTo>
                <a:lnTo>
                  <a:pt x="975" y="792"/>
                </a:lnTo>
                <a:lnTo>
                  <a:pt x="975" y="826"/>
                </a:lnTo>
                <a:lnTo>
                  <a:pt x="986" y="871"/>
                </a:lnTo>
                <a:lnTo>
                  <a:pt x="986" y="905"/>
                </a:lnTo>
                <a:lnTo>
                  <a:pt x="997" y="939"/>
                </a:lnTo>
                <a:lnTo>
                  <a:pt x="997" y="985"/>
                </a:lnTo>
                <a:lnTo>
                  <a:pt x="1009" y="1019"/>
                </a:lnTo>
                <a:lnTo>
                  <a:pt x="1009" y="1053"/>
                </a:lnTo>
                <a:lnTo>
                  <a:pt x="1020" y="1098"/>
                </a:lnTo>
                <a:lnTo>
                  <a:pt x="1020" y="1132"/>
                </a:lnTo>
                <a:lnTo>
                  <a:pt x="1031" y="1177"/>
                </a:lnTo>
                <a:lnTo>
                  <a:pt x="1031" y="1211"/>
                </a:lnTo>
                <a:lnTo>
                  <a:pt x="1043" y="1256"/>
                </a:lnTo>
                <a:lnTo>
                  <a:pt x="1043" y="1302"/>
                </a:lnTo>
                <a:lnTo>
                  <a:pt x="1054" y="1336"/>
                </a:lnTo>
                <a:lnTo>
                  <a:pt x="1065" y="1369"/>
                </a:lnTo>
                <a:lnTo>
                  <a:pt x="1065" y="1403"/>
                </a:lnTo>
                <a:lnTo>
                  <a:pt x="1077" y="1437"/>
                </a:lnTo>
                <a:lnTo>
                  <a:pt x="1077" y="1471"/>
                </a:lnTo>
                <a:lnTo>
                  <a:pt x="1088" y="1505"/>
                </a:lnTo>
                <a:lnTo>
                  <a:pt x="1088" y="1539"/>
                </a:lnTo>
                <a:lnTo>
                  <a:pt x="1099" y="1573"/>
                </a:lnTo>
                <a:lnTo>
                  <a:pt x="1111" y="1607"/>
                </a:lnTo>
                <a:lnTo>
                  <a:pt x="1111" y="1641"/>
                </a:lnTo>
                <a:lnTo>
                  <a:pt x="1122" y="1686"/>
                </a:lnTo>
                <a:lnTo>
                  <a:pt x="1133" y="1720"/>
                </a:lnTo>
                <a:lnTo>
                  <a:pt x="1145" y="1754"/>
                </a:lnTo>
                <a:lnTo>
                  <a:pt x="1145" y="1822"/>
                </a:lnTo>
                <a:lnTo>
                  <a:pt x="1167" y="1901"/>
                </a:lnTo>
                <a:lnTo>
                  <a:pt x="1167" y="1935"/>
                </a:lnTo>
                <a:lnTo>
                  <a:pt x="1179" y="1969"/>
                </a:lnTo>
                <a:lnTo>
                  <a:pt x="1201" y="2003"/>
                </a:lnTo>
                <a:lnTo>
                  <a:pt x="1213" y="2037"/>
                </a:lnTo>
                <a:lnTo>
                  <a:pt x="1246" y="2071"/>
                </a:lnTo>
                <a:lnTo>
                  <a:pt x="1280" y="2094"/>
                </a:lnTo>
                <a:lnTo>
                  <a:pt x="1314" y="2117"/>
                </a:lnTo>
                <a:lnTo>
                  <a:pt x="1348" y="2139"/>
                </a:lnTo>
                <a:lnTo>
                  <a:pt x="1382" y="2150"/>
                </a:lnTo>
                <a:lnTo>
                  <a:pt x="1416" y="2162"/>
                </a:lnTo>
                <a:lnTo>
                  <a:pt x="1450" y="2173"/>
                </a:lnTo>
                <a:lnTo>
                  <a:pt x="1484" y="2173"/>
                </a:lnTo>
                <a:lnTo>
                  <a:pt x="1518" y="2173"/>
                </a:lnTo>
                <a:lnTo>
                  <a:pt x="1552" y="2173"/>
                </a:lnTo>
                <a:lnTo>
                  <a:pt x="1586" y="2162"/>
                </a:lnTo>
                <a:lnTo>
                  <a:pt x="1620" y="2150"/>
                </a:lnTo>
                <a:lnTo>
                  <a:pt x="1654" y="2139"/>
                </a:lnTo>
                <a:lnTo>
                  <a:pt x="1688" y="2117"/>
                </a:lnTo>
                <a:lnTo>
                  <a:pt x="1722" y="2105"/>
                </a:lnTo>
                <a:lnTo>
                  <a:pt x="1756" y="2105"/>
                </a:lnTo>
                <a:lnTo>
                  <a:pt x="1790" y="2083"/>
                </a:lnTo>
                <a:lnTo>
                  <a:pt x="1824" y="2071"/>
                </a:lnTo>
                <a:lnTo>
                  <a:pt x="1858" y="2060"/>
                </a:lnTo>
                <a:lnTo>
                  <a:pt x="1892" y="2037"/>
                </a:lnTo>
                <a:lnTo>
                  <a:pt x="1926" y="2015"/>
                </a:lnTo>
                <a:lnTo>
                  <a:pt x="1960" y="2003"/>
                </a:lnTo>
                <a:lnTo>
                  <a:pt x="1994" y="1981"/>
                </a:lnTo>
                <a:lnTo>
                  <a:pt x="2028" y="1969"/>
                </a:lnTo>
                <a:lnTo>
                  <a:pt x="2062" y="1969"/>
                </a:lnTo>
                <a:lnTo>
                  <a:pt x="2096" y="1969"/>
                </a:lnTo>
                <a:lnTo>
                  <a:pt x="2130" y="1969"/>
                </a:lnTo>
                <a:lnTo>
                  <a:pt x="2164" y="1969"/>
                </a:lnTo>
                <a:lnTo>
                  <a:pt x="2198" y="1958"/>
                </a:lnTo>
                <a:lnTo>
                  <a:pt x="2232" y="1947"/>
                </a:lnTo>
                <a:lnTo>
                  <a:pt x="2266" y="1947"/>
                </a:lnTo>
                <a:lnTo>
                  <a:pt x="2300" y="1947"/>
                </a:lnTo>
                <a:lnTo>
                  <a:pt x="2334" y="1947"/>
                </a:lnTo>
                <a:lnTo>
                  <a:pt x="2352" y="1970"/>
                </a:lnTo>
              </a:path>
            </a:pathLst>
          </a:custGeom>
          <a:noFill/>
          <a:ln w="50800" cap="rnd" cmpd="sng">
            <a:solidFill>
              <a:srgbClr val="0070C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60" name="Rectangle 12"/>
          <p:cNvSpPr>
            <a:spLocks noChangeArrowheads="1"/>
          </p:cNvSpPr>
          <p:nvPr/>
        </p:nvSpPr>
        <p:spPr bwMode="auto">
          <a:xfrm>
            <a:off x="1759744" y="3496866"/>
            <a:ext cx="54983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-70</a:t>
            </a:r>
          </a:p>
        </p:txBody>
      </p:sp>
      <p:sp>
        <p:nvSpPr>
          <p:cNvPr id="78861" name="Rectangle 13"/>
          <p:cNvSpPr>
            <a:spLocks noChangeArrowheads="1"/>
          </p:cNvSpPr>
          <p:nvPr/>
        </p:nvSpPr>
        <p:spPr bwMode="auto">
          <a:xfrm>
            <a:off x="1702594" y="2068116"/>
            <a:ext cx="54983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-15</a:t>
            </a:r>
          </a:p>
        </p:txBody>
      </p:sp>
      <p:sp>
        <p:nvSpPr>
          <p:cNvPr id="78862" name="Rectangle 14"/>
          <p:cNvSpPr>
            <a:spLocks noChangeArrowheads="1"/>
          </p:cNvSpPr>
          <p:nvPr/>
        </p:nvSpPr>
        <p:spPr bwMode="auto">
          <a:xfrm>
            <a:off x="1702594" y="1210866"/>
            <a:ext cx="61715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+30</a:t>
            </a:r>
          </a:p>
        </p:txBody>
      </p:sp>
      <p:sp>
        <p:nvSpPr>
          <p:cNvPr id="78863" name="Freeform 15"/>
          <p:cNvSpPr>
            <a:spLocks/>
          </p:cNvSpPr>
          <p:nvPr/>
        </p:nvSpPr>
        <p:spPr bwMode="auto">
          <a:xfrm>
            <a:off x="2800350" y="1838325"/>
            <a:ext cx="2343150" cy="1847850"/>
          </a:xfrm>
          <a:custGeom>
            <a:avLst/>
            <a:gdLst>
              <a:gd name="T0" fmla="*/ 0 w 1968"/>
              <a:gd name="T1" fmla="*/ 1528 h 1552"/>
              <a:gd name="T2" fmla="*/ 336 w 1968"/>
              <a:gd name="T3" fmla="*/ 1432 h 1552"/>
              <a:gd name="T4" fmla="*/ 432 w 1968"/>
              <a:gd name="T5" fmla="*/ 1000 h 1552"/>
              <a:gd name="T6" fmla="*/ 576 w 1968"/>
              <a:gd name="T7" fmla="*/ 136 h 1552"/>
              <a:gd name="T8" fmla="*/ 720 w 1968"/>
              <a:gd name="T9" fmla="*/ 184 h 1552"/>
              <a:gd name="T10" fmla="*/ 816 w 1968"/>
              <a:gd name="T11" fmla="*/ 856 h 1552"/>
              <a:gd name="T12" fmla="*/ 960 w 1968"/>
              <a:gd name="T13" fmla="*/ 1384 h 1552"/>
              <a:gd name="T14" fmla="*/ 1440 w 1968"/>
              <a:gd name="T15" fmla="*/ 1528 h 1552"/>
              <a:gd name="T16" fmla="*/ 1968 w 1968"/>
              <a:gd name="T17" fmla="*/ 1528 h 1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8" h="1552">
                <a:moveTo>
                  <a:pt x="0" y="1528"/>
                </a:moveTo>
                <a:cubicBezTo>
                  <a:pt x="132" y="1524"/>
                  <a:pt x="264" y="1520"/>
                  <a:pt x="336" y="1432"/>
                </a:cubicBezTo>
                <a:cubicBezTo>
                  <a:pt x="408" y="1344"/>
                  <a:pt x="392" y="1216"/>
                  <a:pt x="432" y="1000"/>
                </a:cubicBezTo>
                <a:cubicBezTo>
                  <a:pt x="472" y="784"/>
                  <a:pt x="528" y="272"/>
                  <a:pt x="576" y="136"/>
                </a:cubicBezTo>
                <a:cubicBezTo>
                  <a:pt x="624" y="0"/>
                  <a:pt x="680" y="64"/>
                  <a:pt x="720" y="184"/>
                </a:cubicBezTo>
                <a:cubicBezTo>
                  <a:pt x="760" y="304"/>
                  <a:pt x="776" y="656"/>
                  <a:pt x="816" y="856"/>
                </a:cubicBezTo>
                <a:cubicBezTo>
                  <a:pt x="856" y="1056"/>
                  <a:pt x="856" y="1272"/>
                  <a:pt x="960" y="1384"/>
                </a:cubicBezTo>
                <a:cubicBezTo>
                  <a:pt x="1064" y="1496"/>
                  <a:pt x="1272" y="1504"/>
                  <a:pt x="1440" y="1528"/>
                </a:cubicBezTo>
                <a:cubicBezTo>
                  <a:pt x="1608" y="1552"/>
                  <a:pt x="1872" y="1528"/>
                  <a:pt x="1968" y="1528"/>
                </a:cubicBezTo>
              </a:path>
            </a:pathLst>
          </a:custGeom>
          <a:noFill/>
          <a:ln w="38100" cap="flat" cmpd="sng">
            <a:solidFill>
              <a:srgbClr val="7030A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64" name="Freeform 16"/>
          <p:cNvSpPr>
            <a:spLocks/>
          </p:cNvSpPr>
          <p:nvPr/>
        </p:nvSpPr>
        <p:spPr bwMode="auto">
          <a:xfrm>
            <a:off x="2914650" y="2838450"/>
            <a:ext cx="3143250" cy="819150"/>
          </a:xfrm>
          <a:custGeom>
            <a:avLst/>
            <a:gdLst>
              <a:gd name="T0" fmla="*/ 0 w 2640"/>
              <a:gd name="T1" fmla="*/ 688 h 688"/>
              <a:gd name="T2" fmla="*/ 432 w 2640"/>
              <a:gd name="T3" fmla="*/ 592 h 688"/>
              <a:gd name="T4" fmla="*/ 672 w 2640"/>
              <a:gd name="T5" fmla="*/ 256 h 688"/>
              <a:gd name="T6" fmla="*/ 768 w 2640"/>
              <a:gd name="T7" fmla="*/ 64 h 688"/>
              <a:gd name="T8" fmla="*/ 912 w 2640"/>
              <a:gd name="T9" fmla="*/ 16 h 688"/>
              <a:gd name="T10" fmla="*/ 1200 w 2640"/>
              <a:gd name="T11" fmla="*/ 160 h 688"/>
              <a:gd name="T12" fmla="*/ 1536 w 2640"/>
              <a:gd name="T13" fmla="*/ 496 h 688"/>
              <a:gd name="T14" fmla="*/ 1872 w 2640"/>
              <a:gd name="T15" fmla="*/ 592 h 688"/>
              <a:gd name="T16" fmla="*/ 2112 w 2640"/>
              <a:gd name="T17" fmla="*/ 592 h 688"/>
              <a:gd name="T18" fmla="*/ 2448 w 2640"/>
              <a:gd name="T19" fmla="*/ 640 h 688"/>
              <a:gd name="T20" fmla="*/ 2640 w 2640"/>
              <a:gd name="T21" fmla="*/ 688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0" h="688">
                <a:moveTo>
                  <a:pt x="0" y="688"/>
                </a:moveTo>
                <a:cubicBezTo>
                  <a:pt x="160" y="676"/>
                  <a:pt x="320" y="664"/>
                  <a:pt x="432" y="592"/>
                </a:cubicBezTo>
                <a:cubicBezTo>
                  <a:pt x="544" y="520"/>
                  <a:pt x="616" y="344"/>
                  <a:pt x="672" y="256"/>
                </a:cubicBezTo>
                <a:cubicBezTo>
                  <a:pt x="728" y="168"/>
                  <a:pt x="728" y="104"/>
                  <a:pt x="768" y="64"/>
                </a:cubicBezTo>
                <a:cubicBezTo>
                  <a:pt x="808" y="24"/>
                  <a:pt x="840" y="0"/>
                  <a:pt x="912" y="16"/>
                </a:cubicBezTo>
                <a:cubicBezTo>
                  <a:pt x="984" y="32"/>
                  <a:pt x="1096" y="80"/>
                  <a:pt x="1200" y="160"/>
                </a:cubicBezTo>
                <a:cubicBezTo>
                  <a:pt x="1304" y="240"/>
                  <a:pt x="1424" y="424"/>
                  <a:pt x="1536" y="496"/>
                </a:cubicBezTo>
                <a:cubicBezTo>
                  <a:pt x="1648" y="568"/>
                  <a:pt x="1776" y="576"/>
                  <a:pt x="1872" y="592"/>
                </a:cubicBezTo>
                <a:cubicBezTo>
                  <a:pt x="1968" y="608"/>
                  <a:pt x="2016" y="584"/>
                  <a:pt x="2112" y="592"/>
                </a:cubicBezTo>
                <a:cubicBezTo>
                  <a:pt x="2208" y="600"/>
                  <a:pt x="2360" y="624"/>
                  <a:pt x="2448" y="640"/>
                </a:cubicBezTo>
                <a:cubicBezTo>
                  <a:pt x="2536" y="656"/>
                  <a:pt x="2600" y="680"/>
                  <a:pt x="2640" y="688"/>
                </a:cubicBezTo>
              </a:path>
            </a:pathLst>
          </a:custGeom>
          <a:noFill/>
          <a:ln w="3810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71" name="Text Box 23"/>
          <p:cNvSpPr txBox="1">
            <a:spLocks noChangeArrowheads="1"/>
          </p:cNvSpPr>
          <p:nvPr/>
        </p:nvSpPr>
        <p:spPr bwMode="auto">
          <a:xfrm>
            <a:off x="6217444" y="1113235"/>
            <a:ext cx="186557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sz="2100">
                <a:solidFill>
                  <a:schemeClr val="accent2"/>
                </a:solidFill>
                <a:latin typeface="Arial Rounded MT Bold" pitchFamily="34" charset="0"/>
              </a:rPr>
              <a:t>Ion currents:</a:t>
            </a:r>
          </a:p>
        </p:txBody>
      </p:sp>
      <p:sp>
        <p:nvSpPr>
          <p:cNvPr id="78872" name="Text Box 24"/>
          <p:cNvSpPr txBox="1">
            <a:spLocks noChangeArrowheads="1"/>
          </p:cNvSpPr>
          <p:nvPr/>
        </p:nvSpPr>
        <p:spPr bwMode="auto">
          <a:xfrm>
            <a:off x="6286500" y="1676400"/>
            <a:ext cx="6832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sz="2100" dirty="0" err="1">
                <a:solidFill>
                  <a:srgbClr val="7030A0"/>
                </a:solidFill>
                <a:latin typeface="Arial" charset="0"/>
              </a:rPr>
              <a:t>g</a:t>
            </a:r>
            <a:r>
              <a:rPr lang="en-GB" sz="2100" baseline="-25000" dirty="0" err="1">
                <a:solidFill>
                  <a:srgbClr val="7030A0"/>
                </a:solidFill>
                <a:latin typeface="Arial" charset="0"/>
              </a:rPr>
              <a:t>Na</a:t>
            </a:r>
            <a:r>
              <a:rPr lang="en-GB" sz="2100" baseline="-25000" dirty="0">
                <a:solidFill>
                  <a:srgbClr val="7030A0"/>
                </a:solidFill>
                <a:latin typeface="Arial" charset="0"/>
              </a:rPr>
              <a:t>+</a:t>
            </a:r>
          </a:p>
        </p:txBody>
      </p:sp>
      <p:sp>
        <p:nvSpPr>
          <p:cNvPr id="78873" name="Text Box 25"/>
          <p:cNvSpPr txBox="1">
            <a:spLocks noChangeArrowheads="1"/>
          </p:cNvSpPr>
          <p:nvPr/>
        </p:nvSpPr>
        <p:spPr bwMode="auto">
          <a:xfrm>
            <a:off x="6286500" y="2114550"/>
            <a:ext cx="58381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GB" sz="2100" dirty="0" err="1">
                <a:solidFill>
                  <a:srgbClr val="C00000"/>
                </a:solidFill>
                <a:latin typeface="Arial" charset="0"/>
              </a:rPr>
              <a:t>g</a:t>
            </a:r>
            <a:r>
              <a:rPr lang="en-GB" sz="2100" baseline="-25000" dirty="0" err="1">
                <a:solidFill>
                  <a:srgbClr val="C00000"/>
                </a:solidFill>
                <a:latin typeface="Arial" charset="0"/>
              </a:rPr>
              <a:t>K</a:t>
            </a:r>
            <a:r>
              <a:rPr lang="en-GB" sz="2100" baseline="-25000" dirty="0">
                <a:solidFill>
                  <a:srgbClr val="C00000"/>
                </a:solidFill>
                <a:latin typeface="Arial" charset="0"/>
              </a:rPr>
              <a:t>+</a:t>
            </a:r>
          </a:p>
        </p:txBody>
      </p:sp>
      <p:sp>
        <p:nvSpPr>
          <p:cNvPr id="78874" name="Freeform 26"/>
          <p:cNvSpPr>
            <a:spLocks/>
          </p:cNvSpPr>
          <p:nvPr/>
        </p:nvSpPr>
        <p:spPr bwMode="auto">
          <a:xfrm>
            <a:off x="3777188" y="1951522"/>
            <a:ext cx="2457450" cy="876300"/>
          </a:xfrm>
          <a:custGeom>
            <a:avLst/>
            <a:gdLst>
              <a:gd name="T0" fmla="*/ 2064 w 2064"/>
              <a:gd name="T1" fmla="*/ 0 h 736"/>
              <a:gd name="T2" fmla="*/ 1296 w 2064"/>
              <a:gd name="T3" fmla="*/ 624 h 736"/>
              <a:gd name="T4" fmla="*/ 0 w 2064"/>
              <a:gd name="T5" fmla="*/ 672 h 736"/>
            </a:gdLst>
            <a:ahLst/>
            <a:cxnLst>
              <a:cxn ang="0">
                <a:pos x="T0" y="T1"/>
              </a:cxn>
              <a:cxn ang="0">
                <a:pos x="T2" y="T3"/>
              </a:cxn>
              <a:cxn ang="0">
                <a:pos x="T4" y="T5"/>
              </a:cxn>
            </a:cxnLst>
            <a:rect l="0" t="0" r="r" b="b"/>
            <a:pathLst>
              <a:path w="2064" h="736">
                <a:moveTo>
                  <a:pt x="2064" y="0"/>
                </a:moveTo>
                <a:cubicBezTo>
                  <a:pt x="1852" y="256"/>
                  <a:pt x="1640" y="512"/>
                  <a:pt x="1296" y="624"/>
                </a:cubicBezTo>
                <a:cubicBezTo>
                  <a:pt x="952" y="736"/>
                  <a:pt x="476" y="704"/>
                  <a:pt x="0" y="672"/>
                </a:cubicBezTo>
              </a:path>
            </a:pathLst>
          </a:custGeom>
          <a:noFill/>
          <a:ln w="12700" cap="flat" cmpd="sng">
            <a:solidFill>
              <a:srgbClr val="7030A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8875" name="Freeform 27"/>
          <p:cNvSpPr>
            <a:spLocks/>
          </p:cNvSpPr>
          <p:nvPr/>
        </p:nvSpPr>
        <p:spPr bwMode="auto">
          <a:xfrm>
            <a:off x="4572000" y="2514600"/>
            <a:ext cx="1657350" cy="628650"/>
          </a:xfrm>
          <a:custGeom>
            <a:avLst/>
            <a:gdLst>
              <a:gd name="T0" fmla="*/ 1392 w 1392"/>
              <a:gd name="T1" fmla="*/ 0 h 528"/>
              <a:gd name="T2" fmla="*/ 432 w 1392"/>
              <a:gd name="T3" fmla="*/ 336 h 528"/>
              <a:gd name="T4" fmla="*/ 0 w 1392"/>
              <a:gd name="T5" fmla="*/ 528 h 528"/>
            </a:gdLst>
            <a:ahLst/>
            <a:cxnLst>
              <a:cxn ang="0">
                <a:pos x="T0" y="T1"/>
              </a:cxn>
              <a:cxn ang="0">
                <a:pos x="T2" y="T3"/>
              </a:cxn>
              <a:cxn ang="0">
                <a:pos x="T4" y="T5"/>
              </a:cxn>
            </a:cxnLst>
            <a:rect l="0" t="0" r="r" b="b"/>
            <a:pathLst>
              <a:path w="1392" h="528">
                <a:moveTo>
                  <a:pt x="1392" y="0"/>
                </a:moveTo>
                <a:cubicBezTo>
                  <a:pt x="1028" y="124"/>
                  <a:pt x="664" y="248"/>
                  <a:pt x="432" y="336"/>
                </a:cubicBezTo>
                <a:cubicBezTo>
                  <a:pt x="200" y="424"/>
                  <a:pt x="72" y="496"/>
                  <a:pt x="0" y="528"/>
                </a:cubicBezTo>
              </a:path>
            </a:pathLst>
          </a:custGeom>
          <a:noFill/>
          <a:ln w="12700" cap="flat" cmpd="sng">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nvGrpSpPr>
          <p:cNvPr id="78884" name="Group 36"/>
          <p:cNvGrpSpPr>
            <a:grpSpLocks/>
          </p:cNvGrpSpPr>
          <p:nvPr/>
        </p:nvGrpSpPr>
        <p:grpSpPr bwMode="auto">
          <a:xfrm>
            <a:off x="1732360" y="713186"/>
            <a:ext cx="5207794" cy="422673"/>
            <a:chOff x="207" y="599"/>
            <a:chExt cx="4374" cy="355"/>
          </a:xfrm>
        </p:grpSpPr>
        <p:sp>
          <p:nvSpPr>
            <p:cNvPr id="78877" name="Line 29"/>
            <p:cNvSpPr>
              <a:spLocks noChangeShapeType="1"/>
            </p:cNvSpPr>
            <p:nvPr/>
          </p:nvSpPr>
          <p:spPr bwMode="auto">
            <a:xfrm>
              <a:off x="816" y="768"/>
              <a:ext cx="3216" cy="0"/>
            </a:xfrm>
            <a:prstGeom prst="line">
              <a:avLst/>
            </a:prstGeom>
            <a:noFill/>
            <a:ln w="12700" cap="rnd">
              <a:solidFill>
                <a:srgbClr val="7030A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78878" name="Text Box 30"/>
            <p:cNvSpPr txBox="1">
              <a:spLocks noChangeArrowheads="1"/>
            </p:cNvSpPr>
            <p:nvPr/>
          </p:nvSpPr>
          <p:spPr bwMode="auto">
            <a:xfrm>
              <a:off x="4070" y="599"/>
              <a:ext cx="511"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100" dirty="0" err="1">
                  <a:solidFill>
                    <a:srgbClr val="7030A0"/>
                  </a:solidFill>
                  <a:latin typeface="Arial Rounded MT Bold" pitchFamily="34" charset="0"/>
                </a:rPr>
                <a:t>E</a:t>
              </a:r>
              <a:r>
                <a:rPr lang="en-US" sz="2100" baseline="-25000" dirty="0" err="1">
                  <a:solidFill>
                    <a:srgbClr val="7030A0"/>
                  </a:solidFill>
                  <a:latin typeface="Arial Rounded MT Bold" pitchFamily="34" charset="0"/>
                </a:rPr>
                <a:t>Na</a:t>
              </a:r>
              <a:endParaRPr lang="en-US" sz="2100" dirty="0">
                <a:solidFill>
                  <a:srgbClr val="7030A0"/>
                </a:solidFill>
              </a:endParaRPr>
            </a:p>
          </p:txBody>
        </p:sp>
        <p:sp>
          <p:nvSpPr>
            <p:cNvPr id="78879" name="Rectangle 31"/>
            <p:cNvSpPr>
              <a:spLocks noChangeArrowheads="1"/>
            </p:cNvSpPr>
            <p:nvPr/>
          </p:nvSpPr>
          <p:spPr bwMode="auto">
            <a:xfrm>
              <a:off x="207" y="624"/>
              <a:ext cx="51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7030A0"/>
                  </a:solidFill>
                  <a:latin typeface="Arial Rounded MT Bold" pitchFamily="34" charset="0"/>
                </a:rPr>
                <a:t>+60</a:t>
              </a:r>
            </a:p>
          </p:txBody>
        </p:sp>
      </p:grpSp>
      <p:grpSp>
        <p:nvGrpSpPr>
          <p:cNvPr id="78885" name="Group 37"/>
          <p:cNvGrpSpPr>
            <a:grpSpLocks/>
          </p:cNvGrpSpPr>
          <p:nvPr/>
        </p:nvGrpSpPr>
        <p:grpSpPr bwMode="auto">
          <a:xfrm>
            <a:off x="1771650" y="3886206"/>
            <a:ext cx="5069682" cy="415529"/>
            <a:chOff x="240" y="3264"/>
            <a:chExt cx="4258" cy="349"/>
          </a:xfrm>
        </p:grpSpPr>
        <p:sp>
          <p:nvSpPr>
            <p:cNvPr id="78880" name="Line 32"/>
            <p:cNvSpPr>
              <a:spLocks noChangeShapeType="1"/>
            </p:cNvSpPr>
            <p:nvPr/>
          </p:nvSpPr>
          <p:spPr bwMode="auto">
            <a:xfrm>
              <a:off x="816" y="3456"/>
              <a:ext cx="3216" cy="0"/>
            </a:xfrm>
            <a:prstGeom prst="line">
              <a:avLst/>
            </a:prstGeom>
            <a:noFill/>
            <a:ln w="12700" cap="rnd">
              <a:solidFill>
                <a:srgbClr val="C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78881" name="Text Box 33"/>
            <p:cNvSpPr txBox="1">
              <a:spLocks noChangeArrowheads="1"/>
            </p:cNvSpPr>
            <p:nvPr/>
          </p:nvSpPr>
          <p:spPr bwMode="auto">
            <a:xfrm>
              <a:off x="4080" y="3264"/>
              <a:ext cx="418" cy="349"/>
            </a:xfrm>
            <a:prstGeom prst="rect">
              <a:avLst/>
            </a:prstGeom>
            <a:noFill/>
            <a:ln w="1270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100" dirty="0">
                  <a:solidFill>
                    <a:srgbClr val="C00000"/>
                  </a:solidFill>
                  <a:latin typeface="Arial Rounded MT Bold" pitchFamily="34" charset="0"/>
                </a:rPr>
                <a:t>E</a:t>
              </a:r>
              <a:r>
                <a:rPr lang="en-US" sz="2100" baseline="-25000" dirty="0">
                  <a:solidFill>
                    <a:srgbClr val="C00000"/>
                  </a:solidFill>
                  <a:latin typeface="Arial Rounded MT Bold" pitchFamily="34" charset="0"/>
                </a:rPr>
                <a:t>K</a:t>
              </a:r>
              <a:endParaRPr lang="en-US" sz="2100" dirty="0">
                <a:solidFill>
                  <a:srgbClr val="C00000"/>
                </a:solidFill>
              </a:endParaRPr>
            </a:p>
          </p:txBody>
        </p:sp>
        <p:sp>
          <p:nvSpPr>
            <p:cNvPr id="78882" name="Rectangle 34"/>
            <p:cNvSpPr>
              <a:spLocks noChangeArrowheads="1"/>
            </p:cNvSpPr>
            <p:nvPr/>
          </p:nvSpPr>
          <p:spPr bwMode="auto">
            <a:xfrm>
              <a:off x="240" y="3273"/>
              <a:ext cx="462" cy="33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C00000"/>
                  </a:solidFill>
                  <a:latin typeface="Arial Rounded MT Bold" pitchFamily="34" charset="0"/>
                </a:rPr>
                <a:t>-86</a:t>
              </a:r>
            </a:p>
          </p:txBody>
        </p:sp>
      </p:grpSp>
      <p:sp>
        <p:nvSpPr>
          <p:cNvPr id="78883" name="Rectangle 35"/>
          <p:cNvSpPr>
            <a:spLocks noChangeArrowheads="1"/>
          </p:cNvSpPr>
          <p:nvPr/>
        </p:nvSpPr>
        <p:spPr bwMode="auto">
          <a:xfrm>
            <a:off x="6400800" y="3486150"/>
            <a:ext cx="737381"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RMP</a:t>
            </a:r>
          </a:p>
        </p:txBody>
      </p:sp>
      <p:sp>
        <p:nvSpPr>
          <p:cNvPr id="78886" name="Oval 38"/>
          <p:cNvSpPr>
            <a:spLocks noChangeArrowheads="1"/>
          </p:cNvSpPr>
          <p:nvPr/>
        </p:nvSpPr>
        <p:spPr bwMode="auto">
          <a:xfrm>
            <a:off x="4000500" y="3543300"/>
            <a:ext cx="171450" cy="171450"/>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sz="2100">
              <a:solidFill>
                <a:srgbClr val="FFFF00"/>
              </a:solidFill>
            </a:endParaRPr>
          </a:p>
        </p:txBody>
      </p:sp>
    </p:spTree>
    <p:extLst>
      <p:ext uri="{BB962C8B-B14F-4D97-AF65-F5344CB8AC3E}">
        <p14:creationId xmlns:p14="http://schemas.microsoft.com/office/powerpoint/2010/main" val="3452901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59"/>
                                        </p:tgtEl>
                                        <p:attrNameLst>
                                          <p:attrName>style.visibility</p:attrName>
                                        </p:attrNameLst>
                                      </p:cBhvr>
                                      <p:to>
                                        <p:strVal val="visible"/>
                                      </p:to>
                                    </p:set>
                                    <p:animEffect transition="in" filter="wipe(left)">
                                      <p:cBhvr>
                                        <p:cTn id="7" dur="500"/>
                                        <p:tgtEl>
                                          <p:spTgt spid="788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887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7887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8863"/>
                                        </p:tgtEl>
                                        <p:attrNameLst>
                                          <p:attrName>style.visibility</p:attrName>
                                        </p:attrNameLst>
                                      </p:cBhvr>
                                      <p:to>
                                        <p:strVal val="visible"/>
                                      </p:to>
                                    </p:set>
                                    <p:animEffect transition="in" filter="wipe(left)">
                                      <p:cBhvr>
                                        <p:cTn id="20" dur="500"/>
                                        <p:tgtEl>
                                          <p:spTgt spid="7886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887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887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8864"/>
                                        </p:tgtEl>
                                        <p:attrNameLst>
                                          <p:attrName>style.visibility</p:attrName>
                                        </p:attrNameLst>
                                      </p:cBhvr>
                                      <p:to>
                                        <p:strVal val="visible"/>
                                      </p:to>
                                    </p:set>
                                    <p:animEffect transition="in" filter="wipe(left)">
                                      <p:cBhvr>
                                        <p:cTn id="33" dur="500"/>
                                        <p:tgtEl>
                                          <p:spTgt spid="7886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78875"/>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7888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78885"/>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788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9" grpId="0" animBg="1"/>
      <p:bldP spid="78863" grpId="0" animBg="1"/>
      <p:bldP spid="78864" grpId="0" animBg="1"/>
      <p:bldP spid="78871" grpId="0" autoUpdateAnimBg="0"/>
      <p:bldP spid="78872" grpId="0" autoUpdateAnimBg="0"/>
      <p:bldP spid="78873" grpId="0" autoUpdateAnimBg="0"/>
      <p:bldP spid="78874" grpId="0" animBg="1"/>
      <p:bldP spid="78875" grpId="0" animBg="1"/>
      <p:bldP spid="78886"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0243"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0244" name="Rectangle 4"/>
          <p:cNvSpPr>
            <a:spLocks noGrp="1" noChangeArrowheads="1"/>
          </p:cNvSpPr>
          <p:nvPr>
            <p:ph type="title"/>
          </p:nvPr>
        </p:nvSpPr>
        <p:spPr>
          <a:xfrm>
            <a:off x="1111002" y="455415"/>
            <a:ext cx="7061398" cy="1314450"/>
          </a:xfrm>
          <a:noFill/>
          <a:ln/>
        </p:spPr>
        <p:txBody>
          <a:bodyPr/>
          <a:lstStyle/>
          <a:p>
            <a:r>
              <a:rPr lang="en-GB" sz="2400" b="1" dirty="0">
                <a:solidFill>
                  <a:schemeClr val="tx1"/>
                </a:solidFill>
                <a:latin typeface="Arial Rounded MT Bold" pitchFamily="34" charset="0"/>
              </a:rPr>
              <a:t>The voltage-gated Na+ channel: </a:t>
            </a:r>
            <a:r>
              <a:rPr lang="en-GB" sz="2400" b="1" dirty="0">
                <a:solidFill>
                  <a:srgbClr val="FF0000"/>
                </a:solidFill>
                <a:latin typeface="Arial Rounded MT Bold" pitchFamily="34" charset="0"/>
              </a:rPr>
              <a:t>(Your note)</a:t>
            </a:r>
          </a:p>
        </p:txBody>
      </p:sp>
      <p:sp>
        <p:nvSpPr>
          <p:cNvPr id="10245" name="Rectangle 5"/>
          <p:cNvSpPr>
            <a:spLocks noGrp="1" noChangeArrowheads="1"/>
          </p:cNvSpPr>
          <p:nvPr>
            <p:ph type="body" idx="1"/>
          </p:nvPr>
        </p:nvSpPr>
        <p:spPr>
          <a:xfrm>
            <a:off x="827584" y="1275160"/>
            <a:ext cx="7776864" cy="3086100"/>
          </a:xfrm>
          <a:noFill/>
          <a:ln/>
        </p:spPr>
        <p:txBody>
          <a:bodyPr>
            <a:normAutofit/>
          </a:bodyPr>
          <a:lstStyle/>
          <a:p>
            <a:pPr marL="342900" indent="-342900">
              <a:buFont typeface="Arial" panose="020B0604020202020204" pitchFamily="34" charset="0"/>
              <a:buChar char="•"/>
            </a:pPr>
            <a:r>
              <a:rPr lang="en-GB" b="1" dirty="0">
                <a:latin typeface="Arial Rounded MT Bold" pitchFamily="34" charset="0"/>
              </a:rPr>
              <a:t>When the membrane potential reaches </a:t>
            </a:r>
            <a:r>
              <a:rPr lang="en-GB" sz="2400" b="1" dirty="0">
                <a:solidFill>
                  <a:srgbClr val="0070C0"/>
                </a:solidFill>
                <a:latin typeface="Arial Rounded MT Bold" pitchFamily="34" charset="0"/>
              </a:rPr>
              <a:t>about -55 mV</a:t>
            </a:r>
          </a:p>
          <a:p>
            <a:pPr lvl="1">
              <a:buFontTx/>
              <a:buNone/>
            </a:pPr>
            <a:r>
              <a:rPr lang="en-GB" sz="2400" b="1" dirty="0">
                <a:solidFill>
                  <a:srgbClr val="0070C0"/>
                </a:solidFill>
                <a:latin typeface="Arial Rounded MT Bold" pitchFamily="34" charset="0"/>
              </a:rPr>
              <a:t>(depolarisation of about 15 mV above the RMP of -70 mV)</a:t>
            </a:r>
          </a:p>
          <a:p>
            <a:pPr marL="342900" indent="-342900">
              <a:buFont typeface="Arial" panose="020B0604020202020204" pitchFamily="34" charset="0"/>
              <a:buChar char="•"/>
            </a:pPr>
            <a:r>
              <a:rPr lang="en-GB" b="1" dirty="0">
                <a:latin typeface="Arial Rounded MT Bold" pitchFamily="34" charset="0"/>
              </a:rPr>
              <a:t>the voltage-gated Na+ channel opens very rapidly</a:t>
            </a:r>
          </a:p>
          <a:p>
            <a:pPr marL="342900" indent="-342900">
              <a:buFont typeface="Arial" panose="020B0604020202020204" pitchFamily="34" charset="0"/>
              <a:buChar char="•"/>
            </a:pPr>
            <a:r>
              <a:rPr lang="en-GB" b="1" dirty="0">
                <a:latin typeface="Arial Rounded MT Bold" pitchFamily="34" charset="0"/>
              </a:rPr>
              <a:t>Na+ rushes into the cell through the ‘activation’ gate of the channel</a:t>
            </a:r>
          </a:p>
          <a:p>
            <a:endParaRPr lang="en-GB" b="1" dirty="0">
              <a:latin typeface="Arial Rounded MT Bold" pitchFamily="34" charset="0"/>
            </a:endParaRPr>
          </a:p>
          <a:p>
            <a:r>
              <a:rPr lang="en-GB" b="1" dirty="0">
                <a:latin typeface="Arial Rounded MT Bold" pitchFamily="34" charset="0"/>
              </a:rPr>
              <a:t>This results in depolarisation phase</a:t>
            </a:r>
          </a:p>
        </p:txBody>
      </p:sp>
    </p:spTree>
    <p:extLst>
      <p:ext uri="{BB962C8B-B14F-4D97-AF65-F5344CB8AC3E}">
        <p14:creationId xmlns:p14="http://schemas.microsoft.com/office/powerpoint/2010/main" val="49568711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4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024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24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024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24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a:xfrm>
            <a:off x="1485900" y="57150"/>
            <a:ext cx="5829300" cy="514350"/>
          </a:xfrm>
          <a:noFill/>
          <a:ln/>
        </p:spPr>
        <p:txBody>
          <a:bodyPr/>
          <a:lstStyle/>
          <a:p>
            <a:r>
              <a:rPr lang="en-GB" sz="2400" b="1" dirty="0">
                <a:solidFill>
                  <a:schemeClr val="tx1"/>
                </a:solidFill>
                <a:latin typeface="Arial Rounded MT Bold" pitchFamily="34" charset="0"/>
              </a:rPr>
              <a:t>The voltage-gated Na+ channel:</a:t>
            </a:r>
          </a:p>
        </p:txBody>
      </p:sp>
      <p:pic>
        <p:nvPicPr>
          <p:cNvPr id="73739" name="Picture 11" descr="action_potential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1" y="514350"/>
            <a:ext cx="4623197" cy="3827860"/>
          </a:xfrm>
          <a:prstGeom prst="rect">
            <a:avLst/>
          </a:prstGeom>
          <a:noFill/>
          <a:extLst>
            <a:ext uri="{909E8E84-426E-40DD-AFC4-6F175D3DCCD1}">
              <a14:hiddenFill xmlns:a14="http://schemas.microsoft.com/office/drawing/2010/main">
                <a:solidFill>
                  <a:srgbClr val="FFFFFF"/>
                </a:solidFill>
              </a14:hiddenFill>
            </a:ext>
          </a:extLst>
        </p:spPr>
      </p:pic>
      <p:grpSp>
        <p:nvGrpSpPr>
          <p:cNvPr id="73748" name="Group 20"/>
          <p:cNvGrpSpPr>
            <a:grpSpLocks/>
          </p:cNvGrpSpPr>
          <p:nvPr/>
        </p:nvGrpSpPr>
        <p:grpSpPr bwMode="auto">
          <a:xfrm>
            <a:off x="1446007" y="3792454"/>
            <a:ext cx="2449116" cy="1282303"/>
            <a:chOff x="614" y="3216"/>
            <a:chExt cx="2057" cy="1077"/>
          </a:xfrm>
        </p:grpSpPr>
        <p:grpSp>
          <p:nvGrpSpPr>
            <p:cNvPr id="73744" name="Group 16"/>
            <p:cNvGrpSpPr>
              <a:grpSpLocks/>
            </p:cNvGrpSpPr>
            <p:nvPr/>
          </p:nvGrpSpPr>
          <p:grpSpPr bwMode="auto">
            <a:xfrm>
              <a:off x="614" y="3216"/>
              <a:ext cx="2057" cy="909"/>
              <a:chOff x="614" y="3312"/>
              <a:chExt cx="2057" cy="909"/>
            </a:xfrm>
          </p:grpSpPr>
          <p:sp>
            <p:nvSpPr>
              <p:cNvPr id="73740" name="Text Box 12"/>
              <p:cNvSpPr txBox="1">
                <a:spLocks noChangeArrowheads="1"/>
              </p:cNvSpPr>
              <p:nvPr/>
            </p:nvSpPr>
            <p:spPr bwMode="auto">
              <a:xfrm>
                <a:off x="614" y="3911"/>
                <a:ext cx="205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800" dirty="0">
                    <a:latin typeface="Arial Rounded MT Bold" pitchFamily="34" charset="0"/>
                  </a:rPr>
                  <a:t>activation gate open</a:t>
                </a:r>
                <a:endParaRPr lang="en-US" sz="1800" dirty="0"/>
              </a:p>
            </p:txBody>
          </p:sp>
          <p:sp>
            <p:nvSpPr>
              <p:cNvPr id="73742" name="Line 14"/>
              <p:cNvSpPr>
                <a:spLocks noChangeShapeType="1"/>
              </p:cNvSpPr>
              <p:nvPr/>
            </p:nvSpPr>
            <p:spPr bwMode="auto">
              <a:xfrm flipV="1">
                <a:off x="1488" y="3312"/>
                <a:ext cx="576" cy="62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grpSp>
        <p:sp>
          <p:nvSpPr>
            <p:cNvPr id="73746" name="Text Box 18"/>
            <p:cNvSpPr txBox="1">
              <a:spLocks noChangeArrowheads="1"/>
            </p:cNvSpPr>
            <p:nvPr/>
          </p:nvSpPr>
          <p:spPr bwMode="auto">
            <a:xfrm>
              <a:off x="768" y="4041"/>
              <a:ext cx="157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350">
                  <a:latin typeface="Arial Rounded MT Bold" pitchFamily="34" charset="0"/>
                </a:rPr>
                <a:t>(voltage-dependent)</a:t>
              </a:r>
              <a:endParaRPr lang="en-US" sz="2100"/>
            </a:p>
          </p:txBody>
        </p:sp>
      </p:grpSp>
      <p:grpSp>
        <p:nvGrpSpPr>
          <p:cNvPr id="73749" name="Group 21"/>
          <p:cNvGrpSpPr>
            <a:grpSpLocks/>
          </p:cNvGrpSpPr>
          <p:nvPr/>
        </p:nvGrpSpPr>
        <p:grpSpPr bwMode="auto">
          <a:xfrm>
            <a:off x="3925492" y="3832058"/>
            <a:ext cx="2831309" cy="1237059"/>
            <a:chOff x="2697" y="3216"/>
            <a:chExt cx="2378" cy="1039"/>
          </a:xfrm>
        </p:grpSpPr>
        <p:grpSp>
          <p:nvGrpSpPr>
            <p:cNvPr id="73745" name="Group 17"/>
            <p:cNvGrpSpPr>
              <a:grpSpLocks/>
            </p:cNvGrpSpPr>
            <p:nvPr/>
          </p:nvGrpSpPr>
          <p:grpSpPr bwMode="auto">
            <a:xfrm>
              <a:off x="2697" y="3216"/>
              <a:ext cx="2378" cy="892"/>
              <a:chOff x="2697" y="3360"/>
              <a:chExt cx="2378" cy="892"/>
            </a:xfrm>
          </p:grpSpPr>
          <p:sp>
            <p:nvSpPr>
              <p:cNvPr id="73741" name="Text Box 13"/>
              <p:cNvSpPr txBox="1">
                <a:spLocks noChangeArrowheads="1"/>
              </p:cNvSpPr>
              <p:nvPr/>
            </p:nvSpPr>
            <p:spPr bwMode="auto">
              <a:xfrm>
                <a:off x="2697" y="3942"/>
                <a:ext cx="2378"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800" dirty="0">
                    <a:latin typeface="Arial Rounded MT Bold" pitchFamily="34" charset="0"/>
                  </a:rPr>
                  <a:t>inactivation gate closed</a:t>
                </a:r>
                <a:endParaRPr lang="en-US" sz="1800" dirty="0"/>
              </a:p>
            </p:txBody>
          </p:sp>
          <p:sp>
            <p:nvSpPr>
              <p:cNvPr id="73743" name="Line 15"/>
              <p:cNvSpPr>
                <a:spLocks noChangeShapeType="1"/>
              </p:cNvSpPr>
              <p:nvPr/>
            </p:nvSpPr>
            <p:spPr bwMode="auto">
              <a:xfrm flipV="1">
                <a:off x="3408" y="3360"/>
                <a:ext cx="576" cy="62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grpSp>
        <p:sp>
          <p:nvSpPr>
            <p:cNvPr id="73747" name="Text Box 19"/>
            <p:cNvSpPr txBox="1">
              <a:spLocks noChangeArrowheads="1"/>
            </p:cNvSpPr>
            <p:nvPr/>
          </p:nvSpPr>
          <p:spPr bwMode="auto">
            <a:xfrm>
              <a:off x="3299" y="4003"/>
              <a:ext cx="136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350" dirty="0">
                  <a:latin typeface="Arial Rounded MT Bold" pitchFamily="34" charset="0"/>
                </a:rPr>
                <a:t>(time-dependent)</a:t>
              </a:r>
              <a:endParaRPr lang="en-US" sz="2100" dirty="0"/>
            </a:p>
          </p:txBody>
        </p:sp>
      </p:grpSp>
      <p:grpSp>
        <p:nvGrpSpPr>
          <p:cNvPr id="73755" name="Group 27"/>
          <p:cNvGrpSpPr>
            <a:grpSpLocks/>
          </p:cNvGrpSpPr>
          <p:nvPr/>
        </p:nvGrpSpPr>
        <p:grpSpPr bwMode="auto">
          <a:xfrm>
            <a:off x="6400801" y="3829049"/>
            <a:ext cx="2850357" cy="1275160"/>
            <a:chOff x="4416" y="3216"/>
            <a:chExt cx="2394" cy="1071"/>
          </a:xfrm>
        </p:grpSpPr>
        <p:sp>
          <p:nvSpPr>
            <p:cNvPr id="73752" name="Text Box 24"/>
            <p:cNvSpPr txBox="1">
              <a:spLocks noChangeArrowheads="1"/>
            </p:cNvSpPr>
            <p:nvPr/>
          </p:nvSpPr>
          <p:spPr bwMode="auto">
            <a:xfrm>
              <a:off x="4602" y="3773"/>
              <a:ext cx="2208"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800" dirty="0">
                  <a:latin typeface="Arial Rounded MT Bold" pitchFamily="34" charset="0"/>
                </a:rPr>
                <a:t>activation gate closed</a:t>
              </a:r>
              <a:endParaRPr lang="en-US" sz="1800" dirty="0"/>
            </a:p>
          </p:txBody>
        </p:sp>
        <p:sp>
          <p:nvSpPr>
            <p:cNvPr id="73753" name="Line 25"/>
            <p:cNvSpPr>
              <a:spLocks noChangeShapeType="1"/>
            </p:cNvSpPr>
            <p:nvPr/>
          </p:nvSpPr>
          <p:spPr bwMode="auto">
            <a:xfrm flipH="1" flipV="1">
              <a:off x="4416" y="3216"/>
              <a:ext cx="576" cy="62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73754" name="Text Box 26"/>
            <p:cNvSpPr txBox="1">
              <a:spLocks noChangeArrowheads="1"/>
            </p:cNvSpPr>
            <p:nvPr/>
          </p:nvSpPr>
          <p:spPr bwMode="auto">
            <a:xfrm>
              <a:off x="4843" y="4035"/>
              <a:ext cx="136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350" dirty="0">
                  <a:latin typeface="Arial Rounded MT Bold" pitchFamily="34" charset="0"/>
                </a:rPr>
                <a:t>(time-dependent)</a:t>
              </a:r>
              <a:endParaRPr lang="en-US" sz="2100" dirty="0"/>
            </a:p>
          </p:txBody>
        </p:sp>
      </p:grpSp>
      <p:sp>
        <p:nvSpPr>
          <p:cNvPr id="18" name="Line 15"/>
          <p:cNvSpPr>
            <a:spLocks noChangeShapeType="1"/>
          </p:cNvSpPr>
          <p:nvPr/>
        </p:nvSpPr>
        <p:spPr bwMode="auto">
          <a:xfrm flipH="1" flipV="1">
            <a:off x="4686425" y="4112794"/>
            <a:ext cx="85600" cy="45920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Tree>
    <p:extLst>
      <p:ext uri="{BB962C8B-B14F-4D97-AF65-F5344CB8AC3E}">
        <p14:creationId xmlns:p14="http://schemas.microsoft.com/office/powerpoint/2010/main" val="119868452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37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par>
                                <p:cTn id="12" presetID="16" presetClass="entr" presetSubtype="21" fill="hold" nodeType="withEffect">
                                  <p:stCondLst>
                                    <p:cond delay="0"/>
                                  </p:stCondLst>
                                  <p:childTnLst>
                                    <p:set>
                                      <p:cBhvr>
                                        <p:cTn id="13" dur="1" fill="hold">
                                          <p:stCondLst>
                                            <p:cond delay="0"/>
                                          </p:stCondLst>
                                        </p:cTn>
                                        <p:tgtEl>
                                          <p:spTgt spid="73749"/>
                                        </p:tgtEl>
                                        <p:attrNameLst>
                                          <p:attrName>style.visibility</p:attrName>
                                        </p:attrNameLst>
                                      </p:cBhvr>
                                      <p:to>
                                        <p:strVal val="visible"/>
                                      </p:to>
                                    </p:set>
                                    <p:animEffect transition="in" filter="barn(inVertical)">
                                      <p:cBhvr>
                                        <p:cTn id="14" dur="500"/>
                                        <p:tgtEl>
                                          <p:spTgt spid="7374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3755"/>
                                        </p:tgtEl>
                                        <p:attrNameLst>
                                          <p:attrName>style.visibility</p:attrName>
                                        </p:attrNameLst>
                                      </p:cBhvr>
                                      <p:to>
                                        <p:strVal val="visible"/>
                                      </p:to>
                                    </p:set>
                                    <p:animEffect transition="in" filter="wipe(down)">
                                      <p:cBhvr>
                                        <p:cTn id="19" dur="500"/>
                                        <p:tgtEl>
                                          <p:spTgt spid="73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6387"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6388" name="Rectangle 4"/>
          <p:cNvSpPr>
            <a:spLocks noGrp="1" noChangeArrowheads="1"/>
          </p:cNvSpPr>
          <p:nvPr>
            <p:ph type="title"/>
          </p:nvPr>
        </p:nvSpPr>
        <p:spPr>
          <a:xfrm>
            <a:off x="1445494" y="683451"/>
            <a:ext cx="6917382" cy="700055"/>
          </a:xfrm>
          <a:noFill/>
          <a:ln/>
        </p:spPr>
        <p:txBody>
          <a:bodyPr/>
          <a:lstStyle/>
          <a:p>
            <a:r>
              <a:rPr lang="en-GB" sz="3200" b="1" dirty="0">
                <a:solidFill>
                  <a:schemeClr val="tx1"/>
                </a:solidFill>
                <a:latin typeface="Arial Rounded MT Bold" pitchFamily="34" charset="0"/>
              </a:rPr>
              <a:t>The voltage-gated Na+ channel:</a:t>
            </a:r>
          </a:p>
        </p:txBody>
      </p:sp>
      <p:sp>
        <p:nvSpPr>
          <p:cNvPr id="16389" name="Rectangle 5"/>
          <p:cNvSpPr>
            <a:spLocks noChangeArrowheads="1"/>
          </p:cNvSpPr>
          <p:nvPr/>
        </p:nvSpPr>
        <p:spPr bwMode="auto">
          <a:xfrm>
            <a:off x="1646635" y="2069306"/>
            <a:ext cx="792686"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open</a:t>
            </a:r>
          </a:p>
        </p:txBody>
      </p:sp>
      <p:sp>
        <p:nvSpPr>
          <p:cNvPr id="16390" name="Rectangle 6"/>
          <p:cNvSpPr>
            <a:spLocks noChangeArrowheads="1"/>
          </p:cNvSpPr>
          <p:nvPr/>
        </p:nvSpPr>
        <p:spPr bwMode="auto">
          <a:xfrm>
            <a:off x="3761185" y="2069306"/>
            <a:ext cx="1585531"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inactivated</a:t>
            </a:r>
          </a:p>
        </p:txBody>
      </p:sp>
      <p:sp>
        <p:nvSpPr>
          <p:cNvPr id="16391" name="Rectangle 7"/>
          <p:cNvSpPr>
            <a:spLocks noChangeArrowheads="1"/>
          </p:cNvSpPr>
          <p:nvPr/>
        </p:nvSpPr>
        <p:spPr bwMode="auto">
          <a:xfrm>
            <a:off x="6504385" y="2069306"/>
            <a:ext cx="1002359"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closed</a:t>
            </a:r>
          </a:p>
        </p:txBody>
      </p:sp>
      <p:sp>
        <p:nvSpPr>
          <p:cNvPr id="16392" name="Line 8"/>
          <p:cNvSpPr>
            <a:spLocks noChangeShapeType="1"/>
          </p:cNvSpPr>
          <p:nvPr/>
        </p:nvSpPr>
        <p:spPr bwMode="auto">
          <a:xfrm>
            <a:off x="2572941" y="2286000"/>
            <a:ext cx="913209"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3" name="Line 9"/>
          <p:cNvSpPr>
            <a:spLocks noChangeShapeType="1"/>
          </p:cNvSpPr>
          <p:nvPr/>
        </p:nvSpPr>
        <p:spPr bwMode="auto">
          <a:xfrm>
            <a:off x="5430441" y="2286000"/>
            <a:ext cx="913209"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4" name="Line 10"/>
          <p:cNvSpPr>
            <a:spLocks noChangeShapeType="1"/>
          </p:cNvSpPr>
          <p:nvPr/>
        </p:nvSpPr>
        <p:spPr bwMode="auto">
          <a:xfrm flipH="1">
            <a:off x="6459141" y="2572941"/>
            <a:ext cx="570309" cy="68460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5" name="Line 11"/>
          <p:cNvSpPr>
            <a:spLocks noChangeShapeType="1"/>
          </p:cNvSpPr>
          <p:nvPr/>
        </p:nvSpPr>
        <p:spPr bwMode="auto">
          <a:xfrm flipH="1">
            <a:off x="2287191" y="3257550"/>
            <a:ext cx="417075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6" name="Line 12"/>
          <p:cNvSpPr>
            <a:spLocks noChangeShapeType="1"/>
          </p:cNvSpPr>
          <p:nvPr/>
        </p:nvSpPr>
        <p:spPr bwMode="auto">
          <a:xfrm flipH="1" flipV="1">
            <a:off x="1944291" y="2515791"/>
            <a:ext cx="341709" cy="7417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6397" name="Rectangle 13"/>
          <p:cNvSpPr>
            <a:spLocks noChangeArrowheads="1"/>
          </p:cNvSpPr>
          <p:nvPr/>
        </p:nvSpPr>
        <p:spPr bwMode="auto">
          <a:xfrm>
            <a:off x="3361135" y="3383756"/>
            <a:ext cx="2562080"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b="0" i="1" dirty="0">
                <a:solidFill>
                  <a:srgbClr val="0070C0"/>
                </a:solidFill>
                <a:latin typeface="Arial Rounded MT Bold" pitchFamily="34" charset="0"/>
              </a:rPr>
              <a:t>fast; voltage-gated</a:t>
            </a:r>
          </a:p>
        </p:txBody>
      </p:sp>
      <p:sp>
        <p:nvSpPr>
          <p:cNvPr id="16398" name="Rectangle 14"/>
          <p:cNvSpPr>
            <a:spLocks noChangeArrowheads="1"/>
          </p:cNvSpPr>
          <p:nvPr/>
        </p:nvSpPr>
        <p:spPr bwMode="auto">
          <a:xfrm>
            <a:off x="2103835" y="1726406"/>
            <a:ext cx="208406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b="0" i="1" dirty="0">
                <a:solidFill>
                  <a:srgbClr val="0070C0"/>
                </a:solidFill>
                <a:latin typeface="Arial Rounded MT Bold" pitchFamily="34" charset="0"/>
              </a:rPr>
              <a:t>fast; automatic</a:t>
            </a:r>
          </a:p>
        </p:txBody>
      </p:sp>
      <p:sp>
        <p:nvSpPr>
          <p:cNvPr id="16399" name="Rectangle 15"/>
          <p:cNvSpPr>
            <a:spLocks noChangeArrowheads="1"/>
          </p:cNvSpPr>
          <p:nvPr/>
        </p:nvSpPr>
        <p:spPr bwMode="auto">
          <a:xfrm>
            <a:off x="4904185" y="1726406"/>
            <a:ext cx="2198199"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b="0" i="1" dirty="0">
                <a:solidFill>
                  <a:srgbClr val="0070C0"/>
                </a:solidFill>
                <a:latin typeface="Arial Rounded MT Bold" pitchFamily="34" charset="0"/>
              </a:rPr>
              <a:t>slow; automatic</a:t>
            </a:r>
          </a:p>
        </p:txBody>
      </p:sp>
    </p:spTree>
    <p:extLst>
      <p:ext uri="{BB962C8B-B14F-4D97-AF65-F5344CB8AC3E}">
        <p14:creationId xmlns:p14="http://schemas.microsoft.com/office/powerpoint/2010/main" val="319909522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9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39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6392"/>
                                        </p:tgtEl>
                                        <p:attrNameLst>
                                          <p:attrName>style.visibility</p:attrName>
                                        </p:attrNameLst>
                                      </p:cBhvr>
                                      <p:to>
                                        <p:strVal val="visible"/>
                                      </p:to>
                                    </p:set>
                                    <p:animEffect transition="in" filter="wipe(left)">
                                      <p:cBhvr>
                                        <p:cTn id="19" dur="500"/>
                                        <p:tgtEl>
                                          <p:spTgt spid="1639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6393"/>
                                        </p:tgtEl>
                                        <p:attrNameLst>
                                          <p:attrName>style.visibility</p:attrName>
                                        </p:attrNameLst>
                                      </p:cBhvr>
                                      <p:to>
                                        <p:strVal val="visible"/>
                                      </p:to>
                                    </p:set>
                                    <p:animEffect transition="in" filter="wipe(left)">
                                      <p:cBhvr>
                                        <p:cTn id="24" dur="500"/>
                                        <p:tgtEl>
                                          <p:spTgt spid="1639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6394"/>
                                        </p:tgtEl>
                                        <p:attrNameLst>
                                          <p:attrName>style.visibility</p:attrName>
                                        </p:attrNameLst>
                                      </p:cBhvr>
                                      <p:to>
                                        <p:strVal val="visible"/>
                                      </p:to>
                                    </p:set>
                                    <p:animEffect transition="in" filter="wipe(up)">
                                      <p:cBhvr>
                                        <p:cTn id="29" dur="500"/>
                                        <p:tgtEl>
                                          <p:spTgt spid="1639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16395"/>
                                        </p:tgtEl>
                                        <p:attrNameLst>
                                          <p:attrName>style.visibility</p:attrName>
                                        </p:attrNameLst>
                                      </p:cBhvr>
                                      <p:to>
                                        <p:strVal val="visible"/>
                                      </p:to>
                                    </p:set>
                                    <p:animEffect transition="in" filter="wipe(right)">
                                      <p:cBhvr>
                                        <p:cTn id="34" dur="500"/>
                                        <p:tgtEl>
                                          <p:spTgt spid="1639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6396"/>
                                        </p:tgtEl>
                                        <p:attrNameLst>
                                          <p:attrName>style.visibility</p:attrName>
                                        </p:attrNameLst>
                                      </p:cBhvr>
                                      <p:to>
                                        <p:strVal val="visible"/>
                                      </p:to>
                                    </p:set>
                                    <p:animEffect transition="in" filter="wipe(down)">
                                      <p:cBhvr>
                                        <p:cTn id="39" dur="500"/>
                                        <p:tgtEl>
                                          <p:spTgt spid="1639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6397"/>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16398"/>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6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utoUpdateAnimBg="0"/>
      <p:bldP spid="16390" grpId="0" autoUpdateAnimBg="0"/>
      <p:bldP spid="16391" grpId="0" autoUpdateAnimBg="0"/>
      <p:bldP spid="16392" grpId="0" animBg="1"/>
      <p:bldP spid="16393" grpId="0" animBg="1"/>
      <p:bldP spid="16394" grpId="0" animBg="1"/>
      <p:bldP spid="16395" grpId="0" animBg="1"/>
      <p:bldP spid="16396" grpId="0" animBg="1"/>
      <p:bldP spid="16397" grpId="0" autoUpdateAnimBg="0"/>
      <p:bldP spid="16398" grpId="0" autoUpdateAnimBg="0"/>
      <p:bldP spid="16399"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8435"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8436" name="Rectangle 4"/>
          <p:cNvSpPr>
            <a:spLocks noGrp="1" noChangeArrowheads="1"/>
          </p:cNvSpPr>
          <p:nvPr>
            <p:ph type="title"/>
          </p:nvPr>
        </p:nvSpPr>
        <p:spPr>
          <a:xfrm>
            <a:off x="969293" y="437803"/>
            <a:ext cx="7205414" cy="1314450"/>
          </a:xfrm>
          <a:noFill/>
          <a:ln/>
        </p:spPr>
        <p:txBody>
          <a:bodyPr/>
          <a:lstStyle/>
          <a:p>
            <a:r>
              <a:rPr lang="en-GB" b="1" dirty="0">
                <a:solidFill>
                  <a:schemeClr val="tx1"/>
                </a:solidFill>
                <a:latin typeface="Arial Rounded MT Bold" pitchFamily="34" charset="0"/>
              </a:rPr>
              <a:t>The voltage-gated K+ channel:</a:t>
            </a:r>
          </a:p>
        </p:txBody>
      </p:sp>
      <p:sp>
        <p:nvSpPr>
          <p:cNvPr id="18437" name="Rectangle 5"/>
          <p:cNvSpPr>
            <a:spLocks noGrp="1" noChangeArrowheads="1"/>
          </p:cNvSpPr>
          <p:nvPr>
            <p:ph type="body" idx="1"/>
          </p:nvPr>
        </p:nvSpPr>
        <p:spPr>
          <a:xfrm>
            <a:off x="1259632" y="1347614"/>
            <a:ext cx="7091114" cy="3086100"/>
          </a:xfrm>
          <a:noFill/>
          <a:ln/>
        </p:spPr>
        <p:txBody>
          <a:bodyPr/>
          <a:lstStyle/>
          <a:p>
            <a:pPr marL="457200" indent="-457200">
              <a:buFont typeface="Arial" panose="020B0604020202020204" pitchFamily="34" charset="0"/>
              <a:buChar char="•"/>
            </a:pPr>
            <a:r>
              <a:rPr lang="en-GB" sz="2800" dirty="0">
                <a:latin typeface="Arial Rounded MT Bold" pitchFamily="34" charset="0"/>
              </a:rPr>
              <a:t>opens when the membrane is depolarised, but more slowly than the Na+ channel</a:t>
            </a:r>
          </a:p>
          <a:p>
            <a:pPr marL="457200" indent="-457200">
              <a:buFont typeface="Arial" panose="020B0604020202020204" pitchFamily="34" charset="0"/>
              <a:buChar char="•"/>
            </a:pPr>
            <a:r>
              <a:rPr lang="en-GB" sz="2800" dirty="0">
                <a:latin typeface="Arial Rounded MT Bold" pitchFamily="34" charset="0"/>
              </a:rPr>
              <a:t>closes slowly  in response to membrane repolarisation</a:t>
            </a:r>
          </a:p>
        </p:txBody>
      </p:sp>
    </p:spTree>
    <p:extLst>
      <p:ext uri="{BB962C8B-B14F-4D97-AF65-F5344CB8AC3E}">
        <p14:creationId xmlns:p14="http://schemas.microsoft.com/office/powerpoint/2010/main" val="21701619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22531"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22532" name="Rectangle 4"/>
          <p:cNvSpPr>
            <a:spLocks noGrp="1" noChangeArrowheads="1"/>
          </p:cNvSpPr>
          <p:nvPr>
            <p:ph type="title"/>
          </p:nvPr>
        </p:nvSpPr>
        <p:spPr>
          <a:xfrm>
            <a:off x="1543050" y="228600"/>
            <a:ext cx="6269310" cy="1314449"/>
          </a:xfrm>
          <a:noFill/>
          <a:ln/>
        </p:spPr>
        <p:txBody>
          <a:bodyPr/>
          <a:lstStyle/>
          <a:p>
            <a:r>
              <a:rPr lang="en-GB" sz="3200" b="1" dirty="0">
                <a:solidFill>
                  <a:schemeClr val="tx1"/>
                </a:solidFill>
                <a:latin typeface="Arial Rounded MT Bold" pitchFamily="34" charset="0"/>
              </a:rPr>
              <a:t>The voltage-gated K+ channel:</a:t>
            </a:r>
          </a:p>
        </p:txBody>
      </p:sp>
      <p:sp>
        <p:nvSpPr>
          <p:cNvPr id="22533" name="Rectangle 5"/>
          <p:cNvSpPr>
            <a:spLocks noChangeArrowheads="1"/>
          </p:cNvSpPr>
          <p:nvPr/>
        </p:nvSpPr>
        <p:spPr bwMode="auto">
          <a:xfrm>
            <a:off x="1646635" y="2069306"/>
            <a:ext cx="792686"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open</a:t>
            </a:r>
          </a:p>
        </p:txBody>
      </p:sp>
      <p:sp>
        <p:nvSpPr>
          <p:cNvPr id="22534" name="Rectangle 6"/>
          <p:cNvSpPr>
            <a:spLocks noChangeArrowheads="1"/>
          </p:cNvSpPr>
          <p:nvPr/>
        </p:nvSpPr>
        <p:spPr bwMode="auto">
          <a:xfrm>
            <a:off x="5247085" y="2069306"/>
            <a:ext cx="1002359"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closed</a:t>
            </a:r>
          </a:p>
        </p:txBody>
      </p:sp>
      <p:sp>
        <p:nvSpPr>
          <p:cNvPr id="22535" name="Line 7"/>
          <p:cNvSpPr>
            <a:spLocks noChangeShapeType="1"/>
          </p:cNvSpPr>
          <p:nvPr/>
        </p:nvSpPr>
        <p:spPr bwMode="auto">
          <a:xfrm>
            <a:off x="2572941" y="2286000"/>
            <a:ext cx="2570559"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6" name="Line 8"/>
          <p:cNvSpPr>
            <a:spLocks noChangeShapeType="1"/>
          </p:cNvSpPr>
          <p:nvPr/>
        </p:nvSpPr>
        <p:spPr bwMode="auto">
          <a:xfrm flipH="1">
            <a:off x="5373291" y="2572941"/>
            <a:ext cx="570309" cy="68460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7" name="Line 9"/>
          <p:cNvSpPr>
            <a:spLocks noChangeShapeType="1"/>
          </p:cNvSpPr>
          <p:nvPr/>
        </p:nvSpPr>
        <p:spPr bwMode="auto">
          <a:xfrm flipH="1">
            <a:off x="2287191" y="3257550"/>
            <a:ext cx="308490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8" name="Line 10"/>
          <p:cNvSpPr>
            <a:spLocks noChangeShapeType="1"/>
          </p:cNvSpPr>
          <p:nvPr/>
        </p:nvSpPr>
        <p:spPr bwMode="auto">
          <a:xfrm flipH="1" flipV="1">
            <a:off x="1944291" y="2515791"/>
            <a:ext cx="341709" cy="7417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2539" name="Rectangle 11"/>
          <p:cNvSpPr>
            <a:spLocks noChangeArrowheads="1"/>
          </p:cNvSpPr>
          <p:nvPr/>
        </p:nvSpPr>
        <p:spPr bwMode="auto">
          <a:xfrm>
            <a:off x="2446735" y="1726406"/>
            <a:ext cx="2676214"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i="1" dirty="0">
                <a:solidFill>
                  <a:srgbClr val="0070C0"/>
                </a:solidFill>
                <a:latin typeface="Arial Rounded MT Bold" pitchFamily="34" charset="0"/>
              </a:rPr>
              <a:t>slow; voltage-gated</a:t>
            </a:r>
          </a:p>
        </p:txBody>
      </p:sp>
      <p:sp>
        <p:nvSpPr>
          <p:cNvPr id="22540" name="Rectangle 12"/>
          <p:cNvSpPr>
            <a:spLocks noChangeArrowheads="1"/>
          </p:cNvSpPr>
          <p:nvPr/>
        </p:nvSpPr>
        <p:spPr bwMode="auto">
          <a:xfrm>
            <a:off x="2561035" y="3440906"/>
            <a:ext cx="2676214"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i="1" dirty="0">
                <a:solidFill>
                  <a:srgbClr val="0070C0"/>
                </a:solidFill>
                <a:latin typeface="Arial Rounded MT Bold" pitchFamily="34" charset="0"/>
              </a:rPr>
              <a:t>slow; voltage-gated</a:t>
            </a:r>
          </a:p>
        </p:txBody>
      </p:sp>
    </p:spTree>
    <p:extLst>
      <p:ext uri="{BB962C8B-B14F-4D97-AF65-F5344CB8AC3E}">
        <p14:creationId xmlns:p14="http://schemas.microsoft.com/office/powerpoint/2010/main" val="390596734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wipe(left)">
                                      <p:cBhvr>
                                        <p:cTn id="7" dur="500"/>
                                        <p:tgtEl>
                                          <p:spTgt spid="225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2536"/>
                                        </p:tgtEl>
                                        <p:attrNameLst>
                                          <p:attrName>style.visibility</p:attrName>
                                        </p:attrNameLst>
                                      </p:cBhvr>
                                      <p:to>
                                        <p:strVal val="visible"/>
                                      </p:to>
                                    </p:set>
                                    <p:animEffect transition="in" filter="wipe(up)">
                                      <p:cBhvr>
                                        <p:cTn id="12" dur="500"/>
                                        <p:tgtEl>
                                          <p:spTgt spid="225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22537"/>
                                        </p:tgtEl>
                                        <p:attrNameLst>
                                          <p:attrName>style.visibility</p:attrName>
                                        </p:attrNameLst>
                                      </p:cBhvr>
                                      <p:to>
                                        <p:strVal val="visible"/>
                                      </p:to>
                                    </p:set>
                                    <p:animEffect transition="in" filter="wipe(right)">
                                      <p:cBhvr>
                                        <p:cTn id="17" dur="500"/>
                                        <p:tgtEl>
                                          <p:spTgt spid="225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2538"/>
                                        </p:tgtEl>
                                        <p:attrNameLst>
                                          <p:attrName>style.visibility</p:attrName>
                                        </p:attrNameLst>
                                      </p:cBhvr>
                                      <p:to>
                                        <p:strVal val="visible"/>
                                      </p:to>
                                    </p:set>
                                    <p:animEffect transition="in" filter="wipe(down)">
                                      <p:cBhvr>
                                        <p:cTn id="22" dur="500"/>
                                        <p:tgtEl>
                                          <p:spTgt spid="225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254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25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animBg="1"/>
      <p:bldP spid="22536" grpId="0" animBg="1"/>
      <p:bldP spid="22537" grpId="0" animBg="1"/>
      <p:bldP spid="22538" grpId="0" animBg="1"/>
      <p:bldP spid="22539" grpId="0" autoUpdateAnimBg="0"/>
      <p:bldP spid="22540"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euron system in 3D rendering">
            <a:extLst>
              <a:ext uri="{FF2B5EF4-FFF2-40B4-BE49-F238E27FC236}">
                <a16:creationId xmlns:a16="http://schemas.microsoft.com/office/drawing/2014/main" id="{7B355A41-BA13-F684-EFD1-43C9A0C4A3FF}"/>
              </a:ext>
            </a:extLst>
          </p:cNvPr>
          <p:cNvPicPr>
            <a:picLocks noChangeAspect="1"/>
          </p:cNvPicPr>
          <p:nvPr/>
        </p:nvPicPr>
        <p:blipFill rotWithShape="1">
          <a:blip r:embed="rId3">
            <a:alphaModFix amt="40000"/>
          </a:blip>
          <a:srcRect t="11839" b="5135"/>
          <a:stretch/>
        </p:blipFill>
        <p:spPr>
          <a:xfrm>
            <a:off x="20" y="10"/>
            <a:ext cx="9143980" cy="5143490"/>
          </a:xfrm>
          <a:prstGeom prst="rect">
            <a:avLst/>
          </a:prstGeom>
        </p:spPr>
      </p:pic>
      <p:sp>
        <p:nvSpPr>
          <p:cNvPr id="2" name="Title 1">
            <a:extLst>
              <a:ext uri="{FF2B5EF4-FFF2-40B4-BE49-F238E27FC236}">
                <a16:creationId xmlns:a16="http://schemas.microsoft.com/office/drawing/2014/main" id="{1CAA0B2D-BB78-13E9-7CA9-EC3DDD7D31B7}"/>
              </a:ext>
            </a:extLst>
          </p:cNvPr>
          <p:cNvSpPr>
            <a:spLocks noGrp="1"/>
          </p:cNvSpPr>
          <p:nvPr>
            <p:ph type="title"/>
          </p:nvPr>
        </p:nvSpPr>
        <p:spPr>
          <a:xfrm>
            <a:off x="467544" y="627534"/>
            <a:ext cx="8352928" cy="1584176"/>
          </a:xfrm>
        </p:spPr>
        <p:txBody>
          <a:bodyPr vert="horz" lIns="91440" tIns="45720" rIns="91440" bIns="45720" rtlCol="0" anchor="b">
            <a:normAutofit/>
          </a:bodyPr>
          <a:lstStyle/>
          <a:p>
            <a:pPr algn="ctr" eaLnBrk="1" hangingPunct="1">
              <a:lnSpc>
                <a:spcPct val="90000"/>
              </a:lnSpc>
            </a:pPr>
            <a:r>
              <a:rPr lang="en-US" sz="4000" kern="1200" dirty="0">
                <a:latin typeface="+mj-lt"/>
                <a:ea typeface="+mj-ea"/>
                <a:cs typeface="+mj-cs"/>
              </a:rPr>
              <a:t>During the action potential the cell is refractory to further action potentials…</a:t>
            </a:r>
          </a:p>
        </p:txBody>
      </p:sp>
      <p:sp>
        <p:nvSpPr>
          <p:cNvPr id="4" name="Rectangle 3">
            <a:extLst>
              <a:ext uri="{FF2B5EF4-FFF2-40B4-BE49-F238E27FC236}">
                <a16:creationId xmlns:a16="http://schemas.microsoft.com/office/drawing/2014/main" id="{E7108041-C09C-9A9C-8ADF-8BB5BC38D8DE}"/>
              </a:ext>
            </a:extLst>
          </p:cNvPr>
          <p:cNvSpPr/>
          <p:nvPr/>
        </p:nvSpPr>
        <p:spPr>
          <a:xfrm>
            <a:off x="827584" y="3364012"/>
            <a:ext cx="7314823" cy="1754326"/>
          </a:xfrm>
          <a:prstGeom prst="rect">
            <a:avLst/>
          </a:prstGeom>
          <a:noFill/>
        </p:spPr>
        <p:txBody>
          <a:bodyPr wrap="none" lIns="91440" tIns="45720" rIns="91440" bIns="45720">
            <a:spAutoFit/>
          </a:bodyPr>
          <a:lstStyle/>
          <a:p>
            <a:pPr algn="ctr"/>
            <a:r>
              <a:rPr lang="en-US" sz="3600" dirty="0">
                <a:ln w="22225">
                  <a:solidFill>
                    <a:schemeClr val="accent2"/>
                  </a:solidFill>
                  <a:prstDash val="solid"/>
                </a:ln>
                <a:ea typeface="+mn-ea"/>
              </a:rPr>
              <a:t>Why?</a:t>
            </a:r>
          </a:p>
          <a:p>
            <a:pPr algn="ctr"/>
            <a:r>
              <a:rPr lang="en-US" sz="3600" dirty="0">
                <a:ln w="22225">
                  <a:solidFill>
                    <a:schemeClr val="accent2"/>
                  </a:solidFill>
                  <a:prstDash val="solid"/>
                </a:ln>
                <a:ea typeface="+mn-ea"/>
              </a:rPr>
              <a:t>What are the refractory periods?</a:t>
            </a:r>
          </a:p>
          <a:p>
            <a:pPr algn="ctr"/>
            <a:r>
              <a:rPr lang="en-US" sz="3600" dirty="0">
                <a:ln w="22225">
                  <a:solidFill>
                    <a:schemeClr val="accent2"/>
                  </a:solidFill>
                  <a:prstDash val="solid"/>
                </a:ln>
                <a:ea typeface="+mn-ea"/>
              </a:rPr>
              <a:t>What is the cause?</a:t>
            </a:r>
            <a:endParaRPr lang="en-GB" sz="3600" dirty="0">
              <a:ln w="22225">
                <a:solidFill>
                  <a:schemeClr val="accent2"/>
                </a:solidFill>
                <a:prstDash val="solid"/>
              </a:ln>
            </a:endParaRPr>
          </a:p>
        </p:txBody>
      </p:sp>
    </p:spTree>
    <p:extLst>
      <p:ext uri="{BB962C8B-B14F-4D97-AF65-F5344CB8AC3E}">
        <p14:creationId xmlns:p14="http://schemas.microsoft.com/office/powerpoint/2010/main" val="1211340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1028"/>
          <p:cNvSpPr>
            <a:spLocks noGrp="1" noChangeArrowheads="1"/>
          </p:cNvSpPr>
          <p:nvPr>
            <p:ph type="title"/>
          </p:nvPr>
        </p:nvSpPr>
        <p:spPr>
          <a:xfrm>
            <a:off x="1331640" y="628954"/>
            <a:ext cx="5314950" cy="628650"/>
          </a:xfrm>
          <a:noFill/>
          <a:ln/>
        </p:spPr>
        <p:txBody>
          <a:bodyPr/>
          <a:lstStyle/>
          <a:p>
            <a:pPr>
              <a:buFontTx/>
              <a:buChar char="•"/>
            </a:pPr>
            <a:r>
              <a:rPr lang="en-GB" sz="2400" b="1" dirty="0">
                <a:solidFill>
                  <a:schemeClr val="tx1"/>
                </a:solidFill>
                <a:latin typeface="Arial Rounded MT Bold" pitchFamily="34" charset="0"/>
              </a:rPr>
              <a:t> </a:t>
            </a:r>
            <a:r>
              <a:rPr lang="en-GB" sz="1800" b="1" dirty="0">
                <a:solidFill>
                  <a:srgbClr val="FF0000"/>
                </a:solidFill>
                <a:latin typeface="Arial Rounded MT Bold" pitchFamily="34" charset="0"/>
              </a:rPr>
              <a:t>The absolute refractory period:</a:t>
            </a:r>
          </a:p>
        </p:txBody>
      </p:sp>
      <p:sp>
        <p:nvSpPr>
          <p:cNvPr id="24581" name="Rectangle 1029"/>
          <p:cNvSpPr>
            <a:spLocks noGrp="1" noChangeArrowheads="1"/>
          </p:cNvSpPr>
          <p:nvPr>
            <p:ph type="body" idx="1"/>
          </p:nvPr>
        </p:nvSpPr>
        <p:spPr>
          <a:xfrm>
            <a:off x="395536" y="1140591"/>
            <a:ext cx="7920880" cy="774086"/>
          </a:xfrm>
          <a:noFill/>
          <a:ln/>
        </p:spPr>
        <p:txBody>
          <a:bodyPr>
            <a:noAutofit/>
          </a:bodyPr>
          <a:lstStyle/>
          <a:p>
            <a:r>
              <a:rPr lang="en-GB" sz="2400" dirty="0">
                <a:latin typeface="Arial Rounded MT Bold" pitchFamily="34" charset="0"/>
              </a:rPr>
              <a:t>The period in which the membrane cannot generate another </a:t>
            </a:r>
            <a:r>
              <a:rPr lang="en-GB" sz="2400" dirty="0" err="1">
                <a:latin typeface="Arial Rounded MT Bold" pitchFamily="34" charset="0"/>
              </a:rPr>
              <a:t>a.p</a:t>
            </a:r>
            <a:r>
              <a:rPr lang="en-GB" sz="2400" dirty="0">
                <a:latin typeface="Arial Rounded MT Bold" pitchFamily="34" charset="0"/>
              </a:rPr>
              <a:t>. no matter how big the stimulus</a:t>
            </a:r>
          </a:p>
          <a:p>
            <a:pPr lvl="1"/>
            <a:r>
              <a:rPr lang="en-GB" sz="2400" dirty="0">
                <a:latin typeface="Arial Rounded MT Bold" pitchFamily="34" charset="0"/>
              </a:rPr>
              <a:t>the Na+ channels are inactivated</a:t>
            </a:r>
          </a:p>
        </p:txBody>
      </p:sp>
      <p:sp>
        <p:nvSpPr>
          <p:cNvPr id="24582" name="Rectangle 1030"/>
          <p:cNvSpPr>
            <a:spLocks noChangeArrowheads="1"/>
          </p:cNvSpPr>
          <p:nvPr/>
        </p:nvSpPr>
        <p:spPr bwMode="auto">
          <a:xfrm>
            <a:off x="2627784" y="-94676"/>
            <a:ext cx="5400600" cy="774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nchor="ctr"/>
          <a:lstStyle/>
          <a:p>
            <a:pPr defTabSz="571500"/>
            <a:r>
              <a:rPr lang="en-GB" sz="3200" dirty="0">
                <a:solidFill>
                  <a:srgbClr val="0070C0"/>
                </a:solidFill>
                <a:latin typeface="Arial Rounded MT Bold" pitchFamily="34" charset="0"/>
              </a:rPr>
              <a:t>The refractory period</a:t>
            </a:r>
          </a:p>
        </p:txBody>
      </p:sp>
      <p:sp>
        <p:nvSpPr>
          <p:cNvPr id="5" name="Rectangle 8"/>
          <p:cNvSpPr txBox="1">
            <a:spLocks noChangeArrowheads="1"/>
          </p:cNvSpPr>
          <p:nvPr/>
        </p:nvSpPr>
        <p:spPr>
          <a:xfrm>
            <a:off x="683568" y="2440059"/>
            <a:ext cx="5314950" cy="628650"/>
          </a:xfrm>
          <a:prstGeom prst="rect">
            <a:avLst/>
          </a:prstGeom>
          <a:noFill/>
          <a:ln/>
        </p:spPr>
        <p:txBody>
          <a:bodyPr vert="horz" lIns="68580" tIns="34290" rIns="68580" bIns="3429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buFontTx/>
              <a:buChar char="•"/>
            </a:pPr>
            <a:r>
              <a:rPr lang="en-GB" sz="2400" dirty="0">
                <a:latin typeface="Arial Rounded MT Bold" pitchFamily="34" charset="0"/>
              </a:rPr>
              <a:t> </a:t>
            </a:r>
            <a:r>
              <a:rPr lang="en-GB" sz="1800" dirty="0">
                <a:solidFill>
                  <a:srgbClr val="FF0000"/>
                </a:solidFill>
                <a:latin typeface="Arial Rounded MT Bold" pitchFamily="34" charset="0"/>
              </a:rPr>
              <a:t>The relative refractory period:</a:t>
            </a:r>
          </a:p>
        </p:txBody>
      </p:sp>
      <p:sp>
        <p:nvSpPr>
          <p:cNvPr id="6" name="Rectangle 5"/>
          <p:cNvSpPr txBox="1">
            <a:spLocks noChangeArrowheads="1"/>
          </p:cNvSpPr>
          <p:nvPr/>
        </p:nvSpPr>
        <p:spPr>
          <a:xfrm>
            <a:off x="395536" y="3068709"/>
            <a:ext cx="8604448" cy="1350150"/>
          </a:xfrm>
          <a:prstGeom prst="rect">
            <a:avLst/>
          </a:prstGeom>
          <a:noFill/>
          <a:ln/>
        </p:spPr>
        <p:txBody>
          <a:bodyPr vert="horz" lIns="68580" tIns="34290" rIns="68580" bIns="3429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sz="2400" b="0" dirty="0">
                <a:latin typeface="Arial Rounded MT Bold" pitchFamily="34" charset="0"/>
              </a:rPr>
              <a:t>The period in which the membrane can generate another </a:t>
            </a:r>
            <a:r>
              <a:rPr lang="en-GB" sz="2400" b="0" dirty="0" err="1">
                <a:latin typeface="Arial Rounded MT Bold" pitchFamily="34" charset="0"/>
              </a:rPr>
              <a:t>a.p</a:t>
            </a:r>
            <a:r>
              <a:rPr lang="en-GB" sz="2400" b="0" dirty="0">
                <a:latin typeface="Arial Rounded MT Bold" pitchFamily="34" charset="0"/>
              </a:rPr>
              <a:t>., but only if  the stimulus is bigger than normal</a:t>
            </a:r>
          </a:p>
          <a:p>
            <a:pPr lvl="1"/>
            <a:r>
              <a:rPr lang="en-GB" sz="2400" b="0" dirty="0">
                <a:latin typeface="Arial Rounded MT Bold" pitchFamily="34" charset="0"/>
              </a:rPr>
              <a:t>some Na+ channels are recovered</a:t>
            </a:r>
          </a:p>
          <a:p>
            <a:pPr lvl="1"/>
            <a:r>
              <a:rPr lang="en-GB" sz="2400" b="0" dirty="0">
                <a:latin typeface="Arial Rounded MT Bold" pitchFamily="34" charset="0"/>
              </a:rPr>
              <a:t>some K+ channels are still open</a:t>
            </a:r>
          </a:p>
        </p:txBody>
      </p:sp>
    </p:spTree>
    <p:extLst>
      <p:ext uri="{BB962C8B-B14F-4D97-AF65-F5344CB8AC3E}">
        <p14:creationId xmlns:p14="http://schemas.microsoft.com/office/powerpoint/2010/main" val="111336854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4581">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458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6">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6">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animBg="1" autoUpdateAnimBg="0"/>
      <p:bldP spid="24581" grpId="0" build="p" autoUpdateAnimBg="0"/>
      <p:bldP spid="5" grpId="0" animBg="1" autoUpdateAnimBg="0"/>
      <p:bldP spid="6"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2343150" y="171450"/>
            <a:ext cx="371475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nchor="ctr"/>
          <a:lstStyle/>
          <a:p>
            <a:pPr defTabSz="571500"/>
            <a:r>
              <a:rPr lang="en-GB" sz="2400" dirty="0">
                <a:solidFill>
                  <a:schemeClr val="tx2"/>
                </a:solidFill>
                <a:latin typeface="Arial Rounded MT Bold" pitchFamily="34" charset="0"/>
              </a:rPr>
              <a:t>The refractory period</a:t>
            </a:r>
          </a:p>
        </p:txBody>
      </p:sp>
      <p:sp>
        <p:nvSpPr>
          <p:cNvPr id="80899" name="Line 3"/>
          <p:cNvSpPr>
            <a:spLocks noChangeShapeType="1"/>
          </p:cNvSpPr>
          <p:nvPr/>
        </p:nvSpPr>
        <p:spPr bwMode="auto">
          <a:xfrm>
            <a:off x="2457450" y="857250"/>
            <a:ext cx="0" cy="342900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0900" name="Line 4"/>
          <p:cNvSpPr>
            <a:spLocks noChangeShapeType="1"/>
          </p:cNvSpPr>
          <p:nvPr/>
        </p:nvSpPr>
        <p:spPr bwMode="auto">
          <a:xfrm>
            <a:off x="2457450" y="4286250"/>
            <a:ext cx="400050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0901" name="Rectangle 5"/>
          <p:cNvSpPr>
            <a:spLocks noChangeArrowheads="1"/>
          </p:cNvSpPr>
          <p:nvPr/>
        </p:nvSpPr>
        <p:spPr bwMode="auto">
          <a:xfrm rot="-5400000">
            <a:off x="-207149" y="2356847"/>
            <a:ext cx="3434915"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Membrane potential (mV)</a:t>
            </a:r>
          </a:p>
        </p:txBody>
      </p:sp>
      <p:sp>
        <p:nvSpPr>
          <p:cNvPr id="80902" name="Rectangle 6"/>
          <p:cNvSpPr>
            <a:spLocks noChangeArrowheads="1"/>
          </p:cNvSpPr>
          <p:nvPr/>
        </p:nvSpPr>
        <p:spPr bwMode="auto">
          <a:xfrm>
            <a:off x="3131344" y="4525566"/>
            <a:ext cx="1352934"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time (ms)</a:t>
            </a:r>
          </a:p>
        </p:txBody>
      </p:sp>
      <p:sp>
        <p:nvSpPr>
          <p:cNvPr id="80903" name="Line 7"/>
          <p:cNvSpPr>
            <a:spLocks noChangeShapeType="1"/>
          </p:cNvSpPr>
          <p:nvPr/>
        </p:nvSpPr>
        <p:spPr bwMode="auto">
          <a:xfrm>
            <a:off x="2286000" y="3657600"/>
            <a:ext cx="3429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0904" name="Line 8"/>
          <p:cNvSpPr>
            <a:spLocks noChangeShapeType="1"/>
          </p:cNvSpPr>
          <p:nvPr/>
        </p:nvSpPr>
        <p:spPr bwMode="auto">
          <a:xfrm>
            <a:off x="2286000" y="2343150"/>
            <a:ext cx="400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0905" name="Line 9"/>
          <p:cNvSpPr>
            <a:spLocks noChangeShapeType="1"/>
          </p:cNvSpPr>
          <p:nvPr/>
        </p:nvSpPr>
        <p:spPr bwMode="auto">
          <a:xfrm>
            <a:off x="2286000" y="1428750"/>
            <a:ext cx="400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0906" name="Line 10"/>
          <p:cNvSpPr>
            <a:spLocks noChangeShapeType="1"/>
          </p:cNvSpPr>
          <p:nvPr/>
        </p:nvSpPr>
        <p:spPr bwMode="auto">
          <a:xfrm>
            <a:off x="2743200" y="3657600"/>
            <a:ext cx="365760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0907" name="Freeform 11"/>
          <p:cNvSpPr>
            <a:spLocks/>
          </p:cNvSpPr>
          <p:nvPr/>
        </p:nvSpPr>
        <p:spPr bwMode="auto">
          <a:xfrm>
            <a:off x="2686050" y="1428750"/>
            <a:ext cx="2801541" cy="2588419"/>
          </a:xfrm>
          <a:custGeom>
            <a:avLst/>
            <a:gdLst>
              <a:gd name="T0" fmla="*/ 80 w 2353"/>
              <a:gd name="T1" fmla="*/ 1879 h 2174"/>
              <a:gd name="T2" fmla="*/ 182 w 2353"/>
              <a:gd name="T3" fmla="*/ 1845 h 2174"/>
              <a:gd name="T4" fmla="*/ 261 w 2353"/>
              <a:gd name="T5" fmla="*/ 1743 h 2174"/>
              <a:gd name="T6" fmla="*/ 318 w 2353"/>
              <a:gd name="T7" fmla="*/ 1641 h 2174"/>
              <a:gd name="T8" fmla="*/ 363 w 2353"/>
              <a:gd name="T9" fmla="*/ 1528 h 2174"/>
              <a:gd name="T10" fmla="*/ 397 w 2353"/>
              <a:gd name="T11" fmla="*/ 1426 h 2174"/>
              <a:gd name="T12" fmla="*/ 431 w 2353"/>
              <a:gd name="T13" fmla="*/ 1313 h 2174"/>
              <a:gd name="T14" fmla="*/ 465 w 2353"/>
              <a:gd name="T15" fmla="*/ 1109 h 2174"/>
              <a:gd name="T16" fmla="*/ 499 w 2353"/>
              <a:gd name="T17" fmla="*/ 849 h 2174"/>
              <a:gd name="T18" fmla="*/ 544 w 2353"/>
              <a:gd name="T19" fmla="*/ 724 h 2174"/>
              <a:gd name="T20" fmla="*/ 578 w 2353"/>
              <a:gd name="T21" fmla="*/ 611 h 2174"/>
              <a:gd name="T22" fmla="*/ 601 w 2353"/>
              <a:gd name="T23" fmla="*/ 509 h 2174"/>
              <a:gd name="T24" fmla="*/ 624 w 2353"/>
              <a:gd name="T25" fmla="*/ 407 h 2174"/>
              <a:gd name="T26" fmla="*/ 646 w 2353"/>
              <a:gd name="T27" fmla="*/ 306 h 2174"/>
              <a:gd name="T28" fmla="*/ 658 w 2353"/>
              <a:gd name="T29" fmla="*/ 192 h 2174"/>
              <a:gd name="T30" fmla="*/ 680 w 2353"/>
              <a:gd name="T31" fmla="*/ 90 h 2174"/>
              <a:gd name="T32" fmla="*/ 748 w 2353"/>
              <a:gd name="T33" fmla="*/ 0 h 2174"/>
              <a:gd name="T34" fmla="*/ 816 w 2353"/>
              <a:gd name="T35" fmla="*/ 79 h 2174"/>
              <a:gd name="T36" fmla="*/ 861 w 2353"/>
              <a:gd name="T37" fmla="*/ 181 h 2174"/>
              <a:gd name="T38" fmla="*/ 884 w 2353"/>
              <a:gd name="T39" fmla="*/ 294 h 2174"/>
              <a:gd name="T40" fmla="*/ 907 w 2353"/>
              <a:gd name="T41" fmla="*/ 396 h 2174"/>
              <a:gd name="T42" fmla="*/ 929 w 2353"/>
              <a:gd name="T43" fmla="*/ 498 h 2174"/>
              <a:gd name="T44" fmla="*/ 952 w 2353"/>
              <a:gd name="T45" fmla="*/ 600 h 2174"/>
              <a:gd name="T46" fmla="*/ 963 w 2353"/>
              <a:gd name="T47" fmla="*/ 713 h 2174"/>
              <a:gd name="T48" fmla="*/ 975 w 2353"/>
              <a:gd name="T49" fmla="*/ 826 h 2174"/>
              <a:gd name="T50" fmla="*/ 997 w 2353"/>
              <a:gd name="T51" fmla="*/ 939 h 2174"/>
              <a:gd name="T52" fmla="*/ 1009 w 2353"/>
              <a:gd name="T53" fmla="*/ 1053 h 2174"/>
              <a:gd name="T54" fmla="*/ 1031 w 2353"/>
              <a:gd name="T55" fmla="*/ 1177 h 2174"/>
              <a:gd name="T56" fmla="*/ 1043 w 2353"/>
              <a:gd name="T57" fmla="*/ 1302 h 2174"/>
              <a:gd name="T58" fmla="*/ 1065 w 2353"/>
              <a:gd name="T59" fmla="*/ 1403 h 2174"/>
              <a:gd name="T60" fmla="*/ 1088 w 2353"/>
              <a:gd name="T61" fmla="*/ 1505 h 2174"/>
              <a:gd name="T62" fmla="*/ 1111 w 2353"/>
              <a:gd name="T63" fmla="*/ 1607 h 2174"/>
              <a:gd name="T64" fmla="*/ 1133 w 2353"/>
              <a:gd name="T65" fmla="*/ 1720 h 2174"/>
              <a:gd name="T66" fmla="*/ 1167 w 2353"/>
              <a:gd name="T67" fmla="*/ 1901 h 2174"/>
              <a:gd name="T68" fmla="*/ 1201 w 2353"/>
              <a:gd name="T69" fmla="*/ 2003 h 2174"/>
              <a:gd name="T70" fmla="*/ 1280 w 2353"/>
              <a:gd name="T71" fmla="*/ 2094 h 2174"/>
              <a:gd name="T72" fmla="*/ 1382 w 2353"/>
              <a:gd name="T73" fmla="*/ 2150 h 2174"/>
              <a:gd name="T74" fmla="*/ 1484 w 2353"/>
              <a:gd name="T75" fmla="*/ 2173 h 2174"/>
              <a:gd name="T76" fmla="*/ 1586 w 2353"/>
              <a:gd name="T77" fmla="*/ 2162 h 2174"/>
              <a:gd name="T78" fmla="*/ 1688 w 2353"/>
              <a:gd name="T79" fmla="*/ 2117 h 2174"/>
              <a:gd name="T80" fmla="*/ 1790 w 2353"/>
              <a:gd name="T81" fmla="*/ 2083 h 2174"/>
              <a:gd name="T82" fmla="*/ 1892 w 2353"/>
              <a:gd name="T83" fmla="*/ 2037 h 2174"/>
              <a:gd name="T84" fmla="*/ 1994 w 2353"/>
              <a:gd name="T85" fmla="*/ 1981 h 2174"/>
              <a:gd name="T86" fmla="*/ 2096 w 2353"/>
              <a:gd name="T87" fmla="*/ 1969 h 2174"/>
              <a:gd name="T88" fmla="*/ 2198 w 2353"/>
              <a:gd name="T89" fmla="*/ 1958 h 2174"/>
              <a:gd name="T90" fmla="*/ 2300 w 2353"/>
              <a:gd name="T91" fmla="*/ 1947 h 2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53" h="2174">
                <a:moveTo>
                  <a:pt x="0" y="1874"/>
                </a:moveTo>
                <a:lnTo>
                  <a:pt x="46" y="1879"/>
                </a:lnTo>
                <a:lnTo>
                  <a:pt x="80" y="1879"/>
                </a:lnTo>
                <a:lnTo>
                  <a:pt x="114" y="1879"/>
                </a:lnTo>
                <a:lnTo>
                  <a:pt x="148" y="1868"/>
                </a:lnTo>
                <a:lnTo>
                  <a:pt x="182" y="1845"/>
                </a:lnTo>
                <a:lnTo>
                  <a:pt x="205" y="1811"/>
                </a:lnTo>
                <a:lnTo>
                  <a:pt x="239" y="1777"/>
                </a:lnTo>
                <a:lnTo>
                  <a:pt x="261" y="1743"/>
                </a:lnTo>
                <a:lnTo>
                  <a:pt x="284" y="1709"/>
                </a:lnTo>
                <a:lnTo>
                  <a:pt x="307" y="1675"/>
                </a:lnTo>
                <a:lnTo>
                  <a:pt x="318" y="1641"/>
                </a:lnTo>
                <a:lnTo>
                  <a:pt x="341" y="1596"/>
                </a:lnTo>
                <a:lnTo>
                  <a:pt x="352" y="1562"/>
                </a:lnTo>
                <a:lnTo>
                  <a:pt x="363" y="1528"/>
                </a:lnTo>
                <a:lnTo>
                  <a:pt x="375" y="1494"/>
                </a:lnTo>
                <a:lnTo>
                  <a:pt x="386" y="1460"/>
                </a:lnTo>
                <a:lnTo>
                  <a:pt x="397" y="1426"/>
                </a:lnTo>
                <a:lnTo>
                  <a:pt x="409" y="1392"/>
                </a:lnTo>
                <a:lnTo>
                  <a:pt x="420" y="1358"/>
                </a:lnTo>
                <a:lnTo>
                  <a:pt x="431" y="1313"/>
                </a:lnTo>
                <a:lnTo>
                  <a:pt x="443" y="1245"/>
                </a:lnTo>
                <a:lnTo>
                  <a:pt x="454" y="1200"/>
                </a:lnTo>
                <a:lnTo>
                  <a:pt x="465" y="1109"/>
                </a:lnTo>
                <a:lnTo>
                  <a:pt x="476" y="1019"/>
                </a:lnTo>
                <a:lnTo>
                  <a:pt x="488" y="939"/>
                </a:lnTo>
                <a:lnTo>
                  <a:pt x="499" y="849"/>
                </a:lnTo>
                <a:lnTo>
                  <a:pt x="510" y="804"/>
                </a:lnTo>
                <a:lnTo>
                  <a:pt x="522" y="758"/>
                </a:lnTo>
                <a:lnTo>
                  <a:pt x="544" y="724"/>
                </a:lnTo>
                <a:lnTo>
                  <a:pt x="556" y="679"/>
                </a:lnTo>
                <a:lnTo>
                  <a:pt x="567" y="645"/>
                </a:lnTo>
                <a:lnTo>
                  <a:pt x="578" y="611"/>
                </a:lnTo>
                <a:lnTo>
                  <a:pt x="590" y="577"/>
                </a:lnTo>
                <a:lnTo>
                  <a:pt x="601" y="543"/>
                </a:lnTo>
                <a:lnTo>
                  <a:pt x="601" y="509"/>
                </a:lnTo>
                <a:lnTo>
                  <a:pt x="612" y="475"/>
                </a:lnTo>
                <a:lnTo>
                  <a:pt x="612" y="441"/>
                </a:lnTo>
                <a:lnTo>
                  <a:pt x="624" y="407"/>
                </a:lnTo>
                <a:lnTo>
                  <a:pt x="624" y="373"/>
                </a:lnTo>
                <a:lnTo>
                  <a:pt x="635" y="339"/>
                </a:lnTo>
                <a:lnTo>
                  <a:pt x="646" y="306"/>
                </a:lnTo>
                <a:lnTo>
                  <a:pt x="646" y="272"/>
                </a:lnTo>
                <a:lnTo>
                  <a:pt x="658" y="238"/>
                </a:lnTo>
                <a:lnTo>
                  <a:pt x="658" y="192"/>
                </a:lnTo>
                <a:lnTo>
                  <a:pt x="669" y="158"/>
                </a:lnTo>
                <a:lnTo>
                  <a:pt x="680" y="124"/>
                </a:lnTo>
                <a:lnTo>
                  <a:pt x="680" y="90"/>
                </a:lnTo>
                <a:lnTo>
                  <a:pt x="692" y="56"/>
                </a:lnTo>
                <a:lnTo>
                  <a:pt x="714" y="23"/>
                </a:lnTo>
                <a:lnTo>
                  <a:pt x="748" y="0"/>
                </a:lnTo>
                <a:lnTo>
                  <a:pt x="782" y="11"/>
                </a:lnTo>
                <a:lnTo>
                  <a:pt x="805" y="45"/>
                </a:lnTo>
                <a:lnTo>
                  <a:pt x="816" y="79"/>
                </a:lnTo>
                <a:lnTo>
                  <a:pt x="839" y="113"/>
                </a:lnTo>
                <a:lnTo>
                  <a:pt x="850" y="147"/>
                </a:lnTo>
                <a:lnTo>
                  <a:pt x="861" y="181"/>
                </a:lnTo>
                <a:lnTo>
                  <a:pt x="873" y="215"/>
                </a:lnTo>
                <a:lnTo>
                  <a:pt x="873" y="249"/>
                </a:lnTo>
                <a:lnTo>
                  <a:pt x="884" y="294"/>
                </a:lnTo>
                <a:lnTo>
                  <a:pt x="895" y="328"/>
                </a:lnTo>
                <a:lnTo>
                  <a:pt x="895" y="362"/>
                </a:lnTo>
                <a:lnTo>
                  <a:pt x="907" y="396"/>
                </a:lnTo>
                <a:lnTo>
                  <a:pt x="918" y="430"/>
                </a:lnTo>
                <a:lnTo>
                  <a:pt x="918" y="464"/>
                </a:lnTo>
                <a:lnTo>
                  <a:pt x="929" y="498"/>
                </a:lnTo>
                <a:lnTo>
                  <a:pt x="929" y="532"/>
                </a:lnTo>
                <a:lnTo>
                  <a:pt x="941" y="566"/>
                </a:lnTo>
                <a:lnTo>
                  <a:pt x="952" y="600"/>
                </a:lnTo>
                <a:lnTo>
                  <a:pt x="952" y="634"/>
                </a:lnTo>
                <a:lnTo>
                  <a:pt x="952" y="668"/>
                </a:lnTo>
                <a:lnTo>
                  <a:pt x="963" y="713"/>
                </a:lnTo>
                <a:lnTo>
                  <a:pt x="963" y="747"/>
                </a:lnTo>
                <a:lnTo>
                  <a:pt x="975" y="792"/>
                </a:lnTo>
                <a:lnTo>
                  <a:pt x="975" y="826"/>
                </a:lnTo>
                <a:lnTo>
                  <a:pt x="986" y="871"/>
                </a:lnTo>
                <a:lnTo>
                  <a:pt x="986" y="905"/>
                </a:lnTo>
                <a:lnTo>
                  <a:pt x="997" y="939"/>
                </a:lnTo>
                <a:lnTo>
                  <a:pt x="997" y="985"/>
                </a:lnTo>
                <a:lnTo>
                  <a:pt x="1009" y="1019"/>
                </a:lnTo>
                <a:lnTo>
                  <a:pt x="1009" y="1053"/>
                </a:lnTo>
                <a:lnTo>
                  <a:pt x="1020" y="1098"/>
                </a:lnTo>
                <a:lnTo>
                  <a:pt x="1020" y="1132"/>
                </a:lnTo>
                <a:lnTo>
                  <a:pt x="1031" y="1177"/>
                </a:lnTo>
                <a:lnTo>
                  <a:pt x="1031" y="1211"/>
                </a:lnTo>
                <a:lnTo>
                  <a:pt x="1043" y="1256"/>
                </a:lnTo>
                <a:lnTo>
                  <a:pt x="1043" y="1302"/>
                </a:lnTo>
                <a:lnTo>
                  <a:pt x="1054" y="1336"/>
                </a:lnTo>
                <a:lnTo>
                  <a:pt x="1065" y="1369"/>
                </a:lnTo>
                <a:lnTo>
                  <a:pt x="1065" y="1403"/>
                </a:lnTo>
                <a:lnTo>
                  <a:pt x="1077" y="1437"/>
                </a:lnTo>
                <a:lnTo>
                  <a:pt x="1077" y="1471"/>
                </a:lnTo>
                <a:lnTo>
                  <a:pt x="1088" y="1505"/>
                </a:lnTo>
                <a:lnTo>
                  <a:pt x="1088" y="1539"/>
                </a:lnTo>
                <a:lnTo>
                  <a:pt x="1099" y="1573"/>
                </a:lnTo>
                <a:lnTo>
                  <a:pt x="1111" y="1607"/>
                </a:lnTo>
                <a:lnTo>
                  <a:pt x="1111" y="1641"/>
                </a:lnTo>
                <a:lnTo>
                  <a:pt x="1122" y="1686"/>
                </a:lnTo>
                <a:lnTo>
                  <a:pt x="1133" y="1720"/>
                </a:lnTo>
                <a:lnTo>
                  <a:pt x="1145" y="1754"/>
                </a:lnTo>
                <a:lnTo>
                  <a:pt x="1145" y="1822"/>
                </a:lnTo>
                <a:lnTo>
                  <a:pt x="1167" y="1901"/>
                </a:lnTo>
                <a:lnTo>
                  <a:pt x="1167" y="1935"/>
                </a:lnTo>
                <a:lnTo>
                  <a:pt x="1179" y="1969"/>
                </a:lnTo>
                <a:lnTo>
                  <a:pt x="1201" y="2003"/>
                </a:lnTo>
                <a:lnTo>
                  <a:pt x="1213" y="2037"/>
                </a:lnTo>
                <a:lnTo>
                  <a:pt x="1246" y="2071"/>
                </a:lnTo>
                <a:lnTo>
                  <a:pt x="1280" y="2094"/>
                </a:lnTo>
                <a:lnTo>
                  <a:pt x="1314" y="2117"/>
                </a:lnTo>
                <a:lnTo>
                  <a:pt x="1348" y="2139"/>
                </a:lnTo>
                <a:lnTo>
                  <a:pt x="1382" y="2150"/>
                </a:lnTo>
                <a:lnTo>
                  <a:pt x="1416" y="2162"/>
                </a:lnTo>
                <a:lnTo>
                  <a:pt x="1450" y="2173"/>
                </a:lnTo>
                <a:lnTo>
                  <a:pt x="1484" y="2173"/>
                </a:lnTo>
                <a:lnTo>
                  <a:pt x="1518" y="2173"/>
                </a:lnTo>
                <a:lnTo>
                  <a:pt x="1552" y="2173"/>
                </a:lnTo>
                <a:lnTo>
                  <a:pt x="1586" y="2162"/>
                </a:lnTo>
                <a:lnTo>
                  <a:pt x="1620" y="2150"/>
                </a:lnTo>
                <a:lnTo>
                  <a:pt x="1654" y="2139"/>
                </a:lnTo>
                <a:lnTo>
                  <a:pt x="1688" y="2117"/>
                </a:lnTo>
                <a:lnTo>
                  <a:pt x="1722" y="2105"/>
                </a:lnTo>
                <a:lnTo>
                  <a:pt x="1756" y="2105"/>
                </a:lnTo>
                <a:lnTo>
                  <a:pt x="1790" y="2083"/>
                </a:lnTo>
                <a:lnTo>
                  <a:pt x="1824" y="2071"/>
                </a:lnTo>
                <a:lnTo>
                  <a:pt x="1858" y="2060"/>
                </a:lnTo>
                <a:lnTo>
                  <a:pt x="1892" y="2037"/>
                </a:lnTo>
                <a:lnTo>
                  <a:pt x="1926" y="2015"/>
                </a:lnTo>
                <a:lnTo>
                  <a:pt x="1960" y="2003"/>
                </a:lnTo>
                <a:lnTo>
                  <a:pt x="1994" y="1981"/>
                </a:lnTo>
                <a:lnTo>
                  <a:pt x="2028" y="1969"/>
                </a:lnTo>
                <a:lnTo>
                  <a:pt x="2062" y="1969"/>
                </a:lnTo>
                <a:lnTo>
                  <a:pt x="2096" y="1969"/>
                </a:lnTo>
                <a:lnTo>
                  <a:pt x="2130" y="1969"/>
                </a:lnTo>
                <a:lnTo>
                  <a:pt x="2164" y="1969"/>
                </a:lnTo>
                <a:lnTo>
                  <a:pt x="2198" y="1958"/>
                </a:lnTo>
                <a:lnTo>
                  <a:pt x="2232" y="1947"/>
                </a:lnTo>
                <a:lnTo>
                  <a:pt x="2266" y="1947"/>
                </a:lnTo>
                <a:lnTo>
                  <a:pt x="2300" y="1947"/>
                </a:lnTo>
                <a:lnTo>
                  <a:pt x="2334" y="1947"/>
                </a:lnTo>
                <a:lnTo>
                  <a:pt x="2352" y="1970"/>
                </a:lnTo>
              </a:path>
            </a:pathLst>
          </a:custGeom>
          <a:noFill/>
          <a:ln w="50800" cap="rnd" cmpd="sng">
            <a:solidFill>
              <a:srgbClr val="0070C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dirty="0"/>
          </a:p>
        </p:txBody>
      </p:sp>
      <p:sp>
        <p:nvSpPr>
          <p:cNvPr id="80908" name="Rectangle 12"/>
          <p:cNvSpPr>
            <a:spLocks noChangeArrowheads="1"/>
          </p:cNvSpPr>
          <p:nvPr/>
        </p:nvSpPr>
        <p:spPr bwMode="auto">
          <a:xfrm>
            <a:off x="1759744" y="3496866"/>
            <a:ext cx="54983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-70</a:t>
            </a:r>
          </a:p>
        </p:txBody>
      </p:sp>
      <p:sp>
        <p:nvSpPr>
          <p:cNvPr id="80909" name="Rectangle 13"/>
          <p:cNvSpPr>
            <a:spLocks noChangeArrowheads="1"/>
          </p:cNvSpPr>
          <p:nvPr/>
        </p:nvSpPr>
        <p:spPr bwMode="auto">
          <a:xfrm>
            <a:off x="1702594" y="2068116"/>
            <a:ext cx="549830"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-15</a:t>
            </a:r>
          </a:p>
        </p:txBody>
      </p:sp>
      <p:sp>
        <p:nvSpPr>
          <p:cNvPr id="80910" name="Rectangle 14"/>
          <p:cNvSpPr>
            <a:spLocks noChangeArrowheads="1"/>
          </p:cNvSpPr>
          <p:nvPr/>
        </p:nvSpPr>
        <p:spPr bwMode="auto">
          <a:xfrm>
            <a:off x="1702594" y="1210866"/>
            <a:ext cx="617156" cy="39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a:latin typeface="Arial Rounded MT Bold" pitchFamily="34" charset="0"/>
              </a:rPr>
              <a:t>+30</a:t>
            </a:r>
          </a:p>
        </p:txBody>
      </p:sp>
      <p:grpSp>
        <p:nvGrpSpPr>
          <p:cNvPr id="80958" name="Group 62"/>
          <p:cNvGrpSpPr>
            <a:grpSpLocks/>
          </p:cNvGrpSpPr>
          <p:nvPr/>
        </p:nvGrpSpPr>
        <p:grpSpPr bwMode="auto">
          <a:xfrm>
            <a:off x="3086100" y="857250"/>
            <a:ext cx="4591050" cy="2800350"/>
            <a:chOff x="1632" y="720"/>
            <a:chExt cx="3856" cy="2352"/>
          </a:xfrm>
        </p:grpSpPr>
        <p:grpSp>
          <p:nvGrpSpPr>
            <p:cNvPr id="80954" name="Group 58"/>
            <p:cNvGrpSpPr>
              <a:grpSpLocks/>
            </p:cNvGrpSpPr>
            <p:nvPr/>
          </p:nvGrpSpPr>
          <p:grpSpPr bwMode="auto">
            <a:xfrm>
              <a:off x="1632" y="1296"/>
              <a:ext cx="672" cy="1776"/>
              <a:chOff x="1632" y="1296"/>
              <a:chExt cx="672" cy="1776"/>
            </a:xfrm>
          </p:grpSpPr>
          <p:sp>
            <p:nvSpPr>
              <p:cNvPr id="80930" name="Line 34"/>
              <p:cNvSpPr>
                <a:spLocks noChangeShapeType="1"/>
              </p:cNvSpPr>
              <p:nvPr/>
            </p:nvSpPr>
            <p:spPr bwMode="auto">
              <a:xfrm>
                <a:off x="1632" y="2976"/>
                <a:ext cx="96" cy="96"/>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1" name="Line 35"/>
              <p:cNvSpPr>
                <a:spLocks noChangeShapeType="1"/>
              </p:cNvSpPr>
              <p:nvPr/>
            </p:nvSpPr>
            <p:spPr bwMode="auto">
              <a:xfrm>
                <a:off x="1680" y="2832"/>
                <a:ext cx="240" cy="240"/>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2" name="Line 36"/>
              <p:cNvSpPr>
                <a:spLocks noChangeShapeType="1"/>
              </p:cNvSpPr>
              <p:nvPr/>
            </p:nvSpPr>
            <p:spPr bwMode="auto">
              <a:xfrm>
                <a:off x="1728" y="2640"/>
                <a:ext cx="336" cy="432"/>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3" name="Line 37"/>
              <p:cNvSpPr>
                <a:spLocks noChangeShapeType="1"/>
              </p:cNvSpPr>
              <p:nvPr/>
            </p:nvSpPr>
            <p:spPr bwMode="auto">
              <a:xfrm>
                <a:off x="1776" y="2496"/>
                <a:ext cx="432" cy="576"/>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4" name="Line 38"/>
              <p:cNvSpPr>
                <a:spLocks noChangeShapeType="1"/>
              </p:cNvSpPr>
              <p:nvPr/>
            </p:nvSpPr>
            <p:spPr bwMode="auto">
              <a:xfrm>
                <a:off x="1824" y="2304"/>
                <a:ext cx="480" cy="672"/>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5" name="Line 39"/>
              <p:cNvSpPr>
                <a:spLocks noChangeShapeType="1"/>
              </p:cNvSpPr>
              <p:nvPr/>
            </p:nvSpPr>
            <p:spPr bwMode="auto">
              <a:xfrm>
                <a:off x="1872" y="2112"/>
                <a:ext cx="432" cy="672"/>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6" name="Line 40"/>
              <p:cNvSpPr>
                <a:spLocks noChangeShapeType="1"/>
              </p:cNvSpPr>
              <p:nvPr/>
            </p:nvSpPr>
            <p:spPr bwMode="auto">
              <a:xfrm>
                <a:off x="1920" y="1968"/>
                <a:ext cx="336" cy="576"/>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7" name="Line 41"/>
              <p:cNvSpPr>
                <a:spLocks noChangeShapeType="1"/>
              </p:cNvSpPr>
              <p:nvPr/>
            </p:nvSpPr>
            <p:spPr bwMode="auto">
              <a:xfrm>
                <a:off x="1968" y="1776"/>
                <a:ext cx="240" cy="384"/>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8" name="Line 42"/>
              <p:cNvSpPr>
                <a:spLocks noChangeShapeType="1"/>
              </p:cNvSpPr>
              <p:nvPr/>
            </p:nvSpPr>
            <p:spPr bwMode="auto">
              <a:xfrm>
                <a:off x="1968" y="1632"/>
                <a:ext cx="240" cy="336"/>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39" name="Line 43"/>
              <p:cNvSpPr>
                <a:spLocks noChangeShapeType="1"/>
              </p:cNvSpPr>
              <p:nvPr/>
            </p:nvSpPr>
            <p:spPr bwMode="auto">
              <a:xfrm>
                <a:off x="2016" y="1488"/>
                <a:ext cx="144" cy="192"/>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40" name="Line 44"/>
              <p:cNvSpPr>
                <a:spLocks noChangeShapeType="1"/>
              </p:cNvSpPr>
              <p:nvPr/>
            </p:nvSpPr>
            <p:spPr bwMode="auto">
              <a:xfrm>
                <a:off x="2016" y="1296"/>
                <a:ext cx="96" cy="144"/>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grpSp>
        <p:grpSp>
          <p:nvGrpSpPr>
            <p:cNvPr id="80955" name="Group 59"/>
            <p:cNvGrpSpPr>
              <a:grpSpLocks/>
            </p:cNvGrpSpPr>
            <p:nvPr/>
          </p:nvGrpSpPr>
          <p:grpSpPr bwMode="auto">
            <a:xfrm>
              <a:off x="2112" y="720"/>
              <a:ext cx="3376" cy="1008"/>
              <a:chOff x="2112" y="720"/>
              <a:chExt cx="3376" cy="1008"/>
            </a:xfrm>
          </p:grpSpPr>
          <p:sp>
            <p:nvSpPr>
              <p:cNvPr id="80950" name="Text Box 54"/>
              <p:cNvSpPr txBox="1">
                <a:spLocks noChangeArrowheads="1"/>
              </p:cNvSpPr>
              <p:nvPr/>
            </p:nvSpPr>
            <p:spPr bwMode="auto">
              <a:xfrm>
                <a:off x="2448" y="720"/>
                <a:ext cx="3040" cy="349"/>
              </a:xfrm>
              <a:prstGeom prst="rect">
                <a:avLst/>
              </a:prstGeom>
              <a:noFill/>
              <a:ln w="127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100" dirty="0">
                    <a:solidFill>
                      <a:srgbClr val="C00000"/>
                    </a:solidFill>
                    <a:latin typeface="Arial Rounded MT Bold" pitchFamily="34" charset="0"/>
                  </a:rPr>
                  <a:t>absolute refractory period</a:t>
                </a:r>
                <a:endParaRPr lang="en-US" sz="2100" dirty="0">
                  <a:solidFill>
                    <a:srgbClr val="C00000"/>
                  </a:solidFill>
                </a:endParaRPr>
              </a:p>
            </p:txBody>
          </p:sp>
          <p:sp>
            <p:nvSpPr>
              <p:cNvPr id="80952" name="Line 56"/>
              <p:cNvSpPr>
                <a:spLocks noChangeShapeType="1"/>
              </p:cNvSpPr>
              <p:nvPr/>
            </p:nvSpPr>
            <p:spPr bwMode="auto">
              <a:xfrm flipH="1">
                <a:off x="2112" y="1008"/>
                <a:ext cx="432" cy="720"/>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grpSp>
      </p:grpSp>
      <p:grpSp>
        <p:nvGrpSpPr>
          <p:cNvPr id="80959" name="Group 63"/>
          <p:cNvGrpSpPr>
            <a:grpSpLocks/>
          </p:cNvGrpSpPr>
          <p:nvPr/>
        </p:nvGrpSpPr>
        <p:grpSpPr bwMode="auto">
          <a:xfrm>
            <a:off x="3829050" y="2353866"/>
            <a:ext cx="3863578" cy="1589484"/>
            <a:chOff x="2256" y="1977"/>
            <a:chExt cx="3245" cy="1335"/>
          </a:xfrm>
        </p:grpSpPr>
        <p:grpSp>
          <p:nvGrpSpPr>
            <p:cNvPr id="80956" name="Group 60"/>
            <p:cNvGrpSpPr>
              <a:grpSpLocks/>
            </p:cNvGrpSpPr>
            <p:nvPr/>
          </p:nvGrpSpPr>
          <p:grpSpPr bwMode="auto">
            <a:xfrm>
              <a:off x="2256" y="2592"/>
              <a:ext cx="1056" cy="720"/>
              <a:chOff x="2256" y="2592"/>
              <a:chExt cx="1056" cy="720"/>
            </a:xfrm>
          </p:grpSpPr>
          <p:sp>
            <p:nvSpPr>
              <p:cNvPr id="80942" name="Line 46"/>
              <p:cNvSpPr>
                <a:spLocks noChangeShapeType="1"/>
              </p:cNvSpPr>
              <p:nvPr/>
            </p:nvSpPr>
            <p:spPr bwMode="auto">
              <a:xfrm>
                <a:off x="2352" y="2976"/>
                <a:ext cx="336" cy="336"/>
              </a:xfrm>
              <a:prstGeom prst="line">
                <a:avLst/>
              </a:prstGeom>
              <a:noFill/>
              <a:ln w="28575">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44" name="Line 48"/>
              <p:cNvSpPr>
                <a:spLocks noChangeShapeType="1"/>
              </p:cNvSpPr>
              <p:nvPr/>
            </p:nvSpPr>
            <p:spPr bwMode="auto">
              <a:xfrm>
                <a:off x="2784" y="3072"/>
                <a:ext cx="192" cy="192"/>
              </a:xfrm>
              <a:prstGeom prst="line">
                <a:avLst/>
              </a:prstGeom>
              <a:noFill/>
              <a:ln w="28575">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45" name="Line 49"/>
              <p:cNvSpPr>
                <a:spLocks noChangeShapeType="1"/>
              </p:cNvSpPr>
              <p:nvPr/>
            </p:nvSpPr>
            <p:spPr bwMode="auto">
              <a:xfrm>
                <a:off x="2976" y="3072"/>
                <a:ext cx="144" cy="144"/>
              </a:xfrm>
              <a:prstGeom prst="line">
                <a:avLst/>
              </a:prstGeom>
              <a:noFill/>
              <a:ln w="28575">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46" name="Line 50"/>
              <p:cNvSpPr>
                <a:spLocks noChangeShapeType="1"/>
              </p:cNvSpPr>
              <p:nvPr/>
            </p:nvSpPr>
            <p:spPr bwMode="auto">
              <a:xfrm>
                <a:off x="3216" y="3072"/>
                <a:ext cx="96" cy="96"/>
              </a:xfrm>
              <a:prstGeom prst="line">
                <a:avLst/>
              </a:prstGeom>
              <a:noFill/>
              <a:ln w="28575">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47" name="Line 51"/>
              <p:cNvSpPr>
                <a:spLocks noChangeShapeType="1"/>
              </p:cNvSpPr>
              <p:nvPr/>
            </p:nvSpPr>
            <p:spPr bwMode="auto">
              <a:xfrm>
                <a:off x="2304" y="2832"/>
                <a:ext cx="96" cy="96"/>
              </a:xfrm>
              <a:prstGeom prst="line">
                <a:avLst/>
              </a:prstGeom>
              <a:noFill/>
              <a:ln w="28575">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48" name="Line 52"/>
              <p:cNvSpPr>
                <a:spLocks noChangeShapeType="1"/>
              </p:cNvSpPr>
              <p:nvPr/>
            </p:nvSpPr>
            <p:spPr bwMode="auto">
              <a:xfrm>
                <a:off x="2640" y="3120"/>
                <a:ext cx="192" cy="192"/>
              </a:xfrm>
              <a:prstGeom prst="line">
                <a:avLst/>
              </a:prstGeom>
              <a:noFill/>
              <a:ln w="28575">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80949" name="Line 53"/>
              <p:cNvSpPr>
                <a:spLocks noChangeShapeType="1"/>
              </p:cNvSpPr>
              <p:nvPr/>
            </p:nvSpPr>
            <p:spPr bwMode="auto">
              <a:xfrm>
                <a:off x="2256" y="2592"/>
                <a:ext cx="96" cy="144"/>
              </a:xfrm>
              <a:prstGeom prst="line">
                <a:avLst/>
              </a:prstGeom>
              <a:noFill/>
              <a:ln w="28575">
                <a:solidFill>
                  <a:srgbClr val="FFC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grpSp>
        <p:grpSp>
          <p:nvGrpSpPr>
            <p:cNvPr id="80957" name="Group 61"/>
            <p:cNvGrpSpPr>
              <a:grpSpLocks/>
            </p:cNvGrpSpPr>
            <p:nvPr/>
          </p:nvGrpSpPr>
          <p:grpSpPr bwMode="auto">
            <a:xfrm>
              <a:off x="2593" y="1977"/>
              <a:ext cx="2908" cy="1191"/>
              <a:chOff x="2593" y="1977"/>
              <a:chExt cx="2908" cy="1191"/>
            </a:xfrm>
          </p:grpSpPr>
          <p:sp>
            <p:nvSpPr>
              <p:cNvPr id="80951" name="Text Box 55"/>
              <p:cNvSpPr txBox="1">
                <a:spLocks noChangeArrowheads="1"/>
              </p:cNvSpPr>
              <p:nvPr/>
            </p:nvSpPr>
            <p:spPr bwMode="auto">
              <a:xfrm>
                <a:off x="2593" y="1977"/>
                <a:ext cx="2908" cy="349"/>
              </a:xfrm>
              <a:prstGeom prst="rect">
                <a:avLst/>
              </a:prstGeom>
              <a:noFill/>
              <a:ln w="127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100" dirty="0">
                    <a:solidFill>
                      <a:srgbClr val="FFC000"/>
                    </a:solidFill>
                    <a:latin typeface="Arial Rounded MT Bold" pitchFamily="34" charset="0"/>
                  </a:rPr>
                  <a:t>relative refractory period</a:t>
                </a:r>
                <a:endParaRPr lang="en-US" sz="2100" dirty="0">
                  <a:solidFill>
                    <a:srgbClr val="FFC000"/>
                  </a:solidFill>
                </a:endParaRPr>
              </a:p>
            </p:txBody>
          </p:sp>
          <p:sp>
            <p:nvSpPr>
              <p:cNvPr id="80953" name="Line 57"/>
              <p:cNvSpPr>
                <a:spLocks noChangeShapeType="1"/>
              </p:cNvSpPr>
              <p:nvPr/>
            </p:nvSpPr>
            <p:spPr bwMode="auto">
              <a:xfrm flipH="1">
                <a:off x="2784" y="2256"/>
                <a:ext cx="480" cy="912"/>
              </a:xfrm>
              <a:prstGeom prst="line">
                <a:avLst/>
              </a:prstGeom>
              <a:noFill/>
              <a:ln w="38100">
                <a:solidFill>
                  <a:srgbClr val="FFC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grpSp>
      </p:grpSp>
    </p:spTree>
    <p:extLst>
      <p:ext uri="{BB962C8B-B14F-4D97-AF65-F5344CB8AC3E}">
        <p14:creationId xmlns:p14="http://schemas.microsoft.com/office/powerpoint/2010/main" val="438184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907"/>
                                        </p:tgtEl>
                                        <p:attrNameLst>
                                          <p:attrName>style.visibility</p:attrName>
                                        </p:attrNameLst>
                                      </p:cBhvr>
                                      <p:to>
                                        <p:strVal val="visible"/>
                                      </p:to>
                                    </p:set>
                                    <p:animEffect transition="in" filter="wipe(left)">
                                      <p:cBhvr>
                                        <p:cTn id="7" dur="500"/>
                                        <p:tgtEl>
                                          <p:spTgt spid="809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8095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809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3011"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3012" name="Rectangle 4"/>
          <p:cNvSpPr>
            <a:spLocks noGrp="1" noChangeArrowheads="1"/>
          </p:cNvSpPr>
          <p:nvPr>
            <p:ph type="title"/>
          </p:nvPr>
        </p:nvSpPr>
        <p:spPr>
          <a:xfrm>
            <a:off x="1771650" y="114300"/>
            <a:ext cx="5829300" cy="567240"/>
          </a:xfrm>
          <a:noFill/>
          <a:ln/>
        </p:spPr>
        <p:txBody>
          <a:bodyPr/>
          <a:lstStyle/>
          <a:p>
            <a:pPr algn="l"/>
            <a:r>
              <a:rPr lang="en-GB" sz="2100" b="1" dirty="0">
                <a:solidFill>
                  <a:srgbClr val="FF0000"/>
                </a:solidFill>
                <a:latin typeface="Arial Rounded MT Bold" pitchFamily="34" charset="0"/>
              </a:rPr>
              <a:t>Where does the action potential start?</a:t>
            </a:r>
          </a:p>
        </p:txBody>
      </p:sp>
      <p:sp>
        <p:nvSpPr>
          <p:cNvPr id="43013" name="Oval 5"/>
          <p:cNvSpPr>
            <a:spLocks noChangeArrowheads="1"/>
          </p:cNvSpPr>
          <p:nvPr/>
        </p:nvSpPr>
        <p:spPr bwMode="auto">
          <a:xfrm>
            <a:off x="6918722" y="2519363"/>
            <a:ext cx="1076325" cy="1247775"/>
          </a:xfrm>
          <a:prstGeom prst="ellipse">
            <a:avLst/>
          </a:prstGeom>
          <a:gradFill rotWithShape="0">
            <a:gsLst>
              <a:gs pos="0">
                <a:srgbClr val="FFFF00"/>
              </a:gs>
              <a:gs pos="100000">
                <a:srgbClr val="FFFF00">
                  <a:gamma/>
                  <a:shade val="69804"/>
                  <a:invGamma/>
                </a:srgbClr>
              </a:gs>
            </a:gsLst>
            <a:path path="rect">
              <a:fillToRect r="100000" b="100000"/>
            </a:path>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3014" name="Freeform 6"/>
          <p:cNvSpPr>
            <a:spLocks/>
          </p:cNvSpPr>
          <p:nvPr/>
        </p:nvSpPr>
        <p:spPr bwMode="auto">
          <a:xfrm>
            <a:off x="1214437" y="940594"/>
            <a:ext cx="1120379" cy="889397"/>
          </a:xfrm>
          <a:custGeom>
            <a:avLst/>
            <a:gdLst>
              <a:gd name="T0" fmla="*/ 804 w 941"/>
              <a:gd name="T1" fmla="*/ 736 h 747"/>
              <a:gd name="T2" fmla="*/ 736 w 941"/>
              <a:gd name="T3" fmla="*/ 691 h 747"/>
              <a:gd name="T4" fmla="*/ 668 w 941"/>
              <a:gd name="T5" fmla="*/ 680 h 747"/>
              <a:gd name="T6" fmla="*/ 601 w 941"/>
              <a:gd name="T7" fmla="*/ 657 h 747"/>
              <a:gd name="T8" fmla="*/ 544 w 941"/>
              <a:gd name="T9" fmla="*/ 589 h 747"/>
              <a:gd name="T10" fmla="*/ 499 w 941"/>
              <a:gd name="T11" fmla="*/ 521 h 747"/>
              <a:gd name="T12" fmla="*/ 442 w 941"/>
              <a:gd name="T13" fmla="*/ 453 h 747"/>
              <a:gd name="T14" fmla="*/ 397 w 941"/>
              <a:gd name="T15" fmla="*/ 385 h 747"/>
              <a:gd name="T16" fmla="*/ 329 w 941"/>
              <a:gd name="T17" fmla="*/ 340 h 747"/>
              <a:gd name="T18" fmla="*/ 250 w 941"/>
              <a:gd name="T19" fmla="*/ 283 h 747"/>
              <a:gd name="T20" fmla="*/ 204 w 941"/>
              <a:gd name="T21" fmla="*/ 215 h 747"/>
              <a:gd name="T22" fmla="*/ 136 w 941"/>
              <a:gd name="T23" fmla="*/ 215 h 747"/>
              <a:gd name="T24" fmla="*/ 68 w 941"/>
              <a:gd name="T25" fmla="*/ 227 h 747"/>
              <a:gd name="T26" fmla="*/ 0 w 941"/>
              <a:gd name="T27" fmla="*/ 227 h 747"/>
              <a:gd name="T28" fmla="*/ 68 w 941"/>
              <a:gd name="T29" fmla="*/ 193 h 747"/>
              <a:gd name="T30" fmla="*/ 136 w 941"/>
              <a:gd name="T31" fmla="*/ 182 h 747"/>
              <a:gd name="T32" fmla="*/ 204 w 941"/>
              <a:gd name="T33" fmla="*/ 182 h 747"/>
              <a:gd name="T34" fmla="*/ 272 w 941"/>
              <a:gd name="T35" fmla="*/ 193 h 747"/>
              <a:gd name="T36" fmla="*/ 317 w 941"/>
              <a:gd name="T37" fmla="*/ 170 h 747"/>
              <a:gd name="T38" fmla="*/ 317 w 941"/>
              <a:gd name="T39" fmla="*/ 102 h 747"/>
              <a:gd name="T40" fmla="*/ 317 w 941"/>
              <a:gd name="T41" fmla="*/ 34 h 747"/>
              <a:gd name="T42" fmla="*/ 363 w 941"/>
              <a:gd name="T43" fmla="*/ 46 h 747"/>
              <a:gd name="T44" fmla="*/ 374 w 941"/>
              <a:gd name="T45" fmla="*/ 114 h 747"/>
              <a:gd name="T46" fmla="*/ 374 w 941"/>
              <a:gd name="T47" fmla="*/ 182 h 747"/>
              <a:gd name="T48" fmla="*/ 385 w 941"/>
              <a:gd name="T49" fmla="*/ 249 h 747"/>
              <a:gd name="T50" fmla="*/ 431 w 941"/>
              <a:gd name="T51" fmla="*/ 317 h 747"/>
              <a:gd name="T52" fmla="*/ 487 w 941"/>
              <a:gd name="T53" fmla="*/ 374 h 747"/>
              <a:gd name="T54" fmla="*/ 555 w 941"/>
              <a:gd name="T55" fmla="*/ 408 h 747"/>
              <a:gd name="T56" fmla="*/ 623 w 941"/>
              <a:gd name="T57" fmla="*/ 419 h 747"/>
              <a:gd name="T58" fmla="*/ 680 w 941"/>
              <a:gd name="T59" fmla="*/ 374 h 747"/>
              <a:gd name="T60" fmla="*/ 725 w 941"/>
              <a:gd name="T61" fmla="*/ 306 h 747"/>
              <a:gd name="T62" fmla="*/ 759 w 941"/>
              <a:gd name="T63" fmla="*/ 238 h 747"/>
              <a:gd name="T64" fmla="*/ 793 w 941"/>
              <a:gd name="T65" fmla="*/ 170 h 747"/>
              <a:gd name="T66" fmla="*/ 816 w 941"/>
              <a:gd name="T67" fmla="*/ 102 h 747"/>
              <a:gd name="T68" fmla="*/ 850 w 941"/>
              <a:gd name="T69" fmla="*/ 34 h 747"/>
              <a:gd name="T70" fmla="*/ 906 w 941"/>
              <a:gd name="T71" fmla="*/ 0 h 747"/>
              <a:gd name="T72" fmla="*/ 918 w 941"/>
              <a:gd name="T73" fmla="*/ 46 h 747"/>
              <a:gd name="T74" fmla="*/ 872 w 941"/>
              <a:gd name="T75" fmla="*/ 114 h 747"/>
              <a:gd name="T76" fmla="*/ 838 w 941"/>
              <a:gd name="T77" fmla="*/ 182 h 747"/>
              <a:gd name="T78" fmla="*/ 793 w 941"/>
              <a:gd name="T79" fmla="*/ 249 h 747"/>
              <a:gd name="T80" fmla="*/ 770 w 941"/>
              <a:gd name="T81" fmla="*/ 317 h 747"/>
              <a:gd name="T82" fmla="*/ 725 w 941"/>
              <a:gd name="T83" fmla="*/ 385 h 747"/>
              <a:gd name="T84" fmla="*/ 680 w 941"/>
              <a:gd name="T85" fmla="*/ 453 h 747"/>
              <a:gd name="T86" fmla="*/ 657 w 941"/>
              <a:gd name="T87" fmla="*/ 521 h 747"/>
              <a:gd name="T88" fmla="*/ 691 w 941"/>
              <a:gd name="T89" fmla="*/ 578 h 747"/>
              <a:gd name="T90" fmla="*/ 748 w 941"/>
              <a:gd name="T91" fmla="*/ 634 h 747"/>
              <a:gd name="T92" fmla="*/ 816 w 941"/>
              <a:gd name="T93" fmla="*/ 691 h 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41" h="747">
                <a:moveTo>
                  <a:pt x="852" y="746"/>
                </a:moveTo>
                <a:lnTo>
                  <a:pt x="804" y="736"/>
                </a:lnTo>
                <a:lnTo>
                  <a:pt x="770" y="714"/>
                </a:lnTo>
                <a:lnTo>
                  <a:pt x="736" y="691"/>
                </a:lnTo>
                <a:lnTo>
                  <a:pt x="702" y="691"/>
                </a:lnTo>
                <a:lnTo>
                  <a:pt x="668" y="680"/>
                </a:lnTo>
                <a:lnTo>
                  <a:pt x="635" y="668"/>
                </a:lnTo>
                <a:lnTo>
                  <a:pt x="601" y="657"/>
                </a:lnTo>
                <a:lnTo>
                  <a:pt x="567" y="623"/>
                </a:lnTo>
                <a:lnTo>
                  <a:pt x="544" y="589"/>
                </a:lnTo>
                <a:lnTo>
                  <a:pt x="510" y="555"/>
                </a:lnTo>
                <a:lnTo>
                  <a:pt x="499" y="521"/>
                </a:lnTo>
                <a:lnTo>
                  <a:pt x="465" y="487"/>
                </a:lnTo>
                <a:lnTo>
                  <a:pt x="442" y="453"/>
                </a:lnTo>
                <a:lnTo>
                  <a:pt x="431" y="419"/>
                </a:lnTo>
                <a:lnTo>
                  <a:pt x="397" y="385"/>
                </a:lnTo>
                <a:lnTo>
                  <a:pt x="363" y="363"/>
                </a:lnTo>
                <a:lnTo>
                  <a:pt x="329" y="340"/>
                </a:lnTo>
                <a:lnTo>
                  <a:pt x="283" y="306"/>
                </a:lnTo>
                <a:lnTo>
                  <a:pt x="250" y="283"/>
                </a:lnTo>
                <a:lnTo>
                  <a:pt x="216" y="249"/>
                </a:lnTo>
                <a:lnTo>
                  <a:pt x="204" y="215"/>
                </a:lnTo>
                <a:lnTo>
                  <a:pt x="170" y="215"/>
                </a:lnTo>
                <a:lnTo>
                  <a:pt x="136" y="215"/>
                </a:lnTo>
                <a:lnTo>
                  <a:pt x="102" y="227"/>
                </a:lnTo>
                <a:lnTo>
                  <a:pt x="68" y="227"/>
                </a:lnTo>
                <a:lnTo>
                  <a:pt x="34" y="227"/>
                </a:lnTo>
                <a:lnTo>
                  <a:pt x="0" y="227"/>
                </a:lnTo>
                <a:lnTo>
                  <a:pt x="34" y="204"/>
                </a:lnTo>
                <a:lnTo>
                  <a:pt x="68" y="193"/>
                </a:lnTo>
                <a:lnTo>
                  <a:pt x="102" y="193"/>
                </a:lnTo>
                <a:lnTo>
                  <a:pt x="136" y="182"/>
                </a:lnTo>
                <a:lnTo>
                  <a:pt x="170" y="182"/>
                </a:lnTo>
                <a:lnTo>
                  <a:pt x="204" y="182"/>
                </a:lnTo>
                <a:lnTo>
                  <a:pt x="238" y="193"/>
                </a:lnTo>
                <a:lnTo>
                  <a:pt x="272" y="193"/>
                </a:lnTo>
                <a:lnTo>
                  <a:pt x="306" y="204"/>
                </a:lnTo>
                <a:lnTo>
                  <a:pt x="317" y="170"/>
                </a:lnTo>
                <a:lnTo>
                  <a:pt x="317" y="136"/>
                </a:lnTo>
                <a:lnTo>
                  <a:pt x="317" y="102"/>
                </a:lnTo>
                <a:lnTo>
                  <a:pt x="317" y="68"/>
                </a:lnTo>
                <a:lnTo>
                  <a:pt x="317" y="34"/>
                </a:lnTo>
                <a:lnTo>
                  <a:pt x="351" y="12"/>
                </a:lnTo>
                <a:lnTo>
                  <a:pt x="363" y="46"/>
                </a:lnTo>
                <a:lnTo>
                  <a:pt x="374" y="80"/>
                </a:lnTo>
                <a:lnTo>
                  <a:pt x="374" y="114"/>
                </a:lnTo>
                <a:lnTo>
                  <a:pt x="374" y="148"/>
                </a:lnTo>
                <a:lnTo>
                  <a:pt x="374" y="182"/>
                </a:lnTo>
                <a:lnTo>
                  <a:pt x="374" y="215"/>
                </a:lnTo>
                <a:lnTo>
                  <a:pt x="385" y="249"/>
                </a:lnTo>
                <a:lnTo>
                  <a:pt x="397" y="283"/>
                </a:lnTo>
                <a:lnTo>
                  <a:pt x="431" y="317"/>
                </a:lnTo>
                <a:lnTo>
                  <a:pt x="453" y="351"/>
                </a:lnTo>
                <a:lnTo>
                  <a:pt x="487" y="374"/>
                </a:lnTo>
                <a:lnTo>
                  <a:pt x="521" y="408"/>
                </a:lnTo>
                <a:lnTo>
                  <a:pt x="555" y="408"/>
                </a:lnTo>
                <a:lnTo>
                  <a:pt x="589" y="419"/>
                </a:lnTo>
                <a:lnTo>
                  <a:pt x="623" y="419"/>
                </a:lnTo>
                <a:lnTo>
                  <a:pt x="657" y="408"/>
                </a:lnTo>
                <a:lnTo>
                  <a:pt x="680" y="374"/>
                </a:lnTo>
                <a:lnTo>
                  <a:pt x="702" y="340"/>
                </a:lnTo>
                <a:lnTo>
                  <a:pt x="725" y="306"/>
                </a:lnTo>
                <a:lnTo>
                  <a:pt x="736" y="272"/>
                </a:lnTo>
                <a:lnTo>
                  <a:pt x="759" y="238"/>
                </a:lnTo>
                <a:lnTo>
                  <a:pt x="770" y="204"/>
                </a:lnTo>
                <a:lnTo>
                  <a:pt x="793" y="170"/>
                </a:lnTo>
                <a:lnTo>
                  <a:pt x="804" y="136"/>
                </a:lnTo>
                <a:lnTo>
                  <a:pt x="816" y="102"/>
                </a:lnTo>
                <a:lnTo>
                  <a:pt x="838" y="68"/>
                </a:lnTo>
                <a:lnTo>
                  <a:pt x="850" y="34"/>
                </a:lnTo>
                <a:lnTo>
                  <a:pt x="872" y="0"/>
                </a:lnTo>
                <a:lnTo>
                  <a:pt x="906" y="0"/>
                </a:lnTo>
                <a:lnTo>
                  <a:pt x="940" y="12"/>
                </a:lnTo>
                <a:lnTo>
                  <a:pt x="918" y="46"/>
                </a:lnTo>
                <a:lnTo>
                  <a:pt x="895" y="80"/>
                </a:lnTo>
                <a:lnTo>
                  <a:pt x="872" y="114"/>
                </a:lnTo>
                <a:lnTo>
                  <a:pt x="850" y="148"/>
                </a:lnTo>
                <a:lnTo>
                  <a:pt x="838" y="182"/>
                </a:lnTo>
                <a:lnTo>
                  <a:pt x="816" y="215"/>
                </a:lnTo>
                <a:lnTo>
                  <a:pt x="793" y="249"/>
                </a:lnTo>
                <a:lnTo>
                  <a:pt x="782" y="283"/>
                </a:lnTo>
                <a:lnTo>
                  <a:pt x="770" y="317"/>
                </a:lnTo>
                <a:lnTo>
                  <a:pt x="748" y="351"/>
                </a:lnTo>
                <a:lnTo>
                  <a:pt x="725" y="385"/>
                </a:lnTo>
                <a:lnTo>
                  <a:pt x="702" y="419"/>
                </a:lnTo>
                <a:lnTo>
                  <a:pt x="680" y="453"/>
                </a:lnTo>
                <a:lnTo>
                  <a:pt x="657" y="487"/>
                </a:lnTo>
                <a:lnTo>
                  <a:pt x="657" y="521"/>
                </a:lnTo>
                <a:lnTo>
                  <a:pt x="657" y="555"/>
                </a:lnTo>
                <a:lnTo>
                  <a:pt x="691" y="578"/>
                </a:lnTo>
                <a:lnTo>
                  <a:pt x="725" y="600"/>
                </a:lnTo>
                <a:lnTo>
                  <a:pt x="748" y="634"/>
                </a:lnTo>
                <a:lnTo>
                  <a:pt x="782" y="668"/>
                </a:lnTo>
                <a:lnTo>
                  <a:pt x="816" y="691"/>
                </a:lnTo>
                <a:lnTo>
                  <a:pt x="852" y="746"/>
                </a:lnTo>
              </a:path>
            </a:pathLst>
          </a:custGeom>
          <a:gradFill rotWithShape="0">
            <a:gsLst>
              <a:gs pos="0">
                <a:srgbClr val="FFFF00"/>
              </a:gs>
              <a:gs pos="100000">
                <a:srgbClr val="FFFF00">
                  <a:gamma/>
                  <a:shade val="69804"/>
                  <a:invGamma/>
                </a:srgbClr>
              </a:gs>
            </a:gsLst>
            <a:path path="rect">
              <a:fillToRect r="100000" b="100000"/>
            </a:path>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15" name="Freeform 7"/>
          <p:cNvSpPr>
            <a:spLocks/>
          </p:cNvSpPr>
          <p:nvPr/>
        </p:nvSpPr>
        <p:spPr bwMode="auto">
          <a:xfrm>
            <a:off x="1188244" y="1507332"/>
            <a:ext cx="2090738" cy="2641997"/>
          </a:xfrm>
          <a:custGeom>
            <a:avLst/>
            <a:gdLst>
              <a:gd name="T0" fmla="*/ 498 w 1756"/>
              <a:gd name="T1" fmla="*/ 464 h 2219"/>
              <a:gd name="T2" fmla="*/ 339 w 1756"/>
              <a:gd name="T3" fmla="*/ 249 h 2219"/>
              <a:gd name="T4" fmla="*/ 215 w 1756"/>
              <a:gd name="T5" fmla="*/ 102 h 2219"/>
              <a:gd name="T6" fmla="*/ 215 w 1756"/>
              <a:gd name="T7" fmla="*/ 102 h 2219"/>
              <a:gd name="T8" fmla="*/ 124 w 1756"/>
              <a:gd name="T9" fmla="*/ 294 h 2219"/>
              <a:gd name="T10" fmla="*/ 79 w 1756"/>
              <a:gd name="T11" fmla="*/ 407 h 2219"/>
              <a:gd name="T12" fmla="*/ 113 w 1756"/>
              <a:gd name="T13" fmla="*/ 430 h 2219"/>
              <a:gd name="T14" fmla="*/ 22 w 1756"/>
              <a:gd name="T15" fmla="*/ 758 h 2219"/>
              <a:gd name="T16" fmla="*/ 79 w 1756"/>
              <a:gd name="T17" fmla="*/ 702 h 2219"/>
              <a:gd name="T18" fmla="*/ 170 w 1756"/>
              <a:gd name="T19" fmla="*/ 475 h 2219"/>
              <a:gd name="T20" fmla="*/ 305 w 1756"/>
              <a:gd name="T21" fmla="*/ 396 h 2219"/>
              <a:gd name="T22" fmla="*/ 396 w 1756"/>
              <a:gd name="T23" fmla="*/ 577 h 2219"/>
              <a:gd name="T24" fmla="*/ 305 w 1756"/>
              <a:gd name="T25" fmla="*/ 792 h 2219"/>
              <a:gd name="T26" fmla="*/ 464 w 1756"/>
              <a:gd name="T27" fmla="*/ 611 h 2219"/>
              <a:gd name="T28" fmla="*/ 509 w 1756"/>
              <a:gd name="T29" fmla="*/ 747 h 2219"/>
              <a:gd name="T30" fmla="*/ 328 w 1756"/>
              <a:gd name="T31" fmla="*/ 917 h 2219"/>
              <a:gd name="T32" fmla="*/ 124 w 1756"/>
              <a:gd name="T33" fmla="*/ 1019 h 2219"/>
              <a:gd name="T34" fmla="*/ 158 w 1756"/>
              <a:gd name="T35" fmla="*/ 883 h 2219"/>
              <a:gd name="T36" fmla="*/ 90 w 1756"/>
              <a:gd name="T37" fmla="*/ 1019 h 2219"/>
              <a:gd name="T38" fmla="*/ 56 w 1756"/>
              <a:gd name="T39" fmla="*/ 1222 h 2219"/>
              <a:gd name="T40" fmla="*/ 90 w 1756"/>
              <a:gd name="T41" fmla="*/ 1437 h 2219"/>
              <a:gd name="T42" fmla="*/ 158 w 1756"/>
              <a:gd name="T43" fmla="*/ 1222 h 2219"/>
              <a:gd name="T44" fmla="*/ 317 w 1756"/>
              <a:gd name="T45" fmla="*/ 1007 h 2219"/>
              <a:gd name="T46" fmla="*/ 509 w 1756"/>
              <a:gd name="T47" fmla="*/ 849 h 2219"/>
              <a:gd name="T48" fmla="*/ 498 w 1756"/>
              <a:gd name="T49" fmla="*/ 1030 h 2219"/>
              <a:gd name="T50" fmla="*/ 396 w 1756"/>
              <a:gd name="T51" fmla="*/ 1279 h 2219"/>
              <a:gd name="T52" fmla="*/ 249 w 1756"/>
              <a:gd name="T53" fmla="*/ 1573 h 2219"/>
              <a:gd name="T54" fmla="*/ 158 w 1756"/>
              <a:gd name="T55" fmla="*/ 1822 h 2219"/>
              <a:gd name="T56" fmla="*/ 294 w 1756"/>
              <a:gd name="T57" fmla="*/ 1641 h 2219"/>
              <a:gd name="T58" fmla="*/ 441 w 1756"/>
              <a:gd name="T59" fmla="*/ 1539 h 2219"/>
              <a:gd name="T60" fmla="*/ 577 w 1756"/>
              <a:gd name="T61" fmla="*/ 1856 h 2219"/>
              <a:gd name="T62" fmla="*/ 634 w 1756"/>
              <a:gd name="T63" fmla="*/ 2116 h 2219"/>
              <a:gd name="T64" fmla="*/ 657 w 1756"/>
              <a:gd name="T65" fmla="*/ 1924 h 2219"/>
              <a:gd name="T66" fmla="*/ 792 w 1756"/>
              <a:gd name="T67" fmla="*/ 1833 h 2219"/>
              <a:gd name="T68" fmla="*/ 792 w 1756"/>
              <a:gd name="T69" fmla="*/ 1811 h 2219"/>
              <a:gd name="T70" fmla="*/ 589 w 1756"/>
              <a:gd name="T71" fmla="*/ 1675 h 2219"/>
              <a:gd name="T72" fmla="*/ 668 w 1756"/>
              <a:gd name="T73" fmla="*/ 1596 h 2219"/>
              <a:gd name="T74" fmla="*/ 917 w 1756"/>
              <a:gd name="T75" fmla="*/ 1698 h 2219"/>
              <a:gd name="T76" fmla="*/ 1132 w 1756"/>
              <a:gd name="T77" fmla="*/ 1720 h 2219"/>
              <a:gd name="T78" fmla="*/ 1087 w 1756"/>
              <a:gd name="T79" fmla="*/ 1890 h 2219"/>
              <a:gd name="T80" fmla="*/ 996 w 1756"/>
              <a:gd name="T81" fmla="*/ 2184 h 2219"/>
              <a:gd name="T82" fmla="*/ 1143 w 1756"/>
              <a:gd name="T83" fmla="*/ 1913 h 2219"/>
              <a:gd name="T84" fmla="*/ 1200 w 1756"/>
              <a:gd name="T85" fmla="*/ 1698 h 2219"/>
              <a:gd name="T86" fmla="*/ 974 w 1756"/>
              <a:gd name="T87" fmla="*/ 1584 h 2219"/>
              <a:gd name="T88" fmla="*/ 826 w 1756"/>
              <a:gd name="T89" fmla="*/ 1517 h 2219"/>
              <a:gd name="T90" fmla="*/ 1234 w 1756"/>
              <a:gd name="T91" fmla="*/ 1494 h 2219"/>
              <a:gd name="T92" fmla="*/ 1325 w 1756"/>
              <a:gd name="T93" fmla="*/ 1664 h 2219"/>
              <a:gd name="T94" fmla="*/ 1630 w 1756"/>
              <a:gd name="T95" fmla="*/ 1754 h 2219"/>
              <a:gd name="T96" fmla="*/ 1551 w 1756"/>
              <a:gd name="T97" fmla="*/ 1698 h 2219"/>
              <a:gd name="T98" fmla="*/ 1370 w 1756"/>
              <a:gd name="T99" fmla="*/ 1584 h 2219"/>
              <a:gd name="T100" fmla="*/ 1245 w 1756"/>
              <a:gd name="T101" fmla="*/ 1449 h 2219"/>
              <a:gd name="T102" fmla="*/ 1042 w 1756"/>
              <a:gd name="T103" fmla="*/ 1415 h 2219"/>
              <a:gd name="T104" fmla="*/ 826 w 1756"/>
              <a:gd name="T105" fmla="*/ 1460 h 2219"/>
              <a:gd name="T106" fmla="*/ 623 w 1756"/>
              <a:gd name="T107" fmla="*/ 1471 h 2219"/>
              <a:gd name="T108" fmla="*/ 475 w 1756"/>
              <a:gd name="T109" fmla="*/ 1358 h 2219"/>
              <a:gd name="T110" fmla="*/ 498 w 1756"/>
              <a:gd name="T111" fmla="*/ 1154 h 2219"/>
              <a:gd name="T112" fmla="*/ 566 w 1756"/>
              <a:gd name="T113" fmla="*/ 951 h 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56" h="2219">
                <a:moveTo>
                  <a:pt x="682" y="414"/>
                </a:moveTo>
                <a:lnTo>
                  <a:pt x="634" y="453"/>
                </a:lnTo>
                <a:lnTo>
                  <a:pt x="600" y="475"/>
                </a:lnTo>
                <a:lnTo>
                  <a:pt x="566" y="487"/>
                </a:lnTo>
                <a:lnTo>
                  <a:pt x="532" y="487"/>
                </a:lnTo>
                <a:lnTo>
                  <a:pt x="498" y="464"/>
                </a:lnTo>
                <a:lnTo>
                  <a:pt x="464" y="441"/>
                </a:lnTo>
                <a:lnTo>
                  <a:pt x="441" y="407"/>
                </a:lnTo>
                <a:lnTo>
                  <a:pt x="407" y="362"/>
                </a:lnTo>
                <a:lnTo>
                  <a:pt x="385" y="317"/>
                </a:lnTo>
                <a:lnTo>
                  <a:pt x="362" y="283"/>
                </a:lnTo>
                <a:lnTo>
                  <a:pt x="339" y="249"/>
                </a:lnTo>
                <a:lnTo>
                  <a:pt x="317" y="215"/>
                </a:lnTo>
                <a:lnTo>
                  <a:pt x="283" y="204"/>
                </a:lnTo>
                <a:lnTo>
                  <a:pt x="249" y="192"/>
                </a:lnTo>
                <a:lnTo>
                  <a:pt x="215" y="170"/>
                </a:lnTo>
                <a:lnTo>
                  <a:pt x="215" y="136"/>
                </a:lnTo>
                <a:lnTo>
                  <a:pt x="215" y="102"/>
                </a:lnTo>
                <a:lnTo>
                  <a:pt x="204" y="68"/>
                </a:lnTo>
                <a:lnTo>
                  <a:pt x="192" y="34"/>
                </a:lnTo>
                <a:lnTo>
                  <a:pt x="170" y="0"/>
                </a:lnTo>
                <a:lnTo>
                  <a:pt x="181" y="34"/>
                </a:lnTo>
                <a:lnTo>
                  <a:pt x="204" y="68"/>
                </a:lnTo>
                <a:lnTo>
                  <a:pt x="215" y="102"/>
                </a:lnTo>
                <a:lnTo>
                  <a:pt x="226" y="136"/>
                </a:lnTo>
                <a:lnTo>
                  <a:pt x="204" y="170"/>
                </a:lnTo>
                <a:lnTo>
                  <a:pt x="181" y="204"/>
                </a:lnTo>
                <a:lnTo>
                  <a:pt x="158" y="238"/>
                </a:lnTo>
                <a:lnTo>
                  <a:pt x="158" y="271"/>
                </a:lnTo>
                <a:lnTo>
                  <a:pt x="124" y="294"/>
                </a:lnTo>
                <a:lnTo>
                  <a:pt x="90" y="317"/>
                </a:lnTo>
                <a:lnTo>
                  <a:pt x="56" y="339"/>
                </a:lnTo>
                <a:lnTo>
                  <a:pt x="34" y="373"/>
                </a:lnTo>
                <a:lnTo>
                  <a:pt x="11" y="407"/>
                </a:lnTo>
                <a:lnTo>
                  <a:pt x="45" y="419"/>
                </a:lnTo>
                <a:lnTo>
                  <a:pt x="79" y="407"/>
                </a:lnTo>
                <a:lnTo>
                  <a:pt x="113" y="385"/>
                </a:lnTo>
                <a:lnTo>
                  <a:pt x="147" y="351"/>
                </a:lnTo>
                <a:lnTo>
                  <a:pt x="181" y="328"/>
                </a:lnTo>
                <a:lnTo>
                  <a:pt x="147" y="362"/>
                </a:lnTo>
                <a:lnTo>
                  <a:pt x="124" y="396"/>
                </a:lnTo>
                <a:lnTo>
                  <a:pt x="113" y="430"/>
                </a:lnTo>
                <a:lnTo>
                  <a:pt x="102" y="464"/>
                </a:lnTo>
                <a:lnTo>
                  <a:pt x="90" y="509"/>
                </a:lnTo>
                <a:lnTo>
                  <a:pt x="79" y="588"/>
                </a:lnTo>
                <a:lnTo>
                  <a:pt x="56" y="679"/>
                </a:lnTo>
                <a:lnTo>
                  <a:pt x="45" y="724"/>
                </a:lnTo>
                <a:lnTo>
                  <a:pt x="22" y="758"/>
                </a:lnTo>
                <a:lnTo>
                  <a:pt x="11" y="792"/>
                </a:lnTo>
                <a:lnTo>
                  <a:pt x="0" y="826"/>
                </a:lnTo>
                <a:lnTo>
                  <a:pt x="34" y="815"/>
                </a:lnTo>
                <a:lnTo>
                  <a:pt x="56" y="769"/>
                </a:lnTo>
                <a:lnTo>
                  <a:pt x="68" y="736"/>
                </a:lnTo>
                <a:lnTo>
                  <a:pt x="79" y="702"/>
                </a:lnTo>
                <a:lnTo>
                  <a:pt x="90" y="656"/>
                </a:lnTo>
                <a:lnTo>
                  <a:pt x="102" y="622"/>
                </a:lnTo>
                <a:lnTo>
                  <a:pt x="113" y="588"/>
                </a:lnTo>
                <a:lnTo>
                  <a:pt x="136" y="543"/>
                </a:lnTo>
                <a:lnTo>
                  <a:pt x="147" y="509"/>
                </a:lnTo>
                <a:lnTo>
                  <a:pt x="170" y="475"/>
                </a:lnTo>
                <a:lnTo>
                  <a:pt x="181" y="441"/>
                </a:lnTo>
                <a:lnTo>
                  <a:pt x="192" y="407"/>
                </a:lnTo>
                <a:lnTo>
                  <a:pt x="204" y="373"/>
                </a:lnTo>
                <a:lnTo>
                  <a:pt x="238" y="373"/>
                </a:lnTo>
                <a:lnTo>
                  <a:pt x="272" y="373"/>
                </a:lnTo>
                <a:lnTo>
                  <a:pt x="305" y="396"/>
                </a:lnTo>
                <a:lnTo>
                  <a:pt x="339" y="419"/>
                </a:lnTo>
                <a:lnTo>
                  <a:pt x="362" y="453"/>
                </a:lnTo>
                <a:lnTo>
                  <a:pt x="396" y="475"/>
                </a:lnTo>
                <a:lnTo>
                  <a:pt x="407" y="509"/>
                </a:lnTo>
                <a:lnTo>
                  <a:pt x="407" y="543"/>
                </a:lnTo>
                <a:lnTo>
                  <a:pt x="396" y="577"/>
                </a:lnTo>
                <a:lnTo>
                  <a:pt x="385" y="611"/>
                </a:lnTo>
                <a:lnTo>
                  <a:pt x="362" y="645"/>
                </a:lnTo>
                <a:lnTo>
                  <a:pt x="339" y="690"/>
                </a:lnTo>
                <a:lnTo>
                  <a:pt x="317" y="724"/>
                </a:lnTo>
                <a:lnTo>
                  <a:pt x="305" y="758"/>
                </a:lnTo>
                <a:lnTo>
                  <a:pt x="305" y="792"/>
                </a:lnTo>
                <a:lnTo>
                  <a:pt x="339" y="769"/>
                </a:lnTo>
                <a:lnTo>
                  <a:pt x="362" y="736"/>
                </a:lnTo>
                <a:lnTo>
                  <a:pt x="385" y="702"/>
                </a:lnTo>
                <a:lnTo>
                  <a:pt x="407" y="668"/>
                </a:lnTo>
                <a:lnTo>
                  <a:pt x="430" y="634"/>
                </a:lnTo>
                <a:lnTo>
                  <a:pt x="464" y="611"/>
                </a:lnTo>
                <a:lnTo>
                  <a:pt x="498" y="611"/>
                </a:lnTo>
                <a:lnTo>
                  <a:pt x="532" y="611"/>
                </a:lnTo>
                <a:lnTo>
                  <a:pt x="555" y="645"/>
                </a:lnTo>
                <a:lnTo>
                  <a:pt x="543" y="679"/>
                </a:lnTo>
                <a:lnTo>
                  <a:pt x="532" y="713"/>
                </a:lnTo>
                <a:lnTo>
                  <a:pt x="509" y="747"/>
                </a:lnTo>
                <a:lnTo>
                  <a:pt x="498" y="781"/>
                </a:lnTo>
                <a:lnTo>
                  <a:pt x="464" y="815"/>
                </a:lnTo>
                <a:lnTo>
                  <a:pt x="430" y="849"/>
                </a:lnTo>
                <a:lnTo>
                  <a:pt x="396" y="871"/>
                </a:lnTo>
                <a:lnTo>
                  <a:pt x="362" y="894"/>
                </a:lnTo>
                <a:lnTo>
                  <a:pt x="328" y="917"/>
                </a:lnTo>
                <a:lnTo>
                  <a:pt x="294" y="939"/>
                </a:lnTo>
                <a:lnTo>
                  <a:pt x="260" y="962"/>
                </a:lnTo>
                <a:lnTo>
                  <a:pt x="226" y="973"/>
                </a:lnTo>
                <a:lnTo>
                  <a:pt x="192" y="996"/>
                </a:lnTo>
                <a:lnTo>
                  <a:pt x="158" y="1007"/>
                </a:lnTo>
                <a:lnTo>
                  <a:pt x="124" y="1019"/>
                </a:lnTo>
                <a:lnTo>
                  <a:pt x="102" y="1052"/>
                </a:lnTo>
                <a:lnTo>
                  <a:pt x="90" y="1019"/>
                </a:lnTo>
                <a:lnTo>
                  <a:pt x="102" y="985"/>
                </a:lnTo>
                <a:lnTo>
                  <a:pt x="102" y="951"/>
                </a:lnTo>
                <a:lnTo>
                  <a:pt x="136" y="917"/>
                </a:lnTo>
                <a:lnTo>
                  <a:pt x="158" y="883"/>
                </a:lnTo>
                <a:lnTo>
                  <a:pt x="124" y="871"/>
                </a:lnTo>
                <a:lnTo>
                  <a:pt x="90" y="883"/>
                </a:lnTo>
                <a:lnTo>
                  <a:pt x="68" y="917"/>
                </a:lnTo>
                <a:lnTo>
                  <a:pt x="56" y="951"/>
                </a:lnTo>
                <a:lnTo>
                  <a:pt x="79" y="985"/>
                </a:lnTo>
                <a:lnTo>
                  <a:pt x="90" y="1019"/>
                </a:lnTo>
                <a:lnTo>
                  <a:pt x="79" y="1052"/>
                </a:lnTo>
                <a:lnTo>
                  <a:pt x="56" y="1086"/>
                </a:lnTo>
                <a:lnTo>
                  <a:pt x="56" y="1120"/>
                </a:lnTo>
                <a:lnTo>
                  <a:pt x="56" y="1154"/>
                </a:lnTo>
                <a:lnTo>
                  <a:pt x="56" y="1188"/>
                </a:lnTo>
                <a:lnTo>
                  <a:pt x="56" y="1222"/>
                </a:lnTo>
                <a:lnTo>
                  <a:pt x="56" y="1256"/>
                </a:lnTo>
                <a:lnTo>
                  <a:pt x="56" y="1290"/>
                </a:lnTo>
                <a:lnTo>
                  <a:pt x="56" y="1324"/>
                </a:lnTo>
                <a:lnTo>
                  <a:pt x="56" y="1358"/>
                </a:lnTo>
                <a:lnTo>
                  <a:pt x="79" y="1403"/>
                </a:lnTo>
                <a:lnTo>
                  <a:pt x="90" y="1437"/>
                </a:lnTo>
                <a:lnTo>
                  <a:pt x="102" y="1403"/>
                </a:lnTo>
                <a:lnTo>
                  <a:pt x="102" y="1369"/>
                </a:lnTo>
                <a:lnTo>
                  <a:pt x="102" y="1335"/>
                </a:lnTo>
                <a:lnTo>
                  <a:pt x="113" y="1301"/>
                </a:lnTo>
                <a:lnTo>
                  <a:pt x="124" y="1268"/>
                </a:lnTo>
                <a:lnTo>
                  <a:pt x="158" y="1222"/>
                </a:lnTo>
                <a:lnTo>
                  <a:pt x="170" y="1188"/>
                </a:lnTo>
                <a:lnTo>
                  <a:pt x="204" y="1154"/>
                </a:lnTo>
                <a:lnTo>
                  <a:pt x="238" y="1120"/>
                </a:lnTo>
                <a:lnTo>
                  <a:pt x="260" y="1086"/>
                </a:lnTo>
                <a:lnTo>
                  <a:pt x="283" y="1052"/>
                </a:lnTo>
                <a:lnTo>
                  <a:pt x="317" y="1007"/>
                </a:lnTo>
                <a:lnTo>
                  <a:pt x="339" y="973"/>
                </a:lnTo>
                <a:lnTo>
                  <a:pt x="385" y="951"/>
                </a:lnTo>
                <a:lnTo>
                  <a:pt x="419" y="939"/>
                </a:lnTo>
                <a:lnTo>
                  <a:pt x="453" y="928"/>
                </a:lnTo>
                <a:lnTo>
                  <a:pt x="487" y="883"/>
                </a:lnTo>
                <a:lnTo>
                  <a:pt x="509" y="849"/>
                </a:lnTo>
                <a:lnTo>
                  <a:pt x="521" y="815"/>
                </a:lnTo>
                <a:lnTo>
                  <a:pt x="521" y="849"/>
                </a:lnTo>
                <a:lnTo>
                  <a:pt x="509" y="928"/>
                </a:lnTo>
                <a:lnTo>
                  <a:pt x="509" y="962"/>
                </a:lnTo>
                <a:lnTo>
                  <a:pt x="509" y="996"/>
                </a:lnTo>
                <a:lnTo>
                  <a:pt x="498" y="1030"/>
                </a:lnTo>
                <a:lnTo>
                  <a:pt x="475" y="1075"/>
                </a:lnTo>
                <a:lnTo>
                  <a:pt x="464" y="1109"/>
                </a:lnTo>
                <a:lnTo>
                  <a:pt x="453" y="1143"/>
                </a:lnTo>
                <a:lnTo>
                  <a:pt x="419" y="1177"/>
                </a:lnTo>
                <a:lnTo>
                  <a:pt x="407" y="1245"/>
                </a:lnTo>
                <a:lnTo>
                  <a:pt x="396" y="1279"/>
                </a:lnTo>
                <a:lnTo>
                  <a:pt x="385" y="1313"/>
                </a:lnTo>
                <a:lnTo>
                  <a:pt x="373" y="1347"/>
                </a:lnTo>
                <a:lnTo>
                  <a:pt x="351" y="1392"/>
                </a:lnTo>
                <a:lnTo>
                  <a:pt x="317" y="1483"/>
                </a:lnTo>
                <a:lnTo>
                  <a:pt x="283" y="1528"/>
                </a:lnTo>
                <a:lnTo>
                  <a:pt x="249" y="1573"/>
                </a:lnTo>
                <a:lnTo>
                  <a:pt x="215" y="1652"/>
                </a:lnTo>
                <a:lnTo>
                  <a:pt x="181" y="1686"/>
                </a:lnTo>
                <a:lnTo>
                  <a:pt x="147" y="1720"/>
                </a:lnTo>
                <a:lnTo>
                  <a:pt x="136" y="1754"/>
                </a:lnTo>
                <a:lnTo>
                  <a:pt x="136" y="1788"/>
                </a:lnTo>
                <a:lnTo>
                  <a:pt x="158" y="1822"/>
                </a:lnTo>
                <a:lnTo>
                  <a:pt x="192" y="1811"/>
                </a:lnTo>
                <a:lnTo>
                  <a:pt x="215" y="1777"/>
                </a:lnTo>
                <a:lnTo>
                  <a:pt x="238" y="1743"/>
                </a:lnTo>
                <a:lnTo>
                  <a:pt x="249" y="1709"/>
                </a:lnTo>
                <a:lnTo>
                  <a:pt x="272" y="1675"/>
                </a:lnTo>
                <a:lnTo>
                  <a:pt x="294" y="1641"/>
                </a:lnTo>
                <a:lnTo>
                  <a:pt x="328" y="1607"/>
                </a:lnTo>
                <a:lnTo>
                  <a:pt x="351" y="1562"/>
                </a:lnTo>
                <a:lnTo>
                  <a:pt x="362" y="1517"/>
                </a:lnTo>
                <a:lnTo>
                  <a:pt x="362" y="1483"/>
                </a:lnTo>
                <a:lnTo>
                  <a:pt x="407" y="1505"/>
                </a:lnTo>
                <a:lnTo>
                  <a:pt x="441" y="1539"/>
                </a:lnTo>
                <a:lnTo>
                  <a:pt x="475" y="1584"/>
                </a:lnTo>
                <a:lnTo>
                  <a:pt x="498" y="1630"/>
                </a:lnTo>
                <a:lnTo>
                  <a:pt x="521" y="1664"/>
                </a:lnTo>
                <a:lnTo>
                  <a:pt x="532" y="1698"/>
                </a:lnTo>
                <a:lnTo>
                  <a:pt x="555" y="1777"/>
                </a:lnTo>
                <a:lnTo>
                  <a:pt x="577" y="1856"/>
                </a:lnTo>
                <a:lnTo>
                  <a:pt x="600" y="1947"/>
                </a:lnTo>
                <a:lnTo>
                  <a:pt x="611" y="1981"/>
                </a:lnTo>
                <a:lnTo>
                  <a:pt x="623" y="2015"/>
                </a:lnTo>
                <a:lnTo>
                  <a:pt x="634" y="2049"/>
                </a:lnTo>
                <a:lnTo>
                  <a:pt x="634" y="2082"/>
                </a:lnTo>
                <a:lnTo>
                  <a:pt x="634" y="2116"/>
                </a:lnTo>
                <a:lnTo>
                  <a:pt x="634" y="2150"/>
                </a:lnTo>
                <a:lnTo>
                  <a:pt x="634" y="2116"/>
                </a:lnTo>
                <a:lnTo>
                  <a:pt x="645" y="2082"/>
                </a:lnTo>
                <a:lnTo>
                  <a:pt x="645" y="2049"/>
                </a:lnTo>
                <a:lnTo>
                  <a:pt x="657" y="1969"/>
                </a:lnTo>
                <a:lnTo>
                  <a:pt x="657" y="1924"/>
                </a:lnTo>
                <a:lnTo>
                  <a:pt x="657" y="1890"/>
                </a:lnTo>
                <a:lnTo>
                  <a:pt x="657" y="1845"/>
                </a:lnTo>
                <a:lnTo>
                  <a:pt x="645" y="1811"/>
                </a:lnTo>
                <a:lnTo>
                  <a:pt x="679" y="1800"/>
                </a:lnTo>
                <a:lnTo>
                  <a:pt x="758" y="1822"/>
                </a:lnTo>
                <a:lnTo>
                  <a:pt x="792" y="1833"/>
                </a:lnTo>
                <a:lnTo>
                  <a:pt x="826" y="1845"/>
                </a:lnTo>
                <a:lnTo>
                  <a:pt x="860" y="1856"/>
                </a:lnTo>
                <a:lnTo>
                  <a:pt x="894" y="1867"/>
                </a:lnTo>
                <a:lnTo>
                  <a:pt x="860" y="1845"/>
                </a:lnTo>
                <a:lnTo>
                  <a:pt x="826" y="1833"/>
                </a:lnTo>
                <a:lnTo>
                  <a:pt x="792" y="1811"/>
                </a:lnTo>
                <a:lnTo>
                  <a:pt x="758" y="1800"/>
                </a:lnTo>
                <a:lnTo>
                  <a:pt x="724" y="1766"/>
                </a:lnTo>
                <a:lnTo>
                  <a:pt x="690" y="1743"/>
                </a:lnTo>
                <a:lnTo>
                  <a:pt x="657" y="1720"/>
                </a:lnTo>
                <a:lnTo>
                  <a:pt x="623" y="1698"/>
                </a:lnTo>
                <a:lnTo>
                  <a:pt x="589" y="1675"/>
                </a:lnTo>
                <a:lnTo>
                  <a:pt x="566" y="1641"/>
                </a:lnTo>
                <a:lnTo>
                  <a:pt x="566" y="1607"/>
                </a:lnTo>
                <a:lnTo>
                  <a:pt x="566" y="1573"/>
                </a:lnTo>
                <a:lnTo>
                  <a:pt x="600" y="1562"/>
                </a:lnTo>
                <a:lnTo>
                  <a:pt x="634" y="1573"/>
                </a:lnTo>
                <a:lnTo>
                  <a:pt x="668" y="1596"/>
                </a:lnTo>
                <a:lnTo>
                  <a:pt x="713" y="1630"/>
                </a:lnTo>
                <a:lnTo>
                  <a:pt x="758" y="1652"/>
                </a:lnTo>
                <a:lnTo>
                  <a:pt x="804" y="1664"/>
                </a:lnTo>
                <a:lnTo>
                  <a:pt x="849" y="1686"/>
                </a:lnTo>
                <a:lnTo>
                  <a:pt x="883" y="1698"/>
                </a:lnTo>
                <a:lnTo>
                  <a:pt x="917" y="1698"/>
                </a:lnTo>
                <a:lnTo>
                  <a:pt x="951" y="1709"/>
                </a:lnTo>
                <a:lnTo>
                  <a:pt x="985" y="1709"/>
                </a:lnTo>
                <a:lnTo>
                  <a:pt x="1030" y="1720"/>
                </a:lnTo>
                <a:lnTo>
                  <a:pt x="1064" y="1720"/>
                </a:lnTo>
                <a:lnTo>
                  <a:pt x="1098" y="1720"/>
                </a:lnTo>
                <a:lnTo>
                  <a:pt x="1132" y="1720"/>
                </a:lnTo>
                <a:lnTo>
                  <a:pt x="1166" y="1720"/>
                </a:lnTo>
                <a:lnTo>
                  <a:pt x="1189" y="1754"/>
                </a:lnTo>
                <a:lnTo>
                  <a:pt x="1177" y="1788"/>
                </a:lnTo>
                <a:lnTo>
                  <a:pt x="1155" y="1822"/>
                </a:lnTo>
                <a:lnTo>
                  <a:pt x="1121" y="1856"/>
                </a:lnTo>
                <a:lnTo>
                  <a:pt x="1087" y="1890"/>
                </a:lnTo>
                <a:lnTo>
                  <a:pt x="1064" y="1935"/>
                </a:lnTo>
                <a:lnTo>
                  <a:pt x="1030" y="1981"/>
                </a:lnTo>
                <a:lnTo>
                  <a:pt x="996" y="2094"/>
                </a:lnTo>
                <a:lnTo>
                  <a:pt x="985" y="2184"/>
                </a:lnTo>
                <a:lnTo>
                  <a:pt x="985" y="2218"/>
                </a:lnTo>
                <a:lnTo>
                  <a:pt x="996" y="2184"/>
                </a:lnTo>
                <a:lnTo>
                  <a:pt x="1019" y="2150"/>
                </a:lnTo>
                <a:lnTo>
                  <a:pt x="1042" y="2116"/>
                </a:lnTo>
                <a:lnTo>
                  <a:pt x="1075" y="2082"/>
                </a:lnTo>
                <a:lnTo>
                  <a:pt x="1098" y="2049"/>
                </a:lnTo>
                <a:lnTo>
                  <a:pt x="1121" y="2003"/>
                </a:lnTo>
                <a:lnTo>
                  <a:pt x="1143" y="1913"/>
                </a:lnTo>
                <a:lnTo>
                  <a:pt x="1166" y="1867"/>
                </a:lnTo>
                <a:lnTo>
                  <a:pt x="1189" y="1822"/>
                </a:lnTo>
                <a:lnTo>
                  <a:pt x="1200" y="1777"/>
                </a:lnTo>
                <a:lnTo>
                  <a:pt x="1223" y="1732"/>
                </a:lnTo>
                <a:lnTo>
                  <a:pt x="1234" y="1698"/>
                </a:lnTo>
                <a:lnTo>
                  <a:pt x="1200" y="1698"/>
                </a:lnTo>
                <a:lnTo>
                  <a:pt x="1166" y="1686"/>
                </a:lnTo>
                <a:lnTo>
                  <a:pt x="1121" y="1675"/>
                </a:lnTo>
                <a:lnTo>
                  <a:pt x="1087" y="1664"/>
                </a:lnTo>
                <a:lnTo>
                  <a:pt x="1053" y="1641"/>
                </a:lnTo>
                <a:lnTo>
                  <a:pt x="1019" y="1618"/>
                </a:lnTo>
                <a:lnTo>
                  <a:pt x="974" y="1584"/>
                </a:lnTo>
                <a:lnTo>
                  <a:pt x="928" y="1573"/>
                </a:lnTo>
                <a:lnTo>
                  <a:pt x="838" y="1550"/>
                </a:lnTo>
                <a:lnTo>
                  <a:pt x="792" y="1539"/>
                </a:lnTo>
                <a:lnTo>
                  <a:pt x="758" y="1528"/>
                </a:lnTo>
                <a:lnTo>
                  <a:pt x="792" y="1528"/>
                </a:lnTo>
                <a:lnTo>
                  <a:pt x="826" y="1517"/>
                </a:lnTo>
                <a:lnTo>
                  <a:pt x="917" y="1505"/>
                </a:lnTo>
                <a:lnTo>
                  <a:pt x="1030" y="1505"/>
                </a:lnTo>
                <a:lnTo>
                  <a:pt x="1098" y="1494"/>
                </a:lnTo>
                <a:lnTo>
                  <a:pt x="1166" y="1494"/>
                </a:lnTo>
                <a:lnTo>
                  <a:pt x="1200" y="1494"/>
                </a:lnTo>
                <a:lnTo>
                  <a:pt x="1234" y="1494"/>
                </a:lnTo>
                <a:lnTo>
                  <a:pt x="1268" y="1494"/>
                </a:lnTo>
                <a:lnTo>
                  <a:pt x="1291" y="1528"/>
                </a:lnTo>
                <a:lnTo>
                  <a:pt x="1291" y="1562"/>
                </a:lnTo>
                <a:lnTo>
                  <a:pt x="1302" y="1596"/>
                </a:lnTo>
                <a:lnTo>
                  <a:pt x="1302" y="1630"/>
                </a:lnTo>
                <a:lnTo>
                  <a:pt x="1325" y="1664"/>
                </a:lnTo>
                <a:lnTo>
                  <a:pt x="1325" y="1698"/>
                </a:lnTo>
                <a:lnTo>
                  <a:pt x="1359" y="1698"/>
                </a:lnTo>
                <a:lnTo>
                  <a:pt x="1393" y="1709"/>
                </a:lnTo>
                <a:lnTo>
                  <a:pt x="1461" y="1720"/>
                </a:lnTo>
                <a:lnTo>
                  <a:pt x="1551" y="1743"/>
                </a:lnTo>
                <a:lnTo>
                  <a:pt x="1630" y="1754"/>
                </a:lnTo>
                <a:lnTo>
                  <a:pt x="1721" y="1777"/>
                </a:lnTo>
                <a:lnTo>
                  <a:pt x="1755" y="1788"/>
                </a:lnTo>
                <a:lnTo>
                  <a:pt x="1664" y="1766"/>
                </a:lnTo>
                <a:lnTo>
                  <a:pt x="1619" y="1743"/>
                </a:lnTo>
                <a:lnTo>
                  <a:pt x="1585" y="1720"/>
                </a:lnTo>
                <a:lnTo>
                  <a:pt x="1551" y="1698"/>
                </a:lnTo>
                <a:lnTo>
                  <a:pt x="1517" y="1675"/>
                </a:lnTo>
                <a:lnTo>
                  <a:pt x="1483" y="1664"/>
                </a:lnTo>
                <a:lnTo>
                  <a:pt x="1449" y="1652"/>
                </a:lnTo>
                <a:lnTo>
                  <a:pt x="1415" y="1641"/>
                </a:lnTo>
                <a:lnTo>
                  <a:pt x="1381" y="1618"/>
                </a:lnTo>
                <a:lnTo>
                  <a:pt x="1370" y="1584"/>
                </a:lnTo>
                <a:lnTo>
                  <a:pt x="1359" y="1550"/>
                </a:lnTo>
                <a:lnTo>
                  <a:pt x="1347" y="1517"/>
                </a:lnTo>
                <a:lnTo>
                  <a:pt x="1325" y="1483"/>
                </a:lnTo>
                <a:lnTo>
                  <a:pt x="1313" y="1449"/>
                </a:lnTo>
                <a:lnTo>
                  <a:pt x="1279" y="1437"/>
                </a:lnTo>
                <a:lnTo>
                  <a:pt x="1245" y="1449"/>
                </a:lnTo>
                <a:lnTo>
                  <a:pt x="1211" y="1449"/>
                </a:lnTo>
                <a:lnTo>
                  <a:pt x="1177" y="1426"/>
                </a:lnTo>
                <a:lnTo>
                  <a:pt x="1143" y="1415"/>
                </a:lnTo>
                <a:lnTo>
                  <a:pt x="1109" y="1415"/>
                </a:lnTo>
                <a:lnTo>
                  <a:pt x="1075" y="1415"/>
                </a:lnTo>
                <a:lnTo>
                  <a:pt x="1042" y="1415"/>
                </a:lnTo>
                <a:lnTo>
                  <a:pt x="1008" y="1415"/>
                </a:lnTo>
                <a:lnTo>
                  <a:pt x="974" y="1426"/>
                </a:lnTo>
                <a:lnTo>
                  <a:pt x="928" y="1426"/>
                </a:lnTo>
                <a:lnTo>
                  <a:pt x="894" y="1437"/>
                </a:lnTo>
                <a:lnTo>
                  <a:pt x="860" y="1437"/>
                </a:lnTo>
                <a:lnTo>
                  <a:pt x="826" y="1460"/>
                </a:lnTo>
                <a:lnTo>
                  <a:pt x="792" y="1483"/>
                </a:lnTo>
                <a:lnTo>
                  <a:pt x="758" y="1494"/>
                </a:lnTo>
                <a:lnTo>
                  <a:pt x="724" y="1494"/>
                </a:lnTo>
                <a:lnTo>
                  <a:pt x="690" y="1483"/>
                </a:lnTo>
                <a:lnTo>
                  <a:pt x="657" y="1471"/>
                </a:lnTo>
                <a:lnTo>
                  <a:pt x="623" y="1471"/>
                </a:lnTo>
                <a:lnTo>
                  <a:pt x="589" y="1471"/>
                </a:lnTo>
                <a:lnTo>
                  <a:pt x="555" y="1471"/>
                </a:lnTo>
                <a:lnTo>
                  <a:pt x="521" y="1449"/>
                </a:lnTo>
                <a:lnTo>
                  <a:pt x="487" y="1426"/>
                </a:lnTo>
                <a:lnTo>
                  <a:pt x="475" y="1392"/>
                </a:lnTo>
                <a:lnTo>
                  <a:pt x="475" y="1358"/>
                </a:lnTo>
                <a:lnTo>
                  <a:pt x="487" y="1324"/>
                </a:lnTo>
                <a:lnTo>
                  <a:pt x="487" y="1290"/>
                </a:lnTo>
                <a:lnTo>
                  <a:pt x="498" y="1256"/>
                </a:lnTo>
                <a:lnTo>
                  <a:pt x="498" y="1222"/>
                </a:lnTo>
                <a:lnTo>
                  <a:pt x="498" y="1188"/>
                </a:lnTo>
                <a:lnTo>
                  <a:pt x="498" y="1154"/>
                </a:lnTo>
                <a:lnTo>
                  <a:pt x="509" y="1120"/>
                </a:lnTo>
                <a:lnTo>
                  <a:pt x="543" y="1086"/>
                </a:lnTo>
                <a:lnTo>
                  <a:pt x="566" y="1052"/>
                </a:lnTo>
                <a:lnTo>
                  <a:pt x="555" y="1019"/>
                </a:lnTo>
                <a:lnTo>
                  <a:pt x="543" y="985"/>
                </a:lnTo>
                <a:lnTo>
                  <a:pt x="566" y="951"/>
                </a:lnTo>
                <a:lnTo>
                  <a:pt x="566" y="917"/>
                </a:lnTo>
                <a:lnTo>
                  <a:pt x="600" y="917"/>
                </a:lnTo>
                <a:lnTo>
                  <a:pt x="634" y="917"/>
                </a:lnTo>
                <a:lnTo>
                  <a:pt x="682" y="414"/>
                </a:lnTo>
              </a:path>
            </a:pathLst>
          </a:custGeom>
          <a:gradFill rotWithShape="0">
            <a:gsLst>
              <a:gs pos="0">
                <a:srgbClr val="FFFF00"/>
              </a:gs>
              <a:gs pos="100000">
                <a:srgbClr val="FFFF00">
                  <a:gamma/>
                  <a:shade val="69804"/>
                  <a:invGamma/>
                </a:srgbClr>
              </a:gs>
            </a:gsLst>
            <a:path path="rect">
              <a:fillToRect r="100000" b="100000"/>
            </a:path>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16" name="Oval 8"/>
          <p:cNvSpPr>
            <a:spLocks noChangeArrowheads="1"/>
          </p:cNvSpPr>
          <p:nvPr/>
        </p:nvSpPr>
        <p:spPr bwMode="auto">
          <a:xfrm>
            <a:off x="1890713" y="1776413"/>
            <a:ext cx="1076325" cy="1247775"/>
          </a:xfrm>
          <a:prstGeom prst="ellipse">
            <a:avLst/>
          </a:prstGeom>
          <a:gradFill rotWithShape="0">
            <a:gsLst>
              <a:gs pos="0">
                <a:srgbClr val="FFFF00"/>
              </a:gs>
              <a:gs pos="100000">
                <a:srgbClr val="FFFF00">
                  <a:gamma/>
                  <a:shade val="69804"/>
                  <a:invGamma/>
                </a:srgbClr>
              </a:gs>
            </a:gsLst>
            <a:path path="rect">
              <a:fillToRect r="100000" b="100000"/>
            </a:path>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3017" name="Oval 9"/>
          <p:cNvSpPr>
            <a:spLocks noChangeArrowheads="1"/>
          </p:cNvSpPr>
          <p:nvPr/>
        </p:nvSpPr>
        <p:spPr bwMode="auto">
          <a:xfrm>
            <a:off x="2347913" y="2576513"/>
            <a:ext cx="161925" cy="2190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3018" name="Freeform 10"/>
          <p:cNvSpPr>
            <a:spLocks/>
          </p:cNvSpPr>
          <p:nvPr/>
        </p:nvSpPr>
        <p:spPr bwMode="auto">
          <a:xfrm>
            <a:off x="2914650" y="2126456"/>
            <a:ext cx="3586163" cy="891779"/>
          </a:xfrm>
          <a:custGeom>
            <a:avLst/>
            <a:gdLst>
              <a:gd name="T0" fmla="*/ 135 w 3012"/>
              <a:gd name="T1" fmla="*/ 12 h 749"/>
              <a:gd name="T2" fmla="*/ 237 w 3012"/>
              <a:gd name="T3" fmla="*/ 0 h 749"/>
              <a:gd name="T4" fmla="*/ 339 w 3012"/>
              <a:gd name="T5" fmla="*/ 34 h 749"/>
              <a:gd name="T6" fmla="*/ 407 w 3012"/>
              <a:gd name="T7" fmla="*/ 125 h 749"/>
              <a:gd name="T8" fmla="*/ 475 w 3012"/>
              <a:gd name="T9" fmla="*/ 193 h 749"/>
              <a:gd name="T10" fmla="*/ 588 w 3012"/>
              <a:gd name="T11" fmla="*/ 216 h 749"/>
              <a:gd name="T12" fmla="*/ 803 w 3012"/>
              <a:gd name="T13" fmla="*/ 249 h 749"/>
              <a:gd name="T14" fmla="*/ 1086 w 3012"/>
              <a:gd name="T15" fmla="*/ 272 h 749"/>
              <a:gd name="T16" fmla="*/ 1335 w 3012"/>
              <a:gd name="T17" fmla="*/ 295 h 749"/>
              <a:gd name="T18" fmla="*/ 1585 w 3012"/>
              <a:gd name="T19" fmla="*/ 329 h 749"/>
              <a:gd name="T20" fmla="*/ 1743 w 3012"/>
              <a:gd name="T21" fmla="*/ 351 h 749"/>
              <a:gd name="T22" fmla="*/ 1845 w 3012"/>
              <a:gd name="T23" fmla="*/ 363 h 749"/>
              <a:gd name="T24" fmla="*/ 1947 w 3012"/>
              <a:gd name="T25" fmla="*/ 363 h 749"/>
              <a:gd name="T26" fmla="*/ 2060 w 3012"/>
              <a:gd name="T27" fmla="*/ 374 h 749"/>
              <a:gd name="T28" fmla="*/ 2275 w 3012"/>
              <a:gd name="T29" fmla="*/ 385 h 749"/>
              <a:gd name="T30" fmla="*/ 2502 w 3012"/>
              <a:gd name="T31" fmla="*/ 408 h 749"/>
              <a:gd name="T32" fmla="*/ 2615 w 3012"/>
              <a:gd name="T33" fmla="*/ 419 h 749"/>
              <a:gd name="T34" fmla="*/ 2717 w 3012"/>
              <a:gd name="T35" fmla="*/ 431 h 749"/>
              <a:gd name="T36" fmla="*/ 2819 w 3012"/>
              <a:gd name="T37" fmla="*/ 431 h 749"/>
              <a:gd name="T38" fmla="*/ 2864 w 3012"/>
              <a:gd name="T39" fmla="*/ 329 h 749"/>
              <a:gd name="T40" fmla="*/ 2932 w 3012"/>
              <a:gd name="T41" fmla="*/ 295 h 749"/>
              <a:gd name="T42" fmla="*/ 2989 w 3012"/>
              <a:gd name="T43" fmla="*/ 476 h 749"/>
              <a:gd name="T44" fmla="*/ 3011 w 3012"/>
              <a:gd name="T45" fmla="*/ 578 h 749"/>
              <a:gd name="T46" fmla="*/ 2989 w 3012"/>
              <a:gd name="T47" fmla="*/ 680 h 749"/>
              <a:gd name="T48" fmla="*/ 2921 w 3012"/>
              <a:gd name="T49" fmla="*/ 736 h 749"/>
              <a:gd name="T50" fmla="*/ 2853 w 3012"/>
              <a:gd name="T51" fmla="*/ 634 h 749"/>
              <a:gd name="T52" fmla="*/ 2683 w 3012"/>
              <a:gd name="T53" fmla="*/ 623 h 749"/>
              <a:gd name="T54" fmla="*/ 2524 w 3012"/>
              <a:gd name="T55" fmla="*/ 600 h 749"/>
              <a:gd name="T56" fmla="*/ 2400 w 3012"/>
              <a:gd name="T57" fmla="*/ 589 h 749"/>
              <a:gd name="T58" fmla="*/ 2287 w 3012"/>
              <a:gd name="T59" fmla="*/ 566 h 749"/>
              <a:gd name="T60" fmla="*/ 2105 w 3012"/>
              <a:gd name="T61" fmla="*/ 566 h 749"/>
              <a:gd name="T62" fmla="*/ 1811 w 3012"/>
              <a:gd name="T63" fmla="*/ 532 h 749"/>
              <a:gd name="T64" fmla="*/ 1539 w 3012"/>
              <a:gd name="T65" fmla="*/ 499 h 749"/>
              <a:gd name="T66" fmla="*/ 1381 w 3012"/>
              <a:gd name="T67" fmla="*/ 476 h 749"/>
              <a:gd name="T68" fmla="*/ 1279 w 3012"/>
              <a:gd name="T69" fmla="*/ 465 h 749"/>
              <a:gd name="T70" fmla="*/ 1086 w 3012"/>
              <a:gd name="T71" fmla="*/ 442 h 749"/>
              <a:gd name="T72" fmla="*/ 837 w 3012"/>
              <a:gd name="T73" fmla="*/ 397 h 749"/>
              <a:gd name="T74" fmla="*/ 667 w 3012"/>
              <a:gd name="T75" fmla="*/ 363 h 749"/>
              <a:gd name="T76" fmla="*/ 565 w 3012"/>
              <a:gd name="T77" fmla="*/ 340 h 749"/>
              <a:gd name="T78" fmla="*/ 463 w 3012"/>
              <a:gd name="T79" fmla="*/ 329 h 749"/>
              <a:gd name="T80" fmla="*/ 362 w 3012"/>
              <a:gd name="T81" fmla="*/ 329 h 749"/>
              <a:gd name="T82" fmla="*/ 282 w 3012"/>
              <a:gd name="T83" fmla="*/ 419 h 749"/>
              <a:gd name="T84" fmla="*/ 180 w 3012"/>
              <a:gd name="T85" fmla="*/ 465 h 749"/>
              <a:gd name="T86" fmla="*/ 78 w 3012"/>
              <a:gd name="T87" fmla="*/ 465 h 749"/>
              <a:gd name="T88" fmla="*/ 0 w 3012"/>
              <a:gd name="T89" fmla="*/ 422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012" h="749">
                <a:moveTo>
                  <a:pt x="48" y="86"/>
                </a:moveTo>
                <a:lnTo>
                  <a:pt x="101" y="34"/>
                </a:lnTo>
                <a:lnTo>
                  <a:pt x="135" y="12"/>
                </a:lnTo>
                <a:lnTo>
                  <a:pt x="169" y="0"/>
                </a:lnTo>
                <a:lnTo>
                  <a:pt x="203" y="0"/>
                </a:lnTo>
                <a:lnTo>
                  <a:pt x="237" y="0"/>
                </a:lnTo>
                <a:lnTo>
                  <a:pt x="271" y="12"/>
                </a:lnTo>
                <a:lnTo>
                  <a:pt x="305" y="23"/>
                </a:lnTo>
                <a:lnTo>
                  <a:pt x="339" y="34"/>
                </a:lnTo>
                <a:lnTo>
                  <a:pt x="373" y="57"/>
                </a:lnTo>
                <a:lnTo>
                  <a:pt x="384" y="91"/>
                </a:lnTo>
                <a:lnTo>
                  <a:pt x="407" y="125"/>
                </a:lnTo>
                <a:lnTo>
                  <a:pt x="407" y="159"/>
                </a:lnTo>
                <a:lnTo>
                  <a:pt x="441" y="182"/>
                </a:lnTo>
                <a:lnTo>
                  <a:pt x="475" y="193"/>
                </a:lnTo>
                <a:lnTo>
                  <a:pt x="509" y="193"/>
                </a:lnTo>
                <a:lnTo>
                  <a:pt x="554" y="204"/>
                </a:lnTo>
                <a:lnTo>
                  <a:pt x="588" y="216"/>
                </a:lnTo>
                <a:lnTo>
                  <a:pt x="622" y="227"/>
                </a:lnTo>
                <a:lnTo>
                  <a:pt x="713" y="238"/>
                </a:lnTo>
                <a:lnTo>
                  <a:pt x="803" y="249"/>
                </a:lnTo>
                <a:lnTo>
                  <a:pt x="894" y="249"/>
                </a:lnTo>
                <a:lnTo>
                  <a:pt x="973" y="261"/>
                </a:lnTo>
                <a:lnTo>
                  <a:pt x="1086" y="272"/>
                </a:lnTo>
                <a:lnTo>
                  <a:pt x="1177" y="283"/>
                </a:lnTo>
                <a:lnTo>
                  <a:pt x="1267" y="295"/>
                </a:lnTo>
                <a:lnTo>
                  <a:pt x="1335" y="295"/>
                </a:lnTo>
                <a:lnTo>
                  <a:pt x="1403" y="306"/>
                </a:lnTo>
                <a:lnTo>
                  <a:pt x="1494" y="317"/>
                </a:lnTo>
                <a:lnTo>
                  <a:pt x="1585" y="329"/>
                </a:lnTo>
                <a:lnTo>
                  <a:pt x="1630" y="340"/>
                </a:lnTo>
                <a:lnTo>
                  <a:pt x="1664" y="340"/>
                </a:lnTo>
                <a:lnTo>
                  <a:pt x="1743" y="351"/>
                </a:lnTo>
                <a:lnTo>
                  <a:pt x="1777" y="351"/>
                </a:lnTo>
                <a:lnTo>
                  <a:pt x="1811" y="351"/>
                </a:lnTo>
                <a:lnTo>
                  <a:pt x="1845" y="363"/>
                </a:lnTo>
                <a:lnTo>
                  <a:pt x="1879" y="363"/>
                </a:lnTo>
                <a:lnTo>
                  <a:pt x="1913" y="363"/>
                </a:lnTo>
                <a:lnTo>
                  <a:pt x="1947" y="363"/>
                </a:lnTo>
                <a:lnTo>
                  <a:pt x="1992" y="363"/>
                </a:lnTo>
                <a:lnTo>
                  <a:pt x="2026" y="374"/>
                </a:lnTo>
                <a:lnTo>
                  <a:pt x="2060" y="374"/>
                </a:lnTo>
                <a:lnTo>
                  <a:pt x="2139" y="374"/>
                </a:lnTo>
                <a:lnTo>
                  <a:pt x="2185" y="385"/>
                </a:lnTo>
                <a:lnTo>
                  <a:pt x="2275" y="385"/>
                </a:lnTo>
                <a:lnTo>
                  <a:pt x="2366" y="397"/>
                </a:lnTo>
                <a:lnTo>
                  <a:pt x="2456" y="397"/>
                </a:lnTo>
                <a:lnTo>
                  <a:pt x="2502" y="408"/>
                </a:lnTo>
                <a:lnTo>
                  <a:pt x="2547" y="408"/>
                </a:lnTo>
                <a:lnTo>
                  <a:pt x="2581" y="419"/>
                </a:lnTo>
                <a:lnTo>
                  <a:pt x="2615" y="419"/>
                </a:lnTo>
                <a:lnTo>
                  <a:pt x="2649" y="431"/>
                </a:lnTo>
                <a:lnTo>
                  <a:pt x="2683" y="431"/>
                </a:lnTo>
                <a:lnTo>
                  <a:pt x="2717" y="431"/>
                </a:lnTo>
                <a:lnTo>
                  <a:pt x="2751" y="431"/>
                </a:lnTo>
                <a:lnTo>
                  <a:pt x="2785" y="431"/>
                </a:lnTo>
                <a:lnTo>
                  <a:pt x="2819" y="431"/>
                </a:lnTo>
                <a:lnTo>
                  <a:pt x="2841" y="397"/>
                </a:lnTo>
                <a:lnTo>
                  <a:pt x="2853" y="363"/>
                </a:lnTo>
                <a:lnTo>
                  <a:pt x="2864" y="329"/>
                </a:lnTo>
                <a:lnTo>
                  <a:pt x="2875" y="295"/>
                </a:lnTo>
                <a:lnTo>
                  <a:pt x="2898" y="261"/>
                </a:lnTo>
                <a:lnTo>
                  <a:pt x="2932" y="295"/>
                </a:lnTo>
                <a:lnTo>
                  <a:pt x="2955" y="340"/>
                </a:lnTo>
                <a:lnTo>
                  <a:pt x="2966" y="431"/>
                </a:lnTo>
                <a:lnTo>
                  <a:pt x="2989" y="476"/>
                </a:lnTo>
                <a:lnTo>
                  <a:pt x="3000" y="510"/>
                </a:lnTo>
                <a:lnTo>
                  <a:pt x="3000" y="544"/>
                </a:lnTo>
                <a:lnTo>
                  <a:pt x="3011" y="578"/>
                </a:lnTo>
                <a:lnTo>
                  <a:pt x="3011" y="612"/>
                </a:lnTo>
                <a:lnTo>
                  <a:pt x="3000" y="646"/>
                </a:lnTo>
                <a:lnTo>
                  <a:pt x="2989" y="680"/>
                </a:lnTo>
                <a:lnTo>
                  <a:pt x="2977" y="714"/>
                </a:lnTo>
                <a:lnTo>
                  <a:pt x="2955" y="748"/>
                </a:lnTo>
                <a:lnTo>
                  <a:pt x="2921" y="736"/>
                </a:lnTo>
                <a:lnTo>
                  <a:pt x="2898" y="702"/>
                </a:lnTo>
                <a:lnTo>
                  <a:pt x="2875" y="668"/>
                </a:lnTo>
                <a:lnTo>
                  <a:pt x="2853" y="634"/>
                </a:lnTo>
                <a:lnTo>
                  <a:pt x="2807" y="634"/>
                </a:lnTo>
                <a:lnTo>
                  <a:pt x="2717" y="623"/>
                </a:lnTo>
                <a:lnTo>
                  <a:pt x="2683" y="623"/>
                </a:lnTo>
                <a:lnTo>
                  <a:pt x="2592" y="612"/>
                </a:lnTo>
                <a:lnTo>
                  <a:pt x="2558" y="612"/>
                </a:lnTo>
                <a:lnTo>
                  <a:pt x="2524" y="600"/>
                </a:lnTo>
                <a:lnTo>
                  <a:pt x="2479" y="600"/>
                </a:lnTo>
                <a:lnTo>
                  <a:pt x="2434" y="589"/>
                </a:lnTo>
                <a:lnTo>
                  <a:pt x="2400" y="589"/>
                </a:lnTo>
                <a:lnTo>
                  <a:pt x="2355" y="578"/>
                </a:lnTo>
                <a:lnTo>
                  <a:pt x="2321" y="578"/>
                </a:lnTo>
                <a:lnTo>
                  <a:pt x="2287" y="566"/>
                </a:lnTo>
                <a:lnTo>
                  <a:pt x="2253" y="566"/>
                </a:lnTo>
                <a:lnTo>
                  <a:pt x="2185" y="566"/>
                </a:lnTo>
                <a:lnTo>
                  <a:pt x="2105" y="566"/>
                </a:lnTo>
                <a:lnTo>
                  <a:pt x="2015" y="555"/>
                </a:lnTo>
                <a:lnTo>
                  <a:pt x="1902" y="544"/>
                </a:lnTo>
                <a:lnTo>
                  <a:pt x="1811" y="532"/>
                </a:lnTo>
                <a:lnTo>
                  <a:pt x="1720" y="521"/>
                </a:lnTo>
                <a:lnTo>
                  <a:pt x="1630" y="510"/>
                </a:lnTo>
                <a:lnTo>
                  <a:pt x="1539" y="499"/>
                </a:lnTo>
                <a:lnTo>
                  <a:pt x="1449" y="487"/>
                </a:lnTo>
                <a:lnTo>
                  <a:pt x="1415" y="487"/>
                </a:lnTo>
                <a:lnTo>
                  <a:pt x="1381" y="476"/>
                </a:lnTo>
                <a:lnTo>
                  <a:pt x="1347" y="465"/>
                </a:lnTo>
                <a:lnTo>
                  <a:pt x="1313" y="465"/>
                </a:lnTo>
                <a:lnTo>
                  <a:pt x="1279" y="465"/>
                </a:lnTo>
                <a:lnTo>
                  <a:pt x="1245" y="453"/>
                </a:lnTo>
                <a:lnTo>
                  <a:pt x="1166" y="453"/>
                </a:lnTo>
                <a:lnTo>
                  <a:pt x="1086" y="442"/>
                </a:lnTo>
                <a:lnTo>
                  <a:pt x="1007" y="431"/>
                </a:lnTo>
                <a:lnTo>
                  <a:pt x="916" y="408"/>
                </a:lnTo>
                <a:lnTo>
                  <a:pt x="837" y="397"/>
                </a:lnTo>
                <a:lnTo>
                  <a:pt x="747" y="385"/>
                </a:lnTo>
                <a:lnTo>
                  <a:pt x="713" y="374"/>
                </a:lnTo>
                <a:lnTo>
                  <a:pt x="667" y="363"/>
                </a:lnTo>
                <a:lnTo>
                  <a:pt x="633" y="351"/>
                </a:lnTo>
                <a:lnTo>
                  <a:pt x="599" y="351"/>
                </a:lnTo>
                <a:lnTo>
                  <a:pt x="565" y="340"/>
                </a:lnTo>
                <a:lnTo>
                  <a:pt x="531" y="340"/>
                </a:lnTo>
                <a:lnTo>
                  <a:pt x="497" y="329"/>
                </a:lnTo>
                <a:lnTo>
                  <a:pt x="463" y="329"/>
                </a:lnTo>
                <a:lnTo>
                  <a:pt x="429" y="317"/>
                </a:lnTo>
                <a:lnTo>
                  <a:pt x="396" y="317"/>
                </a:lnTo>
                <a:lnTo>
                  <a:pt x="362" y="329"/>
                </a:lnTo>
                <a:lnTo>
                  <a:pt x="339" y="363"/>
                </a:lnTo>
                <a:lnTo>
                  <a:pt x="316" y="397"/>
                </a:lnTo>
                <a:lnTo>
                  <a:pt x="282" y="419"/>
                </a:lnTo>
                <a:lnTo>
                  <a:pt x="248" y="442"/>
                </a:lnTo>
                <a:lnTo>
                  <a:pt x="214" y="453"/>
                </a:lnTo>
                <a:lnTo>
                  <a:pt x="180" y="465"/>
                </a:lnTo>
                <a:lnTo>
                  <a:pt x="146" y="476"/>
                </a:lnTo>
                <a:lnTo>
                  <a:pt x="112" y="476"/>
                </a:lnTo>
                <a:lnTo>
                  <a:pt x="78" y="465"/>
                </a:lnTo>
                <a:lnTo>
                  <a:pt x="44" y="453"/>
                </a:lnTo>
                <a:lnTo>
                  <a:pt x="11" y="419"/>
                </a:lnTo>
                <a:lnTo>
                  <a:pt x="0" y="422"/>
                </a:lnTo>
                <a:lnTo>
                  <a:pt x="48" y="86"/>
                </a:lnTo>
              </a:path>
            </a:pathLst>
          </a:custGeom>
          <a:gradFill rotWithShape="0">
            <a:gsLst>
              <a:gs pos="0">
                <a:srgbClr val="FFFF00"/>
              </a:gs>
              <a:gs pos="100000">
                <a:srgbClr val="FFFF00">
                  <a:gamma/>
                  <a:shade val="89804"/>
                  <a:invGamma/>
                </a:srgbClr>
              </a:gs>
            </a:gsLst>
            <a:path path="rect">
              <a:fillToRect r="100000" b="100000"/>
            </a:path>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19" name="Freeform 11"/>
          <p:cNvSpPr>
            <a:spLocks/>
          </p:cNvSpPr>
          <p:nvPr/>
        </p:nvSpPr>
        <p:spPr bwMode="auto">
          <a:xfrm>
            <a:off x="6015037" y="1969294"/>
            <a:ext cx="1120379" cy="889397"/>
          </a:xfrm>
          <a:custGeom>
            <a:avLst/>
            <a:gdLst>
              <a:gd name="T0" fmla="*/ 804 w 941"/>
              <a:gd name="T1" fmla="*/ 736 h 747"/>
              <a:gd name="T2" fmla="*/ 736 w 941"/>
              <a:gd name="T3" fmla="*/ 691 h 747"/>
              <a:gd name="T4" fmla="*/ 668 w 941"/>
              <a:gd name="T5" fmla="*/ 680 h 747"/>
              <a:gd name="T6" fmla="*/ 601 w 941"/>
              <a:gd name="T7" fmla="*/ 657 h 747"/>
              <a:gd name="T8" fmla="*/ 544 w 941"/>
              <a:gd name="T9" fmla="*/ 589 h 747"/>
              <a:gd name="T10" fmla="*/ 499 w 941"/>
              <a:gd name="T11" fmla="*/ 521 h 747"/>
              <a:gd name="T12" fmla="*/ 442 w 941"/>
              <a:gd name="T13" fmla="*/ 453 h 747"/>
              <a:gd name="T14" fmla="*/ 397 w 941"/>
              <a:gd name="T15" fmla="*/ 385 h 747"/>
              <a:gd name="T16" fmla="*/ 329 w 941"/>
              <a:gd name="T17" fmla="*/ 340 h 747"/>
              <a:gd name="T18" fmla="*/ 250 w 941"/>
              <a:gd name="T19" fmla="*/ 283 h 747"/>
              <a:gd name="T20" fmla="*/ 204 w 941"/>
              <a:gd name="T21" fmla="*/ 215 h 747"/>
              <a:gd name="T22" fmla="*/ 136 w 941"/>
              <a:gd name="T23" fmla="*/ 215 h 747"/>
              <a:gd name="T24" fmla="*/ 68 w 941"/>
              <a:gd name="T25" fmla="*/ 227 h 747"/>
              <a:gd name="T26" fmla="*/ 0 w 941"/>
              <a:gd name="T27" fmla="*/ 227 h 747"/>
              <a:gd name="T28" fmla="*/ 68 w 941"/>
              <a:gd name="T29" fmla="*/ 193 h 747"/>
              <a:gd name="T30" fmla="*/ 136 w 941"/>
              <a:gd name="T31" fmla="*/ 182 h 747"/>
              <a:gd name="T32" fmla="*/ 204 w 941"/>
              <a:gd name="T33" fmla="*/ 182 h 747"/>
              <a:gd name="T34" fmla="*/ 272 w 941"/>
              <a:gd name="T35" fmla="*/ 193 h 747"/>
              <a:gd name="T36" fmla="*/ 317 w 941"/>
              <a:gd name="T37" fmla="*/ 170 h 747"/>
              <a:gd name="T38" fmla="*/ 317 w 941"/>
              <a:gd name="T39" fmla="*/ 102 h 747"/>
              <a:gd name="T40" fmla="*/ 317 w 941"/>
              <a:gd name="T41" fmla="*/ 34 h 747"/>
              <a:gd name="T42" fmla="*/ 363 w 941"/>
              <a:gd name="T43" fmla="*/ 46 h 747"/>
              <a:gd name="T44" fmla="*/ 374 w 941"/>
              <a:gd name="T45" fmla="*/ 114 h 747"/>
              <a:gd name="T46" fmla="*/ 374 w 941"/>
              <a:gd name="T47" fmla="*/ 182 h 747"/>
              <a:gd name="T48" fmla="*/ 385 w 941"/>
              <a:gd name="T49" fmla="*/ 249 h 747"/>
              <a:gd name="T50" fmla="*/ 431 w 941"/>
              <a:gd name="T51" fmla="*/ 317 h 747"/>
              <a:gd name="T52" fmla="*/ 487 w 941"/>
              <a:gd name="T53" fmla="*/ 374 h 747"/>
              <a:gd name="T54" fmla="*/ 555 w 941"/>
              <a:gd name="T55" fmla="*/ 408 h 747"/>
              <a:gd name="T56" fmla="*/ 623 w 941"/>
              <a:gd name="T57" fmla="*/ 419 h 747"/>
              <a:gd name="T58" fmla="*/ 680 w 941"/>
              <a:gd name="T59" fmla="*/ 374 h 747"/>
              <a:gd name="T60" fmla="*/ 725 w 941"/>
              <a:gd name="T61" fmla="*/ 306 h 747"/>
              <a:gd name="T62" fmla="*/ 759 w 941"/>
              <a:gd name="T63" fmla="*/ 238 h 747"/>
              <a:gd name="T64" fmla="*/ 793 w 941"/>
              <a:gd name="T65" fmla="*/ 170 h 747"/>
              <a:gd name="T66" fmla="*/ 816 w 941"/>
              <a:gd name="T67" fmla="*/ 102 h 747"/>
              <a:gd name="T68" fmla="*/ 850 w 941"/>
              <a:gd name="T69" fmla="*/ 34 h 747"/>
              <a:gd name="T70" fmla="*/ 906 w 941"/>
              <a:gd name="T71" fmla="*/ 0 h 747"/>
              <a:gd name="T72" fmla="*/ 918 w 941"/>
              <a:gd name="T73" fmla="*/ 46 h 747"/>
              <a:gd name="T74" fmla="*/ 872 w 941"/>
              <a:gd name="T75" fmla="*/ 114 h 747"/>
              <a:gd name="T76" fmla="*/ 838 w 941"/>
              <a:gd name="T77" fmla="*/ 182 h 747"/>
              <a:gd name="T78" fmla="*/ 793 w 941"/>
              <a:gd name="T79" fmla="*/ 249 h 747"/>
              <a:gd name="T80" fmla="*/ 770 w 941"/>
              <a:gd name="T81" fmla="*/ 317 h 747"/>
              <a:gd name="T82" fmla="*/ 725 w 941"/>
              <a:gd name="T83" fmla="*/ 385 h 747"/>
              <a:gd name="T84" fmla="*/ 680 w 941"/>
              <a:gd name="T85" fmla="*/ 453 h 747"/>
              <a:gd name="T86" fmla="*/ 657 w 941"/>
              <a:gd name="T87" fmla="*/ 521 h 747"/>
              <a:gd name="T88" fmla="*/ 691 w 941"/>
              <a:gd name="T89" fmla="*/ 578 h 747"/>
              <a:gd name="T90" fmla="*/ 748 w 941"/>
              <a:gd name="T91" fmla="*/ 634 h 747"/>
              <a:gd name="T92" fmla="*/ 816 w 941"/>
              <a:gd name="T93" fmla="*/ 691 h 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41" h="747">
                <a:moveTo>
                  <a:pt x="852" y="746"/>
                </a:moveTo>
                <a:lnTo>
                  <a:pt x="804" y="736"/>
                </a:lnTo>
                <a:lnTo>
                  <a:pt x="770" y="714"/>
                </a:lnTo>
                <a:lnTo>
                  <a:pt x="736" y="691"/>
                </a:lnTo>
                <a:lnTo>
                  <a:pt x="702" y="691"/>
                </a:lnTo>
                <a:lnTo>
                  <a:pt x="668" y="680"/>
                </a:lnTo>
                <a:lnTo>
                  <a:pt x="635" y="668"/>
                </a:lnTo>
                <a:lnTo>
                  <a:pt x="601" y="657"/>
                </a:lnTo>
                <a:lnTo>
                  <a:pt x="567" y="623"/>
                </a:lnTo>
                <a:lnTo>
                  <a:pt x="544" y="589"/>
                </a:lnTo>
                <a:lnTo>
                  <a:pt x="510" y="555"/>
                </a:lnTo>
                <a:lnTo>
                  <a:pt x="499" y="521"/>
                </a:lnTo>
                <a:lnTo>
                  <a:pt x="465" y="487"/>
                </a:lnTo>
                <a:lnTo>
                  <a:pt x="442" y="453"/>
                </a:lnTo>
                <a:lnTo>
                  <a:pt x="431" y="419"/>
                </a:lnTo>
                <a:lnTo>
                  <a:pt x="397" y="385"/>
                </a:lnTo>
                <a:lnTo>
                  <a:pt x="363" y="363"/>
                </a:lnTo>
                <a:lnTo>
                  <a:pt x="329" y="340"/>
                </a:lnTo>
                <a:lnTo>
                  <a:pt x="283" y="306"/>
                </a:lnTo>
                <a:lnTo>
                  <a:pt x="250" y="283"/>
                </a:lnTo>
                <a:lnTo>
                  <a:pt x="216" y="249"/>
                </a:lnTo>
                <a:lnTo>
                  <a:pt x="204" y="215"/>
                </a:lnTo>
                <a:lnTo>
                  <a:pt x="170" y="215"/>
                </a:lnTo>
                <a:lnTo>
                  <a:pt x="136" y="215"/>
                </a:lnTo>
                <a:lnTo>
                  <a:pt x="102" y="227"/>
                </a:lnTo>
                <a:lnTo>
                  <a:pt x="68" y="227"/>
                </a:lnTo>
                <a:lnTo>
                  <a:pt x="34" y="227"/>
                </a:lnTo>
                <a:lnTo>
                  <a:pt x="0" y="227"/>
                </a:lnTo>
                <a:lnTo>
                  <a:pt x="34" y="204"/>
                </a:lnTo>
                <a:lnTo>
                  <a:pt x="68" y="193"/>
                </a:lnTo>
                <a:lnTo>
                  <a:pt x="102" y="193"/>
                </a:lnTo>
                <a:lnTo>
                  <a:pt x="136" y="182"/>
                </a:lnTo>
                <a:lnTo>
                  <a:pt x="170" y="182"/>
                </a:lnTo>
                <a:lnTo>
                  <a:pt x="204" y="182"/>
                </a:lnTo>
                <a:lnTo>
                  <a:pt x="238" y="193"/>
                </a:lnTo>
                <a:lnTo>
                  <a:pt x="272" y="193"/>
                </a:lnTo>
                <a:lnTo>
                  <a:pt x="306" y="204"/>
                </a:lnTo>
                <a:lnTo>
                  <a:pt x="317" y="170"/>
                </a:lnTo>
                <a:lnTo>
                  <a:pt x="317" y="136"/>
                </a:lnTo>
                <a:lnTo>
                  <a:pt x="317" y="102"/>
                </a:lnTo>
                <a:lnTo>
                  <a:pt x="317" y="68"/>
                </a:lnTo>
                <a:lnTo>
                  <a:pt x="317" y="34"/>
                </a:lnTo>
                <a:lnTo>
                  <a:pt x="351" y="12"/>
                </a:lnTo>
                <a:lnTo>
                  <a:pt x="363" y="46"/>
                </a:lnTo>
                <a:lnTo>
                  <a:pt x="374" y="80"/>
                </a:lnTo>
                <a:lnTo>
                  <a:pt x="374" y="114"/>
                </a:lnTo>
                <a:lnTo>
                  <a:pt x="374" y="148"/>
                </a:lnTo>
                <a:lnTo>
                  <a:pt x="374" y="182"/>
                </a:lnTo>
                <a:lnTo>
                  <a:pt x="374" y="215"/>
                </a:lnTo>
                <a:lnTo>
                  <a:pt x="385" y="249"/>
                </a:lnTo>
                <a:lnTo>
                  <a:pt x="397" y="283"/>
                </a:lnTo>
                <a:lnTo>
                  <a:pt x="431" y="317"/>
                </a:lnTo>
                <a:lnTo>
                  <a:pt x="453" y="351"/>
                </a:lnTo>
                <a:lnTo>
                  <a:pt x="487" y="374"/>
                </a:lnTo>
                <a:lnTo>
                  <a:pt x="521" y="408"/>
                </a:lnTo>
                <a:lnTo>
                  <a:pt x="555" y="408"/>
                </a:lnTo>
                <a:lnTo>
                  <a:pt x="589" y="419"/>
                </a:lnTo>
                <a:lnTo>
                  <a:pt x="623" y="419"/>
                </a:lnTo>
                <a:lnTo>
                  <a:pt x="657" y="408"/>
                </a:lnTo>
                <a:lnTo>
                  <a:pt x="680" y="374"/>
                </a:lnTo>
                <a:lnTo>
                  <a:pt x="702" y="340"/>
                </a:lnTo>
                <a:lnTo>
                  <a:pt x="725" y="306"/>
                </a:lnTo>
                <a:lnTo>
                  <a:pt x="736" y="272"/>
                </a:lnTo>
                <a:lnTo>
                  <a:pt x="759" y="238"/>
                </a:lnTo>
                <a:lnTo>
                  <a:pt x="770" y="204"/>
                </a:lnTo>
                <a:lnTo>
                  <a:pt x="793" y="170"/>
                </a:lnTo>
                <a:lnTo>
                  <a:pt x="804" y="136"/>
                </a:lnTo>
                <a:lnTo>
                  <a:pt x="816" y="102"/>
                </a:lnTo>
                <a:lnTo>
                  <a:pt x="838" y="68"/>
                </a:lnTo>
                <a:lnTo>
                  <a:pt x="850" y="34"/>
                </a:lnTo>
                <a:lnTo>
                  <a:pt x="872" y="0"/>
                </a:lnTo>
                <a:lnTo>
                  <a:pt x="906" y="0"/>
                </a:lnTo>
                <a:lnTo>
                  <a:pt x="940" y="12"/>
                </a:lnTo>
                <a:lnTo>
                  <a:pt x="918" y="46"/>
                </a:lnTo>
                <a:lnTo>
                  <a:pt x="895" y="80"/>
                </a:lnTo>
                <a:lnTo>
                  <a:pt x="872" y="114"/>
                </a:lnTo>
                <a:lnTo>
                  <a:pt x="850" y="148"/>
                </a:lnTo>
                <a:lnTo>
                  <a:pt x="838" y="182"/>
                </a:lnTo>
                <a:lnTo>
                  <a:pt x="816" y="215"/>
                </a:lnTo>
                <a:lnTo>
                  <a:pt x="793" y="249"/>
                </a:lnTo>
                <a:lnTo>
                  <a:pt x="782" y="283"/>
                </a:lnTo>
                <a:lnTo>
                  <a:pt x="770" y="317"/>
                </a:lnTo>
                <a:lnTo>
                  <a:pt x="748" y="351"/>
                </a:lnTo>
                <a:lnTo>
                  <a:pt x="725" y="385"/>
                </a:lnTo>
                <a:lnTo>
                  <a:pt x="702" y="419"/>
                </a:lnTo>
                <a:lnTo>
                  <a:pt x="680" y="453"/>
                </a:lnTo>
                <a:lnTo>
                  <a:pt x="657" y="487"/>
                </a:lnTo>
                <a:lnTo>
                  <a:pt x="657" y="521"/>
                </a:lnTo>
                <a:lnTo>
                  <a:pt x="657" y="555"/>
                </a:lnTo>
                <a:lnTo>
                  <a:pt x="691" y="578"/>
                </a:lnTo>
                <a:lnTo>
                  <a:pt x="725" y="600"/>
                </a:lnTo>
                <a:lnTo>
                  <a:pt x="748" y="634"/>
                </a:lnTo>
                <a:lnTo>
                  <a:pt x="782" y="668"/>
                </a:lnTo>
                <a:lnTo>
                  <a:pt x="816" y="691"/>
                </a:lnTo>
                <a:lnTo>
                  <a:pt x="852" y="746"/>
                </a:lnTo>
              </a:path>
            </a:pathLst>
          </a:custGeom>
          <a:gradFill rotWithShape="0">
            <a:gsLst>
              <a:gs pos="0">
                <a:srgbClr val="FFFF00"/>
              </a:gs>
              <a:gs pos="100000">
                <a:srgbClr val="FFFF00">
                  <a:gamma/>
                  <a:shade val="69804"/>
                  <a:invGamma/>
                </a:srgbClr>
              </a:gs>
            </a:gsLst>
            <a:path path="rect">
              <a:fillToRect r="100000" b="100000"/>
            </a:path>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20" name="Oval 12"/>
          <p:cNvSpPr>
            <a:spLocks noChangeArrowheads="1"/>
          </p:cNvSpPr>
          <p:nvPr/>
        </p:nvSpPr>
        <p:spPr bwMode="auto">
          <a:xfrm>
            <a:off x="7548563" y="3376613"/>
            <a:ext cx="161925" cy="2190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3021" name="Rectangle 13"/>
          <p:cNvSpPr>
            <a:spLocks noChangeArrowheads="1"/>
          </p:cNvSpPr>
          <p:nvPr/>
        </p:nvSpPr>
        <p:spPr bwMode="auto">
          <a:xfrm>
            <a:off x="1532335" y="4469606"/>
            <a:ext cx="1318471"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cell body</a:t>
            </a:r>
          </a:p>
        </p:txBody>
      </p:sp>
      <p:sp>
        <p:nvSpPr>
          <p:cNvPr id="43022" name="Rectangle 14"/>
          <p:cNvSpPr>
            <a:spLocks noChangeArrowheads="1"/>
          </p:cNvSpPr>
          <p:nvPr/>
        </p:nvSpPr>
        <p:spPr bwMode="auto">
          <a:xfrm>
            <a:off x="2561035" y="1040606"/>
            <a:ext cx="1392209"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dendrites</a:t>
            </a:r>
          </a:p>
        </p:txBody>
      </p:sp>
      <p:sp>
        <p:nvSpPr>
          <p:cNvPr id="43023" name="Rectangle 15"/>
          <p:cNvSpPr>
            <a:spLocks noChangeArrowheads="1"/>
          </p:cNvSpPr>
          <p:nvPr/>
        </p:nvSpPr>
        <p:spPr bwMode="auto">
          <a:xfrm>
            <a:off x="4675585" y="1955006"/>
            <a:ext cx="761909"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axon</a:t>
            </a:r>
          </a:p>
        </p:txBody>
      </p:sp>
      <p:sp>
        <p:nvSpPr>
          <p:cNvPr id="43024" name="Rectangle 16"/>
          <p:cNvSpPr>
            <a:spLocks noChangeArrowheads="1"/>
          </p:cNvSpPr>
          <p:nvPr/>
        </p:nvSpPr>
        <p:spPr bwMode="auto">
          <a:xfrm>
            <a:off x="3075385" y="1532335"/>
            <a:ext cx="1681391"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latin typeface="Arial Rounded MT Bold" pitchFamily="34" charset="0"/>
              </a:rPr>
              <a:t>axon hillock</a:t>
            </a:r>
          </a:p>
        </p:txBody>
      </p:sp>
      <p:sp>
        <p:nvSpPr>
          <p:cNvPr id="43025" name="Line 17"/>
          <p:cNvSpPr>
            <a:spLocks noChangeShapeType="1"/>
          </p:cNvSpPr>
          <p:nvPr/>
        </p:nvSpPr>
        <p:spPr bwMode="auto">
          <a:xfrm flipH="1">
            <a:off x="3373041" y="1829991"/>
            <a:ext cx="170259" cy="1702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26" name="Rectangle 18"/>
          <p:cNvSpPr>
            <a:spLocks noChangeArrowheads="1"/>
          </p:cNvSpPr>
          <p:nvPr/>
        </p:nvSpPr>
        <p:spPr bwMode="auto">
          <a:xfrm>
            <a:off x="4218385" y="3440906"/>
            <a:ext cx="1914467"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axon terminal</a:t>
            </a:r>
          </a:p>
        </p:txBody>
      </p:sp>
      <p:sp>
        <p:nvSpPr>
          <p:cNvPr id="43027" name="Line 19"/>
          <p:cNvSpPr>
            <a:spLocks noChangeShapeType="1"/>
          </p:cNvSpPr>
          <p:nvPr/>
        </p:nvSpPr>
        <p:spPr bwMode="auto">
          <a:xfrm flipV="1">
            <a:off x="5258991" y="3030141"/>
            <a:ext cx="970359" cy="3988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3028" name="Rectangle 20"/>
          <p:cNvSpPr>
            <a:spLocks noChangeArrowheads="1"/>
          </p:cNvSpPr>
          <p:nvPr/>
        </p:nvSpPr>
        <p:spPr bwMode="auto">
          <a:xfrm>
            <a:off x="6161485" y="4069556"/>
            <a:ext cx="1223573"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synapse</a:t>
            </a:r>
          </a:p>
        </p:txBody>
      </p:sp>
      <p:sp>
        <p:nvSpPr>
          <p:cNvPr id="43029" name="Line 21"/>
          <p:cNvSpPr>
            <a:spLocks noChangeShapeType="1"/>
          </p:cNvSpPr>
          <p:nvPr/>
        </p:nvSpPr>
        <p:spPr bwMode="auto">
          <a:xfrm flipH="1" flipV="1">
            <a:off x="6630591" y="2801541"/>
            <a:ext cx="113109" cy="11989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 name="TextBox 1">
            <a:extLst>
              <a:ext uri="{FF2B5EF4-FFF2-40B4-BE49-F238E27FC236}">
                <a16:creationId xmlns:a16="http://schemas.microsoft.com/office/drawing/2014/main" id="{0BC6B0FA-0CBB-4E3C-947F-BE5A3C013F12}"/>
              </a:ext>
            </a:extLst>
          </p:cNvPr>
          <p:cNvSpPr txBox="1"/>
          <p:nvPr/>
        </p:nvSpPr>
        <p:spPr>
          <a:xfrm>
            <a:off x="4262686" y="636739"/>
            <a:ext cx="4773810" cy="738664"/>
          </a:xfrm>
          <a:prstGeom prst="rect">
            <a:avLst/>
          </a:prstGeom>
          <a:noFill/>
        </p:spPr>
        <p:txBody>
          <a:bodyPr wrap="square" rtlCol="0">
            <a:spAutoFit/>
          </a:bodyPr>
          <a:lstStyle/>
          <a:p>
            <a:r>
              <a:rPr lang="en-MY" sz="2100" dirty="0"/>
              <a:t>Anterograde : </a:t>
            </a:r>
            <a:r>
              <a:rPr lang="en-MY" sz="2100" dirty="0">
                <a:solidFill>
                  <a:srgbClr val="0070C0"/>
                </a:solidFill>
              </a:rPr>
              <a:t>Cell body to terminal</a:t>
            </a:r>
          </a:p>
          <a:p>
            <a:r>
              <a:rPr lang="en-MY" sz="2100" dirty="0"/>
              <a:t>Retrograde : </a:t>
            </a:r>
            <a:r>
              <a:rPr lang="en-MY" sz="2100" dirty="0">
                <a:solidFill>
                  <a:srgbClr val="0070C0"/>
                </a:solidFill>
              </a:rPr>
              <a:t>Terminal to cell body</a:t>
            </a:r>
          </a:p>
        </p:txBody>
      </p:sp>
    </p:spTree>
    <p:extLst>
      <p:ext uri="{BB962C8B-B14F-4D97-AF65-F5344CB8AC3E}">
        <p14:creationId xmlns:p14="http://schemas.microsoft.com/office/powerpoint/2010/main" val="304348346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barn(inVertical)">
                                      <p:cBhvr>
                                        <p:cTn id="7" dur="500"/>
                                        <p:tgtEl>
                                          <p:spTgt spid="430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3024"/>
                                        </p:tgtEl>
                                        <p:attrNameLst>
                                          <p:attrName>style.visibility</p:attrName>
                                        </p:attrNameLst>
                                      </p:cBhvr>
                                      <p:to>
                                        <p:strVal val="visible"/>
                                      </p:to>
                                    </p:set>
                                    <p:animEffect transition="in" filter="barn(inVertical)">
                                      <p:cBhvr>
                                        <p:cTn id="12" dur="500"/>
                                        <p:tgtEl>
                                          <p:spTgt spid="43024"/>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43025"/>
                                        </p:tgtEl>
                                        <p:attrNameLst>
                                          <p:attrName>style.visibility</p:attrName>
                                        </p:attrNameLst>
                                      </p:cBhvr>
                                      <p:to>
                                        <p:strVal val="visible"/>
                                      </p:to>
                                    </p:set>
                                    <p:animEffect transition="in" filter="barn(inVertical)">
                                      <p:cBhvr>
                                        <p:cTn id="15" dur="500"/>
                                        <p:tgtEl>
                                          <p:spTgt spid="4302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nimBg="1"/>
      <p:bldP spid="43024" grpId="0"/>
      <p:bldP spid="43025" grpId="0" animBg="1"/>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9155"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9156" name="Rectangle 4"/>
          <p:cNvSpPr>
            <a:spLocks noChangeArrowheads="1"/>
          </p:cNvSpPr>
          <p:nvPr/>
        </p:nvSpPr>
        <p:spPr bwMode="auto">
          <a:xfrm>
            <a:off x="395536" y="195486"/>
            <a:ext cx="8352928" cy="71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866" tIns="33338" rIns="67866" bIns="33338">
            <a:spAutoFit/>
          </a:bodyPr>
          <a:lstStyle/>
          <a:p>
            <a:pPr defTabSz="571500"/>
            <a:r>
              <a:rPr lang="en-GB" sz="2100" dirty="0">
                <a:latin typeface="Arial Rounded MT Bold" pitchFamily="34" charset="0"/>
              </a:rPr>
              <a:t>Once an </a:t>
            </a:r>
            <a:r>
              <a:rPr lang="en-GB" sz="2100" dirty="0" err="1">
                <a:latin typeface="Arial Rounded MT Bold" pitchFamily="34" charset="0"/>
              </a:rPr>
              <a:t>a.p</a:t>
            </a:r>
            <a:r>
              <a:rPr lang="en-GB" sz="2100" dirty="0">
                <a:latin typeface="Arial Rounded MT Bold" pitchFamily="34" charset="0"/>
              </a:rPr>
              <a:t>. has been generated in the axon hillock, how does it travel down the axon?</a:t>
            </a:r>
          </a:p>
        </p:txBody>
      </p:sp>
      <p:sp>
        <p:nvSpPr>
          <p:cNvPr id="49157" name="Oval 5"/>
          <p:cNvSpPr>
            <a:spLocks noChangeArrowheads="1"/>
          </p:cNvSpPr>
          <p:nvPr/>
        </p:nvSpPr>
        <p:spPr bwMode="auto">
          <a:xfrm>
            <a:off x="190500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9158" name="Oval 6"/>
          <p:cNvSpPr>
            <a:spLocks noChangeArrowheads="1"/>
          </p:cNvSpPr>
          <p:nvPr/>
        </p:nvSpPr>
        <p:spPr bwMode="auto">
          <a:xfrm>
            <a:off x="653415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49159" name="Line 7"/>
          <p:cNvSpPr>
            <a:spLocks noChangeShapeType="1"/>
          </p:cNvSpPr>
          <p:nvPr/>
        </p:nvSpPr>
        <p:spPr bwMode="auto">
          <a:xfrm>
            <a:off x="2172891" y="18288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9160" name="Line 8"/>
          <p:cNvSpPr>
            <a:spLocks noChangeShapeType="1"/>
          </p:cNvSpPr>
          <p:nvPr/>
        </p:nvSpPr>
        <p:spPr bwMode="auto">
          <a:xfrm>
            <a:off x="2172891" y="35433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9161" name="Rectangle 9"/>
          <p:cNvSpPr>
            <a:spLocks noChangeArrowheads="1"/>
          </p:cNvSpPr>
          <p:nvPr/>
        </p:nvSpPr>
        <p:spPr bwMode="auto">
          <a:xfrm>
            <a:off x="25038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49162" name="Rectangle 10"/>
          <p:cNvSpPr>
            <a:spLocks noChangeArrowheads="1"/>
          </p:cNvSpPr>
          <p:nvPr/>
        </p:nvSpPr>
        <p:spPr bwMode="auto">
          <a:xfrm>
            <a:off x="44469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49163" name="Rectangle 11"/>
          <p:cNvSpPr>
            <a:spLocks noChangeArrowheads="1"/>
          </p:cNvSpPr>
          <p:nvPr/>
        </p:nvSpPr>
        <p:spPr bwMode="auto">
          <a:xfrm>
            <a:off x="3475125" y="1459520"/>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49164" name="Rectangle 12"/>
          <p:cNvSpPr>
            <a:spLocks noChangeArrowheads="1"/>
          </p:cNvSpPr>
          <p:nvPr/>
        </p:nvSpPr>
        <p:spPr bwMode="auto">
          <a:xfrm>
            <a:off x="25610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49165" name="Rectangle 13"/>
          <p:cNvSpPr>
            <a:spLocks noChangeArrowheads="1"/>
          </p:cNvSpPr>
          <p:nvPr/>
        </p:nvSpPr>
        <p:spPr bwMode="auto">
          <a:xfrm>
            <a:off x="45041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49166" name="Arc 14"/>
          <p:cNvSpPr>
            <a:spLocks/>
          </p:cNvSpPr>
          <p:nvPr/>
        </p:nvSpPr>
        <p:spPr bwMode="auto">
          <a:xfrm>
            <a:off x="325874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9167" name="Arc 15"/>
          <p:cNvSpPr>
            <a:spLocks/>
          </p:cNvSpPr>
          <p:nvPr/>
        </p:nvSpPr>
        <p:spPr bwMode="auto">
          <a:xfrm>
            <a:off x="417314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9168" name="Freeform 16"/>
          <p:cNvSpPr>
            <a:spLocks/>
          </p:cNvSpPr>
          <p:nvPr/>
        </p:nvSpPr>
        <p:spPr bwMode="auto">
          <a:xfrm>
            <a:off x="3314701" y="1828800"/>
            <a:ext cx="1137047" cy="1701404"/>
          </a:xfrm>
          <a:custGeom>
            <a:avLst/>
            <a:gdLst>
              <a:gd name="T0" fmla="*/ 48 w 955"/>
              <a:gd name="T1" fmla="*/ 13 h 1429"/>
              <a:gd name="T2" fmla="*/ 116 w 955"/>
              <a:gd name="T3" fmla="*/ 13 h 1429"/>
              <a:gd name="T4" fmla="*/ 184 w 955"/>
              <a:gd name="T5" fmla="*/ 13 h 1429"/>
              <a:gd name="T6" fmla="*/ 252 w 955"/>
              <a:gd name="T7" fmla="*/ 13 h 1429"/>
              <a:gd name="T8" fmla="*/ 320 w 955"/>
              <a:gd name="T9" fmla="*/ 13 h 1429"/>
              <a:gd name="T10" fmla="*/ 388 w 955"/>
              <a:gd name="T11" fmla="*/ 13 h 1429"/>
              <a:gd name="T12" fmla="*/ 456 w 955"/>
              <a:gd name="T13" fmla="*/ 13 h 1429"/>
              <a:gd name="T14" fmla="*/ 524 w 955"/>
              <a:gd name="T15" fmla="*/ 13 h 1429"/>
              <a:gd name="T16" fmla="*/ 592 w 955"/>
              <a:gd name="T17" fmla="*/ 24 h 1429"/>
              <a:gd name="T18" fmla="*/ 660 w 955"/>
              <a:gd name="T19" fmla="*/ 35 h 1429"/>
              <a:gd name="T20" fmla="*/ 728 w 955"/>
              <a:gd name="T21" fmla="*/ 24 h 1429"/>
              <a:gd name="T22" fmla="*/ 796 w 955"/>
              <a:gd name="T23" fmla="*/ 58 h 1429"/>
              <a:gd name="T24" fmla="*/ 818 w 955"/>
              <a:gd name="T25" fmla="*/ 126 h 1429"/>
              <a:gd name="T26" fmla="*/ 841 w 955"/>
              <a:gd name="T27" fmla="*/ 194 h 1429"/>
              <a:gd name="T28" fmla="*/ 863 w 955"/>
              <a:gd name="T29" fmla="*/ 262 h 1429"/>
              <a:gd name="T30" fmla="*/ 886 w 955"/>
              <a:gd name="T31" fmla="*/ 330 h 1429"/>
              <a:gd name="T32" fmla="*/ 897 w 955"/>
              <a:gd name="T33" fmla="*/ 398 h 1429"/>
              <a:gd name="T34" fmla="*/ 920 w 955"/>
              <a:gd name="T35" fmla="*/ 466 h 1429"/>
              <a:gd name="T36" fmla="*/ 931 w 955"/>
              <a:gd name="T37" fmla="*/ 533 h 1429"/>
              <a:gd name="T38" fmla="*/ 943 w 955"/>
              <a:gd name="T39" fmla="*/ 601 h 1429"/>
              <a:gd name="T40" fmla="*/ 943 w 955"/>
              <a:gd name="T41" fmla="*/ 669 h 1429"/>
              <a:gd name="T42" fmla="*/ 954 w 955"/>
              <a:gd name="T43" fmla="*/ 737 h 1429"/>
              <a:gd name="T44" fmla="*/ 954 w 955"/>
              <a:gd name="T45" fmla="*/ 805 h 1429"/>
              <a:gd name="T46" fmla="*/ 954 w 955"/>
              <a:gd name="T47" fmla="*/ 873 h 1429"/>
              <a:gd name="T48" fmla="*/ 954 w 955"/>
              <a:gd name="T49" fmla="*/ 952 h 1429"/>
              <a:gd name="T50" fmla="*/ 954 w 955"/>
              <a:gd name="T51" fmla="*/ 1020 h 1429"/>
              <a:gd name="T52" fmla="*/ 954 w 955"/>
              <a:gd name="T53" fmla="*/ 1088 h 1429"/>
              <a:gd name="T54" fmla="*/ 954 w 955"/>
              <a:gd name="T55" fmla="*/ 1156 h 1429"/>
              <a:gd name="T56" fmla="*/ 954 w 955"/>
              <a:gd name="T57" fmla="*/ 1224 h 1429"/>
              <a:gd name="T58" fmla="*/ 954 w 955"/>
              <a:gd name="T59" fmla="*/ 1292 h 1429"/>
              <a:gd name="T60" fmla="*/ 954 w 955"/>
              <a:gd name="T61" fmla="*/ 1360 h 1429"/>
              <a:gd name="T62" fmla="*/ 954 w 955"/>
              <a:gd name="T63" fmla="*/ 1428 h 1429"/>
              <a:gd name="T64" fmla="*/ 886 w 955"/>
              <a:gd name="T65" fmla="*/ 1428 h 1429"/>
              <a:gd name="T66" fmla="*/ 818 w 955"/>
              <a:gd name="T67" fmla="*/ 1428 h 1429"/>
              <a:gd name="T68" fmla="*/ 750 w 955"/>
              <a:gd name="T69" fmla="*/ 1428 h 1429"/>
              <a:gd name="T70" fmla="*/ 682 w 955"/>
              <a:gd name="T71" fmla="*/ 1428 h 1429"/>
              <a:gd name="T72" fmla="*/ 614 w 955"/>
              <a:gd name="T73" fmla="*/ 1428 h 1429"/>
              <a:gd name="T74" fmla="*/ 546 w 955"/>
              <a:gd name="T75" fmla="*/ 1428 h 1429"/>
              <a:gd name="T76" fmla="*/ 467 w 955"/>
              <a:gd name="T77" fmla="*/ 1428 h 1429"/>
              <a:gd name="T78" fmla="*/ 399 w 955"/>
              <a:gd name="T79" fmla="*/ 1428 h 1429"/>
              <a:gd name="T80" fmla="*/ 331 w 955"/>
              <a:gd name="T81" fmla="*/ 1428 h 1429"/>
              <a:gd name="T82" fmla="*/ 263 w 955"/>
              <a:gd name="T83" fmla="*/ 1428 h 1429"/>
              <a:gd name="T84" fmla="*/ 207 w 955"/>
              <a:gd name="T85" fmla="*/ 1394 h 1429"/>
              <a:gd name="T86" fmla="*/ 207 w 955"/>
              <a:gd name="T87" fmla="*/ 1326 h 1429"/>
              <a:gd name="T88" fmla="*/ 207 w 955"/>
              <a:gd name="T89" fmla="*/ 1258 h 1429"/>
              <a:gd name="T90" fmla="*/ 195 w 955"/>
              <a:gd name="T91" fmla="*/ 1179 h 1429"/>
              <a:gd name="T92" fmla="*/ 195 w 955"/>
              <a:gd name="T93" fmla="*/ 1111 h 1429"/>
              <a:gd name="T94" fmla="*/ 195 w 955"/>
              <a:gd name="T95" fmla="*/ 1043 h 1429"/>
              <a:gd name="T96" fmla="*/ 195 w 955"/>
              <a:gd name="T97" fmla="*/ 975 h 1429"/>
              <a:gd name="T98" fmla="*/ 184 w 955"/>
              <a:gd name="T99" fmla="*/ 907 h 1429"/>
              <a:gd name="T100" fmla="*/ 173 w 955"/>
              <a:gd name="T101" fmla="*/ 839 h 1429"/>
              <a:gd name="T102" fmla="*/ 173 w 955"/>
              <a:gd name="T103" fmla="*/ 771 h 1429"/>
              <a:gd name="T104" fmla="*/ 173 w 955"/>
              <a:gd name="T105" fmla="*/ 703 h 1429"/>
              <a:gd name="T106" fmla="*/ 161 w 955"/>
              <a:gd name="T107" fmla="*/ 635 h 1429"/>
              <a:gd name="T108" fmla="*/ 150 w 955"/>
              <a:gd name="T109" fmla="*/ 567 h 1429"/>
              <a:gd name="T110" fmla="*/ 150 w 955"/>
              <a:gd name="T111" fmla="*/ 499 h 1429"/>
              <a:gd name="T112" fmla="*/ 150 w 955"/>
              <a:gd name="T113" fmla="*/ 432 h 1429"/>
              <a:gd name="T114" fmla="*/ 127 w 955"/>
              <a:gd name="T115" fmla="*/ 364 h 1429"/>
              <a:gd name="T116" fmla="*/ 105 w 955"/>
              <a:gd name="T117" fmla="*/ 296 h 1429"/>
              <a:gd name="T118" fmla="*/ 82 w 955"/>
              <a:gd name="T119" fmla="*/ 228 h 1429"/>
              <a:gd name="T120" fmla="*/ 60 w 955"/>
              <a:gd name="T121" fmla="*/ 160 h 1429"/>
              <a:gd name="T122" fmla="*/ 37 w 955"/>
              <a:gd name="T123" fmla="*/ 92 h 1429"/>
              <a:gd name="T124" fmla="*/ 0 w 955"/>
              <a:gd name="T125" fmla="*/ 0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55" h="1429">
                <a:moveTo>
                  <a:pt x="0" y="0"/>
                </a:moveTo>
                <a:lnTo>
                  <a:pt x="48" y="13"/>
                </a:lnTo>
                <a:lnTo>
                  <a:pt x="82" y="13"/>
                </a:lnTo>
                <a:lnTo>
                  <a:pt x="116" y="13"/>
                </a:lnTo>
                <a:lnTo>
                  <a:pt x="150" y="13"/>
                </a:lnTo>
                <a:lnTo>
                  <a:pt x="184" y="13"/>
                </a:lnTo>
                <a:lnTo>
                  <a:pt x="218" y="13"/>
                </a:lnTo>
                <a:lnTo>
                  <a:pt x="252" y="13"/>
                </a:lnTo>
                <a:lnTo>
                  <a:pt x="286" y="13"/>
                </a:lnTo>
                <a:lnTo>
                  <a:pt x="320" y="13"/>
                </a:lnTo>
                <a:lnTo>
                  <a:pt x="354" y="13"/>
                </a:lnTo>
                <a:lnTo>
                  <a:pt x="388" y="13"/>
                </a:lnTo>
                <a:lnTo>
                  <a:pt x="422" y="13"/>
                </a:lnTo>
                <a:lnTo>
                  <a:pt x="456" y="13"/>
                </a:lnTo>
                <a:lnTo>
                  <a:pt x="490" y="13"/>
                </a:lnTo>
                <a:lnTo>
                  <a:pt x="524" y="13"/>
                </a:lnTo>
                <a:lnTo>
                  <a:pt x="558" y="24"/>
                </a:lnTo>
                <a:lnTo>
                  <a:pt x="592" y="24"/>
                </a:lnTo>
                <a:lnTo>
                  <a:pt x="626" y="35"/>
                </a:lnTo>
                <a:lnTo>
                  <a:pt x="660" y="35"/>
                </a:lnTo>
                <a:lnTo>
                  <a:pt x="694" y="35"/>
                </a:lnTo>
                <a:lnTo>
                  <a:pt x="728" y="24"/>
                </a:lnTo>
                <a:lnTo>
                  <a:pt x="762" y="35"/>
                </a:lnTo>
                <a:lnTo>
                  <a:pt x="796" y="58"/>
                </a:lnTo>
                <a:lnTo>
                  <a:pt x="807" y="92"/>
                </a:lnTo>
                <a:lnTo>
                  <a:pt x="818" y="126"/>
                </a:lnTo>
                <a:lnTo>
                  <a:pt x="830" y="160"/>
                </a:lnTo>
                <a:lnTo>
                  <a:pt x="841" y="194"/>
                </a:lnTo>
                <a:lnTo>
                  <a:pt x="852" y="228"/>
                </a:lnTo>
                <a:lnTo>
                  <a:pt x="863" y="262"/>
                </a:lnTo>
                <a:lnTo>
                  <a:pt x="875" y="296"/>
                </a:lnTo>
                <a:lnTo>
                  <a:pt x="886" y="330"/>
                </a:lnTo>
                <a:lnTo>
                  <a:pt x="897" y="364"/>
                </a:lnTo>
                <a:lnTo>
                  <a:pt x="897" y="398"/>
                </a:lnTo>
                <a:lnTo>
                  <a:pt x="909" y="432"/>
                </a:lnTo>
                <a:lnTo>
                  <a:pt x="920" y="466"/>
                </a:lnTo>
                <a:lnTo>
                  <a:pt x="920" y="499"/>
                </a:lnTo>
                <a:lnTo>
                  <a:pt x="931" y="533"/>
                </a:lnTo>
                <a:lnTo>
                  <a:pt x="943" y="567"/>
                </a:lnTo>
                <a:lnTo>
                  <a:pt x="943" y="601"/>
                </a:lnTo>
                <a:lnTo>
                  <a:pt x="943" y="635"/>
                </a:lnTo>
                <a:lnTo>
                  <a:pt x="943" y="669"/>
                </a:lnTo>
                <a:lnTo>
                  <a:pt x="954" y="703"/>
                </a:lnTo>
                <a:lnTo>
                  <a:pt x="954" y="737"/>
                </a:lnTo>
                <a:lnTo>
                  <a:pt x="954" y="771"/>
                </a:lnTo>
                <a:lnTo>
                  <a:pt x="954" y="805"/>
                </a:lnTo>
                <a:lnTo>
                  <a:pt x="954" y="839"/>
                </a:lnTo>
                <a:lnTo>
                  <a:pt x="954" y="873"/>
                </a:lnTo>
                <a:lnTo>
                  <a:pt x="954" y="918"/>
                </a:lnTo>
                <a:lnTo>
                  <a:pt x="954" y="952"/>
                </a:lnTo>
                <a:lnTo>
                  <a:pt x="954" y="986"/>
                </a:lnTo>
                <a:lnTo>
                  <a:pt x="954" y="1020"/>
                </a:lnTo>
                <a:lnTo>
                  <a:pt x="954" y="1054"/>
                </a:lnTo>
                <a:lnTo>
                  <a:pt x="954" y="1088"/>
                </a:lnTo>
                <a:lnTo>
                  <a:pt x="954" y="1122"/>
                </a:lnTo>
                <a:lnTo>
                  <a:pt x="954" y="1156"/>
                </a:lnTo>
                <a:lnTo>
                  <a:pt x="954" y="1190"/>
                </a:lnTo>
                <a:lnTo>
                  <a:pt x="954" y="1224"/>
                </a:lnTo>
                <a:lnTo>
                  <a:pt x="954" y="1258"/>
                </a:lnTo>
                <a:lnTo>
                  <a:pt x="954" y="1292"/>
                </a:lnTo>
                <a:lnTo>
                  <a:pt x="954" y="1326"/>
                </a:lnTo>
                <a:lnTo>
                  <a:pt x="954" y="1360"/>
                </a:lnTo>
                <a:lnTo>
                  <a:pt x="954" y="1394"/>
                </a:lnTo>
                <a:lnTo>
                  <a:pt x="954" y="1428"/>
                </a:lnTo>
                <a:lnTo>
                  <a:pt x="920" y="1428"/>
                </a:lnTo>
                <a:lnTo>
                  <a:pt x="886" y="1428"/>
                </a:lnTo>
                <a:lnTo>
                  <a:pt x="852" y="1428"/>
                </a:lnTo>
                <a:lnTo>
                  <a:pt x="818" y="1428"/>
                </a:lnTo>
                <a:lnTo>
                  <a:pt x="784" y="1428"/>
                </a:lnTo>
                <a:lnTo>
                  <a:pt x="750" y="1428"/>
                </a:lnTo>
                <a:lnTo>
                  <a:pt x="716" y="1428"/>
                </a:lnTo>
                <a:lnTo>
                  <a:pt x="682" y="1428"/>
                </a:lnTo>
                <a:lnTo>
                  <a:pt x="648" y="1428"/>
                </a:lnTo>
                <a:lnTo>
                  <a:pt x="614" y="1428"/>
                </a:lnTo>
                <a:lnTo>
                  <a:pt x="580" y="1428"/>
                </a:lnTo>
                <a:lnTo>
                  <a:pt x="546" y="1428"/>
                </a:lnTo>
                <a:lnTo>
                  <a:pt x="512" y="1428"/>
                </a:lnTo>
                <a:lnTo>
                  <a:pt x="467" y="1428"/>
                </a:lnTo>
                <a:lnTo>
                  <a:pt x="433" y="1428"/>
                </a:lnTo>
                <a:lnTo>
                  <a:pt x="399" y="1428"/>
                </a:lnTo>
                <a:lnTo>
                  <a:pt x="365" y="1428"/>
                </a:lnTo>
                <a:lnTo>
                  <a:pt x="331" y="1428"/>
                </a:lnTo>
                <a:lnTo>
                  <a:pt x="297" y="1428"/>
                </a:lnTo>
                <a:lnTo>
                  <a:pt x="263" y="1428"/>
                </a:lnTo>
                <a:lnTo>
                  <a:pt x="229" y="1428"/>
                </a:lnTo>
                <a:lnTo>
                  <a:pt x="207" y="1394"/>
                </a:lnTo>
                <a:lnTo>
                  <a:pt x="207" y="1360"/>
                </a:lnTo>
                <a:lnTo>
                  <a:pt x="207" y="1326"/>
                </a:lnTo>
                <a:lnTo>
                  <a:pt x="207" y="1292"/>
                </a:lnTo>
                <a:lnTo>
                  <a:pt x="207" y="1258"/>
                </a:lnTo>
                <a:lnTo>
                  <a:pt x="207" y="1213"/>
                </a:lnTo>
                <a:lnTo>
                  <a:pt x="195" y="1179"/>
                </a:lnTo>
                <a:lnTo>
                  <a:pt x="195" y="1145"/>
                </a:lnTo>
                <a:lnTo>
                  <a:pt x="195" y="1111"/>
                </a:lnTo>
                <a:lnTo>
                  <a:pt x="195" y="1077"/>
                </a:lnTo>
                <a:lnTo>
                  <a:pt x="195" y="1043"/>
                </a:lnTo>
                <a:lnTo>
                  <a:pt x="195" y="1009"/>
                </a:lnTo>
                <a:lnTo>
                  <a:pt x="195" y="975"/>
                </a:lnTo>
                <a:lnTo>
                  <a:pt x="184" y="941"/>
                </a:lnTo>
                <a:lnTo>
                  <a:pt x="184" y="907"/>
                </a:lnTo>
                <a:lnTo>
                  <a:pt x="173" y="873"/>
                </a:lnTo>
                <a:lnTo>
                  <a:pt x="173" y="839"/>
                </a:lnTo>
                <a:lnTo>
                  <a:pt x="173" y="805"/>
                </a:lnTo>
                <a:lnTo>
                  <a:pt x="173" y="771"/>
                </a:lnTo>
                <a:lnTo>
                  <a:pt x="173" y="737"/>
                </a:lnTo>
                <a:lnTo>
                  <a:pt x="173" y="703"/>
                </a:lnTo>
                <a:lnTo>
                  <a:pt x="173" y="669"/>
                </a:lnTo>
                <a:lnTo>
                  <a:pt x="161" y="635"/>
                </a:lnTo>
                <a:lnTo>
                  <a:pt x="161" y="601"/>
                </a:lnTo>
                <a:lnTo>
                  <a:pt x="150" y="567"/>
                </a:lnTo>
                <a:lnTo>
                  <a:pt x="150" y="533"/>
                </a:lnTo>
                <a:lnTo>
                  <a:pt x="150" y="499"/>
                </a:lnTo>
                <a:lnTo>
                  <a:pt x="150" y="466"/>
                </a:lnTo>
                <a:lnTo>
                  <a:pt x="150" y="432"/>
                </a:lnTo>
                <a:lnTo>
                  <a:pt x="139" y="398"/>
                </a:lnTo>
                <a:lnTo>
                  <a:pt x="127" y="364"/>
                </a:lnTo>
                <a:lnTo>
                  <a:pt x="105" y="330"/>
                </a:lnTo>
                <a:lnTo>
                  <a:pt x="105" y="296"/>
                </a:lnTo>
                <a:lnTo>
                  <a:pt x="93" y="262"/>
                </a:lnTo>
                <a:lnTo>
                  <a:pt x="82" y="228"/>
                </a:lnTo>
                <a:lnTo>
                  <a:pt x="71" y="194"/>
                </a:lnTo>
                <a:lnTo>
                  <a:pt x="60" y="160"/>
                </a:lnTo>
                <a:lnTo>
                  <a:pt x="48" y="126"/>
                </a:lnTo>
                <a:lnTo>
                  <a:pt x="37" y="92"/>
                </a:lnTo>
                <a:lnTo>
                  <a:pt x="37" y="58"/>
                </a:lnTo>
                <a:lnTo>
                  <a:pt x="0" y="0"/>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9169" name="Rectangle 17"/>
          <p:cNvSpPr>
            <a:spLocks noChangeArrowheads="1"/>
          </p:cNvSpPr>
          <p:nvPr/>
        </p:nvSpPr>
        <p:spPr bwMode="auto">
          <a:xfrm>
            <a:off x="3475435" y="18407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49170" name="Line 18"/>
          <p:cNvSpPr>
            <a:spLocks noChangeShapeType="1"/>
          </p:cNvSpPr>
          <p:nvPr/>
        </p:nvSpPr>
        <p:spPr bwMode="auto">
          <a:xfrm>
            <a:off x="5544741" y="18288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9171" name="Line 19"/>
          <p:cNvSpPr>
            <a:spLocks noChangeShapeType="1"/>
          </p:cNvSpPr>
          <p:nvPr/>
        </p:nvSpPr>
        <p:spPr bwMode="auto">
          <a:xfrm>
            <a:off x="5544741" y="35433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9172" name="Rectangle 20"/>
          <p:cNvSpPr>
            <a:spLocks noChangeArrowheads="1"/>
          </p:cNvSpPr>
          <p:nvPr/>
        </p:nvSpPr>
        <p:spPr bwMode="auto">
          <a:xfrm>
            <a:off x="51899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49173" name="Rectangle 21"/>
          <p:cNvSpPr>
            <a:spLocks noChangeArrowheads="1"/>
          </p:cNvSpPr>
          <p:nvPr/>
        </p:nvSpPr>
        <p:spPr bwMode="auto">
          <a:xfrm>
            <a:off x="58757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49174" name="Rectangle 22"/>
          <p:cNvSpPr>
            <a:spLocks noChangeArrowheads="1"/>
          </p:cNvSpPr>
          <p:nvPr/>
        </p:nvSpPr>
        <p:spPr bwMode="auto">
          <a:xfrm>
            <a:off x="50756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49175" name="Rectangle 23"/>
          <p:cNvSpPr>
            <a:spLocks noChangeArrowheads="1"/>
          </p:cNvSpPr>
          <p:nvPr/>
        </p:nvSpPr>
        <p:spPr bwMode="auto">
          <a:xfrm>
            <a:off x="57614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49176" name="Rectangle 24"/>
          <p:cNvSpPr>
            <a:spLocks noChangeArrowheads="1"/>
          </p:cNvSpPr>
          <p:nvPr/>
        </p:nvSpPr>
        <p:spPr bwMode="auto">
          <a:xfrm>
            <a:off x="3027397" y="905408"/>
            <a:ext cx="2700901"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latin typeface="Arial Rounded MT Bold" pitchFamily="34" charset="0"/>
              </a:rPr>
              <a:t>segment of an axon</a:t>
            </a:r>
          </a:p>
        </p:txBody>
      </p:sp>
      <p:sp>
        <p:nvSpPr>
          <p:cNvPr id="49177" name="Line 25"/>
          <p:cNvSpPr>
            <a:spLocks noChangeShapeType="1"/>
          </p:cNvSpPr>
          <p:nvPr/>
        </p:nvSpPr>
        <p:spPr bwMode="auto">
          <a:xfrm flipV="1">
            <a:off x="4057650" y="3601641"/>
            <a:ext cx="0" cy="2845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nvGrpSpPr>
          <p:cNvPr id="49183" name="Group 31"/>
          <p:cNvGrpSpPr>
            <a:grpSpLocks/>
          </p:cNvGrpSpPr>
          <p:nvPr/>
        </p:nvGrpSpPr>
        <p:grpSpPr bwMode="auto">
          <a:xfrm>
            <a:off x="1760935" y="3658794"/>
            <a:ext cx="4854178" cy="915592"/>
            <a:chOff x="519" y="3073"/>
            <a:chExt cx="4077" cy="769"/>
          </a:xfrm>
        </p:grpSpPr>
        <p:sp>
          <p:nvSpPr>
            <p:cNvPr id="49178" name="Rectangle 26"/>
            <p:cNvSpPr>
              <a:spLocks noChangeArrowheads="1"/>
            </p:cNvSpPr>
            <p:nvPr/>
          </p:nvSpPr>
          <p:spPr bwMode="auto">
            <a:xfrm>
              <a:off x="519" y="3514"/>
              <a:ext cx="81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49179" name="Rectangle 27"/>
            <p:cNvSpPr>
              <a:spLocks noChangeArrowheads="1"/>
            </p:cNvSpPr>
            <p:nvPr/>
          </p:nvSpPr>
          <p:spPr bwMode="auto">
            <a:xfrm>
              <a:off x="1815" y="3274"/>
              <a:ext cx="1829"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action potential</a:t>
              </a:r>
            </a:p>
          </p:txBody>
        </p:sp>
        <p:sp>
          <p:nvSpPr>
            <p:cNvPr id="49180" name="Line 28"/>
            <p:cNvSpPr>
              <a:spLocks noChangeShapeType="1"/>
            </p:cNvSpPr>
            <p:nvPr/>
          </p:nvSpPr>
          <p:spPr bwMode="auto">
            <a:xfrm flipV="1">
              <a:off x="913" y="3073"/>
              <a:ext cx="239" cy="38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49181" name="Rectangle 29"/>
            <p:cNvSpPr>
              <a:spLocks noChangeArrowheads="1"/>
            </p:cNvSpPr>
            <p:nvPr/>
          </p:nvSpPr>
          <p:spPr bwMode="auto">
            <a:xfrm>
              <a:off x="3783" y="3514"/>
              <a:ext cx="81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49182" name="Line 30"/>
            <p:cNvSpPr>
              <a:spLocks noChangeShapeType="1"/>
            </p:cNvSpPr>
            <p:nvPr/>
          </p:nvSpPr>
          <p:spPr bwMode="auto">
            <a:xfrm flipH="1" flipV="1">
              <a:off x="3889" y="3073"/>
              <a:ext cx="239" cy="38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Tree>
    <p:extLst>
      <p:ext uri="{BB962C8B-B14F-4D97-AF65-F5344CB8AC3E}">
        <p14:creationId xmlns:p14="http://schemas.microsoft.com/office/powerpoint/2010/main" val="252030980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barn(inVertical)">
                                      <p:cBhvr>
                                        <p:cTn id="7" dur="500"/>
                                        <p:tgtEl>
                                          <p:spTgt spid="491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9176"/>
                                        </p:tgtEl>
                                        <p:attrNameLst>
                                          <p:attrName>style.visibility</p:attrName>
                                        </p:attrNameLst>
                                      </p:cBhvr>
                                      <p:to>
                                        <p:strVal val="visible"/>
                                      </p:to>
                                    </p:set>
                                    <p:animEffect transition="in" filter="wipe(down)">
                                      <p:cBhvr>
                                        <p:cTn id="12" dur="500"/>
                                        <p:tgtEl>
                                          <p:spTgt spid="4917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9164"/>
                                        </p:tgtEl>
                                        <p:attrNameLst>
                                          <p:attrName>style.visibility</p:attrName>
                                        </p:attrNameLst>
                                      </p:cBhvr>
                                      <p:to>
                                        <p:strVal val="visible"/>
                                      </p:to>
                                    </p:set>
                                    <p:animEffect transition="in" filter="wipe(down)">
                                      <p:cBhvr>
                                        <p:cTn id="15" dur="500"/>
                                        <p:tgtEl>
                                          <p:spTgt spid="4916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9163"/>
                                        </p:tgtEl>
                                        <p:attrNameLst>
                                          <p:attrName>style.visibility</p:attrName>
                                        </p:attrNameLst>
                                      </p:cBhvr>
                                      <p:to>
                                        <p:strVal val="visible"/>
                                      </p:to>
                                    </p:set>
                                    <p:animEffect transition="in" filter="wipe(down)">
                                      <p:cBhvr>
                                        <p:cTn id="18" dur="500"/>
                                        <p:tgtEl>
                                          <p:spTgt spid="49163"/>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49165"/>
                                        </p:tgtEl>
                                        <p:attrNameLst>
                                          <p:attrName>style.visibility</p:attrName>
                                        </p:attrNameLst>
                                      </p:cBhvr>
                                      <p:to>
                                        <p:strVal val="visible"/>
                                      </p:to>
                                    </p:set>
                                    <p:animEffect transition="in" filter="wipe(down)">
                                      <p:cBhvr>
                                        <p:cTn id="21" dur="500"/>
                                        <p:tgtEl>
                                          <p:spTgt spid="4916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9174"/>
                                        </p:tgtEl>
                                        <p:attrNameLst>
                                          <p:attrName>style.visibility</p:attrName>
                                        </p:attrNameLst>
                                      </p:cBhvr>
                                      <p:to>
                                        <p:strVal val="visible"/>
                                      </p:to>
                                    </p:set>
                                    <p:animEffect transition="in" filter="wipe(down)">
                                      <p:cBhvr>
                                        <p:cTn id="24" dur="500"/>
                                        <p:tgtEl>
                                          <p:spTgt spid="4917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49168"/>
                                        </p:tgtEl>
                                        <p:attrNameLst>
                                          <p:attrName>style.visibility</p:attrName>
                                        </p:attrNameLst>
                                      </p:cBhvr>
                                      <p:to>
                                        <p:strVal val="visible"/>
                                      </p:to>
                                    </p:set>
                                    <p:animEffect transition="in" filter="wipe(down)">
                                      <p:cBhvr>
                                        <p:cTn id="27" dur="500"/>
                                        <p:tgtEl>
                                          <p:spTgt spid="49168"/>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49157"/>
                                        </p:tgtEl>
                                        <p:attrNameLst>
                                          <p:attrName>style.visibility</p:attrName>
                                        </p:attrNameLst>
                                      </p:cBhvr>
                                      <p:to>
                                        <p:strVal val="visible"/>
                                      </p:to>
                                    </p:set>
                                    <p:animEffect transition="in" filter="wipe(down)">
                                      <p:cBhvr>
                                        <p:cTn id="30" dur="500"/>
                                        <p:tgtEl>
                                          <p:spTgt spid="49157"/>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49160"/>
                                        </p:tgtEl>
                                        <p:attrNameLst>
                                          <p:attrName>style.visibility</p:attrName>
                                        </p:attrNameLst>
                                      </p:cBhvr>
                                      <p:to>
                                        <p:strVal val="visible"/>
                                      </p:to>
                                    </p:set>
                                    <p:animEffect transition="in" filter="wipe(down)">
                                      <p:cBhvr>
                                        <p:cTn id="33" dur="500"/>
                                        <p:tgtEl>
                                          <p:spTgt spid="49160"/>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49158"/>
                                        </p:tgtEl>
                                        <p:attrNameLst>
                                          <p:attrName>style.visibility</p:attrName>
                                        </p:attrNameLst>
                                      </p:cBhvr>
                                      <p:to>
                                        <p:strVal val="visible"/>
                                      </p:to>
                                    </p:set>
                                    <p:animEffect transition="in" filter="wipe(down)">
                                      <p:cBhvr>
                                        <p:cTn id="36" dur="500"/>
                                        <p:tgtEl>
                                          <p:spTgt spid="49158"/>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9171"/>
                                        </p:tgtEl>
                                        <p:attrNameLst>
                                          <p:attrName>style.visibility</p:attrName>
                                        </p:attrNameLst>
                                      </p:cBhvr>
                                      <p:to>
                                        <p:strVal val="visible"/>
                                      </p:to>
                                    </p:set>
                                    <p:animEffect transition="in" filter="wipe(down)">
                                      <p:cBhvr>
                                        <p:cTn id="39" dur="500"/>
                                        <p:tgtEl>
                                          <p:spTgt spid="49171"/>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49173"/>
                                        </p:tgtEl>
                                        <p:attrNameLst>
                                          <p:attrName>style.visibility</p:attrName>
                                        </p:attrNameLst>
                                      </p:cBhvr>
                                      <p:to>
                                        <p:strVal val="visible"/>
                                      </p:to>
                                    </p:set>
                                    <p:animEffect transition="in" filter="wipe(down)">
                                      <p:cBhvr>
                                        <p:cTn id="42" dur="500"/>
                                        <p:tgtEl>
                                          <p:spTgt spid="49173"/>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49169"/>
                                        </p:tgtEl>
                                        <p:attrNameLst>
                                          <p:attrName>style.visibility</p:attrName>
                                        </p:attrNameLst>
                                      </p:cBhvr>
                                      <p:to>
                                        <p:strVal val="visible"/>
                                      </p:to>
                                    </p:set>
                                    <p:animEffect transition="in" filter="wipe(down)">
                                      <p:cBhvr>
                                        <p:cTn id="45" dur="500"/>
                                        <p:tgtEl>
                                          <p:spTgt spid="49169"/>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49161"/>
                                        </p:tgtEl>
                                        <p:attrNameLst>
                                          <p:attrName>style.visibility</p:attrName>
                                        </p:attrNameLst>
                                      </p:cBhvr>
                                      <p:to>
                                        <p:strVal val="visible"/>
                                      </p:to>
                                    </p:set>
                                    <p:animEffect transition="in" filter="wipe(down)">
                                      <p:cBhvr>
                                        <p:cTn id="48" dur="500"/>
                                        <p:tgtEl>
                                          <p:spTgt spid="49161"/>
                                        </p:tgtEl>
                                      </p:cBhvr>
                                    </p:animEffect>
                                  </p:childTnLst>
                                </p:cTn>
                              </p:par>
                              <p:par>
                                <p:cTn id="49" presetID="22" presetClass="entr" presetSubtype="4" fill="hold" nodeType="withEffect">
                                  <p:stCondLst>
                                    <p:cond delay="0"/>
                                  </p:stCondLst>
                                  <p:childTnLst>
                                    <p:set>
                                      <p:cBhvr>
                                        <p:cTn id="50" dur="1" fill="hold">
                                          <p:stCondLst>
                                            <p:cond delay="0"/>
                                          </p:stCondLst>
                                        </p:cTn>
                                        <p:tgtEl>
                                          <p:spTgt spid="49183"/>
                                        </p:tgtEl>
                                        <p:attrNameLst>
                                          <p:attrName>style.visibility</p:attrName>
                                        </p:attrNameLst>
                                      </p:cBhvr>
                                      <p:to>
                                        <p:strVal val="visible"/>
                                      </p:to>
                                    </p:set>
                                    <p:animEffect transition="in" filter="wipe(down)">
                                      <p:cBhvr>
                                        <p:cTn id="51" dur="500"/>
                                        <p:tgtEl>
                                          <p:spTgt spid="49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p:bldP spid="49157" grpId="0" animBg="1"/>
      <p:bldP spid="49158" grpId="0" animBg="1"/>
      <p:bldP spid="49160" grpId="0" animBg="1"/>
      <p:bldP spid="49161" grpId="0"/>
      <p:bldP spid="49163" grpId="0"/>
      <p:bldP spid="49164" grpId="0"/>
      <p:bldP spid="49165" grpId="0"/>
      <p:bldP spid="49168" grpId="0" animBg="1"/>
      <p:bldP spid="49169" grpId="0"/>
      <p:bldP spid="49171" grpId="0" animBg="1"/>
      <p:bldP spid="49173" grpId="0"/>
      <p:bldP spid="49174" grpId="0"/>
      <p:bldP spid="4917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26"/>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5299" name="Rectangle 1027"/>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5300" name="Rectangle 1028"/>
          <p:cNvSpPr>
            <a:spLocks noChangeArrowheads="1"/>
          </p:cNvSpPr>
          <p:nvPr/>
        </p:nvSpPr>
        <p:spPr bwMode="auto">
          <a:xfrm>
            <a:off x="1475185" y="240506"/>
            <a:ext cx="606742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66" tIns="33338" rIns="67866" bIns="33338">
            <a:spAutoFit/>
          </a:bodyPr>
          <a:lstStyle/>
          <a:p>
            <a:pPr defTabSz="571500"/>
            <a:r>
              <a:rPr lang="en-GB" sz="2100">
                <a:solidFill>
                  <a:schemeClr val="hlink"/>
                </a:solidFill>
                <a:latin typeface="Arial Rounded MT Bold" pitchFamily="34" charset="0"/>
              </a:rPr>
              <a:t>The action potential travels via current loops.</a:t>
            </a:r>
          </a:p>
        </p:txBody>
      </p:sp>
      <p:sp>
        <p:nvSpPr>
          <p:cNvPr id="55301" name="Oval 1029"/>
          <p:cNvSpPr>
            <a:spLocks noChangeArrowheads="1"/>
          </p:cNvSpPr>
          <p:nvPr/>
        </p:nvSpPr>
        <p:spPr bwMode="auto">
          <a:xfrm>
            <a:off x="190500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5302" name="Oval 1030"/>
          <p:cNvSpPr>
            <a:spLocks noChangeArrowheads="1"/>
          </p:cNvSpPr>
          <p:nvPr/>
        </p:nvSpPr>
        <p:spPr bwMode="auto">
          <a:xfrm>
            <a:off x="653415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5303" name="Line 1031"/>
          <p:cNvSpPr>
            <a:spLocks noChangeShapeType="1"/>
          </p:cNvSpPr>
          <p:nvPr/>
        </p:nvSpPr>
        <p:spPr bwMode="auto">
          <a:xfrm>
            <a:off x="2172891" y="18288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04" name="Line 1032"/>
          <p:cNvSpPr>
            <a:spLocks noChangeShapeType="1"/>
          </p:cNvSpPr>
          <p:nvPr/>
        </p:nvSpPr>
        <p:spPr bwMode="auto">
          <a:xfrm>
            <a:off x="2172891" y="35433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05" name="Rectangle 1033"/>
          <p:cNvSpPr>
            <a:spLocks noChangeArrowheads="1"/>
          </p:cNvSpPr>
          <p:nvPr/>
        </p:nvSpPr>
        <p:spPr bwMode="auto">
          <a:xfrm>
            <a:off x="25038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5306" name="Rectangle 1034"/>
          <p:cNvSpPr>
            <a:spLocks noChangeArrowheads="1"/>
          </p:cNvSpPr>
          <p:nvPr/>
        </p:nvSpPr>
        <p:spPr bwMode="auto">
          <a:xfrm>
            <a:off x="44469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5307" name="Rectangle 1035"/>
          <p:cNvSpPr>
            <a:spLocks noChangeArrowheads="1"/>
          </p:cNvSpPr>
          <p:nvPr/>
        </p:nvSpPr>
        <p:spPr bwMode="auto">
          <a:xfrm>
            <a:off x="3475435" y="1464665"/>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latin typeface="Arial Rounded MT Bold" pitchFamily="34" charset="0"/>
              </a:rPr>
              <a:t> </a:t>
            </a:r>
          </a:p>
        </p:txBody>
      </p:sp>
      <p:sp>
        <p:nvSpPr>
          <p:cNvPr id="55308" name="Rectangle 1036"/>
          <p:cNvSpPr>
            <a:spLocks noChangeArrowheads="1"/>
          </p:cNvSpPr>
          <p:nvPr/>
        </p:nvSpPr>
        <p:spPr bwMode="auto">
          <a:xfrm>
            <a:off x="25610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5309" name="Rectangle 1037"/>
          <p:cNvSpPr>
            <a:spLocks noChangeArrowheads="1"/>
          </p:cNvSpPr>
          <p:nvPr/>
        </p:nvSpPr>
        <p:spPr bwMode="auto">
          <a:xfrm>
            <a:off x="45041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5310" name="Arc 1038"/>
          <p:cNvSpPr>
            <a:spLocks/>
          </p:cNvSpPr>
          <p:nvPr/>
        </p:nvSpPr>
        <p:spPr bwMode="auto">
          <a:xfrm>
            <a:off x="325874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11" name="Arc 1039"/>
          <p:cNvSpPr>
            <a:spLocks/>
          </p:cNvSpPr>
          <p:nvPr/>
        </p:nvSpPr>
        <p:spPr bwMode="auto">
          <a:xfrm>
            <a:off x="417314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12" name="Freeform 1040"/>
          <p:cNvSpPr>
            <a:spLocks/>
          </p:cNvSpPr>
          <p:nvPr/>
        </p:nvSpPr>
        <p:spPr bwMode="auto">
          <a:xfrm>
            <a:off x="3314701" y="1828800"/>
            <a:ext cx="1137047" cy="1701404"/>
          </a:xfrm>
          <a:custGeom>
            <a:avLst/>
            <a:gdLst>
              <a:gd name="T0" fmla="*/ 48 w 955"/>
              <a:gd name="T1" fmla="*/ 13 h 1429"/>
              <a:gd name="T2" fmla="*/ 116 w 955"/>
              <a:gd name="T3" fmla="*/ 13 h 1429"/>
              <a:gd name="T4" fmla="*/ 184 w 955"/>
              <a:gd name="T5" fmla="*/ 13 h 1429"/>
              <a:gd name="T6" fmla="*/ 252 w 955"/>
              <a:gd name="T7" fmla="*/ 13 h 1429"/>
              <a:gd name="T8" fmla="*/ 320 w 955"/>
              <a:gd name="T9" fmla="*/ 13 h 1429"/>
              <a:gd name="T10" fmla="*/ 388 w 955"/>
              <a:gd name="T11" fmla="*/ 13 h 1429"/>
              <a:gd name="T12" fmla="*/ 456 w 955"/>
              <a:gd name="T13" fmla="*/ 13 h 1429"/>
              <a:gd name="T14" fmla="*/ 524 w 955"/>
              <a:gd name="T15" fmla="*/ 13 h 1429"/>
              <a:gd name="T16" fmla="*/ 592 w 955"/>
              <a:gd name="T17" fmla="*/ 24 h 1429"/>
              <a:gd name="T18" fmla="*/ 660 w 955"/>
              <a:gd name="T19" fmla="*/ 35 h 1429"/>
              <a:gd name="T20" fmla="*/ 728 w 955"/>
              <a:gd name="T21" fmla="*/ 24 h 1429"/>
              <a:gd name="T22" fmla="*/ 796 w 955"/>
              <a:gd name="T23" fmla="*/ 58 h 1429"/>
              <a:gd name="T24" fmla="*/ 818 w 955"/>
              <a:gd name="T25" fmla="*/ 126 h 1429"/>
              <a:gd name="T26" fmla="*/ 841 w 955"/>
              <a:gd name="T27" fmla="*/ 194 h 1429"/>
              <a:gd name="T28" fmla="*/ 863 w 955"/>
              <a:gd name="T29" fmla="*/ 262 h 1429"/>
              <a:gd name="T30" fmla="*/ 886 w 955"/>
              <a:gd name="T31" fmla="*/ 330 h 1429"/>
              <a:gd name="T32" fmla="*/ 897 w 955"/>
              <a:gd name="T33" fmla="*/ 398 h 1429"/>
              <a:gd name="T34" fmla="*/ 920 w 955"/>
              <a:gd name="T35" fmla="*/ 466 h 1429"/>
              <a:gd name="T36" fmla="*/ 931 w 955"/>
              <a:gd name="T37" fmla="*/ 533 h 1429"/>
              <a:gd name="T38" fmla="*/ 943 w 955"/>
              <a:gd name="T39" fmla="*/ 601 h 1429"/>
              <a:gd name="T40" fmla="*/ 943 w 955"/>
              <a:gd name="T41" fmla="*/ 669 h 1429"/>
              <a:gd name="T42" fmla="*/ 954 w 955"/>
              <a:gd name="T43" fmla="*/ 737 h 1429"/>
              <a:gd name="T44" fmla="*/ 954 w 955"/>
              <a:gd name="T45" fmla="*/ 805 h 1429"/>
              <a:gd name="T46" fmla="*/ 954 w 955"/>
              <a:gd name="T47" fmla="*/ 873 h 1429"/>
              <a:gd name="T48" fmla="*/ 954 w 955"/>
              <a:gd name="T49" fmla="*/ 952 h 1429"/>
              <a:gd name="T50" fmla="*/ 954 w 955"/>
              <a:gd name="T51" fmla="*/ 1020 h 1429"/>
              <a:gd name="T52" fmla="*/ 954 w 955"/>
              <a:gd name="T53" fmla="*/ 1088 h 1429"/>
              <a:gd name="T54" fmla="*/ 954 w 955"/>
              <a:gd name="T55" fmla="*/ 1156 h 1429"/>
              <a:gd name="T56" fmla="*/ 954 w 955"/>
              <a:gd name="T57" fmla="*/ 1224 h 1429"/>
              <a:gd name="T58" fmla="*/ 954 w 955"/>
              <a:gd name="T59" fmla="*/ 1292 h 1429"/>
              <a:gd name="T60" fmla="*/ 954 w 955"/>
              <a:gd name="T61" fmla="*/ 1360 h 1429"/>
              <a:gd name="T62" fmla="*/ 954 w 955"/>
              <a:gd name="T63" fmla="*/ 1428 h 1429"/>
              <a:gd name="T64" fmla="*/ 886 w 955"/>
              <a:gd name="T65" fmla="*/ 1428 h 1429"/>
              <a:gd name="T66" fmla="*/ 818 w 955"/>
              <a:gd name="T67" fmla="*/ 1428 h 1429"/>
              <a:gd name="T68" fmla="*/ 750 w 955"/>
              <a:gd name="T69" fmla="*/ 1428 h 1429"/>
              <a:gd name="T70" fmla="*/ 682 w 955"/>
              <a:gd name="T71" fmla="*/ 1428 h 1429"/>
              <a:gd name="T72" fmla="*/ 614 w 955"/>
              <a:gd name="T73" fmla="*/ 1428 h 1429"/>
              <a:gd name="T74" fmla="*/ 546 w 955"/>
              <a:gd name="T75" fmla="*/ 1428 h 1429"/>
              <a:gd name="T76" fmla="*/ 467 w 955"/>
              <a:gd name="T77" fmla="*/ 1428 h 1429"/>
              <a:gd name="T78" fmla="*/ 399 w 955"/>
              <a:gd name="T79" fmla="*/ 1428 h 1429"/>
              <a:gd name="T80" fmla="*/ 331 w 955"/>
              <a:gd name="T81" fmla="*/ 1428 h 1429"/>
              <a:gd name="T82" fmla="*/ 263 w 955"/>
              <a:gd name="T83" fmla="*/ 1428 h 1429"/>
              <a:gd name="T84" fmla="*/ 207 w 955"/>
              <a:gd name="T85" fmla="*/ 1394 h 1429"/>
              <a:gd name="T86" fmla="*/ 207 w 955"/>
              <a:gd name="T87" fmla="*/ 1326 h 1429"/>
              <a:gd name="T88" fmla="*/ 207 w 955"/>
              <a:gd name="T89" fmla="*/ 1258 h 1429"/>
              <a:gd name="T90" fmla="*/ 195 w 955"/>
              <a:gd name="T91" fmla="*/ 1179 h 1429"/>
              <a:gd name="T92" fmla="*/ 195 w 955"/>
              <a:gd name="T93" fmla="*/ 1111 h 1429"/>
              <a:gd name="T94" fmla="*/ 195 w 955"/>
              <a:gd name="T95" fmla="*/ 1043 h 1429"/>
              <a:gd name="T96" fmla="*/ 195 w 955"/>
              <a:gd name="T97" fmla="*/ 975 h 1429"/>
              <a:gd name="T98" fmla="*/ 184 w 955"/>
              <a:gd name="T99" fmla="*/ 907 h 1429"/>
              <a:gd name="T100" fmla="*/ 173 w 955"/>
              <a:gd name="T101" fmla="*/ 839 h 1429"/>
              <a:gd name="T102" fmla="*/ 173 w 955"/>
              <a:gd name="T103" fmla="*/ 771 h 1429"/>
              <a:gd name="T104" fmla="*/ 173 w 955"/>
              <a:gd name="T105" fmla="*/ 703 h 1429"/>
              <a:gd name="T106" fmla="*/ 161 w 955"/>
              <a:gd name="T107" fmla="*/ 635 h 1429"/>
              <a:gd name="T108" fmla="*/ 150 w 955"/>
              <a:gd name="T109" fmla="*/ 567 h 1429"/>
              <a:gd name="T110" fmla="*/ 150 w 955"/>
              <a:gd name="T111" fmla="*/ 499 h 1429"/>
              <a:gd name="T112" fmla="*/ 150 w 955"/>
              <a:gd name="T113" fmla="*/ 432 h 1429"/>
              <a:gd name="T114" fmla="*/ 127 w 955"/>
              <a:gd name="T115" fmla="*/ 364 h 1429"/>
              <a:gd name="T116" fmla="*/ 105 w 955"/>
              <a:gd name="T117" fmla="*/ 296 h 1429"/>
              <a:gd name="T118" fmla="*/ 82 w 955"/>
              <a:gd name="T119" fmla="*/ 228 h 1429"/>
              <a:gd name="T120" fmla="*/ 60 w 955"/>
              <a:gd name="T121" fmla="*/ 160 h 1429"/>
              <a:gd name="T122" fmla="*/ 37 w 955"/>
              <a:gd name="T123" fmla="*/ 92 h 1429"/>
              <a:gd name="T124" fmla="*/ 0 w 955"/>
              <a:gd name="T125" fmla="*/ 0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55" h="1429">
                <a:moveTo>
                  <a:pt x="0" y="0"/>
                </a:moveTo>
                <a:lnTo>
                  <a:pt x="48" y="13"/>
                </a:lnTo>
                <a:lnTo>
                  <a:pt x="82" y="13"/>
                </a:lnTo>
                <a:lnTo>
                  <a:pt x="116" y="13"/>
                </a:lnTo>
                <a:lnTo>
                  <a:pt x="150" y="13"/>
                </a:lnTo>
                <a:lnTo>
                  <a:pt x="184" y="13"/>
                </a:lnTo>
                <a:lnTo>
                  <a:pt x="218" y="13"/>
                </a:lnTo>
                <a:lnTo>
                  <a:pt x="252" y="13"/>
                </a:lnTo>
                <a:lnTo>
                  <a:pt x="286" y="13"/>
                </a:lnTo>
                <a:lnTo>
                  <a:pt x="320" y="13"/>
                </a:lnTo>
                <a:lnTo>
                  <a:pt x="354" y="13"/>
                </a:lnTo>
                <a:lnTo>
                  <a:pt x="388" y="13"/>
                </a:lnTo>
                <a:lnTo>
                  <a:pt x="422" y="13"/>
                </a:lnTo>
                <a:lnTo>
                  <a:pt x="456" y="13"/>
                </a:lnTo>
                <a:lnTo>
                  <a:pt x="490" y="13"/>
                </a:lnTo>
                <a:lnTo>
                  <a:pt x="524" y="13"/>
                </a:lnTo>
                <a:lnTo>
                  <a:pt x="558" y="24"/>
                </a:lnTo>
                <a:lnTo>
                  <a:pt x="592" y="24"/>
                </a:lnTo>
                <a:lnTo>
                  <a:pt x="626" y="35"/>
                </a:lnTo>
                <a:lnTo>
                  <a:pt x="660" y="35"/>
                </a:lnTo>
                <a:lnTo>
                  <a:pt x="694" y="35"/>
                </a:lnTo>
                <a:lnTo>
                  <a:pt x="728" y="24"/>
                </a:lnTo>
                <a:lnTo>
                  <a:pt x="762" y="35"/>
                </a:lnTo>
                <a:lnTo>
                  <a:pt x="796" y="58"/>
                </a:lnTo>
                <a:lnTo>
                  <a:pt x="807" y="92"/>
                </a:lnTo>
                <a:lnTo>
                  <a:pt x="818" y="126"/>
                </a:lnTo>
                <a:lnTo>
                  <a:pt x="830" y="160"/>
                </a:lnTo>
                <a:lnTo>
                  <a:pt x="841" y="194"/>
                </a:lnTo>
                <a:lnTo>
                  <a:pt x="852" y="228"/>
                </a:lnTo>
                <a:lnTo>
                  <a:pt x="863" y="262"/>
                </a:lnTo>
                <a:lnTo>
                  <a:pt x="875" y="296"/>
                </a:lnTo>
                <a:lnTo>
                  <a:pt x="886" y="330"/>
                </a:lnTo>
                <a:lnTo>
                  <a:pt x="897" y="364"/>
                </a:lnTo>
                <a:lnTo>
                  <a:pt x="897" y="398"/>
                </a:lnTo>
                <a:lnTo>
                  <a:pt x="909" y="432"/>
                </a:lnTo>
                <a:lnTo>
                  <a:pt x="920" y="466"/>
                </a:lnTo>
                <a:lnTo>
                  <a:pt x="920" y="499"/>
                </a:lnTo>
                <a:lnTo>
                  <a:pt x="931" y="533"/>
                </a:lnTo>
                <a:lnTo>
                  <a:pt x="943" y="567"/>
                </a:lnTo>
                <a:lnTo>
                  <a:pt x="943" y="601"/>
                </a:lnTo>
                <a:lnTo>
                  <a:pt x="943" y="635"/>
                </a:lnTo>
                <a:lnTo>
                  <a:pt x="943" y="669"/>
                </a:lnTo>
                <a:lnTo>
                  <a:pt x="954" y="703"/>
                </a:lnTo>
                <a:lnTo>
                  <a:pt x="954" y="737"/>
                </a:lnTo>
                <a:lnTo>
                  <a:pt x="954" y="771"/>
                </a:lnTo>
                <a:lnTo>
                  <a:pt x="954" y="805"/>
                </a:lnTo>
                <a:lnTo>
                  <a:pt x="954" y="839"/>
                </a:lnTo>
                <a:lnTo>
                  <a:pt x="954" y="873"/>
                </a:lnTo>
                <a:lnTo>
                  <a:pt x="954" y="918"/>
                </a:lnTo>
                <a:lnTo>
                  <a:pt x="954" y="952"/>
                </a:lnTo>
                <a:lnTo>
                  <a:pt x="954" y="986"/>
                </a:lnTo>
                <a:lnTo>
                  <a:pt x="954" y="1020"/>
                </a:lnTo>
                <a:lnTo>
                  <a:pt x="954" y="1054"/>
                </a:lnTo>
                <a:lnTo>
                  <a:pt x="954" y="1088"/>
                </a:lnTo>
                <a:lnTo>
                  <a:pt x="954" y="1122"/>
                </a:lnTo>
                <a:lnTo>
                  <a:pt x="954" y="1156"/>
                </a:lnTo>
                <a:lnTo>
                  <a:pt x="954" y="1190"/>
                </a:lnTo>
                <a:lnTo>
                  <a:pt x="954" y="1224"/>
                </a:lnTo>
                <a:lnTo>
                  <a:pt x="954" y="1258"/>
                </a:lnTo>
                <a:lnTo>
                  <a:pt x="954" y="1292"/>
                </a:lnTo>
                <a:lnTo>
                  <a:pt x="954" y="1326"/>
                </a:lnTo>
                <a:lnTo>
                  <a:pt x="954" y="1360"/>
                </a:lnTo>
                <a:lnTo>
                  <a:pt x="954" y="1394"/>
                </a:lnTo>
                <a:lnTo>
                  <a:pt x="954" y="1428"/>
                </a:lnTo>
                <a:lnTo>
                  <a:pt x="920" y="1428"/>
                </a:lnTo>
                <a:lnTo>
                  <a:pt x="886" y="1428"/>
                </a:lnTo>
                <a:lnTo>
                  <a:pt x="852" y="1428"/>
                </a:lnTo>
                <a:lnTo>
                  <a:pt x="818" y="1428"/>
                </a:lnTo>
                <a:lnTo>
                  <a:pt x="784" y="1428"/>
                </a:lnTo>
                <a:lnTo>
                  <a:pt x="750" y="1428"/>
                </a:lnTo>
                <a:lnTo>
                  <a:pt x="716" y="1428"/>
                </a:lnTo>
                <a:lnTo>
                  <a:pt x="682" y="1428"/>
                </a:lnTo>
                <a:lnTo>
                  <a:pt x="648" y="1428"/>
                </a:lnTo>
                <a:lnTo>
                  <a:pt x="614" y="1428"/>
                </a:lnTo>
                <a:lnTo>
                  <a:pt x="580" y="1428"/>
                </a:lnTo>
                <a:lnTo>
                  <a:pt x="546" y="1428"/>
                </a:lnTo>
                <a:lnTo>
                  <a:pt x="512" y="1428"/>
                </a:lnTo>
                <a:lnTo>
                  <a:pt x="467" y="1428"/>
                </a:lnTo>
                <a:lnTo>
                  <a:pt x="433" y="1428"/>
                </a:lnTo>
                <a:lnTo>
                  <a:pt x="399" y="1428"/>
                </a:lnTo>
                <a:lnTo>
                  <a:pt x="365" y="1428"/>
                </a:lnTo>
                <a:lnTo>
                  <a:pt x="331" y="1428"/>
                </a:lnTo>
                <a:lnTo>
                  <a:pt x="297" y="1428"/>
                </a:lnTo>
                <a:lnTo>
                  <a:pt x="263" y="1428"/>
                </a:lnTo>
                <a:lnTo>
                  <a:pt x="229" y="1428"/>
                </a:lnTo>
                <a:lnTo>
                  <a:pt x="207" y="1394"/>
                </a:lnTo>
                <a:lnTo>
                  <a:pt x="207" y="1360"/>
                </a:lnTo>
                <a:lnTo>
                  <a:pt x="207" y="1326"/>
                </a:lnTo>
                <a:lnTo>
                  <a:pt x="207" y="1292"/>
                </a:lnTo>
                <a:lnTo>
                  <a:pt x="207" y="1258"/>
                </a:lnTo>
                <a:lnTo>
                  <a:pt x="207" y="1213"/>
                </a:lnTo>
                <a:lnTo>
                  <a:pt x="195" y="1179"/>
                </a:lnTo>
                <a:lnTo>
                  <a:pt x="195" y="1145"/>
                </a:lnTo>
                <a:lnTo>
                  <a:pt x="195" y="1111"/>
                </a:lnTo>
                <a:lnTo>
                  <a:pt x="195" y="1077"/>
                </a:lnTo>
                <a:lnTo>
                  <a:pt x="195" y="1043"/>
                </a:lnTo>
                <a:lnTo>
                  <a:pt x="195" y="1009"/>
                </a:lnTo>
                <a:lnTo>
                  <a:pt x="195" y="975"/>
                </a:lnTo>
                <a:lnTo>
                  <a:pt x="184" y="941"/>
                </a:lnTo>
                <a:lnTo>
                  <a:pt x="184" y="907"/>
                </a:lnTo>
                <a:lnTo>
                  <a:pt x="173" y="873"/>
                </a:lnTo>
                <a:lnTo>
                  <a:pt x="173" y="839"/>
                </a:lnTo>
                <a:lnTo>
                  <a:pt x="173" y="805"/>
                </a:lnTo>
                <a:lnTo>
                  <a:pt x="173" y="771"/>
                </a:lnTo>
                <a:lnTo>
                  <a:pt x="173" y="737"/>
                </a:lnTo>
                <a:lnTo>
                  <a:pt x="173" y="703"/>
                </a:lnTo>
                <a:lnTo>
                  <a:pt x="173" y="669"/>
                </a:lnTo>
                <a:lnTo>
                  <a:pt x="161" y="635"/>
                </a:lnTo>
                <a:lnTo>
                  <a:pt x="161" y="601"/>
                </a:lnTo>
                <a:lnTo>
                  <a:pt x="150" y="567"/>
                </a:lnTo>
                <a:lnTo>
                  <a:pt x="150" y="533"/>
                </a:lnTo>
                <a:lnTo>
                  <a:pt x="150" y="499"/>
                </a:lnTo>
                <a:lnTo>
                  <a:pt x="150" y="466"/>
                </a:lnTo>
                <a:lnTo>
                  <a:pt x="150" y="432"/>
                </a:lnTo>
                <a:lnTo>
                  <a:pt x="139" y="398"/>
                </a:lnTo>
                <a:lnTo>
                  <a:pt x="127" y="364"/>
                </a:lnTo>
                <a:lnTo>
                  <a:pt x="105" y="330"/>
                </a:lnTo>
                <a:lnTo>
                  <a:pt x="105" y="296"/>
                </a:lnTo>
                <a:lnTo>
                  <a:pt x="93" y="262"/>
                </a:lnTo>
                <a:lnTo>
                  <a:pt x="82" y="228"/>
                </a:lnTo>
                <a:lnTo>
                  <a:pt x="71" y="194"/>
                </a:lnTo>
                <a:lnTo>
                  <a:pt x="60" y="160"/>
                </a:lnTo>
                <a:lnTo>
                  <a:pt x="48" y="126"/>
                </a:lnTo>
                <a:lnTo>
                  <a:pt x="37" y="92"/>
                </a:lnTo>
                <a:lnTo>
                  <a:pt x="37" y="58"/>
                </a:lnTo>
                <a:lnTo>
                  <a:pt x="0" y="0"/>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13" name="Rectangle 1041"/>
          <p:cNvSpPr>
            <a:spLocks noChangeArrowheads="1"/>
          </p:cNvSpPr>
          <p:nvPr/>
        </p:nvSpPr>
        <p:spPr bwMode="auto">
          <a:xfrm>
            <a:off x="3475435" y="18407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5314" name="Line 1042"/>
          <p:cNvSpPr>
            <a:spLocks noChangeShapeType="1"/>
          </p:cNvSpPr>
          <p:nvPr/>
        </p:nvSpPr>
        <p:spPr bwMode="auto">
          <a:xfrm>
            <a:off x="5544741" y="18288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15" name="Line 1043"/>
          <p:cNvSpPr>
            <a:spLocks noChangeShapeType="1"/>
          </p:cNvSpPr>
          <p:nvPr/>
        </p:nvSpPr>
        <p:spPr bwMode="auto">
          <a:xfrm>
            <a:off x="5544741" y="35433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16" name="Rectangle 1044"/>
          <p:cNvSpPr>
            <a:spLocks noChangeArrowheads="1"/>
          </p:cNvSpPr>
          <p:nvPr/>
        </p:nvSpPr>
        <p:spPr bwMode="auto">
          <a:xfrm>
            <a:off x="51899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5317" name="Rectangle 1045"/>
          <p:cNvSpPr>
            <a:spLocks noChangeArrowheads="1"/>
          </p:cNvSpPr>
          <p:nvPr/>
        </p:nvSpPr>
        <p:spPr bwMode="auto">
          <a:xfrm>
            <a:off x="58757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5318" name="Rectangle 1046"/>
          <p:cNvSpPr>
            <a:spLocks noChangeArrowheads="1"/>
          </p:cNvSpPr>
          <p:nvPr/>
        </p:nvSpPr>
        <p:spPr bwMode="auto">
          <a:xfrm>
            <a:off x="50756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5319" name="Rectangle 1047"/>
          <p:cNvSpPr>
            <a:spLocks noChangeArrowheads="1"/>
          </p:cNvSpPr>
          <p:nvPr/>
        </p:nvSpPr>
        <p:spPr bwMode="auto">
          <a:xfrm>
            <a:off x="57614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5320" name="Line 1048"/>
          <p:cNvSpPr>
            <a:spLocks noChangeShapeType="1"/>
          </p:cNvSpPr>
          <p:nvPr/>
        </p:nvSpPr>
        <p:spPr bwMode="auto">
          <a:xfrm>
            <a:off x="3887391" y="2230041"/>
            <a:ext cx="55959" cy="1702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21" name="Line 1049"/>
          <p:cNvSpPr>
            <a:spLocks noChangeShapeType="1"/>
          </p:cNvSpPr>
          <p:nvPr/>
        </p:nvSpPr>
        <p:spPr bwMode="auto">
          <a:xfrm>
            <a:off x="3944541" y="2400300"/>
            <a:ext cx="79890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22" name="Line 1050"/>
          <p:cNvSpPr>
            <a:spLocks noChangeShapeType="1"/>
          </p:cNvSpPr>
          <p:nvPr/>
        </p:nvSpPr>
        <p:spPr bwMode="auto">
          <a:xfrm flipV="1">
            <a:off x="4744641" y="2172891"/>
            <a:ext cx="55959" cy="22740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23" name="Line 1051"/>
          <p:cNvSpPr>
            <a:spLocks noChangeShapeType="1"/>
          </p:cNvSpPr>
          <p:nvPr/>
        </p:nvSpPr>
        <p:spPr bwMode="auto">
          <a:xfrm flipH="1" flipV="1">
            <a:off x="4801791" y="1315641"/>
            <a:ext cx="55959" cy="1702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24" name="Line 1052"/>
          <p:cNvSpPr>
            <a:spLocks noChangeShapeType="1"/>
          </p:cNvSpPr>
          <p:nvPr/>
        </p:nvSpPr>
        <p:spPr bwMode="auto">
          <a:xfrm flipH="1">
            <a:off x="3887391" y="1314450"/>
            <a:ext cx="91320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25" name="Line 1053"/>
          <p:cNvSpPr>
            <a:spLocks noChangeShapeType="1"/>
          </p:cNvSpPr>
          <p:nvPr/>
        </p:nvSpPr>
        <p:spPr bwMode="auto">
          <a:xfrm flipH="1">
            <a:off x="3830241" y="1315641"/>
            <a:ext cx="55959" cy="22740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nvGrpSpPr>
          <p:cNvPr id="55331" name="Group 1059"/>
          <p:cNvGrpSpPr>
            <a:grpSpLocks/>
          </p:cNvGrpSpPr>
          <p:nvPr/>
        </p:nvGrpSpPr>
        <p:grpSpPr bwMode="auto">
          <a:xfrm>
            <a:off x="1760935" y="3658794"/>
            <a:ext cx="4854178" cy="915592"/>
            <a:chOff x="519" y="3073"/>
            <a:chExt cx="4077" cy="769"/>
          </a:xfrm>
        </p:grpSpPr>
        <p:sp>
          <p:nvSpPr>
            <p:cNvPr id="55326" name="Rectangle 1054"/>
            <p:cNvSpPr>
              <a:spLocks noChangeArrowheads="1"/>
            </p:cNvSpPr>
            <p:nvPr/>
          </p:nvSpPr>
          <p:spPr bwMode="auto">
            <a:xfrm>
              <a:off x="519" y="3514"/>
              <a:ext cx="81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55327" name="Rectangle 1055"/>
            <p:cNvSpPr>
              <a:spLocks noChangeArrowheads="1"/>
            </p:cNvSpPr>
            <p:nvPr/>
          </p:nvSpPr>
          <p:spPr bwMode="auto">
            <a:xfrm>
              <a:off x="1815" y="3274"/>
              <a:ext cx="1829"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action potential</a:t>
              </a:r>
            </a:p>
          </p:txBody>
        </p:sp>
        <p:sp>
          <p:nvSpPr>
            <p:cNvPr id="55328" name="Line 1056"/>
            <p:cNvSpPr>
              <a:spLocks noChangeShapeType="1"/>
            </p:cNvSpPr>
            <p:nvPr/>
          </p:nvSpPr>
          <p:spPr bwMode="auto">
            <a:xfrm flipV="1">
              <a:off x="913" y="3073"/>
              <a:ext cx="239" cy="38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5329" name="Rectangle 1057"/>
            <p:cNvSpPr>
              <a:spLocks noChangeArrowheads="1"/>
            </p:cNvSpPr>
            <p:nvPr/>
          </p:nvSpPr>
          <p:spPr bwMode="auto">
            <a:xfrm>
              <a:off x="3783" y="3514"/>
              <a:ext cx="81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55330" name="Line 1058"/>
            <p:cNvSpPr>
              <a:spLocks noChangeShapeType="1"/>
            </p:cNvSpPr>
            <p:nvPr/>
          </p:nvSpPr>
          <p:spPr bwMode="auto">
            <a:xfrm flipH="1" flipV="1">
              <a:off x="3889" y="3073"/>
              <a:ext cx="239" cy="38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55332" name="Line 1060"/>
          <p:cNvSpPr>
            <a:spLocks noChangeShapeType="1"/>
          </p:cNvSpPr>
          <p:nvPr/>
        </p:nvSpPr>
        <p:spPr bwMode="auto">
          <a:xfrm flipV="1">
            <a:off x="4057650" y="3601641"/>
            <a:ext cx="0" cy="2845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Tree>
    <p:extLst>
      <p:ext uri="{BB962C8B-B14F-4D97-AF65-F5344CB8AC3E}">
        <p14:creationId xmlns:p14="http://schemas.microsoft.com/office/powerpoint/2010/main" val="1333766555"/>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7347"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7348" name="Rectangle 4"/>
          <p:cNvSpPr>
            <a:spLocks noChangeArrowheads="1"/>
          </p:cNvSpPr>
          <p:nvPr/>
        </p:nvSpPr>
        <p:spPr bwMode="auto">
          <a:xfrm>
            <a:off x="1475185" y="240506"/>
            <a:ext cx="606742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66" tIns="33338" rIns="67866" bIns="33338">
            <a:spAutoFit/>
          </a:bodyPr>
          <a:lstStyle/>
          <a:p>
            <a:pPr defTabSz="571500"/>
            <a:r>
              <a:rPr lang="en-GB" sz="2100">
                <a:solidFill>
                  <a:schemeClr val="hlink"/>
                </a:solidFill>
                <a:latin typeface="Arial Rounded MT Bold" pitchFamily="34" charset="0"/>
              </a:rPr>
              <a:t>The action potential travels via current loops.</a:t>
            </a:r>
          </a:p>
        </p:txBody>
      </p:sp>
      <p:sp>
        <p:nvSpPr>
          <p:cNvPr id="57349" name="Oval 5"/>
          <p:cNvSpPr>
            <a:spLocks noChangeArrowheads="1"/>
          </p:cNvSpPr>
          <p:nvPr/>
        </p:nvSpPr>
        <p:spPr bwMode="auto">
          <a:xfrm>
            <a:off x="190500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7350" name="Oval 6"/>
          <p:cNvSpPr>
            <a:spLocks noChangeArrowheads="1"/>
          </p:cNvSpPr>
          <p:nvPr/>
        </p:nvSpPr>
        <p:spPr bwMode="auto">
          <a:xfrm>
            <a:off x="653415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7351" name="Line 7"/>
          <p:cNvSpPr>
            <a:spLocks noChangeShapeType="1"/>
          </p:cNvSpPr>
          <p:nvPr/>
        </p:nvSpPr>
        <p:spPr bwMode="auto">
          <a:xfrm>
            <a:off x="2172891" y="18288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52" name="Line 8"/>
          <p:cNvSpPr>
            <a:spLocks noChangeShapeType="1"/>
          </p:cNvSpPr>
          <p:nvPr/>
        </p:nvSpPr>
        <p:spPr bwMode="auto">
          <a:xfrm>
            <a:off x="2172891" y="35433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53" name="Rectangle 9"/>
          <p:cNvSpPr>
            <a:spLocks noChangeArrowheads="1"/>
          </p:cNvSpPr>
          <p:nvPr/>
        </p:nvSpPr>
        <p:spPr bwMode="auto">
          <a:xfrm>
            <a:off x="25038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7354" name="Rectangle 10"/>
          <p:cNvSpPr>
            <a:spLocks noChangeArrowheads="1"/>
          </p:cNvSpPr>
          <p:nvPr/>
        </p:nvSpPr>
        <p:spPr bwMode="auto">
          <a:xfrm>
            <a:off x="25610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7355" name="Rectangle 11"/>
          <p:cNvSpPr>
            <a:spLocks noChangeArrowheads="1"/>
          </p:cNvSpPr>
          <p:nvPr/>
        </p:nvSpPr>
        <p:spPr bwMode="auto">
          <a:xfrm>
            <a:off x="341828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7356" name="Arc 12"/>
          <p:cNvSpPr>
            <a:spLocks/>
          </p:cNvSpPr>
          <p:nvPr/>
        </p:nvSpPr>
        <p:spPr bwMode="auto">
          <a:xfrm>
            <a:off x="411599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57" name="Arc 13"/>
          <p:cNvSpPr>
            <a:spLocks/>
          </p:cNvSpPr>
          <p:nvPr/>
        </p:nvSpPr>
        <p:spPr bwMode="auto">
          <a:xfrm>
            <a:off x="417314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58" name="Freeform 14"/>
          <p:cNvSpPr>
            <a:spLocks/>
          </p:cNvSpPr>
          <p:nvPr/>
        </p:nvSpPr>
        <p:spPr bwMode="auto">
          <a:xfrm>
            <a:off x="4171951" y="1828800"/>
            <a:ext cx="1137047" cy="1701404"/>
          </a:xfrm>
          <a:custGeom>
            <a:avLst/>
            <a:gdLst>
              <a:gd name="T0" fmla="*/ 48 w 955"/>
              <a:gd name="T1" fmla="*/ 13 h 1429"/>
              <a:gd name="T2" fmla="*/ 116 w 955"/>
              <a:gd name="T3" fmla="*/ 13 h 1429"/>
              <a:gd name="T4" fmla="*/ 184 w 955"/>
              <a:gd name="T5" fmla="*/ 13 h 1429"/>
              <a:gd name="T6" fmla="*/ 252 w 955"/>
              <a:gd name="T7" fmla="*/ 13 h 1429"/>
              <a:gd name="T8" fmla="*/ 320 w 955"/>
              <a:gd name="T9" fmla="*/ 13 h 1429"/>
              <a:gd name="T10" fmla="*/ 388 w 955"/>
              <a:gd name="T11" fmla="*/ 13 h 1429"/>
              <a:gd name="T12" fmla="*/ 456 w 955"/>
              <a:gd name="T13" fmla="*/ 13 h 1429"/>
              <a:gd name="T14" fmla="*/ 524 w 955"/>
              <a:gd name="T15" fmla="*/ 13 h 1429"/>
              <a:gd name="T16" fmla="*/ 592 w 955"/>
              <a:gd name="T17" fmla="*/ 24 h 1429"/>
              <a:gd name="T18" fmla="*/ 660 w 955"/>
              <a:gd name="T19" fmla="*/ 35 h 1429"/>
              <a:gd name="T20" fmla="*/ 728 w 955"/>
              <a:gd name="T21" fmla="*/ 24 h 1429"/>
              <a:gd name="T22" fmla="*/ 796 w 955"/>
              <a:gd name="T23" fmla="*/ 58 h 1429"/>
              <a:gd name="T24" fmla="*/ 818 w 955"/>
              <a:gd name="T25" fmla="*/ 126 h 1429"/>
              <a:gd name="T26" fmla="*/ 841 w 955"/>
              <a:gd name="T27" fmla="*/ 194 h 1429"/>
              <a:gd name="T28" fmla="*/ 863 w 955"/>
              <a:gd name="T29" fmla="*/ 262 h 1429"/>
              <a:gd name="T30" fmla="*/ 886 w 955"/>
              <a:gd name="T31" fmla="*/ 330 h 1429"/>
              <a:gd name="T32" fmla="*/ 897 w 955"/>
              <a:gd name="T33" fmla="*/ 398 h 1429"/>
              <a:gd name="T34" fmla="*/ 920 w 955"/>
              <a:gd name="T35" fmla="*/ 466 h 1429"/>
              <a:gd name="T36" fmla="*/ 931 w 955"/>
              <a:gd name="T37" fmla="*/ 533 h 1429"/>
              <a:gd name="T38" fmla="*/ 943 w 955"/>
              <a:gd name="T39" fmla="*/ 601 h 1429"/>
              <a:gd name="T40" fmla="*/ 943 w 955"/>
              <a:gd name="T41" fmla="*/ 669 h 1429"/>
              <a:gd name="T42" fmla="*/ 954 w 955"/>
              <a:gd name="T43" fmla="*/ 737 h 1429"/>
              <a:gd name="T44" fmla="*/ 954 w 955"/>
              <a:gd name="T45" fmla="*/ 805 h 1429"/>
              <a:gd name="T46" fmla="*/ 954 w 955"/>
              <a:gd name="T47" fmla="*/ 873 h 1429"/>
              <a:gd name="T48" fmla="*/ 954 w 955"/>
              <a:gd name="T49" fmla="*/ 952 h 1429"/>
              <a:gd name="T50" fmla="*/ 954 w 955"/>
              <a:gd name="T51" fmla="*/ 1020 h 1429"/>
              <a:gd name="T52" fmla="*/ 954 w 955"/>
              <a:gd name="T53" fmla="*/ 1088 h 1429"/>
              <a:gd name="T54" fmla="*/ 954 w 955"/>
              <a:gd name="T55" fmla="*/ 1156 h 1429"/>
              <a:gd name="T56" fmla="*/ 954 w 955"/>
              <a:gd name="T57" fmla="*/ 1224 h 1429"/>
              <a:gd name="T58" fmla="*/ 954 w 955"/>
              <a:gd name="T59" fmla="*/ 1292 h 1429"/>
              <a:gd name="T60" fmla="*/ 954 w 955"/>
              <a:gd name="T61" fmla="*/ 1360 h 1429"/>
              <a:gd name="T62" fmla="*/ 954 w 955"/>
              <a:gd name="T63" fmla="*/ 1428 h 1429"/>
              <a:gd name="T64" fmla="*/ 886 w 955"/>
              <a:gd name="T65" fmla="*/ 1428 h 1429"/>
              <a:gd name="T66" fmla="*/ 818 w 955"/>
              <a:gd name="T67" fmla="*/ 1428 h 1429"/>
              <a:gd name="T68" fmla="*/ 750 w 955"/>
              <a:gd name="T69" fmla="*/ 1428 h 1429"/>
              <a:gd name="T70" fmla="*/ 682 w 955"/>
              <a:gd name="T71" fmla="*/ 1428 h 1429"/>
              <a:gd name="T72" fmla="*/ 614 w 955"/>
              <a:gd name="T73" fmla="*/ 1428 h 1429"/>
              <a:gd name="T74" fmla="*/ 546 w 955"/>
              <a:gd name="T75" fmla="*/ 1428 h 1429"/>
              <a:gd name="T76" fmla="*/ 467 w 955"/>
              <a:gd name="T77" fmla="*/ 1428 h 1429"/>
              <a:gd name="T78" fmla="*/ 399 w 955"/>
              <a:gd name="T79" fmla="*/ 1428 h 1429"/>
              <a:gd name="T80" fmla="*/ 331 w 955"/>
              <a:gd name="T81" fmla="*/ 1428 h 1429"/>
              <a:gd name="T82" fmla="*/ 263 w 955"/>
              <a:gd name="T83" fmla="*/ 1428 h 1429"/>
              <a:gd name="T84" fmla="*/ 207 w 955"/>
              <a:gd name="T85" fmla="*/ 1394 h 1429"/>
              <a:gd name="T86" fmla="*/ 207 w 955"/>
              <a:gd name="T87" fmla="*/ 1326 h 1429"/>
              <a:gd name="T88" fmla="*/ 207 w 955"/>
              <a:gd name="T89" fmla="*/ 1258 h 1429"/>
              <a:gd name="T90" fmla="*/ 195 w 955"/>
              <a:gd name="T91" fmla="*/ 1179 h 1429"/>
              <a:gd name="T92" fmla="*/ 195 w 955"/>
              <a:gd name="T93" fmla="*/ 1111 h 1429"/>
              <a:gd name="T94" fmla="*/ 195 w 955"/>
              <a:gd name="T95" fmla="*/ 1043 h 1429"/>
              <a:gd name="T96" fmla="*/ 195 w 955"/>
              <a:gd name="T97" fmla="*/ 975 h 1429"/>
              <a:gd name="T98" fmla="*/ 184 w 955"/>
              <a:gd name="T99" fmla="*/ 907 h 1429"/>
              <a:gd name="T100" fmla="*/ 173 w 955"/>
              <a:gd name="T101" fmla="*/ 839 h 1429"/>
              <a:gd name="T102" fmla="*/ 173 w 955"/>
              <a:gd name="T103" fmla="*/ 771 h 1429"/>
              <a:gd name="T104" fmla="*/ 173 w 955"/>
              <a:gd name="T105" fmla="*/ 703 h 1429"/>
              <a:gd name="T106" fmla="*/ 161 w 955"/>
              <a:gd name="T107" fmla="*/ 635 h 1429"/>
              <a:gd name="T108" fmla="*/ 150 w 955"/>
              <a:gd name="T109" fmla="*/ 567 h 1429"/>
              <a:gd name="T110" fmla="*/ 150 w 955"/>
              <a:gd name="T111" fmla="*/ 499 h 1429"/>
              <a:gd name="T112" fmla="*/ 150 w 955"/>
              <a:gd name="T113" fmla="*/ 432 h 1429"/>
              <a:gd name="T114" fmla="*/ 127 w 955"/>
              <a:gd name="T115" fmla="*/ 364 h 1429"/>
              <a:gd name="T116" fmla="*/ 105 w 955"/>
              <a:gd name="T117" fmla="*/ 296 h 1429"/>
              <a:gd name="T118" fmla="*/ 82 w 955"/>
              <a:gd name="T119" fmla="*/ 228 h 1429"/>
              <a:gd name="T120" fmla="*/ 60 w 955"/>
              <a:gd name="T121" fmla="*/ 160 h 1429"/>
              <a:gd name="T122" fmla="*/ 37 w 955"/>
              <a:gd name="T123" fmla="*/ 92 h 1429"/>
              <a:gd name="T124" fmla="*/ 0 w 955"/>
              <a:gd name="T125" fmla="*/ 0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55" h="1429">
                <a:moveTo>
                  <a:pt x="0" y="0"/>
                </a:moveTo>
                <a:lnTo>
                  <a:pt x="48" y="13"/>
                </a:lnTo>
                <a:lnTo>
                  <a:pt x="82" y="13"/>
                </a:lnTo>
                <a:lnTo>
                  <a:pt x="116" y="13"/>
                </a:lnTo>
                <a:lnTo>
                  <a:pt x="150" y="13"/>
                </a:lnTo>
                <a:lnTo>
                  <a:pt x="184" y="13"/>
                </a:lnTo>
                <a:lnTo>
                  <a:pt x="218" y="13"/>
                </a:lnTo>
                <a:lnTo>
                  <a:pt x="252" y="13"/>
                </a:lnTo>
                <a:lnTo>
                  <a:pt x="286" y="13"/>
                </a:lnTo>
                <a:lnTo>
                  <a:pt x="320" y="13"/>
                </a:lnTo>
                <a:lnTo>
                  <a:pt x="354" y="13"/>
                </a:lnTo>
                <a:lnTo>
                  <a:pt x="388" y="13"/>
                </a:lnTo>
                <a:lnTo>
                  <a:pt x="422" y="13"/>
                </a:lnTo>
                <a:lnTo>
                  <a:pt x="456" y="13"/>
                </a:lnTo>
                <a:lnTo>
                  <a:pt x="490" y="13"/>
                </a:lnTo>
                <a:lnTo>
                  <a:pt x="524" y="13"/>
                </a:lnTo>
                <a:lnTo>
                  <a:pt x="558" y="24"/>
                </a:lnTo>
                <a:lnTo>
                  <a:pt x="592" y="24"/>
                </a:lnTo>
                <a:lnTo>
                  <a:pt x="626" y="35"/>
                </a:lnTo>
                <a:lnTo>
                  <a:pt x="660" y="35"/>
                </a:lnTo>
                <a:lnTo>
                  <a:pt x="694" y="35"/>
                </a:lnTo>
                <a:lnTo>
                  <a:pt x="728" y="24"/>
                </a:lnTo>
                <a:lnTo>
                  <a:pt x="762" y="35"/>
                </a:lnTo>
                <a:lnTo>
                  <a:pt x="796" y="58"/>
                </a:lnTo>
                <a:lnTo>
                  <a:pt x="807" y="92"/>
                </a:lnTo>
                <a:lnTo>
                  <a:pt x="818" y="126"/>
                </a:lnTo>
                <a:lnTo>
                  <a:pt x="830" y="160"/>
                </a:lnTo>
                <a:lnTo>
                  <a:pt x="841" y="194"/>
                </a:lnTo>
                <a:lnTo>
                  <a:pt x="852" y="228"/>
                </a:lnTo>
                <a:lnTo>
                  <a:pt x="863" y="262"/>
                </a:lnTo>
                <a:lnTo>
                  <a:pt x="875" y="296"/>
                </a:lnTo>
                <a:lnTo>
                  <a:pt x="886" y="330"/>
                </a:lnTo>
                <a:lnTo>
                  <a:pt x="897" y="364"/>
                </a:lnTo>
                <a:lnTo>
                  <a:pt x="897" y="398"/>
                </a:lnTo>
                <a:lnTo>
                  <a:pt x="909" y="432"/>
                </a:lnTo>
                <a:lnTo>
                  <a:pt x="920" y="466"/>
                </a:lnTo>
                <a:lnTo>
                  <a:pt x="920" y="499"/>
                </a:lnTo>
                <a:lnTo>
                  <a:pt x="931" y="533"/>
                </a:lnTo>
                <a:lnTo>
                  <a:pt x="943" y="567"/>
                </a:lnTo>
                <a:lnTo>
                  <a:pt x="943" y="601"/>
                </a:lnTo>
                <a:lnTo>
                  <a:pt x="943" y="635"/>
                </a:lnTo>
                <a:lnTo>
                  <a:pt x="943" y="669"/>
                </a:lnTo>
                <a:lnTo>
                  <a:pt x="954" y="703"/>
                </a:lnTo>
                <a:lnTo>
                  <a:pt x="954" y="737"/>
                </a:lnTo>
                <a:lnTo>
                  <a:pt x="954" y="771"/>
                </a:lnTo>
                <a:lnTo>
                  <a:pt x="954" y="805"/>
                </a:lnTo>
                <a:lnTo>
                  <a:pt x="954" y="839"/>
                </a:lnTo>
                <a:lnTo>
                  <a:pt x="954" y="873"/>
                </a:lnTo>
                <a:lnTo>
                  <a:pt x="954" y="918"/>
                </a:lnTo>
                <a:lnTo>
                  <a:pt x="954" y="952"/>
                </a:lnTo>
                <a:lnTo>
                  <a:pt x="954" y="986"/>
                </a:lnTo>
                <a:lnTo>
                  <a:pt x="954" y="1020"/>
                </a:lnTo>
                <a:lnTo>
                  <a:pt x="954" y="1054"/>
                </a:lnTo>
                <a:lnTo>
                  <a:pt x="954" y="1088"/>
                </a:lnTo>
                <a:lnTo>
                  <a:pt x="954" y="1122"/>
                </a:lnTo>
                <a:lnTo>
                  <a:pt x="954" y="1156"/>
                </a:lnTo>
                <a:lnTo>
                  <a:pt x="954" y="1190"/>
                </a:lnTo>
                <a:lnTo>
                  <a:pt x="954" y="1224"/>
                </a:lnTo>
                <a:lnTo>
                  <a:pt x="954" y="1258"/>
                </a:lnTo>
                <a:lnTo>
                  <a:pt x="954" y="1292"/>
                </a:lnTo>
                <a:lnTo>
                  <a:pt x="954" y="1326"/>
                </a:lnTo>
                <a:lnTo>
                  <a:pt x="954" y="1360"/>
                </a:lnTo>
                <a:lnTo>
                  <a:pt x="954" y="1394"/>
                </a:lnTo>
                <a:lnTo>
                  <a:pt x="954" y="1428"/>
                </a:lnTo>
                <a:lnTo>
                  <a:pt x="920" y="1428"/>
                </a:lnTo>
                <a:lnTo>
                  <a:pt x="886" y="1428"/>
                </a:lnTo>
                <a:lnTo>
                  <a:pt x="852" y="1428"/>
                </a:lnTo>
                <a:lnTo>
                  <a:pt x="818" y="1428"/>
                </a:lnTo>
                <a:lnTo>
                  <a:pt x="784" y="1428"/>
                </a:lnTo>
                <a:lnTo>
                  <a:pt x="750" y="1428"/>
                </a:lnTo>
                <a:lnTo>
                  <a:pt x="716" y="1428"/>
                </a:lnTo>
                <a:lnTo>
                  <a:pt x="682" y="1428"/>
                </a:lnTo>
                <a:lnTo>
                  <a:pt x="648" y="1428"/>
                </a:lnTo>
                <a:lnTo>
                  <a:pt x="614" y="1428"/>
                </a:lnTo>
                <a:lnTo>
                  <a:pt x="580" y="1428"/>
                </a:lnTo>
                <a:lnTo>
                  <a:pt x="546" y="1428"/>
                </a:lnTo>
                <a:lnTo>
                  <a:pt x="512" y="1428"/>
                </a:lnTo>
                <a:lnTo>
                  <a:pt x="467" y="1428"/>
                </a:lnTo>
                <a:lnTo>
                  <a:pt x="433" y="1428"/>
                </a:lnTo>
                <a:lnTo>
                  <a:pt x="399" y="1428"/>
                </a:lnTo>
                <a:lnTo>
                  <a:pt x="365" y="1428"/>
                </a:lnTo>
                <a:lnTo>
                  <a:pt x="331" y="1428"/>
                </a:lnTo>
                <a:lnTo>
                  <a:pt x="297" y="1428"/>
                </a:lnTo>
                <a:lnTo>
                  <a:pt x="263" y="1428"/>
                </a:lnTo>
                <a:lnTo>
                  <a:pt x="229" y="1428"/>
                </a:lnTo>
                <a:lnTo>
                  <a:pt x="207" y="1394"/>
                </a:lnTo>
                <a:lnTo>
                  <a:pt x="207" y="1360"/>
                </a:lnTo>
                <a:lnTo>
                  <a:pt x="207" y="1326"/>
                </a:lnTo>
                <a:lnTo>
                  <a:pt x="207" y="1292"/>
                </a:lnTo>
                <a:lnTo>
                  <a:pt x="207" y="1258"/>
                </a:lnTo>
                <a:lnTo>
                  <a:pt x="207" y="1213"/>
                </a:lnTo>
                <a:lnTo>
                  <a:pt x="195" y="1179"/>
                </a:lnTo>
                <a:lnTo>
                  <a:pt x="195" y="1145"/>
                </a:lnTo>
                <a:lnTo>
                  <a:pt x="195" y="1111"/>
                </a:lnTo>
                <a:lnTo>
                  <a:pt x="195" y="1077"/>
                </a:lnTo>
                <a:lnTo>
                  <a:pt x="195" y="1043"/>
                </a:lnTo>
                <a:lnTo>
                  <a:pt x="195" y="1009"/>
                </a:lnTo>
                <a:lnTo>
                  <a:pt x="195" y="975"/>
                </a:lnTo>
                <a:lnTo>
                  <a:pt x="184" y="941"/>
                </a:lnTo>
                <a:lnTo>
                  <a:pt x="184" y="907"/>
                </a:lnTo>
                <a:lnTo>
                  <a:pt x="173" y="873"/>
                </a:lnTo>
                <a:lnTo>
                  <a:pt x="173" y="839"/>
                </a:lnTo>
                <a:lnTo>
                  <a:pt x="173" y="805"/>
                </a:lnTo>
                <a:lnTo>
                  <a:pt x="173" y="771"/>
                </a:lnTo>
                <a:lnTo>
                  <a:pt x="173" y="737"/>
                </a:lnTo>
                <a:lnTo>
                  <a:pt x="173" y="703"/>
                </a:lnTo>
                <a:lnTo>
                  <a:pt x="173" y="669"/>
                </a:lnTo>
                <a:lnTo>
                  <a:pt x="161" y="635"/>
                </a:lnTo>
                <a:lnTo>
                  <a:pt x="161" y="601"/>
                </a:lnTo>
                <a:lnTo>
                  <a:pt x="150" y="567"/>
                </a:lnTo>
                <a:lnTo>
                  <a:pt x="150" y="533"/>
                </a:lnTo>
                <a:lnTo>
                  <a:pt x="150" y="499"/>
                </a:lnTo>
                <a:lnTo>
                  <a:pt x="150" y="466"/>
                </a:lnTo>
                <a:lnTo>
                  <a:pt x="150" y="432"/>
                </a:lnTo>
                <a:lnTo>
                  <a:pt x="139" y="398"/>
                </a:lnTo>
                <a:lnTo>
                  <a:pt x="127" y="364"/>
                </a:lnTo>
                <a:lnTo>
                  <a:pt x="105" y="330"/>
                </a:lnTo>
                <a:lnTo>
                  <a:pt x="105" y="296"/>
                </a:lnTo>
                <a:lnTo>
                  <a:pt x="93" y="262"/>
                </a:lnTo>
                <a:lnTo>
                  <a:pt x="82" y="228"/>
                </a:lnTo>
                <a:lnTo>
                  <a:pt x="71" y="194"/>
                </a:lnTo>
                <a:lnTo>
                  <a:pt x="60" y="160"/>
                </a:lnTo>
                <a:lnTo>
                  <a:pt x="48" y="126"/>
                </a:lnTo>
                <a:lnTo>
                  <a:pt x="37" y="92"/>
                </a:lnTo>
                <a:lnTo>
                  <a:pt x="37" y="58"/>
                </a:lnTo>
                <a:lnTo>
                  <a:pt x="0" y="0"/>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59" name="Rectangle 15"/>
          <p:cNvSpPr>
            <a:spLocks noChangeArrowheads="1"/>
          </p:cNvSpPr>
          <p:nvPr/>
        </p:nvSpPr>
        <p:spPr bwMode="auto">
          <a:xfrm>
            <a:off x="4389835" y="18407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7360" name="Line 16"/>
          <p:cNvSpPr>
            <a:spLocks noChangeShapeType="1"/>
          </p:cNvSpPr>
          <p:nvPr/>
        </p:nvSpPr>
        <p:spPr bwMode="auto">
          <a:xfrm>
            <a:off x="5544741" y="18288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61" name="Line 17"/>
          <p:cNvSpPr>
            <a:spLocks noChangeShapeType="1"/>
          </p:cNvSpPr>
          <p:nvPr/>
        </p:nvSpPr>
        <p:spPr bwMode="auto">
          <a:xfrm>
            <a:off x="5544741" y="35433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62" name="Rectangle 18"/>
          <p:cNvSpPr>
            <a:spLocks noChangeArrowheads="1"/>
          </p:cNvSpPr>
          <p:nvPr/>
        </p:nvSpPr>
        <p:spPr bwMode="auto">
          <a:xfrm>
            <a:off x="50756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7363" name="Rectangle 19"/>
          <p:cNvSpPr>
            <a:spLocks noChangeArrowheads="1"/>
          </p:cNvSpPr>
          <p:nvPr/>
        </p:nvSpPr>
        <p:spPr bwMode="auto">
          <a:xfrm>
            <a:off x="58757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7364" name="Rectangle 20"/>
          <p:cNvSpPr>
            <a:spLocks noChangeArrowheads="1"/>
          </p:cNvSpPr>
          <p:nvPr/>
        </p:nvSpPr>
        <p:spPr bwMode="auto">
          <a:xfrm>
            <a:off x="50756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7365" name="Rectangle 21"/>
          <p:cNvSpPr>
            <a:spLocks noChangeArrowheads="1"/>
          </p:cNvSpPr>
          <p:nvPr/>
        </p:nvSpPr>
        <p:spPr bwMode="auto">
          <a:xfrm>
            <a:off x="57614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grpSp>
        <p:nvGrpSpPr>
          <p:cNvPr id="57369" name="Group 25"/>
          <p:cNvGrpSpPr>
            <a:grpSpLocks/>
          </p:cNvGrpSpPr>
          <p:nvPr/>
        </p:nvGrpSpPr>
        <p:grpSpPr bwMode="auto">
          <a:xfrm>
            <a:off x="4687491" y="2115741"/>
            <a:ext cx="913209" cy="227409"/>
            <a:chOff x="2977" y="1777"/>
            <a:chExt cx="767" cy="191"/>
          </a:xfrm>
        </p:grpSpPr>
        <p:sp>
          <p:nvSpPr>
            <p:cNvPr id="57366" name="Line 22"/>
            <p:cNvSpPr>
              <a:spLocks noChangeShapeType="1"/>
            </p:cNvSpPr>
            <p:nvPr/>
          </p:nvSpPr>
          <p:spPr bwMode="auto">
            <a:xfrm>
              <a:off x="2977" y="1825"/>
              <a:ext cx="47" cy="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67" name="Line 23"/>
            <p:cNvSpPr>
              <a:spLocks noChangeShapeType="1"/>
            </p:cNvSpPr>
            <p:nvPr/>
          </p:nvSpPr>
          <p:spPr bwMode="auto">
            <a:xfrm>
              <a:off x="3025" y="1968"/>
              <a:ext cx="6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68" name="Line 24"/>
            <p:cNvSpPr>
              <a:spLocks noChangeShapeType="1"/>
            </p:cNvSpPr>
            <p:nvPr/>
          </p:nvSpPr>
          <p:spPr bwMode="auto">
            <a:xfrm flipV="1">
              <a:off x="3697" y="1777"/>
              <a:ext cx="47" cy="19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grpSp>
        <p:nvGrpSpPr>
          <p:cNvPr id="57373" name="Group 29"/>
          <p:cNvGrpSpPr>
            <a:grpSpLocks/>
          </p:cNvGrpSpPr>
          <p:nvPr/>
        </p:nvGrpSpPr>
        <p:grpSpPr bwMode="auto">
          <a:xfrm>
            <a:off x="4516041" y="1314450"/>
            <a:ext cx="1027509" cy="228600"/>
            <a:chOff x="2833" y="1104"/>
            <a:chExt cx="863" cy="192"/>
          </a:xfrm>
        </p:grpSpPr>
        <p:sp>
          <p:nvSpPr>
            <p:cNvPr id="57370" name="Line 26"/>
            <p:cNvSpPr>
              <a:spLocks noChangeShapeType="1"/>
            </p:cNvSpPr>
            <p:nvPr/>
          </p:nvSpPr>
          <p:spPr bwMode="auto">
            <a:xfrm flipH="1" flipV="1">
              <a:off x="3649" y="1105"/>
              <a:ext cx="47" cy="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71" name="Line 27"/>
            <p:cNvSpPr>
              <a:spLocks noChangeShapeType="1"/>
            </p:cNvSpPr>
            <p:nvPr/>
          </p:nvSpPr>
          <p:spPr bwMode="auto">
            <a:xfrm flipH="1">
              <a:off x="2881" y="1104"/>
              <a:ext cx="7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72" name="Line 28"/>
            <p:cNvSpPr>
              <a:spLocks noChangeShapeType="1"/>
            </p:cNvSpPr>
            <p:nvPr/>
          </p:nvSpPr>
          <p:spPr bwMode="auto">
            <a:xfrm flipH="1">
              <a:off x="2833" y="1105"/>
              <a:ext cx="47" cy="19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grpSp>
        <p:nvGrpSpPr>
          <p:cNvPr id="57379" name="Group 35"/>
          <p:cNvGrpSpPr>
            <a:grpSpLocks/>
          </p:cNvGrpSpPr>
          <p:nvPr/>
        </p:nvGrpSpPr>
        <p:grpSpPr bwMode="auto">
          <a:xfrm>
            <a:off x="2446735" y="3601644"/>
            <a:ext cx="4854178" cy="915592"/>
            <a:chOff x="1095" y="3025"/>
            <a:chExt cx="4077" cy="769"/>
          </a:xfrm>
        </p:grpSpPr>
        <p:sp>
          <p:nvSpPr>
            <p:cNvPr id="57374" name="Rectangle 30"/>
            <p:cNvSpPr>
              <a:spLocks noChangeArrowheads="1"/>
            </p:cNvSpPr>
            <p:nvPr/>
          </p:nvSpPr>
          <p:spPr bwMode="auto">
            <a:xfrm>
              <a:off x="1095" y="3466"/>
              <a:ext cx="81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57375" name="Rectangle 31"/>
            <p:cNvSpPr>
              <a:spLocks noChangeArrowheads="1"/>
            </p:cNvSpPr>
            <p:nvPr/>
          </p:nvSpPr>
          <p:spPr bwMode="auto">
            <a:xfrm>
              <a:off x="2391" y="3226"/>
              <a:ext cx="1829"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action potential</a:t>
              </a:r>
            </a:p>
          </p:txBody>
        </p:sp>
        <p:sp>
          <p:nvSpPr>
            <p:cNvPr id="57376" name="Line 32"/>
            <p:cNvSpPr>
              <a:spLocks noChangeShapeType="1"/>
            </p:cNvSpPr>
            <p:nvPr/>
          </p:nvSpPr>
          <p:spPr bwMode="auto">
            <a:xfrm flipV="1">
              <a:off x="1489" y="3025"/>
              <a:ext cx="239" cy="38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7377" name="Rectangle 33"/>
            <p:cNvSpPr>
              <a:spLocks noChangeArrowheads="1"/>
            </p:cNvSpPr>
            <p:nvPr/>
          </p:nvSpPr>
          <p:spPr bwMode="auto">
            <a:xfrm>
              <a:off x="4359" y="3466"/>
              <a:ext cx="81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57378" name="Line 34"/>
            <p:cNvSpPr>
              <a:spLocks noChangeShapeType="1"/>
            </p:cNvSpPr>
            <p:nvPr/>
          </p:nvSpPr>
          <p:spPr bwMode="auto">
            <a:xfrm flipH="1" flipV="1">
              <a:off x="4465" y="3025"/>
              <a:ext cx="239" cy="38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57380" name="Rectangle 36"/>
          <p:cNvSpPr>
            <a:spLocks noChangeArrowheads="1"/>
          </p:cNvSpPr>
          <p:nvPr/>
        </p:nvSpPr>
        <p:spPr bwMode="auto">
          <a:xfrm>
            <a:off x="33611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7381" name="Rectangle 37"/>
          <p:cNvSpPr>
            <a:spLocks noChangeArrowheads="1"/>
          </p:cNvSpPr>
          <p:nvPr/>
        </p:nvSpPr>
        <p:spPr bwMode="auto">
          <a:xfrm>
            <a:off x="4275535" y="14644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7382" name="Line 38"/>
          <p:cNvSpPr>
            <a:spLocks noChangeShapeType="1"/>
          </p:cNvSpPr>
          <p:nvPr/>
        </p:nvSpPr>
        <p:spPr bwMode="auto">
          <a:xfrm flipV="1">
            <a:off x="4857750" y="3601641"/>
            <a:ext cx="0" cy="2845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Tree>
    <p:extLst>
      <p:ext uri="{BB962C8B-B14F-4D97-AF65-F5344CB8AC3E}">
        <p14:creationId xmlns:p14="http://schemas.microsoft.com/office/powerpoint/2010/main" val="3392762383"/>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26"/>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9395" name="Rectangle 1027"/>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9396" name="Rectangle 1028"/>
          <p:cNvSpPr>
            <a:spLocks noChangeArrowheads="1"/>
          </p:cNvSpPr>
          <p:nvPr/>
        </p:nvSpPr>
        <p:spPr bwMode="auto">
          <a:xfrm>
            <a:off x="1475185" y="240506"/>
            <a:ext cx="606742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66" tIns="33338" rIns="67866" bIns="33338">
            <a:spAutoFit/>
          </a:bodyPr>
          <a:lstStyle/>
          <a:p>
            <a:pPr defTabSz="571500"/>
            <a:r>
              <a:rPr lang="en-GB" sz="2100">
                <a:solidFill>
                  <a:schemeClr val="hlink"/>
                </a:solidFill>
                <a:latin typeface="Arial Rounded MT Bold" pitchFamily="34" charset="0"/>
              </a:rPr>
              <a:t>The action potential travels via current loops.</a:t>
            </a:r>
          </a:p>
        </p:txBody>
      </p:sp>
      <p:sp>
        <p:nvSpPr>
          <p:cNvPr id="59397" name="Oval 1029"/>
          <p:cNvSpPr>
            <a:spLocks noChangeArrowheads="1"/>
          </p:cNvSpPr>
          <p:nvPr/>
        </p:nvSpPr>
        <p:spPr bwMode="auto">
          <a:xfrm>
            <a:off x="190500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9398" name="Oval 1030"/>
          <p:cNvSpPr>
            <a:spLocks noChangeArrowheads="1"/>
          </p:cNvSpPr>
          <p:nvPr/>
        </p:nvSpPr>
        <p:spPr bwMode="auto">
          <a:xfrm>
            <a:off x="653415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9399" name="Line 1031"/>
          <p:cNvSpPr>
            <a:spLocks noChangeShapeType="1"/>
          </p:cNvSpPr>
          <p:nvPr/>
        </p:nvSpPr>
        <p:spPr bwMode="auto">
          <a:xfrm>
            <a:off x="2172891" y="18288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00" name="Line 1032"/>
          <p:cNvSpPr>
            <a:spLocks noChangeShapeType="1"/>
          </p:cNvSpPr>
          <p:nvPr/>
        </p:nvSpPr>
        <p:spPr bwMode="auto">
          <a:xfrm>
            <a:off x="2172891" y="35433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01" name="Rectangle 1033"/>
          <p:cNvSpPr>
            <a:spLocks noChangeArrowheads="1"/>
          </p:cNvSpPr>
          <p:nvPr/>
        </p:nvSpPr>
        <p:spPr bwMode="auto">
          <a:xfrm>
            <a:off x="25038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9402" name="Rectangle 1034"/>
          <p:cNvSpPr>
            <a:spLocks noChangeArrowheads="1"/>
          </p:cNvSpPr>
          <p:nvPr/>
        </p:nvSpPr>
        <p:spPr bwMode="auto">
          <a:xfrm>
            <a:off x="25610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9403" name="Rectangle 1035"/>
          <p:cNvSpPr>
            <a:spLocks noChangeArrowheads="1"/>
          </p:cNvSpPr>
          <p:nvPr/>
        </p:nvSpPr>
        <p:spPr bwMode="auto">
          <a:xfrm>
            <a:off x="341828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9404" name="Arc 1036"/>
          <p:cNvSpPr>
            <a:spLocks/>
          </p:cNvSpPr>
          <p:nvPr/>
        </p:nvSpPr>
        <p:spPr bwMode="auto">
          <a:xfrm>
            <a:off x="594479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05" name="Arc 1037"/>
          <p:cNvSpPr>
            <a:spLocks/>
          </p:cNvSpPr>
          <p:nvPr/>
        </p:nvSpPr>
        <p:spPr bwMode="auto">
          <a:xfrm>
            <a:off x="503039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06" name="Freeform 1038"/>
          <p:cNvSpPr>
            <a:spLocks/>
          </p:cNvSpPr>
          <p:nvPr/>
        </p:nvSpPr>
        <p:spPr bwMode="auto">
          <a:xfrm>
            <a:off x="5086351" y="1828800"/>
            <a:ext cx="1137047" cy="1701404"/>
          </a:xfrm>
          <a:custGeom>
            <a:avLst/>
            <a:gdLst>
              <a:gd name="T0" fmla="*/ 48 w 955"/>
              <a:gd name="T1" fmla="*/ 13 h 1429"/>
              <a:gd name="T2" fmla="*/ 116 w 955"/>
              <a:gd name="T3" fmla="*/ 13 h 1429"/>
              <a:gd name="T4" fmla="*/ 184 w 955"/>
              <a:gd name="T5" fmla="*/ 13 h 1429"/>
              <a:gd name="T6" fmla="*/ 252 w 955"/>
              <a:gd name="T7" fmla="*/ 13 h 1429"/>
              <a:gd name="T8" fmla="*/ 320 w 955"/>
              <a:gd name="T9" fmla="*/ 13 h 1429"/>
              <a:gd name="T10" fmla="*/ 388 w 955"/>
              <a:gd name="T11" fmla="*/ 13 h 1429"/>
              <a:gd name="T12" fmla="*/ 456 w 955"/>
              <a:gd name="T13" fmla="*/ 13 h 1429"/>
              <a:gd name="T14" fmla="*/ 524 w 955"/>
              <a:gd name="T15" fmla="*/ 13 h 1429"/>
              <a:gd name="T16" fmla="*/ 592 w 955"/>
              <a:gd name="T17" fmla="*/ 24 h 1429"/>
              <a:gd name="T18" fmla="*/ 660 w 955"/>
              <a:gd name="T19" fmla="*/ 35 h 1429"/>
              <a:gd name="T20" fmla="*/ 728 w 955"/>
              <a:gd name="T21" fmla="*/ 24 h 1429"/>
              <a:gd name="T22" fmla="*/ 796 w 955"/>
              <a:gd name="T23" fmla="*/ 58 h 1429"/>
              <a:gd name="T24" fmla="*/ 818 w 955"/>
              <a:gd name="T25" fmla="*/ 126 h 1429"/>
              <a:gd name="T26" fmla="*/ 841 w 955"/>
              <a:gd name="T27" fmla="*/ 194 h 1429"/>
              <a:gd name="T28" fmla="*/ 863 w 955"/>
              <a:gd name="T29" fmla="*/ 262 h 1429"/>
              <a:gd name="T30" fmla="*/ 886 w 955"/>
              <a:gd name="T31" fmla="*/ 330 h 1429"/>
              <a:gd name="T32" fmla="*/ 897 w 955"/>
              <a:gd name="T33" fmla="*/ 398 h 1429"/>
              <a:gd name="T34" fmla="*/ 920 w 955"/>
              <a:gd name="T35" fmla="*/ 466 h 1429"/>
              <a:gd name="T36" fmla="*/ 931 w 955"/>
              <a:gd name="T37" fmla="*/ 533 h 1429"/>
              <a:gd name="T38" fmla="*/ 943 w 955"/>
              <a:gd name="T39" fmla="*/ 601 h 1429"/>
              <a:gd name="T40" fmla="*/ 943 w 955"/>
              <a:gd name="T41" fmla="*/ 669 h 1429"/>
              <a:gd name="T42" fmla="*/ 954 w 955"/>
              <a:gd name="T43" fmla="*/ 737 h 1429"/>
              <a:gd name="T44" fmla="*/ 954 w 955"/>
              <a:gd name="T45" fmla="*/ 805 h 1429"/>
              <a:gd name="T46" fmla="*/ 954 w 955"/>
              <a:gd name="T47" fmla="*/ 873 h 1429"/>
              <a:gd name="T48" fmla="*/ 954 w 955"/>
              <a:gd name="T49" fmla="*/ 952 h 1429"/>
              <a:gd name="T50" fmla="*/ 954 w 955"/>
              <a:gd name="T51" fmla="*/ 1020 h 1429"/>
              <a:gd name="T52" fmla="*/ 954 w 955"/>
              <a:gd name="T53" fmla="*/ 1088 h 1429"/>
              <a:gd name="T54" fmla="*/ 954 w 955"/>
              <a:gd name="T55" fmla="*/ 1156 h 1429"/>
              <a:gd name="T56" fmla="*/ 954 w 955"/>
              <a:gd name="T57" fmla="*/ 1224 h 1429"/>
              <a:gd name="T58" fmla="*/ 954 w 955"/>
              <a:gd name="T59" fmla="*/ 1292 h 1429"/>
              <a:gd name="T60" fmla="*/ 954 w 955"/>
              <a:gd name="T61" fmla="*/ 1360 h 1429"/>
              <a:gd name="T62" fmla="*/ 954 w 955"/>
              <a:gd name="T63" fmla="*/ 1428 h 1429"/>
              <a:gd name="T64" fmla="*/ 886 w 955"/>
              <a:gd name="T65" fmla="*/ 1428 h 1429"/>
              <a:gd name="T66" fmla="*/ 818 w 955"/>
              <a:gd name="T67" fmla="*/ 1428 h 1429"/>
              <a:gd name="T68" fmla="*/ 750 w 955"/>
              <a:gd name="T69" fmla="*/ 1428 h 1429"/>
              <a:gd name="T70" fmla="*/ 682 w 955"/>
              <a:gd name="T71" fmla="*/ 1428 h 1429"/>
              <a:gd name="T72" fmla="*/ 614 w 955"/>
              <a:gd name="T73" fmla="*/ 1428 h 1429"/>
              <a:gd name="T74" fmla="*/ 546 w 955"/>
              <a:gd name="T75" fmla="*/ 1428 h 1429"/>
              <a:gd name="T76" fmla="*/ 467 w 955"/>
              <a:gd name="T77" fmla="*/ 1428 h 1429"/>
              <a:gd name="T78" fmla="*/ 399 w 955"/>
              <a:gd name="T79" fmla="*/ 1428 h 1429"/>
              <a:gd name="T80" fmla="*/ 331 w 955"/>
              <a:gd name="T81" fmla="*/ 1428 h 1429"/>
              <a:gd name="T82" fmla="*/ 263 w 955"/>
              <a:gd name="T83" fmla="*/ 1428 h 1429"/>
              <a:gd name="T84" fmla="*/ 207 w 955"/>
              <a:gd name="T85" fmla="*/ 1394 h 1429"/>
              <a:gd name="T86" fmla="*/ 207 w 955"/>
              <a:gd name="T87" fmla="*/ 1326 h 1429"/>
              <a:gd name="T88" fmla="*/ 207 w 955"/>
              <a:gd name="T89" fmla="*/ 1258 h 1429"/>
              <a:gd name="T90" fmla="*/ 195 w 955"/>
              <a:gd name="T91" fmla="*/ 1179 h 1429"/>
              <a:gd name="T92" fmla="*/ 195 w 955"/>
              <a:gd name="T93" fmla="*/ 1111 h 1429"/>
              <a:gd name="T94" fmla="*/ 195 w 955"/>
              <a:gd name="T95" fmla="*/ 1043 h 1429"/>
              <a:gd name="T96" fmla="*/ 195 w 955"/>
              <a:gd name="T97" fmla="*/ 975 h 1429"/>
              <a:gd name="T98" fmla="*/ 184 w 955"/>
              <a:gd name="T99" fmla="*/ 907 h 1429"/>
              <a:gd name="T100" fmla="*/ 173 w 955"/>
              <a:gd name="T101" fmla="*/ 839 h 1429"/>
              <a:gd name="T102" fmla="*/ 173 w 955"/>
              <a:gd name="T103" fmla="*/ 771 h 1429"/>
              <a:gd name="T104" fmla="*/ 173 w 955"/>
              <a:gd name="T105" fmla="*/ 703 h 1429"/>
              <a:gd name="T106" fmla="*/ 161 w 955"/>
              <a:gd name="T107" fmla="*/ 635 h 1429"/>
              <a:gd name="T108" fmla="*/ 150 w 955"/>
              <a:gd name="T109" fmla="*/ 567 h 1429"/>
              <a:gd name="T110" fmla="*/ 150 w 955"/>
              <a:gd name="T111" fmla="*/ 499 h 1429"/>
              <a:gd name="T112" fmla="*/ 150 w 955"/>
              <a:gd name="T113" fmla="*/ 432 h 1429"/>
              <a:gd name="T114" fmla="*/ 127 w 955"/>
              <a:gd name="T115" fmla="*/ 364 h 1429"/>
              <a:gd name="T116" fmla="*/ 105 w 955"/>
              <a:gd name="T117" fmla="*/ 296 h 1429"/>
              <a:gd name="T118" fmla="*/ 82 w 955"/>
              <a:gd name="T119" fmla="*/ 228 h 1429"/>
              <a:gd name="T120" fmla="*/ 60 w 955"/>
              <a:gd name="T121" fmla="*/ 160 h 1429"/>
              <a:gd name="T122" fmla="*/ 37 w 955"/>
              <a:gd name="T123" fmla="*/ 92 h 1429"/>
              <a:gd name="T124" fmla="*/ 0 w 955"/>
              <a:gd name="T125" fmla="*/ 0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55" h="1429">
                <a:moveTo>
                  <a:pt x="0" y="0"/>
                </a:moveTo>
                <a:lnTo>
                  <a:pt x="48" y="13"/>
                </a:lnTo>
                <a:lnTo>
                  <a:pt x="82" y="13"/>
                </a:lnTo>
                <a:lnTo>
                  <a:pt x="116" y="13"/>
                </a:lnTo>
                <a:lnTo>
                  <a:pt x="150" y="13"/>
                </a:lnTo>
                <a:lnTo>
                  <a:pt x="184" y="13"/>
                </a:lnTo>
                <a:lnTo>
                  <a:pt x="218" y="13"/>
                </a:lnTo>
                <a:lnTo>
                  <a:pt x="252" y="13"/>
                </a:lnTo>
                <a:lnTo>
                  <a:pt x="286" y="13"/>
                </a:lnTo>
                <a:lnTo>
                  <a:pt x="320" y="13"/>
                </a:lnTo>
                <a:lnTo>
                  <a:pt x="354" y="13"/>
                </a:lnTo>
                <a:lnTo>
                  <a:pt x="388" y="13"/>
                </a:lnTo>
                <a:lnTo>
                  <a:pt x="422" y="13"/>
                </a:lnTo>
                <a:lnTo>
                  <a:pt x="456" y="13"/>
                </a:lnTo>
                <a:lnTo>
                  <a:pt x="490" y="13"/>
                </a:lnTo>
                <a:lnTo>
                  <a:pt x="524" y="13"/>
                </a:lnTo>
                <a:lnTo>
                  <a:pt x="558" y="24"/>
                </a:lnTo>
                <a:lnTo>
                  <a:pt x="592" y="24"/>
                </a:lnTo>
                <a:lnTo>
                  <a:pt x="626" y="35"/>
                </a:lnTo>
                <a:lnTo>
                  <a:pt x="660" y="35"/>
                </a:lnTo>
                <a:lnTo>
                  <a:pt x="694" y="35"/>
                </a:lnTo>
                <a:lnTo>
                  <a:pt x="728" y="24"/>
                </a:lnTo>
                <a:lnTo>
                  <a:pt x="762" y="35"/>
                </a:lnTo>
                <a:lnTo>
                  <a:pt x="796" y="58"/>
                </a:lnTo>
                <a:lnTo>
                  <a:pt x="807" y="92"/>
                </a:lnTo>
                <a:lnTo>
                  <a:pt x="818" y="126"/>
                </a:lnTo>
                <a:lnTo>
                  <a:pt x="830" y="160"/>
                </a:lnTo>
                <a:lnTo>
                  <a:pt x="841" y="194"/>
                </a:lnTo>
                <a:lnTo>
                  <a:pt x="852" y="228"/>
                </a:lnTo>
                <a:lnTo>
                  <a:pt x="863" y="262"/>
                </a:lnTo>
                <a:lnTo>
                  <a:pt x="875" y="296"/>
                </a:lnTo>
                <a:lnTo>
                  <a:pt x="886" y="330"/>
                </a:lnTo>
                <a:lnTo>
                  <a:pt x="897" y="364"/>
                </a:lnTo>
                <a:lnTo>
                  <a:pt x="897" y="398"/>
                </a:lnTo>
                <a:lnTo>
                  <a:pt x="909" y="432"/>
                </a:lnTo>
                <a:lnTo>
                  <a:pt x="920" y="466"/>
                </a:lnTo>
                <a:lnTo>
                  <a:pt x="920" y="499"/>
                </a:lnTo>
                <a:lnTo>
                  <a:pt x="931" y="533"/>
                </a:lnTo>
                <a:lnTo>
                  <a:pt x="943" y="567"/>
                </a:lnTo>
                <a:lnTo>
                  <a:pt x="943" y="601"/>
                </a:lnTo>
                <a:lnTo>
                  <a:pt x="943" y="635"/>
                </a:lnTo>
                <a:lnTo>
                  <a:pt x="943" y="669"/>
                </a:lnTo>
                <a:lnTo>
                  <a:pt x="954" y="703"/>
                </a:lnTo>
                <a:lnTo>
                  <a:pt x="954" y="737"/>
                </a:lnTo>
                <a:lnTo>
                  <a:pt x="954" y="771"/>
                </a:lnTo>
                <a:lnTo>
                  <a:pt x="954" y="805"/>
                </a:lnTo>
                <a:lnTo>
                  <a:pt x="954" y="839"/>
                </a:lnTo>
                <a:lnTo>
                  <a:pt x="954" y="873"/>
                </a:lnTo>
                <a:lnTo>
                  <a:pt x="954" y="918"/>
                </a:lnTo>
                <a:lnTo>
                  <a:pt x="954" y="952"/>
                </a:lnTo>
                <a:lnTo>
                  <a:pt x="954" y="986"/>
                </a:lnTo>
                <a:lnTo>
                  <a:pt x="954" y="1020"/>
                </a:lnTo>
                <a:lnTo>
                  <a:pt x="954" y="1054"/>
                </a:lnTo>
                <a:lnTo>
                  <a:pt x="954" y="1088"/>
                </a:lnTo>
                <a:lnTo>
                  <a:pt x="954" y="1122"/>
                </a:lnTo>
                <a:lnTo>
                  <a:pt x="954" y="1156"/>
                </a:lnTo>
                <a:lnTo>
                  <a:pt x="954" y="1190"/>
                </a:lnTo>
                <a:lnTo>
                  <a:pt x="954" y="1224"/>
                </a:lnTo>
                <a:lnTo>
                  <a:pt x="954" y="1258"/>
                </a:lnTo>
                <a:lnTo>
                  <a:pt x="954" y="1292"/>
                </a:lnTo>
                <a:lnTo>
                  <a:pt x="954" y="1326"/>
                </a:lnTo>
                <a:lnTo>
                  <a:pt x="954" y="1360"/>
                </a:lnTo>
                <a:lnTo>
                  <a:pt x="954" y="1394"/>
                </a:lnTo>
                <a:lnTo>
                  <a:pt x="954" y="1428"/>
                </a:lnTo>
                <a:lnTo>
                  <a:pt x="920" y="1428"/>
                </a:lnTo>
                <a:lnTo>
                  <a:pt x="886" y="1428"/>
                </a:lnTo>
                <a:lnTo>
                  <a:pt x="852" y="1428"/>
                </a:lnTo>
                <a:lnTo>
                  <a:pt x="818" y="1428"/>
                </a:lnTo>
                <a:lnTo>
                  <a:pt x="784" y="1428"/>
                </a:lnTo>
                <a:lnTo>
                  <a:pt x="750" y="1428"/>
                </a:lnTo>
                <a:lnTo>
                  <a:pt x="716" y="1428"/>
                </a:lnTo>
                <a:lnTo>
                  <a:pt x="682" y="1428"/>
                </a:lnTo>
                <a:lnTo>
                  <a:pt x="648" y="1428"/>
                </a:lnTo>
                <a:lnTo>
                  <a:pt x="614" y="1428"/>
                </a:lnTo>
                <a:lnTo>
                  <a:pt x="580" y="1428"/>
                </a:lnTo>
                <a:lnTo>
                  <a:pt x="546" y="1428"/>
                </a:lnTo>
                <a:lnTo>
                  <a:pt x="512" y="1428"/>
                </a:lnTo>
                <a:lnTo>
                  <a:pt x="467" y="1428"/>
                </a:lnTo>
                <a:lnTo>
                  <a:pt x="433" y="1428"/>
                </a:lnTo>
                <a:lnTo>
                  <a:pt x="399" y="1428"/>
                </a:lnTo>
                <a:lnTo>
                  <a:pt x="365" y="1428"/>
                </a:lnTo>
                <a:lnTo>
                  <a:pt x="331" y="1428"/>
                </a:lnTo>
                <a:lnTo>
                  <a:pt x="297" y="1428"/>
                </a:lnTo>
                <a:lnTo>
                  <a:pt x="263" y="1428"/>
                </a:lnTo>
                <a:lnTo>
                  <a:pt x="229" y="1428"/>
                </a:lnTo>
                <a:lnTo>
                  <a:pt x="207" y="1394"/>
                </a:lnTo>
                <a:lnTo>
                  <a:pt x="207" y="1360"/>
                </a:lnTo>
                <a:lnTo>
                  <a:pt x="207" y="1326"/>
                </a:lnTo>
                <a:lnTo>
                  <a:pt x="207" y="1292"/>
                </a:lnTo>
                <a:lnTo>
                  <a:pt x="207" y="1258"/>
                </a:lnTo>
                <a:lnTo>
                  <a:pt x="207" y="1213"/>
                </a:lnTo>
                <a:lnTo>
                  <a:pt x="195" y="1179"/>
                </a:lnTo>
                <a:lnTo>
                  <a:pt x="195" y="1145"/>
                </a:lnTo>
                <a:lnTo>
                  <a:pt x="195" y="1111"/>
                </a:lnTo>
                <a:lnTo>
                  <a:pt x="195" y="1077"/>
                </a:lnTo>
                <a:lnTo>
                  <a:pt x="195" y="1043"/>
                </a:lnTo>
                <a:lnTo>
                  <a:pt x="195" y="1009"/>
                </a:lnTo>
                <a:lnTo>
                  <a:pt x="195" y="975"/>
                </a:lnTo>
                <a:lnTo>
                  <a:pt x="184" y="941"/>
                </a:lnTo>
                <a:lnTo>
                  <a:pt x="184" y="907"/>
                </a:lnTo>
                <a:lnTo>
                  <a:pt x="173" y="873"/>
                </a:lnTo>
                <a:lnTo>
                  <a:pt x="173" y="839"/>
                </a:lnTo>
                <a:lnTo>
                  <a:pt x="173" y="805"/>
                </a:lnTo>
                <a:lnTo>
                  <a:pt x="173" y="771"/>
                </a:lnTo>
                <a:lnTo>
                  <a:pt x="173" y="737"/>
                </a:lnTo>
                <a:lnTo>
                  <a:pt x="173" y="703"/>
                </a:lnTo>
                <a:lnTo>
                  <a:pt x="173" y="669"/>
                </a:lnTo>
                <a:lnTo>
                  <a:pt x="161" y="635"/>
                </a:lnTo>
                <a:lnTo>
                  <a:pt x="161" y="601"/>
                </a:lnTo>
                <a:lnTo>
                  <a:pt x="150" y="567"/>
                </a:lnTo>
                <a:lnTo>
                  <a:pt x="150" y="533"/>
                </a:lnTo>
                <a:lnTo>
                  <a:pt x="150" y="499"/>
                </a:lnTo>
                <a:lnTo>
                  <a:pt x="150" y="466"/>
                </a:lnTo>
                <a:lnTo>
                  <a:pt x="150" y="432"/>
                </a:lnTo>
                <a:lnTo>
                  <a:pt x="139" y="398"/>
                </a:lnTo>
                <a:lnTo>
                  <a:pt x="127" y="364"/>
                </a:lnTo>
                <a:lnTo>
                  <a:pt x="105" y="330"/>
                </a:lnTo>
                <a:lnTo>
                  <a:pt x="105" y="296"/>
                </a:lnTo>
                <a:lnTo>
                  <a:pt x="93" y="262"/>
                </a:lnTo>
                <a:lnTo>
                  <a:pt x="82" y="228"/>
                </a:lnTo>
                <a:lnTo>
                  <a:pt x="71" y="194"/>
                </a:lnTo>
                <a:lnTo>
                  <a:pt x="60" y="160"/>
                </a:lnTo>
                <a:lnTo>
                  <a:pt x="48" y="126"/>
                </a:lnTo>
                <a:lnTo>
                  <a:pt x="37" y="92"/>
                </a:lnTo>
                <a:lnTo>
                  <a:pt x="37" y="58"/>
                </a:lnTo>
                <a:lnTo>
                  <a:pt x="0" y="0"/>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07" name="Rectangle 1039"/>
          <p:cNvSpPr>
            <a:spLocks noChangeArrowheads="1"/>
          </p:cNvSpPr>
          <p:nvPr/>
        </p:nvSpPr>
        <p:spPr bwMode="auto">
          <a:xfrm>
            <a:off x="5132785" y="18407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9408" name="Line 1040"/>
          <p:cNvSpPr>
            <a:spLocks noChangeShapeType="1"/>
          </p:cNvSpPr>
          <p:nvPr/>
        </p:nvSpPr>
        <p:spPr bwMode="auto">
          <a:xfrm>
            <a:off x="5544741" y="18288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09" name="Line 1041"/>
          <p:cNvSpPr>
            <a:spLocks noChangeShapeType="1"/>
          </p:cNvSpPr>
          <p:nvPr/>
        </p:nvSpPr>
        <p:spPr bwMode="auto">
          <a:xfrm>
            <a:off x="5544741" y="35433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10" name="Rectangle 1042"/>
          <p:cNvSpPr>
            <a:spLocks noChangeArrowheads="1"/>
          </p:cNvSpPr>
          <p:nvPr/>
        </p:nvSpPr>
        <p:spPr bwMode="auto">
          <a:xfrm>
            <a:off x="42755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9411" name="Rectangle 1043"/>
          <p:cNvSpPr>
            <a:spLocks noChangeArrowheads="1"/>
          </p:cNvSpPr>
          <p:nvPr/>
        </p:nvSpPr>
        <p:spPr bwMode="auto">
          <a:xfrm>
            <a:off x="58757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59412" name="Rectangle 1044"/>
          <p:cNvSpPr>
            <a:spLocks noChangeArrowheads="1"/>
          </p:cNvSpPr>
          <p:nvPr/>
        </p:nvSpPr>
        <p:spPr bwMode="auto">
          <a:xfrm>
            <a:off x="42755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9413" name="Rectangle 1045"/>
          <p:cNvSpPr>
            <a:spLocks noChangeArrowheads="1"/>
          </p:cNvSpPr>
          <p:nvPr/>
        </p:nvSpPr>
        <p:spPr bwMode="auto">
          <a:xfrm>
            <a:off x="59900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grpSp>
        <p:nvGrpSpPr>
          <p:cNvPr id="59417" name="Group 1049"/>
          <p:cNvGrpSpPr>
            <a:grpSpLocks/>
          </p:cNvGrpSpPr>
          <p:nvPr/>
        </p:nvGrpSpPr>
        <p:grpSpPr bwMode="auto">
          <a:xfrm>
            <a:off x="5544741" y="2115741"/>
            <a:ext cx="913209" cy="227409"/>
            <a:chOff x="3697" y="1777"/>
            <a:chExt cx="767" cy="191"/>
          </a:xfrm>
        </p:grpSpPr>
        <p:sp>
          <p:nvSpPr>
            <p:cNvPr id="59414" name="Line 1046"/>
            <p:cNvSpPr>
              <a:spLocks noChangeShapeType="1"/>
            </p:cNvSpPr>
            <p:nvPr/>
          </p:nvSpPr>
          <p:spPr bwMode="auto">
            <a:xfrm>
              <a:off x="3697" y="1825"/>
              <a:ext cx="47" cy="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15" name="Line 1047"/>
            <p:cNvSpPr>
              <a:spLocks noChangeShapeType="1"/>
            </p:cNvSpPr>
            <p:nvPr/>
          </p:nvSpPr>
          <p:spPr bwMode="auto">
            <a:xfrm>
              <a:off x="3745" y="1968"/>
              <a:ext cx="6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16" name="Line 1048"/>
            <p:cNvSpPr>
              <a:spLocks noChangeShapeType="1"/>
            </p:cNvSpPr>
            <p:nvPr/>
          </p:nvSpPr>
          <p:spPr bwMode="auto">
            <a:xfrm flipV="1">
              <a:off x="4417" y="1777"/>
              <a:ext cx="47" cy="19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grpSp>
        <p:nvGrpSpPr>
          <p:cNvPr id="59421" name="Group 1053"/>
          <p:cNvGrpSpPr>
            <a:grpSpLocks/>
          </p:cNvGrpSpPr>
          <p:nvPr/>
        </p:nvGrpSpPr>
        <p:grpSpPr bwMode="auto">
          <a:xfrm>
            <a:off x="5373291" y="1314450"/>
            <a:ext cx="1027509" cy="228600"/>
            <a:chOff x="3553" y="1104"/>
            <a:chExt cx="863" cy="192"/>
          </a:xfrm>
        </p:grpSpPr>
        <p:sp>
          <p:nvSpPr>
            <p:cNvPr id="59418" name="Line 1050"/>
            <p:cNvSpPr>
              <a:spLocks noChangeShapeType="1"/>
            </p:cNvSpPr>
            <p:nvPr/>
          </p:nvSpPr>
          <p:spPr bwMode="auto">
            <a:xfrm flipH="1" flipV="1">
              <a:off x="4369" y="1105"/>
              <a:ext cx="47" cy="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19" name="Line 1051"/>
            <p:cNvSpPr>
              <a:spLocks noChangeShapeType="1"/>
            </p:cNvSpPr>
            <p:nvPr/>
          </p:nvSpPr>
          <p:spPr bwMode="auto">
            <a:xfrm flipH="1">
              <a:off x="3601" y="1104"/>
              <a:ext cx="7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20" name="Line 1052"/>
            <p:cNvSpPr>
              <a:spLocks noChangeShapeType="1"/>
            </p:cNvSpPr>
            <p:nvPr/>
          </p:nvSpPr>
          <p:spPr bwMode="auto">
            <a:xfrm flipH="1">
              <a:off x="3553" y="1105"/>
              <a:ext cx="47" cy="19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59422" name="Rectangle 1054"/>
          <p:cNvSpPr>
            <a:spLocks noChangeArrowheads="1"/>
          </p:cNvSpPr>
          <p:nvPr/>
        </p:nvSpPr>
        <p:spPr bwMode="auto">
          <a:xfrm>
            <a:off x="3143250" y="4183856"/>
            <a:ext cx="96837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59423" name="Rectangle 1055"/>
          <p:cNvSpPr>
            <a:spLocks noChangeArrowheads="1"/>
          </p:cNvSpPr>
          <p:nvPr/>
        </p:nvSpPr>
        <p:spPr bwMode="auto">
          <a:xfrm>
            <a:off x="4686301" y="3898106"/>
            <a:ext cx="2177681"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action potential</a:t>
            </a:r>
          </a:p>
        </p:txBody>
      </p:sp>
      <p:sp>
        <p:nvSpPr>
          <p:cNvPr id="59424" name="Line 1056"/>
          <p:cNvSpPr>
            <a:spLocks noChangeShapeType="1"/>
          </p:cNvSpPr>
          <p:nvPr/>
        </p:nvSpPr>
        <p:spPr bwMode="auto">
          <a:xfrm flipV="1">
            <a:off x="3612357" y="3658791"/>
            <a:ext cx="284560" cy="45600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59425" name="Rectangle 1057"/>
          <p:cNvSpPr>
            <a:spLocks noChangeArrowheads="1"/>
          </p:cNvSpPr>
          <p:nvPr/>
        </p:nvSpPr>
        <p:spPr bwMode="auto">
          <a:xfrm>
            <a:off x="7028260" y="4182666"/>
            <a:ext cx="138113" cy="389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59426" name="Rectangle 1058"/>
          <p:cNvSpPr>
            <a:spLocks noChangeArrowheads="1"/>
          </p:cNvSpPr>
          <p:nvPr/>
        </p:nvSpPr>
        <p:spPr bwMode="auto">
          <a:xfrm>
            <a:off x="33611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9427" name="Rectangle 1059"/>
          <p:cNvSpPr>
            <a:spLocks noChangeArrowheads="1"/>
          </p:cNvSpPr>
          <p:nvPr/>
        </p:nvSpPr>
        <p:spPr bwMode="auto">
          <a:xfrm>
            <a:off x="5075635" y="14644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59428" name="Line 1060"/>
          <p:cNvSpPr>
            <a:spLocks noChangeShapeType="1"/>
          </p:cNvSpPr>
          <p:nvPr/>
        </p:nvSpPr>
        <p:spPr bwMode="auto">
          <a:xfrm flipV="1">
            <a:off x="5715000" y="3600450"/>
            <a:ext cx="0" cy="2845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Tree>
    <p:extLst>
      <p:ext uri="{BB962C8B-B14F-4D97-AF65-F5344CB8AC3E}">
        <p14:creationId xmlns:p14="http://schemas.microsoft.com/office/powerpoint/2010/main" val="823544513"/>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1443"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1444" name="Rectangle 4"/>
          <p:cNvSpPr>
            <a:spLocks noChangeArrowheads="1"/>
          </p:cNvSpPr>
          <p:nvPr/>
        </p:nvSpPr>
        <p:spPr bwMode="auto">
          <a:xfrm>
            <a:off x="1475185" y="240506"/>
            <a:ext cx="606742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66" tIns="33338" rIns="67866" bIns="33338">
            <a:spAutoFit/>
          </a:bodyPr>
          <a:lstStyle/>
          <a:p>
            <a:pPr defTabSz="571500"/>
            <a:r>
              <a:rPr lang="en-GB" sz="2100">
                <a:solidFill>
                  <a:schemeClr val="hlink"/>
                </a:solidFill>
                <a:latin typeface="Arial Rounded MT Bold" pitchFamily="34" charset="0"/>
              </a:rPr>
              <a:t>The action potential travels via current loops.</a:t>
            </a:r>
          </a:p>
        </p:txBody>
      </p:sp>
      <p:sp>
        <p:nvSpPr>
          <p:cNvPr id="61445" name="Oval 5"/>
          <p:cNvSpPr>
            <a:spLocks noChangeArrowheads="1"/>
          </p:cNvSpPr>
          <p:nvPr/>
        </p:nvSpPr>
        <p:spPr bwMode="auto">
          <a:xfrm>
            <a:off x="190500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1446" name="Oval 6"/>
          <p:cNvSpPr>
            <a:spLocks noChangeArrowheads="1"/>
          </p:cNvSpPr>
          <p:nvPr/>
        </p:nvSpPr>
        <p:spPr bwMode="auto">
          <a:xfrm>
            <a:off x="653415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1447" name="Line 7"/>
          <p:cNvSpPr>
            <a:spLocks noChangeShapeType="1"/>
          </p:cNvSpPr>
          <p:nvPr/>
        </p:nvSpPr>
        <p:spPr bwMode="auto">
          <a:xfrm>
            <a:off x="2172891" y="18288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48" name="Line 8"/>
          <p:cNvSpPr>
            <a:spLocks noChangeShapeType="1"/>
          </p:cNvSpPr>
          <p:nvPr/>
        </p:nvSpPr>
        <p:spPr bwMode="auto">
          <a:xfrm>
            <a:off x="2172891" y="35433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49" name="Rectangle 9"/>
          <p:cNvSpPr>
            <a:spLocks noChangeArrowheads="1"/>
          </p:cNvSpPr>
          <p:nvPr/>
        </p:nvSpPr>
        <p:spPr bwMode="auto">
          <a:xfrm>
            <a:off x="25038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1450" name="Rectangle 10"/>
          <p:cNvSpPr>
            <a:spLocks noChangeArrowheads="1"/>
          </p:cNvSpPr>
          <p:nvPr/>
        </p:nvSpPr>
        <p:spPr bwMode="auto">
          <a:xfrm>
            <a:off x="25610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1451" name="Rectangle 11"/>
          <p:cNvSpPr>
            <a:spLocks noChangeArrowheads="1"/>
          </p:cNvSpPr>
          <p:nvPr/>
        </p:nvSpPr>
        <p:spPr bwMode="auto">
          <a:xfrm>
            <a:off x="341828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1452" name="Arc 12"/>
          <p:cNvSpPr>
            <a:spLocks/>
          </p:cNvSpPr>
          <p:nvPr/>
        </p:nvSpPr>
        <p:spPr bwMode="auto">
          <a:xfrm>
            <a:off x="594479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53" name="Arc 13"/>
          <p:cNvSpPr>
            <a:spLocks/>
          </p:cNvSpPr>
          <p:nvPr/>
        </p:nvSpPr>
        <p:spPr bwMode="auto">
          <a:xfrm>
            <a:off x="588764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54" name="Freeform 14"/>
          <p:cNvSpPr>
            <a:spLocks/>
          </p:cNvSpPr>
          <p:nvPr/>
        </p:nvSpPr>
        <p:spPr bwMode="auto">
          <a:xfrm>
            <a:off x="6000750" y="1828800"/>
            <a:ext cx="515541" cy="1701404"/>
          </a:xfrm>
          <a:custGeom>
            <a:avLst/>
            <a:gdLst>
              <a:gd name="T0" fmla="*/ 21 w 433"/>
              <a:gd name="T1" fmla="*/ 13 h 1429"/>
              <a:gd name="T2" fmla="*/ 52 w 433"/>
              <a:gd name="T3" fmla="*/ 13 h 1429"/>
              <a:gd name="T4" fmla="*/ 83 w 433"/>
              <a:gd name="T5" fmla="*/ 13 h 1429"/>
              <a:gd name="T6" fmla="*/ 114 w 433"/>
              <a:gd name="T7" fmla="*/ 13 h 1429"/>
              <a:gd name="T8" fmla="*/ 144 w 433"/>
              <a:gd name="T9" fmla="*/ 13 h 1429"/>
              <a:gd name="T10" fmla="*/ 175 w 433"/>
              <a:gd name="T11" fmla="*/ 13 h 1429"/>
              <a:gd name="T12" fmla="*/ 206 w 433"/>
              <a:gd name="T13" fmla="*/ 13 h 1429"/>
              <a:gd name="T14" fmla="*/ 237 w 433"/>
              <a:gd name="T15" fmla="*/ 13 h 1429"/>
              <a:gd name="T16" fmla="*/ 268 w 433"/>
              <a:gd name="T17" fmla="*/ 24 h 1429"/>
              <a:gd name="T18" fmla="*/ 298 w 433"/>
              <a:gd name="T19" fmla="*/ 35 h 1429"/>
              <a:gd name="T20" fmla="*/ 329 w 433"/>
              <a:gd name="T21" fmla="*/ 24 h 1429"/>
              <a:gd name="T22" fmla="*/ 360 w 433"/>
              <a:gd name="T23" fmla="*/ 58 h 1429"/>
              <a:gd name="T24" fmla="*/ 370 w 433"/>
              <a:gd name="T25" fmla="*/ 126 h 1429"/>
              <a:gd name="T26" fmla="*/ 380 w 433"/>
              <a:gd name="T27" fmla="*/ 194 h 1429"/>
              <a:gd name="T28" fmla="*/ 390 w 433"/>
              <a:gd name="T29" fmla="*/ 262 h 1429"/>
              <a:gd name="T30" fmla="*/ 401 w 433"/>
              <a:gd name="T31" fmla="*/ 330 h 1429"/>
              <a:gd name="T32" fmla="*/ 406 w 433"/>
              <a:gd name="T33" fmla="*/ 398 h 1429"/>
              <a:gd name="T34" fmla="*/ 416 w 433"/>
              <a:gd name="T35" fmla="*/ 466 h 1429"/>
              <a:gd name="T36" fmla="*/ 421 w 433"/>
              <a:gd name="T37" fmla="*/ 533 h 1429"/>
              <a:gd name="T38" fmla="*/ 427 w 433"/>
              <a:gd name="T39" fmla="*/ 601 h 1429"/>
              <a:gd name="T40" fmla="*/ 427 w 433"/>
              <a:gd name="T41" fmla="*/ 669 h 1429"/>
              <a:gd name="T42" fmla="*/ 432 w 433"/>
              <a:gd name="T43" fmla="*/ 737 h 1429"/>
              <a:gd name="T44" fmla="*/ 432 w 433"/>
              <a:gd name="T45" fmla="*/ 805 h 1429"/>
              <a:gd name="T46" fmla="*/ 432 w 433"/>
              <a:gd name="T47" fmla="*/ 873 h 1429"/>
              <a:gd name="T48" fmla="*/ 432 w 433"/>
              <a:gd name="T49" fmla="*/ 952 h 1429"/>
              <a:gd name="T50" fmla="*/ 432 w 433"/>
              <a:gd name="T51" fmla="*/ 1020 h 1429"/>
              <a:gd name="T52" fmla="*/ 432 w 433"/>
              <a:gd name="T53" fmla="*/ 1088 h 1429"/>
              <a:gd name="T54" fmla="*/ 432 w 433"/>
              <a:gd name="T55" fmla="*/ 1156 h 1429"/>
              <a:gd name="T56" fmla="*/ 432 w 433"/>
              <a:gd name="T57" fmla="*/ 1224 h 1429"/>
              <a:gd name="T58" fmla="*/ 432 w 433"/>
              <a:gd name="T59" fmla="*/ 1292 h 1429"/>
              <a:gd name="T60" fmla="*/ 432 w 433"/>
              <a:gd name="T61" fmla="*/ 1360 h 1429"/>
              <a:gd name="T62" fmla="*/ 432 w 433"/>
              <a:gd name="T63" fmla="*/ 1428 h 1429"/>
              <a:gd name="T64" fmla="*/ 401 w 433"/>
              <a:gd name="T65" fmla="*/ 1428 h 1429"/>
              <a:gd name="T66" fmla="*/ 370 w 433"/>
              <a:gd name="T67" fmla="*/ 1428 h 1429"/>
              <a:gd name="T68" fmla="*/ 339 w 433"/>
              <a:gd name="T69" fmla="*/ 1428 h 1429"/>
              <a:gd name="T70" fmla="*/ 308 w 433"/>
              <a:gd name="T71" fmla="*/ 1428 h 1429"/>
              <a:gd name="T72" fmla="*/ 278 w 433"/>
              <a:gd name="T73" fmla="*/ 1428 h 1429"/>
              <a:gd name="T74" fmla="*/ 247 w 433"/>
              <a:gd name="T75" fmla="*/ 1428 h 1429"/>
              <a:gd name="T76" fmla="*/ 211 w 433"/>
              <a:gd name="T77" fmla="*/ 1428 h 1429"/>
              <a:gd name="T78" fmla="*/ 180 w 433"/>
              <a:gd name="T79" fmla="*/ 1428 h 1429"/>
              <a:gd name="T80" fmla="*/ 149 w 433"/>
              <a:gd name="T81" fmla="*/ 1428 h 1429"/>
              <a:gd name="T82" fmla="*/ 119 w 433"/>
              <a:gd name="T83" fmla="*/ 1428 h 1429"/>
              <a:gd name="T84" fmla="*/ 93 w 433"/>
              <a:gd name="T85" fmla="*/ 1394 h 1429"/>
              <a:gd name="T86" fmla="*/ 93 w 433"/>
              <a:gd name="T87" fmla="*/ 1326 h 1429"/>
              <a:gd name="T88" fmla="*/ 93 w 433"/>
              <a:gd name="T89" fmla="*/ 1258 h 1429"/>
              <a:gd name="T90" fmla="*/ 88 w 433"/>
              <a:gd name="T91" fmla="*/ 1179 h 1429"/>
              <a:gd name="T92" fmla="*/ 88 w 433"/>
              <a:gd name="T93" fmla="*/ 1111 h 1429"/>
              <a:gd name="T94" fmla="*/ 88 w 433"/>
              <a:gd name="T95" fmla="*/ 1043 h 1429"/>
              <a:gd name="T96" fmla="*/ 88 w 433"/>
              <a:gd name="T97" fmla="*/ 975 h 1429"/>
              <a:gd name="T98" fmla="*/ 83 w 433"/>
              <a:gd name="T99" fmla="*/ 907 h 1429"/>
              <a:gd name="T100" fmla="*/ 78 w 433"/>
              <a:gd name="T101" fmla="*/ 839 h 1429"/>
              <a:gd name="T102" fmla="*/ 78 w 433"/>
              <a:gd name="T103" fmla="*/ 771 h 1429"/>
              <a:gd name="T104" fmla="*/ 78 w 433"/>
              <a:gd name="T105" fmla="*/ 703 h 1429"/>
              <a:gd name="T106" fmla="*/ 72 w 433"/>
              <a:gd name="T107" fmla="*/ 635 h 1429"/>
              <a:gd name="T108" fmla="*/ 67 w 433"/>
              <a:gd name="T109" fmla="*/ 567 h 1429"/>
              <a:gd name="T110" fmla="*/ 67 w 433"/>
              <a:gd name="T111" fmla="*/ 499 h 1429"/>
              <a:gd name="T112" fmla="*/ 67 w 433"/>
              <a:gd name="T113" fmla="*/ 432 h 1429"/>
              <a:gd name="T114" fmla="*/ 57 w 433"/>
              <a:gd name="T115" fmla="*/ 364 h 1429"/>
              <a:gd name="T116" fmla="*/ 47 w 433"/>
              <a:gd name="T117" fmla="*/ 296 h 1429"/>
              <a:gd name="T118" fmla="*/ 37 w 433"/>
              <a:gd name="T119" fmla="*/ 228 h 1429"/>
              <a:gd name="T120" fmla="*/ 27 w 433"/>
              <a:gd name="T121" fmla="*/ 160 h 1429"/>
              <a:gd name="T122" fmla="*/ 16 w 433"/>
              <a:gd name="T123" fmla="*/ 92 h 1429"/>
              <a:gd name="T124" fmla="*/ 0 w 433"/>
              <a:gd name="T125" fmla="*/ 0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3" h="1429">
                <a:moveTo>
                  <a:pt x="0" y="0"/>
                </a:moveTo>
                <a:lnTo>
                  <a:pt x="21" y="13"/>
                </a:lnTo>
                <a:lnTo>
                  <a:pt x="37" y="13"/>
                </a:lnTo>
                <a:lnTo>
                  <a:pt x="52" y="13"/>
                </a:lnTo>
                <a:lnTo>
                  <a:pt x="67" y="13"/>
                </a:lnTo>
                <a:lnTo>
                  <a:pt x="83" y="13"/>
                </a:lnTo>
                <a:lnTo>
                  <a:pt x="98" y="13"/>
                </a:lnTo>
                <a:lnTo>
                  <a:pt x="114" y="13"/>
                </a:lnTo>
                <a:lnTo>
                  <a:pt x="129" y="13"/>
                </a:lnTo>
                <a:lnTo>
                  <a:pt x="144" y="13"/>
                </a:lnTo>
                <a:lnTo>
                  <a:pt x="160" y="13"/>
                </a:lnTo>
                <a:lnTo>
                  <a:pt x="175" y="13"/>
                </a:lnTo>
                <a:lnTo>
                  <a:pt x="191" y="13"/>
                </a:lnTo>
                <a:lnTo>
                  <a:pt x="206" y="13"/>
                </a:lnTo>
                <a:lnTo>
                  <a:pt x="221" y="13"/>
                </a:lnTo>
                <a:lnTo>
                  <a:pt x="237" y="13"/>
                </a:lnTo>
                <a:lnTo>
                  <a:pt x="252" y="24"/>
                </a:lnTo>
                <a:lnTo>
                  <a:pt x="268" y="24"/>
                </a:lnTo>
                <a:lnTo>
                  <a:pt x="283" y="35"/>
                </a:lnTo>
                <a:lnTo>
                  <a:pt x="298" y="35"/>
                </a:lnTo>
                <a:lnTo>
                  <a:pt x="314" y="35"/>
                </a:lnTo>
                <a:lnTo>
                  <a:pt x="329" y="24"/>
                </a:lnTo>
                <a:lnTo>
                  <a:pt x="345" y="35"/>
                </a:lnTo>
                <a:lnTo>
                  <a:pt x="360" y="58"/>
                </a:lnTo>
                <a:lnTo>
                  <a:pt x="365" y="92"/>
                </a:lnTo>
                <a:lnTo>
                  <a:pt x="370" y="126"/>
                </a:lnTo>
                <a:lnTo>
                  <a:pt x="375" y="160"/>
                </a:lnTo>
                <a:lnTo>
                  <a:pt x="380" y="194"/>
                </a:lnTo>
                <a:lnTo>
                  <a:pt x="385" y="228"/>
                </a:lnTo>
                <a:lnTo>
                  <a:pt x="390" y="262"/>
                </a:lnTo>
                <a:lnTo>
                  <a:pt x="396" y="296"/>
                </a:lnTo>
                <a:lnTo>
                  <a:pt x="401" y="330"/>
                </a:lnTo>
                <a:lnTo>
                  <a:pt x="406" y="364"/>
                </a:lnTo>
                <a:lnTo>
                  <a:pt x="406" y="398"/>
                </a:lnTo>
                <a:lnTo>
                  <a:pt x="411" y="432"/>
                </a:lnTo>
                <a:lnTo>
                  <a:pt x="416" y="466"/>
                </a:lnTo>
                <a:lnTo>
                  <a:pt x="416" y="499"/>
                </a:lnTo>
                <a:lnTo>
                  <a:pt x="421" y="533"/>
                </a:lnTo>
                <a:lnTo>
                  <a:pt x="427" y="567"/>
                </a:lnTo>
                <a:lnTo>
                  <a:pt x="427" y="601"/>
                </a:lnTo>
                <a:lnTo>
                  <a:pt x="427" y="635"/>
                </a:lnTo>
                <a:lnTo>
                  <a:pt x="427" y="669"/>
                </a:lnTo>
                <a:lnTo>
                  <a:pt x="432" y="703"/>
                </a:lnTo>
                <a:lnTo>
                  <a:pt x="432" y="737"/>
                </a:lnTo>
                <a:lnTo>
                  <a:pt x="432" y="771"/>
                </a:lnTo>
                <a:lnTo>
                  <a:pt x="432" y="805"/>
                </a:lnTo>
                <a:lnTo>
                  <a:pt x="432" y="839"/>
                </a:lnTo>
                <a:lnTo>
                  <a:pt x="432" y="873"/>
                </a:lnTo>
                <a:lnTo>
                  <a:pt x="432" y="918"/>
                </a:lnTo>
                <a:lnTo>
                  <a:pt x="432" y="952"/>
                </a:lnTo>
                <a:lnTo>
                  <a:pt x="432" y="986"/>
                </a:lnTo>
                <a:lnTo>
                  <a:pt x="432" y="1020"/>
                </a:lnTo>
                <a:lnTo>
                  <a:pt x="432" y="1054"/>
                </a:lnTo>
                <a:lnTo>
                  <a:pt x="432" y="1088"/>
                </a:lnTo>
                <a:lnTo>
                  <a:pt x="432" y="1122"/>
                </a:lnTo>
                <a:lnTo>
                  <a:pt x="432" y="1156"/>
                </a:lnTo>
                <a:lnTo>
                  <a:pt x="432" y="1190"/>
                </a:lnTo>
                <a:lnTo>
                  <a:pt x="432" y="1224"/>
                </a:lnTo>
                <a:lnTo>
                  <a:pt x="432" y="1258"/>
                </a:lnTo>
                <a:lnTo>
                  <a:pt x="432" y="1292"/>
                </a:lnTo>
                <a:lnTo>
                  <a:pt x="432" y="1326"/>
                </a:lnTo>
                <a:lnTo>
                  <a:pt x="432" y="1360"/>
                </a:lnTo>
                <a:lnTo>
                  <a:pt x="432" y="1394"/>
                </a:lnTo>
                <a:lnTo>
                  <a:pt x="432" y="1428"/>
                </a:lnTo>
                <a:lnTo>
                  <a:pt x="416" y="1428"/>
                </a:lnTo>
                <a:lnTo>
                  <a:pt x="401" y="1428"/>
                </a:lnTo>
                <a:lnTo>
                  <a:pt x="385" y="1428"/>
                </a:lnTo>
                <a:lnTo>
                  <a:pt x="370" y="1428"/>
                </a:lnTo>
                <a:lnTo>
                  <a:pt x="355" y="1428"/>
                </a:lnTo>
                <a:lnTo>
                  <a:pt x="339" y="1428"/>
                </a:lnTo>
                <a:lnTo>
                  <a:pt x="324" y="1428"/>
                </a:lnTo>
                <a:lnTo>
                  <a:pt x="308" y="1428"/>
                </a:lnTo>
                <a:lnTo>
                  <a:pt x="293" y="1428"/>
                </a:lnTo>
                <a:lnTo>
                  <a:pt x="278" y="1428"/>
                </a:lnTo>
                <a:lnTo>
                  <a:pt x="262" y="1428"/>
                </a:lnTo>
                <a:lnTo>
                  <a:pt x="247" y="1428"/>
                </a:lnTo>
                <a:lnTo>
                  <a:pt x="231" y="1428"/>
                </a:lnTo>
                <a:lnTo>
                  <a:pt x="211" y="1428"/>
                </a:lnTo>
                <a:lnTo>
                  <a:pt x="196" y="1428"/>
                </a:lnTo>
                <a:lnTo>
                  <a:pt x="180" y="1428"/>
                </a:lnTo>
                <a:lnTo>
                  <a:pt x="165" y="1428"/>
                </a:lnTo>
                <a:lnTo>
                  <a:pt x="149" y="1428"/>
                </a:lnTo>
                <a:lnTo>
                  <a:pt x="134" y="1428"/>
                </a:lnTo>
                <a:lnTo>
                  <a:pt x="119" y="1428"/>
                </a:lnTo>
                <a:lnTo>
                  <a:pt x="103" y="1428"/>
                </a:lnTo>
                <a:lnTo>
                  <a:pt x="93" y="1394"/>
                </a:lnTo>
                <a:lnTo>
                  <a:pt x="93" y="1360"/>
                </a:lnTo>
                <a:lnTo>
                  <a:pt x="93" y="1326"/>
                </a:lnTo>
                <a:lnTo>
                  <a:pt x="93" y="1292"/>
                </a:lnTo>
                <a:lnTo>
                  <a:pt x="93" y="1258"/>
                </a:lnTo>
                <a:lnTo>
                  <a:pt x="93" y="1213"/>
                </a:lnTo>
                <a:lnTo>
                  <a:pt x="88" y="1179"/>
                </a:lnTo>
                <a:lnTo>
                  <a:pt x="88" y="1145"/>
                </a:lnTo>
                <a:lnTo>
                  <a:pt x="88" y="1111"/>
                </a:lnTo>
                <a:lnTo>
                  <a:pt x="88" y="1077"/>
                </a:lnTo>
                <a:lnTo>
                  <a:pt x="88" y="1043"/>
                </a:lnTo>
                <a:lnTo>
                  <a:pt x="88" y="1009"/>
                </a:lnTo>
                <a:lnTo>
                  <a:pt x="88" y="975"/>
                </a:lnTo>
                <a:lnTo>
                  <a:pt x="83" y="941"/>
                </a:lnTo>
                <a:lnTo>
                  <a:pt x="83" y="907"/>
                </a:lnTo>
                <a:lnTo>
                  <a:pt x="78" y="873"/>
                </a:lnTo>
                <a:lnTo>
                  <a:pt x="78" y="839"/>
                </a:lnTo>
                <a:lnTo>
                  <a:pt x="78" y="805"/>
                </a:lnTo>
                <a:lnTo>
                  <a:pt x="78" y="771"/>
                </a:lnTo>
                <a:lnTo>
                  <a:pt x="78" y="737"/>
                </a:lnTo>
                <a:lnTo>
                  <a:pt x="78" y="703"/>
                </a:lnTo>
                <a:lnTo>
                  <a:pt x="78" y="669"/>
                </a:lnTo>
                <a:lnTo>
                  <a:pt x="72" y="635"/>
                </a:lnTo>
                <a:lnTo>
                  <a:pt x="72" y="601"/>
                </a:lnTo>
                <a:lnTo>
                  <a:pt x="67" y="567"/>
                </a:lnTo>
                <a:lnTo>
                  <a:pt x="67" y="533"/>
                </a:lnTo>
                <a:lnTo>
                  <a:pt x="67" y="499"/>
                </a:lnTo>
                <a:lnTo>
                  <a:pt x="67" y="466"/>
                </a:lnTo>
                <a:lnTo>
                  <a:pt x="67" y="432"/>
                </a:lnTo>
                <a:lnTo>
                  <a:pt x="62" y="398"/>
                </a:lnTo>
                <a:lnTo>
                  <a:pt x="57" y="364"/>
                </a:lnTo>
                <a:lnTo>
                  <a:pt x="47" y="330"/>
                </a:lnTo>
                <a:lnTo>
                  <a:pt x="47" y="296"/>
                </a:lnTo>
                <a:lnTo>
                  <a:pt x="42" y="262"/>
                </a:lnTo>
                <a:lnTo>
                  <a:pt x="37" y="228"/>
                </a:lnTo>
                <a:lnTo>
                  <a:pt x="32" y="194"/>
                </a:lnTo>
                <a:lnTo>
                  <a:pt x="27" y="160"/>
                </a:lnTo>
                <a:lnTo>
                  <a:pt x="21" y="126"/>
                </a:lnTo>
                <a:lnTo>
                  <a:pt x="16" y="92"/>
                </a:lnTo>
                <a:lnTo>
                  <a:pt x="16" y="58"/>
                </a:lnTo>
                <a:lnTo>
                  <a:pt x="0" y="0"/>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55" name="Rectangle 15"/>
          <p:cNvSpPr>
            <a:spLocks noChangeArrowheads="1"/>
          </p:cNvSpPr>
          <p:nvPr/>
        </p:nvSpPr>
        <p:spPr bwMode="auto">
          <a:xfrm>
            <a:off x="5932885" y="18407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1456" name="Line 16"/>
          <p:cNvSpPr>
            <a:spLocks noChangeShapeType="1"/>
          </p:cNvSpPr>
          <p:nvPr/>
        </p:nvSpPr>
        <p:spPr bwMode="auto">
          <a:xfrm>
            <a:off x="5544741" y="18288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57" name="Line 17"/>
          <p:cNvSpPr>
            <a:spLocks noChangeShapeType="1"/>
          </p:cNvSpPr>
          <p:nvPr/>
        </p:nvSpPr>
        <p:spPr bwMode="auto">
          <a:xfrm>
            <a:off x="5544741" y="35433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58" name="Rectangle 18"/>
          <p:cNvSpPr>
            <a:spLocks noChangeArrowheads="1"/>
          </p:cNvSpPr>
          <p:nvPr/>
        </p:nvSpPr>
        <p:spPr bwMode="auto">
          <a:xfrm>
            <a:off x="42755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1459" name="Rectangle 19"/>
          <p:cNvSpPr>
            <a:spLocks noChangeArrowheads="1"/>
          </p:cNvSpPr>
          <p:nvPr/>
        </p:nvSpPr>
        <p:spPr bwMode="auto">
          <a:xfrm>
            <a:off x="50756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1460" name="Rectangle 20"/>
          <p:cNvSpPr>
            <a:spLocks noChangeArrowheads="1"/>
          </p:cNvSpPr>
          <p:nvPr/>
        </p:nvSpPr>
        <p:spPr bwMode="auto">
          <a:xfrm>
            <a:off x="42755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1461" name="Rectangle 21"/>
          <p:cNvSpPr>
            <a:spLocks noChangeArrowheads="1"/>
          </p:cNvSpPr>
          <p:nvPr/>
        </p:nvSpPr>
        <p:spPr bwMode="auto">
          <a:xfrm>
            <a:off x="50756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grpSp>
        <p:nvGrpSpPr>
          <p:cNvPr id="61465" name="Group 25"/>
          <p:cNvGrpSpPr>
            <a:grpSpLocks/>
          </p:cNvGrpSpPr>
          <p:nvPr/>
        </p:nvGrpSpPr>
        <p:grpSpPr bwMode="auto">
          <a:xfrm>
            <a:off x="6287691" y="2058591"/>
            <a:ext cx="913209" cy="227409"/>
            <a:chOff x="4321" y="1729"/>
            <a:chExt cx="767" cy="191"/>
          </a:xfrm>
        </p:grpSpPr>
        <p:sp>
          <p:nvSpPr>
            <p:cNvPr id="61462" name="Line 22"/>
            <p:cNvSpPr>
              <a:spLocks noChangeShapeType="1"/>
            </p:cNvSpPr>
            <p:nvPr/>
          </p:nvSpPr>
          <p:spPr bwMode="auto">
            <a:xfrm>
              <a:off x="4321" y="1777"/>
              <a:ext cx="47" cy="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63" name="Line 23"/>
            <p:cNvSpPr>
              <a:spLocks noChangeShapeType="1"/>
            </p:cNvSpPr>
            <p:nvPr/>
          </p:nvSpPr>
          <p:spPr bwMode="auto">
            <a:xfrm>
              <a:off x="4369" y="1920"/>
              <a:ext cx="6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64" name="Line 24"/>
            <p:cNvSpPr>
              <a:spLocks noChangeShapeType="1"/>
            </p:cNvSpPr>
            <p:nvPr/>
          </p:nvSpPr>
          <p:spPr bwMode="auto">
            <a:xfrm flipV="1">
              <a:off x="5041" y="1729"/>
              <a:ext cx="47" cy="19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grpSp>
        <p:nvGrpSpPr>
          <p:cNvPr id="61469" name="Group 29"/>
          <p:cNvGrpSpPr>
            <a:grpSpLocks/>
          </p:cNvGrpSpPr>
          <p:nvPr/>
        </p:nvGrpSpPr>
        <p:grpSpPr bwMode="auto">
          <a:xfrm>
            <a:off x="6230541" y="1371600"/>
            <a:ext cx="1027509" cy="228600"/>
            <a:chOff x="4273" y="1152"/>
            <a:chExt cx="863" cy="192"/>
          </a:xfrm>
        </p:grpSpPr>
        <p:sp>
          <p:nvSpPr>
            <p:cNvPr id="61466" name="Line 26"/>
            <p:cNvSpPr>
              <a:spLocks noChangeShapeType="1"/>
            </p:cNvSpPr>
            <p:nvPr/>
          </p:nvSpPr>
          <p:spPr bwMode="auto">
            <a:xfrm flipH="1" flipV="1">
              <a:off x="5089" y="1153"/>
              <a:ext cx="47" cy="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67" name="Line 27"/>
            <p:cNvSpPr>
              <a:spLocks noChangeShapeType="1"/>
            </p:cNvSpPr>
            <p:nvPr/>
          </p:nvSpPr>
          <p:spPr bwMode="auto">
            <a:xfrm flipH="1">
              <a:off x="4321" y="1152"/>
              <a:ext cx="7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68" name="Line 28"/>
            <p:cNvSpPr>
              <a:spLocks noChangeShapeType="1"/>
            </p:cNvSpPr>
            <p:nvPr/>
          </p:nvSpPr>
          <p:spPr bwMode="auto">
            <a:xfrm flipH="1">
              <a:off x="4273" y="1153"/>
              <a:ext cx="47" cy="19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61470" name="Rectangle 30"/>
          <p:cNvSpPr>
            <a:spLocks noChangeArrowheads="1"/>
          </p:cNvSpPr>
          <p:nvPr/>
        </p:nvSpPr>
        <p:spPr bwMode="auto">
          <a:xfrm>
            <a:off x="4000500" y="4183856"/>
            <a:ext cx="96837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61471" name="Rectangle 31"/>
          <p:cNvSpPr>
            <a:spLocks noChangeArrowheads="1"/>
          </p:cNvSpPr>
          <p:nvPr/>
        </p:nvSpPr>
        <p:spPr bwMode="auto">
          <a:xfrm>
            <a:off x="5657851" y="3783806"/>
            <a:ext cx="2177681"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action potential</a:t>
            </a:r>
          </a:p>
        </p:txBody>
      </p:sp>
      <p:sp>
        <p:nvSpPr>
          <p:cNvPr id="61472" name="Line 32"/>
          <p:cNvSpPr>
            <a:spLocks noChangeShapeType="1"/>
          </p:cNvSpPr>
          <p:nvPr/>
        </p:nvSpPr>
        <p:spPr bwMode="auto">
          <a:xfrm flipV="1">
            <a:off x="4526757" y="3658791"/>
            <a:ext cx="284560" cy="45600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1473" name="Rectangle 33"/>
          <p:cNvSpPr>
            <a:spLocks noChangeArrowheads="1"/>
          </p:cNvSpPr>
          <p:nvPr/>
        </p:nvSpPr>
        <p:spPr bwMode="auto">
          <a:xfrm>
            <a:off x="7028260" y="4182666"/>
            <a:ext cx="138113" cy="389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1474" name="Rectangle 34"/>
          <p:cNvSpPr>
            <a:spLocks noChangeArrowheads="1"/>
          </p:cNvSpPr>
          <p:nvPr/>
        </p:nvSpPr>
        <p:spPr bwMode="auto">
          <a:xfrm>
            <a:off x="33611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1475" name="Rectangle 35"/>
          <p:cNvSpPr>
            <a:spLocks noChangeArrowheads="1"/>
          </p:cNvSpPr>
          <p:nvPr/>
        </p:nvSpPr>
        <p:spPr bwMode="auto">
          <a:xfrm>
            <a:off x="5932885" y="14644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1476" name="Line 36"/>
          <p:cNvSpPr>
            <a:spLocks noChangeShapeType="1"/>
          </p:cNvSpPr>
          <p:nvPr/>
        </p:nvSpPr>
        <p:spPr bwMode="auto">
          <a:xfrm flipV="1">
            <a:off x="6286500" y="3601641"/>
            <a:ext cx="0" cy="2845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Tree>
    <p:extLst>
      <p:ext uri="{BB962C8B-B14F-4D97-AF65-F5344CB8AC3E}">
        <p14:creationId xmlns:p14="http://schemas.microsoft.com/office/powerpoint/2010/main" val="3686551696"/>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26"/>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3491" name="Rectangle 1027"/>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3492" name="Rectangle 1028"/>
          <p:cNvSpPr>
            <a:spLocks noChangeArrowheads="1"/>
          </p:cNvSpPr>
          <p:nvPr/>
        </p:nvSpPr>
        <p:spPr bwMode="auto">
          <a:xfrm>
            <a:off x="1475185" y="240507"/>
            <a:ext cx="6067425" cy="103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66" tIns="33338" rIns="67866" bIns="33338">
            <a:spAutoFit/>
          </a:bodyPr>
          <a:lstStyle/>
          <a:p>
            <a:pPr defTabSz="571500"/>
            <a:r>
              <a:rPr lang="en-GB" sz="2100">
                <a:solidFill>
                  <a:schemeClr val="hlink"/>
                </a:solidFill>
                <a:latin typeface="Arial Rounded MT Bold" pitchFamily="34" charset="0"/>
              </a:rPr>
              <a:t>The nearby area is depolarised by the current loop -- and another a.p. is set off, and so it goes, down the axon.</a:t>
            </a:r>
          </a:p>
        </p:txBody>
      </p:sp>
      <p:sp>
        <p:nvSpPr>
          <p:cNvPr id="63493" name="Oval 1029"/>
          <p:cNvSpPr>
            <a:spLocks noChangeArrowheads="1"/>
          </p:cNvSpPr>
          <p:nvPr/>
        </p:nvSpPr>
        <p:spPr bwMode="auto">
          <a:xfrm>
            <a:off x="190500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3494" name="Oval 1030"/>
          <p:cNvSpPr>
            <a:spLocks noChangeArrowheads="1"/>
          </p:cNvSpPr>
          <p:nvPr/>
        </p:nvSpPr>
        <p:spPr bwMode="auto">
          <a:xfrm>
            <a:off x="653415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3495" name="Line 1031"/>
          <p:cNvSpPr>
            <a:spLocks noChangeShapeType="1"/>
          </p:cNvSpPr>
          <p:nvPr/>
        </p:nvSpPr>
        <p:spPr bwMode="auto">
          <a:xfrm>
            <a:off x="2172891" y="18288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6" name="Line 1032"/>
          <p:cNvSpPr>
            <a:spLocks noChangeShapeType="1"/>
          </p:cNvSpPr>
          <p:nvPr/>
        </p:nvSpPr>
        <p:spPr bwMode="auto">
          <a:xfrm>
            <a:off x="2172891" y="35433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497" name="Rectangle 1033"/>
          <p:cNvSpPr>
            <a:spLocks noChangeArrowheads="1"/>
          </p:cNvSpPr>
          <p:nvPr/>
        </p:nvSpPr>
        <p:spPr bwMode="auto">
          <a:xfrm>
            <a:off x="25038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3498" name="Rectangle 1034"/>
          <p:cNvSpPr>
            <a:spLocks noChangeArrowheads="1"/>
          </p:cNvSpPr>
          <p:nvPr/>
        </p:nvSpPr>
        <p:spPr bwMode="auto">
          <a:xfrm>
            <a:off x="25610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3499" name="Rectangle 1035"/>
          <p:cNvSpPr>
            <a:spLocks noChangeArrowheads="1"/>
          </p:cNvSpPr>
          <p:nvPr/>
        </p:nvSpPr>
        <p:spPr bwMode="auto">
          <a:xfrm>
            <a:off x="341828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3500" name="Arc 1036"/>
          <p:cNvSpPr>
            <a:spLocks/>
          </p:cNvSpPr>
          <p:nvPr/>
        </p:nvSpPr>
        <p:spPr bwMode="auto">
          <a:xfrm>
            <a:off x="594479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01" name="Arc 1037"/>
          <p:cNvSpPr>
            <a:spLocks/>
          </p:cNvSpPr>
          <p:nvPr/>
        </p:nvSpPr>
        <p:spPr bwMode="auto">
          <a:xfrm>
            <a:off x="588764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02" name="Freeform 1038"/>
          <p:cNvSpPr>
            <a:spLocks/>
          </p:cNvSpPr>
          <p:nvPr/>
        </p:nvSpPr>
        <p:spPr bwMode="auto">
          <a:xfrm>
            <a:off x="6000750" y="1828800"/>
            <a:ext cx="515541" cy="1701404"/>
          </a:xfrm>
          <a:custGeom>
            <a:avLst/>
            <a:gdLst>
              <a:gd name="T0" fmla="*/ 21 w 433"/>
              <a:gd name="T1" fmla="*/ 13 h 1429"/>
              <a:gd name="T2" fmla="*/ 52 w 433"/>
              <a:gd name="T3" fmla="*/ 13 h 1429"/>
              <a:gd name="T4" fmla="*/ 83 w 433"/>
              <a:gd name="T5" fmla="*/ 13 h 1429"/>
              <a:gd name="T6" fmla="*/ 114 w 433"/>
              <a:gd name="T7" fmla="*/ 13 h 1429"/>
              <a:gd name="T8" fmla="*/ 144 w 433"/>
              <a:gd name="T9" fmla="*/ 13 h 1429"/>
              <a:gd name="T10" fmla="*/ 175 w 433"/>
              <a:gd name="T11" fmla="*/ 13 h 1429"/>
              <a:gd name="T12" fmla="*/ 206 w 433"/>
              <a:gd name="T13" fmla="*/ 13 h 1429"/>
              <a:gd name="T14" fmla="*/ 237 w 433"/>
              <a:gd name="T15" fmla="*/ 13 h 1429"/>
              <a:gd name="T16" fmla="*/ 268 w 433"/>
              <a:gd name="T17" fmla="*/ 24 h 1429"/>
              <a:gd name="T18" fmla="*/ 298 w 433"/>
              <a:gd name="T19" fmla="*/ 35 h 1429"/>
              <a:gd name="T20" fmla="*/ 329 w 433"/>
              <a:gd name="T21" fmla="*/ 24 h 1429"/>
              <a:gd name="T22" fmla="*/ 360 w 433"/>
              <a:gd name="T23" fmla="*/ 58 h 1429"/>
              <a:gd name="T24" fmla="*/ 370 w 433"/>
              <a:gd name="T25" fmla="*/ 126 h 1429"/>
              <a:gd name="T26" fmla="*/ 380 w 433"/>
              <a:gd name="T27" fmla="*/ 194 h 1429"/>
              <a:gd name="T28" fmla="*/ 390 w 433"/>
              <a:gd name="T29" fmla="*/ 262 h 1429"/>
              <a:gd name="T30" fmla="*/ 401 w 433"/>
              <a:gd name="T31" fmla="*/ 330 h 1429"/>
              <a:gd name="T32" fmla="*/ 406 w 433"/>
              <a:gd name="T33" fmla="*/ 398 h 1429"/>
              <a:gd name="T34" fmla="*/ 416 w 433"/>
              <a:gd name="T35" fmla="*/ 466 h 1429"/>
              <a:gd name="T36" fmla="*/ 421 w 433"/>
              <a:gd name="T37" fmla="*/ 533 h 1429"/>
              <a:gd name="T38" fmla="*/ 427 w 433"/>
              <a:gd name="T39" fmla="*/ 601 h 1429"/>
              <a:gd name="T40" fmla="*/ 427 w 433"/>
              <a:gd name="T41" fmla="*/ 669 h 1429"/>
              <a:gd name="T42" fmla="*/ 432 w 433"/>
              <a:gd name="T43" fmla="*/ 737 h 1429"/>
              <a:gd name="T44" fmla="*/ 432 w 433"/>
              <a:gd name="T45" fmla="*/ 805 h 1429"/>
              <a:gd name="T46" fmla="*/ 432 w 433"/>
              <a:gd name="T47" fmla="*/ 873 h 1429"/>
              <a:gd name="T48" fmla="*/ 432 w 433"/>
              <a:gd name="T49" fmla="*/ 952 h 1429"/>
              <a:gd name="T50" fmla="*/ 432 w 433"/>
              <a:gd name="T51" fmla="*/ 1020 h 1429"/>
              <a:gd name="T52" fmla="*/ 432 w 433"/>
              <a:gd name="T53" fmla="*/ 1088 h 1429"/>
              <a:gd name="T54" fmla="*/ 432 w 433"/>
              <a:gd name="T55" fmla="*/ 1156 h 1429"/>
              <a:gd name="T56" fmla="*/ 432 w 433"/>
              <a:gd name="T57" fmla="*/ 1224 h 1429"/>
              <a:gd name="T58" fmla="*/ 432 w 433"/>
              <a:gd name="T59" fmla="*/ 1292 h 1429"/>
              <a:gd name="T60" fmla="*/ 432 w 433"/>
              <a:gd name="T61" fmla="*/ 1360 h 1429"/>
              <a:gd name="T62" fmla="*/ 432 w 433"/>
              <a:gd name="T63" fmla="*/ 1428 h 1429"/>
              <a:gd name="T64" fmla="*/ 401 w 433"/>
              <a:gd name="T65" fmla="*/ 1428 h 1429"/>
              <a:gd name="T66" fmla="*/ 370 w 433"/>
              <a:gd name="T67" fmla="*/ 1428 h 1429"/>
              <a:gd name="T68" fmla="*/ 339 w 433"/>
              <a:gd name="T69" fmla="*/ 1428 h 1429"/>
              <a:gd name="T70" fmla="*/ 308 w 433"/>
              <a:gd name="T71" fmla="*/ 1428 h 1429"/>
              <a:gd name="T72" fmla="*/ 278 w 433"/>
              <a:gd name="T73" fmla="*/ 1428 h 1429"/>
              <a:gd name="T74" fmla="*/ 247 w 433"/>
              <a:gd name="T75" fmla="*/ 1428 h 1429"/>
              <a:gd name="T76" fmla="*/ 211 w 433"/>
              <a:gd name="T77" fmla="*/ 1428 h 1429"/>
              <a:gd name="T78" fmla="*/ 180 w 433"/>
              <a:gd name="T79" fmla="*/ 1428 h 1429"/>
              <a:gd name="T80" fmla="*/ 149 w 433"/>
              <a:gd name="T81" fmla="*/ 1428 h 1429"/>
              <a:gd name="T82" fmla="*/ 119 w 433"/>
              <a:gd name="T83" fmla="*/ 1428 h 1429"/>
              <a:gd name="T84" fmla="*/ 93 w 433"/>
              <a:gd name="T85" fmla="*/ 1394 h 1429"/>
              <a:gd name="T86" fmla="*/ 93 w 433"/>
              <a:gd name="T87" fmla="*/ 1326 h 1429"/>
              <a:gd name="T88" fmla="*/ 93 w 433"/>
              <a:gd name="T89" fmla="*/ 1258 h 1429"/>
              <a:gd name="T90" fmla="*/ 88 w 433"/>
              <a:gd name="T91" fmla="*/ 1179 h 1429"/>
              <a:gd name="T92" fmla="*/ 88 w 433"/>
              <a:gd name="T93" fmla="*/ 1111 h 1429"/>
              <a:gd name="T94" fmla="*/ 88 w 433"/>
              <a:gd name="T95" fmla="*/ 1043 h 1429"/>
              <a:gd name="T96" fmla="*/ 88 w 433"/>
              <a:gd name="T97" fmla="*/ 975 h 1429"/>
              <a:gd name="T98" fmla="*/ 83 w 433"/>
              <a:gd name="T99" fmla="*/ 907 h 1429"/>
              <a:gd name="T100" fmla="*/ 78 w 433"/>
              <a:gd name="T101" fmla="*/ 839 h 1429"/>
              <a:gd name="T102" fmla="*/ 78 w 433"/>
              <a:gd name="T103" fmla="*/ 771 h 1429"/>
              <a:gd name="T104" fmla="*/ 78 w 433"/>
              <a:gd name="T105" fmla="*/ 703 h 1429"/>
              <a:gd name="T106" fmla="*/ 72 w 433"/>
              <a:gd name="T107" fmla="*/ 635 h 1429"/>
              <a:gd name="T108" fmla="*/ 67 w 433"/>
              <a:gd name="T109" fmla="*/ 567 h 1429"/>
              <a:gd name="T110" fmla="*/ 67 w 433"/>
              <a:gd name="T111" fmla="*/ 499 h 1429"/>
              <a:gd name="T112" fmla="*/ 67 w 433"/>
              <a:gd name="T113" fmla="*/ 432 h 1429"/>
              <a:gd name="T114" fmla="*/ 57 w 433"/>
              <a:gd name="T115" fmla="*/ 364 h 1429"/>
              <a:gd name="T116" fmla="*/ 47 w 433"/>
              <a:gd name="T117" fmla="*/ 296 h 1429"/>
              <a:gd name="T118" fmla="*/ 37 w 433"/>
              <a:gd name="T119" fmla="*/ 228 h 1429"/>
              <a:gd name="T120" fmla="*/ 27 w 433"/>
              <a:gd name="T121" fmla="*/ 160 h 1429"/>
              <a:gd name="T122" fmla="*/ 16 w 433"/>
              <a:gd name="T123" fmla="*/ 92 h 1429"/>
              <a:gd name="T124" fmla="*/ 0 w 433"/>
              <a:gd name="T125" fmla="*/ 0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3" h="1429">
                <a:moveTo>
                  <a:pt x="0" y="0"/>
                </a:moveTo>
                <a:lnTo>
                  <a:pt x="21" y="13"/>
                </a:lnTo>
                <a:lnTo>
                  <a:pt x="37" y="13"/>
                </a:lnTo>
                <a:lnTo>
                  <a:pt x="52" y="13"/>
                </a:lnTo>
                <a:lnTo>
                  <a:pt x="67" y="13"/>
                </a:lnTo>
                <a:lnTo>
                  <a:pt x="83" y="13"/>
                </a:lnTo>
                <a:lnTo>
                  <a:pt x="98" y="13"/>
                </a:lnTo>
                <a:lnTo>
                  <a:pt x="114" y="13"/>
                </a:lnTo>
                <a:lnTo>
                  <a:pt x="129" y="13"/>
                </a:lnTo>
                <a:lnTo>
                  <a:pt x="144" y="13"/>
                </a:lnTo>
                <a:lnTo>
                  <a:pt x="160" y="13"/>
                </a:lnTo>
                <a:lnTo>
                  <a:pt x="175" y="13"/>
                </a:lnTo>
                <a:lnTo>
                  <a:pt x="191" y="13"/>
                </a:lnTo>
                <a:lnTo>
                  <a:pt x="206" y="13"/>
                </a:lnTo>
                <a:lnTo>
                  <a:pt x="221" y="13"/>
                </a:lnTo>
                <a:lnTo>
                  <a:pt x="237" y="13"/>
                </a:lnTo>
                <a:lnTo>
                  <a:pt x="252" y="24"/>
                </a:lnTo>
                <a:lnTo>
                  <a:pt x="268" y="24"/>
                </a:lnTo>
                <a:lnTo>
                  <a:pt x="283" y="35"/>
                </a:lnTo>
                <a:lnTo>
                  <a:pt x="298" y="35"/>
                </a:lnTo>
                <a:lnTo>
                  <a:pt x="314" y="35"/>
                </a:lnTo>
                <a:lnTo>
                  <a:pt x="329" y="24"/>
                </a:lnTo>
                <a:lnTo>
                  <a:pt x="345" y="35"/>
                </a:lnTo>
                <a:lnTo>
                  <a:pt x="360" y="58"/>
                </a:lnTo>
                <a:lnTo>
                  <a:pt x="365" y="92"/>
                </a:lnTo>
                <a:lnTo>
                  <a:pt x="370" y="126"/>
                </a:lnTo>
                <a:lnTo>
                  <a:pt x="375" y="160"/>
                </a:lnTo>
                <a:lnTo>
                  <a:pt x="380" y="194"/>
                </a:lnTo>
                <a:lnTo>
                  <a:pt x="385" y="228"/>
                </a:lnTo>
                <a:lnTo>
                  <a:pt x="390" y="262"/>
                </a:lnTo>
                <a:lnTo>
                  <a:pt x="396" y="296"/>
                </a:lnTo>
                <a:lnTo>
                  <a:pt x="401" y="330"/>
                </a:lnTo>
                <a:lnTo>
                  <a:pt x="406" y="364"/>
                </a:lnTo>
                <a:lnTo>
                  <a:pt x="406" y="398"/>
                </a:lnTo>
                <a:lnTo>
                  <a:pt x="411" y="432"/>
                </a:lnTo>
                <a:lnTo>
                  <a:pt x="416" y="466"/>
                </a:lnTo>
                <a:lnTo>
                  <a:pt x="416" y="499"/>
                </a:lnTo>
                <a:lnTo>
                  <a:pt x="421" y="533"/>
                </a:lnTo>
                <a:lnTo>
                  <a:pt x="427" y="567"/>
                </a:lnTo>
                <a:lnTo>
                  <a:pt x="427" y="601"/>
                </a:lnTo>
                <a:lnTo>
                  <a:pt x="427" y="635"/>
                </a:lnTo>
                <a:lnTo>
                  <a:pt x="427" y="669"/>
                </a:lnTo>
                <a:lnTo>
                  <a:pt x="432" y="703"/>
                </a:lnTo>
                <a:lnTo>
                  <a:pt x="432" y="737"/>
                </a:lnTo>
                <a:lnTo>
                  <a:pt x="432" y="771"/>
                </a:lnTo>
                <a:lnTo>
                  <a:pt x="432" y="805"/>
                </a:lnTo>
                <a:lnTo>
                  <a:pt x="432" y="839"/>
                </a:lnTo>
                <a:lnTo>
                  <a:pt x="432" y="873"/>
                </a:lnTo>
                <a:lnTo>
                  <a:pt x="432" y="918"/>
                </a:lnTo>
                <a:lnTo>
                  <a:pt x="432" y="952"/>
                </a:lnTo>
                <a:lnTo>
                  <a:pt x="432" y="986"/>
                </a:lnTo>
                <a:lnTo>
                  <a:pt x="432" y="1020"/>
                </a:lnTo>
                <a:lnTo>
                  <a:pt x="432" y="1054"/>
                </a:lnTo>
                <a:lnTo>
                  <a:pt x="432" y="1088"/>
                </a:lnTo>
                <a:lnTo>
                  <a:pt x="432" y="1122"/>
                </a:lnTo>
                <a:lnTo>
                  <a:pt x="432" y="1156"/>
                </a:lnTo>
                <a:lnTo>
                  <a:pt x="432" y="1190"/>
                </a:lnTo>
                <a:lnTo>
                  <a:pt x="432" y="1224"/>
                </a:lnTo>
                <a:lnTo>
                  <a:pt x="432" y="1258"/>
                </a:lnTo>
                <a:lnTo>
                  <a:pt x="432" y="1292"/>
                </a:lnTo>
                <a:lnTo>
                  <a:pt x="432" y="1326"/>
                </a:lnTo>
                <a:lnTo>
                  <a:pt x="432" y="1360"/>
                </a:lnTo>
                <a:lnTo>
                  <a:pt x="432" y="1394"/>
                </a:lnTo>
                <a:lnTo>
                  <a:pt x="432" y="1428"/>
                </a:lnTo>
                <a:lnTo>
                  <a:pt x="416" y="1428"/>
                </a:lnTo>
                <a:lnTo>
                  <a:pt x="401" y="1428"/>
                </a:lnTo>
                <a:lnTo>
                  <a:pt x="385" y="1428"/>
                </a:lnTo>
                <a:lnTo>
                  <a:pt x="370" y="1428"/>
                </a:lnTo>
                <a:lnTo>
                  <a:pt x="355" y="1428"/>
                </a:lnTo>
                <a:lnTo>
                  <a:pt x="339" y="1428"/>
                </a:lnTo>
                <a:lnTo>
                  <a:pt x="324" y="1428"/>
                </a:lnTo>
                <a:lnTo>
                  <a:pt x="308" y="1428"/>
                </a:lnTo>
                <a:lnTo>
                  <a:pt x="293" y="1428"/>
                </a:lnTo>
                <a:lnTo>
                  <a:pt x="278" y="1428"/>
                </a:lnTo>
                <a:lnTo>
                  <a:pt x="262" y="1428"/>
                </a:lnTo>
                <a:lnTo>
                  <a:pt x="247" y="1428"/>
                </a:lnTo>
                <a:lnTo>
                  <a:pt x="231" y="1428"/>
                </a:lnTo>
                <a:lnTo>
                  <a:pt x="211" y="1428"/>
                </a:lnTo>
                <a:lnTo>
                  <a:pt x="196" y="1428"/>
                </a:lnTo>
                <a:lnTo>
                  <a:pt x="180" y="1428"/>
                </a:lnTo>
                <a:lnTo>
                  <a:pt x="165" y="1428"/>
                </a:lnTo>
                <a:lnTo>
                  <a:pt x="149" y="1428"/>
                </a:lnTo>
                <a:lnTo>
                  <a:pt x="134" y="1428"/>
                </a:lnTo>
                <a:lnTo>
                  <a:pt x="119" y="1428"/>
                </a:lnTo>
                <a:lnTo>
                  <a:pt x="103" y="1428"/>
                </a:lnTo>
                <a:lnTo>
                  <a:pt x="93" y="1394"/>
                </a:lnTo>
                <a:lnTo>
                  <a:pt x="93" y="1360"/>
                </a:lnTo>
                <a:lnTo>
                  <a:pt x="93" y="1326"/>
                </a:lnTo>
                <a:lnTo>
                  <a:pt x="93" y="1292"/>
                </a:lnTo>
                <a:lnTo>
                  <a:pt x="93" y="1258"/>
                </a:lnTo>
                <a:lnTo>
                  <a:pt x="93" y="1213"/>
                </a:lnTo>
                <a:lnTo>
                  <a:pt x="88" y="1179"/>
                </a:lnTo>
                <a:lnTo>
                  <a:pt x="88" y="1145"/>
                </a:lnTo>
                <a:lnTo>
                  <a:pt x="88" y="1111"/>
                </a:lnTo>
                <a:lnTo>
                  <a:pt x="88" y="1077"/>
                </a:lnTo>
                <a:lnTo>
                  <a:pt x="88" y="1043"/>
                </a:lnTo>
                <a:lnTo>
                  <a:pt x="88" y="1009"/>
                </a:lnTo>
                <a:lnTo>
                  <a:pt x="88" y="975"/>
                </a:lnTo>
                <a:lnTo>
                  <a:pt x="83" y="941"/>
                </a:lnTo>
                <a:lnTo>
                  <a:pt x="83" y="907"/>
                </a:lnTo>
                <a:lnTo>
                  <a:pt x="78" y="873"/>
                </a:lnTo>
                <a:lnTo>
                  <a:pt x="78" y="839"/>
                </a:lnTo>
                <a:lnTo>
                  <a:pt x="78" y="805"/>
                </a:lnTo>
                <a:lnTo>
                  <a:pt x="78" y="771"/>
                </a:lnTo>
                <a:lnTo>
                  <a:pt x="78" y="737"/>
                </a:lnTo>
                <a:lnTo>
                  <a:pt x="78" y="703"/>
                </a:lnTo>
                <a:lnTo>
                  <a:pt x="78" y="669"/>
                </a:lnTo>
                <a:lnTo>
                  <a:pt x="72" y="635"/>
                </a:lnTo>
                <a:lnTo>
                  <a:pt x="72" y="601"/>
                </a:lnTo>
                <a:lnTo>
                  <a:pt x="67" y="567"/>
                </a:lnTo>
                <a:lnTo>
                  <a:pt x="67" y="533"/>
                </a:lnTo>
                <a:lnTo>
                  <a:pt x="67" y="499"/>
                </a:lnTo>
                <a:lnTo>
                  <a:pt x="67" y="466"/>
                </a:lnTo>
                <a:lnTo>
                  <a:pt x="67" y="432"/>
                </a:lnTo>
                <a:lnTo>
                  <a:pt x="62" y="398"/>
                </a:lnTo>
                <a:lnTo>
                  <a:pt x="57" y="364"/>
                </a:lnTo>
                <a:lnTo>
                  <a:pt x="47" y="330"/>
                </a:lnTo>
                <a:lnTo>
                  <a:pt x="47" y="296"/>
                </a:lnTo>
                <a:lnTo>
                  <a:pt x="42" y="262"/>
                </a:lnTo>
                <a:lnTo>
                  <a:pt x="37" y="228"/>
                </a:lnTo>
                <a:lnTo>
                  <a:pt x="32" y="194"/>
                </a:lnTo>
                <a:lnTo>
                  <a:pt x="27" y="160"/>
                </a:lnTo>
                <a:lnTo>
                  <a:pt x="21" y="126"/>
                </a:lnTo>
                <a:lnTo>
                  <a:pt x="16" y="92"/>
                </a:lnTo>
                <a:lnTo>
                  <a:pt x="16" y="58"/>
                </a:lnTo>
                <a:lnTo>
                  <a:pt x="0" y="0"/>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03" name="Rectangle 1039"/>
          <p:cNvSpPr>
            <a:spLocks noChangeArrowheads="1"/>
          </p:cNvSpPr>
          <p:nvPr/>
        </p:nvSpPr>
        <p:spPr bwMode="auto">
          <a:xfrm>
            <a:off x="5932885" y="18407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3504" name="Line 1040"/>
          <p:cNvSpPr>
            <a:spLocks noChangeShapeType="1"/>
          </p:cNvSpPr>
          <p:nvPr/>
        </p:nvSpPr>
        <p:spPr bwMode="auto">
          <a:xfrm>
            <a:off x="5544741" y="18288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05" name="Line 1041"/>
          <p:cNvSpPr>
            <a:spLocks noChangeShapeType="1"/>
          </p:cNvSpPr>
          <p:nvPr/>
        </p:nvSpPr>
        <p:spPr bwMode="auto">
          <a:xfrm>
            <a:off x="5544741" y="35433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06" name="Rectangle 1042"/>
          <p:cNvSpPr>
            <a:spLocks noChangeArrowheads="1"/>
          </p:cNvSpPr>
          <p:nvPr/>
        </p:nvSpPr>
        <p:spPr bwMode="auto">
          <a:xfrm>
            <a:off x="42755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3507" name="Rectangle 1043"/>
          <p:cNvSpPr>
            <a:spLocks noChangeArrowheads="1"/>
          </p:cNvSpPr>
          <p:nvPr/>
        </p:nvSpPr>
        <p:spPr bwMode="auto">
          <a:xfrm>
            <a:off x="50756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3508" name="Rectangle 1044"/>
          <p:cNvSpPr>
            <a:spLocks noChangeArrowheads="1"/>
          </p:cNvSpPr>
          <p:nvPr/>
        </p:nvSpPr>
        <p:spPr bwMode="auto">
          <a:xfrm>
            <a:off x="42755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3509" name="Rectangle 1045"/>
          <p:cNvSpPr>
            <a:spLocks noChangeArrowheads="1"/>
          </p:cNvSpPr>
          <p:nvPr/>
        </p:nvSpPr>
        <p:spPr bwMode="auto">
          <a:xfrm>
            <a:off x="50756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grpSp>
        <p:nvGrpSpPr>
          <p:cNvPr id="63513" name="Group 1049"/>
          <p:cNvGrpSpPr>
            <a:grpSpLocks/>
          </p:cNvGrpSpPr>
          <p:nvPr/>
        </p:nvGrpSpPr>
        <p:grpSpPr bwMode="auto">
          <a:xfrm>
            <a:off x="6287691" y="2058591"/>
            <a:ext cx="913209" cy="227409"/>
            <a:chOff x="4321" y="1729"/>
            <a:chExt cx="767" cy="191"/>
          </a:xfrm>
        </p:grpSpPr>
        <p:sp>
          <p:nvSpPr>
            <p:cNvPr id="63510" name="Line 1046"/>
            <p:cNvSpPr>
              <a:spLocks noChangeShapeType="1"/>
            </p:cNvSpPr>
            <p:nvPr/>
          </p:nvSpPr>
          <p:spPr bwMode="auto">
            <a:xfrm>
              <a:off x="4321" y="1777"/>
              <a:ext cx="47" cy="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11" name="Line 1047"/>
            <p:cNvSpPr>
              <a:spLocks noChangeShapeType="1"/>
            </p:cNvSpPr>
            <p:nvPr/>
          </p:nvSpPr>
          <p:spPr bwMode="auto">
            <a:xfrm>
              <a:off x="4369" y="1920"/>
              <a:ext cx="6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12" name="Line 1048"/>
            <p:cNvSpPr>
              <a:spLocks noChangeShapeType="1"/>
            </p:cNvSpPr>
            <p:nvPr/>
          </p:nvSpPr>
          <p:spPr bwMode="auto">
            <a:xfrm flipV="1">
              <a:off x="5041" y="1729"/>
              <a:ext cx="47" cy="19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grpSp>
        <p:nvGrpSpPr>
          <p:cNvPr id="63517" name="Group 1053"/>
          <p:cNvGrpSpPr>
            <a:grpSpLocks/>
          </p:cNvGrpSpPr>
          <p:nvPr/>
        </p:nvGrpSpPr>
        <p:grpSpPr bwMode="auto">
          <a:xfrm>
            <a:off x="6230541" y="1371600"/>
            <a:ext cx="1027509" cy="228600"/>
            <a:chOff x="4273" y="1152"/>
            <a:chExt cx="863" cy="192"/>
          </a:xfrm>
        </p:grpSpPr>
        <p:sp>
          <p:nvSpPr>
            <p:cNvPr id="63514" name="Line 1050"/>
            <p:cNvSpPr>
              <a:spLocks noChangeShapeType="1"/>
            </p:cNvSpPr>
            <p:nvPr/>
          </p:nvSpPr>
          <p:spPr bwMode="auto">
            <a:xfrm flipH="1" flipV="1">
              <a:off x="5089" y="1153"/>
              <a:ext cx="47" cy="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15" name="Line 1051"/>
            <p:cNvSpPr>
              <a:spLocks noChangeShapeType="1"/>
            </p:cNvSpPr>
            <p:nvPr/>
          </p:nvSpPr>
          <p:spPr bwMode="auto">
            <a:xfrm flipH="1">
              <a:off x="4321" y="1152"/>
              <a:ext cx="7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16" name="Line 1052"/>
            <p:cNvSpPr>
              <a:spLocks noChangeShapeType="1"/>
            </p:cNvSpPr>
            <p:nvPr/>
          </p:nvSpPr>
          <p:spPr bwMode="auto">
            <a:xfrm flipH="1">
              <a:off x="4273" y="1153"/>
              <a:ext cx="47" cy="19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63518" name="Rectangle 1054"/>
          <p:cNvSpPr>
            <a:spLocks noChangeArrowheads="1"/>
          </p:cNvSpPr>
          <p:nvPr/>
        </p:nvSpPr>
        <p:spPr bwMode="auto">
          <a:xfrm>
            <a:off x="4000500" y="4183856"/>
            <a:ext cx="96837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at rest</a:t>
            </a:r>
          </a:p>
        </p:txBody>
      </p:sp>
      <p:sp>
        <p:nvSpPr>
          <p:cNvPr id="63519" name="Rectangle 1055"/>
          <p:cNvSpPr>
            <a:spLocks noChangeArrowheads="1"/>
          </p:cNvSpPr>
          <p:nvPr/>
        </p:nvSpPr>
        <p:spPr bwMode="auto">
          <a:xfrm>
            <a:off x="5657851" y="3783806"/>
            <a:ext cx="2177681"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action potential</a:t>
            </a:r>
          </a:p>
        </p:txBody>
      </p:sp>
      <p:sp>
        <p:nvSpPr>
          <p:cNvPr id="63520" name="Line 1056"/>
          <p:cNvSpPr>
            <a:spLocks noChangeShapeType="1"/>
          </p:cNvSpPr>
          <p:nvPr/>
        </p:nvSpPr>
        <p:spPr bwMode="auto">
          <a:xfrm flipV="1">
            <a:off x="4526757" y="3658791"/>
            <a:ext cx="284560" cy="45600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3521" name="Rectangle 1057"/>
          <p:cNvSpPr>
            <a:spLocks noChangeArrowheads="1"/>
          </p:cNvSpPr>
          <p:nvPr/>
        </p:nvSpPr>
        <p:spPr bwMode="auto">
          <a:xfrm>
            <a:off x="7028260" y="4182666"/>
            <a:ext cx="138113" cy="389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3522" name="Rectangle 1058"/>
          <p:cNvSpPr>
            <a:spLocks noChangeArrowheads="1"/>
          </p:cNvSpPr>
          <p:nvPr/>
        </p:nvSpPr>
        <p:spPr bwMode="auto">
          <a:xfrm>
            <a:off x="33611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3523" name="Rectangle 1059"/>
          <p:cNvSpPr>
            <a:spLocks noChangeArrowheads="1"/>
          </p:cNvSpPr>
          <p:nvPr/>
        </p:nvSpPr>
        <p:spPr bwMode="auto">
          <a:xfrm>
            <a:off x="5932885" y="14644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3524" name="Line 1060"/>
          <p:cNvSpPr>
            <a:spLocks noChangeShapeType="1"/>
          </p:cNvSpPr>
          <p:nvPr/>
        </p:nvSpPr>
        <p:spPr bwMode="auto">
          <a:xfrm flipV="1">
            <a:off x="6286500" y="3600450"/>
            <a:ext cx="0" cy="2845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Tree>
    <p:extLst>
      <p:ext uri="{BB962C8B-B14F-4D97-AF65-F5344CB8AC3E}">
        <p14:creationId xmlns:p14="http://schemas.microsoft.com/office/powerpoint/2010/main" val="1286050311"/>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1657350" y="4686300"/>
            <a:ext cx="14287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5539" name="Rectangle 3"/>
          <p:cNvSpPr>
            <a:spLocks noChangeArrowheads="1"/>
          </p:cNvSpPr>
          <p:nvPr/>
        </p:nvSpPr>
        <p:spPr bwMode="auto">
          <a:xfrm>
            <a:off x="3486150" y="4686300"/>
            <a:ext cx="21717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5540" name="Rectangle 4"/>
          <p:cNvSpPr>
            <a:spLocks noChangeArrowheads="1"/>
          </p:cNvSpPr>
          <p:nvPr/>
        </p:nvSpPr>
        <p:spPr bwMode="auto">
          <a:xfrm>
            <a:off x="1475185" y="240506"/>
            <a:ext cx="6067425" cy="71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866" tIns="33338" rIns="67866" bIns="33338">
            <a:spAutoFit/>
          </a:bodyPr>
          <a:lstStyle/>
          <a:p>
            <a:pPr defTabSz="571500"/>
            <a:r>
              <a:rPr lang="en-GB" sz="2100">
                <a:solidFill>
                  <a:schemeClr val="hlink"/>
                </a:solidFill>
                <a:latin typeface="Arial Rounded MT Bold" pitchFamily="34" charset="0"/>
              </a:rPr>
              <a:t>What prevents the a.p. moving in the opposite direction?</a:t>
            </a:r>
          </a:p>
        </p:txBody>
      </p:sp>
      <p:sp>
        <p:nvSpPr>
          <p:cNvPr id="65541" name="Oval 5"/>
          <p:cNvSpPr>
            <a:spLocks noChangeArrowheads="1"/>
          </p:cNvSpPr>
          <p:nvPr/>
        </p:nvSpPr>
        <p:spPr bwMode="auto">
          <a:xfrm>
            <a:off x="190500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5542" name="Oval 6"/>
          <p:cNvSpPr>
            <a:spLocks noChangeArrowheads="1"/>
          </p:cNvSpPr>
          <p:nvPr/>
        </p:nvSpPr>
        <p:spPr bwMode="auto">
          <a:xfrm>
            <a:off x="6534150" y="1847850"/>
            <a:ext cx="533400" cy="1676400"/>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5543" name="Line 7"/>
          <p:cNvSpPr>
            <a:spLocks noChangeShapeType="1"/>
          </p:cNvSpPr>
          <p:nvPr/>
        </p:nvSpPr>
        <p:spPr bwMode="auto">
          <a:xfrm>
            <a:off x="2172891" y="18288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44" name="Line 8"/>
          <p:cNvSpPr>
            <a:spLocks noChangeShapeType="1"/>
          </p:cNvSpPr>
          <p:nvPr/>
        </p:nvSpPr>
        <p:spPr bwMode="auto">
          <a:xfrm>
            <a:off x="2172891" y="3543300"/>
            <a:ext cx="337065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45" name="Rectangle 9"/>
          <p:cNvSpPr>
            <a:spLocks noChangeArrowheads="1"/>
          </p:cNvSpPr>
          <p:nvPr/>
        </p:nvSpPr>
        <p:spPr bwMode="auto">
          <a:xfrm>
            <a:off x="250388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5546" name="Rectangle 10"/>
          <p:cNvSpPr>
            <a:spLocks noChangeArrowheads="1"/>
          </p:cNvSpPr>
          <p:nvPr/>
        </p:nvSpPr>
        <p:spPr bwMode="auto">
          <a:xfrm>
            <a:off x="25610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5547" name="Rectangle 11"/>
          <p:cNvSpPr>
            <a:spLocks noChangeArrowheads="1"/>
          </p:cNvSpPr>
          <p:nvPr/>
        </p:nvSpPr>
        <p:spPr bwMode="auto">
          <a:xfrm>
            <a:off x="341828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5548" name="Arc 12"/>
          <p:cNvSpPr>
            <a:spLocks/>
          </p:cNvSpPr>
          <p:nvPr/>
        </p:nvSpPr>
        <p:spPr bwMode="auto">
          <a:xfrm>
            <a:off x="594479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49" name="Arc 13"/>
          <p:cNvSpPr>
            <a:spLocks/>
          </p:cNvSpPr>
          <p:nvPr/>
        </p:nvSpPr>
        <p:spPr bwMode="auto">
          <a:xfrm>
            <a:off x="5887642" y="1831181"/>
            <a:ext cx="286940" cy="1714500"/>
          </a:xfrm>
          <a:custGeom>
            <a:avLst/>
            <a:gdLst>
              <a:gd name="G0" fmla="+- 90 0 0"/>
              <a:gd name="G1" fmla="+- 21600 0 0"/>
              <a:gd name="G2" fmla="+- 21600 0 0"/>
              <a:gd name="T0" fmla="*/ 0 w 21690"/>
              <a:gd name="T1" fmla="*/ 0 h 21600"/>
              <a:gd name="T2" fmla="*/ 21690 w 21690"/>
              <a:gd name="T3" fmla="*/ 21600 h 21600"/>
              <a:gd name="T4" fmla="*/ 90 w 21690"/>
              <a:gd name="T5" fmla="*/ 21600 h 21600"/>
            </a:gdLst>
            <a:ahLst/>
            <a:cxnLst>
              <a:cxn ang="0">
                <a:pos x="T0" y="T1"/>
              </a:cxn>
              <a:cxn ang="0">
                <a:pos x="T2" y="T3"/>
              </a:cxn>
              <a:cxn ang="0">
                <a:pos x="T4" y="T5"/>
              </a:cxn>
            </a:cxnLst>
            <a:rect l="0" t="0" r="r" b="b"/>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50" name="Freeform 14"/>
          <p:cNvSpPr>
            <a:spLocks/>
          </p:cNvSpPr>
          <p:nvPr/>
        </p:nvSpPr>
        <p:spPr bwMode="auto">
          <a:xfrm>
            <a:off x="6000750" y="1828800"/>
            <a:ext cx="515541" cy="1701404"/>
          </a:xfrm>
          <a:custGeom>
            <a:avLst/>
            <a:gdLst>
              <a:gd name="T0" fmla="*/ 21 w 433"/>
              <a:gd name="T1" fmla="*/ 13 h 1429"/>
              <a:gd name="T2" fmla="*/ 52 w 433"/>
              <a:gd name="T3" fmla="*/ 13 h 1429"/>
              <a:gd name="T4" fmla="*/ 83 w 433"/>
              <a:gd name="T5" fmla="*/ 13 h 1429"/>
              <a:gd name="T6" fmla="*/ 114 w 433"/>
              <a:gd name="T7" fmla="*/ 13 h 1429"/>
              <a:gd name="T8" fmla="*/ 144 w 433"/>
              <a:gd name="T9" fmla="*/ 13 h 1429"/>
              <a:gd name="T10" fmla="*/ 175 w 433"/>
              <a:gd name="T11" fmla="*/ 13 h 1429"/>
              <a:gd name="T12" fmla="*/ 206 w 433"/>
              <a:gd name="T13" fmla="*/ 13 h 1429"/>
              <a:gd name="T14" fmla="*/ 237 w 433"/>
              <a:gd name="T15" fmla="*/ 13 h 1429"/>
              <a:gd name="T16" fmla="*/ 268 w 433"/>
              <a:gd name="T17" fmla="*/ 24 h 1429"/>
              <a:gd name="T18" fmla="*/ 298 w 433"/>
              <a:gd name="T19" fmla="*/ 35 h 1429"/>
              <a:gd name="T20" fmla="*/ 329 w 433"/>
              <a:gd name="T21" fmla="*/ 24 h 1429"/>
              <a:gd name="T22" fmla="*/ 360 w 433"/>
              <a:gd name="T23" fmla="*/ 58 h 1429"/>
              <a:gd name="T24" fmla="*/ 370 w 433"/>
              <a:gd name="T25" fmla="*/ 126 h 1429"/>
              <a:gd name="T26" fmla="*/ 380 w 433"/>
              <a:gd name="T27" fmla="*/ 194 h 1429"/>
              <a:gd name="T28" fmla="*/ 390 w 433"/>
              <a:gd name="T29" fmla="*/ 262 h 1429"/>
              <a:gd name="T30" fmla="*/ 401 w 433"/>
              <a:gd name="T31" fmla="*/ 330 h 1429"/>
              <a:gd name="T32" fmla="*/ 406 w 433"/>
              <a:gd name="T33" fmla="*/ 398 h 1429"/>
              <a:gd name="T34" fmla="*/ 416 w 433"/>
              <a:gd name="T35" fmla="*/ 466 h 1429"/>
              <a:gd name="T36" fmla="*/ 421 w 433"/>
              <a:gd name="T37" fmla="*/ 533 h 1429"/>
              <a:gd name="T38" fmla="*/ 427 w 433"/>
              <a:gd name="T39" fmla="*/ 601 h 1429"/>
              <a:gd name="T40" fmla="*/ 427 w 433"/>
              <a:gd name="T41" fmla="*/ 669 h 1429"/>
              <a:gd name="T42" fmla="*/ 432 w 433"/>
              <a:gd name="T43" fmla="*/ 737 h 1429"/>
              <a:gd name="T44" fmla="*/ 432 w 433"/>
              <a:gd name="T45" fmla="*/ 805 h 1429"/>
              <a:gd name="T46" fmla="*/ 432 w 433"/>
              <a:gd name="T47" fmla="*/ 873 h 1429"/>
              <a:gd name="T48" fmla="*/ 432 w 433"/>
              <a:gd name="T49" fmla="*/ 952 h 1429"/>
              <a:gd name="T50" fmla="*/ 432 w 433"/>
              <a:gd name="T51" fmla="*/ 1020 h 1429"/>
              <a:gd name="T52" fmla="*/ 432 w 433"/>
              <a:gd name="T53" fmla="*/ 1088 h 1429"/>
              <a:gd name="T54" fmla="*/ 432 w 433"/>
              <a:gd name="T55" fmla="*/ 1156 h 1429"/>
              <a:gd name="T56" fmla="*/ 432 w 433"/>
              <a:gd name="T57" fmla="*/ 1224 h 1429"/>
              <a:gd name="T58" fmla="*/ 432 w 433"/>
              <a:gd name="T59" fmla="*/ 1292 h 1429"/>
              <a:gd name="T60" fmla="*/ 432 w 433"/>
              <a:gd name="T61" fmla="*/ 1360 h 1429"/>
              <a:gd name="T62" fmla="*/ 432 w 433"/>
              <a:gd name="T63" fmla="*/ 1428 h 1429"/>
              <a:gd name="T64" fmla="*/ 401 w 433"/>
              <a:gd name="T65" fmla="*/ 1428 h 1429"/>
              <a:gd name="T66" fmla="*/ 370 w 433"/>
              <a:gd name="T67" fmla="*/ 1428 h 1429"/>
              <a:gd name="T68" fmla="*/ 339 w 433"/>
              <a:gd name="T69" fmla="*/ 1428 h 1429"/>
              <a:gd name="T70" fmla="*/ 308 w 433"/>
              <a:gd name="T71" fmla="*/ 1428 h 1429"/>
              <a:gd name="T72" fmla="*/ 278 w 433"/>
              <a:gd name="T73" fmla="*/ 1428 h 1429"/>
              <a:gd name="T74" fmla="*/ 247 w 433"/>
              <a:gd name="T75" fmla="*/ 1428 h 1429"/>
              <a:gd name="T76" fmla="*/ 211 w 433"/>
              <a:gd name="T77" fmla="*/ 1428 h 1429"/>
              <a:gd name="T78" fmla="*/ 180 w 433"/>
              <a:gd name="T79" fmla="*/ 1428 h 1429"/>
              <a:gd name="T80" fmla="*/ 149 w 433"/>
              <a:gd name="T81" fmla="*/ 1428 h 1429"/>
              <a:gd name="T82" fmla="*/ 119 w 433"/>
              <a:gd name="T83" fmla="*/ 1428 h 1429"/>
              <a:gd name="T84" fmla="*/ 93 w 433"/>
              <a:gd name="T85" fmla="*/ 1394 h 1429"/>
              <a:gd name="T86" fmla="*/ 93 w 433"/>
              <a:gd name="T87" fmla="*/ 1326 h 1429"/>
              <a:gd name="T88" fmla="*/ 93 w 433"/>
              <a:gd name="T89" fmla="*/ 1258 h 1429"/>
              <a:gd name="T90" fmla="*/ 88 w 433"/>
              <a:gd name="T91" fmla="*/ 1179 h 1429"/>
              <a:gd name="T92" fmla="*/ 88 w 433"/>
              <a:gd name="T93" fmla="*/ 1111 h 1429"/>
              <a:gd name="T94" fmla="*/ 88 w 433"/>
              <a:gd name="T95" fmla="*/ 1043 h 1429"/>
              <a:gd name="T96" fmla="*/ 88 w 433"/>
              <a:gd name="T97" fmla="*/ 975 h 1429"/>
              <a:gd name="T98" fmla="*/ 83 w 433"/>
              <a:gd name="T99" fmla="*/ 907 h 1429"/>
              <a:gd name="T100" fmla="*/ 78 w 433"/>
              <a:gd name="T101" fmla="*/ 839 h 1429"/>
              <a:gd name="T102" fmla="*/ 78 w 433"/>
              <a:gd name="T103" fmla="*/ 771 h 1429"/>
              <a:gd name="T104" fmla="*/ 78 w 433"/>
              <a:gd name="T105" fmla="*/ 703 h 1429"/>
              <a:gd name="T106" fmla="*/ 72 w 433"/>
              <a:gd name="T107" fmla="*/ 635 h 1429"/>
              <a:gd name="T108" fmla="*/ 67 w 433"/>
              <a:gd name="T109" fmla="*/ 567 h 1429"/>
              <a:gd name="T110" fmla="*/ 67 w 433"/>
              <a:gd name="T111" fmla="*/ 499 h 1429"/>
              <a:gd name="T112" fmla="*/ 67 w 433"/>
              <a:gd name="T113" fmla="*/ 432 h 1429"/>
              <a:gd name="T114" fmla="*/ 57 w 433"/>
              <a:gd name="T115" fmla="*/ 364 h 1429"/>
              <a:gd name="T116" fmla="*/ 47 w 433"/>
              <a:gd name="T117" fmla="*/ 296 h 1429"/>
              <a:gd name="T118" fmla="*/ 37 w 433"/>
              <a:gd name="T119" fmla="*/ 228 h 1429"/>
              <a:gd name="T120" fmla="*/ 27 w 433"/>
              <a:gd name="T121" fmla="*/ 160 h 1429"/>
              <a:gd name="T122" fmla="*/ 16 w 433"/>
              <a:gd name="T123" fmla="*/ 92 h 1429"/>
              <a:gd name="T124" fmla="*/ 0 w 433"/>
              <a:gd name="T125" fmla="*/ 0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3" h="1429">
                <a:moveTo>
                  <a:pt x="0" y="0"/>
                </a:moveTo>
                <a:lnTo>
                  <a:pt x="21" y="13"/>
                </a:lnTo>
                <a:lnTo>
                  <a:pt x="37" y="13"/>
                </a:lnTo>
                <a:lnTo>
                  <a:pt x="52" y="13"/>
                </a:lnTo>
                <a:lnTo>
                  <a:pt x="67" y="13"/>
                </a:lnTo>
                <a:lnTo>
                  <a:pt x="83" y="13"/>
                </a:lnTo>
                <a:lnTo>
                  <a:pt x="98" y="13"/>
                </a:lnTo>
                <a:lnTo>
                  <a:pt x="114" y="13"/>
                </a:lnTo>
                <a:lnTo>
                  <a:pt x="129" y="13"/>
                </a:lnTo>
                <a:lnTo>
                  <a:pt x="144" y="13"/>
                </a:lnTo>
                <a:lnTo>
                  <a:pt x="160" y="13"/>
                </a:lnTo>
                <a:lnTo>
                  <a:pt x="175" y="13"/>
                </a:lnTo>
                <a:lnTo>
                  <a:pt x="191" y="13"/>
                </a:lnTo>
                <a:lnTo>
                  <a:pt x="206" y="13"/>
                </a:lnTo>
                <a:lnTo>
                  <a:pt x="221" y="13"/>
                </a:lnTo>
                <a:lnTo>
                  <a:pt x="237" y="13"/>
                </a:lnTo>
                <a:lnTo>
                  <a:pt x="252" y="24"/>
                </a:lnTo>
                <a:lnTo>
                  <a:pt x="268" y="24"/>
                </a:lnTo>
                <a:lnTo>
                  <a:pt x="283" y="35"/>
                </a:lnTo>
                <a:lnTo>
                  <a:pt x="298" y="35"/>
                </a:lnTo>
                <a:lnTo>
                  <a:pt x="314" y="35"/>
                </a:lnTo>
                <a:lnTo>
                  <a:pt x="329" y="24"/>
                </a:lnTo>
                <a:lnTo>
                  <a:pt x="345" y="35"/>
                </a:lnTo>
                <a:lnTo>
                  <a:pt x="360" y="58"/>
                </a:lnTo>
                <a:lnTo>
                  <a:pt x="365" y="92"/>
                </a:lnTo>
                <a:lnTo>
                  <a:pt x="370" y="126"/>
                </a:lnTo>
                <a:lnTo>
                  <a:pt x="375" y="160"/>
                </a:lnTo>
                <a:lnTo>
                  <a:pt x="380" y="194"/>
                </a:lnTo>
                <a:lnTo>
                  <a:pt x="385" y="228"/>
                </a:lnTo>
                <a:lnTo>
                  <a:pt x="390" y="262"/>
                </a:lnTo>
                <a:lnTo>
                  <a:pt x="396" y="296"/>
                </a:lnTo>
                <a:lnTo>
                  <a:pt x="401" y="330"/>
                </a:lnTo>
                <a:lnTo>
                  <a:pt x="406" y="364"/>
                </a:lnTo>
                <a:lnTo>
                  <a:pt x="406" y="398"/>
                </a:lnTo>
                <a:lnTo>
                  <a:pt x="411" y="432"/>
                </a:lnTo>
                <a:lnTo>
                  <a:pt x="416" y="466"/>
                </a:lnTo>
                <a:lnTo>
                  <a:pt x="416" y="499"/>
                </a:lnTo>
                <a:lnTo>
                  <a:pt x="421" y="533"/>
                </a:lnTo>
                <a:lnTo>
                  <a:pt x="427" y="567"/>
                </a:lnTo>
                <a:lnTo>
                  <a:pt x="427" y="601"/>
                </a:lnTo>
                <a:lnTo>
                  <a:pt x="427" y="635"/>
                </a:lnTo>
                <a:lnTo>
                  <a:pt x="427" y="669"/>
                </a:lnTo>
                <a:lnTo>
                  <a:pt x="432" y="703"/>
                </a:lnTo>
                <a:lnTo>
                  <a:pt x="432" y="737"/>
                </a:lnTo>
                <a:lnTo>
                  <a:pt x="432" y="771"/>
                </a:lnTo>
                <a:lnTo>
                  <a:pt x="432" y="805"/>
                </a:lnTo>
                <a:lnTo>
                  <a:pt x="432" y="839"/>
                </a:lnTo>
                <a:lnTo>
                  <a:pt x="432" y="873"/>
                </a:lnTo>
                <a:lnTo>
                  <a:pt x="432" y="918"/>
                </a:lnTo>
                <a:lnTo>
                  <a:pt x="432" y="952"/>
                </a:lnTo>
                <a:lnTo>
                  <a:pt x="432" y="986"/>
                </a:lnTo>
                <a:lnTo>
                  <a:pt x="432" y="1020"/>
                </a:lnTo>
                <a:lnTo>
                  <a:pt x="432" y="1054"/>
                </a:lnTo>
                <a:lnTo>
                  <a:pt x="432" y="1088"/>
                </a:lnTo>
                <a:lnTo>
                  <a:pt x="432" y="1122"/>
                </a:lnTo>
                <a:lnTo>
                  <a:pt x="432" y="1156"/>
                </a:lnTo>
                <a:lnTo>
                  <a:pt x="432" y="1190"/>
                </a:lnTo>
                <a:lnTo>
                  <a:pt x="432" y="1224"/>
                </a:lnTo>
                <a:lnTo>
                  <a:pt x="432" y="1258"/>
                </a:lnTo>
                <a:lnTo>
                  <a:pt x="432" y="1292"/>
                </a:lnTo>
                <a:lnTo>
                  <a:pt x="432" y="1326"/>
                </a:lnTo>
                <a:lnTo>
                  <a:pt x="432" y="1360"/>
                </a:lnTo>
                <a:lnTo>
                  <a:pt x="432" y="1394"/>
                </a:lnTo>
                <a:lnTo>
                  <a:pt x="432" y="1428"/>
                </a:lnTo>
                <a:lnTo>
                  <a:pt x="416" y="1428"/>
                </a:lnTo>
                <a:lnTo>
                  <a:pt x="401" y="1428"/>
                </a:lnTo>
                <a:lnTo>
                  <a:pt x="385" y="1428"/>
                </a:lnTo>
                <a:lnTo>
                  <a:pt x="370" y="1428"/>
                </a:lnTo>
                <a:lnTo>
                  <a:pt x="355" y="1428"/>
                </a:lnTo>
                <a:lnTo>
                  <a:pt x="339" y="1428"/>
                </a:lnTo>
                <a:lnTo>
                  <a:pt x="324" y="1428"/>
                </a:lnTo>
                <a:lnTo>
                  <a:pt x="308" y="1428"/>
                </a:lnTo>
                <a:lnTo>
                  <a:pt x="293" y="1428"/>
                </a:lnTo>
                <a:lnTo>
                  <a:pt x="278" y="1428"/>
                </a:lnTo>
                <a:lnTo>
                  <a:pt x="262" y="1428"/>
                </a:lnTo>
                <a:lnTo>
                  <a:pt x="247" y="1428"/>
                </a:lnTo>
                <a:lnTo>
                  <a:pt x="231" y="1428"/>
                </a:lnTo>
                <a:lnTo>
                  <a:pt x="211" y="1428"/>
                </a:lnTo>
                <a:lnTo>
                  <a:pt x="196" y="1428"/>
                </a:lnTo>
                <a:lnTo>
                  <a:pt x="180" y="1428"/>
                </a:lnTo>
                <a:lnTo>
                  <a:pt x="165" y="1428"/>
                </a:lnTo>
                <a:lnTo>
                  <a:pt x="149" y="1428"/>
                </a:lnTo>
                <a:lnTo>
                  <a:pt x="134" y="1428"/>
                </a:lnTo>
                <a:lnTo>
                  <a:pt x="119" y="1428"/>
                </a:lnTo>
                <a:lnTo>
                  <a:pt x="103" y="1428"/>
                </a:lnTo>
                <a:lnTo>
                  <a:pt x="93" y="1394"/>
                </a:lnTo>
                <a:lnTo>
                  <a:pt x="93" y="1360"/>
                </a:lnTo>
                <a:lnTo>
                  <a:pt x="93" y="1326"/>
                </a:lnTo>
                <a:lnTo>
                  <a:pt x="93" y="1292"/>
                </a:lnTo>
                <a:lnTo>
                  <a:pt x="93" y="1258"/>
                </a:lnTo>
                <a:lnTo>
                  <a:pt x="93" y="1213"/>
                </a:lnTo>
                <a:lnTo>
                  <a:pt x="88" y="1179"/>
                </a:lnTo>
                <a:lnTo>
                  <a:pt x="88" y="1145"/>
                </a:lnTo>
                <a:lnTo>
                  <a:pt x="88" y="1111"/>
                </a:lnTo>
                <a:lnTo>
                  <a:pt x="88" y="1077"/>
                </a:lnTo>
                <a:lnTo>
                  <a:pt x="88" y="1043"/>
                </a:lnTo>
                <a:lnTo>
                  <a:pt x="88" y="1009"/>
                </a:lnTo>
                <a:lnTo>
                  <a:pt x="88" y="975"/>
                </a:lnTo>
                <a:lnTo>
                  <a:pt x="83" y="941"/>
                </a:lnTo>
                <a:lnTo>
                  <a:pt x="83" y="907"/>
                </a:lnTo>
                <a:lnTo>
                  <a:pt x="78" y="873"/>
                </a:lnTo>
                <a:lnTo>
                  <a:pt x="78" y="839"/>
                </a:lnTo>
                <a:lnTo>
                  <a:pt x="78" y="805"/>
                </a:lnTo>
                <a:lnTo>
                  <a:pt x="78" y="771"/>
                </a:lnTo>
                <a:lnTo>
                  <a:pt x="78" y="737"/>
                </a:lnTo>
                <a:lnTo>
                  <a:pt x="78" y="703"/>
                </a:lnTo>
                <a:lnTo>
                  <a:pt x="78" y="669"/>
                </a:lnTo>
                <a:lnTo>
                  <a:pt x="72" y="635"/>
                </a:lnTo>
                <a:lnTo>
                  <a:pt x="72" y="601"/>
                </a:lnTo>
                <a:lnTo>
                  <a:pt x="67" y="567"/>
                </a:lnTo>
                <a:lnTo>
                  <a:pt x="67" y="533"/>
                </a:lnTo>
                <a:lnTo>
                  <a:pt x="67" y="499"/>
                </a:lnTo>
                <a:lnTo>
                  <a:pt x="67" y="466"/>
                </a:lnTo>
                <a:lnTo>
                  <a:pt x="67" y="432"/>
                </a:lnTo>
                <a:lnTo>
                  <a:pt x="62" y="398"/>
                </a:lnTo>
                <a:lnTo>
                  <a:pt x="57" y="364"/>
                </a:lnTo>
                <a:lnTo>
                  <a:pt x="47" y="330"/>
                </a:lnTo>
                <a:lnTo>
                  <a:pt x="47" y="296"/>
                </a:lnTo>
                <a:lnTo>
                  <a:pt x="42" y="262"/>
                </a:lnTo>
                <a:lnTo>
                  <a:pt x="37" y="228"/>
                </a:lnTo>
                <a:lnTo>
                  <a:pt x="32" y="194"/>
                </a:lnTo>
                <a:lnTo>
                  <a:pt x="27" y="160"/>
                </a:lnTo>
                <a:lnTo>
                  <a:pt x="21" y="126"/>
                </a:lnTo>
                <a:lnTo>
                  <a:pt x="16" y="92"/>
                </a:lnTo>
                <a:lnTo>
                  <a:pt x="16" y="58"/>
                </a:lnTo>
                <a:lnTo>
                  <a:pt x="0" y="0"/>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51" name="Rectangle 15"/>
          <p:cNvSpPr>
            <a:spLocks noChangeArrowheads="1"/>
          </p:cNvSpPr>
          <p:nvPr/>
        </p:nvSpPr>
        <p:spPr bwMode="auto">
          <a:xfrm>
            <a:off x="5932885" y="18407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5552" name="Line 16"/>
          <p:cNvSpPr>
            <a:spLocks noChangeShapeType="1"/>
          </p:cNvSpPr>
          <p:nvPr/>
        </p:nvSpPr>
        <p:spPr bwMode="auto">
          <a:xfrm>
            <a:off x="5544741" y="18288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53" name="Line 17"/>
          <p:cNvSpPr>
            <a:spLocks noChangeShapeType="1"/>
          </p:cNvSpPr>
          <p:nvPr/>
        </p:nvSpPr>
        <p:spPr bwMode="auto">
          <a:xfrm>
            <a:off x="5544741" y="3543300"/>
            <a:ext cx="1256109"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54" name="Rectangle 18"/>
          <p:cNvSpPr>
            <a:spLocks noChangeArrowheads="1"/>
          </p:cNvSpPr>
          <p:nvPr/>
        </p:nvSpPr>
        <p:spPr bwMode="auto">
          <a:xfrm>
            <a:off x="42755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5555" name="Rectangle 19"/>
          <p:cNvSpPr>
            <a:spLocks noChangeArrowheads="1"/>
          </p:cNvSpPr>
          <p:nvPr/>
        </p:nvSpPr>
        <p:spPr bwMode="auto">
          <a:xfrm>
            <a:off x="5075635" y="1497806"/>
            <a:ext cx="76543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solidFill>
                  <a:srgbClr val="FF0000"/>
                </a:solidFill>
                <a:latin typeface="Arial Rounded MT Bold" pitchFamily="34" charset="0"/>
              </a:rPr>
              <a:t>++++</a:t>
            </a:r>
          </a:p>
        </p:txBody>
      </p:sp>
      <p:sp>
        <p:nvSpPr>
          <p:cNvPr id="65556" name="Rectangle 20"/>
          <p:cNvSpPr>
            <a:spLocks noChangeArrowheads="1"/>
          </p:cNvSpPr>
          <p:nvPr/>
        </p:nvSpPr>
        <p:spPr bwMode="auto">
          <a:xfrm>
            <a:off x="42755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5557" name="Rectangle 21"/>
          <p:cNvSpPr>
            <a:spLocks noChangeArrowheads="1"/>
          </p:cNvSpPr>
          <p:nvPr/>
        </p:nvSpPr>
        <p:spPr bwMode="auto">
          <a:xfrm>
            <a:off x="50756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5558" name="Line 22"/>
          <p:cNvSpPr>
            <a:spLocks noChangeShapeType="1"/>
          </p:cNvSpPr>
          <p:nvPr/>
        </p:nvSpPr>
        <p:spPr bwMode="auto">
          <a:xfrm>
            <a:off x="5373291" y="2172891"/>
            <a:ext cx="55959" cy="170259"/>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59" name="Line 23"/>
          <p:cNvSpPr>
            <a:spLocks noChangeShapeType="1"/>
          </p:cNvSpPr>
          <p:nvPr/>
        </p:nvSpPr>
        <p:spPr bwMode="auto">
          <a:xfrm>
            <a:off x="5430441" y="2343150"/>
            <a:ext cx="79890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60" name="Line 24"/>
          <p:cNvSpPr>
            <a:spLocks noChangeShapeType="1"/>
          </p:cNvSpPr>
          <p:nvPr/>
        </p:nvSpPr>
        <p:spPr bwMode="auto">
          <a:xfrm flipV="1">
            <a:off x="6230541" y="2115741"/>
            <a:ext cx="55959" cy="22740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61" name="Line 25"/>
          <p:cNvSpPr>
            <a:spLocks noChangeShapeType="1"/>
          </p:cNvSpPr>
          <p:nvPr/>
        </p:nvSpPr>
        <p:spPr bwMode="auto">
          <a:xfrm flipH="1" flipV="1">
            <a:off x="6230541" y="1315641"/>
            <a:ext cx="55959" cy="170259"/>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62" name="Line 26"/>
          <p:cNvSpPr>
            <a:spLocks noChangeShapeType="1"/>
          </p:cNvSpPr>
          <p:nvPr/>
        </p:nvSpPr>
        <p:spPr bwMode="auto">
          <a:xfrm flipH="1">
            <a:off x="5316141" y="1314450"/>
            <a:ext cx="91320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63" name="Line 27"/>
          <p:cNvSpPr>
            <a:spLocks noChangeShapeType="1"/>
          </p:cNvSpPr>
          <p:nvPr/>
        </p:nvSpPr>
        <p:spPr bwMode="auto">
          <a:xfrm flipH="1">
            <a:off x="5258991" y="1315641"/>
            <a:ext cx="55959" cy="22740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64" name="Rectangle 28"/>
          <p:cNvSpPr>
            <a:spLocks noChangeArrowheads="1"/>
          </p:cNvSpPr>
          <p:nvPr/>
        </p:nvSpPr>
        <p:spPr bwMode="auto">
          <a:xfrm>
            <a:off x="3565611" y="3605475"/>
            <a:ext cx="968375"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dirty="0">
                <a:latin typeface="Arial Rounded MT Bold" pitchFamily="34" charset="0"/>
              </a:rPr>
              <a:t>at rest</a:t>
            </a:r>
          </a:p>
        </p:txBody>
      </p:sp>
      <p:sp>
        <p:nvSpPr>
          <p:cNvPr id="65565" name="Rectangle 29"/>
          <p:cNvSpPr>
            <a:spLocks noChangeArrowheads="1"/>
          </p:cNvSpPr>
          <p:nvPr/>
        </p:nvSpPr>
        <p:spPr bwMode="auto">
          <a:xfrm>
            <a:off x="5657851" y="3783806"/>
            <a:ext cx="2177681" cy="39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100">
                <a:latin typeface="Arial Rounded MT Bold" pitchFamily="34" charset="0"/>
              </a:rPr>
              <a:t>action potential</a:t>
            </a:r>
          </a:p>
        </p:txBody>
      </p:sp>
      <p:sp>
        <p:nvSpPr>
          <p:cNvPr id="65566" name="Line 30"/>
          <p:cNvSpPr>
            <a:spLocks noChangeShapeType="1"/>
          </p:cNvSpPr>
          <p:nvPr/>
        </p:nvSpPr>
        <p:spPr bwMode="auto">
          <a:xfrm flipV="1">
            <a:off x="4533589" y="3623622"/>
            <a:ext cx="236056" cy="1601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65567" name="Rectangle 31"/>
          <p:cNvSpPr>
            <a:spLocks noChangeArrowheads="1"/>
          </p:cNvSpPr>
          <p:nvPr/>
        </p:nvSpPr>
        <p:spPr bwMode="auto">
          <a:xfrm>
            <a:off x="7028260" y="4182666"/>
            <a:ext cx="138113" cy="389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65568" name="Rectangle 32"/>
          <p:cNvSpPr>
            <a:spLocks noChangeArrowheads="1"/>
          </p:cNvSpPr>
          <p:nvPr/>
        </p:nvSpPr>
        <p:spPr bwMode="auto">
          <a:xfrm>
            <a:off x="3361135" y="18073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5569" name="Rectangle 33"/>
          <p:cNvSpPr>
            <a:spLocks noChangeArrowheads="1"/>
          </p:cNvSpPr>
          <p:nvPr/>
        </p:nvSpPr>
        <p:spPr bwMode="auto">
          <a:xfrm>
            <a:off x="5932885" y="1464469"/>
            <a:ext cx="845585"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0070C0"/>
                </a:solidFill>
                <a:latin typeface="Arial Rounded MT Bold" pitchFamily="34" charset="0"/>
              </a:rPr>
              <a:t>- - - -</a:t>
            </a:r>
            <a:r>
              <a:rPr lang="en-GB" sz="2100" dirty="0">
                <a:solidFill>
                  <a:srgbClr val="0070C0"/>
                </a:solidFill>
                <a:latin typeface="Arial Rounded MT Bold" pitchFamily="34" charset="0"/>
              </a:rPr>
              <a:t> </a:t>
            </a:r>
          </a:p>
        </p:txBody>
      </p:sp>
      <p:sp>
        <p:nvSpPr>
          <p:cNvPr id="65570" name="Rectangle 34"/>
          <p:cNvSpPr>
            <a:spLocks noChangeArrowheads="1"/>
          </p:cNvSpPr>
          <p:nvPr/>
        </p:nvSpPr>
        <p:spPr bwMode="auto">
          <a:xfrm>
            <a:off x="5532835" y="778669"/>
            <a:ext cx="313388" cy="43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866" tIns="33338" rIns="67866" bIns="33338">
            <a:spAutoFit/>
          </a:bodyPr>
          <a:lstStyle/>
          <a:p>
            <a:pPr defTabSz="571500"/>
            <a:r>
              <a:rPr lang="en-GB" sz="2400" dirty="0">
                <a:solidFill>
                  <a:srgbClr val="FF0000"/>
                </a:solidFill>
                <a:latin typeface="Arial Rounded MT Bold" pitchFamily="34" charset="0"/>
              </a:rPr>
              <a:t>?</a:t>
            </a:r>
          </a:p>
        </p:txBody>
      </p:sp>
      <p:sp>
        <p:nvSpPr>
          <p:cNvPr id="65571" name="Line 35"/>
          <p:cNvSpPr>
            <a:spLocks noChangeShapeType="1"/>
          </p:cNvSpPr>
          <p:nvPr/>
        </p:nvSpPr>
        <p:spPr bwMode="auto">
          <a:xfrm flipV="1">
            <a:off x="6286500" y="3601641"/>
            <a:ext cx="0" cy="28455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2" name="Rectangle 1"/>
          <p:cNvSpPr/>
          <p:nvPr/>
        </p:nvSpPr>
        <p:spPr>
          <a:xfrm>
            <a:off x="1543091" y="4255815"/>
            <a:ext cx="6057818" cy="830997"/>
          </a:xfrm>
          <a:prstGeom prst="rect">
            <a:avLst/>
          </a:prstGeom>
        </p:spPr>
        <p:txBody>
          <a:bodyPr wrap="square">
            <a:spAutoFit/>
          </a:bodyPr>
          <a:lstStyle/>
          <a:p>
            <a:r>
              <a:rPr lang="en-GB" sz="2400" dirty="0">
                <a:latin typeface="Arial Rounded MT Bold" pitchFamily="34" charset="0"/>
              </a:rPr>
              <a:t>The</a:t>
            </a:r>
            <a:r>
              <a:rPr lang="en-GB" sz="2400" dirty="0">
                <a:solidFill>
                  <a:schemeClr val="hlink"/>
                </a:solidFill>
                <a:latin typeface="Arial Rounded MT Bold" pitchFamily="34" charset="0"/>
              </a:rPr>
              <a:t> </a:t>
            </a:r>
            <a:r>
              <a:rPr lang="en-GB" sz="2400" dirty="0">
                <a:solidFill>
                  <a:srgbClr val="FF0000"/>
                </a:solidFill>
                <a:latin typeface="Arial Rounded MT Bold" pitchFamily="34" charset="0"/>
              </a:rPr>
              <a:t>refractory period</a:t>
            </a:r>
            <a:r>
              <a:rPr lang="en-GB" sz="2400" dirty="0">
                <a:solidFill>
                  <a:schemeClr val="hlink"/>
                </a:solidFill>
                <a:latin typeface="Arial Rounded MT Bold" pitchFamily="34" charset="0"/>
              </a:rPr>
              <a:t> </a:t>
            </a:r>
            <a:r>
              <a:rPr lang="en-GB" sz="2400" dirty="0">
                <a:latin typeface="Arial Rounded MT Bold" pitchFamily="34" charset="0"/>
              </a:rPr>
              <a:t>prevents AP to be moved in opposite direction </a:t>
            </a:r>
            <a:endParaRPr lang="en-MY" sz="2400" dirty="0"/>
          </a:p>
        </p:txBody>
      </p:sp>
      <p:sp>
        <p:nvSpPr>
          <p:cNvPr id="4" name="TextBox 3">
            <a:extLst>
              <a:ext uri="{FF2B5EF4-FFF2-40B4-BE49-F238E27FC236}">
                <a16:creationId xmlns:a16="http://schemas.microsoft.com/office/drawing/2014/main" id="{9FE591BE-3A38-DF59-05E6-671F08F20BF0}"/>
              </a:ext>
            </a:extLst>
          </p:cNvPr>
          <p:cNvSpPr txBox="1"/>
          <p:nvPr/>
        </p:nvSpPr>
        <p:spPr>
          <a:xfrm>
            <a:off x="4427984" y="2407053"/>
            <a:ext cx="1815005" cy="738664"/>
          </a:xfrm>
          <a:prstGeom prst="rect">
            <a:avLst/>
          </a:prstGeom>
          <a:noFill/>
        </p:spPr>
        <p:txBody>
          <a:bodyPr wrap="square">
            <a:spAutoFit/>
          </a:bodyPr>
          <a:lstStyle/>
          <a:p>
            <a:r>
              <a:rPr lang="en-GB" sz="1400" dirty="0">
                <a:latin typeface="Arial Rounded MT Bold" pitchFamily="34" charset="0"/>
              </a:rPr>
              <a:t>Na+ channels are inactivated due to hyperpolarization</a:t>
            </a:r>
            <a:endParaRPr lang="en-GB" sz="1400" dirty="0"/>
          </a:p>
        </p:txBody>
      </p:sp>
    </p:spTree>
    <p:extLst>
      <p:ext uri="{BB962C8B-B14F-4D97-AF65-F5344CB8AC3E}">
        <p14:creationId xmlns:p14="http://schemas.microsoft.com/office/powerpoint/2010/main" val="16717595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DD88B-B839-0C65-1900-A5A7736F6DFE}"/>
              </a:ext>
            </a:extLst>
          </p:cNvPr>
          <p:cNvSpPr>
            <a:spLocks noGrp="1"/>
          </p:cNvSpPr>
          <p:nvPr>
            <p:ph type="title"/>
          </p:nvPr>
        </p:nvSpPr>
        <p:spPr>
          <a:xfrm>
            <a:off x="685800" y="411510"/>
            <a:ext cx="7772400" cy="648072"/>
          </a:xfrm>
        </p:spPr>
        <p:txBody>
          <a:bodyPr/>
          <a:lstStyle/>
          <a:p>
            <a:r>
              <a:rPr lang="en-GB" b="1" dirty="0">
                <a:solidFill>
                  <a:srgbClr val="FF0000"/>
                </a:solidFill>
              </a:rPr>
              <a:t>Why are refractory periods important?</a:t>
            </a:r>
          </a:p>
        </p:txBody>
      </p:sp>
      <p:graphicFrame>
        <p:nvGraphicFramePr>
          <p:cNvPr id="5" name="Content Placeholder 2">
            <a:extLst>
              <a:ext uri="{FF2B5EF4-FFF2-40B4-BE49-F238E27FC236}">
                <a16:creationId xmlns:a16="http://schemas.microsoft.com/office/drawing/2014/main" id="{C9F03CC1-6296-F8F2-B3F6-D15A3828D2AB}"/>
              </a:ext>
            </a:extLst>
          </p:cNvPr>
          <p:cNvGraphicFramePr>
            <a:graphicFrameLocks noGrp="1"/>
          </p:cNvGraphicFramePr>
          <p:nvPr>
            <p:ph idx="1"/>
          </p:nvPr>
        </p:nvGraphicFramePr>
        <p:xfrm>
          <a:off x="395536" y="1347614"/>
          <a:ext cx="7772400" cy="2952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134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950" y="228600"/>
            <a:ext cx="8458050" cy="1314450"/>
          </a:xfrm>
          <a:noFill/>
          <a:ln/>
        </p:spPr>
        <p:txBody>
          <a:bodyPr/>
          <a:lstStyle/>
          <a:p>
            <a:r>
              <a:rPr lang="en-GB" sz="3200" b="1" dirty="0">
                <a:solidFill>
                  <a:srgbClr val="FF0000"/>
                </a:solidFill>
                <a:latin typeface="Arial Rounded MT Bold" pitchFamily="34" charset="0"/>
              </a:rPr>
              <a:t>How fast does the action potential travel?</a:t>
            </a:r>
          </a:p>
        </p:txBody>
      </p:sp>
      <p:sp>
        <p:nvSpPr>
          <p:cNvPr id="7171" name="Rectangle 3"/>
          <p:cNvSpPr>
            <a:spLocks noGrp="1" noChangeArrowheads="1"/>
          </p:cNvSpPr>
          <p:nvPr>
            <p:ph type="body" idx="1"/>
          </p:nvPr>
        </p:nvSpPr>
        <p:spPr>
          <a:xfrm>
            <a:off x="972791" y="1428750"/>
            <a:ext cx="7846490" cy="857250"/>
          </a:xfrm>
          <a:noFill/>
          <a:ln/>
        </p:spPr>
        <p:txBody>
          <a:bodyPr/>
          <a:lstStyle/>
          <a:p>
            <a:r>
              <a:rPr lang="en-GB" sz="2400" b="1" dirty="0">
                <a:latin typeface="Arial Rounded MT Bold" pitchFamily="34" charset="0"/>
              </a:rPr>
              <a:t>The velocity of the action potential, V, is related to:</a:t>
            </a:r>
            <a:r>
              <a:rPr lang="en-GB" sz="2400" dirty="0">
                <a:latin typeface="Arial Rounded MT Bold" pitchFamily="34" charset="0"/>
              </a:rPr>
              <a:t>  </a:t>
            </a:r>
          </a:p>
          <a:p>
            <a:pPr>
              <a:buFontTx/>
              <a:buNone/>
            </a:pPr>
            <a:endParaRPr lang="en-GB" sz="2100" dirty="0">
              <a:latin typeface="Arial Rounded MT Bold" pitchFamily="34" charset="0"/>
            </a:endParaRPr>
          </a:p>
        </p:txBody>
      </p:sp>
      <p:grpSp>
        <p:nvGrpSpPr>
          <p:cNvPr id="7207" name="Group 39"/>
          <p:cNvGrpSpPr>
            <a:grpSpLocks/>
          </p:cNvGrpSpPr>
          <p:nvPr/>
        </p:nvGrpSpPr>
        <p:grpSpPr bwMode="auto">
          <a:xfrm>
            <a:off x="1428750" y="2399110"/>
            <a:ext cx="7641431" cy="1258491"/>
            <a:chOff x="240" y="2015"/>
            <a:chExt cx="6418" cy="1057"/>
          </a:xfrm>
        </p:grpSpPr>
        <p:grpSp>
          <p:nvGrpSpPr>
            <p:cNvPr id="7206" name="Group 38"/>
            <p:cNvGrpSpPr>
              <a:grpSpLocks/>
            </p:cNvGrpSpPr>
            <p:nvPr/>
          </p:nvGrpSpPr>
          <p:grpSpPr bwMode="auto">
            <a:xfrm>
              <a:off x="240" y="2015"/>
              <a:ext cx="2646" cy="1057"/>
              <a:chOff x="576" y="2016"/>
              <a:chExt cx="2646" cy="1057"/>
            </a:xfrm>
          </p:grpSpPr>
          <p:sp>
            <p:nvSpPr>
              <p:cNvPr id="7177" name="Oval 9"/>
              <p:cNvSpPr>
                <a:spLocks noChangeArrowheads="1"/>
              </p:cNvSpPr>
              <p:nvPr/>
            </p:nvSpPr>
            <p:spPr bwMode="auto">
              <a:xfrm>
                <a:off x="1070" y="2368"/>
                <a:ext cx="208" cy="688"/>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7178" name="Oval 10"/>
              <p:cNvSpPr>
                <a:spLocks noChangeArrowheads="1"/>
              </p:cNvSpPr>
              <p:nvPr/>
            </p:nvSpPr>
            <p:spPr bwMode="auto">
              <a:xfrm>
                <a:off x="3014" y="2368"/>
                <a:ext cx="208" cy="688"/>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7179" name="Line 11"/>
              <p:cNvSpPr>
                <a:spLocks noChangeShapeType="1"/>
              </p:cNvSpPr>
              <p:nvPr/>
            </p:nvSpPr>
            <p:spPr bwMode="auto">
              <a:xfrm>
                <a:off x="1174" y="2352"/>
                <a:ext cx="1416" cy="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0" name="Line 12"/>
              <p:cNvSpPr>
                <a:spLocks noChangeShapeType="1"/>
              </p:cNvSpPr>
              <p:nvPr/>
            </p:nvSpPr>
            <p:spPr bwMode="auto">
              <a:xfrm>
                <a:off x="1174" y="3072"/>
                <a:ext cx="1416" cy="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1" name="Arc 13"/>
              <p:cNvSpPr>
                <a:spLocks/>
              </p:cNvSpPr>
              <p:nvPr/>
            </p:nvSpPr>
            <p:spPr bwMode="auto">
              <a:xfrm>
                <a:off x="2757" y="2352"/>
                <a:ext cx="121" cy="720"/>
              </a:xfrm>
              <a:custGeom>
                <a:avLst/>
                <a:gdLst>
                  <a:gd name="G0" fmla="+- 180 0 0"/>
                  <a:gd name="G1" fmla="+- 21600 0 0"/>
                  <a:gd name="G2" fmla="+- 21600 0 0"/>
                  <a:gd name="T0" fmla="*/ 0 w 21780"/>
                  <a:gd name="T1" fmla="*/ 1 h 21600"/>
                  <a:gd name="T2" fmla="*/ 21780 w 21780"/>
                  <a:gd name="T3" fmla="*/ 21600 h 21600"/>
                  <a:gd name="T4" fmla="*/ 180 w 21780"/>
                  <a:gd name="T5" fmla="*/ 21600 h 21600"/>
                </a:gdLst>
                <a:ahLst/>
                <a:cxnLst>
                  <a:cxn ang="0">
                    <a:pos x="T0" y="T1"/>
                  </a:cxn>
                  <a:cxn ang="0">
                    <a:pos x="T2" y="T3"/>
                  </a:cxn>
                  <a:cxn ang="0">
                    <a:pos x="T4" y="T5"/>
                  </a:cxn>
                </a:cxnLst>
                <a:rect l="0" t="0" r="r" b="b"/>
                <a:pathLst>
                  <a:path w="21780" h="21600" fill="none" extrusionOk="0">
                    <a:moveTo>
                      <a:pt x="-1" y="0"/>
                    </a:moveTo>
                    <a:cubicBezTo>
                      <a:pt x="59" y="0"/>
                      <a:pt x="119" y="-1"/>
                      <a:pt x="180" y="0"/>
                    </a:cubicBezTo>
                    <a:cubicBezTo>
                      <a:pt x="12109" y="0"/>
                      <a:pt x="21780" y="9670"/>
                      <a:pt x="21780" y="21600"/>
                    </a:cubicBezTo>
                  </a:path>
                  <a:path w="21780" h="21600" stroke="0" extrusionOk="0">
                    <a:moveTo>
                      <a:pt x="-1" y="0"/>
                    </a:moveTo>
                    <a:cubicBezTo>
                      <a:pt x="59" y="0"/>
                      <a:pt x="119" y="-1"/>
                      <a:pt x="180" y="0"/>
                    </a:cubicBezTo>
                    <a:cubicBezTo>
                      <a:pt x="12109" y="0"/>
                      <a:pt x="21780" y="9670"/>
                      <a:pt x="21780" y="21600"/>
                    </a:cubicBezTo>
                    <a:lnTo>
                      <a:pt x="180" y="2160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2" name="Arc 14"/>
              <p:cNvSpPr>
                <a:spLocks/>
              </p:cNvSpPr>
              <p:nvPr/>
            </p:nvSpPr>
            <p:spPr bwMode="auto">
              <a:xfrm>
                <a:off x="2734" y="2353"/>
                <a:ext cx="121" cy="720"/>
              </a:xfrm>
              <a:custGeom>
                <a:avLst/>
                <a:gdLst>
                  <a:gd name="G0" fmla="+- 180 0 0"/>
                  <a:gd name="G1" fmla="+- 21600 0 0"/>
                  <a:gd name="G2" fmla="+- 21600 0 0"/>
                  <a:gd name="T0" fmla="*/ 0 w 21780"/>
                  <a:gd name="T1" fmla="*/ 1 h 21600"/>
                  <a:gd name="T2" fmla="*/ 21780 w 21780"/>
                  <a:gd name="T3" fmla="*/ 21600 h 21600"/>
                  <a:gd name="T4" fmla="*/ 180 w 21780"/>
                  <a:gd name="T5" fmla="*/ 21600 h 21600"/>
                </a:gdLst>
                <a:ahLst/>
                <a:cxnLst>
                  <a:cxn ang="0">
                    <a:pos x="T0" y="T1"/>
                  </a:cxn>
                  <a:cxn ang="0">
                    <a:pos x="T2" y="T3"/>
                  </a:cxn>
                  <a:cxn ang="0">
                    <a:pos x="T4" y="T5"/>
                  </a:cxn>
                </a:cxnLst>
                <a:rect l="0" t="0" r="r" b="b"/>
                <a:pathLst>
                  <a:path w="21780" h="21600" fill="none" extrusionOk="0">
                    <a:moveTo>
                      <a:pt x="-1" y="0"/>
                    </a:moveTo>
                    <a:cubicBezTo>
                      <a:pt x="59" y="0"/>
                      <a:pt x="119" y="-1"/>
                      <a:pt x="180" y="0"/>
                    </a:cubicBezTo>
                    <a:cubicBezTo>
                      <a:pt x="12109" y="0"/>
                      <a:pt x="21780" y="9670"/>
                      <a:pt x="21780" y="21600"/>
                    </a:cubicBezTo>
                  </a:path>
                  <a:path w="21780" h="21600" stroke="0" extrusionOk="0">
                    <a:moveTo>
                      <a:pt x="-1" y="0"/>
                    </a:moveTo>
                    <a:cubicBezTo>
                      <a:pt x="59" y="0"/>
                      <a:pt x="119" y="-1"/>
                      <a:pt x="180" y="0"/>
                    </a:cubicBezTo>
                    <a:cubicBezTo>
                      <a:pt x="12109" y="0"/>
                      <a:pt x="21780" y="9670"/>
                      <a:pt x="21780" y="21600"/>
                    </a:cubicBezTo>
                    <a:lnTo>
                      <a:pt x="180" y="2160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3" name="Freeform 15"/>
              <p:cNvSpPr>
                <a:spLocks/>
              </p:cNvSpPr>
              <p:nvPr/>
            </p:nvSpPr>
            <p:spPr bwMode="auto">
              <a:xfrm>
                <a:off x="2782" y="2352"/>
                <a:ext cx="217" cy="715"/>
              </a:xfrm>
              <a:custGeom>
                <a:avLst/>
                <a:gdLst>
                  <a:gd name="T0" fmla="*/ 10 w 217"/>
                  <a:gd name="T1" fmla="*/ 6 h 715"/>
                  <a:gd name="T2" fmla="*/ 26 w 217"/>
                  <a:gd name="T3" fmla="*/ 6 h 715"/>
                  <a:gd name="T4" fmla="*/ 41 w 217"/>
                  <a:gd name="T5" fmla="*/ 6 h 715"/>
                  <a:gd name="T6" fmla="*/ 57 w 217"/>
                  <a:gd name="T7" fmla="*/ 6 h 715"/>
                  <a:gd name="T8" fmla="*/ 72 w 217"/>
                  <a:gd name="T9" fmla="*/ 6 h 715"/>
                  <a:gd name="T10" fmla="*/ 87 w 217"/>
                  <a:gd name="T11" fmla="*/ 6 h 715"/>
                  <a:gd name="T12" fmla="*/ 103 w 217"/>
                  <a:gd name="T13" fmla="*/ 6 h 715"/>
                  <a:gd name="T14" fmla="*/ 118 w 217"/>
                  <a:gd name="T15" fmla="*/ 6 h 715"/>
                  <a:gd name="T16" fmla="*/ 134 w 217"/>
                  <a:gd name="T17" fmla="*/ 12 h 715"/>
                  <a:gd name="T18" fmla="*/ 149 w 217"/>
                  <a:gd name="T19" fmla="*/ 17 h 715"/>
                  <a:gd name="T20" fmla="*/ 164 w 217"/>
                  <a:gd name="T21" fmla="*/ 12 h 715"/>
                  <a:gd name="T22" fmla="*/ 180 w 217"/>
                  <a:gd name="T23" fmla="*/ 29 h 715"/>
                  <a:gd name="T24" fmla="*/ 185 w 217"/>
                  <a:gd name="T25" fmla="*/ 63 h 715"/>
                  <a:gd name="T26" fmla="*/ 190 w 217"/>
                  <a:gd name="T27" fmla="*/ 97 h 715"/>
                  <a:gd name="T28" fmla="*/ 195 w 217"/>
                  <a:gd name="T29" fmla="*/ 131 h 715"/>
                  <a:gd name="T30" fmla="*/ 200 w 217"/>
                  <a:gd name="T31" fmla="*/ 165 h 715"/>
                  <a:gd name="T32" fmla="*/ 203 w 217"/>
                  <a:gd name="T33" fmla="*/ 199 h 715"/>
                  <a:gd name="T34" fmla="*/ 208 w 217"/>
                  <a:gd name="T35" fmla="*/ 233 h 715"/>
                  <a:gd name="T36" fmla="*/ 210 w 217"/>
                  <a:gd name="T37" fmla="*/ 266 h 715"/>
                  <a:gd name="T38" fmla="*/ 213 w 217"/>
                  <a:gd name="T39" fmla="*/ 300 h 715"/>
                  <a:gd name="T40" fmla="*/ 213 w 217"/>
                  <a:gd name="T41" fmla="*/ 334 h 715"/>
                  <a:gd name="T42" fmla="*/ 216 w 217"/>
                  <a:gd name="T43" fmla="*/ 368 h 715"/>
                  <a:gd name="T44" fmla="*/ 216 w 217"/>
                  <a:gd name="T45" fmla="*/ 402 h 715"/>
                  <a:gd name="T46" fmla="*/ 216 w 217"/>
                  <a:gd name="T47" fmla="*/ 436 h 715"/>
                  <a:gd name="T48" fmla="*/ 216 w 217"/>
                  <a:gd name="T49" fmla="*/ 476 h 715"/>
                  <a:gd name="T50" fmla="*/ 216 w 217"/>
                  <a:gd name="T51" fmla="*/ 510 h 715"/>
                  <a:gd name="T52" fmla="*/ 216 w 217"/>
                  <a:gd name="T53" fmla="*/ 544 h 715"/>
                  <a:gd name="T54" fmla="*/ 216 w 217"/>
                  <a:gd name="T55" fmla="*/ 578 h 715"/>
                  <a:gd name="T56" fmla="*/ 216 w 217"/>
                  <a:gd name="T57" fmla="*/ 612 h 715"/>
                  <a:gd name="T58" fmla="*/ 216 w 217"/>
                  <a:gd name="T59" fmla="*/ 646 h 715"/>
                  <a:gd name="T60" fmla="*/ 216 w 217"/>
                  <a:gd name="T61" fmla="*/ 680 h 715"/>
                  <a:gd name="T62" fmla="*/ 216 w 217"/>
                  <a:gd name="T63" fmla="*/ 714 h 715"/>
                  <a:gd name="T64" fmla="*/ 200 w 217"/>
                  <a:gd name="T65" fmla="*/ 714 h 715"/>
                  <a:gd name="T66" fmla="*/ 185 w 217"/>
                  <a:gd name="T67" fmla="*/ 714 h 715"/>
                  <a:gd name="T68" fmla="*/ 169 w 217"/>
                  <a:gd name="T69" fmla="*/ 714 h 715"/>
                  <a:gd name="T70" fmla="*/ 154 w 217"/>
                  <a:gd name="T71" fmla="*/ 714 h 715"/>
                  <a:gd name="T72" fmla="*/ 139 w 217"/>
                  <a:gd name="T73" fmla="*/ 714 h 715"/>
                  <a:gd name="T74" fmla="*/ 123 w 217"/>
                  <a:gd name="T75" fmla="*/ 714 h 715"/>
                  <a:gd name="T76" fmla="*/ 105 w 217"/>
                  <a:gd name="T77" fmla="*/ 714 h 715"/>
                  <a:gd name="T78" fmla="*/ 90 w 217"/>
                  <a:gd name="T79" fmla="*/ 714 h 715"/>
                  <a:gd name="T80" fmla="*/ 74 w 217"/>
                  <a:gd name="T81" fmla="*/ 714 h 715"/>
                  <a:gd name="T82" fmla="*/ 59 w 217"/>
                  <a:gd name="T83" fmla="*/ 714 h 715"/>
                  <a:gd name="T84" fmla="*/ 46 w 217"/>
                  <a:gd name="T85" fmla="*/ 697 h 715"/>
                  <a:gd name="T86" fmla="*/ 46 w 217"/>
                  <a:gd name="T87" fmla="*/ 663 h 715"/>
                  <a:gd name="T88" fmla="*/ 46 w 217"/>
                  <a:gd name="T89" fmla="*/ 629 h 715"/>
                  <a:gd name="T90" fmla="*/ 44 w 217"/>
                  <a:gd name="T91" fmla="*/ 589 h 715"/>
                  <a:gd name="T92" fmla="*/ 44 w 217"/>
                  <a:gd name="T93" fmla="*/ 555 h 715"/>
                  <a:gd name="T94" fmla="*/ 44 w 217"/>
                  <a:gd name="T95" fmla="*/ 521 h 715"/>
                  <a:gd name="T96" fmla="*/ 44 w 217"/>
                  <a:gd name="T97" fmla="*/ 487 h 715"/>
                  <a:gd name="T98" fmla="*/ 41 w 217"/>
                  <a:gd name="T99" fmla="*/ 453 h 715"/>
                  <a:gd name="T100" fmla="*/ 39 w 217"/>
                  <a:gd name="T101" fmla="*/ 419 h 715"/>
                  <a:gd name="T102" fmla="*/ 39 w 217"/>
                  <a:gd name="T103" fmla="*/ 385 h 715"/>
                  <a:gd name="T104" fmla="*/ 39 w 217"/>
                  <a:gd name="T105" fmla="*/ 351 h 715"/>
                  <a:gd name="T106" fmla="*/ 36 w 217"/>
                  <a:gd name="T107" fmla="*/ 317 h 715"/>
                  <a:gd name="T108" fmla="*/ 33 w 217"/>
                  <a:gd name="T109" fmla="*/ 283 h 715"/>
                  <a:gd name="T110" fmla="*/ 33 w 217"/>
                  <a:gd name="T111" fmla="*/ 249 h 715"/>
                  <a:gd name="T112" fmla="*/ 33 w 217"/>
                  <a:gd name="T113" fmla="*/ 216 h 715"/>
                  <a:gd name="T114" fmla="*/ 28 w 217"/>
                  <a:gd name="T115" fmla="*/ 182 h 715"/>
                  <a:gd name="T116" fmla="*/ 23 w 217"/>
                  <a:gd name="T117" fmla="*/ 148 h 715"/>
                  <a:gd name="T118" fmla="*/ 18 w 217"/>
                  <a:gd name="T119" fmla="*/ 114 h 715"/>
                  <a:gd name="T120" fmla="*/ 13 w 217"/>
                  <a:gd name="T121" fmla="*/ 80 h 715"/>
                  <a:gd name="T122" fmla="*/ 8 w 217"/>
                  <a:gd name="T123" fmla="*/ 46 h 715"/>
                  <a:gd name="T124" fmla="*/ 0 w 217"/>
                  <a:gd name="T125" fmla="*/ 0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7" h="715">
                    <a:moveTo>
                      <a:pt x="0" y="0"/>
                    </a:moveTo>
                    <a:lnTo>
                      <a:pt x="10" y="6"/>
                    </a:lnTo>
                    <a:lnTo>
                      <a:pt x="18" y="6"/>
                    </a:lnTo>
                    <a:lnTo>
                      <a:pt x="26" y="6"/>
                    </a:lnTo>
                    <a:lnTo>
                      <a:pt x="33" y="6"/>
                    </a:lnTo>
                    <a:lnTo>
                      <a:pt x="41" y="6"/>
                    </a:lnTo>
                    <a:lnTo>
                      <a:pt x="49" y="6"/>
                    </a:lnTo>
                    <a:lnTo>
                      <a:pt x="57" y="6"/>
                    </a:lnTo>
                    <a:lnTo>
                      <a:pt x="64" y="6"/>
                    </a:lnTo>
                    <a:lnTo>
                      <a:pt x="72" y="6"/>
                    </a:lnTo>
                    <a:lnTo>
                      <a:pt x="80" y="6"/>
                    </a:lnTo>
                    <a:lnTo>
                      <a:pt x="87" y="6"/>
                    </a:lnTo>
                    <a:lnTo>
                      <a:pt x="95" y="6"/>
                    </a:lnTo>
                    <a:lnTo>
                      <a:pt x="103" y="6"/>
                    </a:lnTo>
                    <a:lnTo>
                      <a:pt x="110" y="6"/>
                    </a:lnTo>
                    <a:lnTo>
                      <a:pt x="118" y="6"/>
                    </a:lnTo>
                    <a:lnTo>
                      <a:pt x="126" y="12"/>
                    </a:lnTo>
                    <a:lnTo>
                      <a:pt x="134" y="12"/>
                    </a:lnTo>
                    <a:lnTo>
                      <a:pt x="141" y="17"/>
                    </a:lnTo>
                    <a:lnTo>
                      <a:pt x="149" y="17"/>
                    </a:lnTo>
                    <a:lnTo>
                      <a:pt x="157" y="17"/>
                    </a:lnTo>
                    <a:lnTo>
                      <a:pt x="164" y="12"/>
                    </a:lnTo>
                    <a:lnTo>
                      <a:pt x="172" y="17"/>
                    </a:lnTo>
                    <a:lnTo>
                      <a:pt x="180" y="29"/>
                    </a:lnTo>
                    <a:lnTo>
                      <a:pt x="182" y="46"/>
                    </a:lnTo>
                    <a:lnTo>
                      <a:pt x="185" y="63"/>
                    </a:lnTo>
                    <a:lnTo>
                      <a:pt x="187" y="80"/>
                    </a:lnTo>
                    <a:lnTo>
                      <a:pt x="190" y="97"/>
                    </a:lnTo>
                    <a:lnTo>
                      <a:pt x="192" y="114"/>
                    </a:lnTo>
                    <a:lnTo>
                      <a:pt x="195" y="131"/>
                    </a:lnTo>
                    <a:lnTo>
                      <a:pt x="198" y="148"/>
                    </a:lnTo>
                    <a:lnTo>
                      <a:pt x="200" y="165"/>
                    </a:lnTo>
                    <a:lnTo>
                      <a:pt x="203" y="182"/>
                    </a:lnTo>
                    <a:lnTo>
                      <a:pt x="203" y="199"/>
                    </a:lnTo>
                    <a:lnTo>
                      <a:pt x="205" y="216"/>
                    </a:lnTo>
                    <a:lnTo>
                      <a:pt x="208" y="233"/>
                    </a:lnTo>
                    <a:lnTo>
                      <a:pt x="208" y="249"/>
                    </a:lnTo>
                    <a:lnTo>
                      <a:pt x="210" y="266"/>
                    </a:lnTo>
                    <a:lnTo>
                      <a:pt x="213" y="283"/>
                    </a:lnTo>
                    <a:lnTo>
                      <a:pt x="213" y="300"/>
                    </a:lnTo>
                    <a:lnTo>
                      <a:pt x="213" y="317"/>
                    </a:lnTo>
                    <a:lnTo>
                      <a:pt x="213" y="334"/>
                    </a:lnTo>
                    <a:lnTo>
                      <a:pt x="216" y="351"/>
                    </a:lnTo>
                    <a:lnTo>
                      <a:pt x="216" y="368"/>
                    </a:lnTo>
                    <a:lnTo>
                      <a:pt x="216" y="385"/>
                    </a:lnTo>
                    <a:lnTo>
                      <a:pt x="216" y="402"/>
                    </a:lnTo>
                    <a:lnTo>
                      <a:pt x="216" y="419"/>
                    </a:lnTo>
                    <a:lnTo>
                      <a:pt x="216" y="436"/>
                    </a:lnTo>
                    <a:lnTo>
                      <a:pt x="216" y="459"/>
                    </a:lnTo>
                    <a:lnTo>
                      <a:pt x="216" y="476"/>
                    </a:lnTo>
                    <a:lnTo>
                      <a:pt x="216" y="493"/>
                    </a:lnTo>
                    <a:lnTo>
                      <a:pt x="216" y="510"/>
                    </a:lnTo>
                    <a:lnTo>
                      <a:pt x="216" y="527"/>
                    </a:lnTo>
                    <a:lnTo>
                      <a:pt x="216" y="544"/>
                    </a:lnTo>
                    <a:lnTo>
                      <a:pt x="216" y="561"/>
                    </a:lnTo>
                    <a:lnTo>
                      <a:pt x="216" y="578"/>
                    </a:lnTo>
                    <a:lnTo>
                      <a:pt x="216" y="595"/>
                    </a:lnTo>
                    <a:lnTo>
                      <a:pt x="216" y="612"/>
                    </a:lnTo>
                    <a:lnTo>
                      <a:pt x="216" y="629"/>
                    </a:lnTo>
                    <a:lnTo>
                      <a:pt x="216" y="646"/>
                    </a:lnTo>
                    <a:lnTo>
                      <a:pt x="216" y="663"/>
                    </a:lnTo>
                    <a:lnTo>
                      <a:pt x="216" y="680"/>
                    </a:lnTo>
                    <a:lnTo>
                      <a:pt x="216" y="697"/>
                    </a:lnTo>
                    <a:lnTo>
                      <a:pt x="216" y="714"/>
                    </a:lnTo>
                    <a:lnTo>
                      <a:pt x="208" y="714"/>
                    </a:lnTo>
                    <a:lnTo>
                      <a:pt x="200" y="714"/>
                    </a:lnTo>
                    <a:lnTo>
                      <a:pt x="192" y="714"/>
                    </a:lnTo>
                    <a:lnTo>
                      <a:pt x="185" y="714"/>
                    </a:lnTo>
                    <a:lnTo>
                      <a:pt x="177" y="714"/>
                    </a:lnTo>
                    <a:lnTo>
                      <a:pt x="169" y="714"/>
                    </a:lnTo>
                    <a:lnTo>
                      <a:pt x="162" y="714"/>
                    </a:lnTo>
                    <a:lnTo>
                      <a:pt x="154" y="714"/>
                    </a:lnTo>
                    <a:lnTo>
                      <a:pt x="146" y="714"/>
                    </a:lnTo>
                    <a:lnTo>
                      <a:pt x="139" y="714"/>
                    </a:lnTo>
                    <a:lnTo>
                      <a:pt x="131" y="714"/>
                    </a:lnTo>
                    <a:lnTo>
                      <a:pt x="123" y="714"/>
                    </a:lnTo>
                    <a:lnTo>
                      <a:pt x="115" y="714"/>
                    </a:lnTo>
                    <a:lnTo>
                      <a:pt x="105" y="714"/>
                    </a:lnTo>
                    <a:lnTo>
                      <a:pt x="98" y="714"/>
                    </a:lnTo>
                    <a:lnTo>
                      <a:pt x="90" y="714"/>
                    </a:lnTo>
                    <a:lnTo>
                      <a:pt x="82" y="714"/>
                    </a:lnTo>
                    <a:lnTo>
                      <a:pt x="74" y="714"/>
                    </a:lnTo>
                    <a:lnTo>
                      <a:pt x="67" y="714"/>
                    </a:lnTo>
                    <a:lnTo>
                      <a:pt x="59" y="714"/>
                    </a:lnTo>
                    <a:lnTo>
                      <a:pt x="51" y="714"/>
                    </a:lnTo>
                    <a:lnTo>
                      <a:pt x="46" y="697"/>
                    </a:lnTo>
                    <a:lnTo>
                      <a:pt x="46" y="680"/>
                    </a:lnTo>
                    <a:lnTo>
                      <a:pt x="46" y="663"/>
                    </a:lnTo>
                    <a:lnTo>
                      <a:pt x="46" y="646"/>
                    </a:lnTo>
                    <a:lnTo>
                      <a:pt x="46" y="629"/>
                    </a:lnTo>
                    <a:lnTo>
                      <a:pt x="46" y="606"/>
                    </a:lnTo>
                    <a:lnTo>
                      <a:pt x="44" y="589"/>
                    </a:lnTo>
                    <a:lnTo>
                      <a:pt x="44" y="572"/>
                    </a:lnTo>
                    <a:lnTo>
                      <a:pt x="44" y="555"/>
                    </a:lnTo>
                    <a:lnTo>
                      <a:pt x="44" y="538"/>
                    </a:lnTo>
                    <a:lnTo>
                      <a:pt x="44" y="521"/>
                    </a:lnTo>
                    <a:lnTo>
                      <a:pt x="44" y="504"/>
                    </a:lnTo>
                    <a:lnTo>
                      <a:pt x="44" y="487"/>
                    </a:lnTo>
                    <a:lnTo>
                      <a:pt x="41" y="470"/>
                    </a:lnTo>
                    <a:lnTo>
                      <a:pt x="41" y="453"/>
                    </a:lnTo>
                    <a:lnTo>
                      <a:pt x="39" y="436"/>
                    </a:lnTo>
                    <a:lnTo>
                      <a:pt x="39" y="419"/>
                    </a:lnTo>
                    <a:lnTo>
                      <a:pt x="39" y="402"/>
                    </a:lnTo>
                    <a:lnTo>
                      <a:pt x="39" y="385"/>
                    </a:lnTo>
                    <a:lnTo>
                      <a:pt x="39" y="368"/>
                    </a:lnTo>
                    <a:lnTo>
                      <a:pt x="39" y="351"/>
                    </a:lnTo>
                    <a:lnTo>
                      <a:pt x="39" y="334"/>
                    </a:lnTo>
                    <a:lnTo>
                      <a:pt x="36" y="317"/>
                    </a:lnTo>
                    <a:lnTo>
                      <a:pt x="36" y="300"/>
                    </a:lnTo>
                    <a:lnTo>
                      <a:pt x="33" y="283"/>
                    </a:lnTo>
                    <a:lnTo>
                      <a:pt x="33" y="266"/>
                    </a:lnTo>
                    <a:lnTo>
                      <a:pt x="33" y="249"/>
                    </a:lnTo>
                    <a:lnTo>
                      <a:pt x="33" y="233"/>
                    </a:lnTo>
                    <a:lnTo>
                      <a:pt x="33" y="216"/>
                    </a:lnTo>
                    <a:lnTo>
                      <a:pt x="31" y="199"/>
                    </a:lnTo>
                    <a:lnTo>
                      <a:pt x="28" y="182"/>
                    </a:lnTo>
                    <a:lnTo>
                      <a:pt x="23" y="165"/>
                    </a:lnTo>
                    <a:lnTo>
                      <a:pt x="23" y="148"/>
                    </a:lnTo>
                    <a:lnTo>
                      <a:pt x="21" y="131"/>
                    </a:lnTo>
                    <a:lnTo>
                      <a:pt x="18" y="114"/>
                    </a:lnTo>
                    <a:lnTo>
                      <a:pt x="16" y="97"/>
                    </a:lnTo>
                    <a:lnTo>
                      <a:pt x="13" y="80"/>
                    </a:lnTo>
                    <a:lnTo>
                      <a:pt x="10" y="63"/>
                    </a:lnTo>
                    <a:lnTo>
                      <a:pt x="8" y="46"/>
                    </a:lnTo>
                    <a:lnTo>
                      <a:pt x="8" y="29"/>
                    </a:lnTo>
                    <a:lnTo>
                      <a:pt x="0" y="0"/>
                    </a:lnTo>
                    <a:lnTo>
                      <a:pt x="0" y="0"/>
                    </a:lnTo>
                  </a:path>
                </a:pathLst>
              </a:custGeom>
              <a:solidFill>
                <a:srgbClr val="FFFF00"/>
              </a:solidFill>
              <a:ln w="12700" cap="rnd" cmpd="sng">
                <a:solidFill>
                  <a:srgbClr val="FFFF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4" name="Line 16"/>
              <p:cNvSpPr>
                <a:spLocks noChangeShapeType="1"/>
              </p:cNvSpPr>
              <p:nvPr/>
            </p:nvSpPr>
            <p:spPr bwMode="auto">
              <a:xfrm>
                <a:off x="2590" y="2352"/>
                <a:ext cx="528" cy="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5" name="Line 17"/>
              <p:cNvSpPr>
                <a:spLocks noChangeShapeType="1"/>
              </p:cNvSpPr>
              <p:nvPr/>
            </p:nvSpPr>
            <p:spPr bwMode="auto">
              <a:xfrm>
                <a:off x="2590" y="3072"/>
                <a:ext cx="528" cy="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6" name="Line 18"/>
              <p:cNvSpPr>
                <a:spLocks noChangeShapeType="1"/>
              </p:cNvSpPr>
              <p:nvPr/>
            </p:nvSpPr>
            <p:spPr bwMode="auto">
              <a:xfrm>
                <a:off x="682" y="2381"/>
                <a:ext cx="1"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7" name="Line 19"/>
              <p:cNvSpPr>
                <a:spLocks noChangeShapeType="1"/>
              </p:cNvSpPr>
              <p:nvPr/>
            </p:nvSpPr>
            <p:spPr bwMode="auto">
              <a:xfrm>
                <a:off x="682" y="2861"/>
                <a:ext cx="1"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88" name="Rectangle 20"/>
              <p:cNvSpPr>
                <a:spLocks noChangeArrowheads="1"/>
              </p:cNvSpPr>
              <p:nvPr/>
            </p:nvSpPr>
            <p:spPr bwMode="auto">
              <a:xfrm>
                <a:off x="576" y="2534"/>
                <a:ext cx="28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t>D</a:t>
                </a:r>
              </a:p>
            </p:txBody>
          </p:sp>
          <p:sp>
            <p:nvSpPr>
              <p:cNvPr id="7189" name="Line 21"/>
              <p:cNvSpPr>
                <a:spLocks noChangeShapeType="1"/>
              </p:cNvSpPr>
              <p:nvPr/>
            </p:nvSpPr>
            <p:spPr bwMode="auto">
              <a:xfrm>
                <a:off x="586" y="2381"/>
                <a:ext cx="192" cy="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90" name="Line 22"/>
              <p:cNvSpPr>
                <a:spLocks noChangeShapeType="1"/>
              </p:cNvSpPr>
              <p:nvPr/>
            </p:nvSpPr>
            <p:spPr bwMode="auto">
              <a:xfrm>
                <a:off x="586" y="3053"/>
                <a:ext cx="192" cy="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191" name="Rectangle 23"/>
              <p:cNvSpPr>
                <a:spLocks noChangeArrowheads="1"/>
              </p:cNvSpPr>
              <p:nvPr/>
            </p:nvSpPr>
            <p:spPr bwMode="auto">
              <a:xfrm>
                <a:off x="1584" y="2534"/>
                <a:ext cx="41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err="1">
                    <a:solidFill>
                      <a:srgbClr val="0070C0"/>
                    </a:solidFill>
                  </a:rPr>
                  <a:t>R</a:t>
                </a:r>
                <a:r>
                  <a:rPr lang="en-GB" sz="2100" baseline="-25000" dirty="0" err="1">
                    <a:solidFill>
                      <a:srgbClr val="0070C0"/>
                    </a:solidFill>
                  </a:rPr>
                  <a:t>m</a:t>
                </a:r>
                <a:endParaRPr lang="en-GB" sz="2100" baseline="-25000" dirty="0">
                  <a:solidFill>
                    <a:srgbClr val="0070C0"/>
                  </a:solidFill>
                </a:endParaRPr>
              </a:p>
            </p:txBody>
          </p:sp>
          <p:sp>
            <p:nvSpPr>
              <p:cNvPr id="7192" name="Line 24"/>
              <p:cNvSpPr>
                <a:spLocks noChangeShapeType="1"/>
              </p:cNvSpPr>
              <p:nvPr/>
            </p:nvSpPr>
            <p:spPr bwMode="auto">
              <a:xfrm rot="-5338972">
                <a:off x="1537" y="2351"/>
                <a:ext cx="672" cy="1"/>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7194" name="Rectangle 26"/>
            <p:cNvSpPr>
              <a:spLocks noChangeArrowheads="1"/>
            </p:cNvSpPr>
            <p:nvPr/>
          </p:nvSpPr>
          <p:spPr bwMode="auto">
            <a:xfrm>
              <a:off x="3119" y="2210"/>
              <a:ext cx="3539"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marL="428625" lvl="1" defTabSz="571500"/>
              <a:r>
                <a:rPr lang="en-GB" sz="2000" dirty="0"/>
                <a:t>D = 	diameter </a:t>
              </a:r>
            </a:p>
            <a:p>
              <a:pPr marL="428625" lvl="1" defTabSz="571500"/>
              <a:r>
                <a:rPr lang="en-GB" sz="2000" dirty="0">
                  <a:solidFill>
                    <a:srgbClr val="0070C0"/>
                  </a:solidFill>
                </a:rPr>
                <a:t>R</a:t>
              </a:r>
              <a:r>
                <a:rPr lang="en-GB" sz="2000" baseline="-25000" dirty="0">
                  <a:solidFill>
                    <a:srgbClr val="0070C0"/>
                  </a:solidFill>
                </a:rPr>
                <a:t>m</a:t>
              </a:r>
              <a:r>
                <a:rPr lang="en-GB" sz="2000" dirty="0">
                  <a:solidFill>
                    <a:srgbClr val="0070C0"/>
                  </a:solidFill>
                </a:rPr>
                <a:t>= membrane resistance</a:t>
              </a:r>
            </a:p>
          </p:txBody>
        </p:sp>
      </p:grpSp>
      <p:grpSp>
        <p:nvGrpSpPr>
          <p:cNvPr id="7198" name="Group 30"/>
          <p:cNvGrpSpPr>
            <a:grpSpLocks/>
          </p:cNvGrpSpPr>
          <p:nvPr/>
        </p:nvGrpSpPr>
        <p:grpSpPr bwMode="auto">
          <a:xfrm>
            <a:off x="1943100" y="4114800"/>
            <a:ext cx="2303859" cy="685800"/>
            <a:chOff x="528" y="1296"/>
            <a:chExt cx="1935" cy="576"/>
          </a:xfrm>
        </p:grpSpPr>
        <p:grpSp>
          <p:nvGrpSpPr>
            <p:cNvPr id="7199" name="Group 31"/>
            <p:cNvGrpSpPr>
              <a:grpSpLocks/>
            </p:cNvGrpSpPr>
            <p:nvPr/>
          </p:nvGrpSpPr>
          <p:grpSpPr bwMode="auto">
            <a:xfrm>
              <a:off x="1152" y="1296"/>
              <a:ext cx="1311" cy="576"/>
              <a:chOff x="1056" y="2208"/>
              <a:chExt cx="1311" cy="576"/>
            </a:xfrm>
          </p:grpSpPr>
          <p:sp>
            <p:nvSpPr>
              <p:cNvPr id="7200" name="Line 32"/>
              <p:cNvSpPr>
                <a:spLocks noChangeShapeType="1"/>
              </p:cNvSpPr>
              <p:nvPr/>
            </p:nvSpPr>
            <p:spPr bwMode="auto">
              <a:xfrm>
                <a:off x="1056" y="2496"/>
                <a:ext cx="9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201" name="Line 33"/>
              <p:cNvSpPr>
                <a:spLocks noChangeShapeType="1"/>
              </p:cNvSpPr>
              <p:nvPr/>
            </p:nvSpPr>
            <p:spPr bwMode="auto">
              <a:xfrm>
                <a:off x="1152" y="2496"/>
                <a:ext cx="96"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202" name="Line 34"/>
              <p:cNvSpPr>
                <a:spLocks noChangeShapeType="1"/>
              </p:cNvSpPr>
              <p:nvPr/>
            </p:nvSpPr>
            <p:spPr bwMode="auto">
              <a:xfrm flipV="1">
                <a:off x="1248" y="2208"/>
                <a:ext cx="0"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203" name="Line 35"/>
              <p:cNvSpPr>
                <a:spLocks noChangeShapeType="1"/>
              </p:cNvSpPr>
              <p:nvPr/>
            </p:nvSpPr>
            <p:spPr bwMode="auto">
              <a:xfrm>
                <a:off x="1248" y="2208"/>
                <a:ext cx="96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7204" name="Rectangle 36"/>
              <p:cNvSpPr>
                <a:spLocks noChangeArrowheads="1"/>
              </p:cNvSpPr>
              <p:nvPr/>
            </p:nvSpPr>
            <p:spPr bwMode="auto">
              <a:xfrm>
                <a:off x="1334" y="2313"/>
                <a:ext cx="1033"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700" dirty="0"/>
                  <a:t>D </a:t>
                </a:r>
                <a:r>
                  <a:rPr lang="en-GB" sz="2700" i="1" dirty="0"/>
                  <a:t>x</a:t>
                </a:r>
                <a:r>
                  <a:rPr lang="en-GB" sz="2700" dirty="0"/>
                  <a:t> </a:t>
                </a:r>
                <a:r>
                  <a:rPr lang="en-GB" sz="2700" dirty="0" err="1">
                    <a:solidFill>
                      <a:srgbClr val="0070C0"/>
                    </a:solidFill>
                  </a:rPr>
                  <a:t>R</a:t>
                </a:r>
                <a:r>
                  <a:rPr lang="en-GB" sz="2700" baseline="-25000" dirty="0" err="1">
                    <a:solidFill>
                      <a:srgbClr val="0070C0"/>
                    </a:solidFill>
                  </a:rPr>
                  <a:t>m</a:t>
                </a:r>
                <a:endParaRPr lang="en-GB" sz="2700" baseline="-25000" dirty="0">
                  <a:solidFill>
                    <a:srgbClr val="0070C0"/>
                  </a:solidFill>
                </a:endParaRPr>
              </a:p>
            </p:txBody>
          </p:sp>
        </p:grpSp>
        <p:sp>
          <p:nvSpPr>
            <p:cNvPr id="7205" name="Text Box 37"/>
            <p:cNvSpPr txBox="1">
              <a:spLocks noChangeArrowheads="1"/>
            </p:cNvSpPr>
            <p:nvPr/>
          </p:nvSpPr>
          <p:spPr bwMode="auto">
            <a:xfrm>
              <a:off x="528" y="1392"/>
              <a:ext cx="582"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b="0">
                  <a:latin typeface="Arial Rounded MT Bold" pitchFamily="34" charset="0"/>
                </a:rPr>
                <a:t>V </a:t>
              </a:r>
              <a:r>
                <a:rPr lang="en-US">
                  <a:latin typeface="Arial Rounded MT Bold" pitchFamily="34" charset="0"/>
                  <a:sym typeface="Symbol" pitchFamily="18" charset="2"/>
                </a:rPr>
                <a:t></a:t>
              </a:r>
              <a:endParaRPr lang="en-US" sz="2100">
                <a:latin typeface="Arial Rounded MT Bold" pitchFamily="34" charset="0"/>
              </a:endParaRPr>
            </a:p>
          </p:txBody>
        </p:sp>
      </p:grpSp>
    </p:spTree>
    <p:extLst>
      <p:ext uri="{BB962C8B-B14F-4D97-AF65-F5344CB8AC3E}">
        <p14:creationId xmlns:p14="http://schemas.microsoft.com/office/powerpoint/2010/main" val="22752351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20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bldLvl="3"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543050" y="114300"/>
            <a:ext cx="6341318" cy="800100"/>
          </a:xfrm>
          <a:noFill/>
          <a:ln/>
        </p:spPr>
        <p:txBody>
          <a:bodyPr/>
          <a:lstStyle/>
          <a:p>
            <a:r>
              <a:rPr lang="en-GB" sz="2400" b="1" dirty="0">
                <a:solidFill>
                  <a:srgbClr val="FF0000"/>
                </a:solidFill>
                <a:latin typeface="Arial Rounded MT Bold" pitchFamily="34" charset="0"/>
              </a:rPr>
              <a:t>How fast does the action potential travel?</a:t>
            </a:r>
          </a:p>
        </p:txBody>
      </p:sp>
      <p:sp>
        <p:nvSpPr>
          <p:cNvPr id="8195" name="Rectangle 3"/>
          <p:cNvSpPr>
            <a:spLocks noGrp="1" noChangeArrowheads="1"/>
          </p:cNvSpPr>
          <p:nvPr>
            <p:ph type="body" idx="1"/>
          </p:nvPr>
        </p:nvSpPr>
        <p:spPr>
          <a:xfrm>
            <a:off x="359534" y="2210991"/>
            <a:ext cx="8424932" cy="3062063"/>
          </a:xfrm>
          <a:noFill/>
          <a:ln/>
        </p:spPr>
        <p:txBody>
          <a:bodyPr/>
          <a:lstStyle/>
          <a:p>
            <a:pPr>
              <a:lnSpc>
                <a:spcPct val="90000"/>
              </a:lnSpc>
            </a:pPr>
            <a:r>
              <a:rPr lang="en-GB" sz="2800" b="1" dirty="0">
                <a:latin typeface="Arial Rounded MT Bold" pitchFamily="34" charset="0"/>
              </a:rPr>
              <a:t>D: </a:t>
            </a:r>
            <a:r>
              <a:rPr lang="en-GB" sz="2800" b="1" dirty="0">
                <a:solidFill>
                  <a:schemeClr val="tx2"/>
                </a:solidFill>
                <a:latin typeface="Arial Rounded MT Bold" pitchFamily="34" charset="0"/>
              </a:rPr>
              <a:t>the larger the diameter, the more room for local current flow in current loops</a:t>
            </a:r>
          </a:p>
          <a:p>
            <a:pPr>
              <a:lnSpc>
                <a:spcPct val="90000"/>
              </a:lnSpc>
            </a:pPr>
            <a:endParaRPr lang="en-GB" sz="2800" b="1" dirty="0">
              <a:solidFill>
                <a:schemeClr val="hlink"/>
              </a:solidFill>
              <a:latin typeface="Arial Rounded MT Bold" pitchFamily="34" charset="0"/>
            </a:endParaRPr>
          </a:p>
          <a:p>
            <a:pPr>
              <a:lnSpc>
                <a:spcPct val="90000"/>
              </a:lnSpc>
            </a:pPr>
            <a:r>
              <a:rPr lang="en-GB" sz="2800" b="1" dirty="0">
                <a:solidFill>
                  <a:srgbClr val="0070C0"/>
                </a:solidFill>
                <a:latin typeface="Arial Rounded MT Bold" pitchFamily="34" charset="0"/>
              </a:rPr>
              <a:t>R</a:t>
            </a:r>
            <a:r>
              <a:rPr lang="en-GB" sz="2800" b="1" baseline="-25000" dirty="0">
                <a:solidFill>
                  <a:srgbClr val="0070C0"/>
                </a:solidFill>
                <a:latin typeface="Arial Rounded MT Bold" pitchFamily="34" charset="0"/>
              </a:rPr>
              <a:t>m</a:t>
            </a:r>
            <a:r>
              <a:rPr lang="en-GB" sz="2800" b="1" dirty="0">
                <a:solidFill>
                  <a:srgbClr val="0070C0"/>
                </a:solidFill>
                <a:latin typeface="Arial Rounded MT Bold" pitchFamily="34" charset="0"/>
              </a:rPr>
              <a:t>: </a:t>
            </a:r>
            <a:r>
              <a:rPr lang="en-GB" sz="2800" b="1" dirty="0">
                <a:solidFill>
                  <a:schemeClr val="tx2"/>
                </a:solidFill>
                <a:latin typeface="Arial Rounded MT Bold" pitchFamily="34" charset="0"/>
              </a:rPr>
              <a:t>the higher the membrane resistance, the less current is lost by leaking out of the cell. More current therefore stays in current loops</a:t>
            </a:r>
          </a:p>
          <a:p>
            <a:pPr>
              <a:lnSpc>
                <a:spcPct val="90000"/>
              </a:lnSpc>
            </a:pPr>
            <a:endParaRPr lang="en-GB" sz="2800" b="1" dirty="0">
              <a:solidFill>
                <a:schemeClr val="tx2"/>
              </a:solidFill>
              <a:latin typeface="Arial Rounded MT Bold" pitchFamily="34" charset="0"/>
            </a:endParaRPr>
          </a:p>
          <a:p>
            <a:pPr>
              <a:lnSpc>
                <a:spcPct val="90000"/>
              </a:lnSpc>
              <a:buFontTx/>
              <a:buNone/>
            </a:pPr>
            <a:endParaRPr lang="en-GB" dirty="0">
              <a:solidFill>
                <a:schemeClr val="tx2"/>
              </a:solidFill>
              <a:latin typeface="Arial Rounded MT Bold" pitchFamily="34" charset="0"/>
            </a:endParaRPr>
          </a:p>
        </p:txBody>
      </p:sp>
      <p:grpSp>
        <p:nvGrpSpPr>
          <p:cNvPr id="8203" name="Group 11"/>
          <p:cNvGrpSpPr>
            <a:grpSpLocks/>
          </p:cNvGrpSpPr>
          <p:nvPr/>
        </p:nvGrpSpPr>
        <p:grpSpPr bwMode="auto">
          <a:xfrm>
            <a:off x="1771650" y="1085850"/>
            <a:ext cx="2283619" cy="685800"/>
            <a:chOff x="528" y="1296"/>
            <a:chExt cx="1918" cy="576"/>
          </a:xfrm>
        </p:grpSpPr>
        <p:grpSp>
          <p:nvGrpSpPr>
            <p:cNvPr id="8196" name="Group 4"/>
            <p:cNvGrpSpPr>
              <a:grpSpLocks/>
            </p:cNvGrpSpPr>
            <p:nvPr/>
          </p:nvGrpSpPr>
          <p:grpSpPr bwMode="auto">
            <a:xfrm>
              <a:off x="1152" y="1296"/>
              <a:ext cx="1294" cy="576"/>
              <a:chOff x="1056" y="2208"/>
              <a:chExt cx="1294" cy="576"/>
            </a:xfrm>
          </p:grpSpPr>
          <p:sp>
            <p:nvSpPr>
              <p:cNvPr id="8197" name="Line 5"/>
              <p:cNvSpPr>
                <a:spLocks noChangeShapeType="1"/>
              </p:cNvSpPr>
              <p:nvPr/>
            </p:nvSpPr>
            <p:spPr bwMode="auto">
              <a:xfrm>
                <a:off x="1056" y="2496"/>
                <a:ext cx="9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198" name="Line 6"/>
              <p:cNvSpPr>
                <a:spLocks noChangeShapeType="1"/>
              </p:cNvSpPr>
              <p:nvPr/>
            </p:nvSpPr>
            <p:spPr bwMode="auto">
              <a:xfrm>
                <a:off x="1152" y="2496"/>
                <a:ext cx="96" cy="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199" name="Line 7"/>
              <p:cNvSpPr>
                <a:spLocks noChangeShapeType="1"/>
              </p:cNvSpPr>
              <p:nvPr/>
            </p:nvSpPr>
            <p:spPr bwMode="auto">
              <a:xfrm flipV="1">
                <a:off x="1248" y="2208"/>
                <a:ext cx="0" cy="57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200" name="Line 8"/>
              <p:cNvSpPr>
                <a:spLocks noChangeShapeType="1"/>
              </p:cNvSpPr>
              <p:nvPr/>
            </p:nvSpPr>
            <p:spPr bwMode="auto">
              <a:xfrm>
                <a:off x="1248" y="2208"/>
                <a:ext cx="96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8201" name="Rectangle 9"/>
              <p:cNvSpPr>
                <a:spLocks noChangeArrowheads="1"/>
              </p:cNvSpPr>
              <p:nvPr/>
            </p:nvSpPr>
            <p:spPr bwMode="auto">
              <a:xfrm>
                <a:off x="1334" y="2313"/>
                <a:ext cx="1016"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700" dirty="0"/>
                  <a:t>D </a:t>
                </a:r>
                <a:r>
                  <a:rPr lang="en-GB" sz="2700" b="0" i="1" dirty="0"/>
                  <a:t>x</a:t>
                </a:r>
                <a:r>
                  <a:rPr lang="en-GB" sz="2700" dirty="0"/>
                  <a:t> </a:t>
                </a:r>
                <a:r>
                  <a:rPr lang="en-GB" sz="2700" dirty="0" err="1">
                    <a:solidFill>
                      <a:srgbClr val="0070C0"/>
                    </a:solidFill>
                  </a:rPr>
                  <a:t>R</a:t>
                </a:r>
                <a:r>
                  <a:rPr lang="en-GB" sz="2700" baseline="-25000" dirty="0" err="1">
                    <a:solidFill>
                      <a:srgbClr val="0070C0"/>
                    </a:solidFill>
                  </a:rPr>
                  <a:t>m</a:t>
                </a:r>
                <a:endParaRPr lang="en-GB" sz="2700" baseline="-25000" dirty="0">
                  <a:solidFill>
                    <a:srgbClr val="0070C0"/>
                  </a:solidFill>
                </a:endParaRPr>
              </a:p>
            </p:txBody>
          </p:sp>
        </p:grpSp>
        <p:sp>
          <p:nvSpPr>
            <p:cNvPr id="8202" name="Text Box 10"/>
            <p:cNvSpPr txBox="1">
              <a:spLocks noChangeArrowheads="1"/>
            </p:cNvSpPr>
            <p:nvPr/>
          </p:nvSpPr>
          <p:spPr bwMode="auto">
            <a:xfrm>
              <a:off x="528" y="1392"/>
              <a:ext cx="582"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b="0">
                  <a:latin typeface="Arial Rounded MT Bold" pitchFamily="34" charset="0"/>
                </a:rPr>
                <a:t>V </a:t>
              </a:r>
              <a:r>
                <a:rPr lang="en-US">
                  <a:latin typeface="Arial Rounded MT Bold" pitchFamily="34" charset="0"/>
                  <a:sym typeface="Symbol" pitchFamily="18" charset="2"/>
                </a:rPr>
                <a:t></a:t>
              </a:r>
              <a:endParaRPr lang="en-US" sz="2100">
                <a:latin typeface="Arial Rounded MT Bold" pitchFamily="34" charset="0"/>
              </a:endParaRPr>
            </a:p>
          </p:txBody>
        </p:sp>
      </p:grpSp>
    </p:spTree>
    <p:extLst>
      <p:ext uri="{BB962C8B-B14F-4D97-AF65-F5344CB8AC3E}">
        <p14:creationId xmlns:p14="http://schemas.microsoft.com/office/powerpoint/2010/main" val="40847984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3"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8" name="Picture 8" descr="Myelin_sheath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285750"/>
            <a:ext cx="3919538" cy="4629150"/>
          </a:xfrm>
          <a:prstGeom prst="rect">
            <a:avLst/>
          </a:prstGeom>
          <a:noFill/>
          <a:extLst>
            <a:ext uri="{909E8E84-426E-40DD-AFC4-6F175D3DCCD1}">
              <a14:hiddenFill xmlns:a14="http://schemas.microsoft.com/office/drawing/2010/main">
                <a:solidFill>
                  <a:srgbClr val="FFFFFF"/>
                </a:solidFill>
              </a14:hiddenFill>
            </a:ext>
          </a:extLst>
        </p:spPr>
      </p:pic>
      <p:sp>
        <p:nvSpPr>
          <p:cNvPr id="30722" name="Rectangle 2"/>
          <p:cNvSpPr>
            <a:spLocks noChangeArrowheads="1"/>
          </p:cNvSpPr>
          <p:nvPr/>
        </p:nvSpPr>
        <p:spPr bwMode="auto">
          <a:xfrm>
            <a:off x="244077" y="206078"/>
            <a:ext cx="6525816" cy="5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spAutoFit/>
          </a:bodyPr>
          <a:lstStyle/>
          <a:p>
            <a:pPr defTabSz="571500"/>
            <a:r>
              <a:rPr lang="en-GB" sz="3200" dirty="0"/>
              <a:t>Myelination:</a:t>
            </a:r>
          </a:p>
        </p:txBody>
      </p:sp>
      <p:grpSp>
        <p:nvGrpSpPr>
          <p:cNvPr id="30736" name="Group 16"/>
          <p:cNvGrpSpPr>
            <a:grpSpLocks/>
          </p:cNvGrpSpPr>
          <p:nvPr/>
        </p:nvGrpSpPr>
        <p:grpSpPr bwMode="auto">
          <a:xfrm>
            <a:off x="3429000" y="400050"/>
            <a:ext cx="2809875" cy="571500"/>
            <a:chOff x="1440" y="672"/>
            <a:chExt cx="2360" cy="480"/>
          </a:xfrm>
        </p:grpSpPr>
        <p:sp>
          <p:nvSpPr>
            <p:cNvPr id="30729" name="Line 9"/>
            <p:cNvSpPr>
              <a:spLocks noChangeShapeType="1"/>
            </p:cNvSpPr>
            <p:nvPr/>
          </p:nvSpPr>
          <p:spPr bwMode="auto">
            <a:xfrm flipV="1">
              <a:off x="1440" y="864"/>
              <a:ext cx="1632" cy="288"/>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30733" name="Text Box 13"/>
            <p:cNvSpPr txBox="1">
              <a:spLocks noChangeArrowheads="1"/>
            </p:cNvSpPr>
            <p:nvPr/>
          </p:nvSpPr>
          <p:spPr bwMode="auto">
            <a:xfrm>
              <a:off x="3120" y="672"/>
              <a:ext cx="680"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100">
                  <a:latin typeface="Arial Rounded MT Bold" pitchFamily="34" charset="0"/>
                </a:rPr>
                <a:t>axon</a:t>
              </a:r>
            </a:p>
          </p:txBody>
        </p:sp>
      </p:grpSp>
      <p:grpSp>
        <p:nvGrpSpPr>
          <p:cNvPr id="30737" name="Group 17"/>
          <p:cNvGrpSpPr>
            <a:grpSpLocks/>
          </p:cNvGrpSpPr>
          <p:nvPr/>
        </p:nvGrpSpPr>
        <p:grpSpPr bwMode="auto">
          <a:xfrm>
            <a:off x="3829050" y="1543050"/>
            <a:ext cx="3815954" cy="457200"/>
            <a:chOff x="1632" y="1584"/>
            <a:chExt cx="3205" cy="384"/>
          </a:xfrm>
        </p:grpSpPr>
        <p:sp>
          <p:nvSpPr>
            <p:cNvPr id="30731" name="Line 11"/>
            <p:cNvSpPr>
              <a:spLocks noChangeShapeType="1"/>
            </p:cNvSpPr>
            <p:nvPr/>
          </p:nvSpPr>
          <p:spPr bwMode="auto">
            <a:xfrm flipV="1">
              <a:off x="1632" y="1776"/>
              <a:ext cx="1440" cy="192"/>
            </a:xfrm>
            <a:prstGeom prst="line">
              <a:avLst/>
            </a:prstGeom>
            <a:noFill/>
            <a:ln w="28575">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30734" name="Text Box 14"/>
            <p:cNvSpPr txBox="1">
              <a:spLocks noChangeArrowheads="1"/>
            </p:cNvSpPr>
            <p:nvPr/>
          </p:nvSpPr>
          <p:spPr bwMode="auto">
            <a:xfrm>
              <a:off x="3168" y="1584"/>
              <a:ext cx="1669"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100">
                  <a:latin typeface="Arial Rounded MT Bold" pitchFamily="34" charset="0"/>
                </a:rPr>
                <a:t>myelin sheath</a:t>
              </a:r>
            </a:p>
          </p:txBody>
        </p:sp>
      </p:grpSp>
      <p:grpSp>
        <p:nvGrpSpPr>
          <p:cNvPr id="30740" name="Group 20"/>
          <p:cNvGrpSpPr>
            <a:grpSpLocks/>
          </p:cNvGrpSpPr>
          <p:nvPr/>
        </p:nvGrpSpPr>
        <p:grpSpPr bwMode="auto">
          <a:xfrm>
            <a:off x="3657600" y="2800351"/>
            <a:ext cx="4170760" cy="1062038"/>
            <a:chOff x="2112" y="2352"/>
            <a:chExt cx="3503" cy="892"/>
          </a:xfrm>
        </p:grpSpPr>
        <p:sp>
          <p:nvSpPr>
            <p:cNvPr id="30732" name="Line 12"/>
            <p:cNvSpPr>
              <a:spLocks noChangeShapeType="1"/>
            </p:cNvSpPr>
            <p:nvPr/>
          </p:nvSpPr>
          <p:spPr bwMode="auto">
            <a:xfrm flipV="1">
              <a:off x="2112" y="2544"/>
              <a:ext cx="1632" cy="288"/>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30735" name="Text Box 15"/>
            <p:cNvSpPr txBox="1">
              <a:spLocks noChangeArrowheads="1"/>
            </p:cNvSpPr>
            <p:nvPr/>
          </p:nvSpPr>
          <p:spPr bwMode="auto">
            <a:xfrm>
              <a:off x="3792" y="2352"/>
              <a:ext cx="1823" cy="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100" dirty="0">
                  <a:latin typeface="Arial Rounded MT Bold" pitchFamily="34" charset="0"/>
                </a:rPr>
                <a:t>node of Ranvier</a:t>
              </a:r>
            </a:p>
            <a:p>
              <a:pPr eaLnBrk="0" hangingPunct="0"/>
              <a:endParaRPr lang="en-US" sz="2100" dirty="0">
                <a:latin typeface="Arial Rounded MT Bold" pitchFamily="34" charset="0"/>
              </a:endParaRPr>
            </a:p>
          </p:txBody>
        </p:sp>
      </p:grpSp>
      <p:sp>
        <p:nvSpPr>
          <p:cNvPr id="30739" name="Text Box 19"/>
          <p:cNvSpPr txBox="1">
            <a:spLocks noChangeArrowheads="1"/>
          </p:cNvSpPr>
          <p:nvPr/>
        </p:nvSpPr>
        <p:spPr bwMode="auto">
          <a:xfrm>
            <a:off x="5595937" y="3590926"/>
            <a:ext cx="234791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1800" dirty="0">
                <a:latin typeface="Arial Rounded MT Bold" pitchFamily="34" charset="0"/>
              </a:rPr>
              <a:t>-occur every 1-2mm</a:t>
            </a:r>
          </a:p>
          <a:p>
            <a:pPr eaLnBrk="0" hangingPunct="0"/>
            <a:r>
              <a:rPr lang="en-US" sz="1800" dirty="0">
                <a:latin typeface="Arial Rounded MT Bold" pitchFamily="34" charset="0"/>
              </a:rPr>
              <a:t>-are ~1</a:t>
            </a:r>
            <a:r>
              <a:rPr lang="en-US" sz="1800" dirty="0">
                <a:latin typeface="Symbol" pitchFamily="18" charset="2"/>
              </a:rPr>
              <a:t>m</a:t>
            </a:r>
            <a:r>
              <a:rPr lang="en-US" sz="1800" dirty="0">
                <a:latin typeface="Arial Rounded MT Bold" pitchFamily="34" charset="0"/>
              </a:rPr>
              <a:t>m wide</a:t>
            </a:r>
          </a:p>
        </p:txBody>
      </p:sp>
    </p:spTree>
    <p:extLst>
      <p:ext uri="{BB962C8B-B14F-4D97-AF65-F5344CB8AC3E}">
        <p14:creationId xmlns:p14="http://schemas.microsoft.com/office/powerpoint/2010/main" val="22422457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07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9"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1245394" y="239316"/>
            <a:ext cx="6755606" cy="500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dirty="0"/>
              <a:t>What happens at a node of Ranvier?</a:t>
            </a:r>
          </a:p>
        </p:txBody>
      </p:sp>
      <p:sp>
        <p:nvSpPr>
          <p:cNvPr id="11267" name="Rectangle 3"/>
          <p:cNvSpPr>
            <a:spLocks noChangeArrowheads="1"/>
          </p:cNvSpPr>
          <p:nvPr/>
        </p:nvSpPr>
        <p:spPr bwMode="auto">
          <a:xfrm>
            <a:off x="5044163" y="1035064"/>
            <a:ext cx="4399333" cy="7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t>nodes of Ranvier</a:t>
            </a:r>
          </a:p>
          <a:p>
            <a:pPr defTabSz="571500"/>
            <a:r>
              <a:rPr lang="en-GB" sz="2100" dirty="0"/>
              <a:t>-high density of </a:t>
            </a:r>
            <a:r>
              <a:rPr lang="en-GB" sz="2100" dirty="0">
                <a:solidFill>
                  <a:srgbClr val="00B050"/>
                </a:solidFill>
              </a:rPr>
              <a:t>Na</a:t>
            </a:r>
            <a:r>
              <a:rPr lang="en-GB" sz="2100" baseline="30000" dirty="0">
                <a:solidFill>
                  <a:srgbClr val="00B050"/>
                </a:solidFill>
              </a:rPr>
              <a:t>+</a:t>
            </a:r>
            <a:r>
              <a:rPr lang="en-GB" sz="2100" dirty="0">
                <a:solidFill>
                  <a:srgbClr val="00B050"/>
                </a:solidFill>
              </a:rPr>
              <a:t> channels</a:t>
            </a:r>
          </a:p>
        </p:txBody>
      </p:sp>
      <p:grpSp>
        <p:nvGrpSpPr>
          <p:cNvPr id="11274" name="Group 10"/>
          <p:cNvGrpSpPr>
            <a:grpSpLocks/>
          </p:cNvGrpSpPr>
          <p:nvPr/>
        </p:nvGrpSpPr>
        <p:grpSpPr bwMode="auto">
          <a:xfrm>
            <a:off x="1919288" y="1132285"/>
            <a:ext cx="2980135" cy="2926556"/>
            <a:chOff x="652" y="951"/>
            <a:chExt cx="2503" cy="2458"/>
          </a:xfrm>
        </p:grpSpPr>
        <p:sp>
          <p:nvSpPr>
            <p:cNvPr id="11268" name="Oval 4"/>
            <p:cNvSpPr>
              <a:spLocks noChangeArrowheads="1"/>
            </p:cNvSpPr>
            <p:nvPr/>
          </p:nvSpPr>
          <p:spPr bwMode="auto">
            <a:xfrm rot="2520000">
              <a:off x="652" y="3103"/>
              <a:ext cx="688" cy="209"/>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1269" name="Oval 5"/>
            <p:cNvSpPr>
              <a:spLocks noChangeArrowheads="1"/>
            </p:cNvSpPr>
            <p:nvPr/>
          </p:nvSpPr>
          <p:spPr bwMode="auto">
            <a:xfrm rot="2520000">
              <a:off x="2467" y="1088"/>
              <a:ext cx="688" cy="208"/>
            </a:xfrm>
            <a:prstGeom prst="ellipse">
              <a:avLst/>
            </a:prstGeom>
            <a:solidFill>
              <a:schemeClr val="bg1"/>
            </a:solidFill>
            <a:ln w="508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100"/>
            </a:p>
          </p:txBody>
        </p:sp>
        <p:sp>
          <p:nvSpPr>
            <p:cNvPr id="11270" name="Line 6"/>
            <p:cNvSpPr>
              <a:spLocks noChangeShapeType="1"/>
            </p:cNvSpPr>
            <p:nvPr/>
          </p:nvSpPr>
          <p:spPr bwMode="auto">
            <a:xfrm flipV="1">
              <a:off x="706" y="1344"/>
              <a:ext cx="1484" cy="1619"/>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1" name="Line 7"/>
            <p:cNvSpPr>
              <a:spLocks noChangeShapeType="1"/>
            </p:cNvSpPr>
            <p:nvPr/>
          </p:nvSpPr>
          <p:spPr bwMode="auto">
            <a:xfrm flipV="1">
              <a:off x="1274" y="1825"/>
              <a:ext cx="1451" cy="158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2" name="Line 8"/>
            <p:cNvSpPr>
              <a:spLocks noChangeShapeType="1"/>
            </p:cNvSpPr>
            <p:nvPr/>
          </p:nvSpPr>
          <p:spPr bwMode="auto">
            <a:xfrm flipV="1">
              <a:off x="2190" y="951"/>
              <a:ext cx="353" cy="39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3" name="Line 9"/>
            <p:cNvSpPr>
              <a:spLocks noChangeShapeType="1"/>
            </p:cNvSpPr>
            <p:nvPr/>
          </p:nvSpPr>
          <p:spPr bwMode="auto">
            <a:xfrm flipV="1">
              <a:off x="2725" y="1433"/>
              <a:ext cx="353" cy="392"/>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sp>
        <p:nvSpPr>
          <p:cNvPr id="11275" name="Freeform 11"/>
          <p:cNvSpPr>
            <a:spLocks/>
          </p:cNvSpPr>
          <p:nvPr/>
        </p:nvSpPr>
        <p:spPr bwMode="auto">
          <a:xfrm>
            <a:off x="1930003" y="2949179"/>
            <a:ext cx="1385888" cy="1240631"/>
          </a:xfrm>
          <a:custGeom>
            <a:avLst/>
            <a:gdLst>
              <a:gd name="T0" fmla="*/ 22 w 1164"/>
              <a:gd name="T1" fmla="*/ 396 h 1042"/>
              <a:gd name="T2" fmla="*/ 0 w 1164"/>
              <a:gd name="T3" fmla="*/ 328 h 1042"/>
              <a:gd name="T4" fmla="*/ 0 w 1164"/>
              <a:gd name="T5" fmla="*/ 260 h 1042"/>
              <a:gd name="T6" fmla="*/ 45 w 1164"/>
              <a:gd name="T7" fmla="*/ 192 h 1042"/>
              <a:gd name="T8" fmla="*/ 101 w 1164"/>
              <a:gd name="T9" fmla="*/ 136 h 1042"/>
              <a:gd name="T10" fmla="*/ 158 w 1164"/>
              <a:gd name="T11" fmla="*/ 79 h 1042"/>
              <a:gd name="T12" fmla="*/ 226 w 1164"/>
              <a:gd name="T13" fmla="*/ 34 h 1042"/>
              <a:gd name="T14" fmla="*/ 294 w 1164"/>
              <a:gd name="T15" fmla="*/ 11 h 1042"/>
              <a:gd name="T16" fmla="*/ 362 w 1164"/>
              <a:gd name="T17" fmla="*/ 0 h 1042"/>
              <a:gd name="T18" fmla="*/ 430 w 1164"/>
              <a:gd name="T19" fmla="*/ 0 h 1042"/>
              <a:gd name="T20" fmla="*/ 498 w 1164"/>
              <a:gd name="T21" fmla="*/ 23 h 1042"/>
              <a:gd name="T22" fmla="*/ 566 w 1164"/>
              <a:gd name="T23" fmla="*/ 68 h 1042"/>
              <a:gd name="T24" fmla="*/ 634 w 1164"/>
              <a:gd name="T25" fmla="*/ 113 h 1042"/>
              <a:gd name="T26" fmla="*/ 1067 w 1164"/>
              <a:gd name="T27" fmla="*/ 547 h 1042"/>
              <a:gd name="T28" fmla="*/ 1155 w 1164"/>
              <a:gd name="T29" fmla="*/ 770 h 1042"/>
              <a:gd name="T30" fmla="*/ 1041 w 1164"/>
              <a:gd name="T31" fmla="*/ 951 h 1042"/>
              <a:gd name="T32" fmla="*/ 985 w 1164"/>
              <a:gd name="T33" fmla="*/ 1007 h 1042"/>
              <a:gd name="T34" fmla="*/ 917 w 1164"/>
              <a:gd name="T35" fmla="*/ 1019 h 1042"/>
              <a:gd name="T36" fmla="*/ 849 w 1164"/>
              <a:gd name="T37" fmla="*/ 1041 h 1042"/>
              <a:gd name="T38" fmla="*/ 781 w 1164"/>
              <a:gd name="T39" fmla="*/ 1030 h 1042"/>
              <a:gd name="T40" fmla="*/ 713 w 1164"/>
              <a:gd name="T41" fmla="*/ 1019 h 1042"/>
              <a:gd name="T42" fmla="*/ 645 w 1164"/>
              <a:gd name="T43" fmla="*/ 996 h 1042"/>
              <a:gd name="T44" fmla="*/ 588 w 1164"/>
              <a:gd name="T45" fmla="*/ 939 h 1042"/>
              <a:gd name="T46" fmla="*/ 543 w 1164"/>
              <a:gd name="T47" fmla="*/ 871 h 1042"/>
              <a:gd name="T48" fmla="*/ 486 w 1164"/>
              <a:gd name="T49" fmla="*/ 804 h 1042"/>
              <a:gd name="T50" fmla="*/ 441 w 1164"/>
              <a:gd name="T51" fmla="*/ 736 h 1042"/>
              <a:gd name="T52" fmla="*/ 396 w 1164"/>
              <a:gd name="T53" fmla="*/ 668 h 1042"/>
              <a:gd name="T54" fmla="*/ 328 w 1164"/>
              <a:gd name="T55" fmla="*/ 611 h 1042"/>
              <a:gd name="T56" fmla="*/ 260 w 1164"/>
              <a:gd name="T57" fmla="*/ 555 h 1042"/>
              <a:gd name="T58" fmla="*/ 192 w 1164"/>
              <a:gd name="T59" fmla="*/ 509 h 1042"/>
              <a:gd name="T60" fmla="*/ 124 w 1164"/>
              <a:gd name="T61" fmla="*/ 475 h 1042"/>
              <a:gd name="T62" fmla="*/ 59 w 1164"/>
              <a:gd name="T63" fmla="*/ 451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64" h="1042">
                <a:moveTo>
                  <a:pt x="59" y="451"/>
                </a:moveTo>
                <a:lnTo>
                  <a:pt x="22" y="396"/>
                </a:lnTo>
                <a:lnTo>
                  <a:pt x="11" y="362"/>
                </a:lnTo>
                <a:lnTo>
                  <a:pt x="0" y="328"/>
                </a:lnTo>
                <a:lnTo>
                  <a:pt x="0" y="294"/>
                </a:lnTo>
                <a:lnTo>
                  <a:pt x="0" y="260"/>
                </a:lnTo>
                <a:lnTo>
                  <a:pt x="22" y="226"/>
                </a:lnTo>
                <a:lnTo>
                  <a:pt x="45" y="192"/>
                </a:lnTo>
                <a:lnTo>
                  <a:pt x="67" y="158"/>
                </a:lnTo>
                <a:lnTo>
                  <a:pt x="101" y="136"/>
                </a:lnTo>
                <a:lnTo>
                  <a:pt x="124" y="102"/>
                </a:lnTo>
                <a:lnTo>
                  <a:pt x="158" y="79"/>
                </a:lnTo>
                <a:lnTo>
                  <a:pt x="192" y="57"/>
                </a:lnTo>
                <a:lnTo>
                  <a:pt x="226" y="34"/>
                </a:lnTo>
                <a:lnTo>
                  <a:pt x="260" y="23"/>
                </a:lnTo>
                <a:lnTo>
                  <a:pt x="294" y="11"/>
                </a:lnTo>
                <a:lnTo>
                  <a:pt x="328" y="0"/>
                </a:lnTo>
                <a:lnTo>
                  <a:pt x="362" y="0"/>
                </a:lnTo>
                <a:lnTo>
                  <a:pt x="396" y="0"/>
                </a:lnTo>
                <a:lnTo>
                  <a:pt x="430" y="0"/>
                </a:lnTo>
                <a:lnTo>
                  <a:pt x="464" y="11"/>
                </a:lnTo>
                <a:lnTo>
                  <a:pt x="498" y="23"/>
                </a:lnTo>
                <a:lnTo>
                  <a:pt x="539" y="67"/>
                </a:lnTo>
                <a:lnTo>
                  <a:pt x="566" y="68"/>
                </a:lnTo>
                <a:lnTo>
                  <a:pt x="600" y="90"/>
                </a:lnTo>
                <a:lnTo>
                  <a:pt x="634" y="113"/>
                </a:lnTo>
                <a:lnTo>
                  <a:pt x="668" y="136"/>
                </a:lnTo>
                <a:lnTo>
                  <a:pt x="1067" y="547"/>
                </a:lnTo>
                <a:lnTo>
                  <a:pt x="1163" y="739"/>
                </a:lnTo>
                <a:lnTo>
                  <a:pt x="1155" y="770"/>
                </a:lnTo>
                <a:lnTo>
                  <a:pt x="1067" y="931"/>
                </a:lnTo>
                <a:lnTo>
                  <a:pt x="1041" y="951"/>
                </a:lnTo>
                <a:lnTo>
                  <a:pt x="1019" y="1027"/>
                </a:lnTo>
                <a:lnTo>
                  <a:pt x="985" y="1007"/>
                </a:lnTo>
                <a:lnTo>
                  <a:pt x="951" y="1007"/>
                </a:lnTo>
                <a:lnTo>
                  <a:pt x="917" y="1019"/>
                </a:lnTo>
                <a:lnTo>
                  <a:pt x="883" y="1030"/>
                </a:lnTo>
                <a:lnTo>
                  <a:pt x="849" y="1041"/>
                </a:lnTo>
                <a:lnTo>
                  <a:pt x="815" y="1041"/>
                </a:lnTo>
                <a:lnTo>
                  <a:pt x="781" y="1030"/>
                </a:lnTo>
                <a:lnTo>
                  <a:pt x="747" y="1019"/>
                </a:lnTo>
                <a:lnTo>
                  <a:pt x="713" y="1019"/>
                </a:lnTo>
                <a:lnTo>
                  <a:pt x="679" y="1007"/>
                </a:lnTo>
                <a:lnTo>
                  <a:pt x="645" y="996"/>
                </a:lnTo>
                <a:lnTo>
                  <a:pt x="611" y="973"/>
                </a:lnTo>
                <a:lnTo>
                  <a:pt x="588" y="939"/>
                </a:lnTo>
                <a:lnTo>
                  <a:pt x="566" y="905"/>
                </a:lnTo>
                <a:lnTo>
                  <a:pt x="543" y="871"/>
                </a:lnTo>
                <a:lnTo>
                  <a:pt x="520" y="838"/>
                </a:lnTo>
                <a:lnTo>
                  <a:pt x="486" y="804"/>
                </a:lnTo>
                <a:lnTo>
                  <a:pt x="464" y="770"/>
                </a:lnTo>
                <a:lnTo>
                  <a:pt x="441" y="736"/>
                </a:lnTo>
                <a:lnTo>
                  <a:pt x="419" y="702"/>
                </a:lnTo>
                <a:lnTo>
                  <a:pt x="396" y="668"/>
                </a:lnTo>
                <a:lnTo>
                  <a:pt x="362" y="645"/>
                </a:lnTo>
                <a:lnTo>
                  <a:pt x="328" y="611"/>
                </a:lnTo>
                <a:lnTo>
                  <a:pt x="294" y="589"/>
                </a:lnTo>
                <a:lnTo>
                  <a:pt x="260" y="555"/>
                </a:lnTo>
                <a:lnTo>
                  <a:pt x="226" y="532"/>
                </a:lnTo>
                <a:lnTo>
                  <a:pt x="192" y="509"/>
                </a:lnTo>
                <a:lnTo>
                  <a:pt x="158" y="498"/>
                </a:lnTo>
                <a:lnTo>
                  <a:pt x="124" y="475"/>
                </a:lnTo>
                <a:lnTo>
                  <a:pt x="59" y="451"/>
                </a:lnTo>
                <a:lnTo>
                  <a:pt x="59" y="451"/>
                </a:lnTo>
              </a:path>
            </a:pathLst>
          </a:custGeom>
          <a:solidFill>
            <a:schemeClr val="accent1">
              <a:alpha val="50000"/>
            </a:schemeClr>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6" name="Freeform 12"/>
          <p:cNvSpPr>
            <a:spLocks/>
          </p:cNvSpPr>
          <p:nvPr/>
        </p:nvSpPr>
        <p:spPr bwMode="auto">
          <a:xfrm>
            <a:off x="2558653" y="2263379"/>
            <a:ext cx="1385888" cy="1240631"/>
          </a:xfrm>
          <a:custGeom>
            <a:avLst/>
            <a:gdLst>
              <a:gd name="T0" fmla="*/ 22 w 1164"/>
              <a:gd name="T1" fmla="*/ 396 h 1042"/>
              <a:gd name="T2" fmla="*/ 0 w 1164"/>
              <a:gd name="T3" fmla="*/ 328 h 1042"/>
              <a:gd name="T4" fmla="*/ 0 w 1164"/>
              <a:gd name="T5" fmla="*/ 260 h 1042"/>
              <a:gd name="T6" fmla="*/ 45 w 1164"/>
              <a:gd name="T7" fmla="*/ 192 h 1042"/>
              <a:gd name="T8" fmla="*/ 101 w 1164"/>
              <a:gd name="T9" fmla="*/ 136 h 1042"/>
              <a:gd name="T10" fmla="*/ 158 w 1164"/>
              <a:gd name="T11" fmla="*/ 79 h 1042"/>
              <a:gd name="T12" fmla="*/ 226 w 1164"/>
              <a:gd name="T13" fmla="*/ 34 h 1042"/>
              <a:gd name="T14" fmla="*/ 294 w 1164"/>
              <a:gd name="T15" fmla="*/ 11 h 1042"/>
              <a:gd name="T16" fmla="*/ 362 w 1164"/>
              <a:gd name="T17" fmla="*/ 0 h 1042"/>
              <a:gd name="T18" fmla="*/ 430 w 1164"/>
              <a:gd name="T19" fmla="*/ 0 h 1042"/>
              <a:gd name="T20" fmla="*/ 498 w 1164"/>
              <a:gd name="T21" fmla="*/ 23 h 1042"/>
              <a:gd name="T22" fmla="*/ 566 w 1164"/>
              <a:gd name="T23" fmla="*/ 68 h 1042"/>
              <a:gd name="T24" fmla="*/ 634 w 1164"/>
              <a:gd name="T25" fmla="*/ 113 h 1042"/>
              <a:gd name="T26" fmla="*/ 1067 w 1164"/>
              <a:gd name="T27" fmla="*/ 547 h 1042"/>
              <a:gd name="T28" fmla="*/ 1155 w 1164"/>
              <a:gd name="T29" fmla="*/ 770 h 1042"/>
              <a:gd name="T30" fmla="*/ 1041 w 1164"/>
              <a:gd name="T31" fmla="*/ 951 h 1042"/>
              <a:gd name="T32" fmla="*/ 985 w 1164"/>
              <a:gd name="T33" fmla="*/ 1007 h 1042"/>
              <a:gd name="T34" fmla="*/ 917 w 1164"/>
              <a:gd name="T35" fmla="*/ 1019 h 1042"/>
              <a:gd name="T36" fmla="*/ 849 w 1164"/>
              <a:gd name="T37" fmla="*/ 1041 h 1042"/>
              <a:gd name="T38" fmla="*/ 781 w 1164"/>
              <a:gd name="T39" fmla="*/ 1030 h 1042"/>
              <a:gd name="T40" fmla="*/ 713 w 1164"/>
              <a:gd name="T41" fmla="*/ 1019 h 1042"/>
              <a:gd name="T42" fmla="*/ 645 w 1164"/>
              <a:gd name="T43" fmla="*/ 996 h 1042"/>
              <a:gd name="T44" fmla="*/ 588 w 1164"/>
              <a:gd name="T45" fmla="*/ 939 h 1042"/>
              <a:gd name="T46" fmla="*/ 543 w 1164"/>
              <a:gd name="T47" fmla="*/ 871 h 1042"/>
              <a:gd name="T48" fmla="*/ 486 w 1164"/>
              <a:gd name="T49" fmla="*/ 804 h 1042"/>
              <a:gd name="T50" fmla="*/ 441 w 1164"/>
              <a:gd name="T51" fmla="*/ 736 h 1042"/>
              <a:gd name="T52" fmla="*/ 396 w 1164"/>
              <a:gd name="T53" fmla="*/ 668 h 1042"/>
              <a:gd name="T54" fmla="*/ 328 w 1164"/>
              <a:gd name="T55" fmla="*/ 611 h 1042"/>
              <a:gd name="T56" fmla="*/ 260 w 1164"/>
              <a:gd name="T57" fmla="*/ 555 h 1042"/>
              <a:gd name="T58" fmla="*/ 192 w 1164"/>
              <a:gd name="T59" fmla="*/ 509 h 1042"/>
              <a:gd name="T60" fmla="*/ 124 w 1164"/>
              <a:gd name="T61" fmla="*/ 475 h 1042"/>
              <a:gd name="T62" fmla="*/ 59 w 1164"/>
              <a:gd name="T63" fmla="*/ 451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64" h="1042">
                <a:moveTo>
                  <a:pt x="59" y="451"/>
                </a:moveTo>
                <a:lnTo>
                  <a:pt x="22" y="396"/>
                </a:lnTo>
                <a:lnTo>
                  <a:pt x="11" y="362"/>
                </a:lnTo>
                <a:lnTo>
                  <a:pt x="0" y="328"/>
                </a:lnTo>
                <a:lnTo>
                  <a:pt x="0" y="294"/>
                </a:lnTo>
                <a:lnTo>
                  <a:pt x="0" y="260"/>
                </a:lnTo>
                <a:lnTo>
                  <a:pt x="22" y="226"/>
                </a:lnTo>
                <a:lnTo>
                  <a:pt x="45" y="192"/>
                </a:lnTo>
                <a:lnTo>
                  <a:pt x="67" y="158"/>
                </a:lnTo>
                <a:lnTo>
                  <a:pt x="101" y="136"/>
                </a:lnTo>
                <a:lnTo>
                  <a:pt x="124" y="102"/>
                </a:lnTo>
                <a:lnTo>
                  <a:pt x="158" y="79"/>
                </a:lnTo>
                <a:lnTo>
                  <a:pt x="192" y="57"/>
                </a:lnTo>
                <a:lnTo>
                  <a:pt x="226" y="34"/>
                </a:lnTo>
                <a:lnTo>
                  <a:pt x="260" y="23"/>
                </a:lnTo>
                <a:lnTo>
                  <a:pt x="294" y="11"/>
                </a:lnTo>
                <a:lnTo>
                  <a:pt x="328" y="0"/>
                </a:lnTo>
                <a:lnTo>
                  <a:pt x="362" y="0"/>
                </a:lnTo>
                <a:lnTo>
                  <a:pt x="396" y="0"/>
                </a:lnTo>
                <a:lnTo>
                  <a:pt x="430" y="0"/>
                </a:lnTo>
                <a:lnTo>
                  <a:pt x="464" y="11"/>
                </a:lnTo>
                <a:lnTo>
                  <a:pt x="498" y="23"/>
                </a:lnTo>
                <a:lnTo>
                  <a:pt x="539" y="67"/>
                </a:lnTo>
                <a:lnTo>
                  <a:pt x="566" y="68"/>
                </a:lnTo>
                <a:lnTo>
                  <a:pt x="600" y="90"/>
                </a:lnTo>
                <a:lnTo>
                  <a:pt x="634" y="113"/>
                </a:lnTo>
                <a:lnTo>
                  <a:pt x="668" y="136"/>
                </a:lnTo>
                <a:lnTo>
                  <a:pt x="1067" y="547"/>
                </a:lnTo>
                <a:lnTo>
                  <a:pt x="1163" y="739"/>
                </a:lnTo>
                <a:lnTo>
                  <a:pt x="1155" y="770"/>
                </a:lnTo>
                <a:lnTo>
                  <a:pt x="1067" y="931"/>
                </a:lnTo>
                <a:lnTo>
                  <a:pt x="1041" y="951"/>
                </a:lnTo>
                <a:lnTo>
                  <a:pt x="1019" y="1027"/>
                </a:lnTo>
                <a:lnTo>
                  <a:pt x="985" y="1007"/>
                </a:lnTo>
                <a:lnTo>
                  <a:pt x="951" y="1007"/>
                </a:lnTo>
                <a:lnTo>
                  <a:pt x="917" y="1019"/>
                </a:lnTo>
                <a:lnTo>
                  <a:pt x="883" y="1030"/>
                </a:lnTo>
                <a:lnTo>
                  <a:pt x="849" y="1041"/>
                </a:lnTo>
                <a:lnTo>
                  <a:pt x="815" y="1041"/>
                </a:lnTo>
                <a:lnTo>
                  <a:pt x="781" y="1030"/>
                </a:lnTo>
                <a:lnTo>
                  <a:pt x="747" y="1019"/>
                </a:lnTo>
                <a:lnTo>
                  <a:pt x="713" y="1019"/>
                </a:lnTo>
                <a:lnTo>
                  <a:pt x="679" y="1007"/>
                </a:lnTo>
                <a:lnTo>
                  <a:pt x="645" y="996"/>
                </a:lnTo>
                <a:lnTo>
                  <a:pt x="611" y="973"/>
                </a:lnTo>
                <a:lnTo>
                  <a:pt x="588" y="939"/>
                </a:lnTo>
                <a:lnTo>
                  <a:pt x="566" y="905"/>
                </a:lnTo>
                <a:lnTo>
                  <a:pt x="543" y="871"/>
                </a:lnTo>
                <a:lnTo>
                  <a:pt x="520" y="838"/>
                </a:lnTo>
                <a:lnTo>
                  <a:pt x="486" y="804"/>
                </a:lnTo>
                <a:lnTo>
                  <a:pt x="464" y="770"/>
                </a:lnTo>
                <a:lnTo>
                  <a:pt x="441" y="736"/>
                </a:lnTo>
                <a:lnTo>
                  <a:pt x="419" y="702"/>
                </a:lnTo>
                <a:lnTo>
                  <a:pt x="396" y="668"/>
                </a:lnTo>
                <a:lnTo>
                  <a:pt x="362" y="645"/>
                </a:lnTo>
                <a:lnTo>
                  <a:pt x="328" y="611"/>
                </a:lnTo>
                <a:lnTo>
                  <a:pt x="294" y="589"/>
                </a:lnTo>
                <a:lnTo>
                  <a:pt x="260" y="555"/>
                </a:lnTo>
                <a:lnTo>
                  <a:pt x="226" y="532"/>
                </a:lnTo>
                <a:lnTo>
                  <a:pt x="192" y="509"/>
                </a:lnTo>
                <a:lnTo>
                  <a:pt x="158" y="498"/>
                </a:lnTo>
                <a:lnTo>
                  <a:pt x="124" y="475"/>
                </a:lnTo>
                <a:lnTo>
                  <a:pt x="59" y="451"/>
                </a:lnTo>
                <a:lnTo>
                  <a:pt x="59" y="451"/>
                </a:lnTo>
              </a:path>
            </a:pathLst>
          </a:custGeom>
          <a:solidFill>
            <a:schemeClr val="accent1">
              <a:alpha val="50000"/>
            </a:schemeClr>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sp>
        <p:nvSpPr>
          <p:cNvPr id="11277" name="Freeform 13"/>
          <p:cNvSpPr>
            <a:spLocks/>
          </p:cNvSpPr>
          <p:nvPr/>
        </p:nvSpPr>
        <p:spPr bwMode="auto">
          <a:xfrm>
            <a:off x="3187303" y="1520429"/>
            <a:ext cx="1385888" cy="1240631"/>
          </a:xfrm>
          <a:custGeom>
            <a:avLst/>
            <a:gdLst>
              <a:gd name="T0" fmla="*/ 22 w 1164"/>
              <a:gd name="T1" fmla="*/ 396 h 1042"/>
              <a:gd name="T2" fmla="*/ 0 w 1164"/>
              <a:gd name="T3" fmla="*/ 328 h 1042"/>
              <a:gd name="T4" fmla="*/ 0 w 1164"/>
              <a:gd name="T5" fmla="*/ 260 h 1042"/>
              <a:gd name="T6" fmla="*/ 45 w 1164"/>
              <a:gd name="T7" fmla="*/ 192 h 1042"/>
              <a:gd name="T8" fmla="*/ 101 w 1164"/>
              <a:gd name="T9" fmla="*/ 136 h 1042"/>
              <a:gd name="T10" fmla="*/ 158 w 1164"/>
              <a:gd name="T11" fmla="*/ 79 h 1042"/>
              <a:gd name="T12" fmla="*/ 226 w 1164"/>
              <a:gd name="T13" fmla="*/ 34 h 1042"/>
              <a:gd name="T14" fmla="*/ 294 w 1164"/>
              <a:gd name="T15" fmla="*/ 11 h 1042"/>
              <a:gd name="T16" fmla="*/ 362 w 1164"/>
              <a:gd name="T17" fmla="*/ 0 h 1042"/>
              <a:gd name="T18" fmla="*/ 430 w 1164"/>
              <a:gd name="T19" fmla="*/ 0 h 1042"/>
              <a:gd name="T20" fmla="*/ 498 w 1164"/>
              <a:gd name="T21" fmla="*/ 23 h 1042"/>
              <a:gd name="T22" fmla="*/ 566 w 1164"/>
              <a:gd name="T23" fmla="*/ 68 h 1042"/>
              <a:gd name="T24" fmla="*/ 634 w 1164"/>
              <a:gd name="T25" fmla="*/ 113 h 1042"/>
              <a:gd name="T26" fmla="*/ 1067 w 1164"/>
              <a:gd name="T27" fmla="*/ 547 h 1042"/>
              <a:gd name="T28" fmla="*/ 1155 w 1164"/>
              <a:gd name="T29" fmla="*/ 770 h 1042"/>
              <a:gd name="T30" fmla="*/ 1041 w 1164"/>
              <a:gd name="T31" fmla="*/ 951 h 1042"/>
              <a:gd name="T32" fmla="*/ 985 w 1164"/>
              <a:gd name="T33" fmla="*/ 1007 h 1042"/>
              <a:gd name="T34" fmla="*/ 917 w 1164"/>
              <a:gd name="T35" fmla="*/ 1019 h 1042"/>
              <a:gd name="T36" fmla="*/ 849 w 1164"/>
              <a:gd name="T37" fmla="*/ 1041 h 1042"/>
              <a:gd name="T38" fmla="*/ 781 w 1164"/>
              <a:gd name="T39" fmla="*/ 1030 h 1042"/>
              <a:gd name="T40" fmla="*/ 713 w 1164"/>
              <a:gd name="T41" fmla="*/ 1019 h 1042"/>
              <a:gd name="T42" fmla="*/ 645 w 1164"/>
              <a:gd name="T43" fmla="*/ 996 h 1042"/>
              <a:gd name="T44" fmla="*/ 588 w 1164"/>
              <a:gd name="T45" fmla="*/ 939 h 1042"/>
              <a:gd name="T46" fmla="*/ 543 w 1164"/>
              <a:gd name="T47" fmla="*/ 871 h 1042"/>
              <a:gd name="T48" fmla="*/ 486 w 1164"/>
              <a:gd name="T49" fmla="*/ 804 h 1042"/>
              <a:gd name="T50" fmla="*/ 441 w 1164"/>
              <a:gd name="T51" fmla="*/ 736 h 1042"/>
              <a:gd name="T52" fmla="*/ 396 w 1164"/>
              <a:gd name="T53" fmla="*/ 668 h 1042"/>
              <a:gd name="T54" fmla="*/ 328 w 1164"/>
              <a:gd name="T55" fmla="*/ 611 h 1042"/>
              <a:gd name="T56" fmla="*/ 260 w 1164"/>
              <a:gd name="T57" fmla="*/ 555 h 1042"/>
              <a:gd name="T58" fmla="*/ 192 w 1164"/>
              <a:gd name="T59" fmla="*/ 509 h 1042"/>
              <a:gd name="T60" fmla="*/ 124 w 1164"/>
              <a:gd name="T61" fmla="*/ 475 h 1042"/>
              <a:gd name="T62" fmla="*/ 59 w 1164"/>
              <a:gd name="T63" fmla="*/ 451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64" h="1042">
                <a:moveTo>
                  <a:pt x="59" y="451"/>
                </a:moveTo>
                <a:lnTo>
                  <a:pt x="22" y="396"/>
                </a:lnTo>
                <a:lnTo>
                  <a:pt x="11" y="362"/>
                </a:lnTo>
                <a:lnTo>
                  <a:pt x="0" y="328"/>
                </a:lnTo>
                <a:lnTo>
                  <a:pt x="0" y="294"/>
                </a:lnTo>
                <a:lnTo>
                  <a:pt x="0" y="260"/>
                </a:lnTo>
                <a:lnTo>
                  <a:pt x="22" y="226"/>
                </a:lnTo>
                <a:lnTo>
                  <a:pt x="45" y="192"/>
                </a:lnTo>
                <a:lnTo>
                  <a:pt x="67" y="158"/>
                </a:lnTo>
                <a:lnTo>
                  <a:pt x="101" y="136"/>
                </a:lnTo>
                <a:lnTo>
                  <a:pt x="124" y="102"/>
                </a:lnTo>
                <a:lnTo>
                  <a:pt x="158" y="79"/>
                </a:lnTo>
                <a:lnTo>
                  <a:pt x="192" y="57"/>
                </a:lnTo>
                <a:lnTo>
                  <a:pt x="226" y="34"/>
                </a:lnTo>
                <a:lnTo>
                  <a:pt x="260" y="23"/>
                </a:lnTo>
                <a:lnTo>
                  <a:pt x="294" y="11"/>
                </a:lnTo>
                <a:lnTo>
                  <a:pt x="328" y="0"/>
                </a:lnTo>
                <a:lnTo>
                  <a:pt x="362" y="0"/>
                </a:lnTo>
                <a:lnTo>
                  <a:pt x="396" y="0"/>
                </a:lnTo>
                <a:lnTo>
                  <a:pt x="430" y="0"/>
                </a:lnTo>
                <a:lnTo>
                  <a:pt x="464" y="11"/>
                </a:lnTo>
                <a:lnTo>
                  <a:pt x="498" y="23"/>
                </a:lnTo>
                <a:lnTo>
                  <a:pt x="539" y="67"/>
                </a:lnTo>
                <a:lnTo>
                  <a:pt x="566" y="68"/>
                </a:lnTo>
                <a:lnTo>
                  <a:pt x="600" y="90"/>
                </a:lnTo>
                <a:lnTo>
                  <a:pt x="634" y="113"/>
                </a:lnTo>
                <a:lnTo>
                  <a:pt x="668" y="136"/>
                </a:lnTo>
                <a:lnTo>
                  <a:pt x="1067" y="547"/>
                </a:lnTo>
                <a:lnTo>
                  <a:pt x="1163" y="739"/>
                </a:lnTo>
                <a:lnTo>
                  <a:pt x="1155" y="770"/>
                </a:lnTo>
                <a:lnTo>
                  <a:pt x="1067" y="931"/>
                </a:lnTo>
                <a:lnTo>
                  <a:pt x="1041" y="951"/>
                </a:lnTo>
                <a:lnTo>
                  <a:pt x="1019" y="1027"/>
                </a:lnTo>
                <a:lnTo>
                  <a:pt x="985" y="1007"/>
                </a:lnTo>
                <a:lnTo>
                  <a:pt x="951" y="1007"/>
                </a:lnTo>
                <a:lnTo>
                  <a:pt x="917" y="1019"/>
                </a:lnTo>
                <a:lnTo>
                  <a:pt x="883" y="1030"/>
                </a:lnTo>
                <a:lnTo>
                  <a:pt x="849" y="1041"/>
                </a:lnTo>
                <a:lnTo>
                  <a:pt x="815" y="1041"/>
                </a:lnTo>
                <a:lnTo>
                  <a:pt x="781" y="1030"/>
                </a:lnTo>
                <a:lnTo>
                  <a:pt x="747" y="1019"/>
                </a:lnTo>
                <a:lnTo>
                  <a:pt x="713" y="1019"/>
                </a:lnTo>
                <a:lnTo>
                  <a:pt x="679" y="1007"/>
                </a:lnTo>
                <a:lnTo>
                  <a:pt x="645" y="996"/>
                </a:lnTo>
                <a:lnTo>
                  <a:pt x="611" y="973"/>
                </a:lnTo>
                <a:lnTo>
                  <a:pt x="588" y="939"/>
                </a:lnTo>
                <a:lnTo>
                  <a:pt x="566" y="905"/>
                </a:lnTo>
                <a:lnTo>
                  <a:pt x="543" y="871"/>
                </a:lnTo>
                <a:lnTo>
                  <a:pt x="520" y="838"/>
                </a:lnTo>
                <a:lnTo>
                  <a:pt x="486" y="804"/>
                </a:lnTo>
                <a:lnTo>
                  <a:pt x="464" y="770"/>
                </a:lnTo>
                <a:lnTo>
                  <a:pt x="441" y="736"/>
                </a:lnTo>
                <a:lnTo>
                  <a:pt x="419" y="702"/>
                </a:lnTo>
                <a:lnTo>
                  <a:pt x="396" y="668"/>
                </a:lnTo>
                <a:lnTo>
                  <a:pt x="362" y="645"/>
                </a:lnTo>
                <a:lnTo>
                  <a:pt x="328" y="611"/>
                </a:lnTo>
                <a:lnTo>
                  <a:pt x="294" y="589"/>
                </a:lnTo>
                <a:lnTo>
                  <a:pt x="260" y="555"/>
                </a:lnTo>
                <a:lnTo>
                  <a:pt x="226" y="532"/>
                </a:lnTo>
                <a:lnTo>
                  <a:pt x="192" y="509"/>
                </a:lnTo>
                <a:lnTo>
                  <a:pt x="158" y="498"/>
                </a:lnTo>
                <a:lnTo>
                  <a:pt x="124" y="475"/>
                </a:lnTo>
                <a:lnTo>
                  <a:pt x="59" y="451"/>
                </a:lnTo>
                <a:lnTo>
                  <a:pt x="59" y="451"/>
                </a:lnTo>
              </a:path>
            </a:pathLst>
          </a:custGeom>
          <a:solidFill>
            <a:schemeClr val="accent1">
              <a:alpha val="50000"/>
            </a:schemeClr>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nvGrpSpPr>
          <p:cNvPr id="11284" name="Group 20"/>
          <p:cNvGrpSpPr>
            <a:grpSpLocks/>
          </p:cNvGrpSpPr>
          <p:nvPr/>
        </p:nvGrpSpPr>
        <p:grpSpPr bwMode="auto">
          <a:xfrm>
            <a:off x="2331243" y="2639620"/>
            <a:ext cx="625078" cy="564357"/>
            <a:chOff x="998" y="2217"/>
            <a:chExt cx="525" cy="474"/>
          </a:xfrm>
        </p:grpSpPr>
        <p:sp>
          <p:nvSpPr>
            <p:cNvPr id="11278" name="Rectangle 14"/>
            <p:cNvSpPr>
              <a:spLocks noChangeArrowheads="1"/>
            </p:cNvSpPr>
            <p:nvPr/>
          </p:nvSpPr>
          <p:spPr bwMode="auto">
            <a:xfrm>
              <a:off x="998" y="2217"/>
              <a:ext cx="26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sp>
          <p:nvSpPr>
            <p:cNvPr id="11280" name="Rectangle 16"/>
            <p:cNvSpPr>
              <a:spLocks noChangeArrowheads="1"/>
            </p:cNvSpPr>
            <p:nvPr/>
          </p:nvSpPr>
          <p:spPr bwMode="auto">
            <a:xfrm>
              <a:off x="1142" y="2361"/>
              <a:ext cx="3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0070C0"/>
                  </a:solidFill>
                </a:rPr>
                <a:t>++</a:t>
              </a:r>
            </a:p>
          </p:txBody>
        </p:sp>
      </p:grpSp>
      <p:sp>
        <p:nvSpPr>
          <p:cNvPr id="11283" name="Rectangle 19"/>
          <p:cNvSpPr>
            <a:spLocks noChangeArrowheads="1"/>
          </p:cNvSpPr>
          <p:nvPr/>
        </p:nvSpPr>
        <p:spPr bwMode="auto">
          <a:xfrm>
            <a:off x="4868548" y="1968224"/>
            <a:ext cx="4781574" cy="76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9056" tIns="34529" rIns="69056" bIns="34529">
            <a:spAutoFit/>
          </a:bodyPr>
          <a:lstStyle/>
          <a:p>
            <a:pPr defTabSz="571500"/>
            <a:r>
              <a:rPr lang="en-GB" sz="2100" dirty="0"/>
              <a:t>current jumps from node to node: </a:t>
            </a:r>
          </a:p>
          <a:p>
            <a:pPr defTabSz="571500"/>
            <a:r>
              <a:rPr lang="en-GB" sz="2400" dirty="0"/>
              <a:t>Saltatory Conduction</a:t>
            </a:r>
          </a:p>
        </p:txBody>
      </p:sp>
      <p:grpSp>
        <p:nvGrpSpPr>
          <p:cNvPr id="11286" name="Group 22"/>
          <p:cNvGrpSpPr>
            <a:grpSpLocks/>
          </p:cNvGrpSpPr>
          <p:nvPr/>
        </p:nvGrpSpPr>
        <p:grpSpPr bwMode="auto">
          <a:xfrm>
            <a:off x="2401492" y="1953816"/>
            <a:ext cx="1163241" cy="1075134"/>
            <a:chOff x="1057" y="1641"/>
            <a:chExt cx="977" cy="903"/>
          </a:xfrm>
        </p:grpSpPr>
        <p:sp>
          <p:nvSpPr>
            <p:cNvPr id="11279" name="Rectangle 15"/>
            <p:cNvSpPr>
              <a:spLocks noChangeArrowheads="1"/>
            </p:cNvSpPr>
            <p:nvPr/>
          </p:nvSpPr>
          <p:spPr bwMode="auto">
            <a:xfrm>
              <a:off x="1430" y="1641"/>
              <a:ext cx="381" cy="33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0070C0"/>
                  </a:solidFill>
                </a:rPr>
                <a:t>++</a:t>
              </a:r>
            </a:p>
          </p:txBody>
        </p:sp>
        <p:sp>
          <p:nvSpPr>
            <p:cNvPr id="11281" name="Rectangle 17"/>
            <p:cNvSpPr>
              <a:spLocks noChangeArrowheads="1"/>
            </p:cNvSpPr>
            <p:nvPr/>
          </p:nvSpPr>
          <p:spPr bwMode="auto">
            <a:xfrm>
              <a:off x="1766" y="1737"/>
              <a:ext cx="268" cy="33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defTabSz="571500"/>
              <a:r>
                <a:rPr lang="en-GB" sz="2100" dirty="0">
                  <a:solidFill>
                    <a:srgbClr val="FF0000"/>
                  </a:solidFill>
                </a:rPr>
                <a:t>--</a:t>
              </a:r>
            </a:p>
          </p:txBody>
        </p:sp>
        <p:sp>
          <p:nvSpPr>
            <p:cNvPr id="11282" name="Arc 18"/>
            <p:cNvSpPr>
              <a:spLocks/>
            </p:cNvSpPr>
            <p:nvPr/>
          </p:nvSpPr>
          <p:spPr bwMode="auto">
            <a:xfrm>
              <a:off x="1057" y="1729"/>
              <a:ext cx="432" cy="528"/>
            </a:xfrm>
            <a:custGeom>
              <a:avLst/>
              <a:gdLst>
                <a:gd name="G0" fmla="+- 21600 0 0"/>
                <a:gd name="G1" fmla="+- 21600 0 0"/>
                <a:gd name="G2" fmla="+- 21600 0 0"/>
                <a:gd name="T0" fmla="*/ 0 w 21600"/>
                <a:gd name="T1" fmla="*/ 21600 h 21600"/>
                <a:gd name="T2" fmla="*/ 2155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dirty="0"/>
            </a:p>
          </p:txBody>
        </p:sp>
        <p:sp>
          <p:nvSpPr>
            <p:cNvPr id="11285" name="Arc 21"/>
            <p:cNvSpPr>
              <a:spLocks/>
            </p:cNvSpPr>
            <p:nvPr/>
          </p:nvSpPr>
          <p:spPr bwMode="auto">
            <a:xfrm rot="28387" flipH="1" flipV="1">
              <a:off x="1488" y="2016"/>
              <a:ext cx="432" cy="528"/>
            </a:xfrm>
            <a:custGeom>
              <a:avLst/>
              <a:gdLst>
                <a:gd name="G0" fmla="+- 21600 0 0"/>
                <a:gd name="G1" fmla="+- 21600 0 0"/>
                <a:gd name="G2" fmla="+- 21600 0 0"/>
                <a:gd name="T0" fmla="*/ 0 w 21600"/>
                <a:gd name="T1" fmla="*/ 21600 h 21600"/>
                <a:gd name="T2" fmla="*/ 2155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90"/>
                    <a:pt x="9640" y="27"/>
                    <a:pt x="21550" y="0"/>
                  </a:cubicBezTo>
                </a:path>
                <a:path w="21600" h="21600" stroke="0" extrusionOk="0">
                  <a:moveTo>
                    <a:pt x="0" y="21600"/>
                  </a:moveTo>
                  <a:cubicBezTo>
                    <a:pt x="0" y="9690"/>
                    <a:pt x="9640" y="27"/>
                    <a:pt x="21550" y="0"/>
                  </a:cubicBezTo>
                  <a:lnTo>
                    <a:pt x="21600" y="2160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100"/>
            </a:p>
          </p:txBody>
        </p:sp>
      </p:grpSp>
      <p:pic>
        <p:nvPicPr>
          <p:cNvPr id="24" name="Picture 23">
            <a:extLst>
              <a:ext uri="{FF2B5EF4-FFF2-40B4-BE49-F238E27FC236}">
                <a16:creationId xmlns:a16="http://schemas.microsoft.com/office/drawing/2014/main" id="{97A0B08C-1EBF-4F52-8BE8-0E4E184DC39D}"/>
              </a:ext>
            </a:extLst>
          </p:cNvPr>
          <p:cNvPicPr>
            <a:picLocks noChangeAspect="1"/>
          </p:cNvPicPr>
          <p:nvPr/>
        </p:nvPicPr>
        <p:blipFill>
          <a:blip r:embed="rId3"/>
          <a:stretch>
            <a:fillRect/>
          </a:stretch>
        </p:blipFill>
        <p:spPr>
          <a:xfrm>
            <a:off x="4738732" y="2717009"/>
            <a:ext cx="4153748" cy="2393024"/>
          </a:xfrm>
          <a:prstGeom prst="rect">
            <a:avLst/>
          </a:prstGeom>
        </p:spPr>
      </p:pic>
    </p:spTree>
    <p:extLst>
      <p:ext uri="{BB962C8B-B14F-4D97-AF65-F5344CB8AC3E}">
        <p14:creationId xmlns:p14="http://schemas.microsoft.com/office/powerpoint/2010/main" val="9049451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2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7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7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27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267">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267">
                                            <p:txEl>
                                              <p:pRg st="1" end="1"/>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128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128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12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P spid="11275" grpId="0" animBg="1"/>
      <p:bldP spid="11276" grpId="0" animBg="1"/>
      <p:bldP spid="11277" grpId="0" animBg="1"/>
      <p:bldP spid="11283"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051720" y="213510"/>
            <a:ext cx="5400600" cy="469232"/>
          </a:xfrm>
          <a:noFill/>
          <a:ln/>
        </p:spPr>
        <p:txBody>
          <a:bodyPr/>
          <a:lstStyle/>
          <a:p>
            <a:r>
              <a:rPr lang="en-GB" sz="2400" b="1" dirty="0">
                <a:solidFill>
                  <a:srgbClr val="0070C0"/>
                </a:solidFill>
                <a:latin typeface="Arial Rounded MT Bold" pitchFamily="34" charset="0"/>
              </a:rPr>
              <a:t>In a myelinated axon: (Some facts)</a:t>
            </a:r>
          </a:p>
        </p:txBody>
      </p:sp>
      <p:sp>
        <p:nvSpPr>
          <p:cNvPr id="12294" name="Rectangle 6"/>
          <p:cNvSpPr>
            <a:spLocks noChangeArrowheads="1"/>
          </p:cNvSpPr>
          <p:nvPr/>
        </p:nvSpPr>
        <p:spPr bwMode="auto">
          <a:xfrm>
            <a:off x="443989" y="915566"/>
            <a:ext cx="8496944"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p>
            <a:pPr marL="257175" indent="-257175" defTabSz="571500">
              <a:spcBef>
                <a:spcPct val="20000"/>
              </a:spcBef>
              <a:buFontTx/>
              <a:buChar char="•"/>
            </a:pPr>
            <a:r>
              <a:rPr lang="en-GB" sz="2100" dirty="0">
                <a:solidFill>
                  <a:srgbClr val="FF0000"/>
                </a:solidFill>
              </a:rPr>
              <a:t>How much does myelin contribute to increased conduction velocity?</a:t>
            </a:r>
          </a:p>
          <a:p>
            <a:pPr marL="257175" indent="-257175" defTabSz="571500">
              <a:spcBef>
                <a:spcPct val="20000"/>
              </a:spcBef>
              <a:buFontTx/>
              <a:buChar char="–"/>
            </a:pPr>
            <a:r>
              <a:rPr lang="en-GB" sz="2100" dirty="0"/>
              <a:t>a myelinated axon has a greater conductivity velocity than an unmyelinated axon that is 100 times larger in diameter</a:t>
            </a:r>
            <a:endParaRPr lang="en-GB" sz="2400" dirty="0"/>
          </a:p>
        </p:txBody>
      </p:sp>
      <p:sp>
        <p:nvSpPr>
          <p:cNvPr id="12295" name="Rectangle 7"/>
          <p:cNvSpPr>
            <a:spLocks noChangeArrowheads="1"/>
          </p:cNvSpPr>
          <p:nvPr/>
        </p:nvSpPr>
        <p:spPr bwMode="auto">
          <a:xfrm>
            <a:off x="448889" y="3034340"/>
            <a:ext cx="8496944" cy="1207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p>
            <a:pPr marL="257175" indent="-257175" defTabSz="571500">
              <a:spcBef>
                <a:spcPct val="20000"/>
              </a:spcBef>
              <a:buFontTx/>
              <a:buChar char="•"/>
            </a:pPr>
            <a:r>
              <a:rPr lang="en-GB" sz="2100" dirty="0"/>
              <a:t>a myelinated axon 20 </a:t>
            </a:r>
            <a:r>
              <a:rPr lang="en-GB" sz="2100" dirty="0">
                <a:latin typeface="Symbol" pitchFamily="18" charset="2"/>
              </a:rPr>
              <a:t>m</a:t>
            </a:r>
            <a:r>
              <a:rPr lang="en-GB" sz="2100" dirty="0"/>
              <a:t>m wide has an </a:t>
            </a:r>
            <a:r>
              <a:rPr lang="en-GB" sz="2100" dirty="0" err="1"/>
              <a:t>a.p</a:t>
            </a:r>
            <a:r>
              <a:rPr lang="en-GB" sz="2100" dirty="0"/>
              <a:t>. velocity of 120 m/sec</a:t>
            </a:r>
          </a:p>
          <a:p>
            <a:pPr marL="257175" indent="-257175" defTabSz="571500">
              <a:spcBef>
                <a:spcPct val="20000"/>
              </a:spcBef>
              <a:buFontTx/>
              <a:buChar char="•"/>
            </a:pPr>
            <a:r>
              <a:rPr lang="en-GB" sz="2100" dirty="0"/>
              <a:t>an unmyelinated axon 1 </a:t>
            </a:r>
            <a:r>
              <a:rPr lang="en-GB" sz="2100" dirty="0">
                <a:latin typeface="Symbol" pitchFamily="18" charset="2"/>
              </a:rPr>
              <a:t>m</a:t>
            </a:r>
            <a:r>
              <a:rPr lang="en-GB" sz="2100" dirty="0"/>
              <a:t>m wide has an </a:t>
            </a:r>
            <a:r>
              <a:rPr lang="en-GB" sz="2100" dirty="0" err="1"/>
              <a:t>a.p</a:t>
            </a:r>
            <a:r>
              <a:rPr lang="en-GB" sz="2100" dirty="0"/>
              <a:t>. velocity of ~2 m/sec.</a:t>
            </a:r>
          </a:p>
        </p:txBody>
      </p:sp>
    </p:spTree>
    <p:extLst>
      <p:ext uri="{BB962C8B-B14F-4D97-AF65-F5344CB8AC3E}">
        <p14:creationId xmlns:p14="http://schemas.microsoft.com/office/powerpoint/2010/main" val="33901617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9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9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2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build="p" autoUpdateAnimBg="0"/>
      <p:bldP spid="12295"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026"/>
          <p:cNvSpPr txBox="1">
            <a:spLocks noChangeArrowheads="1"/>
          </p:cNvSpPr>
          <p:nvPr/>
        </p:nvSpPr>
        <p:spPr bwMode="auto">
          <a:xfrm>
            <a:off x="355540" y="194646"/>
            <a:ext cx="8424936" cy="400110"/>
          </a:xfrm>
          <a:prstGeom prst="rect">
            <a:avLst/>
          </a:prstGeom>
          <a:solidFill>
            <a:srgbClr val="FFFF00"/>
          </a:solidFill>
          <a:ln>
            <a:noFill/>
          </a:ln>
          <a:effec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000" dirty="0">
                <a:latin typeface="Arial Rounded MT Bold" pitchFamily="34" charset="0"/>
              </a:rPr>
              <a:t>What happens when myelinated neurons become demyelinated?</a:t>
            </a:r>
          </a:p>
        </p:txBody>
      </p:sp>
      <p:sp>
        <p:nvSpPr>
          <p:cNvPr id="34819" name="Text Box 1027"/>
          <p:cNvSpPr txBox="1">
            <a:spLocks noChangeArrowheads="1"/>
          </p:cNvSpPr>
          <p:nvPr/>
        </p:nvSpPr>
        <p:spPr bwMode="auto">
          <a:xfrm>
            <a:off x="323528" y="1916143"/>
            <a:ext cx="65741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buFontTx/>
              <a:buChar char="•"/>
            </a:pPr>
            <a:r>
              <a:rPr lang="en-US" sz="2100" dirty="0">
                <a:latin typeface="Arial Rounded MT Bold" pitchFamily="34" charset="0"/>
              </a:rPr>
              <a:t> </a:t>
            </a:r>
            <a:r>
              <a:rPr lang="en-US" sz="2000" dirty="0">
                <a:latin typeface="Arial Rounded MT Bold" pitchFamily="34" charset="0"/>
              </a:rPr>
              <a:t>Multiple sclerosis</a:t>
            </a:r>
            <a:r>
              <a:rPr lang="en-US" sz="2000" dirty="0">
                <a:solidFill>
                  <a:schemeClr val="hlink"/>
                </a:solidFill>
                <a:latin typeface="Arial Rounded MT Bold" pitchFamily="34" charset="0"/>
              </a:rPr>
              <a:t> </a:t>
            </a:r>
            <a:r>
              <a:rPr lang="en-GB" sz="2000" dirty="0">
                <a:solidFill>
                  <a:srgbClr val="00B050"/>
                </a:solidFill>
                <a:latin typeface="Arial Rounded MT Bold" panose="020F0704030504030204" pitchFamily="34" charset="0"/>
              </a:rPr>
              <a:t>potentially debilitating</a:t>
            </a:r>
            <a:r>
              <a:rPr lang="en-GB" sz="2000" dirty="0">
                <a:latin typeface="Arial Rounded MT Bold" panose="020F0704030504030204" pitchFamily="34" charset="0"/>
              </a:rPr>
              <a:t> disease.</a:t>
            </a:r>
            <a:r>
              <a:rPr lang="en-US" sz="2000" dirty="0">
                <a:latin typeface="Arial Rounded MT Bold" pitchFamily="34" charset="0"/>
              </a:rPr>
              <a:t> </a:t>
            </a:r>
            <a:endParaRPr lang="en-US" sz="2000" b="0" dirty="0">
              <a:latin typeface="Arial Rounded MT Bold" pitchFamily="34" charset="0"/>
            </a:endParaRPr>
          </a:p>
        </p:txBody>
      </p:sp>
      <p:sp>
        <p:nvSpPr>
          <p:cNvPr id="34822" name="Text Box 1030"/>
          <p:cNvSpPr txBox="1">
            <a:spLocks noChangeArrowheads="1"/>
          </p:cNvSpPr>
          <p:nvPr/>
        </p:nvSpPr>
        <p:spPr bwMode="auto">
          <a:xfrm>
            <a:off x="179512" y="2505808"/>
            <a:ext cx="875459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marL="342900" indent="-342900" algn="just">
              <a:buFont typeface="Arial" panose="020B0604020202020204" pitchFamily="34" charset="0"/>
              <a:buChar char="•"/>
            </a:pPr>
            <a:r>
              <a:rPr lang="en-US" sz="2000" dirty="0">
                <a:latin typeface="Arial Rounded MT Bold" pitchFamily="34" charset="0"/>
              </a:rPr>
              <a:t>Demyelination is scattered and progressive, leading to a gradual loss of motor control. </a:t>
            </a:r>
            <a:r>
              <a:rPr lang="en-MY" sz="2000" dirty="0">
                <a:solidFill>
                  <a:srgbClr val="FF0000"/>
                </a:solidFill>
                <a:latin typeface="Arial Rounded MT Bold" panose="020F0704030504030204" pitchFamily="34" charset="0"/>
              </a:rPr>
              <a:t>Scanning speech </a:t>
            </a:r>
            <a:r>
              <a:rPr lang="en-MY" sz="2000" dirty="0">
                <a:latin typeface="Arial Rounded MT Bold" panose="020F0704030504030204" pitchFamily="34" charset="0"/>
              </a:rPr>
              <a:t>(unclear speech)</a:t>
            </a:r>
            <a:r>
              <a:rPr lang="en-MY" sz="2000" dirty="0">
                <a:solidFill>
                  <a:srgbClr val="FF0000"/>
                </a:solidFill>
                <a:latin typeface="Arial Rounded MT Bold" panose="020F0704030504030204" pitchFamily="34" charset="0"/>
              </a:rPr>
              <a:t>, intention tremor, nystagmus, optic neuritis </a:t>
            </a:r>
            <a:r>
              <a:rPr lang="en-MY" sz="2000" dirty="0">
                <a:solidFill>
                  <a:srgbClr val="2E2E2E"/>
                </a:solidFill>
                <a:latin typeface="Arial Rounded MT Bold" panose="020F0704030504030204" pitchFamily="34" charset="0"/>
              </a:rPr>
              <a:t>(sudden vision loss), </a:t>
            </a:r>
            <a:r>
              <a:rPr lang="en-MY" sz="2000" dirty="0">
                <a:solidFill>
                  <a:srgbClr val="FF0000"/>
                </a:solidFill>
                <a:latin typeface="Arial Rounded MT Bold" panose="020F0704030504030204" pitchFamily="34" charset="0"/>
              </a:rPr>
              <a:t>hemiparesis </a:t>
            </a:r>
            <a:r>
              <a:rPr lang="en-MY" sz="2000" dirty="0">
                <a:latin typeface="Arial Rounded MT Bold" panose="020F0704030504030204" pitchFamily="34" charset="0"/>
              </a:rPr>
              <a:t>(Inability to move on one side/weakness)</a:t>
            </a:r>
            <a:r>
              <a:rPr lang="en-MY" sz="2000" dirty="0">
                <a:solidFill>
                  <a:srgbClr val="FF0000"/>
                </a:solidFill>
                <a:latin typeface="Arial Rounded MT Bold" panose="020F0704030504030204" pitchFamily="34" charset="0"/>
              </a:rPr>
              <a:t> , incontinence </a:t>
            </a:r>
            <a:r>
              <a:rPr lang="en-MY" sz="2000" dirty="0">
                <a:latin typeface="Arial Rounded MT Bold" panose="020F0704030504030204" pitchFamily="34" charset="0"/>
              </a:rPr>
              <a:t>(</a:t>
            </a:r>
            <a:r>
              <a:rPr lang="en-GB" sz="2000" dirty="0">
                <a:latin typeface="Arial Rounded MT Bold" panose="020F0704030504030204" pitchFamily="34" charset="0"/>
              </a:rPr>
              <a:t>inability to control the release of urine or stool</a:t>
            </a:r>
            <a:r>
              <a:rPr lang="en-MY" sz="2000" dirty="0">
                <a:latin typeface="Arial Rounded MT Bold" panose="020F0704030504030204" pitchFamily="34" charset="0"/>
              </a:rPr>
              <a:t>). </a:t>
            </a:r>
            <a:endParaRPr lang="en-US" sz="2000" dirty="0">
              <a:latin typeface="Arial Rounded MT Bold" pitchFamily="34" charset="0"/>
            </a:endParaRPr>
          </a:p>
        </p:txBody>
      </p:sp>
      <p:sp>
        <p:nvSpPr>
          <p:cNvPr id="2" name="Rectangle 1"/>
          <p:cNvSpPr/>
          <p:nvPr/>
        </p:nvSpPr>
        <p:spPr>
          <a:xfrm>
            <a:off x="209890" y="4311191"/>
            <a:ext cx="8386063" cy="707886"/>
          </a:xfrm>
          <a:prstGeom prst="rect">
            <a:avLst/>
          </a:prstGeom>
        </p:spPr>
        <p:txBody>
          <a:bodyPr wrap="square">
            <a:spAutoFit/>
          </a:bodyPr>
          <a:lstStyle/>
          <a:p>
            <a:pPr marL="342900" indent="-342900">
              <a:buFont typeface="Arial" panose="020B0604020202020204" pitchFamily="34" charset="0"/>
              <a:buChar char="•"/>
            </a:pPr>
            <a:r>
              <a:rPr lang="en-US" sz="2000" dirty="0">
                <a:latin typeface="Arial Rounded MT Bold" panose="020F0704030504030204" pitchFamily="34" charset="0"/>
              </a:rPr>
              <a:t>Has no cure. However, treatments may help treat MS attacks, manage symptoms and reduce progress of the disease</a:t>
            </a:r>
            <a:endParaRPr lang="en-GB" sz="2000" dirty="0">
              <a:latin typeface="Arial Rounded MT Bold" panose="020F0704030504030204" pitchFamily="34" charset="0"/>
            </a:endParaRPr>
          </a:p>
        </p:txBody>
      </p:sp>
      <p:sp>
        <p:nvSpPr>
          <p:cNvPr id="6" name="Text Box 1027">
            <a:extLst>
              <a:ext uri="{FF2B5EF4-FFF2-40B4-BE49-F238E27FC236}">
                <a16:creationId xmlns:a16="http://schemas.microsoft.com/office/drawing/2014/main" id="{BD575DB2-CB05-4739-82C9-BDCD12EA1D5A}"/>
              </a:ext>
            </a:extLst>
          </p:cNvPr>
          <p:cNvSpPr txBox="1">
            <a:spLocks noChangeArrowheads="1"/>
          </p:cNvSpPr>
          <p:nvPr/>
        </p:nvSpPr>
        <p:spPr bwMode="auto">
          <a:xfrm>
            <a:off x="323528" y="1088617"/>
            <a:ext cx="8424936"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buFontTx/>
              <a:buChar char="•"/>
            </a:pPr>
            <a:r>
              <a:rPr lang="en-US" sz="2100" dirty="0">
                <a:latin typeface="Arial Rounded MT Bold" pitchFamily="34" charset="0"/>
              </a:rPr>
              <a:t> </a:t>
            </a:r>
            <a:r>
              <a:rPr lang="en-US" sz="2000" dirty="0">
                <a:latin typeface="Arial Rounded MT Bold" pitchFamily="34" charset="0"/>
              </a:rPr>
              <a:t>Range of diseases: </a:t>
            </a:r>
            <a:r>
              <a:rPr lang="en-US" sz="2000" dirty="0">
                <a:solidFill>
                  <a:srgbClr val="FF0000"/>
                </a:solidFill>
                <a:latin typeface="Arial Rounded MT Bold" pitchFamily="34" charset="0"/>
              </a:rPr>
              <a:t>Multiple sclerosis </a:t>
            </a:r>
            <a:r>
              <a:rPr lang="en-US" sz="2000" dirty="0">
                <a:latin typeface="Arial Rounded MT Bold" pitchFamily="34" charset="0"/>
              </a:rPr>
              <a:t>(CNS), </a:t>
            </a:r>
            <a:r>
              <a:rPr lang="en-MY" sz="2000" dirty="0">
                <a:solidFill>
                  <a:srgbClr val="FF0000"/>
                </a:solidFill>
                <a:latin typeface="Arial Rounded MT Bold" panose="020F0704030504030204" pitchFamily="34" charset="0"/>
              </a:rPr>
              <a:t>Guillain Barré syndrome</a:t>
            </a:r>
            <a:r>
              <a:rPr lang="en-MY" sz="2000" dirty="0">
                <a:solidFill>
                  <a:srgbClr val="2E2E2E"/>
                </a:solidFill>
                <a:latin typeface="Arial Rounded MT Bold" panose="020F0704030504030204" pitchFamily="34" charset="0"/>
              </a:rPr>
              <a:t> (PNS), </a:t>
            </a:r>
            <a:r>
              <a:rPr lang="en-MY" sz="2000" dirty="0">
                <a:solidFill>
                  <a:srgbClr val="FF0000"/>
                </a:solidFill>
                <a:latin typeface="Arial Rounded MT Bold" panose="020F0704030504030204" pitchFamily="34" charset="0"/>
              </a:rPr>
              <a:t>Tabes dorsalis </a:t>
            </a:r>
            <a:r>
              <a:rPr lang="en-MY" sz="2000" dirty="0">
                <a:solidFill>
                  <a:srgbClr val="2E2E2E"/>
                </a:solidFill>
                <a:latin typeface="Arial Rounded MT Bold" panose="020F0704030504030204" pitchFamily="34" charset="0"/>
              </a:rPr>
              <a:t>(PNS) etc.</a:t>
            </a:r>
            <a:r>
              <a:rPr lang="en-US" sz="2000" dirty="0">
                <a:latin typeface="Arial Rounded MT Bold" pitchFamily="34" charset="0"/>
              </a:rPr>
              <a:t> </a:t>
            </a:r>
            <a:endParaRPr lang="en-US" sz="2000" b="0" dirty="0">
              <a:latin typeface="Arial Rounded MT Bold" pitchFamily="34" charset="0"/>
            </a:endParaRPr>
          </a:p>
        </p:txBody>
      </p:sp>
    </p:spTree>
    <p:extLst>
      <p:ext uri="{BB962C8B-B14F-4D97-AF65-F5344CB8AC3E}">
        <p14:creationId xmlns:p14="http://schemas.microsoft.com/office/powerpoint/2010/main" val="4210681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8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8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P spid="34822" grpId="0" autoUpdateAnimBg="0"/>
      <p:bldP spid="2" grpId="0"/>
      <p:bldP spid="6"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3486150" y="171450"/>
            <a:ext cx="17599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u="sng">
                <a:latin typeface="Arial Rounded MT Bold" pitchFamily="34" charset="0"/>
              </a:rPr>
              <a:t>SUMMARY</a:t>
            </a:r>
            <a:endParaRPr lang="en-US" sz="2100">
              <a:latin typeface="Arial Rounded MT Bold" pitchFamily="34" charset="0"/>
            </a:endParaRPr>
          </a:p>
        </p:txBody>
      </p:sp>
      <p:sp>
        <p:nvSpPr>
          <p:cNvPr id="81923" name="Rectangle 3"/>
          <p:cNvSpPr>
            <a:spLocks noChangeArrowheads="1"/>
          </p:cNvSpPr>
          <p:nvPr/>
        </p:nvSpPr>
        <p:spPr bwMode="auto">
          <a:xfrm>
            <a:off x="287524" y="800100"/>
            <a:ext cx="8568952" cy="98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p>
            <a:pPr marL="257175" indent="-257175" defTabSz="571500">
              <a:spcBef>
                <a:spcPct val="20000"/>
              </a:spcBef>
              <a:buSzPct val="100000"/>
              <a:buFontTx/>
              <a:buChar char="•"/>
            </a:pPr>
            <a:r>
              <a:rPr lang="en-GB" sz="2400" dirty="0">
                <a:solidFill>
                  <a:srgbClr val="0070C0"/>
                </a:solidFill>
                <a:latin typeface="Arial Rounded MT Bold" pitchFamily="34" charset="0"/>
              </a:rPr>
              <a:t>An action potential is a transient change in RMP</a:t>
            </a:r>
          </a:p>
        </p:txBody>
      </p:sp>
      <p:sp>
        <p:nvSpPr>
          <p:cNvPr id="81924" name="Rectangle 4"/>
          <p:cNvSpPr>
            <a:spLocks noChangeArrowheads="1"/>
          </p:cNvSpPr>
          <p:nvPr/>
        </p:nvSpPr>
        <p:spPr bwMode="auto">
          <a:xfrm>
            <a:off x="239680" y="1600199"/>
            <a:ext cx="8954651" cy="1380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p>
            <a:pPr marL="257175" indent="-257175" defTabSz="571500">
              <a:spcBef>
                <a:spcPct val="20000"/>
              </a:spcBef>
              <a:buSzPct val="100000"/>
              <a:buFontTx/>
              <a:buChar char="•"/>
            </a:pPr>
            <a:r>
              <a:rPr lang="en-GB" sz="2400" dirty="0">
                <a:solidFill>
                  <a:srgbClr val="0070C0"/>
                </a:solidFill>
                <a:latin typeface="Arial Rounded MT Bold" pitchFamily="34" charset="0"/>
              </a:rPr>
              <a:t>It is caused by an influx of Na+ ions and an efflux of K+ ions, through voltage-dependent ion channels</a:t>
            </a:r>
          </a:p>
        </p:txBody>
      </p:sp>
      <p:sp>
        <p:nvSpPr>
          <p:cNvPr id="81925" name="Rectangle 5"/>
          <p:cNvSpPr>
            <a:spLocks noChangeArrowheads="1"/>
          </p:cNvSpPr>
          <p:nvPr/>
        </p:nvSpPr>
        <p:spPr bwMode="auto">
          <a:xfrm>
            <a:off x="287524" y="2800350"/>
            <a:ext cx="8568952" cy="98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p>
            <a:pPr marL="257175" indent="-257175" defTabSz="571500">
              <a:spcBef>
                <a:spcPct val="20000"/>
              </a:spcBef>
              <a:buSzPct val="100000"/>
              <a:buFontTx/>
              <a:buChar char="•"/>
            </a:pPr>
            <a:r>
              <a:rPr lang="en-GB" sz="2400" dirty="0">
                <a:solidFill>
                  <a:srgbClr val="0070C0"/>
                </a:solidFill>
                <a:latin typeface="Arial Rounded MT Bold" pitchFamily="34" charset="0"/>
              </a:rPr>
              <a:t>The action potential is propagated down the axon by means of current loops</a:t>
            </a:r>
          </a:p>
        </p:txBody>
      </p:sp>
      <p:sp>
        <p:nvSpPr>
          <p:cNvPr id="81926" name="Rectangle 6"/>
          <p:cNvSpPr>
            <a:spLocks noChangeArrowheads="1"/>
          </p:cNvSpPr>
          <p:nvPr/>
        </p:nvSpPr>
        <p:spPr bwMode="auto">
          <a:xfrm>
            <a:off x="287524" y="3657600"/>
            <a:ext cx="8568952"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p>
            <a:pPr marL="257175" indent="-257175" defTabSz="571500">
              <a:spcBef>
                <a:spcPct val="20000"/>
              </a:spcBef>
              <a:buSzPct val="100000"/>
              <a:buFontTx/>
              <a:buChar char="•"/>
            </a:pPr>
            <a:r>
              <a:rPr lang="en-GB" sz="2400" dirty="0">
                <a:solidFill>
                  <a:srgbClr val="0070C0"/>
                </a:solidFill>
                <a:latin typeface="Arial Rounded MT Bold" pitchFamily="34" charset="0"/>
              </a:rPr>
              <a:t>The refractory period prevents the action potential from being set off backwards</a:t>
            </a:r>
          </a:p>
        </p:txBody>
      </p:sp>
    </p:spTree>
    <p:extLst>
      <p:ext uri="{BB962C8B-B14F-4D97-AF65-F5344CB8AC3E}">
        <p14:creationId xmlns:p14="http://schemas.microsoft.com/office/powerpoint/2010/main" val="9664733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192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autoUpdateAnimBg="0"/>
      <p:bldP spid="81924" grpId="0" autoUpdateAnimBg="0"/>
      <p:bldP spid="81925" grpId="0" autoUpdateAnimBg="0"/>
      <p:bldP spid="81926"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F5EA6F-6A43-4B5E-4F10-DABE38055522}"/>
              </a:ext>
            </a:extLst>
          </p:cNvPr>
          <p:cNvSpPr txBox="1"/>
          <p:nvPr/>
        </p:nvSpPr>
        <p:spPr>
          <a:xfrm>
            <a:off x="2231740" y="195486"/>
            <a:ext cx="4680520" cy="523220"/>
          </a:xfrm>
          <a:prstGeom prst="rect">
            <a:avLst/>
          </a:prstGeom>
          <a:noFill/>
        </p:spPr>
        <p:txBody>
          <a:bodyPr wrap="square" rtlCol="0">
            <a:spAutoFit/>
          </a:bodyPr>
          <a:lstStyle/>
          <a:p>
            <a:r>
              <a:rPr lang="en-GB" dirty="0">
                <a:solidFill>
                  <a:srgbClr val="0070C0"/>
                </a:solidFill>
              </a:rPr>
              <a:t>Important Terminologies :</a:t>
            </a:r>
          </a:p>
        </p:txBody>
      </p:sp>
      <p:graphicFrame>
        <p:nvGraphicFramePr>
          <p:cNvPr id="7" name="Table 6">
            <a:extLst>
              <a:ext uri="{FF2B5EF4-FFF2-40B4-BE49-F238E27FC236}">
                <a16:creationId xmlns:a16="http://schemas.microsoft.com/office/drawing/2014/main" id="{96F0A0B2-42CE-8653-DBC6-E2CC639FA798}"/>
              </a:ext>
            </a:extLst>
          </p:cNvPr>
          <p:cNvGraphicFramePr>
            <a:graphicFrameLocks noGrp="1"/>
          </p:cNvGraphicFramePr>
          <p:nvPr>
            <p:extLst>
              <p:ext uri="{D42A27DB-BD31-4B8C-83A1-F6EECF244321}">
                <p14:modId xmlns:p14="http://schemas.microsoft.com/office/powerpoint/2010/main" val="3404977650"/>
              </p:ext>
            </p:extLst>
          </p:nvPr>
        </p:nvGraphicFramePr>
        <p:xfrm>
          <a:off x="143508" y="941070"/>
          <a:ext cx="8856984" cy="3261360"/>
        </p:xfrm>
        <a:graphic>
          <a:graphicData uri="http://schemas.openxmlformats.org/drawingml/2006/table">
            <a:tbl>
              <a:tblPr/>
              <a:tblGrid>
                <a:gridCol w="8856984">
                  <a:extLst>
                    <a:ext uri="{9D8B030D-6E8A-4147-A177-3AD203B41FA5}">
                      <a16:colId xmlns:a16="http://schemas.microsoft.com/office/drawing/2014/main" val="2475269276"/>
                    </a:ext>
                  </a:extLst>
                </a:gridCol>
              </a:tblGrid>
              <a:tr h="0">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GB" sz="1600" b="1" dirty="0"/>
                        <a:t>Membrane potential (V</a:t>
                      </a:r>
                      <a:r>
                        <a:rPr lang="en-GB" sz="1600" b="1" baseline="-25000" dirty="0"/>
                        <a:t>m</a:t>
                      </a:r>
                      <a:r>
                        <a:rPr lang="en-GB" sz="1600" b="1" dirty="0"/>
                        <a:t>): </a:t>
                      </a:r>
                      <a:r>
                        <a:rPr lang="en-GB" sz="1600" dirty="0"/>
                        <a:t>The voltage difference across the cell membrane at any given moment. In a resting neuron, it is approximately </a:t>
                      </a:r>
                      <a:r>
                        <a:rPr lang="en-GB" sz="1600" b="1" dirty="0"/>
                        <a:t>–70 mV</a:t>
                      </a:r>
                      <a:r>
                        <a:rPr lang="en-GB" sz="16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dirty="0"/>
                    </a:p>
                    <a:p>
                      <a:pPr>
                        <a:lnSpc>
                          <a:spcPct val="100000"/>
                        </a:lnSpc>
                        <a:buNone/>
                      </a:pPr>
                      <a:r>
                        <a:rPr lang="en-GB" sz="1600" dirty="0"/>
                        <a:t>2. </a:t>
                      </a:r>
                      <a:r>
                        <a:rPr lang="en-GB" sz="1600" b="1" dirty="0"/>
                        <a:t>Resting membrane potential (RMP):</a:t>
                      </a:r>
                      <a:r>
                        <a:rPr lang="en-GB" sz="1600" dirty="0"/>
                        <a:t>The membrane potential when an excitable cell is at rest. It is mainly determined by </a:t>
                      </a:r>
                      <a:r>
                        <a:rPr lang="en-GB" sz="1600" b="0" dirty="0"/>
                        <a:t>K⁺ movement through K⁺ leak channels, </a:t>
                      </a:r>
                      <a:r>
                        <a:rPr lang="en-GB" sz="1600" dirty="0"/>
                        <a:t>with a smaller contribution from Na⁺.</a:t>
                      </a:r>
                    </a:p>
                    <a:p>
                      <a:pPr>
                        <a:lnSpc>
                          <a:spcPct val="100000"/>
                        </a:lnSpc>
                        <a:buNone/>
                      </a:pPr>
                      <a:endParaRPr lang="en-GB" sz="1600" dirty="0"/>
                    </a:p>
                    <a:p>
                      <a:pPr>
                        <a:lnSpc>
                          <a:spcPct val="100000"/>
                        </a:lnSpc>
                        <a:buNone/>
                      </a:pPr>
                      <a:r>
                        <a:rPr lang="en-GB" sz="1600" dirty="0"/>
                        <a:t>3</a:t>
                      </a:r>
                      <a:r>
                        <a:rPr lang="en-GB" sz="1600" b="1" dirty="0"/>
                        <a:t>. Electrochemical gradient: </a:t>
                      </a:r>
                      <a:r>
                        <a:rPr lang="en-GB" sz="1600" b="0" dirty="0"/>
                        <a:t>The combined effect of the concentration gradient and electrical gradient acting on an ion. Together, they determine the tendency of an ion to move across the membrane.</a:t>
                      </a:r>
                    </a:p>
                    <a:p>
                      <a:pPr>
                        <a:lnSpc>
                          <a:spcPct val="100000"/>
                        </a:lnSpc>
                        <a:buNone/>
                      </a:pPr>
                      <a:endParaRPr lang="en-GB" sz="1600" b="0" dirty="0"/>
                    </a:p>
                    <a:p>
                      <a:pPr>
                        <a:lnSpc>
                          <a:spcPct val="100000"/>
                        </a:lnSpc>
                        <a:buNone/>
                      </a:pPr>
                      <a:r>
                        <a:rPr lang="en-GB" sz="1600" b="0" dirty="0"/>
                        <a:t>4</a:t>
                      </a:r>
                      <a:r>
                        <a:rPr lang="en-GB" sz="1600" b="1" dirty="0"/>
                        <a:t>. Equilibrium potential (E</a:t>
                      </a:r>
                      <a:r>
                        <a:rPr lang="en-GB" sz="1600" b="1" baseline="-25000" dirty="0"/>
                        <a:t>ion</a:t>
                      </a:r>
                      <a:r>
                        <a:rPr lang="en-GB" sz="1600" b="1" dirty="0"/>
                        <a:t>): </a:t>
                      </a:r>
                      <a:r>
                        <a:rPr lang="en-GB" sz="1600" b="0" dirty="0"/>
                        <a:t>The membrane voltage at which the electrical gradient exactly balances the concentration gradient for a particular ion, resulting in no net movement of that ion</a:t>
                      </a:r>
                    </a:p>
                  </a:txBody>
                  <a:tcPr anchor="ctr">
                    <a:lnL>
                      <a:noFill/>
                    </a:lnL>
                    <a:lnR>
                      <a:noFill/>
                    </a:lnR>
                    <a:lnT>
                      <a:noFill/>
                    </a:lnT>
                    <a:lnB>
                      <a:noFill/>
                    </a:lnB>
                    <a:noFill/>
                  </a:tcPr>
                </a:tc>
                <a:extLst>
                  <a:ext uri="{0D108BD9-81ED-4DB2-BD59-A6C34878D82A}">
                    <a16:rowId xmlns:a16="http://schemas.microsoft.com/office/drawing/2014/main" val="3591990177"/>
                  </a:ext>
                </a:extLst>
              </a:tr>
            </a:tbl>
          </a:graphicData>
        </a:graphic>
      </p:graphicFrame>
    </p:spTree>
    <p:extLst>
      <p:ext uri="{BB962C8B-B14F-4D97-AF65-F5344CB8AC3E}">
        <p14:creationId xmlns:p14="http://schemas.microsoft.com/office/powerpoint/2010/main" val="8186571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18A9B-B10F-E665-8563-229C7AC857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71118E-2B0C-289F-AE11-1B26E319531D}"/>
              </a:ext>
            </a:extLst>
          </p:cNvPr>
          <p:cNvSpPr txBox="1"/>
          <p:nvPr/>
        </p:nvSpPr>
        <p:spPr>
          <a:xfrm>
            <a:off x="2411760" y="0"/>
            <a:ext cx="4680520" cy="523220"/>
          </a:xfrm>
          <a:prstGeom prst="rect">
            <a:avLst/>
          </a:prstGeom>
          <a:noFill/>
        </p:spPr>
        <p:txBody>
          <a:bodyPr wrap="square" rtlCol="0">
            <a:spAutoFit/>
          </a:bodyPr>
          <a:lstStyle/>
          <a:p>
            <a:r>
              <a:rPr lang="en-GB" dirty="0">
                <a:solidFill>
                  <a:srgbClr val="0070C0"/>
                </a:solidFill>
              </a:rPr>
              <a:t>Important Terminologies :</a:t>
            </a:r>
          </a:p>
        </p:txBody>
      </p:sp>
      <p:graphicFrame>
        <p:nvGraphicFramePr>
          <p:cNvPr id="7" name="Table 6">
            <a:extLst>
              <a:ext uri="{FF2B5EF4-FFF2-40B4-BE49-F238E27FC236}">
                <a16:creationId xmlns:a16="http://schemas.microsoft.com/office/drawing/2014/main" id="{42E4B152-B471-194E-5C14-8823C8FFB90C}"/>
              </a:ext>
            </a:extLst>
          </p:cNvPr>
          <p:cNvGraphicFramePr>
            <a:graphicFrameLocks noGrp="1"/>
          </p:cNvGraphicFramePr>
          <p:nvPr/>
        </p:nvGraphicFramePr>
        <p:xfrm>
          <a:off x="287016" y="627534"/>
          <a:ext cx="8856984" cy="4023360"/>
        </p:xfrm>
        <a:graphic>
          <a:graphicData uri="http://schemas.openxmlformats.org/drawingml/2006/table">
            <a:tbl>
              <a:tblPr/>
              <a:tblGrid>
                <a:gridCol w="8856984">
                  <a:extLst>
                    <a:ext uri="{9D8B030D-6E8A-4147-A177-3AD203B41FA5}">
                      <a16:colId xmlns:a16="http://schemas.microsoft.com/office/drawing/2014/main" val="2475269276"/>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5. </a:t>
                      </a:r>
                      <a:r>
                        <a:rPr lang="en-GB" sz="1600" b="1" dirty="0"/>
                        <a:t>Threshold: </a:t>
                      </a:r>
                      <a:r>
                        <a:rPr lang="en-GB" sz="1600" b="0" dirty="0"/>
                        <a:t>The critical membrane potential that must be reached to trigger an action potential. In the lecture, it is approximately –55 mV for a typical neuron.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dirty="0"/>
                        <a:t>6. </a:t>
                      </a:r>
                      <a:r>
                        <a:rPr lang="en-GB" sz="1600" b="1" dirty="0"/>
                        <a:t>Inactivation gate: </a:t>
                      </a:r>
                      <a:r>
                        <a:rPr lang="en-GB" sz="1600" b="0" dirty="0"/>
                        <a:t>A part of the voltage-gated Na⁺ channel that closes shortly after the channel opens. It stops further Na⁺ entry and helps terminate the depolarisation phase. The channel must recover from inactivation before it can open normally again.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dirty="0"/>
                        <a:t>7. </a:t>
                      </a:r>
                      <a:r>
                        <a:rPr lang="en-GB" sz="1600" b="1" dirty="0"/>
                        <a:t>Refractory period: </a:t>
                      </a:r>
                      <a:r>
                        <a:rPr lang="en-GB" sz="1600" dirty="0"/>
                        <a:t>The period following an action potential when another action potential is difficult or impossible to generate. Has two types.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b="0" dirty="0"/>
                        <a:t>8. </a:t>
                      </a:r>
                      <a:r>
                        <a:rPr lang="en-GB" sz="1600" b="1" dirty="0"/>
                        <a:t>Saltatory conduction</a:t>
                      </a:r>
                      <a:r>
                        <a:rPr lang="en-GB" sz="1600" dirty="0"/>
                        <a:t>: </a:t>
                      </a:r>
                      <a:r>
                        <a:rPr lang="en-GB" sz="1600" b="0" dirty="0"/>
                        <a:t>In a myelinated axon, the action potential effectively jumps from one node of Ranvier to the next, allowing rapid conduction along the axon.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b="0" dirty="0"/>
                    </a:p>
                    <a:p>
                      <a:pPr marL="0" marR="0" indent="0" algn="l" defTabSz="914400" rtl="0" eaLnBrk="1" fontAlgn="auto" latinLnBrk="0" hangingPunct="1">
                        <a:lnSpc>
                          <a:spcPct val="100000"/>
                        </a:lnSpc>
                        <a:spcBef>
                          <a:spcPts val="0"/>
                        </a:spcBef>
                        <a:spcAft>
                          <a:spcPts val="0"/>
                        </a:spcAft>
                        <a:buClrTx/>
                        <a:buSzTx/>
                        <a:buFontTx/>
                        <a:buNone/>
                        <a:tabLst/>
                        <a:defRPr/>
                      </a:pPr>
                      <a:r>
                        <a:rPr lang="en-GB" sz="1600" b="0" dirty="0"/>
                        <a:t>9. </a:t>
                      </a:r>
                      <a:r>
                        <a:rPr lang="en-MY" sz="1600" b="1" i="0" dirty="0">
                          <a:solidFill>
                            <a:srgbClr val="2E2E2E"/>
                          </a:solidFill>
                          <a:effectLst/>
                          <a:latin typeface="+mn-lt"/>
                        </a:rPr>
                        <a:t>Guillain Barré syndrome (PNS) : </a:t>
                      </a:r>
                      <a:r>
                        <a:rPr lang="en-MY" sz="1600" b="0" i="0" dirty="0">
                          <a:solidFill>
                            <a:srgbClr val="2E2E2E"/>
                          </a:solidFill>
                          <a:effectLst/>
                          <a:latin typeface="+mn-lt"/>
                        </a:rPr>
                        <a:t>Symmetric ascending muscle weakness/paralysis ; </a:t>
                      </a:r>
                      <a:r>
                        <a:rPr lang="en-MY" sz="1600" b="1" i="0" dirty="0">
                          <a:solidFill>
                            <a:srgbClr val="2E2E2E"/>
                          </a:solidFill>
                          <a:effectLst/>
                          <a:latin typeface="+mn-lt"/>
                        </a:rPr>
                        <a:t>Tabes dorsalis : (PNS) : </a:t>
                      </a:r>
                      <a:r>
                        <a:rPr lang="en-MY" sz="1600" b="0" i="0" dirty="0">
                          <a:solidFill>
                            <a:srgbClr val="2E2E2E"/>
                          </a:solidFill>
                          <a:effectLst/>
                          <a:latin typeface="+mn-lt"/>
                        </a:rPr>
                        <a:t>Impaired sensation and proprioception worst in lower extremities.</a:t>
                      </a:r>
                      <a:endParaRPr lang="en-US" sz="1600" b="1"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dirty="0"/>
                    </a:p>
                  </a:txBody>
                  <a:tcPr anchor="ctr">
                    <a:lnL>
                      <a:noFill/>
                    </a:lnL>
                    <a:lnR>
                      <a:noFill/>
                    </a:lnR>
                    <a:lnT>
                      <a:noFill/>
                    </a:lnT>
                    <a:lnB>
                      <a:noFill/>
                    </a:lnB>
                    <a:noFill/>
                  </a:tcPr>
                </a:tc>
                <a:extLst>
                  <a:ext uri="{0D108BD9-81ED-4DB2-BD59-A6C34878D82A}">
                    <a16:rowId xmlns:a16="http://schemas.microsoft.com/office/drawing/2014/main" val="3591990177"/>
                  </a:ext>
                </a:extLst>
              </a:tr>
            </a:tbl>
          </a:graphicData>
        </a:graphic>
      </p:graphicFrame>
    </p:spTree>
    <p:extLst>
      <p:ext uri="{BB962C8B-B14F-4D97-AF65-F5344CB8AC3E}">
        <p14:creationId xmlns:p14="http://schemas.microsoft.com/office/powerpoint/2010/main" val="3815556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on't wait until you are dead to rest in peace">
            <a:extLst>
              <a:ext uri="{FF2B5EF4-FFF2-40B4-BE49-F238E27FC236}">
                <a16:creationId xmlns:a16="http://schemas.microsoft.com/office/drawing/2014/main" id="{A3CE2080-7148-4E6F-B119-FE09E737B3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05" r="26319" b="985"/>
          <a:stretch/>
        </p:blipFill>
        <p:spPr bwMode="auto">
          <a:xfrm>
            <a:off x="4071319" y="0"/>
            <a:ext cx="4876038" cy="51434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470FB38-44A1-4FD2-AC6E-3B4BEF61D795}"/>
              </a:ext>
            </a:extLst>
          </p:cNvPr>
          <p:cNvSpPr txBox="1"/>
          <p:nvPr/>
        </p:nvSpPr>
        <p:spPr>
          <a:xfrm>
            <a:off x="395536" y="1131590"/>
            <a:ext cx="3384376" cy="2403101"/>
          </a:xfrm>
          <a:prstGeom prst="rect">
            <a:avLst/>
          </a:prstGeom>
        </p:spPr>
        <p:txBody>
          <a:bodyPr vert="horz" lIns="68580" tIns="34290" rIns="68580" bIns="34290" rtlCol="0" anchor="b">
            <a:normAutofit/>
          </a:bodyPr>
          <a:lstStyle/>
          <a:p>
            <a:pPr>
              <a:lnSpc>
                <a:spcPct val="90000"/>
              </a:lnSpc>
              <a:spcAft>
                <a:spcPts val="450"/>
              </a:spcAft>
            </a:pPr>
            <a:r>
              <a:rPr lang="en-US" sz="3150" dirty="0">
                <a:latin typeface="+mj-lt"/>
                <a:ea typeface="+mj-ea"/>
                <a:cs typeface="+mj-cs"/>
              </a:rPr>
              <a:t>Let's stop a while, </a:t>
            </a:r>
          </a:p>
          <a:p>
            <a:pPr>
              <a:lnSpc>
                <a:spcPct val="90000"/>
              </a:lnSpc>
              <a:spcAft>
                <a:spcPts val="450"/>
              </a:spcAft>
            </a:pPr>
            <a:r>
              <a:rPr lang="en-US" sz="3150" dirty="0">
                <a:latin typeface="+mj-lt"/>
                <a:ea typeface="+mj-ea"/>
                <a:cs typeface="+mj-cs"/>
              </a:rPr>
              <a:t>Please attempt few questions…..</a:t>
            </a:r>
          </a:p>
        </p:txBody>
      </p:sp>
    </p:spTree>
    <p:extLst>
      <p:ext uri="{BB962C8B-B14F-4D97-AF65-F5344CB8AC3E}">
        <p14:creationId xmlns:p14="http://schemas.microsoft.com/office/powerpoint/2010/main" val="23552656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p:txBody>
          <a:bodyPr/>
          <a:lstStyle>
            <a:defPPr>
              <a:defRPr lang="en-FI"/>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FI"/>
              <a:t>Join the Vevox session   </a:t>
            </a:r>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defPPr>
              <a:defRPr lang="en-FI"/>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FI"/>
              <a:t> </a:t>
            </a:r>
            <a:endParaRPr lang="en-FI" dirty="0"/>
          </a:p>
        </p:txBody>
      </p:sp>
      <p:sp>
        <p:nvSpPr>
          <p:cNvPr id="4" name="TextBox 3">
            <a:extLst>
              <a:ext uri="{FF2B5EF4-FFF2-40B4-BE49-F238E27FC236}">
                <a16:creationId xmlns:a16="http://schemas.microsoft.com/office/drawing/2014/main" id="{9E1FFD8E-078A-42A5-8C56-33E73C1C91AE}"/>
              </a:ext>
            </a:extLst>
          </p:cNvPr>
          <p:cNvSpPr txBox="1"/>
          <p:nvPr>
            <p:custDataLst>
              <p:tags r:id="rId4"/>
            </p:custDataLst>
          </p:nvPr>
        </p:nvSpPr>
        <p:spPr>
          <a:xfrm>
            <a:off x="628650" y="1348740"/>
            <a:ext cx="4711700" cy="3322320"/>
          </a:xfrm>
          <a:prstGeom prst="rect">
            <a:avLst/>
          </a:prstGeom>
          <a:noFill/>
        </p:spPr>
        <p:txBody>
          <a:bodyPr vertOverflow="overflow" vert="horz" wrap="square" rtlCol="0" anchor="t">
            <a:spAutoFit/>
          </a:bodyPr>
          <a:lstStyle/>
          <a:p>
            <a:pPr algn="l"/>
            <a:r>
              <a:rPr lang="en-GB" sz="3500"/>
              <a:t>Go to vevox.app</a:t>
            </a:r>
          </a:p>
          <a:p>
            <a:pPr algn="l"/>
            <a:endParaRPr lang="en-GB" sz="3500"/>
          </a:p>
          <a:p>
            <a:pPr algn="l"/>
            <a:r>
              <a:rPr lang="en-GB" sz="3500"/>
              <a:t>Enter the session ID: 165-606-947</a:t>
            </a:r>
          </a:p>
          <a:p>
            <a:pPr algn="l"/>
            <a:endParaRPr lang="en-GB" sz="3500"/>
          </a:p>
          <a:p>
            <a:pPr algn="l"/>
            <a:r>
              <a:rPr lang="en-GB" sz="3500"/>
              <a:t>Or scan the QR code</a:t>
            </a:r>
          </a:p>
        </p:txBody>
      </p:sp>
      <p:pic>
        <p:nvPicPr>
          <p:cNvPr id="5" name="Picture 4" descr="QR code instruction to join https://vevox.app/#/m/165606947">
            <a:extLst>
              <a:ext uri="{FF2B5EF4-FFF2-40B4-BE49-F238E27FC236}">
                <a16:creationId xmlns:a16="http://schemas.microsoft.com/office/drawing/2014/main" id="{5C0596D5-2787-E2F1-44C7-CC4A1CED85F1}"/>
              </a:ext>
            </a:extLst>
          </p:cNvPr>
          <p:cNvPicPr>
            <a:picLocks/>
          </p:cNvPicPr>
          <p:nvPr>
            <p:custDataLst>
              <p:tags r:id="rId5"/>
            </p:custDataLst>
          </p:nvPr>
        </p:nvPicPr>
        <p:blipFill>
          <a:blip r:embed="rId8"/>
          <a:stretch>
            <a:fillRect/>
          </a:stretch>
        </p:blipFill>
        <p:spPr>
          <a:xfrm>
            <a:off x="5340350" y="226060"/>
            <a:ext cx="3175000" cy="3175000"/>
          </a:xfrm>
          <a:prstGeom prst="rect">
            <a:avLst/>
          </a:prstGeom>
        </p:spPr>
      </p:pic>
    </p:spTree>
    <p:custDataLst>
      <p:tags r:id="rId1"/>
    </p:custDataLst>
    <p:extLst>
      <p:ext uri="{BB962C8B-B14F-4D97-AF65-F5344CB8AC3E}">
        <p14:creationId xmlns:p14="http://schemas.microsoft.com/office/powerpoint/2010/main" val="16353774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FD13D-19D1-5808-8BDA-1C4A3FD8CC5F}"/>
              </a:ext>
            </a:extLst>
          </p:cNvPr>
          <p:cNvSpPr>
            <a:spLocks noGrp="1"/>
          </p:cNvSpPr>
          <p:nvPr>
            <p:ph type="title"/>
          </p:nvPr>
        </p:nvSpPr>
        <p:spPr/>
        <p:txBody>
          <a:bodyPr/>
          <a:lstStyle/>
          <a:p>
            <a:endParaRPr lang="en-GB" dirty="0"/>
          </a:p>
        </p:txBody>
      </p:sp>
      <p:sp>
        <p:nvSpPr>
          <p:cNvPr id="4" name="TextBox 3">
            <a:extLst>
              <a:ext uri="{FF2B5EF4-FFF2-40B4-BE49-F238E27FC236}">
                <a16:creationId xmlns:a16="http://schemas.microsoft.com/office/drawing/2014/main" id="{DB316FA7-B2A8-7BCE-822C-41F1F798164D}"/>
              </a:ext>
            </a:extLst>
          </p:cNvPr>
          <p:cNvSpPr txBox="1"/>
          <p:nvPr/>
        </p:nvSpPr>
        <p:spPr>
          <a:xfrm>
            <a:off x="2555776" y="1707654"/>
            <a:ext cx="3816424" cy="1478418"/>
          </a:xfrm>
          <a:prstGeom prst="rect">
            <a:avLst/>
          </a:prstGeom>
          <a:noFill/>
        </p:spPr>
        <p:txBody>
          <a:bodyPr wrap="square" rtlCol="0">
            <a:spAutoFit/>
          </a:bodyPr>
          <a:lstStyle/>
          <a:p>
            <a:pPr algn="ctr">
              <a:lnSpc>
                <a:spcPct val="150000"/>
              </a:lnSpc>
            </a:pPr>
            <a:r>
              <a:rPr lang="en-GB" sz="3200" dirty="0">
                <a:solidFill>
                  <a:srgbClr val="FF0000"/>
                </a:solidFill>
              </a:rPr>
              <a:t>Thank you. </a:t>
            </a:r>
          </a:p>
          <a:p>
            <a:pPr algn="ctr">
              <a:lnSpc>
                <a:spcPct val="150000"/>
              </a:lnSpc>
            </a:pPr>
            <a:r>
              <a:rPr lang="en-GB" sz="3200" dirty="0">
                <a:solidFill>
                  <a:srgbClr val="FF0000"/>
                </a:solidFill>
              </a:rPr>
              <a:t>Any questions??</a:t>
            </a:r>
          </a:p>
        </p:txBody>
      </p:sp>
    </p:spTree>
    <p:extLst>
      <p:ext uri="{BB962C8B-B14F-4D97-AF65-F5344CB8AC3E}">
        <p14:creationId xmlns:p14="http://schemas.microsoft.com/office/powerpoint/2010/main" val="23374280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EVOX.CONNECTED.SESSION" val="{&quot;access_code&quot;:&quot;165606947&quot;,&quot;project_id&quot;:920478}"/>
</p:tagLst>
</file>

<file path=ppt/tags/tag2.xml><?xml version="1.0" encoding="utf-8"?>
<p:tagLst xmlns:a="http://schemas.openxmlformats.org/drawingml/2006/main" xmlns:r="http://schemas.openxmlformats.org/officeDocument/2006/relationships" xmlns:p="http://schemas.openxmlformats.org/presentationml/2006/main">
  <p:tag name="VEVOX.QR.DIMENSIONS" val="0"/>
  <p:tag name="VEVOX.INSTRUCTIONS.V2" val="165606947"/>
</p:tagLst>
</file>

<file path=ppt/tags/tag3.xml><?xml version="1.0" encoding="utf-8"?>
<p:tagLst xmlns:a="http://schemas.openxmlformats.org/drawingml/2006/main" xmlns:r="http://schemas.openxmlformats.org/officeDocument/2006/relationships" xmlns:p="http://schemas.openxmlformats.org/presentationml/2006/main">
  <p:tag name="VEVOX.INSTRUCTIONSLIDE" val="join_instructions_title"/>
</p:tagLst>
</file>

<file path=ppt/tags/tag4.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5.xml><?xml version="1.0" encoding="utf-8"?>
<p:tagLst xmlns:a="http://schemas.openxmlformats.org/drawingml/2006/main" xmlns:r="http://schemas.openxmlformats.org/officeDocument/2006/relationships" xmlns:p="http://schemas.openxmlformats.org/presentationml/2006/main">
  <p:tag name="VEVOX.INSTRUCTION.TEXT" val="join_instructions_text"/>
</p:tagLst>
</file>

<file path=ppt/tags/tag6.xml><?xml version="1.0" encoding="utf-8"?>
<p:tagLst xmlns:a="http://schemas.openxmlformats.org/drawingml/2006/main" xmlns:r="http://schemas.openxmlformats.org/officeDocument/2006/relationships" xmlns:p="http://schemas.openxmlformats.org/presentationml/2006/main">
  <p:tag name="VEVOX.QR.IMAGE" val="x"/>
</p:tagLst>
</file>

<file path=ppt/tags/tag7.xml><?xml version="1.0" encoding="utf-8"?>
<p:tagLst xmlns:a="http://schemas.openxmlformats.org/drawingml/2006/main" xmlns:r="http://schemas.openxmlformats.org/officeDocument/2006/relationships" xmlns:p="http://schemas.openxmlformats.org/presentationml/2006/main">
  <p:tag name="VEVOX.QR.DIMENSIONS" val="0"/>
  <p:tag name="VEVOX.INSTRUCTIONS.V2" val="165606947"/>
</p:tagLst>
</file>

<file path=ppt/tags/tag8.xml><?xml version="1.0" encoding="utf-8"?>
<p:tagLst xmlns:a="http://schemas.openxmlformats.org/drawingml/2006/main" xmlns:r="http://schemas.openxmlformats.org/officeDocument/2006/relationships" xmlns:p="http://schemas.openxmlformats.org/presentationml/2006/main">
  <p:tag name="VEVOX.INSTRUCTIONSLIDE" val="join_instructions_title"/>
</p:tagLst>
</file>

<file path=ppt/tags/tag9.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10.xml><?xml version="1.0" encoding="utf-8"?>
<p:tagLst xmlns:a="http://schemas.openxmlformats.org/drawingml/2006/main" xmlns:r="http://schemas.openxmlformats.org/officeDocument/2006/relationships" xmlns:p="http://schemas.openxmlformats.org/presentationml/2006/main">
  <p:tag name="VEVOX.INSTRUCTION.TEXT" val="join_instructions_text"/>
</p:tagLst>
</file>

<file path=ppt/tags/tag11.xml><?xml version="1.0" encoding="utf-8"?>
<p:tagLst xmlns:a="http://schemas.openxmlformats.org/drawingml/2006/main" xmlns:r="http://schemas.openxmlformats.org/officeDocument/2006/relationships" xmlns:p="http://schemas.openxmlformats.org/presentationml/2006/main">
  <p:tag name="VEVOX.QR.IMAGE" val="x"/>
</p:tagLst>
</file>

<file path=ppt/theme/theme1.xml><?xml version="1.0" encoding="utf-8"?>
<a:theme xmlns:a="http://schemas.openxmlformats.org/drawingml/2006/main" name="Default Design">
  <a:themeElements>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fontScheme name="Default Desig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0AFDE7-90CA-47B8-9D13-3DE1F8311764}">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2668</TotalTime>
  <Words>4636</Words>
  <Application>Microsoft Office PowerPoint</Application>
  <PresentationFormat>On-screen Show (16:9)</PresentationFormat>
  <Paragraphs>845</Paragraphs>
  <Slides>79</Slides>
  <Notes>65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79</vt:i4>
      </vt:variant>
    </vt:vector>
  </HeadingPairs>
  <TitlesOfParts>
    <vt:vector size="90" baseType="lpstr">
      <vt:lpstr>Arial</vt:lpstr>
      <vt:lpstr>Arial Rounded MT Bold</vt:lpstr>
      <vt:lpstr>Calibri</vt:lpstr>
      <vt:lpstr>Candara</vt:lpstr>
      <vt:lpstr>Georgia</vt:lpstr>
      <vt:lpstr>Helvetica</vt:lpstr>
      <vt:lpstr>NexusSansWebPro</vt:lpstr>
      <vt:lpstr>Symbol</vt:lpstr>
      <vt:lpstr>Times New Roman</vt:lpstr>
      <vt:lpstr>Wingdings</vt:lpstr>
      <vt:lpstr>Default Design</vt:lpstr>
      <vt:lpstr>PowerPoint Presentation</vt:lpstr>
      <vt:lpstr>Learning Outcome</vt:lpstr>
      <vt:lpstr>What we will cover for membrane potential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Membrane potential (Vm)</vt:lpstr>
      <vt:lpstr>ICF versus ECF</vt:lpstr>
      <vt:lpstr>PowerPoint Presentation</vt:lpstr>
      <vt:lpstr>PowerPoint Presentation</vt:lpstr>
      <vt:lpstr>PowerPoint Presentation</vt:lpstr>
      <vt:lpstr>PowerPoint Presentation</vt:lpstr>
      <vt:lpstr>This unequal distribution of ions leads to a slight negative charge inside the membrane -- the Resting Membrane Potential (RMP)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equilibrium potential (Eion) can be determined:</vt:lpstr>
      <vt:lpstr>PowerPoint Presentation</vt:lpstr>
      <vt:lpstr>Equilibrium potentials, Eion are different for each ion</vt:lpstr>
      <vt:lpstr>PowerPoint Presentation</vt:lpstr>
      <vt:lpstr>All the potentials generated by the different ion gradients sum to give the Resting Membrane Potential (RMP) of the entire membrane</vt:lpstr>
      <vt:lpstr>PowerPoint Presentation</vt:lpstr>
      <vt:lpstr>Why is membrane potential important?</vt:lpstr>
      <vt:lpstr>Resting Membrane Potential</vt:lpstr>
      <vt:lpstr>PowerPoint Presentation</vt:lpstr>
      <vt:lpstr>Join the Vevox session </vt:lpstr>
      <vt:lpstr>PowerPoint Presentation</vt:lpstr>
      <vt:lpstr>Aims for this session…</vt:lpstr>
      <vt:lpstr>What determines how a neuronal cell responds to electrical activation?</vt:lpstr>
      <vt:lpstr>What determines how a neuronal cell responds to electrical activation?</vt:lpstr>
      <vt:lpstr>Transient increase in Na+ permeability underlies the generation of the action potential</vt:lpstr>
      <vt:lpstr>All or nothing…</vt:lpstr>
      <vt:lpstr>What is an action potential?</vt:lpstr>
      <vt:lpstr>Ionic currents cross the membrane through voltage-gated channels:</vt:lpstr>
      <vt:lpstr>PowerPoint Presentation</vt:lpstr>
      <vt:lpstr>What is an action potential?</vt:lpstr>
      <vt:lpstr>The voltage-gated Na+ channel: (Your note)</vt:lpstr>
      <vt:lpstr>The voltage-gated Na+ channel:</vt:lpstr>
      <vt:lpstr>The voltage-gated Na+ channel:</vt:lpstr>
      <vt:lpstr>The voltage-gated K+ channel:</vt:lpstr>
      <vt:lpstr>The voltage-gated K+ channel:</vt:lpstr>
      <vt:lpstr>During the action potential the cell is refractory to further action potentials…</vt:lpstr>
      <vt:lpstr> The absolute refractory period:</vt:lpstr>
      <vt:lpstr>PowerPoint Presentation</vt:lpstr>
      <vt:lpstr>Where does the action potential start?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are refractory periods important?</vt:lpstr>
      <vt:lpstr>How fast does the action potential travel?</vt:lpstr>
      <vt:lpstr>How fast does the action potential travel?</vt:lpstr>
      <vt:lpstr>PowerPoint Presentation</vt:lpstr>
      <vt:lpstr>PowerPoint Presentation</vt:lpstr>
      <vt:lpstr>In a myelinated axon: (Some facts)</vt:lpstr>
      <vt:lpstr>PowerPoint Presentation</vt:lpstr>
      <vt:lpstr>PowerPoint Presentation</vt:lpstr>
      <vt:lpstr>PowerPoint Presentation</vt:lpstr>
      <vt:lpstr>PowerPoint Presentation</vt:lpstr>
      <vt:lpstr>PowerPoint Presentation</vt:lpstr>
      <vt:lpstr>Join the Vevox session   </vt:lpstr>
      <vt:lpstr>PowerPoint Presentation</vt:lpstr>
    </vt:vector>
  </TitlesOfParts>
  <Company>The University of Birmingham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Design and Publications</dc:creator>
  <cp:lastModifiedBy>Ratnadeep Saha (Biomedical Sciences)</cp:lastModifiedBy>
  <cp:revision>98</cp:revision>
  <cp:lastPrinted>2019-07-31T08:58:40Z</cp:lastPrinted>
  <dcterms:created xsi:type="dcterms:W3CDTF">2005-06-08T11:15:47Z</dcterms:created>
  <dcterms:modified xsi:type="dcterms:W3CDTF">2026-09-10T05:22:43Z</dcterms:modified>
</cp:coreProperties>
</file>