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2"/>
  </p:notesMasterIdLst>
  <p:sldIdLst>
    <p:sldId id="425" r:id="rId2"/>
    <p:sldId id="426" r:id="rId3"/>
    <p:sldId id="289" r:id="rId4"/>
    <p:sldId id="259" r:id="rId5"/>
    <p:sldId id="296" r:id="rId6"/>
    <p:sldId id="459" r:id="rId7"/>
    <p:sldId id="460" r:id="rId8"/>
    <p:sldId id="458" r:id="rId9"/>
    <p:sldId id="462" r:id="rId10"/>
    <p:sldId id="290" r:id="rId11"/>
    <p:sldId id="262" r:id="rId12"/>
    <p:sldId id="263" r:id="rId13"/>
    <p:sldId id="264" r:id="rId14"/>
    <p:sldId id="265" r:id="rId15"/>
    <p:sldId id="291" r:id="rId16"/>
    <p:sldId id="457" r:id="rId17"/>
    <p:sldId id="428" r:id="rId18"/>
    <p:sldId id="297" r:id="rId19"/>
    <p:sldId id="266" r:id="rId20"/>
    <p:sldId id="267" r:id="rId21"/>
    <p:sldId id="285"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6" r:id="rId36"/>
    <p:sldId id="430" r:id="rId37"/>
    <p:sldId id="431" r:id="rId38"/>
    <p:sldId id="432" r:id="rId39"/>
    <p:sldId id="433" r:id="rId40"/>
    <p:sldId id="294" r:id="rId41"/>
    <p:sldId id="434" r:id="rId42"/>
    <p:sldId id="435" r:id="rId43"/>
    <p:sldId id="429" r:id="rId44"/>
    <p:sldId id="282" r:id="rId45"/>
    <p:sldId id="283" r:id="rId46"/>
    <p:sldId id="436" r:id="rId47"/>
    <p:sldId id="287" r:id="rId48"/>
    <p:sldId id="461" r:id="rId49"/>
    <p:sldId id="456" r:id="rId50"/>
    <p:sldId id="312" r:id="rId51"/>
  </p:sldIdLst>
  <p:sldSz cx="9144000" cy="6858000" type="screen4x3"/>
  <p:notesSz cx="6858000" cy="9144000"/>
  <p:embeddedFontLst>
    <p:embeddedFont>
      <p:font typeface="Arial Rounded MT Bold" panose="020F0704030504030204" pitchFamily="34" charset="0"/>
      <p:regular r:id="rId53"/>
    </p:embeddedFont>
    <p:embeddedFont>
      <p:font typeface="Baskerville Old Face" panose="02020602080505020303" pitchFamily="18" charset="0"/>
      <p:regular r:id="rId54"/>
    </p:embeddedFont>
    <p:embeddedFont>
      <p:font typeface="Helvetica" panose="020B0604020202020204" pitchFamily="34" charset="0"/>
      <p:regular r:id="rId55"/>
      <p:bold r:id="rId56"/>
      <p:italic r:id="rId57"/>
      <p:boldItalic r:id="rId58"/>
    </p:embeddedFont>
  </p:embeddedFontLst>
  <p:custDataLst>
    <p:tags r:id="rId5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6EC092-4C51-4501-B27D-6BF61E603694}" v="6" dt="2025-09-25T07:20:48.749"/>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800"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2078A4-00A9-45A1-AA51-012FB91F8F8C}" type="datetimeFigureOut">
              <a:rPr lang="en-GB" smtClean="0"/>
              <a:t>26/09/2026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59E618-7077-4B6D-8857-45A0BA2E13B7}" type="slidenum">
              <a:rPr lang="en-GB" smtClean="0"/>
              <a:t>‹#›</a:t>
            </a:fld>
            <a:endParaRPr lang="en-GB"/>
          </a:p>
        </p:txBody>
      </p:sp>
    </p:spTree>
    <p:extLst>
      <p:ext uri="{BB962C8B-B14F-4D97-AF65-F5344CB8AC3E}">
        <p14:creationId xmlns:p14="http://schemas.microsoft.com/office/powerpoint/2010/main" val="362865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5D149E-358D-2440-BDD5-072440F2B74A}" type="slidenum">
              <a:rPr lang="en-US" smtClean="0"/>
              <a:t>1</a:t>
            </a:fld>
            <a:endParaRPr lang="en-US"/>
          </a:p>
        </p:txBody>
      </p:sp>
    </p:spTree>
    <p:extLst>
      <p:ext uri="{BB962C8B-B14F-4D97-AF65-F5344CB8AC3E}">
        <p14:creationId xmlns:p14="http://schemas.microsoft.com/office/powerpoint/2010/main" val="3986239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EE9547B-B0C5-4B79-AE8B-7C79FE7505D0}" type="slidenum">
              <a:rPr lang="en-GB" smtClean="0"/>
              <a:t>2</a:t>
            </a:fld>
            <a:endParaRPr lang="en-GB"/>
          </a:p>
        </p:txBody>
      </p:sp>
    </p:spTree>
    <p:extLst>
      <p:ext uri="{BB962C8B-B14F-4D97-AF65-F5344CB8AC3E}">
        <p14:creationId xmlns:p14="http://schemas.microsoft.com/office/powerpoint/2010/main" val="3301755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3359E618-7077-4B6D-8857-45A0BA2E13B7}" type="slidenum">
              <a:rPr lang="en-GB" smtClean="0"/>
              <a:t>3</a:t>
            </a:fld>
            <a:endParaRPr lang="en-GB"/>
          </a:p>
        </p:txBody>
      </p:sp>
    </p:spTree>
    <p:extLst>
      <p:ext uri="{BB962C8B-B14F-4D97-AF65-F5344CB8AC3E}">
        <p14:creationId xmlns:p14="http://schemas.microsoft.com/office/powerpoint/2010/main" val="2205114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junction between</a:t>
            </a:r>
            <a:r>
              <a:rPr lang="en-GB" baseline="0" dirty="0"/>
              <a:t> a </a:t>
            </a:r>
            <a:r>
              <a:rPr lang="en-GB" b="1" baseline="0" dirty="0"/>
              <a:t>motor neurone (alpha motor) </a:t>
            </a:r>
            <a:r>
              <a:rPr lang="en-GB" baseline="0" dirty="0"/>
              <a:t>and the corresponding muscle is called </a:t>
            </a:r>
            <a:r>
              <a:rPr lang="en-GB" baseline="0" dirty="0" err="1"/>
              <a:t>myo</a:t>
            </a:r>
            <a:r>
              <a:rPr lang="en-GB" baseline="0" dirty="0"/>
              <a:t> neuronal junction (MEP/NMJ). It is a </a:t>
            </a:r>
            <a:r>
              <a:rPr lang="en-GB" dirty="0"/>
              <a:t>Specialised form of synapse and best understood one due to its easy access.</a:t>
            </a:r>
          </a:p>
          <a:p>
            <a:r>
              <a:rPr lang="en-GB" b="1" dirty="0"/>
              <a:t>Motor</a:t>
            </a:r>
            <a:r>
              <a:rPr lang="en-GB" b="1" baseline="0" dirty="0"/>
              <a:t> Unit:  When a </a:t>
            </a:r>
            <a:r>
              <a:rPr lang="en-GB" baseline="0" dirty="0"/>
              <a:t> single motor nerve, with its terminal branches keeps close contact with a number of muscle </a:t>
            </a:r>
            <a:r>
              <a:rPr lang="en-GB" baseline="0" dirty="0" err="1"/>
              <a:t>fiber</a:t>
            </a:r>
            <a:r>
              <a:rPr lang="en-GB" baseline="0" dirty="0"/>
              <a:t> it innervates, then the connections so supplied are called as Motor Units for that neurone.</a:t>
            </a:r>
            <a:endParaRPr lang="en-GB" dirty="0"/>
          </a:p>
          <a:p>
            <a:r>
              <a:rPr lang="en-GB" dirty="0"/>
              <a:t>For those muscles which are required for postural activity or strength generation, the number of single nerve innervating concerned muscles is</a:t>
            </a:r>
            <a:r>
              <a:rPr lang="en-GB" baseline="0" dirty="0"/>
              <a:t> large in number (Hundreds to thousands) whereas for precision movements (muscles needed during writing, eye movements </a:t>
            </a:r>
            <a:r>
              <a:rPr lang="en-GB" baseline="0" dirty="0" err="1"/>
              <a:t>etc</a:t>
            </a:r>
            <a:r>
              <a:rPr lang="en-GB" baseline="0" dirty="0"/>
              <a:t>) innervation of a single nerve to muscles is few. </a:t>
            </a:r>
            <a:endParaRPr lang="en-GB" dirty="0"/>
          </a:p>
          <a:p>
            <a:endParaRPr lang="en-GB" dirty="0"/>
          </a:p>
        </p:txBody>
      </p:sp>
      <p:sp>
        <p:nvSpPr>
          <p:cNvPr id="4" name="Slide Number Placeholder 3"/>
          <p:cNvSpPr>
            <a:spLocks noGrp="1"/>
          </p:cNvSpPr>
          <p:nvPr>
            <p:ph type="sldNum" sz="quarter" idx="10"/>
          </p:nvPr>
        </p:nvSpPr>
        <p:spPr/>
        <p:txBody>
          <a:bodyPr/>
          <a:lstStyle/>
          <a:p>
            <a:fld id="{3359E618-7077-4B6D-8857-45A0BA2E13B7}" type="slidenum">
              <a:rPr lang="en-GB" smtClean="0"/>
              <a:t>4</a:t>
            </a:fld>
            <a:endParaRPr lang="en-GB"/>
          </a:p>
        </p:txBody>
      </p:sp>
    </p:spTree>
    <p:extLst>
      <p:ext uri="{BB962C8B-B14F-4D97-AF65-F5344CB8AC3E}">
        <p14:creationId xmlns:p14="http://schemas.microsoft.com/office/powerpoint/2010/main" val="1503837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59E618-7077-4B6D-8857-45A0BA2E13B7}" type="slidenum">
              <a:rPr lang="en-GB" smtClean="0"/>
              <a:t>7</a:t>
            </a:fld>
            <a:endParaRPr lang="en-GB"/>
          </a:p>
        </p:txBody>
      </p:sp>
    </p:spTree>
    <p:extLst>
      <p:ext uri="{BB962C8B-B14F-4D97-AF65-F5344CB8AC3E}">
        <p14:creationId xmlns:p14="http://schemas.microsoft.com/office/powerpoint/2010/main" val="154289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frog gastrocnemius is a </a:t>
            </a:r>
            <a:r>
              <a:rPr lang="en-GB" sz="1200" b="1" i="0" kern="1200" dirty="0">
                <a:solidFill>
                  <a:schemeClr val="tx1"/>
                </a:solidFill>
                <a:effectLst/>
                <a:latin typeface="+mn-lt"/>
                <a:ea typeface="+mn-ea"/>
                <a:cs typeface="+mn-cs"/>
              </a:rPr>
              <a:t>mixed muscle</a:t>
            </a:r>
            <a:r>
              <a:rPr lang="en-GB" sz="1200" b="0" i="0" kern="1200" dirty="0">
                <a:solidFill>
                  <a:schemeClr val="tx1"/>
                </a:solidFill>
                <a:effectLst/>
                <a:latin typeface="+mn-lt"/>
                <a:ea typeface="+mn-ea"/>
                <a:cs typeface="+mn-cs"/>
              </a:rPr>
              <a:t> but is </a:t>
            </a:r>
            <a:r>
              <a:rPr lang="en-GB" sz="1200" b="1" i="0" kern="1200" dirty="0">
                <a:solidFill>
                  <a:schemeClr val="tx1"/>
                </a:solidFill>
                <a:effectLst/>
                <a:latin typeface="+mn-lt"/>
                <a:ea typeface="+mn-ea"/>
                <a:cs typeface="+mn-cs"/>
              </a:rPr>
              <a:t>predominantly composed of fast-twitch (Type II) </a:t>
            </a:r>
            <a:r>
              <a:rPr lang="en-GB" sz="1200" b="1"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(~80%). It contains a small population of slow-twitch (Type I) </a:t>
            </a:r>
            <a:r>
              <a:rPr lang="en-GB" sz="1200" b="0" i="0" kern="1200" dirty="0" err="1">
                <a:solidFill>
                  <a:schemeClr val="tx1"/>
                </a:solidFill>
                <a:effectLst/>
                <a:latin typeface="+mn-lt"/>
                <a:ea typeface="+mn-ea"/>
                <a:cs typeface="+mn-cs"/>
              </a:rPr>
              <a:t>fibers</a:t>
            </a:r>
            <a:r>
              <a:rPr lang="en-GB" sz="1200" b="0" i="0" kern="1200" dirty="0">
                <a:solidFill>
                  <a:schemeClr val="tx1"/>
                </a:solidFill>
                <a:effectLst/>
                <a:latin typeface="+mn-lt"/>
                <a:ea typeface="+mn-ea"/>
                <a:cs typeface="+mn-cs"/>
              </a:rPr>
              <a:t> (~20%)</a:t>
            </a:r>
          </a:p>
        </p:txBody>
      </p:sp>
      <p:sp>
        <p:nvSpPr>
          <p:cNvPr id="4" name="Slide Number Placeholder 3"/>
          <p:cNvSpPr>
            <a:spLocks noGrp="1"/>
          </p:cNvSpPr>
          <p:nvPr>
            <p:ph type="sldNum" sz="quarter" idx="5"/>
          </p:nvPr>
        </p:nvSpPr>
        <p:spPr/>
        <p:txBody>
          <a:bodyPr/>
          <a:lstStyle/>
          <a:p>
            <a:fld id="{3359E618-7077-4B6D-8857-45A0BA2E13B7}" type="slidenum">
              <a:rPr lang="en-GB" smtClean="0"/>
              <a:t>8</a:t>
            </a:fld>
            <a:endParaRPr lang="en-GB"/>
          </a:p>
        </p:txBody>
      </p:sp>
    </p:spTree>
    <p:extLst>
      <p:ext uri="{BB962C8B-B14F-4D97-AF65-F5344CB8AC3E}">
        <p14:creationId xmlns:p14="http://schemas.microsoft.com/office/powerpoint/2010/main" val="4217203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This is typical structure of a NM junction. Please consider any standard physiology book to see the details. You need to know the components mainly (presynaptic area, synaptic cleft area and post synaptic area) and some of their functions. The most relevant and important aspects are mentioned in the consecutive slides.</a:t>
            </a:r>
          </a:p>
        </p:txBody>
      </p:sp>
      <p:sp>
        <p:nvSpPr>
          <p:cNvPr id="4" name="Slide Number Placeholder 3"/>
          <p:cNvSpPr>
            <a:spLocks noGrp="1"/>
          </p:cNvSpPr>
          <p:nvPr>
            <p:ph type="sldNum" sz="quarter" idx="10"/>
          </p:nvPr>
        </p:nvSpPr>
        <p:spPr/>
        <p:txBody>
          <a:bodyPr/>
          <a:lstStyle/>
          <a:p>
            <a:fld id="{3359E618-7077-4B6D-8857-45A0BA2E13B7}" type="slidenum">
              <a:rPr lang="en-GB" smtClean="0"/>
              <a:t>10</a:t>
            </a:fld>
            <a:endParaRPr lang="en-GB"/>
          </a:p>
        </p:txBody>
      </p:sp>
    </p:spTree>
    <p:extLst>
      <p:ext uri="{BB962C8B-B14F-4D97-AF65-F5344CB8AC3E}">
        <p14:creationId xmlns:p14="http://schemas.microsoft.com/office/powerpoint/2010/main" val="3315938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3359E618-7077-4B6D-8857-45A0BA2E13B7}" type="slidenum">
              <a:rPr lang="en-GB" smtClean="0"/>
              <a:t>12</a:t>
            </a:fld>
            <a:endParaRPr lang="en-GB"/>
          </a:p>
        </p:txBody>
      </p:sp>
    </p:spTree>
    <p:extLst>
      <p:ext uri="{BB962C8B-B14F-4D97-AF65-F5344CB8AC3E}">
        <p14:creationId xmlns:p14="http://schemas.microsoft.com/office/powerpoint/2010/main" val="480015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SNARE=Soluble</a:t>
            </a:r>
            <a:r>
              <a:rPr lang="en-US" baseline="0" dirty="0"/>
              <a:t> N </a:t>
            </a:r>
            <a:r>
              <a:rPr lang="en-US" baseline="0" dirty="0" err="1"/>
              <a:t>ethylmaleimide</a:t>
            </a:r>
            <a:r>
              <a:rPr lang="en-US" baseline="0" dirty="0"/>
              <a:t>-sensitive fusion protein attachment </a:t>
            </a:r>
            <a:r>
              <a:rPr lang="en-US" baseline="0"/>
              <a:t>protein receptor</a:t>
            </a:r>
            <a:endParaRPr lang="en-GB" dirty="0"/>
          </a:p>
        </p:txBody>
      </p:sp>
      <p:sp>
        <p:nvSpPr>
          <p:cNvPr id="4" name="Slide Number Placeholder 3"/>
          <p:cNvSpPr>
            <a:spLocks noGrp="1"/>
          </p:cNvSpPr>
          <p:nvPr>
            <p:ph type="sldNum" sz="quarter" idx="10"/>
          </p:nvPr>
        </p:nvSpPr>
        <p:spPr/>
        <p:txBody>
          <a:bodyPr/>
          <a:lstStyle/>
          <a:p>
            <a:fld id="{3359E618-7077-4B6D-8857-45A0BA2E13B7}" type="slidenum">
              <a:rPr lang="en-GB" smtClean="0"/>
              <a:t>15</a:t>
            </a:fld>
            <a:endParaRPr lang="en-GB"/>
          </a:p>
        </p:txBody>
      </p:sp>
    </p:spTree>
    <p:extLst>
      <p:ext uri="{BB962C8B-B14F-4D97-AF65-F5344CB8AC3E}">
        <p14:creationId xmlns:p14="http://schemas.microsoft.com/office/powerpoint/2010/main" val="3034677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E3111-5871-2E25-1214-8412FD6A7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3FC95-AC1B-59F5-138E-50A44EEF7A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D6CBC-82DB-2026-991F-5BF218901C0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F95BFA8-1EE0-C13F-0538-A00008A059A7}"/>
              </a:ext>
            </a:extLst>
          </p:cNvPr>
          <p:cNvSpPr>
            <a:spLocks noGrp="1"/>
          </p:cNvSpPr>
          <p:nvPr>
            <p:ph type="sldNum" sz="quarter" idx="10"/>
          </p:nvPr>
        </p:nvSpPr>
        <p:spPr/>
        <p:txBody>
          <a:bodyPr/>
          <a:lstStyle/>
          <a:p>
            <a:fld id="{0EE9547B-B0C5-4B79-AE8B-7C79FE7505D0}" type="slidenum">
              <a:rPr lang="en-GB" smtClean="0"/>
              <a:t>17</a:t>
            </a:fld>
            <a:endParaRPr lang="en-GB"/>
          </a:p>
        </p:txBody>
      </p:sp>
    </p:spTree>
    <p:extLst>
      <p:ext uri="{BB962C8B-B14F-4D97-AF65-F5344CB8AC3E}">
        <p14:creationId xmlns:p14="http://schemas.microsoft.com/office/powerpoint/2010/main" val="3347647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a:p>
            <a:br>
              <a:rPr lang="en-GB" dirty="0"/>
            </a:br>
            <a:endParaRPr lang="en-GB" dirty="0"/>
          </a:p>
        </p:txBody>
      </p:sp>
      <p:sp>
        <p:nvSpPr>
          <p:cNvPr id="4" name="Slide Number Placeholder 3"/>
          <p:cNvSpPr>
            <a:spLocks noGrp="1"/>
          </p:cNvSpPr>
          <p:nvPr>
            <p:ph type="sldNum" sz="quarter" idx="5"/>
          </p:nvPr>
        </p:nvSpPr>
        <p:spPr/>
        <p:txBody>
          <a:bodyPr/>
          <a:lstStyle/>
          <a:p>
            <a:fld id="{3359E618-7077-4B6D-8857-45A0BA2E13B7}" type="slidenum">
              <a:rPr lang="en-GB" smtClean="0"/>
              <a:t>21</a:t>
            </a:fld>
            <a:endParaRPr lang="en-GB"/>
          </a:p>
        </p:txBody>
      </p:sp>
    </p:spTree>
    <p:extLst>
      <p:ext uri="{BB962C8B-B14F-4D97-AF65-F5344CB8AC3E}">
        <p14:creationId xmlns:p14="http://schemas.microsoft.com/office/powerpoint/2010/main" val="2776632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3359E618-7077-4B6D-8857-45A0BA2E13B7}" type="slidenum">
              <a:rPr lang="en-GB" smtClean="0"/>
              <a:t>28</a:t>
            </a:fld>
            <a:endParaRPr lang="en-GB"/>
          </a:p>
        </p:txBody>
      </p:sp>
    </p:spTree>
    <p:extLst>
      <p:ext uri="{BB962C8B-B14F-4D97-AF65-F5344CB8AC3E}">
        <p14:creationId xmlns:p14="http://schemas.microsoft.com/office/powerpoint/2010/main" val="420930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When the EPP reaches to -15 mv to nearby region of </a:t>
            </a:r>
            <a:r>
              <a:rPr lang="en-MY" dirty="0" err="1"/>
              <a:t>myoneuronal</a:t>
            </a:r>
            <a:r>
              <a:rPr lang="en-MY" dirty="0"/>
              <a:t> junction, it supports the potential to go up further to initiate fully function action potential because of the activation of nearby voltage gated Na channels. </a:t>
            </a:r>
          </a:p>
        </p:txBody>
      </p:sp>
      <p:sp>
        <p:nvSpPr>
          <p:cNvPr id="4" name="Slide Number Placeholder 3"/>
          <p:cNvSpPr>
            <a:spLocks noGrp="1"/>
          </p:cNvSpPr>
          <p:nvPr>
            <p:ph type="sldNum" sz="quarter" idx="5"/>
          </p:nvPr>
        </p:nvSpPr>
        <p:spPr/>
        <p:txBody>
          <a:bodyPr/>
          <a:lstStyle/>
          <a:p>
            <a:fld id="{3359E618-7077-4B6D-8857-45A0BA2E13B7}" type="slidenum">
              <a:rPr lang="en-GB" smtClean="0"/>
              <a:t>29</a:t>
            </a:fld>
            <a:endParaRPr lang="en-GB"/>
          </a:p>
        </p:txBody>
      </p:sp>
    </p:spTree>
    <p:extLst>
      <p:ext uri="{BB962C8B-B14F-4D97-AF65-F5344CB8AC3E}">
        <p14:creationId xmlns:p14="http://schemas.microsoft.com/office/powerpoint/2010/main" val="2858034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These are the 2 figures showing responses of nerve and muscles at rest. When nerve is not activated at rest, still some small twitches are found in the muscles even though they are very small in magnitude. These smallest EPP or voltage in the muscles even in absence of true nerve stimulation are called as miniature end plate potential (</a:t>
            </a:r>
            <a:r>
              <a:rPr lang="en-MY" dirty="0" err="1"/>
              <a:t>mEPP</a:t>
            </a:r>
            <a:r>
              <a:rPr lang="en-MY" dirty="0"/>
              <a:t>). </a:t>
            </a:r>
          </a:p>
        </p:txBody>
      </p:sp>
      <p:sp>
        <p:nvSpPr>
          <p:cNvPr id="4" name="Slide Number Placeholder 3"/>
          <p:cNvSpPr>
            <a:spLocks noGrp="1"/>
          </p:cNvSpPr>
          <p:nvPr>
            <p:ph type="sldNum" sz="quarter" idx="5"/>
          </p:nvPr>
        </p:nvSpPr>
        <p:spPr/>
        <p:txBody>
          <a:bodyPr/>
          <a:lstStyle/>
          <a:p>
            <a:fld id="{3359E618-7077-4B6D-8857-45A0BA2E13B7}" type="slidenum">
              <a:rPr lang="en-GB" smtClean="0"/>
              <a:t>31</a:t>
            </a:fld>
            <a:endParaRPr lang="en-GB"/>
          </a:p>
        </p:txBody>
      </p:sp>
    </p:spTree>
    <p:extLst>
      <p:ext uri="{BB962C8B-B14F-4D97-AF65-F5344CB8AC3E}">
        <p14:creationId xmlns:p14="http://schemas.microsoft.com/office/powerpoint/2010/main" val="3126560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b="1" dirty="0"/>
              <a:t>Importance:</a:t>
            </a:r>
            <a:r>
              <a:rPr lang="en-MY" dirty="0"/>
              <a:t> Maintains muscle integrity or tone even when a muscle is not truly active and thus provides efficiency of the muscles in general in our body.</a:t>
            </a:r>
          </a:p>
          <a:p>
            <a:endParaRPr lang="en-MY" dirty="0"/>
          </a:p>
        </p:txBody>
      </p:sp>
      <p:sp>
        <p:nvSpPr>
          <p:cNvPr id="4" name="Slide Number Placeholder 3"/>
          <p:cNvSpPr>
            <a:spLocks noGrp="1"/>
          </p:cNvSpPr>
          <p:nvPr>
            <p:ph type="sldNum" sz="quarter" idx="5"/>
          </p:nvPr>
        </p:nvSpPr>
        <p:spPr/>
        <p:txBody>
          <a:bodyPr/>
          <a:lstStyle/>
          <a:p>
            <a:fld id="{3359E618-7077-4B6D-8857-45A0BA2E13B7}" type="slidenum">
              <a:rPr lang="en-GB" smtClean="0"/>
              <a:t>32</a:t>
            </a:fld>
            <a:endParaRPr lang="en-GB"/>
          </a:p>
        </p:txBody>
      </p:sp>
    </p:spTree>
    <p:extLst>
      <p:ext uri="{BB962C8B-B14F-4D97-AF65-F5344CB8AC3E}">
        <p14:creationId xmlns:p14="http://schemas.microsoft.com/office/powerpoint/2010/main" val="96646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BBC4A5-47CB-4B0D-8AA8-C74F7334DC62}" type="slidenum">
              <a:rPr lang="en-US"/>
              <a:pPr/>
              <a:t>37</a:t>
            </a:fld>
            <a:endParaRPr lang="en-US"/>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34522170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082F21FD-E1FC-4574-9A75-CE145D2F9804}" type="slidenum">
              <a:rPr lang="en-GB" smtClean="0"/>
              <a:t>40</a:t>
            </a:fld>
            <a:endParaRPr lang="en-GB"/>
          </a:p>
        </p:txBody>
      </p:sp>
    </p:spTree>
    <p:extLst>
      <p:ext uri="{BB962C8B-B14F-4D97-AF65-F5344CB8AC3E}">
        <p14:creationId xmlns:p14="http://schemas.microsoft.com/office/powerpoint/2010/main" val="612431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59E618-7077-4B6D-8857-45A0BA2E13B7}" type="slidenum">
              <a:rPr lang="en-GB" smtClean="0"/>
              <a:t>41</a:t>
            </a:fld>
            <a:endParaRPr lang="en-GB"/>
          </a:p>
        </p:txBody>
      </p:sp>
    </p:spTree>
    <p:extLst>
      <p:ext uri="{BB962C8B-B14F-4D97-AF65-F5344CB8AC3E}">
        <p14:creationId xmlns:p14="http://schemas.microsoft.com/office/powerpoint/2010/main" val="2802590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Single</a:t>
            </a:r>
            <a:r>
              <a:rPr lang="en-GB" baseline="0" dirty="0"/>
              <a:t> action potential causes muscle fibre to twitch</a:t>
            </a:r>
          </a:p>
          <a:p>
            <a:r>
              <a:rPr lang="en-GB" baseline="0" dirty="0"/>
              <a:t>Summation of twitches causes sustained contraction as frequency of incoming action potentials increase</a:t>
            </a:r>
            <a:endParaRPr lang="en-GB" dirty="0"/>
          </a:p>
        </p:txBody>
      </p:sp>
      <p:sp>
        <p:nvSpPr>
          <p:cNvPr id="4" name="Slide Number Placeholder 3"/>
          <p:cNvSpPr>
            <a:spLocks noGrp="1"/>
          </p:cNvSpPr>
          <p:nvPr>
            <p:ph type="sldNum" sz="quarter" idx="10"/>
          </p:nvPr>
        </p:nvSpPr>
        <p:spPr/>
        <p:txBody>
          <a:bodyPr/>
          <a:lstStyle/>
          <a:p>
            <a:fld id="{4A0D0665-BD20-491C-A9A4-9291E498E472}" type="slidenum">
              <a:rPr lang="en-US" smtClean="0"/>
              <a:pPr/>
              <a:t>42</a:t>
            </a:fld>
            <a:endParaRPr lang="en-US"/>
          </a:p>
        </p:txBody>
      </p:sp>
    </p:spTree>
    <p:extLst>
      <p:ext uri="{BB962C8B-B14F-4D97-AF65-F5344CB8AC3E}">
        <p14:creationId xmlns:p14="http://schemas.microsoft.com/office/powerpoint/2010/main" val="3437027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A128C-F190-F84A-A0C3-3971364B9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8F5CB-00B4-70A1-FC7B-4B1CD95AD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72FFF-F444-CC3C-9EA3-18A0442C3F8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95401F1-2E8B-E4E8-07C9-135F8AF05C95}"/>
              </a:ext>
            </a:extLst>
          </p:cNvPr>
          <p:cNvSpPr>
            <a:spLocks noGrp="1"/>
          </p:cNvSpPr>
          <p:nvPr>
            <p:ph type="sldNum" sz="quarter" idx="10"/>
          </p:nvPr>
        </p:nvSpPr>
        <p:spPr/>
        <p:txBody>
          <a:bodyPr/>
          <a:lstStyle/>
          <a:p>
            <a:fld id="{0EE9547B-B0C5-4B79-AE8B-7C79FE7505D0}" type="slidenum">
              <a:rPr lang="en-GB" smtClean="0"/>
              <a:t>43</a:t>
            </a:fld>
            <a:endParaRPr lang="en-GB"/>
          </a:p>
        </p:txBody>
      </p:sp>
    </p:spTree>
    <p:extLst>
      <p:ext uri="{BB962C8B-B14F-4D97-AF65-F5344CB8AC3E}">
        <p14:creationId xmlns:p14="http://schemas.microsoft.com/office/powerpoint/2010/main" val="1088034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Botox</a:t>
            </a:r>
            <a:r>
              <a:rPr lang="en-US" baseline="0" dirty="0"/>
              <a:t> is one of the most potent poison as it requires very small amount to pose the effect as it breaks the proteins of SNARE complex. Application of this toxin is increasingly being used for clinical and cosmetic procedures including the </a:t>
            </a:r>
            <a:r>
              <a:rPr lang="en-US" b="1" baseline="0" dirty="0"/>
              <a:t>inhibition of overactive extra ocular muscles, prevention of sweat gland activity, treatment of migraine headaches and reduction of age related wrinkles.</a:t>
            </a:r>
            <a:endParaRPr lang="en-GB" b="1" dirty="0"/>
          </a:p>
        </p:txBody>
      </p:sp>
      <p:sp>
        <p:nvSpPr>
          <p:cNvPr id="4" name="Slide Number Placeholder 3"/>
          <p:cNvSpPr>
            <a:spLocks noGrp="1"/>
          </p:cNvSpPr>
          <p:nvPr>
            <p:ph type="sldNum" sz="quarter" idx="10"/>
          </p:nvPr>
        </p:nvSpPr>
        <p:spPr/>
        <p:txBody>
          <a:bodyPr/>
          <a:lstStyle/>
          <a:p>
            <a:fld id="{3359E618-7077-4B6D-8857-45A0BA2E13B7}" type="slidenum">
              <a:rPr lang="en-GB" smtClean="0"/>
              <a:t>44</a:t>
            </a:fld>
            <a:endParaRPr lang="en-GB"/>
          </a:p>
        </p:txBody>
      </p:sp>
    </p:spTree>
    <p:extLst>
      <p:ext uri="{BB962C8B-B14F-4D97-AF65-F5344CB8AC3E}">
        <p14:creationId xmlns:p14="http://schemas.microsoft.com/office/powerpoint/2010/main" val="3156720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359E618-7077-4B6D-8857-45A0BA2E13B7}" type="slidenum">
              <a:rPr lang="en-GB" smtClean="0"/>
              <a:t>45</a:t>
            </a:fld>
            <a:endParaRPr lang="en-GB"/>
          </a:p>
        </p:txBody>
      </p:sp>
    </p:spTree>
    <p:extLst>
      <p:ext uri="{BB962C8B-B14F-4D97-AF65-F5344CB8AC3E}">
        <p14:creationId xmlns:p14="http://schemas.microsoft.com/office/powerpoint/2010/main" val="2110204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8252D7B-BD26-4E01-B1B2-39E31C5B92FE}"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2817385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8252D7B-BD26-4E01-B1B2-39E31C5B92FE}"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3612122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252D7B-BD26-4E01-B1B2-39E31C5B92FE}"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2163092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8252D7B-BD26-4E01-B1B2-39E31C5B92FE}" type="datetimeFigureOut">
              <a:rPr lang="en-GB" smtClean="0"/>
              <a:t>26/09/2026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1009922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8252D7B-BD26-4E01-B1B2-39E31C5B92FE}" type="datetimeFigureOut">
              <a:rPr lang="en-GB" smtClean="0"/>
              <a:t>26/09/2026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2994051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8252D7B-BD26-4E01-B1B2-39E31C5B92FE}" type="datetimeFigureOut">
              <a:rPr lang="en-GB" smtClean="0"/>
              <a:t>26/09/2026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3908933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252D7B-BD26-4E01-B1B2-39E31C5B92FE}" type="datetimeFigureOut">
              <a:rPr lang="en-GB" smtClean="0"/>
              <a:t>26/09/2026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2323087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252D7B-BD26-4E01-B1B2-39E31C5B92FE}" type="datetimeFigureOut">
              <a:rPr lang="en-GB" smtClean="0"/>
              <a:t>26/09/2026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540218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252D7B-BD26-4E01-B1B2-39E31C5B92FE}" type="datetimeFigureOut">
              <a:rPr lang="en-GB" smtClean="0"/>
              <a:t>26/09/2026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619468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8252D7B-BD26-4E01-B1B2-39E31C5B92FE}"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788259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8252D7B-BD26-4E01-B1B2-39E31C5B92FE}" type="datetimeFigureOut">
              <a:rPr lang="en-GB" smtClean="0"/>
              <a:t>26/09/2026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1928224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4D6E8-A1CE-4BA9-B117-8AB61882D1B6}"/>
              </a:ext>
            </a:extLst>
          </p:cNvPr>
          <p:cNvSpPr>
            <a:spLocks noGrp="1"/>
          </p:cNvSpPr>
          <p:nvPr>
            <p:ph type="title"/>
          </p:nvPr>
        </p:nvSpPr>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6A5A80E-0425-464C-9FC1-F82CE333D6D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B852C87-E482-457C-9919-340AB216649F}"/>
              </a:ext>
            </a:extLst>
          </p:cNvPr>
          <p:cNvSpPr>
            <a:spLocks noGrp="1"/>
          </p:cNvSpPr>
          <p:nvPr>
            <p:ph type="dt" sz="half" idx="10"/>
          </p:nvPr>
        </p:nvSpPr>
        <p:spPr/>
        <p:txBody>
          <a:bodyPr/>
          <a:lstStyle/>
          <a:p>
            <a:fld id="{18252D7B-BD26-4E01-B1B2-39E31C5B92FE}" type="datetimeFigureOut">
              <a:rPr lang="en-GB" smtClean="0"/>
              <a:t>26/09/2026</a:t>
            </a:fld>
            <a:endParaRPr lang="en-GB"/>
          </a:p>
        </p:txBody>
      </p:sp>
      <p:sp>
        <p:nvSpPr>
          <p:cNvPr id="5" name="Footer Placeholder 4">
            <a:extLst>
              <a:ext uri="{FF2B5EF4-FFF2-40B4-BE49-F238E27FC236}">
                <a16:creationId xmlns:a16="http://schemas.microsoft.com/office/drawing/2014/main" id="{B02FFD22-A1B6-443A-AEF2-F1EE3A6033E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DE40E8-471F-40A0-833A-B91DD8FDF42B}"/>
              </a:ext>
            </a:extLst>
          </p:cNvPr>
          <p:cNvSpPr>
            <a:spLocks noGrp="1"/>
          </p:cNvSpPr>
          <p:nvPr>
            <p:ph type="sldNum" sz="quarter" idx="12"/>
          </p:nvPr>
        </p:nvSpPr>
        <p:spPr/>
        <p:txBody>
          <a:bodyPr/>
          <a:lstStyle/>
          <a:p>
            <a:fld id="{C6338A70-9782-4262-B181-E1DA6536849E}" type="slidenum">
              <a:rPr lang="en-GB" smtClean="0"/>
              <a:t>‹#›</a:t>
            </a:fld>
            <a:endParaRPr lang="en-GB"/>
          </a:p>
        </p:txBody>
      </p:sp>
    </p:spTree>
    <p:extLst>
      <p:ext uri="{BB962C8B-B14F-4D97-AF65-F5344CB8AC3E}">
        <p14:creationId xmlns:p14="http://schemas.microsoft.com/office/powerpoint/2010/main" val="2481850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_Imag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5602FD7-1231-064E-CF9F-7F8C08F8EF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2200" cy="6856651"/>
          </a:xfrm>
          <a:prstGeom prst="rect">
            <a:avLst/>
          </a:prstGeom>
        </p:spPr>
      </p:pic>
      <p:sp>
        <p:nvSpPr>
          <p:cNvPr id="2" name="Title 1">
            <a:extLst>
              <a:ext uri="{FF2B5EF4-FFF2-40B4-BE49-F238E27FC236}">
                <a16:creationId xmlns:a16="http://schemas.microsoft.com/office/drawing/2014/main" id="{8CC78C08-B324-DDE3-8FA4-2E0FECB9847B}"/>
              </a:ext>
            </a:extLst>
          </p:cNvPr>
          <p:cNvSpPr>
            <a:spLocks noGrp="1"/>
          </p:cNvSpPr>
          <p:nvPr>
            <p:ph type="ctrTitle" hasCustomPrompt="1"/>
          </p:nvPr>
        </p:nvSpPr>
        <p:spPr>
          <a:xfrm>
            <a:off x="304800" y="1274763"/>
            <a:ext cx="6858000" cy="2387600"/>
          </a:xfrm>
          <a:prstGeom prst="rect">
            <a:avLst/>
          </a:prstGeom>
        </p:spPr>
        <p:txBody>
          <a:bodyPr anchor="b"/>
          <a:lstStyle>
            <a:lvl1pPr algn="l">
              <a:lnSpc>
                <a:spcPts val="3038"/>
              </a:lnSpc>
              <a:defRPr sz="3375"/>
            </a:lvl1pPr>
          </a:lstStyle>
          <a:p>
            <a:r>
              <a:rPr lang="en-GB"/>
              <a:t>Insert headline here. </a:t>
            </a:r>
            <a:br>
              <a:rPr lang="en-GB"/>
            </a:br>
            <a:r>
              <a:rPr lang="en-GB"/>
              <a:t>Should be between </a:t>
            </a:r>
            <a:br>
              <a:rPr lang="en-GB"/>
            </a:br>
            <a:r>
              <a:rPr lang="en-GB"/>
              <a:t>1-3 lines max. </a:t>
            </a:r>
            <a:endParaRPr lang="en-US"/>
          </a:p>
        </p:txBody>
      </p:sp>
      <p:pic>
        <p:nvPicPr>
          <p:cNvPr id="14" name="Graphic 13">
            <a:extLst>
              <a:ext uri="{FF2B5EF4-FFF2-40B4-BE49-F238E27FC236}">
                <a16:creationId xmlns:a16="http://schemas.microsoft.com/office/drawing/2014/main" id="{4504F269-56E3-639E-F1B1-41EEC4813B5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4801" y="5787179"/>
            <a:ext cx="1465544" cy="567739"/>
          </a:xfrm>
          <a:prstGeom prst="rect">
            <a:avLst/>
          </a:prstGeom>
        </p:spPr>
      </p:pic>
      <p:sp>
        <p:nvSpPr>
          <p:cNvPr id="15" name="Subtitle 2">
            <a:extLst>
              <a:ext uri="{FF2B5EF4-FFF2-40B4-BE49-F238E27FC236}">
                <a16:creationId xmlns:a16="http://schemas.microsoft.com/office/drawing/2014/main" id="{B933CDFE-7FC5-932E-CB7F-3B49EC1A0FCA}"/>
              </a:ext>
            </a:extLst>
          </p:cNvPr>
          <p:cNvSpPr>
            <a:spLocks noGrp="1"/>
          </p:cNvSpPr>
          <p:nvPr>
            <p:ph type="subTitle" idx="1" hasCustomPrompt="1"/>
          </p:nvPr>
        </p:nvSpPr>
        <p:spPr>
          <a:xfrm>
            <a:off x="304800" y="3707701"/>
            <a:ext cx="6858000" cy="1655763"/>
          </a:xfrm>
          <a:prstGeom prst="rect">
            <a:avLst/>
          </a:prstGeom>
        </p:spPr>
        <p:txBody>
          <a:bodyPr>
            <a:normAutofit/>
          </a:bodyPr>
          <a:lstStyle>
            <a:lvl1pPr marL="0" indent="0" algn="l">
              <a:lnSpc>
                <a:spcPct val="100000"/>
              </a:lnSpc>
              <a:spcBef>
                <a:spcPts val="0"/>
              </a:spcBef>
              <a:buNone/>
              <a:defRPr sz="1125" b="0" i="0">
                <a:latin typeface="Arial" panose="020B0604020202020204" pitchFamily="34" charset="0"/>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GB">
                <a:solidFill>
                  <a:srgbClr val="FFFFFF"/>
                </a:solidFill>
                <a:effectLst/>
                <a:latin typeface="Helvetica" pitchFamily="2" charset="0"/>
              </a:rPr>
              <a:t>Insert sub copy here.</a:t>
            </a:r>
          </a:p>
          <a:p>
            <a:br>
              <a:rPr lang="en-GB"/>
            </a:br>
            <a:endParaRPr lang="en-GB"/>
          </a:p>
          <a:p>
            <a:r>
              <a:rPr lang="en-GB"/>
              <a:t>image box on the right click on icon or drag </a:t>
            </a:r>
            <a:br>
              <a:rPr lang="en-GB"/>
            </a:br>
            <a:r>
              <a:rPr lang="en-GB"/>
              <a:t>image into the space to add.</a:t>
            </a:r>
            <a:endParaRPr lang="en-US"/>
          </a:p>
        </p:txBody>
      </p:sp>
      <p:sp>
        <p:nvSpPr>
          <p:cNvPr id="16" name="Text Placeholder 2">
            <a:extLst>
              <a:ext uri="{FF2B5EF4-FFF2-40B4-BE49-F238E27FC236}">
                <a16:creationId xmlns:a16="http://schemas.microsoft.com/office/drawing/2014/main" id="{7CE02850-963E-BCA7-D70C-3BCCF65A0640}"/>
              </a:ext>
            </a:extLst>
          </p:cNvPr>
          <p:cNvSpPr>
            <a:spLocks noGrp="1"/>
          </p:cNvSpPr>
          <p:nvPr>
            <p:ph type="body" idx="10" hasCustomPrompt="1"/>
          </p:nvPr>
        </p:nvSpPr>
        <p:spPr>
          <a:xfrm>
            <a:off x="304800" y="698184"/>
            <a:ext cx="6865620" cy="187615"/>
          </a:xfrm>
          <a:prstGeom prst="rect">
            <a:avLst/>
          </a:prstGeom>
        </p:spPr>
        <p:txBody>
          <a:bodyPr wrap="square">
            <a:spAutoFit/>
          </a:bodyPr>
          <a:lstStyle>
            <a:lvl1pPr marL="0" indent="0">
              <a:buNone/>
              <a:defRPr sz="619">
                <a:solidFill>
                  <a:schemeClr val="tx1"/>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GB"/>
              <a:t>SECTION TITLE</a:t>
            </a:r>
          </a:p>
        </p:txBody>
      </p:sp>
      <p:sp>
        <p:nvSpPr>
          <p:cNvPr id="17" name="Picture Placeholder 16">
            <a:extLst>
              <a:ext uri="{FF2B5EF4-FFF2-40B4-BE49-F238E27FC236}">
                <a16:creationId xmlns:a16="http://schemas.microsoft.com/office/drawing/2014/main" id="{5BD1D972-DB48-9F79-3343-53455BAD1A3F}"/>
              </a:ext>
            </a:extLst>
          </p:cNvPr>
          <p:cNvSpPr>
            <a:spLocks noGrp="1"/>
          </p:cNvSpPr>
          <p:nvPr>
            <p:ph type="pic" idx="12" hasCustomPrompt="1"/>
          </p:nvPr>
        </p:nvSpPr>
        <p:spPr>
          <a:xfrm>
            <a:off x="5738007" y="1"/>
            <a:ext cx="3405994" cy="6854092"/>
          </a:xfrm>
          <a:custGeom>
            <a:avLst/>
            <a:gdLst>
              <a:gd name="connsiteX0" fmla="*/ 1895608 w 4541325"/>
              <a:gd name="connsiteY0" fmla="*/ 0 h 6854092"/>
              <a:gd name="connsiteX1" fmla="*/ 4541325 w 4541325"/>
              <a:gd name="connsiteY1" fmla="*/ 0 h 6854092"/>
              <a:gd name="connsiteX2" fmla="*/ 4541325 w 4541325"/>
              <a:gd name="connsiteY2" fmla="*/ 6854092 h 6854092"/>
              <a:gd name="connsiteX3" fmla="*/ 2610437 w 4541325"/>
              <a:gd name="connsiteY3" fmla="*/ 6854092 h 6854092"/>
              <a:gd name="connsiteX4" fmla="*/ 0 w 4541325"/>
              <a:gd name="connsiteY4" fmla="*/ 4568092 h 6854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41325" h="6854092">
                <a:moveTo>
                  <a:pt x="1895608" y="0"/>
                </a:moveTo>
                <a:lnTo>
                  <a:pt x="4541325" y="0"/>
                </a:lnTo>
                <a:lnTo>
                  <a:pt x="4541325" y="6854092"/>
                </a:lnTo>
                <a:lnTo>
                  <a:pt x="2610437" y="6854092"/>
                </a:lnTo>
                <a:lnTo>
                  <a:pt x="0" y="4568092"/>
                </a:lnTo>
                <a:close/>
              </a:path>
            </a:pathLst>
          </a:custGeom>
        </p:spPr>
        <p:txBody>
          <a:bodyPr wrap="square" anchor="ctr">
            <a:noAutofit/>
          </a:bodyPr>
          <a:lstStyle>
            <a:lvl1pPr marL="0" indent="0" algn="ctr">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 </a:t>
            </a:r>
          </a:p>
        </p:txBody>
      </p:sp>
    </p:spTree>
    <p:extLst>
      <p:ext uri="{BB962C8B-B14F-4D97-AF65-F5344CB8AC3E}">
        <p14:creationId xmlns:p14="http://schemas.microsoft.com/office/powerpoint/2010/main" val="1921618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09/26/2026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884325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l="3000" r="-4000" b="-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252D7B-BD26-4E01-B1B2-39E31C5B92FE}" type="datetimeFigureOut">
              <a:rPr lang="en-GB" smtClean="0"/>
              <a:t>26/09/2026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338A70-9782-4262-B181-E1DA6536849E}" type="slidenum">
              <a:rPr lang="en-GB" smtClean="0"/>
              <a:t>‹#›</a:t>
            </a:fld>
            <a:endParaRPr lang="en-GB"/>
          </a:p>
        </p:txBody>
      </p:sp>
    </p:spTree>
    <p:extLst>
      <p:ext uri="{BB962C8B-B14F-4D97-AF65-F5344CB8AC3E}">
        <p14:creationId xmlns:p14="http://schemas.microsoft.com/office/powerpoint/2010/main" val="3018037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google.com.my/url?sa=i&amp;rct=j&amp;q=&amp;esrc=s&amp;frm=1&amp;source=images&amp;cd=&amp;cad=rja&amp;docid=gwp6MrX5E8heCM&amp;tbnid=4OJDLSL4Ni-2GM:&amp;ved=0CAUQjRw&amp;url=http://completesoccertraining.blogspot.com/2012/05/muscle-fiber-contraction.html&amp;ei=y3kxUsqTBc7HrQeY3oGACg&amp;bvm=bv.52109249,d.dGI&amp;psig=AFQjCNEsFp8bNvLI6KQ4I-qpMXYCypt8_Q&amp;ust=1379060475033995"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www.google.com.my/url?sa=i&amp;rct=j&amp;q=&amp;esrc=s&amp;frm=1&amp;source=images&amp;cd=&amp;cad=rja&amp;docid=jFVOwstL0b7ZYM&amp;tbnid=nx4rUttpNB5aOM:&amp;ved=0CAUQjRw&amp;url=http://faculty.pasadena.edu/dkwon/chapt_11/textmostly/slide48.html&amp;ei=hX4xUq7GG8mLrQePsICQDg&amp;bvm=bv.52109249,d.dGI&amp;psig=AFQjCNEsFp8bNvLI6KQ4I-qpMXYCypt8_Q&amp;ust=1379060475033995" TargetMode="Externa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16.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5" Type="http://schemas.openxmlformats.org/officeDocument/2006/relationships/tags" Target="../tags/tag7.xml"/><Relationship Id="rId4" Type="http://schemas.openxmlformats.org/officeDocument/2006/relationships/tags" Target="../tags/tag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16.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14.xml"/><Relationship Id="rId5" Type="http://schemas.openxmlformats.org/officeDocument/2006/relationships/tags" Target="../tags/tag12.xml"/><Relationship Id="rId4" Type="http://schemas.openxmlformats.org/officeDocument/2006/relationships/tags" Target="../tags/tag11.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14F977-DAAD-FF47-3FD5-579190CEB9B4}"/>
              </a:ext>
            </a:extLst>
          </p:cNvPr>
          <p:cNvSpPr>
            <a:spLocks noGrp="1"/>
          </p:cNvSpPr>
          <p:nvPr>
            <p:ph type="subTitle" idx="1"/>
          </p:nvPr>
        </p:nvSpPr>
        <p:spPr>
          <a:xfrm>
            <a:off x="683568" y="2924944"/>
            <a:ext cx="3998306" cy="1342368"/>
          </a:xfrm>
        </p:spPr>
        <p:txBody>
          <a:bodyPr>
            <a:noAutofit/>
          </a:bodyPr>
          <a:lstStyle/>
          <a:p>
            <a:pPr algn="ctr"/>
            <a:r>
              <a:rPr lang="en-US" sz="2400" dirty="0">
                <a:solidFill>
                  <a:srgbClr val="0070C0"/>
                </a:solidFill>
              </a:rPr>
              <a:t>Lecture : 3</a:t>
            </a:r>
          </a:p>
          <a:p>
            <a:pPr algn="ctr"/>
            <a:r>
              <a:rPr lang="en-US" sz="2400" dirty="0">
                <a:solidFill>
                  <a:srgbClr val="0070C0"/>
                </a:solidFill>
              </a:rPr>
              <a:t>Dr Ratnadeep Saha</a:t>
            </a:r>
          </a:p>
          <a:p>
            <a:pPr algn="ctr"/>
            <a:r>
              <a:rPr lang="en-US" sz="2400" dirty="0">
                <a:solidFill>
                  <a:schemeClr val="bg1"/>
                </a:solidFill>
              </a:rPr>
              <a:t>Email: r.saha@bham.ac.uk</a:t>
            </a:r>
          </a:p>
          <a:p>
            <a:pPr algn="ctr"/>
            <a:endParaRPr lang="en-US" dirty="0"/>
          </a:p>
        </p:txBody>
      </p:sp>
      <p:pic>
        <p:nvPicPr>
          <p:cNvPr id="7" name="Picture Placeholder 3" descr="A high angle view of a city&#10;&#10;Description automatically generated">
            <a:extLst>
              <a:ext uri="{FF2B5EF4-FFF2-40B4-BE49-F238E27FC236}">
                <a16:creationId xmlns:a16="http://schemas.microsoft.com/office/drawing/2014/main" id="{F813AF6A-9651-DAA2-42A8-8E39E70C26F8}"/>
              </a:ext>
            </a:extLst>
          </p:cNvPr>
          <p:cNvPicPr>
            <a:picLocks noGrp="1" noChangeAspect="1"/>
          </p:cNvPicPr>
          <p:nvPr>
            <p:ph type="pic" idx="12"/>
          </p:nvPr>
        </p:nvPicPr>
        <p:blipFill rotWithShape="1">
          <a:blip r:embed="rId3" cstate="screen">
            <a:extLst>
              <a:ext uri="{28A0092B-C50C-407E-A947-70E740481C1C}">
                <a14:useLocalDpi xmlns:a14="http://schemas.microsoft.com/office/drawing/2010/main"/>
              </a:ext>
            </a:extLst>
          </a:blip>
          <a:srcRect/>
          <a:stretch/>
        </p:blipFill>
        <p:spPr>
          <a:xfrm>
            <a:off x="5446217" y="1500189"/>
            <a:ext cx="2554784" cy="3855839"/>
          </a:xfrm>
        </p:spPr>
      </p:pic>
      <p:pic>
        <p:nvPicPr>
          <p:cNvPr id="4" name="Picture 3"/>
          <p:cNvPicPr>
            <a:picLocks noChangeAspect="1"/>
          </p:cNvPicPr>
          <p:nvPr/>
        </p:nvPicPr>
        <p:blipFill>
          <a:blip r:embed="rId4"/>
          <a:stretch>
            <a:fillRect/>
          </a:stretch>
        </p:blipFill>
        <p:spPr>
          <a:xfrm>
            <a:off x="2494353" y="4653251"/>
            <a:ext cx="679001" cy="521253"/>
          </a:xfrm>
          <a:prstGeom prst="rect">
            <a:avLst/>
          </a:prstGeom>
        </p:spPr>
      </p:pic>
      <p:sp>
        <p:nvSpPr>
          <p:cNvPr id="5" name="Title 1">
            <a:extLst>
              <a:ext uri="{FF2B5EF4-FFF2-40B4-BE49-F238E27FC236}">
                <a16:creationId xmlns:a16="http://schemas.microsoft.com/office/drawing/2014/main" id="{F72E99A9-FA26-6962-93B5-AC16F9EA1024}"/>
              </a:ext>
            </a:extLst>
          </p:cNvPr>
          <p:cNvSpPr txBox="1">
            <a:spLocks/>
          </p:cNvSpPr>
          <p:nvPr/>
        </p:nvSpPr>
        <p:spPr>
          <a:xfrm>
            <a:off x="28333" y="476672"/>
            <a:ext cx="4932040" cy="1577355"/>
          </a:xfrm>
          <a:prstGeom prst="rect">
            <a:avLst/>
          </a:prstGeom>
        </p:spPr>
        <p:txBody>
          <a:bodyPr wrap="square" lIns="0" tIns="0" rIns="0" bIns="0" anchor="b">
            <a:spAutoFit/>
          </a:bodyPr>
          <a:lstStyle>
            <a:lvl1pPr algn="l">
              <a:lnSpc>
                <a:spcPts val="4050"/>
              </a:lnSpc>
              <a:defRPr sz="4500" b="0" i="0">
                <a:solidFill>
                  <a:srgbClr val="660066"/>
                </a:solidFill>
                <a:latin typeface="Calibri"/>
                <a:ea typeface="+mj-ea"/>
                <a:cs typeface="Calibri"/>
              </a:defRPr>
            </a:lvl1pPr>
          </a:lstStyle>
          <a:p>
            <a:pPr algn="ctr">
              <a:buNone/>
            </a:pPr>
            <a:r>
              <a:rPr lang="en-GB" sz="3600" dirty="0">
                <a:solidFill>
                  <a:srgbClr val="0070C0"/>
                </a:solidFill>
              </a:rPr>
              <a:t>Module: FNP</a:t>
            </a:r>
            <a:r>
              <a:rPr lang="en-GB" sz="3600" dirty="0"/>
              <a:t> </a:t>
            </a:r>
            <a:br>
              <a:rPr lang="en-GB" sz="3600" dirty="0"/>
            </a:br>
            <a:r>
              <a:rPr lang="en-GB" sz="3600" dirty="0">
                <a:solidFill>
                  <a:schemeClr val="bg1"/>
                </a:solidFill>
              </a:rPr>
              <a:t>The</a:t>
            </a:r>
            <a:r>
              <a:rPr lang="en-GB" sz="3600" dirty="0"/>
              <a:t> </a:t>
            </a:r>
            <a:r>
              <a:rPr lang="en-GB" sz="3600" dirty="0">
                <a:solidFill>
                  <a:schemeClr val="bg1"/>
                </a:solidFill>
              </a:rPr>
              <a:t>Neuro Muscular Junction (NMJ)</a:t>
            </a:r>
            <a:endParaRPr lang="en-GB" sz="3600" dirty="0"/>
          </a:p>
        </p:txBody>
      </p:sp>
    </p:spTree>
    <p:extLst>
      <p:ext uri="{BB962C8B-B14F-4D97-AF65-F5344CB8AC3E}">
        <p14:creationId xmlns:p14="http://schemas.microsoft.com/office/powerpoint/2010/main" val="1493578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96" y="735388"/>
            <a:ext cx="8510779" cy="5925340"/>
          </a:xfrm>
          <a:prstGeom prst="rect">
            <a:avLst/>
          </a:prstGeom>
        </p:spPr>
        <p:txBody>
          <a:bodyPr wrap="square">
            <a:spAutoFit/>
          </a:bodyPr>
          <a:lstStyle/>
          <a:p>
            <a:pPr marL="457200" indent="-457200">
              <a:lnSpc>
                <a:spcPct val="150000"/>
              </a:lnSpc>
              <a:buFont typeface="Arial" panose="020B0604020202020204" pitchFamily="34" charset="0"/>
              <a:buChar char="•"/>
            </a:pPr>
            <a:r>
              <a:rPr lang="en-US" sz="3200" dirty="0">
                <a:effectLst/>
              </a:rPr>
              <a:t>The </a:t>
            </a:r>
            <a:r>
              <a:rPr lang="en-US" sz="3200" dirty="0">
                <a:effectLst/>
                <a:highlight>
                  <a:srgbClr val="FFFF00"/>
                </a:highlight>
              </a:rPr>
              <a:t>basic structure of the NMJ </a:t>
            </a:r>
            <a:r>
              <a:rPr lang="en-US" sz="3200" dirty="0">
                <a:effectLst/>
              </a:rPr>
              <a:t>and concept of a </a:t>
            </a:r>
            <a:r>
              <a:rPr lang="en-US" sz="3200" dirty="0">
                <a:effectLst/>
                <a:highlight>
                  <a:srgbClr val="FFFF00"/>
                </a:highlight>
              </a:rPr>
              <a:t>motor unit</a:t>
            </a:r>
          </a:p>
          <a:p>
            <a:pPr marL="457200" indent="-457200">
              <a:lnSpc>
                <a:spcPct val="150000"/>
              </a:lnSpc>
              <a:buFont typeface="Arial" panose="020B0604020202020204" pitchFamily="34" charset="0"/>
              <a:buChar char="•"/>
            </a:pPr>
            <a:r>
              <a:rPr lang="en-US" sz="3200" dirty="0">
                <a:effectLst/>
              </a:rPr>
              <a:t>Events </a:t>
            </a:r>
            <a:r>
              <a:rPr lang="en-US" sz="3200" dirty="0">
                <a:effectLst/>
                <a:highlight>
                  <a:srgbClr val="FFFF00"/>
                </a:highlight>
              </a:rPr>
              <a:t>underlying chemical transmission </a:t>
            </a:r>
            <a:r>
              <a:rPr lang="en-US" sz="3200" dirty="0">
                <a:effectLst/>
              </a:rPr>
              <a:t>&amp; </a:t>
            </a:r>
            <a:r>
              <a:rPr lang="en-US" sz="3200" dirty="0">
                <a:effectLst/>
                <a:highlight>
                  <a:srgbClr val="FFFF00"/>
                </a:highlight>
              </a:rPr>
              <a:t>fate of NTs</a:t>
            </a:r>
          </a:p>
          <a:p>
            <a:pPr marL="457200" indent="-457200">
              <a:lnSpc>
                <a:spcPct val="150000"/>
              </a:lnSpc>
              <a:buFont typeface="Arial" panose="020B0604020202020204" pitchFamily="34" charset="0"/>
              <a:buChar char="•"/>
            </a:pPr>
            <a:r>
              <a:rPr lang="en-US" sz="3200" dirty="0"/>
              <a:t>Concept of </a:t>
            </a:r>
            <a:r>
              <a:rPr lang="en-US" sz="3200" dirty="0">
                <a:effectLst/>
                <a:highlight>
                  <a:srgbClr val="FFFF00"/>
                </a:highlight>
              </a:rPr>
              <a:t>MEPP, EPP and quantal transmission</a:t>
            </a:r>
          </a:p>
          <a:p>
            <a:pPr marL="457200" indent="-457200">
              <a:lnSpc>
                <a:spcPct val="150000"/>
              </a:lnSpc>
              <a:buFont typeface="Arial" panose="020B0604020202020204" pitchFamily="34" charset="0"/>
              <a:buChar char="•"/>
            </a:pPr>
            <a:r>
              <a:rPr lang="en-GB" sz="3200" dirty="0">
                <a:highlight>
                  <a:srgbClr val="FFFF00"/>
                </a:highlight>
              </a:rPr>
              <a:t>Propagation of electrical potential </a:t>
            </a:r>
            <a:r>
              <a:rPr lang="en-GB" sz="3200" dirty="0"/>
              <a:t>to muscle and subsequent  contraction</a:t>
            </a:r>
          </a:p>
          <a:p>
            <a:pPr marL="457200" indent="-457200">
              <a:lnSpc>
                <a:spcPct val="150000"/>
              </a:lnSpc>
              <a:buFont typeface="Arial" panose="020B0604020202020204" pitchFamily="34" charset="0"/>
              <a:buChar char="•"/>
            </a:pPr>
            <a:r>
              <a:rPr lang="en-US" sz="3200" dirty="0">
                <a:highlight>
                  <a:srgbClr val="FFFF00"/>
                </a:highlight>
              </a:rPr>
              <a:t>Drugs and diseases</a:t>
            </a:r>
            <a:r>
              <a:rPr lang="en-US" sz="3200" dirty="0"/>
              <a:t> that affect transmission</a:t>
            </a:r>
            <a:endParaRPr lang="en-GB" sz="3200" b="1" dirty="0"/>
          </a:p>
        </p:txBody>
      </p:sp>
      <p:sp>
        <p:nvSpPr>
          <p:cNvPr id="5" name="TextBox 4"/>
          <p:cNvSpPr txBox="1"/>
          <p:nvPr/>
        </p:nvSpPr>
        <p:spPr>
          <a:xfrm>
            <a:off x="1331640" y="197272"/>
            <a:ext cx="6480720" cy="646331"/>
          </a:xfrm>
          <a:prstGeom prst="rect">
            <a:avLst/>
          </a:prstGeom>
          <a:noFill/>
        </p:spPr>
        <p:txBody>
          <a:bodyPr wrap="square" rtlCol="0">
            <a:spAutoFit/>
          </a:bodyPr>
          <a:lstStyle/>
          <a:p>
            <a:pPr algn="ctr">
              <a:buNone/>
            </a:pPr>
            <a:r>
              <a:rPr lang="en-IN" sz="3600" b="1" dirty="0">
                <a:solidFill>
                  <a:srgbClr val="FF0000"/>
                </a:solidFill>
              </a:rPr>
              <a:t>You will be able to know</a:t>
            </a:r>
          </a:p>
        </p:txBody>
      </p:sp>
    </p:spTree>
    <p:extLst>
      <p:ext uri="{BB962C8B-B14F-4D97-AF65-F5344CB8AC3E}">
        <p14:creationId xmlns:p14="http://schemas.microsoft.com/office/powerpoint/2010/main" val="3094902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475581" y="47229"/>
            <a:ext cx="6912843" cy="529431"/>
          </a:xfrm>
          <a:noFill/>
          <a:ln/>
        </p:spPr>
        <p:txBody>
          <a:bodyPr>
            <a:normAutofit fontScale="90000"/>
          </a:bodyPr>
          <a:lstStyle/>
          <a:p>
            <a:pPr algn="l"/>
            <a:r>
              <a:rPr lang="en-GB" sz="3200" b="1" dirty="0">
                <a:solidFill>
                  <a:schemeClr val="hlink"/>
                </a:solidFill>
                <a:latin typeface="Arial Rounded MT Bold" pitchFamily="34" charset="0"/>
              </a:rPr>
              <a:t>The structure of a classical neurone:</a:t>
            </a:r>
          </a:p>
        </p:txBody>
      </p:sp>
      <p:sp>
        <p:nvSpPr>
          <p:cNvPr id="14339" name="Oval 3"/>
          <p:cNvSpPr>
            <a:spLocks noChangeArrowheads="1"/>
          </p:cNvSpPr>
          <p:nvPr/>
        </p:nvSpPr>
        <p:spPr bwMode="auto">
          <a:xfrm>
            <a:off x="7700963" y="3359150"/>
            <a:ext cx="1435100" cy="1663700"/>
          </a:xfrm>
          <a:prstGeom prst="ellipse">
            <a:avLst/>
          </a:prstGeom>
          <a:gradFill rotWithShape="0">
            <a:gsLst>
              <a:gs pos="0">
                <a:srgbClr val="FFFF00"/>
              </a:gs>
              <a:gs pos="100000">
                <a:srgbClr val="FFFF00">
                  <a:gamma/>
                  <a:shade val="69804"/>
                  <a:invGamma/>
                </a:srgbClr>
              </a:gs>
            </a:gsLst>
            <a:path path="rect">
              <a:fillToRect r="100000" b="100000"/>
            </a:path>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0" name="Freeform 4"/>
          <p:cNvSpPr>
            <a:spLocks/>
          </p:cNvSpPr>
          <p:nvPr/>
        </p:nvSpPr>
        <p:spPr bwMode="auto">
          <a:xfrm>
            <a:off x="95250" y="1254125"/>
            <a:ext cx="1493838" cy="1185863"/>
          </a:xfrm>
          <a:custGeom>
            <a:avLst/>
            <a:gdLst>
              <a:gd name="T0" fmla="*/ 804 w 941"/>
              <a:gd name="T1" fmla="*/ 736 h 747"/>
              <a:gd name="T2" fmla="*/ 736 w 941"/>
              <a:gd name="T3" fmla="*/ 691 h 747"/>
              <a:gd name="T4" fmla="*/ 668 w 941"/>
              <a:gd name="T5" fmla="*/ 680 h 747"/>
              <a:gd name="T6" fmla="*/ 601 w 941"/>
              <a:gd name="T7" fmla="*/ 657 h 747"/>
              <a:gd name="T8" fmla="*/ 544 w 941"/>
              <a:gd name="T9" fmla="*/ 589 h 747"/>
              <a:gd name="T10" fmla="*/ 499 w 941"/>
              <a:gd name="T11" fmla="*/ 521 h 747"/>
              <a:gd name="T12" fmla="*/ 442 w 941"/>
              <a:gd name="T13" fmla="*/ 453 h 747"/>
              <a:gd name="T14" fmla="*/ 397 w 941"/>
              <a:gd name="T15" fmla="*/ 385 h 747"/>
              <a:gd name="T16" fmla="*/ 329 w 941"/>
              <a:gd name="T17" fmla="*/ 340 h 747"/>
              <a:gd name="T18" fmla="*/ 250 w 941"/>
              <a:gd name="T19" fmla="*/ 283 h 747"/>
              <a:gd name="T20" fmla="*/ 204 w 941"/>
              <a:gd name="T21" fmla="*/ 215 h 747"/>
              <a:gd name="T22" fmla="*/ 136 w 941"/>
              <a:gd name="T23" fmla="*/ 215 h 747"/>
              <a:gd name="T24" fmla="*/ 68 w 941"/>
              <a:gd name="T25" fmla="*/ 227 h 747"/>
              <a:gd name="T26" fmla="*/ 0 w 941"/>
              <a:gd name="T27" fmla="*/ 227 h 747"/>
              <a:gd name="T28" fmla="*/ 68 w 941"/>
              <a:gd name="T29" fmla="*/ 193 h 747"/>
              <a:gd name="T30" fmla="*/ 136 w 941"/>
              <a:gd name="T31" fmla="*/ 182 h 747"/>
              <a:gd name="T32" fmla="*/ 204 w 941"/>
              <a:gd name="T33" fmla="*/ 182 h 747"/>
              <a:gd name="T34" fmla="*/ 272 w 941"/>
              <a:gd name="T35" fmla="*/ 193 h 747"/>
              <a:gd name="T36" fmla="*/ 317 w 941"/>
              <a:gd name="T37" fmla="*/ 170 h 747"/>
              <a:gd name="T38" fmla="*/ 317 w 941"/>
              <a:gd name="T39" fmla="*/ 102 h 747"/>
              <a:gd name="T40" fmla="*/ 317 w 941"/>
              <a:gd name="T41" fmla="*/ 34 h 747"/>
              <a:gd name="T42" fmla="*/ 363 w 941"/>
              <a:gd name="T43" fmla="*/ 46 h 747"/>
              <a:gd name="T44" fmla="*/ 374 w 941"/>
              <a:gd name="T45" fmla="*/ 114 h 747"/>
              <a:gd name="T46" fmla="*/ 374 w 941"/>
              <a:gd name="T47" fmla="*/ 182 h 747"/>
              <a:gd name="T48" fmla="*/ 385 w 941"/>
              <a:gd name="T49" fmla="*/ 249 h 747"/>
              <a:gd name="T50" fmla="*/ 431 w 941"/>
              <a:gd name="T51" fmla="*/ 317 h 747"/>
              <a:gd name="T52" fmla="*/ 487 w 941"/>
              <a:gd name="T53" fmla="*/ 374 h 747"/>
              <a:gd name="T54" fmla="*/ 555 w 941"/>
              <a:gd name="T55" fmla="*/ 408 h 747"/>
              <a:gd name="T56" fmla="*/ 623 w 941"/>
              <a:gd name="T57" fmla="*/ 419 h 747"/>
              <a:gd name="T58" fmla="*/ 680 w 941"/>
              <a:gd name="T59" fmla="*/ 374 h 747"/>
              <a:gd name="T60" fmla="*/ 725 w 941"/>
              <a:gd name="T61" fmla="*/ 306 h 747"/>
              <a:gd name="T62" fmla="*/ 759 w 941"/>
              <a:gd name="T63" fmla="*/ 238 h 747"/>
              <a:gd name="T64" fmla="*/ 793 w 941"/>
              <a:gd name="T65" fmla="*/ 170 h 747"/>
              <a:gd name="T66" fmla="*/ 816 w 941"/>
              <a:gd name="T67" fmla="*/ 102 h 747"/>
              <a:gd name="T68" fmla="*/ 850 w 941"/>
              <a:gd name="T69" fmla="*/ 34 h 747"/>
              <a:gd name="T70" fmla="*/ 906 w 941"/>
              <a:gd name="T71" fmla="*/ 0 h 747"/>
              <a:gd name="T72" fmla="*/ 918 w 941"/>
              <a:gd name="T73" fmla="*/ 46 h 747"/>
              <a:gd name="T74" fmla="*/ 872 w 941"/>
              <a:gd name="T75" fmla="*/ 114 h 747"/>
              <a:gd name="T76" fmla="*/ 838 w 941"/>
              <a:gd name="T77" fmla="*/ 182 h 747"/>
              <a:gd name="T78" fmla="*/ 793 w 941"/>
              <a:gd name="T79" fmla="*/ 249 h 747"/>
              <a:gd name="T80" fmla="*/ 770 w 941"/>
              <a:gd name="T81" fmla="*/ 317 h 747"/>
              <a:gd name="T82" fmla="*/ 725 w 941"/>
              <a:gd name="T83" fmla="*/ 385 h 747"/>
              <a:gd name="T84" fmla="*/ 680 w 941"/>
              <a:gd name="T85" fmla="*/ 453 h 747"/>
              <a:gd name="T86" fmla="*/ 657 w 941"/>
              <a:gd name="T87" fmla="*/ 521 h 747"/>
              <a:gd name="T88" fmla="*/ 691 w 941"/>
              <a:gd name="T89" fmla="*/ 578 h 747"/>
              <a:gd name="T90" fmla="*/ 748 w 941"/>
              <a:gd name="T91" fmla="*/ 634 h 747"/>
              <a:gd name="T92" fmla="*/ 816 w 941"/>
              <a:gd name="T93" fmla="*/ 691 h 747"/>
              <a:gd name="T94" fmla="*/ 852 w 941"/>
              <a:gd name="T95" fmla="*/ 746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41" h="747">
                <a:moveTo>
                  <a:pt x="852" y="746"/>
                </a:moveTo>
                <a:lnTo>
                  <a:pt x="804" y="736"/>
                </a:lnTo>
                <a:lnTo>
                  <a:pt x="770" y="714"/>
                </a:lnTo>
                <a:lnTo>
                  <a:pt x="736" y="691"/>
                </a:lnTo>
                <a:lnTo>
                  <a:pt x="702" y="691"/>
                </a:lnTo>
                <a:lnTo>
                  <a:pt x="668" y="680"/>
                </a:lnTo>
                <a:lnTo>
                  <a:pt x="635" y="668"/>
                </a:lnTo>
                <a:lnTo>
                  <a:pt x="601" y="657"/>
                </a:lnTo>
                <a:lnTo>
                  <a:pt x="567" y="623"/>
                </a:lnTo>
                <a:lnTo>
                  <a:pt x="544" y="589"/>
                </a:lnTo>
                <a:lnTo>
                  <a:pt x="510" y="555"/>
                </a:lnTo>
                <a:lnTo>
                  <a:pt x="499" y="521"/>
                </a:lnTo>
                <a:lnTo>
                  <a:pt x="465" y="487"/>
                </a:lnTo>
                <a:lnTo>
                  <a:pt x="442" y="453"/>
                </a:lnTo>
                <a:lnTo>
                  <a:pt x="431" y="419"/>
                </a:lnTo>
                <a:lnTo>
                  <a:pt x="397" y="385"/>
                </a:lnTo>
                <a:lnTo>
                  <a:pt x="363" y="363"/>
                </a:lnTo>
                <a:lnTo>
                  <a:pt x="329" y="340"/>
                </a:lnTo>
                <a:lnTo>
                  <a:pt x="283" y="306"/>
                </a:lnTo>
                <a:lnTo>
                  <a:pt x="250" y="283"/>
                </a:lnTo>
                <a:lnTo>
                  <a:pt x="216" y="249"/>
                </a:lnTo>
                <a:lnTo>
                  <a:pt x="204" y="215"/>
                </a:lnTo>
                <a:lnTo>
                  <a:pt x="170" y="215"/>
                </a:lnTo>
                <a:lnTo>
                  <a:pt x="136" y="215"/>
                </a:lnTo>
                <a:lnTo>
                  <a:pt x="102" y="227"/>
                </a:lnTo>
                <a:lnTo>
                  <a:pt x="68" y="227"/>
                </a:lnTo>
                <a:lnTo>
                  <a:pt x="34" y="227"/>
                </a:lnTo>
                <a:lnTo>
                  <a:pt x="0" y="227"/>
                </a:lnTo>
                <a:lnTo>
                  <a:pt x="34" y="204"/>
                </a:lnTo>
                <a:lnTo>
                  <a:pt x="68" y="193"/>
                </a:lnTo>
                <a:lnTo>
                  <a:pt x="102" y="193"/>
                </a:lnTo>
                <a:lnTo>
                  <a:pt x="136" y="182"/>
                </a:lnTo>
                <a:lnTo>
                  <a:pt x="170" y="182"/>
                </a:lnTo>
                <a:lnTo>
                  <a:pt x="204" y="182"/>
                </a:lnTo>
                <a:lnTo>
                  <a:pt x="238" y="193"/>
                </a:lnTo>
                <a:lnTo>
                  <a:pt x="272" y="193"/>
                </a:lnTo>
                <a:lnTo>
                  <a:pt x="306" y="204"/>
                </a:lnTo>
                <a:lnTo>
                  <a:pt x="317" y="170"/>
                </a:lnTo>
                <a:lnTo>
                  <a:pt x="317" y="136"/>
                </a:lnTo>
                <a:lnTo>
                  <a:pt x="317" y="102"/>
                </a:lnTo>
                <a:lnTo>
                  <a:pt x="317" y="68"/>
                </a:lnTo>
                <a:lnTo>
                  <a:pt x="317" y="34"/>
                </a:lnTo>
                <a:lnTo>
                  <a:pt x="351" y="12"/>
                </a:lnTo>
                <a:lnTo>
                  <a:pt x="363" y="46"/>
                </a:lnTo>
                <a:lnTo>
                  <a:pt x="374" y="80"/>
                </a:lnTo>
                <a:lnTo>
                  <a:pt x="374" y="114"/>
                </a:lnTo>
                <a:lnTo>
                  <a:pt x="374" y="148"/>
                </a:lnTo>
                <a:lnTo>
                  <a:pt x="374" y="182"/>
                </a:lnTo>
                <a:lnTo>
                  <a:pt x="374" y="215"/>
                </a:lnTo>
                <a:lnTo>
                  <a:pt x="385" y="249"/>
                </a:lnTo>
                <a:lnTo>
                  <a:pt x="397" y="283"/>
                </a:lnTo>
                <a:lnTo>
                  <a:pt x="431" y="317"/>
                </a:lnTo>
                <a:lnTo>
                  <a:pt x="453" y="351"/>
                </a:lnTo>
                <a:lnTo>
                  <a:pt x="487" y="374"/>
                </a:lnTo>
                <a:lnTo>
                  <a:pt x="521" y="408"/>
                </a:lnTo>
                <a:lnTo>
                  <a:pt x="555" y="408"/>
                </a:lnTo>
                <a:lnTo>
                  <a:pt x="589" y="419"/>
                </a:lnTo>
                <a:lnTo>
                  <a:pt x="623" y="419"/>
                </a:lnTo>
                <a:lnTo>
                  <a:pt x="657" y="408"/>
                </a:lnTo>
                <a:lnTo>
                  <a:pt x="680" y="374"/>
                </a:lnTo>
                <a:lnTo>
                  <a:pt x="702" y="340"/>
                </a:lnTo>
                <a:lnTo>
                  <a:pt x="725" y="306"/>
                </a:lnTo>
                <a:lnTo>
                  <a:pt x="736" y="272"/>
                </a:lnTo>
                <a:lnTo>
                  <a:pt x="759" y="238"/>
                </a:lnTo>
                <a:lnTo>
                  <a:pt x="770" y="204"/>
                </a:lnTo>
                <a:lnTo>
                  <a:pt x="793" y="170"/>
                </a:lnTo>
                <a:lnTo>
                  <a:pt x="804" y="136"/>
                </a:lnTo>
                <a:lnTo>
                  <a:pt x="816" y="102"/>
                </a:lnTo>
                <a:lnTo>
                  <a:pt x="838" y="68"/>
                </a:lnTo>
                <a:lnTo>
                  <a:pt x="850" y="34"/>
                </a:lnTo>
                <a:lnTo>
                  <a:pt x="872" y="0"/>
                </a:lnTo>
                <a:lnTo>
                  <a:pt x="906" y="0"/>
                </a:lnTo>
                <a:lnTo>
                  <a:pt x="940" y="12"/>
                </a:lnTo>
                <a:lnTo>
                  <a:pt x="918" y="46"/>
                </a:lnTo>
                <a:lnTo>
                  <a:pt x="895" y="80"/>
                </a:lnTo>
                <a:lnTo>
                  <a:pt x="872" y="114"/>
                </a:lnTo>
                <a:lnTo>
                  <a:pt x="850" y="148"/>
                </a:lnTo>
                <a:lnTo>
                  <a:pt x="838" y="182"/>
                </a:lnTo>
                <a:lnTo>
                  <a:pt x="816" y="215"/>
                </a:lnTo>
                <a:lnTo>
                  <a:pt x="793" y="249"/>
                </a:lnTo>
                <a:lnTo>
                  <a:pt x="782" y="283"/>
                </a:lnTo>
                <a:lnTo>
                  <a:pt x="770" y="317"/>
                </a:lnTo>
                <a:lnTo>
                  <a:pt x="748" y="351"/>
                </a:lnTo>
                <a:lnTo>
                  <a:pt x="725" y="385"/>
                </a:lnTo>
                <a:lnTo>
                  <a:pt x="702" y="419"/>
                </a:lnTo>
                <a:lnTo>
                  <a:pt x="680" y="453"/>
                </a:lnTo>
                <a:lnTo>
                  <a:pt x="657" y="487"/>
                </a:lnTo>
                <a:lnTo>
                  <a:pt x="657" y="521"/>
                </a:lnTo>
                <a:lnTo>
                  <a:pt x="657" y="555"/>
                </a:lnTo>
                <a:lnTo>
                  <a:pt x="691" y="578"/>
                </a:lnTo>
                <a:lnTo>
                  <a:pt x="725" y="600"/>
                </a:lnTo>
                <a:lnTo>
                  <a:pt x="748" y="634"/>
                </a:lnTo>
                <a:lnTo>
                  <a:pt x="782" y="668"/>
                </a:lnTo>
                <a:lnTo>
                  <a:pt x="816" y="691"/>
                </a:lnTo>
                <a:lnTo>
                  <a:pt x="852" y="746"/>
                </a:lnTo>
                <a:lnTo>
                  <a:pt x="852" y="746"/>
                </a:lnTo>
              </a:path>
            </a:pathLst>
          </a:custGeom>
          <a:gradFill rotWithShape="0">
            <a:gsLst>
              <a:gs pos="0">
                <a:srgbClr val="FFFF00"/>
              </a:gs>
              <a:gs pos="100000">
                <a:srgbClr val="FFFF00">
                  <a:gamma/>
                  <a:shade val="69804"/>
                  <a:invGamma/>
                </a:srgbClr>
              </a:gs>
            </a:gsLst>
            <a:path path="rect">
              <a:fillToRect r="100000" b="100000"/>
            </a:path>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41" name="Freeform 5"/>
          <p:cNvSpPr>
            <a:spLocks/>
          </p:cNvSpPr>
          <p:nvPr/>
        </p:nvSpPr>
        <p:spPr bwMode="auto">
          <a:xfrm>
            <a:off x="60325" y="2009775"/>
            <a:ext cx="2787650" cy="3522663"/>
          </a:xfrm>
          <a:custGeom>
            <a:avLst/>
            <a:gdLst>
              <a:gd name="T0" fmla="*/ 498 w 1756"/>
              <a:gd name="T1" fmla="*/ 464 h 2219"/>
              <a:gd name="T2" fmla="*/ 339 w 1756"/>
              <a:gd name="T3" fmla="*/ 249 h 2219"/>
              <a:gd name="T4" fmla="*/ 215 w 1756"/>
              <a:gd name="T5" fmla="*/ 102 h 2219"/>
              <a:gd name="T6" fmla="*/ 215 w 1756"/>
              <a:gd name="T7" fmla="*/ 102 h 2219"/>
              <a:gd name="T8" fmla="*/ 124 w 1756"/>
              <a:gd name="T9" fmla="*/ 294 h 2219"/>
              <a:gd name="T10" fmla="*/ 79 w 1756"/>
              <a:gd name="T11" fmla="*/ 407 h 2219"/>
              <a:gd name="T12" fmla="*/ 113 w 1756"/>
              <a:gd name="T13" fmla="*/ 430 h 2219"/>
              <a:gd name="T14" fmla="*/ 22 w 1756"/>
              <a:gd name="T15" fmla="*/ 758 h 2219"/>
              <a:gd name="T16" fmla="*/ 79 w 1756"/>
              <a:gd name="T17" fmla="*/ 702 h 2219"/>
              <a:gd name="T18" fmla="*/ 170 w 1756"/>
              <a:gd name="T19" fmla="*/ 475 h 2219"/>
              <a:gd name="T20" fmla="*/ 305 w 1756"/>
              <a:gd name="T21" fmla="*/ 396 h 2219"/>
              <a:gd name="T22" fmla="*/ 396 w 1756"/>
              <a:gd name="T23" fmla="*/ 577 h 2219"/>
              <a:gd name="T24" fmla="*/ 305 w 1756"/>
              <a:gd name="T25" fmla="*/ 792 h 2219"/>
              <a:gd name="T26" fmla="*/ 464 w 1756"/>
              <a:gd name="T27" fmla="*/ 611 h 2219"/>
              <a:gd name="T28" fmla="*/ 509 w 1756"/>
              <a:gd name="T29" fmla="*/ 747 h 2219"/>
              <a:gd name="T30" fmla="*/ 328 w 1756"/>
              <a:gd name="T31" fmla="*/ 917 h 2219"/>
              <a:gd name="T32" fmla="*/ 124 w 1756"/>
              <a:gd name="T33" fmla="*/ 1019 h 2219"/>
              <a:gd name="T34" fmla="*/ 158 w 1756"/>
              <a:gd name="T35" fmla="*/ 883 h 2219"/>
              <a:gd name="T36" fmla="*/ 90 w 1756"/>
              <a:gd name="T37" fmla="*/ 1019 h 2219"/>
              <a:gd name="T38" fmla="*/ 56 w 1756"/>
              <a:gd name="T39" fmla="*/ 1222 h 2219"/>
              <a:gd name="T40" fmla="*/ 90 w 1756"/>
              <a:gd name="T41" fmla="*/ 1437 h 2219"/>
              <a:gd name="T42" fmla="*/ 158 w 1756"/>
              <a:gd name="T43" fmla="*/ 1222 h 2219"/>
              <a:gd name="T44" fmla="*/ 317 w 1756"/>
              <a:gd name="T45" fmla="*/ 1007 h 2219"/>
              <a:gd name="T46" fmla="*/ 509 w 1756"/>
              <a:gd name="T47" fmla="*/ 849 h 2219"/>
              <a:gd name="T48" fmla="*/ 498 w 1756"/>
              <a:gd name="T49" fmla="*/ 1030 h 2219"/>
              <a:gd name="T50" fmla="*/ 396 w 1756"/>
              <a:gd name="T51" fmla="*/ 1279 h 2219"/>
              <a:gd name="T52" fmla="*/ 249 w 1756"/>
              <a:gd name="T53" fmla="*/ 1573 h 2219"/>
              <a:gd name="T54" fmla="*/ 158 w 1756"/>
              <a:gd name="T55" fmla="*/ 1822 h 2219"/>
              <a:gd name="T56" fmla="*/ 294 w 1756"/>
              <a:gd name="T57" fmla="*/ 1641 h 2219"/>
              <a:gd name="T58" fmla="*/ 441 w 1756"/>
              <a:gd name="T59" fmla="*/ 1539 h 2219"/>
              <a:gd name="T60" fmla="*/ 577 w 1756"/>
              <a:gd name="T61" fmla="*/ 1856 h 2219"/>
              <a:gd name="T62" fmla="*/ 634 w 1756"/>
              <a:gd name="T63" fmla="*/ 2116 h 2219"/>
              <a:gd name="T64" fmla="*/ 657 w 1756"/>
              <a:gd name="T65" fmla="*/ 1924 h 2219"/>
              <a:gd name="T66" fmla="*/ 792 w 1756"/>
              <a:gd name="T67" fmla="*/ 1833 h 2219"/>
              <a:gd name="T68" fmla="*/ 792 w 1756"/>
              <a:gd name="T69" fmla="*/ 1811 h 2219"/>
              <a:gd name="T70" fmla="*/ 589 w 1756"/>
              <a:gd name="T71" fmla="*/ 1675 h 2219"/>
              <a:gd name="T72" fmla="*/ 668 w 1756"/>
              <a:gd name="T73" fmla="*/ 1596 h 2219"/>
              <a:gd name="T74" fmla="*/ 917 w 1756"/>
              <a:gd name="T75" fmla="*/ 1698 h 2219"/>
              <a:gd name="T76" fmla="*/ 1132 w 1756"/>
              <a:gd name="T77" fmla="*/ 1720 h 2219"/>
              <a:gd name="T78" fmla="*/ 1087 w 1756"/>
              <a:gd name="T79" fmla="*/ 1890 h 2219"/>
              <a:gd name="T80" fmla="*/ 996 w 1756"/>
              <a:gd name="T81" fmla="*/ 2184 h 2219"/>
              <a:gd name="T82" fmla="*/ 1143 w 1756"/>
              <a:gd name="T83" fmla="*/ 1913 h 2219"/>
              <a:gd name="T84" fmla="*/ 1200 w 1756"/>
              <a:gd name="T85" fmla="*/ 1698 h 2219"/>
              <a:gd name="T86" fmla="*/ 974 w 1756"/>
              <a:gd name="T87" fmla="*/ 1584 h 2219"/>
              <a:gd name="T88" fmla="*/ 826 w 1756"/>
              <a:gd name="T89" fmla="*/ 1517 h 2219"/>
              <a:gd name="T90" fmla="*/ 1234 w 1756"/>
              <a:gd name="T91" fmla="*/ 1494 h 2219"/>
              <a:gd name="T92" fmla="*/ 1325 w 1756"/>
              <a:gd name="T93" fmla="*/ 1664 h 2219"/>
              <a:gd name="T94" fmla="*/ 1630 w 1756"/>
              <a:gd name="T95" fmla="*/ 1754 h 2219"/>
              <a:gd name="T96" fmla="*/ 1551 w 1756"/>
              <a:gd name="T97" fmla="*/ 1698 h 2219"/>
              <a:gd name="T98" fmla="*/ 1370 w 1756"/>
              <a:gd name="T99" fmla="*/ 1584 h 2219"/>
              <a:gd name="T100" fmla="*/ 1245 w 1756"/>
              <a:gd name="T101" fmla="*/ 1449 h 2219"/>
              <a:gd name="T102" fmla="*/ 1042 w 1756"/>
              <a:gd name="T103" fmla="*/ 1415 h 2219"/>
              <a:gd name="T104" fmla="*/ 826 w 1756"/>
              <a:gd name="T105" fmla="*/ 1460 h 2219"/>
              <a:gd name="T106" fmla="*/ 623 w 1756"/>
              <a:gd name="T107" fmla="*/ 1471 h 2219"/>
              <a:gd name="T108" fmla="*/ 475 w 1756"/>
              <a:gd name="T109" fmla="*/ 1358 h 2219"/>
              <a:gd name="T110" fmla="*/ 498 w 1756"/>
              <a:gd name="T111" fmla="*/ 1154 h 2219"/>
              <a:gd name="T112" fmla="*/ 566 w 1756"/>
              <a:gd name="T113" fmla="*/ 951 h 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56" h="2219">
                <a:moveTo>
                  <a:pt x="682" y="414"/>
                </a:moveTo>
                <a:lnTo>
                  <a:pt x="634" y="453"/>
                </a:lnTo>
                <a:lnTo>
                  <a:pt x="600" y="475"/>
                </a:lnTo>
                <a:lnTo>
                  <a:pt x="566" y="487"/>
                </a:lnTo>
                <a:lnTo>
                  <a:pt x="532" y="487"/>
                </a:lnTo>
                <a:lnTo>
                  <a:pt x="498" y="464"/>
                </a:lnTo>
                <a:lnTo>
                  <a:pt x="464" y="441"/>
                </a:lnTo>
                <a:lnTo>
                  <a:pt x="441" y="407"/>
                </a:lnTo>
                <a:lnTo>
                  <a:pt x="407" y="362"/>
                </a:lnTo>
                <a:lnTo>
                  <a:pt x="385" y="317"/>
                </a:lnTo>
                <a:lnTo>
                  <a:pt x="362" y="283"/>
                </a:lnTo>
                <a:lnTo>
                  <a:pt x="339" y="249"/>
                </a:lnTo>
                <a:lnTo>
                  <a:pt x="317" y="215"/>
                </a:lnTo>
                <a:lnTo>
                  <a:pt x="283" y="204"/>
                </a:lnTo>
                <a:lnTo>
                  <a:pt x="249" y="192"/>
                </a:lnTo>
                <a:lnTo>
                  <a:pt x="215" y="170"/>
                </a:lnTo>
                <a:lnTo>
                  <a:pt x="215" y="136"/>
                </a:lnTo>
                <a:lnTo>
                  <a:pt x="215" y="102"/>
                </a:lnTo>
                <a:lnTo>
                  <a:pt x="204" y="68"/>
                </a:lnTo>
                <a:lnTo>
                  <a:pt x="192" y="34"/>
                </a:lnTo>
                <a:lnTo>
                  <a:pt x="170" y="0"/>
                </a:lnTo>
                <a:lnTo>
                  <a:pt x="181" y="34"/>
                </a:lnTo>
                <a:lnTo>
                  <a:pt x="204" y="68"/>
                </a:lnTo>
                <a:lnTo>
                  <a:pt x="215" y="102"/>
                </a:lnTo>
                <a:lnTo>
                  <a:pt x="226" y="136"/>
                </a:lnTo>
                <a:lnTo>
                  <a:pt x="204" y="170"/>
                </a:lnTo>
                <a:lnTo>
                  <a:pt x="181" y="204"/>
                </a:lnTo>
                <a:lnTo>
                  <a:pt x="158" y="238"/>
                </a:lnTo>
                <a:lnTo>
                  <a:pt x="158" y="271"/>
                </a:lnTo>
                <a:lnTo>
                  <a:pt x="124" y="294"/>
                </a:lnTo>
                <a:lnTo>
                  <a:pt x="90" y="317"/>
                </a:lnTo>
                <a:lnTo>
                  <a:pt x="56" y="339"/>
                </a:lnTo>
                <a:lnTo>
                  <a:pt x="34" y="373"/>
                </a:lnTo>
                <a:lnTo>
                  <a:pt x="11" y="407"/>
                </a:lnTo>
                <a:lnTo>
                  <a:pt x="45" y="419"/>
                </a:lnTo>
                <a:lnTo>
                  <a:pt x="79" y="407"/>
                </a:lnTo>
                <a:lnTo>
                  <a:pt x="113" y="385"/>
                </a:lnTo>
                <a:lnTo>
                  <a:pt x="147" y="351"/>
                </a:lnTo>
                <a:lnTo>
                  <a:pt x="181" y="328"/>
                </a:lnTo>
                <a:lnTo>
                  <a:pt x="147" y="362"/>
                </a:lnTo>
                <a:lnTo>
                  <a:pt x="124" y="396"/>
                </a:lnTo>
                <a:lnTo>
                  <a:pt x="113" y="430"/>
                </a:lnTo>
                <a:lnTo>
                  <a:pt x="102" y="464"/>
                </a:lnTo>
                <a:lnTo>
                  <a:pt x="90" y="509"/>
                </a:lnTo>
                <a:lnTo>
                  <a:pt x="79" y="588"/>
                </a:lnTo>
                <a:lnTo>
                  <a:pt x="56" y="679"/>
                </a:lnTo>
                <a:lnTo>
                  <a:pt x="45" y="724"/>
                </a:lnTo>
                <a:lnTo>
                  <a:pt x="22" y="758"/>
                </a:lnTo>
                <a:lnTo>
                  <a:pt x="11" y="792"/>
                </a:lnTo>
                <a:lnTo>
                  <a:pt x="0" y="826"/>
                </a:lnTo>
                <a:lnTo>
                  <a:pt x="34" y="815"/>
                </a:lnTo>
                <a:lnTo>
                  <a:pt x="56" y="769"/>
                </a:lnTo>
                <a:lnTo>
                  <a:pt x="68" y="736"/>
                </a:lnTo>
                <a:lnTo>
                  <a:pt x="79" y="702"/>
                </a:lnTo>
                <a:lnTo>
                  <a:pt x="90" y="656"/>
                </a:lnTo>
                <a:lnTo>
                  <a:pt x="102" y="622"/>
                </a:lnTo>
                <a:lnTo>
                  <a:pt x="113" y="588"/>
                </a:lnTo>
                <a:lnTo>
                  <a:pt x="136" y="543"/>
                </a:lnTo>
                <a:lnTo>
                  <a:pt x="147" y="509"/>
                </a:lnTo>
                <a:lnTo>
                  <a:pt x="170" y="475"/>
                </a:lnTo>
                <a:lnTo>
                  <a:pt x="181" y="441"/>
                </a:lnTo>
                <a:lnTo>
                  <a:pt x="192" y="407"/>
                </a:lnTo>
                <a:lnTo>
                  <a:pt x="204" y="373"/>
                </a:lnTo>
                <a:lnTo>
                  <a:pt x="238" y="373"/>
                </a:lnTo>
                <a:lnTo>
                  <a:pt x="272" y="373"/>
                </a:lnTo>
                <a:lnTo>
                  <a:pt x="305" y="396"/>
                </a:lnTo>
                <a:lnTo>
                  <a:pt x="339" y="419"/>
                </a:lnTo>
                <a:lnTo>
                  <a:pt x="362" y="453"/>
                </a:lnTo>
                <a:lnTo>
                  <a:pt x="396" y="475"/>
                </a:lnTo>
                <a:lnTo>
                  <a:pt x="407" y="509"/>
                </a:lnTo>
                <a:lnTo>
                  <a:pt x="407" y="543"/>
                </a:lnTo>
                <a:lnTo>
                  <a:pt x="396" y="577"/>
                </a:lnTo>
                <a:lnTo>
                  <a:pt x="385" y="611"/>
                </a:lnTo>
                <a:lnTo>
                  <a:pt x="362" y="645"/>
                </a:lnTo>
                <a:lnTo>
                  <a:pt x="339" y="690"/>
                </a:lnTo>
                <a:lnTo>
                  <a:pt x="317" y="724"/>
                </a:lnTo>
                <a:lnTo>
                  <a:pt x="305" y="758"/>
                </a:lnTo>
                <a:lnTo>
                  <a:pt x="305" y="792"/>
                </a:lnTo>
                <a:lnTo>
                  <a:pt x="339" y="769"/>
                </a:lnTo>
                <a:lnTo>
                  <a:pt x="362" y="736"/>
                </a:lnTo>
                <a:lnTo>
                  <a:pt x="385" y="702"/>
                </a:lnTo>
                <a:lnTo>
                  <a:pt x="407" y="668"/>
                </a:lnTo>
                <a:lnTo>
                  <a:pt x="430" y="634"/>
                </a:lnTo>
                <a:lnTo>
                  <a:pt x="464" y="611"/>
                </a:lnTo>
                <a:lnTo>
                  <a:pt x="498" y="611"/>
                </a:lnTo>
                <a:lnTo>
                  <a:pt x="532" y="611"/>
                </a:lnTo>
                <a:lnTo>
                  <a:pt x="555" y="645"/>
                </a:lnTo>
                <a:lnTo>
                  <a:pt x="543" y="679"/>
                </a:lnTo>
                <a:lnTo>
                  <a:pt x="532" y="713"/>
                </a:lnTo>
                <a:lnTo>
                  <a:pt x="509" y="747"/>
                </a:lnTo>
                <a:lnTo>
                  <a:pt x="498" y="781"/>
                </a:lnTo>
                <a:lnTo>
                  <a:pt x="464" y="815"/>
                </a:lnTo>
                <a:lnTo>
                  <a:pt x="430" y="849"/>
                </a:lnTo>
                <a:lnTo>
                  <a:pt x="396" y="871"/>
                </a:lnTo>
                <a:lnTo>
                  <a:pt x="362" y="894"/>
                </a:lnTo>
                <a:lnTo>
                  <a:pt x="328" y="917"/>
                </a:lnTo>
                <a:lnTo>
                  <a:pt x="294" y="939"/>
                </a:lnTo>
                <a:lnTo>
                  <a:pt x="260" y="962"/>
                </a:lnTo>
                <a:lnTo>
                  <a:pt x="226" y="973"/>
                </a:lnTo>
                <a:lnTo>
                  <a:pt x="192" y="996"/>
                </a:lnTo>
                <a:lnTo>
                  <a:pt x="158" y="1007"/>
                </a:lnTo>
                <a:lnTo>
                  <a:pt x="124" y="1019"/>
                </a:lnTo>
                <a:lnTo>
                  <a:pt x="102" y="1052"/>
                </a:lnTo>
                <a:lnTo>
                  <a:pt x="90" y="1019"/>
                </a:lnTo>
                <a:lnTo>
                  <a:pt x="102" y="985"/>
                </a:lnTo>
                <a:lnTo>
                  <a:pt x="102" y="951"/>
                </a:lnTo>
                <a:lnTo>
                  <a:pt x="136" y="917"/>
                </a:lnTo>
                <a:lnTo>
                  <a:pt x="158" y="883"/>
                </a:lnTo>
                <a:lnTo>
                  <a:pt x="124" y="871"/>
                </a:lnTo>
                <a:lnTo>
                  <a:pt x="90" y="883"/>
                </a:lnTo>
                <a:lnTo>
                  <a:pt x="68" y="917"/>
                </a:lnTo>
                <a:lnTo>
                  <a:pt x="56" y="951"/>
                </a:lnTo>
                <a:lnTo>
                  <a:pt x="79" y="985"/>
                </a:lnTo>
                <a:lnTo>
                  <a:pt x="90" y="1019"/>
                </a:lnTo>
                <a:lnTo>
                  <a:pt x="79" y="1052"/>
                </a:lnTo>
                <a:lnTo>
                  <a:pt x="56" y="1086"/>
                </a:lnTo>
                <a:lnTo>
                  <a:pt x="56" y="1120"/>
                </a:lnTo>
                <a:lnTo>
                  <a:pt x="56" y="1154"/>
                </a:lnTo>
                <a:lnTo>
                  <a:pt x="56" y="1188"/>
                </a:lnTo>
                <a:lnTo>
                  <a:pt x="56" y="1222"/>
                </a:lnTo>
                <a:lnTo>
                  <a:pt x="56" y="1256"/>
                </a:lnTo>
                <a:lnTo>
                  <a:pt x="56" y="1290"/>
                </a:lnTo>
                <a:lnTo>
                  <a:pt x="56" y="1324"/>
                </a:lnTo>
                <a:lnTo>
                  <a:pt x="56" y="1358"/>
                </a:lnTo>
                <a:lnTo>
                  <a:pt x="79" y="1403"/>
                </a:lnTo>
                <a:lnTo>
                  <a:pt x="90" y="1437"/>
                </a:lnTo>
                <a:lnTo>
                  <a:pt x="102" y="1403"/>
                </a:lnTo>
                <a:lnTo>
                  <a:pt x="102" y="1369"/>
                </a:lnTo>
                <a:lnTo>
                  <a:pt x="102" y="1335"/>
                </a:lnTo>
                <a:lnTo>
                  <a:pt x="113" y="1301"/>
                </a:lnTo>
                <a:lnTo>
                  <a:pt x="124" y="1268"/>
                </a:lnTo>
                <a:lnTo>
                  <a:pt x="158" y="1222"/>
                </a:lnTo>
                <a:lnTo>
                  <a:pt x="170" y="1188"/>
                </a:lnTo>
                <a:lnTo>
                  <a:pt x="204" y="1154"/>
                </a:lnTo>
                <a:lnTo>
                  <a:pt x="238" y="1120"/>
                </a:lnTo>
                <a:lnTo>
                  <a:pt x="260" y="1086"/>
                </a:lnTo>
                <a:lnTo>
                  <a:pt x="283" y="1052"/>
                </a:lnTo>
                <a:lnTo>
                  <a:pt x="317" y="1007"/>
                </a:lnTo>
                <a:lnTo>
                  <a:pt x="339" y="973"/>
                </a:lnTo>
                <a:lnTo>
                  <a:pt x="385" y="951"/>
                </a:lnTo>
                <a:lnTo>
                  <a:pt x="419" y="939"/>
                </a:lnTo>
                <a:lnTo>
                  <a:pt x="453" y="928"/>
                </a:lnTo>
                <a:lnTo>
                  <a:pt x="487" y="883"/>
                </a:lnTo>
                <a:lnTo>
                  <a:pt x="509" y="849"/>
                </a:lnTo>
                <a:lnTo>
                  <a:pt x="521" y="815"/>
                </a:lnTo>
                <a:lnTo>
                  <a:pt x="521" y="849"/>
                </a:lnTo>
                <a:lnTo>
                  <a:pt x="509" y="928"/>
                </a:lnTo>
                <a:lnTo>
                  <a:pt x="509" y="962"/>
                </a:lnTo>
                <a:lnTo>
                  <a:pt x="509" y="996"/>
                </a:lnTo>
                <a:lnTo>
                  <a:pt x="498" y="1030"/>
                </a:lnTo>
                <a:lnTo>
                  <a:pt x="475" y="1075"/>
                </a:lnTo>
                <a:lnTo>
                  <a:pt x="464" y="1109"/>
                </a:lnTo>
                <a:lnTo>
                  <a:pt x="453" y="1143"/>
                </a:lnTo>
                <a:lnTo>
                  <a:pt x="419" y="1177"/>
                </a:lnTo>
                <a:lnTo>
                  <a:pt x="407" y="1245"/>
                </a:lnTo>
                <a:lnTo>
                  <a:pt x="396" y="1279"/>
                </a:lnTo>
                <a:lnTo>
                  <a:pt x="385" y="1313"/>
                </a:lnTo>
                <a:lnTo>
                  <a:pt x="373" y="1347"/>
                </a:lnTo>
                <a:lnTo>
                  <a:pt x="351" y="1392"/>
                </a:lnTo>
                <a:lnTo>
                  <a:pt x="317" y="1483"/>
                </a:lnTo>
                <a:lnTo>
                  <a:pt x="283" y="1528"/>
                </a:lnTo>
                <a:lnTo>
                  <a:pt x="249" y="1573"/>
                </a:lnTo>
                <a:lnTo>
                  <a:pt x="215" y="1652"/>
                </a:lnTo>
                <a:lnTo>
                  <a:pt x="181" y="1686"/>
                </a:lnTo>
                <a:lnTo>
                  <a:pt x="147" y="1720"/>
                </a:lnTo>
                <a:lnTo>
                  <a:pt x="136" y="1754"/>
                </a:lnTo>
                <a:lnTo>
                  <a:pt x="136" y="1788"/>
                </a:lnTo>
                <a:lnTo>
                  <a:pt x="158" y="1822"/>
                </a:lnTo>
                <a:lnTo>
                  <a:pt x="192" y="1811"/>
                </a:lnTo>
                <a:lnTo>
                  <a:pt x="215" y="1777"/>
                </a:lnTo>
                <a:lnTo>
                  <a:pt x="238" y="1743"/>
                </a:lnTo>
                <a:lnTo>
                  <a:pt x="249" y="1709"/>
                </a:lnTo>
                <a:lnTo>
                  <a:pt x="272" y="1675"/>
                </a:lnTo>
                <a:lnTo>
                  <a:pt x="294" y="1641"/>
                </a:lnTo>
                <a:lnTo>
                  <a:pt x="328" y="1607"/>
                </a:lnTo>
                <a:lnTo>
                  <a:pt x="351" y="1562"/>
                </a:lnTo>
                <a:lnTo>
                  <a:pt x="362" y="1517"/>
                </a:lnTo>
                <a:lnTo>
                  <a:pt x="362" y="1483"/>
                </a:lnTo>
                <a:lnTo>
                  <a:pt x="407" y="1505"/>
                </a:lnTo>
                <a:lnTo>
                  <a:pt x="441" y="1539"/>
                </a:lnTo>
                <a:lnTo>
                  <a:pt x="475" y="1584"/>
                </a:lnTo>
                <a:lnTo>
                  <a:pt x="498" y="1630"/>
                </a:lnTo>
                <a:lnTo>
                  <a:pt x="521" y="1664"/>
                </a:lnTo>
                <a:lnTo>
                  <a:pt x="532" y="1698"/>
                </a:lnTo>
                <a:lnTo>
                  <a:pt x="555" y="1777"/>
                </a:lnTo>
                <a:lnTo>
                  <a:pt x="577" y="1856"/>
                </a:lnTo>
                <a:lnTo>
                  <a:pt x="600" y="1947"/>
                </a:lnTo>
                <a:lnTo>
                  <a:pt x="611" y="1981"/>
                </a:lnTo>
                <a:lnTo>
                  <a:pt x="623" y="2015"/>
                </a:lnTo>
                <a:lnTo>
                  <a:pt x="634" y="2049"/>
                </a:lnTo>
                <a:lnTo>
                  <a:pt x="634" y="2082"/>
                </a:lnTo>
                <a:lnTo>
                  <a:pt x="634" y="2116"/>
                </a:lnTo>
                <a:lnTo>
                  <a:pt x="634" y="2150"/>
                </a:lnTo>
                <a:lnTo>
                  <a:pt x="634" y="2116"/>
                </a:lnTo>
                <a:lnTo>
                  <a:pt x="645" y="2082"/>
                </a:lnTo>
                <a:lnTo>
                  <a:pt x="645" y="2049"/>
                </a:lnTo>
                <a:lnTo>
                  <a:pt x="657" y="1969"/>
                </a:lnTo>
                <a:lnTo>
                  <a:pt x="657" y="1924"/>
                </a:lnTo>
                <a:lnTo>
                  <a:pt x="657" y="1890"/>
                </a:lnTo>
                <a:lnTo>
                  <a:pt x="657" y="1845"/>
                </a:lnTo>
                <a:lnTo>
                  <a:pt x="645" y="1811"/>
                </a:lnTo>
                <a:lnTo>
                  <a:pt x="679" y="1800"/>
                </a:lnTo>
                <a:lnTo>
                  <a:pt x="758" y="1822"/>
                </a:lnTo>
                <a:lnTo>
                  <a:pt x="792" y="1833"/>
                </a:lnTo>
                <a:lnTo>
                  <a:pt x="826" y="1845"/>
                </a:lnTo>
                <a:lnTo>
                  <a:pt x="860" y="1856"/>
                </a:lnTo>
                <a:lnTo>
                  <a:pt x="894" y="1867"/>
                </a:lnTo>
                <a:lnTo>
                  <a:pt x="860" y="1845"/>
                </a:lnTo>
                <a:lnTo>
                  <a:pt x="826" y="1833"/>
                </a:lnTo>
                <a:lnTo>
                  <a:pt x="792" y="1811"/>
                </a:lnTo>
                <a:lnTo>
                  <a:pt x="758" y="1800"/>
                </a:lnTo>
                <a:lnTo>
                  <a:pt x="724" y="1766"/>
                </a:lnTo>
                <a:lnTo>
                  <a:pt x="690" y="1743"/>
                </a:lnTo>
                <a:lnTo>
                  <a:pt x="657" y="1720"/>
                </a:lnTo>
                <a:lnTo>
                  <a:pt x="623" y="1698"/>
                </a:lnTo>
                <a:lnTo>
                  <a:pt x="589" y="1675"/>
                </a:lnTo>
                <a:lnTo>
                  <a:pt x="566" y="1641"/>
                </a:lnTo>
                <a:lnTo>
                  <a:pt x="566" y="1607"/>
                </a:lnTo>
                <a:lnTo>
                  <a:pt x="566" y="1573"/>
                </a:lnTo>
                <a:lnTo>
                  <a:pt x="600" y="1562"/>
                </a:lnTo>
                <a:lnTo>
                  <a:pt x="634" y="1573"/>
                </a:lnTo>
                <a:lnTo>
                  <a:pt x="668" y="1596"/>
                </a:lnTo>
                <a:lnTo>
                  <a:pt x="713" y="1630"/>
                </a:lnTo>
                <a:lnTo>
                  <a:pt x="758" y="1652"/>
                </a:lnTo>
                <a:lnTo>
                  <a:pt x="804" y="1664"/>
                </a:lnTo>
                <a:lnTo>
                  <a:pt x="849" y="1686"/>
                </a:lnTo>
                <a:lnTo>
                  <a:pt x="883" y="1698"/>
                </a:lnTo>
                <a:lnTo>
                  <a:pt x="917" y="1698"/>
                </a:lnTo>
                <a:lnTo>
                  <a:pt x="951" y="1709"/>
                </a:lnTo>
                <a:lnTo>
                  <a:pt x="985" y="1709"/>
                </a:lnTo>
                <a:lnTo>
                  <a:pt x="1030" y="1720"/>
                </a:lnTo>
                <a:lnTo>
                  <a:pt x="1064" y="1720"/>
                </a:lnTo>
                <a:lnTo>
                  <a:pt x="1098" y="1720"/>
                </a:lnTo>
                <a:lnTo>
                  <a:pt x="1132" y="1720"/>
                </a:lnTo>
                <a:lnTo>
                  <a:pt x="1166" y="1720"/>
                </a:lnTo>
                <a:lnTo>
                  <a:pt x="1189" y="1754"/>
                </a:lnTo>
                <a:lnTo>
                  <a:pt x="1177" y="1788"/>
                </a:lnTo>
                <a:lnTo>
                  <a:pt x="1155" y="1822"/>
                </a:lnTo>
                <a:lnTo>
                  <a:pt x="1121" y="1856"/>
                </a:lnTo>
                <a:lnTo>
                  <a:pt x="1087" y="1890"/>
                </a:lnTo>
                <a:lnTo>
                  <a:pt x="1064" y="1935"/>
                </a:lnTo>
                <a:lnTo>
                  <a:pt x="1030" y="1981"/>
                </a:lnTo>
                <a:lnTo>
                  <a:pt x="996" y="2094"/>
                </a:lnTo>
                <a:lnTo>
                  <a:pt x="985" y="2184"/>
                </a:lnTo>
                <a:lnTo>
                  <a:pt x="985" y="2218"/>
                </a:lnTo>
                <a:lnTo>
                  <a:pt x="996" y="2184"/>
                </a:lnTo>
                <a:lnTo>
                  <a:pt x="1019" y="2150"/>
                </a:lnTo>
                <a:lnTo>
                  <a:pt x="1042" y="2116"/>
                </a:lnTo>
                <a:lnTo>
                  <a:pt x="1075" y="2082"/>
                </a:lnTo>
                <a:lnTo>
                  <a:pt x="1098" y="2049"/>
                </a:lnTo>
                <a:lnTo>
                  <a:pt x="1121" y="2003"/>
                </a:lnTo>
                <a:lnTo>
                  <a:pt x="1143" y="1913"/>
                </a:lnTo>
                <a:lnTo>
                  <a:pt x="1166" y="1867"/>
                </a:lnTo>
                <a:lnTo>
                  <a:pt x="1189" y="1822"/>
                </a:lnTo>
                <a:lnTo>
                  <a:pt x="1200" y="1777"/>
                </a:lnTo>
                <a:lnTo>
                  <a:pt x="1223" y="1732"/>
                </a:lnTo>
                <a:lnTo>
                  <a:pt x="1234" y="1698"/>
                </a:lnTo>
                <a:lnTo>
                  <a:pt x="1200" y="1698"/>
                </a:lnTo>
                <a:lnTo>
                  <a:pt x="1166" y="1686"/>
                </a:lnTo>
                <a:lnTo>
                  <a:pt x="1121" y="1675"/>
                </a:lnTo>
                <a:lnTo>
                  <a:pt x="1087" y="1664"/>
                </a:lnTo>
                <a:lnTo>
                  <a:pt x="1053" y="1641"/>
                </a:lnTo>
                <a:lnTo>
                  <a:pt x="1019" y="1618"/>
                </a:lnTo>
                <a:lnTo>
                  <a:pt x="974" y="1584"/>
                </a:lnTo>
                <a:lnTo>
                  <a:pt x="928" y="1573"/>
                </a:lnTo>
                <a:lnTo>
                  <a:pt x="838" y="1550"/>
                </a:lnTo>
                <a:lnTo>
                  <a:pt x="792" y="1539"/>
                </a:lnTo>
                <a:lnTo>
                  <a:pt x="758" y="1528"/>
                </a:lnTo>
                <a:lnTo>
                  <a:pt x="792" y="1528"/>
                </a:lnTo>
                <a:lnTo>
                  <a:pt x="826" y="1517"/>
                </a:lnTo>
                <a:lnTo>
                  <a:pt x="917" y="1505"/>
                </a:lnTo>
                <a:lnTo>
                  <a:pt x="1030" y="1505"/>
                </a:lnTo>
                <a:lnTo>
                  <a:pt x="1098" y="1494"/>
                </a:lnTo>
                <a:lnTo>
                  <a:pt x="1166" y="1494"/>
                </a:lnTo>
                <a:lnTo>
                  <a:pt x="1200" y="1494"/>
                </a:lnTo>
                <a:lnTo>
                  <a:pt x="1234" y="1494"/>
                </a:lnTo>
                <a:lnTo>
                  <a:pt x="1268" y="1494"/>
                </a:lnTo>
                <a:lnTo>
                  <a:pt x="1291" y="1528"/>
                </a:lnTo>
                <a:lnTo>
                  <a:pt x="1291" y="1562"/>
                </a:lnTo>
                <a:lnTo>
                  <a:pt x="1302" y="1596"/>
                </a:lnTo>
                <a:lnTo>
                  <a:pt x="1302" y="1630"/>
                </a:lnTo>
                <a:lnTo>
                  <a:pt x="1325" y="1664"/>
                </a:lnTo>
                <a:lnTo>
                  <a:pt x="1325" y="1698"/>
                </a:lnTo>
                <a:lnTo>
                  <a:pt x="1359" y="1698"/>
                </a:lnTo>
                <a:lnTo>
                  <a:pt x="1393" y="1709"/>
                </a:lnTo>
                <a:lnTo>
                  <a:pt x="1461" y="1720"/>
                </a:lnTo>
                <a:lnTo>
                  <a:pt x="1551" y="1743"/>
                </a:lnTo>
                <a:lnTo>
                  <a:pt x="1630" y="1754"/>
                </a:lnTo>
                <a:lnTo>
                  <a:pt x="1721" y="1777"/>
                </a:lnTo>
                <a:lnTo>
                  <a:pt x="1755" y="1788"/>
                </a:lnTo>
                <a:lnTo>
                  <a:pt x="1664" y="1766"/>
                </a:lnTo>
                <a:lnTo>
                  <a:pt x="1619" y="1743"/>
                </a:lnTo>
                <a:lnTo>
                  <a:pt x="1585" y="1720"/>
                </a:lnTo>
                <a:lnTo>
                  <a:pt x="1551" y="1698"/>
                </a:lnTo>
                <a:lnTo>
                  <a:pt x="1517" y="1675"/>
                </a:lnTo>
                <a:lnTo>
                  <a:pt x="1483" y="1664"/>
                </a:lnTo>
                <a:lnTo>
                  <a:pt x="1449" y="1652"/>
                </a:lnTo>
                <a:lnTo>
                  <a:pt x="1415" y="1641"/>
                </a:lnTo>
                <a:lnTo>
                  <a:pt x="1381" y="1618"/>
                </a:lnTo>
                <a:lnTo>
                  <a:pt x="1370" y="1584"/>
                </a:lnTo>
                <a:lnTo>
                  <a:pt x="1359" y="1550"/>
                </a:lnTo>
                <a:lnTo>
                  <a:pt x="1347" y="1517"/>
                </a:lnTo>
                <a:lnTo>
                  <a:pt x="1325" y="1483"/>
                </a:lnTo>
                <a:lnTo>
                  <a:pt x="1313" y="1449"/>
                </a:lnTo>
                <a:lnTo>
                  <a:pt x="1279" y="1437"/>
                </a:lnTo>
                <a:lnTo>
                  <a:pt x="1245" y="1449"/>
                </a:lnTo>
                <a:lnTo>
                  <a:pt x="1211" y="1449"/>
                </a:lnTo>
                <a:lnTo>
                  <a:pt x="1177" y="1426"/>
                </a:lnTo>
                <a:lnTo>
                  <a:pt x="1143" y="1415"/>
                </a:lnTo>
                <a:lnTo>
                  <a:pt x="1109" y="1415"/>
                </a:lnTo>
                <a:lnTo>
                  <a:pt x="1075" y="1415"/>
                </a:lnTo>
                <a:lnTo>
                  <a:pt x="1042" y="1415"/>
                </a:lnTo>
                <a:lnTo>
                  <a:pt x="1008" y="1415"/>
                </a:lnTo>
                <a:lnTo>
                  <a:pt x="974" y="1426"/>
                </a:lnTo>
                <a:lnTo>
                  <a:pt x="928" y="1426"/>
                </a:lnTo>
                <a:lnTo>
                  <a:pt x="894" y="1437"/>
                </a:lnTo>
                <a:lnTo>
                  <a:pt x="860" y="1437"/>
                </a:lnTo>
                <a:lnTo>
                  <a:pt x="826" y="1460"/>
                </a:lnTo>
                <a:lnTo>
                  <a:pt x="792" y="1483"/>
                </a:lnTo>
                <a:lnTo>
                  <a:pt x="758" y="1494"/>
                </a:lnTo>
                <a:lnTo>
                  <a:pt x="724" y="1494"/>
                </a:lnTo>
                <a:lnTo>
                  <a:pt x="690" y="1483"/>
                </a:lnTo>
                <a:lnTo>
                  <a:pt x="657" y="1471"/>
                </a:lnTo>
                <a:lnTo>
                  <a:pt x="623" y="1471"/>
                </a:lnTo>
                <a:lnTo>
                  <a:pt x="589" y="1471"/>
                </a:lnTo>
                <a:lnTo>
                  <a:pt x="555" y="1471"/>
                </a:lnTo>
                <a:lnTo>
                  <a:pt x="521" y="1449"/>
                </a:lnTo>
                <a:lnTo>
                  <a:pt x="487" y="1426"/>
                </a:lnTo>
                <a:lnTo>
                  <a:pt x="475" y="1392"/>
                </a:lnTo>
                <a:lnTo>
                  <a:pt x="475" y="1358"/>
                </a:lnTo>
                <a:lnTo>
                  <a:pt x="487" y="1324"/>
                </a:lnTo>
                <a:lnTo>
                  <a:pt x="487" y="1290"/>
                </a:lnTo>
                <a:lnTo>
                  <a:pt x="498" y="1256"/>
                </a:lnTo>
                <a:lnTo>
                  <a:pt x="498" y="1222"/>
                </a:lnTo>
                <a:lnTo>
                  <a:pt x="498" y="1188"/>
                </a:lnTo>
                <a:lnTo>
                  <a:pt x="498" y="1154"/>
                </a:lnTo>
                <a:lnTo>
                  <a:pt x="509" y="1120"/>
                </a:lnTo>
                <a:lnTo>
                  <a:pt x="543" y="1086"/>
                </a:lnTo>
                <a:lnTo>
                  <a:pt x="566" y="1052"/>
                </a:lnTo>
                <a:lnTo>
                  <a:pt x="555" y="1019"/>
                </a:lnTo>
                <a:lnTo>
                  <a:pt x="543" y="985"/>
                </a:lnTo>
                <a:lnTo>
                  <a:pt x="566" y="951"/>
                </a:lnTo>
                <a:lnTo>
                  <a:pt x="566" y="917"/>
                </a:lnTo>
                <a:lnTo>
                  <a:pt x="600" y="917"/>
                </a:lnTo>
                <a:lnTo>
                  <a:pt x="634" y="917"/>
                </a:lnTo>
                <a:lnTo>
                  <a:pt x="682" y="414"/>
                </a:lnTo>
              </a:path>
            </a:pathLst>
          </a:custGeom>
          <a:gradFill rotWithShape="0">
            <a:gsLst>
              <a:gs pos="0">
                <a:srgbClr val="FFFF00"/>
              </a:gs>
              <a:gs pos="100000">
                <a:srgbClr val="FFFF00">
                  <a:gamma/>
                  <a:shade val="69804"/>
                  <a:invGamma/>
                </a:srgbClr>
              </a:gs>
            </a:gsLst>
            <a:path path="rect">
              <a:fillToRect r="100000" b="100000"/>
            </a:path>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42" name="Oval 6"/>
          <p:cNvSpPr>
            <a:spLocks noChangeArrowheads="1"/>
          </p:cNvSpPr>
          <p:nvPr/>
        </p:nvSpPr>
        <p:spPr bwMode="auto">
          <a:xfrm>
            <a:off x="996950" y="2368550"/>
            <a:ext cx="1435100" cy="1663700"/>
          </a:xfrm>
          <a:prstGeom prst="ellipse">
            <a:avLst/>
          </a:prstGeom>
          <a:gradFill rotWithShape="0">
            <a:gsLst>
              <a:gs pos="0">
                <a:srgbClr val="FFFF00"/>
              </a:gs>
              <a:gs pos="100000">
                <a:srgbClr val="FFFF00">
                  <a:gamma/>
                  <a:shade val="69804"/>
                  <a:invGamma/>
                </a:srgbClr>
              </a:gs>
            </a:gsLst>
            <a:path path="rect">
              <a:fillToRect r="100000" b="100000"/>
            </a:path>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dirty="0"/>
          </a:p>
        </p:txBody>
      </p:sp>
      <p:sp>
        <p:nvSpPr>
          <p:cNvPr id="14343" name="Oval 7"/>
          <p:cNvSpPr>
            <a:spLocks noChangeArrowheads="1"/>
          </p:cNvSpPr>
          <p:nvPr/>
        </p:nvSpPr>
        <p:spPr bwMode="auto">
          <a:xfrm>
            <a:off x="1606550" y="3435350"/>
            <a:ext cx="215900" cy="2921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4" name="Freeform 8"/>
          <p:cNvSpPr>
            <a:spLocks/>
          </p:cNvSpPr>
          <p:nvPr/>
        </p:nvSpPr>
        <p:spPr bwMode="auto">
          <a:xfrm>
            <a:off x="2362200" y="2835275"/>
            <a:ext cx="4781550" cy="1189038"/>
          </a:xfrm>
          <a:custGeom>
            <a:avLst/>
            <a:gdLst>
              <a:gd name="T0" fmla="*/ 135 w 3012"/>
              <a:gd name="T1" fmla="*/ 12 h 749"/>
              <a:gd name="T2" fmla="*/ 237 w 3012"/>
              <a:gd name="T3" fmla="*/ 0 h 749"/>
              <a:gd name="T4" fmla="*/ 339 w 3012"/>
              <a:gd name="T5" fmla="*/ 34 h 749"/>
              <a:gd name="T6" fmla="*/ 407 w 3012"/>
              <a:gd name="T7" fmla="*/ 125 h 749"/>
              <a:gd name="T8" fmla="*/ 475 w 3012"/>
              <a:gd name="T9" fmla="*/ 193 h 749"/>
              <a:gd name="T10" fmla="*/ 588 w 3012"/>
              <a:gd name="T11" fmla="*/ 216 h 749"/>
              <a:gd name="T12" fmla="*/ 803 w 3012"/>
              <a:gd name="T13" fmla="*/ 249 h 749"/>
              <a:gd name="T14" fmla="*/ 1086 w 3012"/>
              <a:gd name="T15" fmla="*/ 272 h 749"/>
              <a:gd name="T16" fmla="*/ 1335 w 3012"/>
              <a:gd name="T17" fmla="*/ 295 h 749"/>
              <a:gd name="T18" fmla="*/ 1585 w 3012"/>
              <a:gd name="T19" fmla="*/ 329 h 749"/>
              <a:gd name="T20" fmla="*/ 1743 w 3012"/>
              <a:gd name="T21" fmla="*/ 351 h 749"/>
              <a:gd name="T22" fmla="*/ 1845 w 3012"/>
              <a:gd name="T23" fmla="*/ 363 h 749"/>
              <a:gd name="T24" fmla="*/ 1947 w 3012"/>
              <a:gd name="T25" fmla="*/ 363 h 749"/>
              <a:gd name="T26" fmla="*/ 2060 w 3012"/>
              <a:gd name="T27" fmla="*/ 374 h 749"/>
              <a:gd name="T28" fmla="*/ 2275 w 3012"/>
              <a:gd name="T29" fmla="*/ 385 h 749"/>
              <a:gd name="T30" fmla="*/ 2502 w 3012"/>
              <a:gd name="T31" fmla="*/ 408 h 749"/>
              <a:gd name="T32" fmla="*/ 2615 w 3012"/>
              <a:gd name="T33" fmla="*/ 419 h 749"/>
              <a:gd name="T34" fmla="*/ 2717 w 3012"/>
              <a:gd name="T35" fmla="*/ 431 h 749"/>
              <a:gd name="T36" fmla="*/ 2819 w 3012"/>
              <a:gd name="T37" fmla="*/ 431 h 749"/>
              <a:gd name="T38" fmla="*/ 2864 w 3012"/>
              <a:gd name="T39" fmla="*/ 329 h 749"/>
              <a:gd name="T40" fmla="*/ 2932 w 3012"/>
              <a:gd name="T41" fmla="*/ 295 h 749"/>
              <a:gd name="T42" fmla="*/ 2989 w 3012"/>
              <a:gd name="T43" fmla="*/ 476 h 749"/>
              <a:gd name="T44" fmla="*/ 3011 w 3012"/>
              <a:gd name="T45" fmla="*/ 578 h 749"/>
              <a:gd name="T46" fmla="*/ 2989 w 3012"/>
              <a:gd name="T47" fmla="*/ 680 h 749"/>
              <a:gd name="T48" fmla="*/ 2921 w 3012"/>
              <a:gd name="T49" fmla="*/ 736 h 749"/>
              <a:gd name="T50" fmla="*/ 2853 w 3012"/>
              <a:gd name="T51" fmla="*/ 634 h 749"/>
              <a:gd name="T52" fmla="*/ 2683 w 3012"/>
              <a:gd name="T53" fmla="*/ 623 h 749"/>
              <a:gd name="T54" fmla="*/ 2524 w 3012"/>
              <a:gd name="T55" fmla="*/ 600 h 749"/>
              <a:gd name="T56" fmla="*/ 2400 w 3012"/>
              <a:gd name="T57" fmla="*/ 589 h 749"/>
              <a:gd name="T58" fmla="*/ 2287 w 3012"/>
              <a:gd name="T59" fmla="*/ 566 h 749"/>
              <a:gd name="T60" fmla="*/ 2105 w 3012"/>
              <a:gd name="T61" fmla="*/ 566 h 749"/>
              <a:gd name="T62" fmla="*/ 1811 w 3012"/>
              <a:gd name="T63" fmla="*/ 532 h 749"/>
              <a:gd name="T64" fmla="*/ 1539 w 3012"/>
              <a:gd name="T65" fmla="*/ 499 h 749"/>
              <a:gd name="T66" fmla="*/ 1381 w 3012"/>
              <a:gd name="T67" fmla="*/ 476 h 749"/>
              <a:gd name="T68" fmla="*/ 1279 w 3012"/>
              <a:gd name="T69" fmla="*/ 465 h 749"/>
              <a:gd name="T70" fmla="*/ 1086 w 3012"/>
              <a:gd name="T71" fmla="*/ 442 h 749"/>
              <a:gd name="T72" fmla="*/ 837 w 3012"/>
              <a:gd name="T73" fmla="*/ 397 h 749"/>
              <a:gd name="T74" fmla="*/ 667 w 3012"/>
              <a:gd name="T75" fmla="*/ 363 h 749"/>
              <a:gd name="T76" fmla="*/ 565 w 3012"/>
              <a:gd name="T77" fmla="*/ 340 h 749"/>
              <a:gd name="T78" fmla="*/ 463 w 3012"/>
              <a:gd name="T79" fmla="*/ 329 h 749"/>
              <a:gd name="T80" fmla="*/ 362 w 3012"/>
              <a:gd name="T81" fmla="*/ 329 h 749"/>
              <a:gd name="T82" fmla="*/ 282 w 3012"/>
              <a:gd name="T83" fmla="*/ 419 h 749"/>
              <a:gd name="T84" fmla="*/ 180 w 3012"/>
              <a:gd name="T85" fmla="*/ 465 h 749"/>
              <a:gd name="T86" fmla="*/ 78 w 3012"/>
              <a:gd name="T87" fmla="*/ 465 h 749"/>
              <a:gd name="T88" fmla="*/ 0 w 3012"/>
              <a:gd name="T89" fmla="*/ 422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012" h="749">
                <a:moveTo>
                  <a:pt x="48" y="86"/>
                </a:moveTo>
                <a:lnTo>
                  <a:pt x="101" y="34"/>
                </a:lnTo>
                <a:lnTo>
                  <a:pt x="135" y="12"/>
                </a:lnTo>
                <a:lnTo>
                  <a:pt x="169" y="0"/>
                </a:lnTo>
                <a:lnTo>
                  <a:pt x="203" y="0"/>
                </a:lnTo>
                <a:lnTo>
                  <a:pt x="237" y="0"/>
                </a:lnTo>
                <a:lnTo>
                  <a:pt x="271" y="12"/>
                </a:lnTo>
                <a:lnTo>
                  <a:pt x="305" y="23"/>
                </a:lnTo>
                <a:lnTo>
                  <a:pt x="339" y="34"/>
                </a:lnTo>
                <a:lnTo>
                  <a:pt x="373" y="57"/>
                </a:lnTo>
                <a:lnTo>
                  <a:pt x="384" y="91"/>
                </a:lnTo>
                <a:lnTo>
                  <a:pt x="407" y="125"/>
                </a:lnTo>
                <a:lnTo>
                  <a:pt x="407" y="159"/>
                </a:lnTo>
                <a:lnTo>
                  <a:pt x="441" y="182"/>
                </a:lnTo>
                <a:lnTo>
                  <a:pt x="475" y="193"/>
                </a:lnTo>
                <a:lnTo>
                  <a:pt x="509" y="193"/>
                </a:lnTo>
                <a:lnTo>
                  <a:pt x="554" y="204"/>
                </a:lnTo>
                <a:lnTo>
                  <a:pt x="588" y="216"/>
                </a:lnTo>
                <a:lnTo>
                  <a:pt x="622" y="227"/>
                </a:lnTo>
                <a:lnTo>
                  <a:pt x="713" y="238"/>
                </a:lnTo>
                <a:lnTo>
                  <a:pt x="803" y="249"/>
                </a:lnTo>
                <a:lnTo>
                  <a:pt x="894" y="249"/>
                </a:lnTo>
                <a:lnTo>
                  <a:pt x="973" y="261"/>
                </a:lnTo>
                <a:lnTo>
                  <a:pt x="1086" y="272"/>
                </a:lnTo>
                <a:lnTo>
                  <a:pt x="1177" y="283"/>
                </a:lnTo>
                <a:lnTo>
                  <a:pt x="1267" y="295"/>
                </a:lnTo>
                <a:lnTo>
                  <a:pt x="1335" y="295"/>
                </a:lnTo>
                <a:lnTo>
                  <a:pt x="1403" y="306"/>
                </a:lnTo>
                <a:lnTo>
                  <a:pt x="1494" y="317"/>
                </a:lnTo>
                <a:lnTo>
                  <a:pt x="1585" y="329"/>
                </a:lnTo>
                <a:lnTo>
                  <a:pt x="1630" y="340"/>
                </a:lnTo>
                <a:lnTo>
                  <a:pt x="1664" y="340"/>
                </a:lnTo>
                <a:lnTo>
                  <a:pt x="1743" y="351"/>
                </a:lnTo>
                <a:lnTo>
                  <a:pt x="1777" y="351"/>
                </a:lnTo>
                <a:lnTo>
                  <a:pt x="1811" y="351"/>
                </a:lnTo>
                <a:lnTo>
                  <a:pt x="1845" y="363"/>
                </a:lnTo>
                <a:lnTo>
                  <a:pt x="1879" y="363"/>
                </a:lnTo>
                <a:lnTo>
                  <a:pt x="1913" y="363"/>
                </a:lnTo>
                <a:lnTo>
                  <a:pt x="1947" y="363"/>
                </a:lnTo>
                <a:lnTo>
                  <a:pt x="1992" y="363"/>
                </a:lnTo>
                <a:lnTo>
                  <a:pt x="2026" y="374"/>
                </a:lnTo>
                <a:lnTo>
                  <a:pt x="2060" y="374"/>
                </a:lnTo>
                <a:lnTo>
                  <a:pt x="2139" y="374"/>
                </a:lnTo>
                <a:lnTo>
                  <a:pt x="2185" y="385"/>
                </a:lnTo>
                <a:lnTo>
                  <a:pt x="2275" y="385"/>
                </a:lnTo>
                <a:lnTo>
                  <a:pt x="2366" y="397"/>
                </a:lnTo>
                <a:lnTo>
                  <a:pt x="2456" y="397"/>
                </a:lnTo>
                <a:lnTo>
                  <a:pt x="2502" y="408"/>
                </a:lnTo>
                <a:lnTo>
                  <a:pt x="2547" y="408"/>
                </a:lnTo>
                <a:lnTo>
                  <a:pt x="2581" y="419"/>
                </a:lnTo>
                <a:lnTo>
                  <a:pt x="2615" y="419"/>
                </a:lnTo>
                <a:lnTo>
                  <a:pt x="2649" y="431"/>
                </a:lnTo>
                <a:lnTo>
                  <a:pt x="2683" y="431"/>
                </a:lnTo>
                <a:lnTo>
                  <a:pt x="2717" y="431"/>
                </a:lnTo>
                <a:lnTo>
                  <a:pt x="2751" y="431"/>
                </a:lnTo>
                <a:lnTo>
                  <a:pt x="2785" y="431"/>
                </a:lnTo>
                <a:lnTo>
                  <a:pt x="2819" y="431"/>
                </a:lnTo>
                <a:lnTo>
                  <a:pt x="2841" y="397"/>
                </a:lnTo>
                <a:lnTo>
                  <a:pt x="2853" y="363"/>
                </a:lnTo>
                <a:lnTo>
                  <a:pt x="2864" y="329"/>
                </a:lnTo>
                <a:lnTo>
                  <a:pt x="2875" y="295"/>
                </a:lnTo>
                <a:lnTo>
                  <a:pt x="2898" y="261"/>
                </a:lnTo>
                <a:lnTo>
                  <a:pt x="2932" y="295"/>
                </a:lnTo>
                <a:lnTo>
                  <a:pt x="2955" y="340"/>
                </a:lnTo>
                <a:lnTo>
                  <a:pt x="2966" y="431"/>
                </a:lnTo>
                <a:lnTo>
                  <a:pt x="2989" y="476"/>
                </a:lnTo>
                <a:lnTo>
                  <a:pt x="3000" y="510"/>
                </a:lnTo>
                <a:lnTo>
                  <a:pt x="3000" y="544"/>
                </a:lnTo>
                <a:lnTo>
                  <a:pt x="3011" y="578"/>
                </a:lnTo>
                <a:lnTo>
                  <a:pt x="3011" y="612"/>
                </a:lnTo>
                <a:lnTo>
                  <a:pt x="3000" y="646"/>
                </a:lnTo>
                <a:lnTo>
                  <a:pt x="2989" y="680"/>
                </a:lnTo>
                <a:lnTo>
                  <a:pt x="2977" y="714"/>
                </a:lnTo>
                <a:lnTo>
                  <a:pt x="2955" y="748"/>
                </a:lnTo>
                <a:lnTo>
                  <a:pt x="2921" y="736"/>
                </a:lnTo>
                <a:lnTo>
                  <a:pt x="2898" y="702"/>
                </a:lnTo>
                <a:lnTo>
                  <a:pt x="2875" y="668"/>
                </a:lnTo>
                <a:lnTo>
                  <a:pt x="2853" y="634"/>
                </a:lnTo>
                <a:lnTo>
                  <a:pt x="2807" y="634"/>
                </a:lnTo>
                <a:lnTo>
                  <a:pt x="2717" y="623"/>
                </a:lnTo>
                <a:lnTo>
                  <a:pt x="2683" y="623"/>
                </a:lnTo>
                <a:lnTo>
                  <a:pt x="2592" y="612"/>
                </a:lnTo>
                <a:lnTo>
                  <a:pt x="2558" y="612"/>
                </a:lnTo>
                <a:lnTo>
                  <a:pt x="2524" y="600"/>
                </a:lnTo>
                <a:lnTo>
                  <a:pt x="2479" y="600"/>
                </a:lnTo>
                <a:lnTo>
                  <a:pt x="2434" y="589"/>
                </a:lnTo>
                <a:lnTo>
                  <a:pt x="2400" y="589"/>
                </a:lnTo>
                <a:lnTo>
                  <a:pt x="2355" y="578"/>
                </a:lnTo>
                <a:lnTo>
                  <a:pt x="2321" y="578"/>
                </a:lnTo>
                <a:lnTo>
                  <a:pt x="2287" y="566"/>
                </a:lnTo>
                <a:lnTo>
                  <a:pt x="2253" y="566"/>
                </a:lnTo>
                <a:lnTo>
                  <a:pt x="2185" y="566"/>
                </a:lnTo>
                <a:lnTo>
                  <a:pt x="2105" y="566"/>
                </a:lnTo>
                <a:lnTo>
                  <a:pt x="2015" y="555"/>
                </a:lnTo>
                <a:lnTo>
                  <a:pt x="1902" y="544"/>
                </a:lnTo>
                <a:lnTo>
                  <a:pt x="1811" y="532"/>
                </a:lnTo>
                <a:lnTo>
                  <a:pt x="1720" y="521"/>
                </a:lnTo>
                <a:lnTo>
                  <a:pt x="1630" y="510"/>
                </a:lnTo>
                <a:lnTo>
                  <a:pt x="1539" y="499"/>
                </a:lnTo>
                <a:lnTo>
                  <a:pt x="1449" y="487"/>
                </a:lnTo>
                <a:lnTo>
                  <a:pt x="1415" y="487"/>
                </a:lnTo>
                <a:lnTo>
                  <a:pt x="1381" y="476"/>
                </a:lnTo>
                <a:lnTo>
                  <a:pt x="1347" y="465"/>
                </a:lnTo>
                <a:lnTo>
                  <a:pt x="1313" y="465"/>
                </a:lnTo>
                <a:lnTo>
                  <a:pt x="1279" y="465"/>
                </a:lnTo>
                <a:lnTo>
                  <a:pt x="1245" y="453"/>
                </a:lnTo>
                <a:lnTo>
                  <a:pt x="1166" y="453"/>
                </a:lnTo>
                <a:lnTo>
                  <a:pt x="1086" y="442"/>
                </a:lnTo>
                <a:lnTo>
                  <a:pt x="1007" y="431"/>
                </a:lnTo>
                <a:lnTo>
                  <a:pt x="916" y="408"/>
                </a:lnTo>
                <a:lnTo>
                  <a:pt x="837" y="397"/>
                </a:lnTo>
                <a:lnTo>
                  <a:pt x="747" y="385"/>
                </a:lnTo>
                <a:lnTo>
                  <a:pt x="713" y="374"/>
                </a:lnTo>
                <a:lnTo>
                  <a:pt x="667" y="363"/>
                </a:lnTo>
                <a:lnTo>
                  <a:pt x="633" y="351"/>
                </a:lnTo>
                <a:lnTo>
                  <a:pt x="599" y="351"/>
                </a:lnTo>
                <a:lnTo>
                  <a:pt x="565" y="340"/>
                </a:lnTo>
                <a:lnTo>
                  <a:pt x="531" y="340"/>
                </a:lnTo>
                <a:lnTo>
                  <a:pt x="497" y="329"/>
                </a:lnTo>
                <a:lnTo>
                  <a:pt x="463" y="329"/>
                </a:lnTo>
                <a:lnTo>
                  <a:pt x="429" y="317"/>
                </a:lnTo>
                <a:lnTo>
                  <a:pt x="396" y="317"/>
                </a:lnTo>
                <a:lnTo>
                  <a:pt x="362" y="329"/>
                </a:lnTo>
                <a:lnTo>
                  <a:pt x="339" y="363"/>
                </a:lnTo>
                <a:lnTo>
                  <a:pt x="316" y="397"/>
                </a:lnTo>
                <a:lnTo>
                  <a:pt x="282" y="419"/>
                </a:lnTo>
                <a:lnTo>
                  <a:pt x="248" y="442"/>
                </a:lnTo>
                <a:lnTo>
                  <a:pt x="214" y="453"/>
                </a:lnTo>
                <a:lnTo>
                  <a:pt x="180" y="465"/>
                </a:lnTo>
                <a:lnTo>
                  <a:pt x="146" y="476"/>
                </a:lnTo>
                <a:lnTo>
                  <a:pt x="112" y="476"/>
                </a:lnTo>
                <a:lnTo>
                  <a:pt x="78" y="465"/>
                </a:lnTo>
                <a:lnTo>
                  <a:pt x="44" y="453"/>
                </a:lnTo>
                <a:lnTo>
                  <a:pt x="11" y="419"/>
                </a:lnTo>
                <a:lnTo>
                  <a:pt x="0" y="422"/>
                </a:lnTo>
                <a:lnTo>
                  <a:pt x="48" y="86"/>
                </a:lnTo>
              </a:path>
            </a:pathLst>
          </a:custGeom>
          <a:gradFill rotWithShape="0">
            <a:gsLst>
              <a:gs pos="0">
                <a:srgbClr val="FFFF00"/>
              </a:gs>
              <a:gs pos="100000">
                <a:srgbClr val="FFFF00">
                  <a:gamma/>
                  <a:shade val="89804"/>
                  <a:invGamma/>
                </a:srgbClr>
              </a:gs>
            </a:gsLst>
            <a:path path="rect">
              <a:fillToRect r="100000" b="100000"/>
            </a:path>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45" name="Freeform 9"/>
          <p:cNvSpPr>
            <a:spLocks/>
          </p:cNvSpPr>
          <p:nvPr/>
        </p:nvSpPr>
        <p:spPr bwMode="auto">
          <a:xfrm>
            <a:off x="6496050" y="2625725"/>
            <a:ext cx="1493838" cy="1185863"/>
          </a:xfrm>
          <a:custGeom>
            <a:avLst/>
            <a:gdLst>
              <a:gd name="T0" fmla="*/ 804 w 941"/>
              <a:gd name="T1" fmla="*/ 736 h 747"/>
              <a:gd name="T2" fmla="*/ 736 w 941"/>
              <a:gd name="T3" fmla="*/ 691 h 747"/>
              <a:gd name="T4" fmla="*/ 668 w 941"/>
              <a:gd name="T5" fmla="*/ 680 h 747"/>
              <a:gd name="T6" fmla="*/ 601 w 941"/>
              <a:gd name="T7" fmla="*/ 657 h 747"/>
              <a:gd name="T8" fmla="*/ 544 w 941"/>
              <a:gd name="T9" fmla="*/ 589 h 747"/>
              <a:gd name="T10" fmla="*/ 499 w 941"/>
              <a:gd name="T11" fmla="*/ 521 h 747"/>
              <a:gd name="T12" fmla="*/ 442 w 941"/>
              <a:gd name="T13" fmla="*/ 453 h 747"/>
              <a:gd name="T14" fmla="*/ 397 w 941"/>
              <a:gd name="T15" fmla="*/ 385 h 747"/>
              <a:gd name="T16" fmla="*/ 329 w 941"/>
              <a:gd name="T17" fmla="*/ 340 h 747"/>
              <a:gd name="T18" fmla="*/ 250 w 941"/>
              <a:gd name="T19" fmla="*/ 283 h 747"/>
              <a:gd name="T20" fmla="*/ 204 w 941"/>
              <a:gd name="T21" fmla="*/ 215 h 747"/>
              <a:gd name="T22" fmla="*/ 136 w 941"/>
              <a:gd name="T23" fmla="*/ 215 h 747"/>
              <a:gd name="T24" fmla="*/ 68 w 941"/>
              <a:gd name="T25" fmla="*/ 227 h 747"/>
              <a:gd name="T26" fmla="*/ 0 w 941"/>
              <a:gd name="T27" fmla="*/ 227 h 747"/>
              <a:gd name="T28" fmla="*/ 68 w 941"/>
              <a:gd name="T29" fmla="*/ 193 h 747"/>
              <a:gd name="T30" fmla="*/ 136 w 941"/>
              <a:gd name="T31" fmla="*/ 182 h 747"/>
              <a:gd name="T32" fmla="*/ 204 w 941"/>
              <a:gd name="T33" fmla="*/ 182 h 747"/>
              <a:gd name="T34" fmla="*/ 272 w 941"/>
              <a:gd name="T35" fmla="*/ 193 h 747"/>
              <a:gd name="T36" fmla="*/ 317 w 941"/>
              <a:gd name="T37" fmla="*/ 170 h 747"/>
              <a:gd name="T38" fmla="*/ 317 w 941"/>
              <a:gd name="T39" fmla="*/ 102 h 747"/>
              <a:gd name="T40" fmla="*/ 317 w 941"/>
              <a:gd name="T41" fmla="*/ 34 h 747"/>
              <a:gd name="T42" fmla="*/ 363 w 941"/>
              <a:gd name="T43" fmla="*/ 46 h 747"/>
              <a:gd name="T44" fmla="*/ 374 w 941"/>
              <a:gd name="T45" fmla="*/ 114 h 747"/>
              <a:gd name="T46" fmla="*/ 374 w 941"/>
              <a:gd name="T47" fmla="*/ 182 h 747"/>
              <a:gd name="T48" fmla="*/ 385 w 941"/>
              <a:gd name="T49" fmla="*/ 249 h 747"/>
              <a:gd name="T50" fmla="*/ 431 w 941"/>
              <a:gd name="T51" fmla="*/ 317 h 747"/>
              <a:gd name="T52" fmla="*/ 487 w 941"/>
              <a:gd name="T53" fmla="*/ 374 h 747"/>
              <a:gd name="T54" fmla="*/ 555 w 941"/>
              <a:gd name="T55" fmla="*/ 408 h 747"/>
              <a:gd name="T56" fmla="*/ 623 w 941"/>
              <a:gd name="T57" fmla="*/ 419 h 747"/>
              <a:gd name="T58" fmla="*/ 680 w 941"/>
              <a:gd name="T59" fmla="*/ 374 h 747"/>
              <a:gd name="T60" fmla="*/ 725 w 941"/>
              <a:gd name="T61" fmla="*/ 306 h 747"/>
              <a:gd name="T62" fmla="*/ 759 w 941"/>
              <a:gd name="T63" fmla="*/ 238 h 747"/>
              <a:gd name="T64" fmla="*/ 793 w 941"/>
              <a:gd name="T65" fmla="*/ 170 h 747"/>
              <a:gd name="T66" fmla="*/ 816 w 941"/>
              <a:gd name="T67" fmla="*/ 102 h 747"/>
              <a:gd name="T68" fmla="*/ 850 w 941"/>
              <a:gd name="T69" fmla="*/ 34 h 747"/>
              <a:gd name="T70" fmla="*/ 906 w 941"/>
              <a:gd name="T71" fmla="*/ 0 h 747"/>
              <a:gd name="T72" fmla="*/ 918 w 941"/>
              <a:gd name="T73" fmla="*/ 46 h 747"/>
              <a:gd name="T74" fmla="*/ 872 w 941"/>
              <a:gd name="T75" fmla="*/ 114 h 747"/>
              <a:gd name="T76" fmla="*/ 838 w 941"/>
              <a:gd name="T77" fmla="*/ 182 h 747"/>
              <a:gd name="T78" fmla="*/ 793 w 941"/>
              <a:gd name="T79" fmla="*/ 249 h 747"/>
              <a:gd name="T80" fmla="*/ 770 w 941"/>
              <a:gd name="T81" fmla="*/ 317 h 747"/>
              <a:gd name="T82" fmla="*/ 725 w 941"/>
              <a:gd name="T83" fmla="*/ 385 h 747"/>
              <a:gd name="T84" fmla="*/ 680 w 941"/>
              <a:gd name="T85" fmla="*/ 453 h 747"/>
              <a:gd name="T86" fmla="*/ 657 w 941"/>
              <a:gd name="T87" fmla="*/ 521 h 747"/>
              <a:gd name="T88" fmla="*/ 691 w 941"/>
              <a:gd name="T89" fmla="*/ 578 h 747"/>
              <a:gd name="T90" fmla="*/ 748 w 941"/>
              <a:gd name="T91" fmla="*/ 634 h 747"/>
              <a:gd name="T92" fmla="*/ 816 w 941"/>
              <a:gd name="T93" fmla="*/ 691 h 747"/>
              <a:gd name="T94" fmla="*/ 852 w 941"/>
              <a:gd name="T95" fmla="*/ 746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41" h="747">
                <a:moveTo>
                  <a:pt x="852" y="746"/>
                </a:moveTo>
                <a:lnTo>
                  <a:pt x="804" y="736"/>
                </a:lnTo>
                <a:lnTo>
                  <a:pt x="770" y="714"/>
                </a:lnTo>
                <a:lnTo>
                  <a:pt x="736" y="691"/>
                </a:lnTo>
                <a:lnTo>
                  <a:pt x="702" y="691"/>
                </a:lnTo>
                <a:lnTo>
                  <a:pt x="668" y="680"/>
                </a:lnTo>
                <a:lnTo>
                  <a:pt x="635" y="668"/>
                </a:lnTo>
                <a:lnTo>
                  <a:pt x="601" y="657"/>
                </a:lnTo>
                <a:lnTo>
                  <a:pt x="567" y="623"/>
                </a:lnTo>
                <a:lnTo>
                  <a:pt x="544" y="589"/>
                </a:lnTo>
                <a:lnTo>
                  <a:pt x="510" y="555"/>
                </a:lnTo>
                <a:lnTo>
                  <a:pt x="499" y="521"/>
                </a:lnTo>
                <a:lnTo>
                  <a:pt x="465" y="487"/>
                </a:lnTo>
                <a:lnTo>
                  <a:pt x="442" y="453"/>
                </a:lnTo>
                <a:lnTo>
                  <a:pt x="431" y="419"/>
                </a:lnTo>
                <a:lnTo>
                  <a:pt x="397" y="385"/>
                </a:lnTo>
                <a:lnTo>
                  <a:pt x="363" y="363"/>
                </a:lnTo>
                <a:lnTo>
                  <a:pt x="329" y="340"/>
                </a:lnTo>
                <a:lnTo>
                  <a:pt x="283" y="306"/>
                </a:lnTo>
                <a:lnTo>
                  <a:pt x="250" y="283"/>
                </a:lnTo>
                <a:lnTo>
                  <a:pt x="216" y="249"/>
                </a:lnTo>
                <a:lnTo>
                  <a:pt x="204" y="215"/>
                </a:lnTo>
                <a:lnTo>
                  <a:pt x="170" y="215"/>
                </a:lnTo>
                <a:lnTo>
                  <a:pt x="136" y="215"/>
                </a:lnTo>
                <a:lnTo>
                  <a:pt x="102" y="227"/>
                </a:lnTo>
                <a:lnTo>
                  <a:pt x="68" y="227"/>
                </a:lnTo>
                <a:lnTo>
                  <a:pt x="34" y="227"/>
                </a:lnTo>
                <a:lnTo>
                  <a:pt x="0" y="227"/>
                </a:lnTo>
                <a:lnTo>
                  <a:pt x="34" y="204"/>
                </a:lnTo>
                <a:lnTo>
                  <a:pt x="68" y="193"/>
                </a:lnTo>
                <a:lnTo>
                  <a:pt x="102" y="193"/>
                </a:lnTo>
                <a:lnTo>
                  <a:pt x="136" y="182"/>
                </a:lnTo>
                <a:lnTo>
                  <a:pt x="170" y="182"/>
                </a:lnTo>
                <a:lnTo>
                  <a:pt x="204" y="182"/>
                </a:lnTo>
                <a:lnTo>
                  <a:pt x="238" y="193"/>
                </a:lnTo>
                <a:lnTo>
                  <a:pt x="272" y="193"/>
                </a:lnTo>
                <a:lnTo>
                  <a:pt x="306" y="204"/>
                </a:lnTo>
                <a:lnTo>
                  <a:pt x="317" y="170"/>
                </a:lnTo>
                <a:lnTo>
                  <a:pt x="317" y="136"/>
                </a:lnTo>
                <a:lnTo>
                  <a:pt x="317" y="102"/>
                </a:lnTo>
                <a:lnTo>
                  <a:pt x="317" y="68"/>
                </a:lnTo>
                <a:lnTo>
                  <a:pt x="317" y="34"/>
                </a:lnTo>
                <a:lnTo>
                  <a:pt x="351" y="12"/>
                </a:lnTo>
                <a:lnTo>
                  <a:pt x="363" y="46"/>
                </a:lnTo>
                <a:lnTo>
                  <a:pt x="374" y="80"/>
                </a:lnTo>
                <a:lnTo>
                  <a:pt x="374" y="114"/>
                </a:lnTo>
                <a:lnTo>
                  <a:pt x="374" y="148"/>
                </a:lnTo>
                <a:lnTo>
                  <a:pt x="374" y="182"/>
                </a:lnTo>
                <a:lnTo>
                  <a:pt x="374" y="215"/>
                </a:lnTo>
                <a:lnTo>
                  <a:pt x="385" y="249"/>
                </a:lnTo>
                <a:lnTo>
                  <a:pt x="397" y="283"/>
                </a:lnTo>
                <a:lnTo>
                  <a:pt x="431" y="317"/>
                </a:lnTo>
                <a:lnTo>
                  <a:pt x="453" y="351"/>
                </a:lnTo>
                <a:lnTo>
                  <a:pt x="487" y="374"/>
                </a:lnTo>
                <a:lnTo>
                  <a:pt x="521" y="408"/>
                </a:lnTo>
                <a:lnTo>
                  <a:pt x="555" y="408"/>
                </a:lnTo>
                <a:lnTo>
                  <a:pt x="589" y="419"/>
                </a:lnTo>
                <a:lnTo>
                  <a:pt x="623" y="419"/>
                </a:lnTo>
                <a:lnTo>
                  <a:pt x="657" y="408"/>
                </a:lnTo>
                <a:lnTo>
                  <a:pt x="680" y="374"/>
                </a:lnTo>
                <a:lnTo>
                  <a:pt x="702" y="340"/>
                </a:lnTo>
                <a:lnTo>
                  <a:pt x="725" y="306"/>
                </a:lnTo>
                <a:lnTo>
                  <a:pt x="736" y="272"/>
                </a:lnTo>
                <a:lnTo>
                  <a:pt x="759" y="238"/>
                </a:lnTo>
                <a:lnTo>
                  <a:pt x="770" y="204"/>
                </a:lnTo>
                <a:lnTo>
                  <a:pt x="793" y="170"/>
                </a:lnTo>
                <a:lnTo>
                  <a:pt x="804" y="136"/>
                </a:lnTo>
                <a:lnTo>
                  <a:pt x="816" y="102"/>
                </a:lnTo>
                <a:lnTo>
                  <a:pt x="838" y="68"/>
                </a:lnTo>
                <a:lnTo>
                  <a:pt x="850" y="34"/>
                </a:lnTo>
                <a:lnTo>
                  <a:pt x="872" y="0"/>
                </a:lnTo>
                <a:lnTo>
                  <a:pt x="906" y="0"/>
                </a:lnTo>
                <a:lnTo>
                  <a:pt x="940" y="12"/>
                </a:lnTo>
                <a:lnTo>
                  <a:pt x="918" y="46"/>
                </a:lnTo>
                <a:lnTo>
                  <a:pt x="895" y="80"/>
                </a:lnTo>
                <a:lnTo>
                  <a:pt x="872" y="114"/>
                </a:lnTo>
                <a:lnTo>
                  <a:pt x="850" y="148"/>
                </a:lnTo>
                <a:lnTo>
                  <a:pt x="838" y="182"/>
                </a:lnTo>
                <a:lnTo>
                  <a:pt x="816" y="215"/>
                </a:lnTo>
                <a:lnTo>
                  <a:pt x="793" y="249"/>
                </a:lnTo>
                <a:lnTo>
                  <a:pt x="782" y="283"/>
                </a:lnTo>
                <a:lnTo>
                  <a:pt x="770" y="317"/>
                </a:lnTo>
                <a:lnTo>
                  <a:pt x="748" y="351"/>
                </a:lnTo>
                <a:lnTo>
                  <a:pt x="725" y="385"/>
                </a:lnTo>
                <a:lnTo>
                  <a:pt x="702" y="419"/>
                </a:lnTo>
                <a:lnTo>
                  <a:pt x="680" y="453"/>
                </a:lnTo>
                <a:lnTo>
                  <a:pt x="657" y="487"/>
                </a:lnTo>
                <a:lnTo>
                  <a:pt x="657" y="521"/>
                </a:lnTo>
                <a:lnTo>
                  <a:pt x="657" y="555"/>
                </a:lnTo>
                <a:lnTo>
                  <a:pt x="691" y="578"/>
                </a:lnTo>
                <a:lnTo>
                  <a:pt x="725" y="600"/>
                </a:lnTo>
                <a:lnTo>
                  <a:pt x="748" y="634"/>
                </a:lnTo>
                <a:lnTo>
                  <a:pt x="782" y="668"/>
                </a:lnTo>
                <a:lnTo>
                  <a:pt x="816" y="691"/>
                </a:lnTo>
                <a:lnTo>
                  <a:pt x="852" y="746"/>
                </a:lnTo>
                <a:lnTo>
                  <a:pt x="852" y="746"/>
                </a:lnTo>
              </a:path>
            </a:pathLst>
          </a:custGeom>
          <a:gradFill rotWithShape="0">
            <a:gsLst>
              <a:gs pos="0">
                <a:srgbClr val="FFFF00"/>
              </a:gs>
              <a:gs pos="100000">
                <a:srgbClr val="FFFF00">
                  <a:gamma/>
                  <a:shade val="69804"/>
                  <a:invGamma/>
                </a:srgbClr>
              </a:gs>
            </a:gsLst>
            <a:path path="rect">
              <a:fillToRect r="100000" b="100000"/>
            </a:path>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46" name="Oval 10"/>
          <p:cNvSpPr>
            <a:spLocks noChangeArrowheads="1"/>
          </p:cNvSpPr>
          <p:nvPr/>
        </p:nvSpPr>
        <p:spPr bwMode="auto">
          <a:xfrm>
            <a:off x="8540750" y="4502150"/>
            <a:ext cx="215900" cy="292100"/>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7" name="Rectangle 11"/>
          <p:cNvSpPr>
            <a:spLocks noChangeArrowheads="1"/>
          </p:cNvSpPr>
          <p:nvPr/>
        </p:nvSpPr>
        <p:spPr bwMode="auto">
          <a:xfrm>
            <a:off x="517525" y="5957888"/>
            <a:ext cx="1739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cell body</a:t>
            </a:r>
          </a:p>
        </p:txBody>
      </p:sp>
      <p:sp>
        <p:nvSpPr>
          <p:cNvPr id="14348" name="Rectangle 12"/>
          <p:cNvSpPr>
            <a:spLocks noChangeArrowheads="1"/>
          </p:cNvSpPr>
          <p:nvPr/>
        </p:nvSpPr>
        <p:spPr bwMode="auto">
          <a:xfrm>
            <a:off x="842169" y="1460501"/>
            <a:ext cx="18367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dirty="0"/>
              <a:t>dendrites</a:t>
            </a:r>
          </a:p>
        </p:txBody>
      </p:sp>
      <p:sp>
        <p:nvSpPr>
          <p:cNvPr id="14349" name="Rectangle 13"/>
          <p:cNvSpPr>
            <a:spLocks noChangeArrowheads="1"/>
          </p:cNvSpPr>
          <p:nvPr/>
        </p:nvSpPr>
        <p:spPr bwMode="auto">
          <a:xfrm>
            <a:off x="4708525" y="2605088"/>
            <a:ext cx="1009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axon</a:t>
            </a:r>
          </a:p>
        </p:txBody>
      </p:sp>
      <p:sp>
        <p:nvSpPr>
          <p:cNvPr id="14350" name="Rectangle 14"/>
          <p:cNvSpPr>
            <a:spLocks noChangeArrowheads="1"/>
          </p:cNvSpPr>
          <p:nvPr/>
        </p:nvSpPr>
        <p:spPr bwMode="auto">
          <a:xfrm>
            <a:off x="2574925" y="2041525"/>
            <a:ext cx="1939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400" dirty="0"/>
              <a:t>axon hillock</a:t>
            </a:r>
          </a:p>
        </p:txBody>
      </p:sp>
      <p:sp>
        <p:nvSpPr>
          <p:cNvPr id="14351" name="Line 15"/>
          <p:cNvSpPr>
            <a:spLocks noChangeShapeType="1"/>
          </p:cNvSpPr>
          <p:nvPr/>
        </p:nvSpPr>
        <p:spPr bwMode="auto">
          <a:xfrm flipH="1">
            <a:off x="2847975" y="2438400"/>
            <a:ext cx="352425" cy="52705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52" name="Rectangle 16"/>
          <p:cNvSpPr>
            <a:spLocks noChangeArrowheads="1"/>
          </p:cNvSpPr>
          <p:nvPr/>
        </p:nvSpPr>
        <p:spPr bwMode="auto">
          <a:xfrm>
            <a:off x="4098925" y="4586288"/>
            <a:ext cx="25257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axon terminal</a:t>
            </a:r>
          </a:p>
        </p:txBody>
      </p:sp>
      <p:sp>
        <p:nvSpPr>
          <p:cNvPr id="14353" name="Line 17"/>
          <p:cNvSpPr>
            <a:spLocks noChangeShapeType="1"/>
          </p:cNvSpPr>
          <p:nvPr/>
        </p:nvSpPr>
        <p:spPr bwMode="auto">
          <a:xfrm flipV="1">
            <a:off x="5486400" y="4038600"/>
            <a:ext cx="1295400" cy="53340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54" name="Rectangle 18"/>
          <p:cNvSpPr>
            <a:spLocks noChangeArrowheads="1"/>
          </p:cNvSpPr>
          <p:nvPr/>
        </p:nvSpPr>
        <p:spPr bwMode="auto">
          <a:xfrm>
            <a:off x="6689725" y="5424488"/>
            <a:ext cx="1622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synapse</a:t>
            </a:r>
          </a:p>
        </p:txBody>
      </p:sp>
      <p:sp>
        <p:nvSpPr>
          <p:cNvPr id="14355" name="Line 19"/>
          <p:cNvSpPr>
            <a:spLocks noChangeShapeType="1"/>
          </p:cNvSpPr>
          <p:nvPr/>
        </p:nvSpPr>
        <p:spPr bwMode="auto">
          <a:xfrm flipH="1" flipV="1">
            <a:off x="7315200" y="3733800"/>
            <a:ext cx="152400" cy="160020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356" name="Oval 20"/>
          <p:cNvSpPr>
            <a:spLocks noChangeArrowheads="1"/>
          </p:cNvSpPr>
          <p:nvPr/>
        </p:nvSpPr>
        <p:spPr bwMode="auto">
          <a:xfrm>
            <a:off x="6483350" y="2520950"/>
            <a:ext cx="1282700" cy="1892300"/>
          </a:xfrm>
          <a:prstGeom prst="ellipse">
            <a:avLst/>
          </a:prstGeom>
          <a:solidFill>
            <a:schemeClr val="bg2">
              <a:alpha val="50000"/>
            </a:schemeClr>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 name="Rectangle 12">
            <a:extLst>
              <a:ext uri="{FF2B5EF4-FFF2-40B4-BE49-F238E27FC236}">
                <a16:creationId xmlns:a16="http://schemas.microsoft.com/office/drawing/2014/main" id="{D98D86C0-8A3B-6DA6-5117-6FA23673F45D}"/>
              </a:ext>
            </a:extLst>
          </p:cNvPr>
          <p:cNvSpPr>
            <a:spLocks noChangeArrowheads="1"/>
          </p:cNvSpPr>
          <p:nvPr/>
        </p:nvSpPr>
        <p:spPr bwMode="auto">
          <a:xfrm>
            <a:off x="-96838" y="2732074"/>
            <a:ext cx="18367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dirty="0"/>
              <a:t>dendrites</a:t>
            </a:r>
          </a:p>
        </p:txBody>
      </p:sp>
      <p:sp>
        <p:nvSpPr>
          <p:cNvPr id="5" name="Rectangle 12">
            <a:extLst>
              <a:ext uri="{FF2B5EF4-FFF2-40B4-BE49-F238E27FC236}">
                <a16:creationId xmlns:a16="http://schemas.microsoft.com/office/drawing/2014/main" id="{A39BC659-3941-E008-6545-FA2CC8CAC283}"/>
              </a:ext>
            </a:extLst>
          </p:cNvPr>
          <p:cNvSpPr>
            <a:spLocks noChangeArrowheads="1"/>
          </p:cNvSpPr>
          <p:nvPr/>
        </p:nvSpPr>
        <p:spPr bwMode="auto">
          <a:xfrm>
            <a:off x="-12224" y="4345505"/>
            <a:ext cx="18367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dirty="0"/>
              <a:t>dendrites</a:t>
            </a:r>
          </a:p>
        </p:txBody>
      </p:sp>
      <p:sp>
        <p:nvSpPr>
          <p:cNvPr id="6" name="TextBox 5">
            <a:extLst>
              <a:ext uri="{FF2B5EF4-FFF2-40B4-BE49-F238E27FC236}">
                <a16:creationId xmlns:a16="http://schemas.microsoft.com/office/drawing/2014/main" id="{13E12CBF-A838-0B7F-4FF0-3E8040292BE9}"/>
              </a:ext>
            </a:extLst>
          </p:cNvPr>
          <p:cNvSpPr txBox="1"/>
          <p:nvPr/>
        </p:nvSpPr>
        <p:spPr>
          <a:xfrm>
            <a:off x="637391" y="912832"/>
            <a:ext cx="1053507" cy="369332"/>
          </a:xfrm>
          <a:prstGeom prst="rect">
            <a:avLst/>
          </a:prstGeom>
          <a:solidFill>
            <a:schemeClr val="accent3">
              <a:lumMod val="60000"/>
              <a:lumOff val="40000"/>
            </a:schemeClr>
          </a:solidFill>
        </p:spPr>
        <p:txBody>
          <a:bodyPr wrap="square" rtlCol="0">
            <a:spAutoFit/>
          </a:bodyPr>
          <a:lstStyle/>
          <a:p>
            <a:r>
              <a:rPr lang="en-GB" dirty="0"/>
              <a:t>Neuron 1</a:t>
            </a:r>
          </a:p>
        </p:txBody>
      </p:sp>
      <p:sp>
        <p:nvSpPr>
          <p:cNvPr id="8" name="Rectangle 12">
            <a:extLst>
              <a:ext uri="{FF2B5EF4-FFF2-40B4-BE49-F238E27FC236}">
                <a16:creationId xmlns:a16="http://schemas.microsoft.com/office/drawing/2014/main" id="{B1324FE2-57F1-F40D-AB25-8D379267C8B3}"/>
              </a:ext>
            </a:extLst>
          </p:cNvPr>
          <p:cNvSpPr>
            <a:spLocks noChangeArrowheads="1"/>
          </p:cNvSpPr>
          <p:nvPr/>
        </p:nvSpPr>
        <p:spPr bwMode="auto">
          <a:xfrm>
            <a:off x="1030020" y="4864617"/>
            <a:ext cx="106997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defTabSz="762000" eaLnBrk="0" hangingPunct="0"/>
            <a:r>
              <a:rPr lang="en-GB" dirty="0"/>
              <a:t>dendrites</a:t>
            </a:r>
          </a:p>
        </p:txBody>
      </p:sp>
      <p:sp>
        <p:nvSpPr>
          <p:cNvPr id="14" name="TextBox 13">
            <a:extLst>
              <a:ext uri="{FF2B5EF4-FFF2-40B4-BE49-F238E27FC236}">
                <a16:creationId xmlns:a16="http://schemas.microsoft.com/office/drawing/2014/main" id="{457C2348-F079-BCFD-8E83-C830FD61D701}"/>
              </a:ext>
            </a:extLst>
          </p:cNvPr>
          <p:cNvSpPr txBox="1"/>
          <p:nvPr/>
        </p:nvSpPr>
        <p:spPr>
          <a:xfrm>
            <a:off x="-121769" y="1850193"/>
            <a:ext cx="1053507" cy="369332"/>
          </a:xfrm>
          <a:prstGeom prst="rect">
            <a:avLst/>
          </a:prstGeom>
          <a:solidFill>
            <a:schemeClr val="accent3">
              <a:lumMod val="60000"/>
              <a:lumOff val="40000"/>
            </a:schemeClr>
          </a:solidFill>
        </p:spPr>
        <p:txBody>
          <a:bodyPr wrap="square" rtlCol="0">
            <a:spAutoFit/>
          </a:bodyPr>
          <a:lstStyle/>
          <a:p>
            <a:r>
              <a:rPr lang="en-GB" dirty="0"/>
              <a:t>Neuron 2</a:t>
            </a:r>
          </a:p>
        </p:txBody>
      </p:sp>
      <p:sp>
        <p:nvSpPr>
          <p:cNvPr id="20" name="TextBox 19">
            <a:extLst>
              <a:ext uri="{FF2B5EF4-FFF2-40B4-BE49-F238E27FC236}">
                <a16:creationId xmlns:a16="http://schemas.microsoft.com/office/drawing/2014/main" id="{2395028D-071D-1F3E-D9D4-32D1CD6640D3}"/>
              </a:ext>
            </a:extLst>
          </p:cNvPr>
          <p:cNvSpPr txBox="1"/>
          <p:nvPr/>
        </p:nvSpPr>
        <p:spPr>
          <a:xfrm>
            <a:off x="-56557" y="4920735"/>
            <a:ext cx="1053507" cy="369332"/>
          </a:xfrm>
          <a:prstGeom prst="rect">
            <a:avLst/>
          </a:prstGeom>
          <a:solidFill>
            <a:srgbClr val="FF0000"/>
          </a:solidFill>
        </p:spPr>
        <p:txBody>
          <a:bodyPr wrap="square" rtlCol="0">
            <a:spAutoFit/>
          </a:bodyPr>
          <a:lstStyle/>
          <a:p>
            <a:r>
              <a:rPr lang="en-GB" dirty="0"/>
              <a:t>Neuron 3</a:t>
            </a:r>
          </a:p>
        </p:txBody>
      </p:sp>
      <p:sp>
        <p:nvSpPr>
          <p:cNvPr id="22" name="TextBox 21">
            <a:extLst>
              <a:ext uri="{FF2B5EF4-FFF2-40B4-BE49-F238E27FC236}">
                <a16:creationId xmlns:a16="http://schemas.microsoft.com/office/drawing/2014/main" id="{D9B59333-7872-FB92-3109-DAC76FD799BC}"/>
              </a:ext>
            </a:extLst>
          </p:cNvPr>
          <p:cNvSpPr txBox="1"/>
          <p:nvPr/>
        </p:nvSpPr>
        <p:spPr>
          <a:xfrm>
            <a:off x="2321221" y="6032778"/>
            <a:ext cx="1170659" cy="369332"/>
          </a:xfrm>
          <a:prstGeom prst="rect">
            <a:avLst/>
          </a:prstGeom>
          <a:solidFill>
            <a:schemeClr val="accent3">
              <a:lumMod val="60000"/>
              <a:lumOff val="40000"/>
            </a:schemeClr>
          </a:solidFill>
        </p:spPr>
        <p:txBody>
          <a:bodyPr wrap="square" rtlCol="0">
            <a:spAutoFit/>
          </a:bodyPr>
          <a:lstStyle/>
          <a:p>
            <a:r>
              <a:rPr lang="en-GB" dirty="0"/>
              <a:t>Excitatory</a:t>
            </a:r>
          </a:p>
        </p:txBody>
      </p:sp>
      <p:sp>
        <p:nvSpPr>
          <p:cNvPr id="24" name="TextBox 23">
            <a:extLst>
              <a:ext uri="{FF2B5EF4-FFF2-40B4-BE49-F238E27FC236}">
                <a16:creationId xmlns:a16="http://schemas.microsoft.com/office/drawing/2014/main" id="{9E072E8B-C195-C9A1-F869-6CF5B6054885}"/>
              </a:ext>
            </a:extLst>
          </p:cNvPr>
          <p:cNvSpPr txBox="1"/>
          <p:nvPr/>
        </p:nvSpPr>
        <p:spPr>
          <a:xfrm>
            <a:off x="2321221" y="6441439"/>
            <a:ext cx="1170659" cy="369332"/>
          </a:xfrm>
          <a:prstGeom prst="rect">
            <a:avLst/>
          </a:prstGeom>
          <a:solidFill>
            <a:srgbClr val="FF0000"/>
          </a:solidFill>
        </p:spPr>
        <p:txBody>
          <a:bodyPr wrap="square" rtlCol="0">
            <a:spAutoFit/>
          </a:bodyPr>
          <a:lstStyle/>
          <a:p>
            <a:r>
              <a:rPr lang="en-GB" dirty="0"/>
              <a:t>Inhibitory</a:t>
            </a:r>
          </a:p>
        </p:txBody>
      </p:sp>
      <p:sp>
        <p:nvSpPr>
          <p:cNvPr id="25" name="TextBox 24">
            <a:extLst>
              <a:ext uri="{FF2B5EF4-FFF2-40B4-BE49-F238E27FC236}">
                <a16:creationId xmlns:a16="http://schemas.microsoft.com/office/drawing/2014/main" id="{38CA711B-2895-6001-53A4-AB37017E811E}"/>
              </a:ext>
            </a:extLst>
          </p:cNvPr>
          <p:cNvSpPr txBox="1"/>
          <p:nvPr/>
        </p:nvSpPr>
        <p:spPr>
          <a:xfrm>
            <a:off x="1084310" y="2625142"/>
            <a:ext cx="288032" cy="369332"/>
          </a:xfrm>
          <a:prstGeom prst="rect">
            <a:avLst/>
          </a:prstGeom>
          <a:noFill/>
        </p:spPr>
        <p:txBody>
          <a:bodyPr wrap="square" rtlCol="0">
            <a:spAutoFit/>
          </a:bodyPr>
          <a:lstStyle/>
          <a:p>
            <a:r>
              <a:rPr lang="en-GB" dirty="0"/>
              <a:t>+</a:t>
            </a:r>
          </a:p>
        </p:txBody>
      </p:sp>
      <p:sp>
        <p:nvSpPr>
          <p:cNvPr id="27" name="TextBox 26">
            <a:extLst>
              <a:ext uri="{FF2B5EF4-FFF2-40B4-BE49-F238E27FC236}">
                <a16:creationId xmlns:a16="http://schemas.microsoft.com/office/drawing/2014/main" id="{0AF57136-E12D-87E2-BD10-6396E43BE2EF}"/>
              </a:ext>
            </a:extLst>
          </p:cNvPr>
          <p:cNvSpPr txBox="1"/>
          <p:nvPr/>
        </p:nvSpPr>
        <p:spPr>
          <a:xfrm>
            <a:off x="1136403" y="2473318"/>
            <a:ext cx="288032" cy="369332"/>
          </a:xfrm>
          <a:prstGeom prst="rect">
            <a:avLst/>
          </a:prstGeom>
          <a:noFill/>
        </p:spPr>
        <p:txBody>
          <a:bodyPr wrap="square" rtlCol="0">
            <a:spAutoFit/>
          </a:bodyPr>
          <a:lstStyle/>
          <a:p>
            <a:r>
              <a:rPr lang="en-GB" dirty="0"/>
              <a:t>+</a:t>
            </a:r>
          </a:p>
        </p:txBody>
      </p:sp>
      <p:sp>
        <p:nvSpPr>
          <p:cNvPr id="31" name="TextBox 30">
            <a:extLst>
              <a:ext uri="{FF2B5EF4-FFF2-40B4-BE49-F238E27FC236}">
                <a16:creationId xmlns:a16="http://schemas.microsoft.com/office/drawing/2014/main" id="{3480EFB7-3B3E-5F7D-A0A5-8CF2C307A978}"/>
              </a:ext>
            </a:extLst>
          </p:cNvPr>
          <p:cNvSpPr txBox="1"/>
          <p:nvPr/>
        </p:nvSpPr>
        <p:spPr>
          <a:xfrm>
            <a:off x="961184" y="2706422"/>
            <a:ext cx="288032" cy="369332"/>
          </a:xfrm>
          <a:prstGeom prst="rect">
            <a:avLst/>
          </a:prstGeom>
          <a:noFill/>
        </p:spPr>
        <p:txBody>
          <a:bodyPr wrap="square" rtlCol="0">
            <a:spAutoFit/>
          </a:bodyPr>
          <a:lstStyle/>
          <a:p>
            <a:r>
              <a:rPr lang="en-GB" dirty="0"/>
              <a:t>+</a:t>
            </a:r>
          </a:p>
        </p:txBody>
      </p:sp>
      <p:sp>
        <p:nvSpPr>
          <p:cNvPr id="35" name="TextBox 34">
            <a:extLst>
              <a:ext uri="{FF2B5EF4-FFF2-40B4-BE49-F238E27FC236}">
                <a16:creationId xmlns:a16="http://schemas.microsoft.com/office/drawing/2014/main" id="{011E0FDA-C8FB-5CCA-5115-76161446A058}"/>
              </a:ext>
            </a:extLst>
          </p:cNvPr>
          <p:cNvSpPr txBox="1"/>
          <p:nvPr/>
        </p:nvSpPr>
        <p:spPr>
          <a:xfrm>
            <a:off x="1028645" y="2858606"/>
            <a:ext cx="288032" cy="369332"/>
          </a:xfrm>
          <a:prstGeom prst="rect">
            <a:avLst/>
          </a:prstGeom>
          <a:noFill/>
        </p:spPr>
        <p:txBody>
          <a:bodyPr wrap="square" rtlCol="0">
            <a:spAutoFit/>
          </a:bodyPr>
          <a:lstStyle/>
          <a:p>
            <a:r>
              <a:rPr lang="en-GB" dirty="0"/>
              <a:t>+</a:t>
            </a:r>
          </a:p>
        </p:txBody>
      </p:sp>
      <p:sp>
        <p:nvSpPr>
          <p:cNvPr id="41" name="TextBox 40">
            <a:extLst>
              <a:ext uri="{FF2B5EF4-FFF2-40B4-BE49-F238E27FC236}">
                <a16:creationId xmlns:a16="http://schemas.microsoft.com/office/drawing/2014/main" id="{B6C69BA3-0C53-FDBF-1948-D020D4AF12AB}"/>
              </a:ext>
            </a:extLst>
          </p:cNvPr>
          <p:cNvSpPr txBox="1"/>
          <p:nvPr/>
        </p:nvSpPr>
        <p:spPr>
          <a:xfrm>
            <a:off x="1034000" y="3336354"/>
            <a:ext cx="288032" cy="369332"/>
          </a:xfrm>
          <a:prstGeom prst="rect">
            <a:avLst/>
          </a:prstGeom>
          <a:noFill/>
        </p:spPr>
        <p:txBody>
          <a:bodyPr wrap="square" rtlCol="0">
            <a:spAutoFit/>
          </a:bodyPr>
          <a:lstStyle/>
          <a:p>
            <a:r>
              <a:rPr lang="en-GB" dirty="0"/>
              <a:t>-</a:t>
            </a:r>
          </a:p>
        </p:txBody>
      </p:sp>
      <p:sp>
        <p:nvSpPr>
          <p:cNvPr id="43" name="TextBox 42">
            <a:extLst>
              <a:ext uri="{FF2B5EF4-FFF2-40B4-BE49-F238E27FC236}">
                <a16:creationId xmlns:a16="http://schemas.microsoft.com/office/drawing/2014/main" id="{B5F5851D-C3DF-4013-AA3C-5201B24990AB}"/>
              </a:ext>
            </a:extLst>
          </p:cNvPr>
          <p:cNvSpPr txBox="1"/>
          <p:nvPr/>
        </p:nvSpPr>
        <p:spPr>
          <a:xfrm>
            <a:off x="1034941" y="3250684"/>
            <a:ext cx="288032" cy="369332"/>
          </a:xfrm>
          <a:prstGeom prst="rect">
            <a:avLst/>
          </a:prstGeom>
          <a:noFill/>
        </p:spPr>
        <p:txBody>
          <a:bodyPr wrap="square" rtlCol="0">
            <a:spAutoFit/>
          </a:bodyPr>
          <a:lstStyle/>
          <a:p>
            <a:r>
              <a:rPr lang="en-GB" dirty="0"/>
              <a:t>-</a:t>
            </a:r>
          </a:p>
        </p:txBody>
      </p:sp>
      <p:sp>
        <p:nvSpPr>
          <p:cNvPr id="45" name="TextBox 44">
            <a:extLst>
              <a:ext uri="{FF2B5EF4-FFF2-40B4-BE49-F238E27FC236}">
                <a16:creationId xmlns:a16="http://schemas.microsoft.com/office/drawing/2014/main" id="{883CE40E-BAAE-E4DC-4C22-560BA3AF63FC}"/>
              </a:ext>
            </a:extLst>
          </p:cNvPr>
          <p:cNvSpPr txBox="1"/>
          <p:nvPr/>
        </p:nvSpPr>
        <p:spPr>
          <a:xfrm>
            <a:off x="1226066" y="3501204"/>
            <a:ext cx="288032" cy="369332"/>
          </a:xfrm>
          <a:prstGeom prst="rect">
            <a:avLst/>
          </a:prstGeom>
          <a:noFill/>
        </p:spPr>
        <p:txBody>
          <a:bodyPr wrap="square" rtlCol="0">
            <a:spAutoFit/>
          </a:bodyPr>
          <a:lstStyle/>
          <a:p>
            <a:r>
              <a:rPr lang="en-GB" dirty="0"/>
              <a:t>-</a:t>
            </a:r>
          </a:p>
        </p:txBody>
      </p:sp>
      <p:sp>
        <p:nvSpPr>
          <p:cNvPr id="47" name="TextBox 46">
            <a:extLst>
              <a:ext uri="{FF2B5EF4-FFF2-40B4-BE49-F238E27FC236}">
                <a16:creationId xmlns:a16="http://schemas.microsoft.com/office/drawing/2014/main" id="{F2006036-F989-47D8-EEEF-769F430D7674}"/>
              </a:ext>
            </a:extLst>
          </p:cNvPr>
          <p:cNvSpPr txBox="1"/>
          <p:nvPr/>
        </p:nvSpPr>
        <p:spPr>
          <a:xfrm>
            <a:off x="1105200" y="3450479"/>
            <a:ext cx="288032" cy="369332"/>
          </a:xfrm>
          <a:prstGeom prst="rect">
            <a:avLst/>
          </a:prstGeom>
          <a:noFill/>
        </p:spPr>
        <p:txBody>
          <a:bodyPr wrap="square" rtlCol="0">
            <a:spAutoFit/>
          </a:bodyPr>
          <a:lstStyle/>
          <a:p>
            <a:r>
              <a:rPr lang="en-GB" dirty="0"/>
              <a:t>-</a:t>
            </a:r>
          </a:p>
        </p:txBody>
      </p:sp>
      <p:sp>
        <p:nvSpPr>
          <p:cNvPr id="52" name="TextBox 51">
            <a:extLst>
              <a:ext uri="{FF2B5EF4-FFF2-40B4-BE49-F238E27FC236}">
                <a16:creationId xmlns:a16="http://schemas.microsoft.com/office/drawing/2014/main" id="{567F9DFD-ADEB-E7B8-CD09-995D6AF7BC69}"/>
              </a:ext>
            </a:extLst>
          </p:cNvPr>
          <p:cNvSpPr txBox="1"/>
          <p:nvPr/>
        </p:nvSpPr>
        <p:spPr>
          <a:xfrm>
            <a:off x="1208952" y="2616895"/>
            <a:ext cx="288032" cy="369332"/>
          </a:xfrm>
          <a:prstGeom prst="rect">
            <a:avLst/>
          </a:prstGeom>
          <a:noFill/>
        </p:spPr>
        <p:txBody>
          <a:bodyPr wrap="square" rtlCol="0">
            <a:spAutoFit/>
          </a:bodyPr>
          <a:lstStyle/>
          <a:p>
            <a:r>
              <a:rPr lang="en-GB" dirty="0"/>
              <a:t>+</a:t>
            </a:r>
          </a:p>
        </p:txBody>
      </p:sp>
      <p:sp>
        <p:nvSpPr>
          <p:cNvPr id="53" name="Lightning Bolt 52">
            <a:extLst>
              <a:ext uri="{FF2B5EF4-FFF2-40B4-BE49-F238E27FC236}">
                <a16:creationId xmlns:a16="http://schemas.microsoft.com/office/drawing/2014/main" id="{1B820BC5-497B-B454-3AFE-66461992631E}"/>
              </a:ext>
            </a:extLst>
          </p:cNvPr>
          <p:cNvSpPr/>
          <p:nvPr/>
        </p:nvSpPr>
        <p:spPr>
          <a:xfrm>
            <a:off x="2614466" y="2994474"/>
            <a:ext cx="390672" cy="341880"/>
          </a:xfrm>
          <a:prstGeom prst="lightningBol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3992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3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500"/>
                                        <p:tgtEl>
                                          <p:spTgt spid="4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fade">
                                      <p:cBhvr>
                                        <p:cTn id="55" dur="500"/>
                                        <p:tgtEl>
                                          <p:spTgt spid="4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500"/>
                                        <p:tgtEl>
                                          <p:spTgt spid="4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3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35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grpId="0" nodeType="clickEffect">
                                  <p:stCondLst>
                                    <p:cond delay="0"/>
                                  </p:stCondLst>
                                  <p:childTnLst>
                                    <p:animMotion origin="layout" path="M 0.03611 0.01274 L 0.03611 0.01274 C 0.05729 0.01968 0.03438 0.01297 0.06302 0.01737 C 0.06545 0.0176 0.06997 0.01968 0.06997 0.01968 C 0.07049 0.02061 0.07084 0.02223 0.0717 0.02315 C 0.07274 0.02385 0.07396 0.02385 0.07518 0.02431 C 0.07604 0.02454 0.07691 0.025 0.07778 0.02547 C 0.08698 0.02778 0.10122 0.02732 0.10816 0.02778 C 0.1191 0.03056 0.10573 0.02639 0.11684 0.03241 C 0.11823 0.03311 0.11979 0.03311 0.12118 0.03357 C 0.1224 0.0338 0.12361 0.03426 0.12483 0.03473 C 0.12674 0.03542 0.12882 0.03635 0.1309 0.03704 C 0.13316 0.0375 0.13542 0.03774 0.13785 0.0382 C 0.14618 0.03473 0.14705 0.03287 0.15608 0.03588 C 0.15764 0.03635 0.15903 0.0382 0.16042 0.03912 C 0.16389 0.03889 0.16736 0.0382 0.17084 0.0382 C 0.17257 0.0382 0.17431 0.03959 0.17604 0.03912 C 0.17795 0.03889 0.17952 0.03681 0.18125 0.03588 C 0.18247 0.03519 0.18368 0.03496 0.18472 0.03473 C 0.18594 0.03542 0.18715 0.03612 0.1882 0.03704 C 0.19115 0.03912 0.19514 0.04283 0.19861 0.04399 C 0.20209 0.04491 0.20573 0.04537 0.2092 0.0463 C 0.21059 0.04653 0.21198 0.04699 0.21354 0.04746 C 0.23212 0.04561 0.23073 0.04514 0.25521 0.04862 C 0.25677 0.04862 0.25816 0.05 0.25955 0.05093 C 0.26163 0.05 0.26354 0.04815 0.26563 0.04862 C 0.26962 0.04931 0.27344 0.05186 0.27691 0.0544 C 0.28854 0.06204 0.27535 0.05695 0.28472 0.06019 C 0.28733 0.05834 0.2908 0.05579 0.29358 0.05556 C 0.29445 0.05533 0.29531 0.05602 0.29618 0.05672 C 0.29827 0.05811 0.30018 0.05973 0.30226 0.06135 C 0.30417 0.0625 0.30625 0.06366 0.30834 0.06482 C 0.30938 0.06436 0.31788 0.06065 0.31962 0.06135 C 0.32292 0.06227 0.32587 0.06551 0.32917 0.06713 C 0.33108 0.06783 0.33316 0.06783 0.33524 0.06829 C 0.33559 0.06783 0.34566 0.05903 0.3474 0.05903 C 0.34931 0.0588 0.35104 0.06019 0.35261 0.06135 C 0.35556 0.06297 0.35851 0.06505 0.36129 0.06713 C 0.36372 0.06482 0.36563 0.06135 0.36823 0.06019 C 0.37222 0.05834 0.37535 0.06274 0.37882 0.06366 C 0.3816 0.06436 0.38455 0.06436 0.3875 0.06482 C 0.39375 0.07037 0.38629 0.06528 0.39618 0.05672 C 0.3974 0.05556 0.39896 0.05718 0.40052 0.05787 C 0.41337 0.06204 0.4007 0.05857 0.41094 0.06135 C 0.41354 0.06088 0.41615 0.05926 0.41875 0.06019 C 0.42361 0.06181 0.42344 0.0676 0.42743 0.07061 C 0.42986 0.07223 0.43264 0.07292 0.43524 0.07408 C 0.43646 0.07315 0.4375 0.07223 0.43872 0.07176 C 0.4441 0.06922 0.44757 0.07107 0.45347 0.07176 C 0.45834 0.07593 0.45504 0.07385 0.46406 0.07524 L 0.46406 0.07524 L 0.46406 0.07524 L 0.46406 0.07524 L 0.46406 0.07524 L 0.45781 0.08102 " pathEditMode="relative" ptsTypes="AAAAAAAAAAAAAAAAAAAAAAAAAAAAAAAAAAAAAAAAAAAAAAAAAAAAAAA">
                                      <p:cBhvr>
                                        <p:cTn id="68" dur="2000" fill="hold"/>
                                        <p:tgtEl>
                                          <p:spTgt spid="5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0" grpId="0"/>
      <p:bldP spid="14351" grpId="0" animBg="1"/>
      <p:bldP spid="14356" grpId="0" animBg="1"/>
      <p:bldP spid="6" grpId="0" animBg="1"/>
      <p:bldP spid="14" grpId="0" animBg="1"/>
      <p:bldP spid="20" grpId="0" animBg="1"/>
      <p:bldP spid="22" grpId="0" animBg="1"/>
      <p:bldP spid="24" grpId="0" animBg="1"/>
      <p:bldP spid="25" grpId="0"/>
      <p:bldP spid="27" grpId="0"/>
      <p:bldP spid="31" grpId="0"/>
      <p:bldP spid="35" grpId="0"/>
      <p:bldP spid="41" grpId="0"/>
      <p:bldP spid="43" grpId="0"/>
      <p:bldP spid="45" grpId="0"/>
      <p:bldP spid="47" grpId="0"/>
      <p:bldP spid="52" grpId="0"/>
      <p:bldP spid="53"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147573" y="116632"/>
            <a:ext cx="8808463"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indent="0" eaLnBrk="1" hangingPunct="1">
              <a:spcBef>
                <a:spcPct val="50000"/>
              </a:spcBef>
            </a:pPr>
            <a:r>
              <a:rPr lang="en-US" sz="3200" dirty="0">
                <a:solidFill>
                  <a:srgbClr val="C00000"/>
                </a:solidFill>
                <a:latin typeface="Baskerville Old Face" pitchFamily="18" charset="0"/>
              </a:rPr>
              <a:t>Neuro muscular junction / Motor end plate </a:t>
            </a:r>
            <a:r>
              <a:rPr lang="en-US" sz="2800" dirty="0">
                <a:latin typeface="Baskerville Old Face" pitchFamily="18" charset="0"/>
              </a:rPr>
              <a:t>: </a:t>
            </a:r>
            <a:r>
              <a:rPr lang="en-US" sz="2400" dirty="0">
                <a:latin typeface="Baskerville Old Face" pitchFamily="18" charset="0"/>
              </a:rPr>
              <a:t>J</a:t>
            </a:r>
            <a:r>
              <a:rPr lang="en-GB" sz="2400" dirty="0">
                <a:latin typeface="Baskerville Old Face" panose="02020602080505020303" pitchFamily="18" charset="0"/>
              </a:rPr>
              <a:t>unction between a </a:t>
            </a:r>
            <a:r>
              <a:rPr lang="en-GB" sz="2400" b="1" dirty="0">
                <a:latin typeface="Baskerville Old Face" panose="02020602080505020303" pitchFamily="18" charset="0"/>
              </a:rPr>
              <a:t>motor neurone (alpha motor) </a:t>
            </a:r>
            <a:r>
              <a:rPr lang="en-GB" sz="2400" dirty="0">
                <a:latin typeface="Baskerville Old Face" panose="02020602080505020303" pitchFamily="18" charset="0"/>
              </a:rPr>
              <a:t>&amp; the corresponding muscle</a:t>
            </a:r>
            <a:endParaRPr lang="en-US" sz="2400" dirty="0">
              <a:solidFill>
                <a:srgbClr val="C00000"/>
              </a:solidFill>
              <a:latin typeface="Baskerville Old Face" pitchFamily="18" charset="0"/>
            </a:endParaRPr>
          </a:p>
          <a:p>
            <a:pPr marL="0" indent="0" eaLnBrk="1" hangingPunct="1">
              <a:spcBef>
                <a:spcPct val="50000"/>
              </a:spcBef>
            </a:pPr>
            <a:r>
              <a:rPr lang="en-US" sz="3200" dirty="0">
                <a:solidFill>
                  <a:srgbClr val="C00000"/>
                </a:solidFill>
                <a:latin typeface="Baskerville Old Face" pitchFamily="18" charset="0"/>
              </a:rPr>
              <a:t>Motor Unit </a:t>
            </a:r>
            <a:r>
              <a:rPr lang="en-US" sz="3200" dirty="0">
                <a:latin typeface="Baskerville Old Face" pitchFamily="18" charset="0"/>
              </a:rPr>
              <a:t>: </a:t>
            </a:r>
            <a:r>
              <a:rPr lang="en-GB" sz="2400" dirty="0">
                <a:latin typeface="Baskerville Old Face" panose="02020602080505020303" pitchFamily="18" charset="0"/>
              </a:rPr>
              <a:t>A motor nerve, with its terminal branches keeps close contact with number of muscle </a:t>
            </a:r>
            <a:r>
              <a:rPr lang="en-GB" sz="2400" dirty="0" err="1">
                <a:latin typeface="Baskerville Old Face" panose="02020602080505020303" pitchFamily="18" charset="0"/>
              </a:rPr>
              <a:t>fibers</a:t>
            </a:r>
            <a:r>
              <a:rPr lang="en-GB" sz="2400" dirty="0">
                <a:latin typeface="Baskerville Old Face" panose="02020602080505020303" pitchFamily="18" charset="0"/>
              </a:rPr>
              <a:t>. The connections so supplied are called as </a:t>
            </a:r>
            <a:r>
              <a:rPr lang="en-GB" sz="2400" dirty="0">
                <a:highlight>
                  <a:srgbClr val="FFFF00"/>
                </a:highlight>
                <a:latin typeface="Baskerville Old Face" panose="02020602080505020303" pitchFamily="18" charset="0"/>
              </a:rPr>
              <a:t>Motor Units</a:t>
            </a:r>
            <a:r>
              <a:rPr lang="en-GB" sz="2400" dirty="0">
                <a:latin typeface="Baskerville Old Face" panose="02020602080505020303" pitchFamily="18" charset="0"/>
              </a:rPr>
              <a:t> for that neurone.</a:t>
            </a:r>
            <a:endParaRPr lang="en-US" sz="2400" dirty="0">
              <a:latin typeface="Baskerville Old Face" pitchFamily="18" charset="0"/>
            </a:endParaRPr>
          </a:p>
        </p:txBody>
      </p:sp>
      <p:pic>
        <p:nvPicPr>
          <p:cNvPr id="25602" name="Picture 2" descr="http://i1251.photobucket.com/albums/hh551/vladimirzec/Fiziologija/img280.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5" y="2409781"/>
            <a:ext cx="4280411" cy="4448219"/>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http://faculty.pasadena.edu/dkwon/chapt_11/images/image82.png">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528" y="2499553"/>
            <a:ext cx="3816424" cy="4358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28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fade">
                                      <p:cBhvr>
                                        <p:cTn id="12" dur="1000"/>
                                        <p:tgtEl>
                                          <p:spTgt spid="25602"/>
                                        </p:tgtEl>
                                      </p:cBhvr>
                                    </p:animEffect>
                                    <p:anim calcmode="lin" valueType="num">
                                      <p:cBhvr>
                                        <p:cTn id="13" dur="1000" fill="hold"/>
                                        <p:tgtEl>
                                          <p:spTgt spid="25602"/>
                                        </p:tgtEl>
                                        <p:attrNameLst>
                                          <p:attrName>ppt_x</p:attrName>
                                        </p:attrNameLst>
                                      </p:cBhvr>
                                      <p:tavLst>
                                        <p:tav tm="0">
                                          <p:val>
                                            <p:strVal val="#ppt_x"/>
                                          </p:val>
                                        </p:tav>
                                        <p:tav tm="100000">
                                          <p:val>
                                            <p:strVal val="#ppt_x"/>
                                          </p:val>
                                        </p:tav>
                                      </p:tavLst>
                                    </p:anim>
                                    <p:anim calcmode="lin" valueType="num">
                                      <p:cBhvr>
                                        <p:cTn id="14" dur="1000" fill="hold"/>
                                        <p:tgtEl>
                                          <p:spTgt spid="2560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barn(inVertical)">
                                      <p:cBhvr>
                                        <p:cTn id="19" dur="500"/>
                                        <p:tgtEl>
                                          <p:spTgt spid="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25604"/>
                                        </p:tgtEl>
                                        <p:attrNameLst>
                                          <p:attrName>style.visibility</p:attrName>
                                        </p:attrNameLst>
                                      </p:cBhvr>
                                      <p:to>
                                        <p:strVal val="visible"/>
                                      </p:to>
                                    </p:set>
                                    <p:animEffect transition="in" filter="barn(inVertical)">
                                      <p:cBhvr>
                                        <p:cTn id="24"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s Hiring a Writer for Your Small Business Worth the Money? - Wave ...">
            <a:extLst>
              <a:ext uri="{FF2B5EF4-FFF2-40B4-BE49-F238E27FC236}">
                <a16:creationId xmlns:a16="http://schemas.microsoft.com/office/drawing/2014/main" id="{D90399A2-D36C-48EC-8106-DAF4C7BD5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692696"/>
            <a:ext cx="3589767" cy="20289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Young Man Eyes Close Up Thinking Stock Photo, Picture And Royalty ...">
            <a:extLst>
              <a:ext uri="{FF2B5EF4-FFF2-40B4-BE49-F238E27FC236}">
                <a16:creationId xmlns:a16="http://schemas.microsoft.com/office/drawing/2014/main" id="{27CFA288-56C8-4461-BAC1-3A158E2BC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806" y="3320104"/>
            <a:ext cx="3794123" cy="20268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78D73FE-E277-4C8F-85BC-0FB8097EC484}"/>
              </a:ext>
            </a:extLst>
          </p:cNvPr>
          <p:cNvSpPr txBox="1"/>
          <p:nvPr/>
        </p:nvSpPr>
        <p:spPr>
          <a:xfrm>
            <a:off x="1326323" y="165081"/>
            <a:ext cx="1728192" cy="523220"/>
          </a:xfrm>
          <a:prstGeom prst="rect">
            <a:avLst/>
          </a:prstGeom>
          <a:noFill/>
        </p:spPr>
        <p:txBody>
          <a:bodyPr wrap="square" rtlCol="0">
            <a:spAutoFit/>
          </a:bodyPr>
          <a:lstStyle/>
          <a:p>
            <a:r>
              <a:rPr lang="en-MY" sz="2800">
                <a:solidFill>
                  <a:srgbClr val="C00000"/>
                </a:solidFill>
              </a:rPr>
              <a:t>Writing</a:t>
            </a:r>
          </a:p>
        </p:txBody>
      </p:sp>
      <p:sp>
        <p:nvSpPr>
          <p:cNvPr id="7" name="TextBox 6">
            <a:extLst>
              <a:ext uri="{FF2B5EF4-FFF2-40B4-BE49-F238E27FC236}">
                <a16:creationId xmlns:a16="http://schemas.microsoft.com/office/drawing/2014/main" id="{03C4D1F0-C0FD-4C06-AEF0-F8A2E6E33845}"/>
              </a:ext>
            </a:extLst>
          </p:cNvPr>
          <p:cNvSpPr txBox="1"/>
          <p:nvPr/>
        </p:nvSpPr>
        <p:spPr>
          <a:xfrm>
            <a:off x="994735" y="2721695"/>
            <a:ext cx="2483911" cy="523220"/>
          </a:xfrm>
          <a:prstGeom prst="rect">
            <a:avLst/>
          </a:prstGeom>
          <a:noFill/>
        </p:spPr>
        <p:txBody>
          <a:bodyPr wrap="square" rtlCol="0">
            <a:spAutoFit/>
          </a:bodyPr>
          <a:lstStyle/>
          <a:p>
            <a:r>
              <a:rPr lang="en-MY" sz="2800">
                <a:solidFill>
                  <a:srgbClr val="C00000"/>
                </a:solidFill>
              </a:rPr>
              <a:t>Eye movements</a:t>
            </a:r>
          </a:p>
        </p:txBody>
      </p:sp>
      <p:pic>
        <p:nvPicPr>
          <p:cNvPr id="1032" name="Picture 8" descr="What is Posture?">
            <a:extLst>
              <a:ext uri="{FF2B5EF4-FFF2-40B4-BE49-F238E27FC236}">
                <a16:creationId xmlns:a16="http://schemas.microsoft.com/office/drawing/2014/main" id="{D80D906E-9A21-429D-9C61-735E3A37D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0380" y="548681"/>
            <a:ext cx="3664067" cy="230425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10 Benefits Of Push Ups - Benefits Of Doing Push Ups">
            <a:extLst>
              <a:ext uri="{FF2B5EF4-FFF2-40B4-BE49-F238E27FC236}">
                <a16:creationId xmlns:a16="http://schemas.microsoft.com/office/drawing/2014/main" id="{018E1449-0039-4B07-8F9B-68087C881E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0380" y="3310976"/>
            <a:ext cx="3891009" cy="202682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AC75836-933D-4D37-B346-83633C391A69}"/>
              </a:ext>
            </a:extLst>
          </p:cNvPr>
          <p:cNvSpPr txBox="1"/>
          <p:nvPr/>
        </p:nvSpPr>
        <p:spPr>
          <a:xfrm>
            <a:off x="5532686" y="25461"/>
            <a:ext cx="2669615" cy="523220"/>
          </a:xfrm>
          <a:prstGeom prst="rect">
            <a:avLst/>
          </a:prstGeom>
          <a:noFill/>
        </p:spPr>
        <p:txBody>
          <a:bodyPr wrap="square" rtlCol="0">
            <a:spAutoFit/>
          </a:bodyPr>
          <a:lstStyle/>
          <a:p>
            <a:r>
              <a:rPr lang="en-MY" sz="2800">
                <a:solidFill>
                  <a:srgbClr val="C00000"/>
                </a:solidFill>
              </a:rPr>
              <a:t>Postural activity</a:t>
            </a:r>
          </a:p>
        </p:txBody>
      </p:sp>
      <p:sp>
        <p:nvSpPr>
          <p:cNvPr id="13" name="TextBox 12">
            <a:extLst>
              <a:ext uri="{FF2B5EF4-FFF2-40B4-BE49-F238E27FC236}">
                <a16:creationId xmlns:a16="http://schemas.microsoft.com/office/drawing/2014/main" id="{9678BF9F-D4C2-40E4-8162-B9A7354C1DA8}"/>
              </a:ext>
            </a:extLst>
          </p:cNvPr>
          <p:cNvSpPr txBox="1"/>
          <p:nvPr/>
        </p:nvSpPr>
        <p:spPr>
          <a:xfrm>
            <a:off x="5279356" y="2852937"/>
            <a:ext cx="3176273" cy="523220"/>
          </a:xfrm>
          <a:prstGeom prst="rect">
            <a:avLst/>
          </a:prstGeom>
          <a:noFill/>
        </p:spPr>
        <p:txBody>
          <a:bodyPr wrap="square" rtlCol="0">
            <a:spAutoFit/>
          </a:bodyPr>
          <a:lstStyle/>
          <a:p>
            <a:r>
              <a:rPr lang="en-MY" sz="2800">
                <a:solidFill>
                  <a:srgbClr val="C00000"/>
                </a:solidFill>
              </a:rPr>
              <a:t>Strength Generation</a:t>
            </a:r>
          </a:p>
        </p:txBody>
      </p:sp>
      <p:sp>
        <p:nvSpPr>
          <p:cNvPr id="5" name="TextBox 4">
            <a:extLst>
              <a:ext uri="{FF2B5EF4-FFF2-40B4-BE49-F238E27FC236}">
                <a16:creationId xmlns:a16="http://schemas.microsoft.com/office/drawing/2014/main" id="{2C5B6E35-7634-4A0A-8208-FFB7B2642E24}"/>
              </a:ext>
            </a:extLst>
          </p:cNvPr>
          <p:cNvSpPr txBox="1"/>
          <p:nvPr/>
        </p:nvSpPr>
        <p:spPr>
          <a:xfrm>
            <a:off x="251520" y="5422121"/>
            <a:ext cx="4248472" cy="707886"/>
          </a:xfrm>
          <a:prstGeom prst="rect">
            <a:avLst/>
          </a:prstGeom>
          <a:noFill/>
        </p:spPr>
        <p:txBody>
          <a:bodyPr wrap="square" rtlCol="0">
            <a:spAutoFit/>
          </a:bodyPr>
          <a:lstStyle/>
          <a:p>
            <a:pPr algn="ctr"/>
            <a:r>
              <a:rPr lang="en-MY" sz="2000" dirty="0">
                <a:solidFill>
                  <a:srgbClr val="0070C0"/>
                </a:solidFill>
              </a:rPr>
              <a:t>Single nerve innervating </a:t>
            </a:r>
            <a:r>
              <a:rPr lang="en-MY" sz="2000" dirty="0">
                <a:solidFill>
                  <a:srgbClr val="C00000"/>
                </a:solidFill>
              </a:rPr>
              <a:t>a few </a:t>
            </a:r>
            <a:r>
              <a:rPr lang="en-MY" sz="2000" dirty="0">
                <a:solidFill>
                  <a:srgbClr val="0070C0"/>
                </a:solidFill>
              </a:rPr>
              <a:t>muscles are involved in </a:t>
            </a:r>
            <a:r>
              <a:rPr lang="en-MY" sz="2000" dirty="0">
                <a:solidFill>
                  <a:srgbClr val="C00000"/>
                </a:solidFill>
              </a:rPr>
              <a:t>precise activities</a:t>
            </a:r>
          </a:p>
        </p:txBody>
      </p:sp>
      <p:sp>
        <p:nvSpPr>
          <p:cNvPr id="15" name="TextBox 14">
            <a:extLst>
              <a:ext uri="{FF2B5EF4-FFF2-40B4-BE49-F238E27FC236}">
                <a16:creationId xmlns:a16="http://schemas.microsoft.com/office/drawing/2014/main" id="{D9154ED5-913E-4CF8-8721-BC80B2FF8298}"/>
              </a:ext>
            </a:extLst>
          </p:cNvPr>
          <p:cNvSpPr txBox="1"/>
          <p:nvPr/>
        </p:nvSpPr>
        <p:spPr>
          <a:xfrm>
            <a:off x="4640744" y="5381696"/>
            <a:ext cx="4450989" cy="707886"/>
          </a:xfrm>
          <a:prstGeom prst="rect">
            <a:avLst/>
          </a:prstGeom>
          <a:noFill/>
        </p:spPr>
        <p:txBody>
          <a:bodyPr wrap="square" rtlCol="0">
            <a:spAutoFit/>
          </a:bodyPr>
          <a:lstStyle/>
          <a:p>
            <a:pPr algn="ctr"/>
            <a:r>
              <a:rPr lang="en-MY" sz="2000" dirty="0">
                <a:solidFill>
                  <a:srgbClr val="0070C0"/>
                </a:solidFill>
              </a:rPr>
              <a:t>Single nerve innervating </a:t>
            </a:r>
            <a:r>
              <a:rPr lang="en-MY" sz="2000" dirty="0">
                <a:solidFill>
                  <a:srgbClr val="C00000"/>
                </a:solidFill>
              </a:rPr>
              <a:t>large gr </a:t>
            </a:r>
            <a:r>
              <a:rPr lang="en-MY" sz="2000" dirty="0">
                <a:solidFill>
                  <a:srgbClr val="0070C0"/>
                </a:solidFill>
              </a:rPr>
              <a:t>of muscles are involved in </a:t>
            </a:r>
            <a:r>
              <a:rPr lang="en-MY" sz="2000" dirty="0">
                <a:solidFill>
                  <a:srgbClr val="C00000"/>
                </a:solidFill>
              </a:rPr>
              <a:t>gross activities </a:t>
            </a:r>
          </a:p>
        </p:txBody>
      </p:sp>
    </p:spTree>
    <p:extLst>
      <p:ext uri="{BB962C8B-B14F-4D97-AF65-F5344CB8AC3E}">
        <p14:creationId xmlns:p14="http://schemas.microsoft.com/office/powerpoint/2010/main" val="4108953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028"/>
                                        </p:tgtEl>
                                        <p:attrNameLst>
                                          <p:attrName>style.visibility</p:attrName>
                                        </p:attrNameLst>
                                      </p:cBhvr>
                                      <p:to>
                                        <p:strVal val="visible"/>
                                      </p:to>
                                    </p:set>
                                    <p:animEffect transition="in" filter="fade">
                                      <p:cBhvr>
                                        <p:cTn id="16" dur="500"/>
                                        <p:tgtEl>
                                          <p:spTgt spid="1028"/>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arn(inVertical)">
                                      <p:cBhvr>
                                        <p:cTn id="21" dur="500"/>
                                        <p:tgtEl>
                                          <p:spTgt spid="12"/>
                                        </p:tgtEl>
                                      </p:cBhvr>
                                    </p:animEffect>
                                  </p:childTnLst>
                                </p:cTn>
                              </p:par>
                              <p:par>
                                <p:cTn id="22" presetID="16" presetClass="entr" presetSubtype="21" fill="hold" nodeType="withEffect">
                                  <p:stCondLst>
                                    <p:cond delay="0"/>
                                  </p:stCondLst>
                                  <p:childTnLst>
                                    <p:set>
                                      <p:cBhvr>
                                        <p:cTn id="23" dur="1" fill="hold">
                                          <p:stCondLst>
                                            <p:cond delay="0"/>
                                          </p:stCondLst>
                                        </p:cTn>
                                        <p:tgtEl>
                                          <p:spTgt spid="1032"/>
                                        </p:tgtEl>
                                        <p:attrNameLst>
                                          <p:attrName>style.visibility</p:attrName>
                                        </p:attrNameLst>
                                      </p:cBhvr>
                                      <p:to>
                                        <p:strVal val="visible"/>
                                      </p:to>
                                    </p:set>
                                    <p:animEffect transition="in" filter="barn(inVertical)">
                                      <p:cBhvr>
                                        <p:cTn id="24" dur="500"/>
                                        <p:tgtEl>
                                          <p:spTgt spid="1032"/>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500"/>
                                        <p:tgtEl>
                                          <p:spTgt spid="13"/>
                                        </p:tgtEl>
                                      </p:cBhvr>
                                    </p:animEffect>
                                  </p:childTnLst>
                                </p:cTn>
                              </p:par>
                              <p:par>
                                <p:cTn id="28" presetID="16" presetClass="entr" presetSubtype="21" fill="hold" nodeType="withEffect">
                                  <p:stCondLst>
                                    <p:cond delay="0"/>
                                  </p:stCondLst>
                                  <p:childTnLst>
                                    <p:set>
                                      <p:cBhvr>
                                        <p:cTn id="29" dur="1" fill="hold">
                                          <p:stCondLst>
                                            <p:cond delay="0"/>
                                          </p:stCondLst>
                                        </p:cTn>
                                        <p:tgtEl>
                                          <p:spTgt spid="1036"/>
                                        </p:tgtEl>
                                        <p:attrNameLst>
                                          <p:attrName>style.visibility</p:attrName>
                                        </p:attrNameLst>
                                      </p:cBhvr>
                                      <p:to>
                                        <p:strVal val="visible"/>
                                      </p:to>
                                    </p:set>
                                    <p:animEffect transition="in" filter="barn(inVertical)">
                                      <p:cBhvr>
                                        <p:cTn id="30" dur="500"/>
                                        <p:tgtEl>
                                          <p:spTgt spid="103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arn(inVertical)">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2" grpId="0"/>
      <p:bldP spid="13" grpId="0"/>
      <p:bldP spid="5"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74AB16-F02F-A7C4-CDCC-D9B3DB6908F8}"/>
              </a:ext>
            </a:extLst>
          </p:cNvPr>
          <p:cNvPicPr>
            <a:picLocks noChangeAspect="1"/>
          </p:cNvPicPr>
          <p:nvPr/>
        </p:nvPicPr>
        <p:blipFill rotWithShape="1">
          <a:blip r:embed="rId2"/>
          <a:srcRect t="11710" b="12756"/>
          <a:stretch/>
        </p:blipFill>
        <p:spPr bwMode="auto">
          <a:xfrm>
            <a:off x="687431" y="1268760"/>
            <a:ext cx="7635804" cy="4855524"/>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E31A5739-C215-C9E0-70E5-9212B04D4A19}"/>
              </a:ext>
            </a:extLst>
          </p:cNvPr>
          <p:cNvSpPr txBox="1"/>
          <p:nvPr/>
        </p:nvSpPr>
        <p:spPr>
          <a:xfrm>
            <a:off x="1115616" y="332656"/>
            <a:ext cx="7200800" cy="523220"/>
          </a:xfrm>
          <a:prstGeom prst="rect">
            <a:avLst/>
          </a:prstGeom>
          <a:noFill/>
          <a:ln w="38100">
            <a:solidFill>
              <a:srgbClr val="0070C0"/>
            </a:solidFill>
          </a:ln>
        </p:spPr>
        <p:txBody>
          <a:bodyPr wrap="square" rtlCol="0">
            <a:spAutoFit/>
          </a:bodyPr>
          <a:lstStyle/>
          <a:p>
            <a:r>
              <a:rPr lang="en-GB" sz="2800" b="1" dirty="0"/>
              <a:t>Some relevant aspects : SIM –Muscle practical:</a:t>
            </a:r>
          </a:p>
        </p:txBody>
      </p:sp>
    </p:spTree>
    <p:extLst>
      <p:ext uri="{BB962C8B-B14F-4D97-AF65-F5344CB8AC3E}">
        <p14:creationId xmlns:p14="http://schemas.microsoft.com/office/powerpoint/2010/main" val="1629447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8D2E5D-4E14-66C7-D005-E98D55A37D17}"/>
              </a:ext>
            </a:extLst>
          </p:cNvPr>
          <p:cNvSpPr txBox="1"/>
          <p:nvPr/>
        </p:nvSpPr>
        <p:spPr>
          <a:xfrm>
            <a:off x="1403648" y="139278"/>
            <a:ext cx="6750496" cy="584775"/>
          </a:xfrm>
          <a:prstGeom prst="rect">
            <a:avLst/>
          </a:prstGeom>
          <a:noFill/>
        </p:spPr>
        <p:txBody>
          <a:bodyPr wrap="square">
            <a:spAutoFit/>
          </a:bodyPr>
          <a:lstStyle/>
          <a:p>
            <a:r>
              <a:rPr lang="en-GB" sz="3200" b="1" i="0" dirty="0">
                <a:solidFill>
                  <a:srgbClr val="0F1115"/>
                </a:solidFill>
                <a:effectLst/>
              </a:rPr>
              <a:t>Size Principle</a:t>
            </a:r>
            <a:r>
              <a:rPr lang="en-GB" sz="3200" b="0" i="0" dirty="0">
                <a:solidFill>
                  <a:srgbClr val="0F1115"/>
                </a:solidFill>
                <a:effectLst/>
              </a:rPr>
              <a:t> (Henneman's principle)</a:t>
            </a:r>
            <a:endParaRPr lang="en-GB" sz="3200" dirty="0"/>
          </a:p>
        </p:txBody>
      </p:sp>
      <p:sp>
        <p:nvSpPr>
          <p:cNvPr id="7" name="TextBox 6">
            <a:extLst>
              <a:ext uri="{FF2B5EF4-FFF2-40B4-BE49-F238E27FC236}">
                <a16:creationId xmlns:a16="http://schemas.microsoft.com/office/drawing/2014/main" id="{DF051E44-4AB4-FB88-18E8-25FA8EE5D490}"/>
              </a:ext>
            </a:extLst>
          </p:cNvPr>
          <p:cNvSpPr txBox="1"/>
          <p:nvPr/>
        </p:nvSpPr>
        <p:spPr>
          <a:xfrm>
            <a:off x="539552" y="724053"/>
            <a:ext cx="8064896" cy="954107"/>
          </a:xfrm>
          <a:prstGeom prst="rect">
            <a:avLst/>
          </a:prstGeom>
          <a:noFill/>
        </p:spPr>
        <p:txBody>
          <a:bodyPr wrap="square">
            <a:spAutoFit/>
          </a:bodyPr>
          <a:lstStyle/>
          <a:p>
            <a:pPr marL="0" marR="0" indent="0" algn="l">
              <a:spcBef>
                <a:spcPts val="2400"/>
              </a:spcBef>
              <a:spcAft>
                <a:spcPts val="1200"/>
              </a:spcAft>
              <a:buNone/>
            </a:pPr>
            <a:r>
              <a:rPr lang="en-GB" sz="2800" dirty="0">
                <a:solidFill>
                  <a:srgbClr val="0F1115"/>
                </a:solidFill>
                <a:effectLst/>
              </a:rPr>
              <a:t>Relationship Between </a:t>
            </a:r>
            <a:r>
              <a:rPr lang="en-GB" sz="2800" i="1" dirty="0">
                <a:solidFill>
                  <a:srgbClr val="0070C0"/>
                </a:solidFill>
                <a:effectLst/>
              </a:rPr>
              <a:t>Motor Neuron Diameter </a:t>
            </a:r>
            <a:r>
              <a:rPr lang="en-GB" sz="2800" dirty="0">
                <a:solidFill>
                  <a:srgbClr val="0F1115"/>
                </a:solidFill>
                <a:effectLst/>
              </a:rPr>
              <a:t>and </a:t>
            </a:r>
            <a:r>
              <a:rPr lang="en-GB" sz="2800" i="1" dirty="0">
                <a:solidFill>
                  <a:srgbClr val="0070C0"/>
                </a:solidFill>
                <a:effectLst/>
              </a:rPr>
              <a:t>Recruitment Threshold</a:t>
            </a:r>
            <a:r>
              <a:rPr lang="en-GB" sz="2800" dirty="0">
                <a:solidFill>
                  <a:srgbClr val="0F1115"/>
                </a:solidFill>
                <a:effectLst/>
              </a:rPr>
              <a:t>.</a:t>
            </a:r>
            <a:endParaRPr lang="en-GB" sz="2800" dirty="0"/>
          </a:p>
        </p:txBody>
      </p:sp>
      <p:graphicFrame>
        <p:nvGraphicFramePr>
          <p:cNvPr id="8" name="Table 7">
            <a:extLst>
              <a:ext uri="{FF2B5EF4-FFF2-40B4-BE49-F238E27FC236}">
                <a16:creationId xmlns:a16="http://schemas.microsoft.com/office/drawing/2014/main" id="{53655915-5988-8030-D978-14641E005B00}"/>
              </a:ext>
            </a:extLst>
          </p:cNvPr>
          <p:cNvGraphicFramePr>
            <a:graphicFrameLocks noGrp="1"/>
          </p:cNvGraphicFramePr>
          <p:nvPr>
            <p:extLst>
              <p:ext uri="{D42A27DB-BD31-4B8C-83A1-F6EECF244321}">
                <p14:modId xmlns:p14="http://schemas.microsoft.com/office/powerpoint/2010/main" val="3121091300"/>
              </p:ext>
            </p:extLst>
          </p:nvPr>
        </p:nvGraphicFramePr>
        <p:xfrm>
          <a:off x="517663" y="2262935"/>
          <a:ext cx="8064897" cy="2160241"/>
        </p:xfrm>
        <a:graphic>
          <a:graphicData uri="http://schemas.openxmlformats.org/drawingml/2006/table">
            <a:tbl>
              <a:tblPr>
                <a:tableStyleId>{5940675A-B579-460E-94D1-54222C63F5DA}</a:tableStyleId>
              </a:tblPr>
              <a:tblGrid>
                <a:gridCol w="2688299">
                  <a:extLst>
                    <a:ext uri="{9D8B030D-6E8A-4147-A177-3AD203B41FA5}">
                      <a16:colId xmlns:a16="http://schemas.microsoft.com/office/drawing/2014/main" val="1076022349"/>
                    </a:ext>
                  </a:extLst>
                </a:gridCol>
                <a:gridCol w="2688299">
                  <a:extLst>
                    <a:ext uri="{9D8B030D-6E8A-4147-A177-3AD203B41FA5}">
                      <a16:colId xmlns:a16="http://schemas.microsoft.com/office/drawing/2014/main" val="3733509315"/>
                    </a:ext>
                  </a:extLst>
                </a:gridCol>
                <a:gridCol w="2688299">
                  <a:extLst>
                    <a:ext uri="{9D8B030D-6E8A-4147-A177-3AD203B41FA5}">
                      <a16:colId xmlns:a16="http://schemas.microsoft.com/office/drawing/2014/main" val="3903509712"/>
                    </a:ext>
                  </a:extLst>
                </a:gridCol>
              </a:tblGrid>
              <a:tr h="780781">
                <a:tc>
                  <a:txBody>
                    <a:bodyPr/>
                    <a:lstStyle/>
                    <a:p>
                      <a:pPr algn="ctr">
                        <a:lnSpc>
                          <a:spcPts val="1875"/>
                        </a:lnSpc>
                        <a:buNone/>
                      </a:pPr>
                      <a:r>
                        <a:rPr lang="en-GB" sz="2000" b="1" dirty="0">
                          <a:solidFill>
                            <a:srgbClr val="0F1115"/>
                          </a:solidFill>
                          <a:effectLst/>
                        </a:rPr>
                        <a:t>Motor Neuron Diameter</a:t>
                      </a:r>
                      <a:endParaRPr lang="en-GB" sz="2000" b="1" i="0" dirty="0">
                        <a:solidFill>
                          <a:srgbClr val="0F1115"/>
                        </a:solidFill>
                        <a:effectLst/>
                        <a:latin typeface="quote-cjk-patch"/>
                      </a:endParaRPr>
                    </a:p>
                  </a:txBody>
                  <a:tcPr marR="101600" marT="63500" marB="63500" anchor="ctr">
                    <a:solidFill>
                      <a:schemeClr val="bg2">
                        <a:lumMod val="90000"/>
                      </a:schemeClr>
                    </a:solidFill>
                  </a:tcPr>
                </a:tc>
                <a:tc>
                  <a:txBody>
                    <a:bodyPr/>
                    <a:lstStyle/>
                    <a:p>
                      <a:pPr algn="ctr">
                        <a:lnSpc>
                          <a:spcPts val="1875"/>
                        </a:lnSpc>
                        <a:buNone/>
                      </a:pPr>
                      <a:r>
                        <a:rPr lang="en-GB" sz="2000" b="1" dirty="0">
                          <a:solidFill>
                            <a:srgbClr val="0F1115"/>
                          </a:solidFill>
                          <a:effectLst/>
                        </a:rPr>
                        <a:t>Recruitment Threshold</a:t>
                      </a:r>
                      <a:endParaRPr lang="en-GB" sz="2000" b="1" i="0" dirty="0">
                        <a:solidFill>
                          <a:srgbClr val="0F1115"/>
                        </a:solidFill>
                        <a:effectLst/>
                        <a:latin typeface="quote-cjk-patch"/>
                      </a:endParaRPr>
                    </a:p>
                  </a:txBody>
                  <a:tcPr marL="101600" marR="101600" marT="63500" marB="63500" anchor="ctr">
                    <a:solidFill>
                      <a:schemeClr val="bg2">
                        <a:lumMod val="90000"/>
                      </a:schemeClr>
                    </a:solidFill>
                  </a:tcPr>
                </a:tc>
                <a:tc>
                  <a:txBody>
                    <a:bodyPr/>
                    <a:lstStyle/>
                    <a:p>
                      <a:pPr algn="ctr">
                        <a:lnSpc>
                          <a:spcPts val="1875"/>
                        </a:lnSpc>
                        <a:buNone/>
                      </a:pPr>
                      <a:r>
                        <a:rPr lang="en-GB" sz="2000" b="1" dirty="0">
                          <a:solidFill>
                            <a:srgbClr val="0F1115"/>
                          </a:solidFill>
                          <a:effectLst/>
                        </a:rPr>
                        <a:t>Recruitment Order</a:t>
                      </a:r>
                      <a:endParaRPr lang="en-GB" sz="2000" b="1" i="0" dirty="0">
                        <a:solidFill>
                          <a:srgbClr val="0F1115"/>
                        </a:solidFill>
                        <a:effectLst/>
                        <a:latin typeface="quote-cjk-patch"/>
                      </a:endParaRPr>
                    </a:p>
                  </a:txBody>
                  <a:tcPr marL="101600" marR="101600" marT="63500" marB="63500" anchor="ctr">
                    <a:solidFill>
                      <a:schemeClr val="bg2">
                        <a:lumMod val="90000"/>
                      </a:schemeClr>
                    </a:solidFill>
                  </a:tcPr>
                </a:tc>
                <a:extLst>
                  <a:ext uri="{0D108BD9-81ED-4DB2-BD59-A6C34878D82A}">
                    <a16:rowId xmlns:a16="http://schemas.microsoft.com/office/drawing/2014/main" val="165429554"/>
                  </a:ext>
                </a:extLst>
              </a:tr>
              <a:tr h="459820">
                <a:tc>
                  <a:txBody>
                    <a:bodyPr/>
                    <a:lstStyle/>
                    <a:p>
                      <a:pPr algn="ctr">
                        <a:lnSpc>
                          <a:spcPts val="1875"/>
                        </a:lnSpc>
                        <a:buNone/>
                      </a:pPr>
                      <a:r>
                        <a:rPr lang="en-GB" sz="2000" b="0">
                          <a:solidFill>
                            <a:srgbClr val="0F1115"/>
                          </a:solidFill>
                          <a:effectLst/>
                        </a:rPr>
                        <a:t>Small</a:t>
                      </a:r>
                      <a:endParaRPr lang="en-GB" sz="2000" b="0" i="0">
                        <a:solidFill>
                          <a:srgbClr val="0F1115"/>
                        </a:solidFill>
                        <a:effectLst/>
                        <a:latin typeface="quote-cjk-patch"/>
                      </a:endParaRPr>
                    </a:p>
                  </a:txBody>
                  <a:tcPr marR="101600" marT="63500" marB="63500" anchor="ctr"/>
                </a:tc>
                <a:tc>
                  <a:txBody>
                    <a:bodyPr/>
                    <a:lstStyle/>
                    <a:p>
                      <a:pPr algn="ctr">
                        <a:lnSpc>
                          <a:spcPts val="1875"/>
                        </a:lnSpc>
                        <a:buNone/>
                      </a:pPr>
                      <a:r>
                        <a:rPr lang="en-GB" sz="2000" b="0" dirty="0">
                          <a:solidFill>
                            <a:srgbClr val="0F1115"/>
                          </a:solidFill>
                          <a:effectLst/>
                        </a:rPr>
                        <a:t>Low (Easily excited)</a:t>
                      </a:r>
                      <a:endParaRPr lang="en-GB" sz="2000" b="0" i="0" dirty="0">
                        <a:solidFill>
                          <a:srgbClr val="0F1115"/>
                        </a:solidFill>
                        <a:effectLst/>
                        <a:latin typeface="quote-cjk-patch"/>
                      </a:endParaRPr>
                    </a:p>
                  </a:txBody>
                  <a:tcPr marL="101600" marR="101600" marT="63500" marB="63500" anchor="ctr"/>
                </a:tc>
                <a:tc>
                  <a:txBody>
                    <a:bodyPr/>
                    <a:lstStyle/>
                    <a:p>
                      <a:pPr algn="ctr">
                        <a:lnSpc>
                          <a:spcPts val="1875"/>
                        </a:lnSpc>
                        <a:buNone/>
                      </a:pPr>
                      <a:r>
                        <a:rPr lang="en-GB" sz="2000" b="0" dirty="0">
                          <a:solidFill>
                            <a:srgbClr val="0F1115"/>
                          </a:solidFill>
                          <a:effectLst/>
                        </a:rPr>
                        <a:t>FIRST</a:t>
                      </a:r>
                      <a:endParaRPr lang="en-GB" sz="2000" b="0" i="0" dirty="0">
                        <a:solidFill>
                          <a:srgbClr val="0F1115"/>
                        </a:solidFill>
                        <a:effectLst/>
                        <a:latin typeface="quote-cjk-patch"/>
                      </a:endParaRPr>
                    </a:p>
                  </a:txBody>
                  <a:tcPr marL="101600" marT="63500" marB="63500" anchor="ctr"/>
                </a:tc>
                <a:extLst>
                  <a:ext uri="{0D108BD9-81ED-4DB2-BD59-A6C34878D82A}">
                    <a16:rowId xmlns:a16="http://schemas.microsoft.com/office/drawing/2014/main" val="3410620984"/>
                  </a:ext>
                </a:extLst>
              </a:tr>
              <a:tr h="459820">
                <a:tc>
                  <a:txBody>
                    <a:bodyPr/>
                    <a:lstStyle/>
                    <a:p>
                      <a:pPr algn="ctr">
                        <a:lnSpc>
                          <a:spcPts val="1875"/>
                        </a:lnSpc>
                        <a:buNone/>
                      </a:pPr>
                      <a:r>
                        <a:rPr lang="en-GB" sz="2000" b="0">
                          <a:solidFill>
                            <a:srgbClr val="0F1115"/>
                          </a:solidFill>
                          <a:effectLst/>
                        </a:rPr>
                        <a:t>Medium</a:t>
                      </a:r>
                      <a:endParaRPr lang="en-GB" sz="2000" b="0" i="0">
                        <a:solidFill>
                          <a:srgbClr val="0F1115"/>
                        </a:solidFill>
                        <a:effectLst/>
                        <a:latin typeface="quote-cjk-patch"/>
                      </a:endParaRPr>
                    </a:p>
                  </a:txBody>
                  <a:tcPr marR="101600" marT="63500" marB="63500" anchor="ctr"/>
                </a:tc>
                <a:tc>
                  <a:txBody>
                    <a:bodyPr/>
                    <a:lstStyle/>
                    <a:p>
                      <a:pPr algn="ctr">
                        <a:lnSpc>
                          <a:spcPts val="1875"/>
                        </a:lnSpc>
                        <a:buNone/>
                      </a:pPr>
                      <a:r>
                        <a:rPr lang="en-GB" sz="2000" b="0">
                          <a:solidFill>
                            <a:srgbClr val="0F1115"/>
                          </a:solidFill>
                          <a:effectLst/>
                        </a:rPr>
                        <a:t>Medium</a:t>
                      </a:r>
                      <a:endParaRPr lang="en-GB" sz="2000" b="0" i="0">
                        <a:solidFill>
                          <a:srgbClr val="0F1115"/>
                        </a:solidFill>
                        <a:effectLst/>
                        <a:latin typeface="quote-cjk-patch"/>
                      </a:endParaRPr>
                    </a:p>
                  </a:txBody>
                  <a:tcPr marL="101600" marR="101600" marT="63500" marB="63500" anchor="ctr"/>
                </a:tc>
                <a:tc>
                  <a:txBody>
                    <a:bodyPr/>
                    <a:lstStyle/>
                    <a:p>
                      <a:pPr algn="ctr">
                        <a:lnSpc>
                          <a:spcPts val="1875"/>
                        </a:lnSpc>
                        <a:buNone/>
                      </a:pPr>
                      <a:r>
                        <a:rPr lang="en-GB" sz="2000" b="0" dirty="0">
                          <a:solidFill>
                            <a:srgbClr val="0F1115"/>
                          </a:solidFill>
                          <a:effectLst/>
                        </a:rPr>
                        <a:t>SECOND</a:t>
                      </a:r>
                      <a:endParaRPr lang="en-GB" sz="2000" b="0" i="0" dirty="0">
                        <a:solidFill>
                          <a:srgbClr val="0F1115"/>
                        </a:solidFill>
                        <a:effectLst/>
                        <a:latin typeface="quote-cjk-patch"/>
                      </a:endParaRPr>
                    </a:p>
                  </a:txBody>
                  <a:tcPr marL="101600" marT="63500" marB="63500" anchor="ctr"/>
                </a:tc>
                <a:extLst>
                  <a:ext uri="{0D108BD9-81ED-4DB2-BD59-A6C34878D82A}">
                    <a16:rowId xmlns:a16="http://schemas.microsoft.com/office/drawing/2014/main" val="4186519828"/>
                  </a:ext>
                </a:extLst>
              </a:tr>
              <a:tr h="459820">
                <a:tc>
                  <a:txBody>
                    <a:bodyPr/>
                    <a:lstStyle/>
                    <a:p>
                      <a:pPr algn="ctr">
                        <a:lnSpc>
                          <a:spcPts val="1875"/>
                        </a:lnSpc>
                        <a:buNone/>
                      </a:pPr>
                      <a:r>
                        <a:rPr lang="en-GB" sz="2000" b="0">
                          <a:solidFill>
                            <a:srgbClr val="0F1115"/>
                          </a:solidFill>
                          <a:effectLst/>
                        </a:rPr>
                        <a:t>Large</a:t>
                      </a:r>
                      <a:endParaRPr lang="en-GB" sz="2000" b="0" i="0">
                        <a:solidFill>
                          <a:srgbClr val="0F1115"/>
                        </a:solidFill>
                        <a:effectLst/>
                        <a:latin typeface="quote-cjk-patch"/>
                      </a:endParaRPr>
                    </a:p>
                  </a:txBody>
                  <a:tcPr marR="101600" marT="63500" marB="63500" anchor="ctr"/>
                </a:tc>
                <a:tc>
                  <a:txBody>
                    <a:bodyPr/>
                    <a:lstStyle/>
                    <a:p>
                      <a:pPr algn="ctr">
                        <a:lnSpc>
                          <a:spcPts val="1875"/>
                        </a:lnSpc>
                        <a:buNone/>
                      </a:pPr>
                      <a:r>
                        <a:rPr lang="en-GB" sz="2000" b="0" dirty="0">
                          <a:solidFill>
                            <a:srgbClr val="0F1115"/>
                          </a:solidFill>
                          <a:effectLst/>
                        </a:rPr>
                        <a:t>High (Harder to excite)</a:t>
                      </a:r>
                      <a:endParaRPr lang="en-GB" sz="2000" b="0" i="0" dirty="0">
                        <a:solidFill>
                          <a:srgbClr val="0F1115"/>
                        </a:solidFill>
                        <a:effectLst/>
                        <a:latin typeface="quote-cjk-patch"/>
                      </a:endParaRPr>
                    </a:p>
                  </a:txBody>
                  <a:tcPr marL="101600" marR="101600" marT="63500" marB="63500" anchor="ctr"/>
                </a:tc>
                <a:tc>
                  <a:txBody>
                    <a:bodyPr/>
                    <a:lstStyle/>
                    <a:p>
                      <a:pPr algn="ctr">
                        <a:lnSpc>
                          <a:spcPts val="1875"/>
                        </a:lnSpc>
                        <a:buNone/>
                      </a:pPr>
                      <a:r>
                        <a:rPr lang="en-GB" sz="2000" b="0" dirty="0">
                          <a:solidFill>
                            <a:srgbClr val="0F1115"/>
                          </a:solidFill>
                          <a:effectLst/>
                        </a:rPr>
                        <a:t>LAST</a:t>
                      </a:r>
                      <a:endParaRPr lang="en-GB" sz="2000" b="0" i="0" dirty="0">
                        <a:solidFill>
                          <a:srgbClr val="0F1115"/>
                        </a:solidFill>
                        <a:effectLst/>
                        <a:latin typeface="quote-cjk-patch"/>
                      </a:endParaRPr>
                    </a:p>
                  </a:txBody>
                  <a:tcPr marL="101600" marT="63500" marB="63500" anchor="ctr"/>
                </a:tc>
                <a:extLst>
                  <a:ext uri="{0D108BD9-81ED-4DB2-BD59-A6C34878D82A}">
                    <a16:rowId xmlns:a16="http://schemas.microsoft.com/office/drawing/2014/main" val="1966639671"/>
                  </a:ext>
                </a:extLst>
              </a:tr>
            </a:tbl>
          </a:graphicData>
        </a:graphic>
      </p:graphicFrame>
      <p:sp>
        <p:nvSpPr>
          <p:cNvPr id="10" name="TextBox 9">
            <a:extLst>
              <a:ext uri="{FF2B5EF4-FFF2-40B4-BE49-F238E27FC236}">
                <a16:creationId xmlns:a16="http://schemas.microsoft.com/office/drawing/2014/main" id="{2EE8A47C-232A-EC68-26E5-B694F4ACD03A}"/>
              </a:ext>
            </a:extLst>
          </p:cNvPr>
          <p:cNvSpPr txBox="1"/>
          <p:nvPr/>
        </p:nvSpPr>
        <p:spPr>
          <a:xfrm>
            <a:off x="323528" y="4475452"/>
            <a:ext cx="8064897" cy="2375009"/>
          </a:xfrm>
          <a:prstGeom prst="rect">
            <a:avLst/>
          </a:prstGeom>
          <a:noFill/>
        </p:spPr>
        <p:txBody>
          <a:bodyPr wrap="square">
            <a:spAutoFit/>
          </a:bodyPr>
          <a:lstStyle/>
          <a:p>
            <a:pPr marL="0" marR="0" indent="0" algn="l">
              <a:spcBef>
                <a:spcPts val="1200"/>
              </a:spcBef>
              <a:spcAft>
                <a:spcPts val="1200"/>
              </a:spcAft>
              <a:buNone/>
            </a:pPr>
            <a:r>
              <a:rPr lang="en-GB" sz="2800" b="1" i="0" dirty="0">
                <a:solidFill>
                  <a:srgbClr val="0F1115"/>
                </a:solidFill>
                <a:effectLst/>
                <a:highlight>
                  <a:srgbClr val="FFFF00"/>
                </a:highlight>
              </a:rPr>
              <a:t>Reasons</a:t>
            </a:r>
            <a:r>
              <a:rPr lang="en-GB" sz="2800" b="1" i="0" dirty="0">
                <a:solidFill>
                  <a:srgbClr val="0F1115"/>
                </a:solidFill>
                <a:effectLst/>
              </a:rPr>
              <a:t>:</a:t>
            </a:r>
            <a:r>
              <a:rPr lang="en-GB" sz="2000" b="0" i="0" dirty="0">
                <a:solidFill>
                  <a:srgbClr val="0F1115"/>
                </a:solidFill>
                <a:effectLst/>
              </a:rPr>
              <a:t> </a:t>
            </a:r>
            <a:r>
              <a:rPr lang="en-GB" sz="2400" b="0" i="0" dirty="0">
                <a:solidFill>
                  <a:srgbClr val="0F1115"/>
                </a:solidFill>
                <a:effectLst/>
              </a:rPr>
              <a:t>Small diameter neurons have:</a:t>
            </a:r>
          </a:p>
          <a:p>
            <a:pPr marL="0" marR="0" indent="0" algn="l">
              <a:spcBef>
                <a:spcPts val="1200"/>
              </a:spcBef>
              <a:spcAft>
                <a:spcPts val="1200"/>
              </a:spcAft>
              <a:buFont typeface="Arial" panose="020B0604020202020204" pitchFamily="34" charset="0"/>
              <a:buChar char="•"/>
            </a:pPr>
            <a:r>
              <a:rPr lang="en-GB" sz="2400" b="1" i="0" dirty="0">
                <a:solidFill>
                  <a:srgbClr val="0F1115"/>
                </a:solidFill>
                <a:effectLst/>
              </a:rPr>
              <a:t>Higher internal resistance &amp; low surface areas</a:t>
            </a:r>
            <a:endParaRPr lang="en-GB" sz="2400" b="0" i="0" dirty="0">
              <a:solidFill>
                <a:srgbClr val="0F1115"/>
              </a:solidFill>
              <a:effectLst/>
            </a:endParaRPr>
          </a:p>
          <a:p>
            <a:pPr marL="0" marR="0" indent="0" algn="l">
              <a:spcBef>
                <a:spcPts val="450"/>
              </a:spcBef>
              <a:spcAft>
                <a:spcPts val="1200"/>
              </a:spcAft>
              <a:buFont typeface="Arial" panose="020B0604020202020204" pitchFamily="34" charset="0"/>
              <a:buChar char="•"/>
            </a:pPr>
            <a:r>
              <a:rPr lang="en-GB" sz="2400" b="1" i="0" dirty="0">
                <a:solidFill>
                  <a:srgbClr val="0F1115"/>
                </a:solidFill>
                <a:effectLst/>
              </a:rPr>
              <a:t>Lower threshold</a:t>
            </a:r>
            <a:r>
              <a:rPr lang="en-GB" sz="2400" b="0" i="0" dirty="0">
                <a:solidFill>
                  <a:srgbClr val="0F1115"/>
                </a:solidFill>
                <a:effectLst/>
              </a:rPr>
              <a:t> for depolarization</a:t>
            </a:r>
          </a:p>
          <a:p>
            <a:pPr marL="0" marR="0" indent="0" algn="l">
              <a:spcBef>
                <a:spcPts val="450"/>
              </a:spcBef>
              <a:spcAft>
                <a:spcPts val="1200"/>
              </a:spcAft>
            </a:pPr>
            <a:r>
              <a:rPr lang="en-GB" sz="2400" b="0" i="0" dirty="0">
                <a:solidFill>
                  <a:srgbClr val="0F1115"/>
                </a:solidFill>
                <a:effectLst/>
              </a:rPr>
              <a:t>Therefore, they fire </a:t>
            </a:r>
            <a:r>
              <a:rPr lang="en-GB" sz="2400" b="1" i="0" dirty="0">
                <a:solidFill>
                  <a:srgbClr val="0F1115"/>
                </a:solidFill>
                <a:effectLst/>
              </a:rPr>
              <a:t>more easily</a:t>
            </a:r>
            <a:r>
              <a:rPr lang="en-GB" sz="2400" b="0" i="0" dirty="0">
                <a:solidFill>
                  <a:srgbClr val="0F1115"/>
                </a:solidFill>
                <a:effectLst/>
              </a:rPr>
              <a:t> with a given stimulus</a:t>
            </a:r>
          </a:p>
        </p:txBody>
      </p:sp>
      <p:sp>
        <p:nvSpPr>
          <p:cNvPr id="2" name="TextBox 1">
            <a:extLst>
              <a:ext uri="{FF2B5EF4-FFF2-40B4-BE49-F238E27FC236}">
                <a16:creationId xmlns:a16="http://schemas.microsoft.com/office/drawing/2014/main" id="{AE96E778-14D5-635F-8B63-1425179AE8D8}"/>
              </a:ext>
            </a:extLst>
          </p:cNvPr>
          <p:cNvSpPr txBox="1"/>
          <p:nvPr/>
        </p:nvSpPr>
        <p:spPr>
          <a:xfrm>
            <a:off x="94208" y="1673517"/>
            <a:ext cx="8726264" cy="461665"/>
          </a:xfrm>
          <a:prstGeom prst="rect">
            <a:avLst/>
          </a:prstGeom>
          <a:solidFill>
            <a:srgbClr val="FFC000"/>
          </a:solidFill>
          <a:ln>
            <a:solidFill>
              <a:schemeClr val="tx1">
                <a:lumMod val="85000"/>
                <a:lumOff val="15000"/>
              </a:schemeClr>
            </a:solidFill>
          </a:ln>
        </p:spPr>
        <p:txBody>
          <a:bodyPr wrap="square" rtlCol="0">
            <a:spAutoFit/>
          </a:bodyPr>
          <a:lstStyle/>
          <a:p>
            <a:r>
              <a:rPr lang="en-GB" sz="2400" b="1" dirty="0"/>
              <a:t>Remember</a:t>
            </a:r>
            <a:r>
              <a:rPr lang="en-GB" sz="2400" dirty="0"/>
              <a:t>: A given muscle has Multiple motor neurone innervation </a:t>
            </a:r>
          </a:p>
        </p:txBody>
      </p:sp>
      <p:sp>
        <p:nvSpPr>
          <p:cNvPr id="4" name="TextBox 3">
            <a:extLst>
              <a:ext uri="{FF2B5EF4-FFF2-40B4-BE49-F238E27FC236}">
                <a16:creationId xmlns:a16="http://schemas.microsoft.com/office/drawing/2014/main" id="{FA369611-D7F3-5B9A-1FDF-8AA3ED9B9C18}"/>
              </a:ext>
            </a:extLst>
          </p:cNvPr>
          <p:cNvSpPr txBox="1"/>
          <p:nvPr/>
        </p:nvSpPr>
        <p:spPr>
          <a:xfrm rot="16200000">
            <a:off x="-425291" y="3484456"/>
            <a:ext cx="1354215" cy="523220"/>
          </a:xfrm>
          <a:prstGeom prst="rect">
            <a:avLst/>
          </a:prstGeom>
          <a:solidFill>
            <a:srgbClr val="FFC000"/>
          </a:solidFill>
          <a:ln>
            <a:solidFill>
              <a:schemeClr val="tx1"/>
            </a:solidFill>
          </a:ln>
        </p:spPr>
        <p:txBody>
          <a:bodyPr wrap="square">
            <a:spAutoFit/>
          </a:bodyPr>
          <a:lstStyle/>
          <a:p>
            <a:r>
              <a:rPr lang="en-GB" sz="2800" dirty="0"/>
              <a:t>Muscle</a:t>
            </a:r>
          </a:p>
        </p:txBody>
      </p:sp>
    </p:spTree>
    <p:extLst>
      <p:ext uri="{BB962C8B-B14F-4D97-AF65-F5344CB8AC3E}">
        <p14:creationId xmlns:p14="http://schemas.microsoft.com/office/powerpoint/2010/main" val="1207655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par>
                                <p:cTn id="23" presetID="16" presetClass="entr" presetSubtype="21"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arn(inVertic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2"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5A64EA3-12F4-06E7-FA3D-87879C0A0B62}"/>
              </a:ext>
            </a:extLst>
          </p:cNvPr>
          <p:cNvGraphicFramePr>
            <a:graphicFrameLocks noGrp="1"/>
          </p:cNvGraphicFramePr>
          <p:nvPr>
            <p:extLst>
              <p:ext uri="{D42A27DB-BD31-4B8C-83A1-F6EECF244321}">
                <p14:modId xmlns:p14="http://schemas.microsoft.com/office/powerpoint/2010/main" val="3685216922"/>
              </p:ext>
            </p:extLst>
          </p:nvPr>
        </p:nvGraphicFramePr>
        <p:xfrm>
          <a:off x="1439142" y="1226051"/>
          <a:ext cx="7704858" cy="3435826"/>
        </p:xfrm>
        <a:graphic>
          <a:graphicData uri="http://schemas.openxmlformats.org/drawingml/2006/table">
            <a:tbl>
              <a:tblPr/>
              <a:tblGrid>
                <a:gridCol w="1485690">
                  <a:extLst>
                    <a:ext uri="{9D8B030D-6E8A-4147-A177-3AD203B41FA5}">
                      <a16:colId xmlns:a16="http://schemas.microsoft.com/office/drawing/2014/main" val="1638952487"/>
                    </a:ext>
                  </a:extLst>
                </a:gridCol>
                <a:gridCol w="1554792">
                  <a:extLst>
                    <a:ext uri="{9D8B030D-6E8A-4147-A177-3AD203B41FA5}">
                      <a16:colId xmlns:a16="http://schemas.microsoft.com/office/drawing/2014/main" val="3690972543"/>
                    </a:ext>
                  </a:extLst>
                </a:gridCol>
                <a:gridCol w="1554792">
                  <a:extLst>
                    <a:ext uri="{9D8B030D-6E8A-4147-A177-3AD203B41FA5}">
                      <a16:colId xmlns:a16="http://schemas.microsoft.com/office/drawing/2014/main" val="456274432"/>
                    </a:ext>
                  </a:extLst>
                </a:gridCol>
                <a:gridCol w="1554792">
                  <a:extLst>
                    <a:ext uri="{9D8B030D-6E8A-4147-A177-3AD203B41FA5}">
                      <a16:colId xmlns:a16="http://schemas.microsoft.com/office/drawing/2014/main" val="1012045368"/>
                    </a:ext>
                  </a:extLst>
                </a:gridCol>
                <a:gridCol w="1554792">
                  <a:extLst>
                    <a:ext uri="{9D8B030D-6E8A-4147-A177-3AD203B41FA5}">
                      <a16:colId xmlns:a16="http://schemas.microsoft.com/office/drawing/2014/main" val="1679448407"/>
                    </a:ext>
                  </a:extLst>
                </a:gridCol>
              </a:tblGrid>
              <a:tr h="758769">
                <a:tc>
                  <a:txBody>
                    <a:bodyPr/>
                    <a:lstStyle/>
                    <a:p>
                      <a:pPr algn="ctr">
                        <a:lnSpc>
                          <a:spcPct val="100000"/>
                        </a:lnSpc>
                        <a:buNone/>
                      </a:pPr>
                      <a:r>
                        <a:rPr lang="en-GB" sz="2000" b="0" i="0" dirty="0">
                          <a:solidFill>
                            <a:srgbClr val="0F1115"/>
                          </a:solidFill>
                          <a:effectLst/>
                          <a:highlight>
                            <a:srgbClr val="FFFF00"/>
                          </a:highlight>
                          <a:latin typeface="Baskerville Old Face" panose="02020602080505020303" pitchFamily="18" charset="0"/>
                        </a:rPr>
                        <a:t>Fiber Type</a:t>
                      </a:r>
                    </a:p>
                  </a:txBody>
                  <a:tcPr marR="101600" marT="63500" marB="63500" anchor="ctr">
                    <a:lnL>
                      <a:noFill/>
                    </a:lnL>
                    <a:lnR>
                      <a:noFill/>
                    </a:lnR>
                    <a:lnT>
                      <a:noFill/>
                    </a:lnT>
                    <a:lnB>
                      <a:noFill/>
                    </a:lnB>
                    <a:solidFill>
                      <a:srgbClr val="FFFFFF"/>
                    </a:solidFill>
                  </a:tcPr>
                </a:tc>
                <a:tc>
                  <a:txBody>
                    <a:bodyPr/>
                    <a:lstStyle/>
                    <a:p>
                      <a:pPr algn="ctr">
                        <a:lnSpc>
                          <a:spcPct val="100000"/>
                        </a:lnSpc>
                        <a:buNone/>
                      </a:pPr>
                      <a:r>
                        <a:rPr lang="en-GB" sz="2000" b="0" i="0" dirty="0">
                          <a:solidFill>
                            <a:srgbClr val="0F1115"/>
                          </a:solidFill>
                          <a:effectLst/>
                          <a:highlight>
                            <a:srgbClr val="FFFF00"/>
                          </a:highlight>
                          <a:latin typeface="Baskerville Old Face" panose="02020602080505020303" pitchFamily="18" charset="0"/>
                        </a:rPr>
                        <a:t>Contraction Speed</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2000" b="0" i="0" dirty="0">
                          <a:solidFill>
                            <a:srgbClr val="0F1115"/>
                          </a:solidFill>
                          <a:effectLst/>
                          <a:highlight>
                            <a:srgbClr val="FFFF00"/>
                          </a:highlight>
                          <a:latin typeface="Baskerville Old Face" panose="02020602080505020303" pitchFamily="18" charset="0"/>
                        </a:rPr>
                        <a:t>Fatigue Resistance</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2000" b="0" i="0" dirty="0">
                          <a:solidFill>
                            <a:srgbClr val="0F1115"/>
                          </a:solidFill>
                          <a:effectLst/>
                          <a:highlight>
                            <a:srgbClr val="FFFF00"/>
                          </a:highlight>
                          <a:latin typeface="Baskerville Old Face" panose="02020602080505020303" pitchFamily="18" charset="0"/>
                        </a:rPr>
                        <a:t>Motor Neuron Size</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2000" b="0" i="0" dirty="0">
                          <a:solidFill>
                            <a:srgbClr val="0F1115"/>
                          </a:solidFill>
                          <a:effectLst/>
                          <a:highlight>
                            <a:srgbClr val="FFFF00"/>
                          </a:highlight>
                          <a:latin typeface="Baskerville Old Face" panose="02020602080505020303" pitchFamily="18" charset="0"/>
                        </a:rPr>
                        <a:t>Recruitment Order</a:t>
                      </a:r>
                    </a:p>
                  </a:txBody>
                  <a:tcPr marL="101600" marR="101600" marT="63500" marB="63500" anchor="ctr">
                    <a:lnL>
                      <a:noFill/>
                    </a:lnL>
                    <a:lnR>
                      <a:noFill/>
                    </a:lnR>
                    <a:lnT>
                      <a:noFill/>
                    </a:lnT>
                    <a:lnB>
                      <a:noFill/>
                    </a:lnB>
                    <a:solidFill>
                      <a:srgbClr val="FFFFFF"/>
                    </a:solidFill>
                  </a:tcPr>
                </a:tc>
                <a:extLst>
                  <a:ext uri="{0D108BD9-81ED-4DB2-BD59-A6C34878D82A}">
                    <a16:rowId xmlns:a16="http://schemas.microsoft.com/office/drawing/2014/main" val="1141465922"/>
                  </a:ext>
                </a:extLst>
              </a:tr>
              <a:tr h="758769">
                <a:tc>
                  <a:txBody>
                    <a:bodyPr/>
                    <a:lstStyle/>
                    <a:p>
                      <a:pPr algn="ctr">
                        <a:lnSpc>
                          <a:spcPct val="100000"/>
                        </a:lnSpc>
                        <a:buNone/>
                      </a:pPr>
                      <a:r>
                        <a:rPr lang="en-GB" sz="1600" b="1" i="0" dirty="0">
                          <a:solidFill>
                            <a:srgbClr val="0F1115"/>
                          </a:solidFill>
                          <a:effectLst/>
                          <a:latin typeface="Baskerville Old Face" panose="02020602080505020303" pitchFamily="18" charset="0"/>
                        </a:rPr>
                        <a:t>Type I</a:t>
                      </a:r>
                      <a:r>
                        <a:rPr lang="en-GB" sz="1600" b="0" i="0" dirty="0">
                          <a:solidFill>
                            <a:srgbClr val="0F1115"/>
                          </a:solidFill>
                          <a:effectLst/>
                          <a:latin typeface="Baskerville Old Face" panose="02020602080505020303" pitchFamily="18" charset="0"/>
                        </a:rPr>
                        <a:t> </a:t>
                      </a:r>
                    </a:p>
                    <a:p>
                      <a:pPr algn="ctr">
                        <a:lnSpc>
                          <a:spcPct val="100000"/>
                        </a:lnSpc>
                        <a:buNone/>
                      </a:pPr>
                      <a:r>
                        <a:rPr lang="en-GB" sz="1600" b="0" i="0" dirty="0">
                          <a:solidFill>
                            <a:srgbClr val="0F1115"/>
                          </a:solidFill>
                          <a:effectLst/>
                          <a:latin typeface="Baskerville Old Face" panose="02020602080505020303" pitchFamily="18" charset="0"/>
                        </a:rPr>
                        <a:t>(Oxidative)</a:t>
                      </a:r>
                    </a:p>
                  </a:txBody>
                  <a:tcPr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dirty="0">
                          <a:solidFill>
                            <a:srgbClr val="0F1115"/>
                          </a:solidFill>
                          <a:effectLst/>
                          <a:latin typeface="Baskerville Old Face" panose="02020602080505020303" pitchFamily="18" charset="0"/>
                        </a:rPr>
                        <a:t>Slow</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1" i="0" dirty="0">
                          <a:solidFill>
                            <a:srgbClr val="0F1115"/>
                          </a:solidFill>
                          <a:effectLst/>
                          <a:latin typeface="Baskerville Old Face" panose="02020602080505020303" pitchFamily="18" charset="0"/>
                        </a:rPr>
                        <a:t>Highest</a:t>
                      </a:r>
                      <a:r>
                        <a:rPr lang="en-GB" sz="1600" b="0" i="0" dirty="0">
                          <a:solidFill>
                            <a:srgbClr val="0F1115"/>
                          </a:solidFill>
                          <a:effectLst/>
                          <a:latin typeface="Baskerville Old Face" panose="02020602080505020303" pitchFamily="18" charset="0"/>
                        </a:rPr>
                        <a:t> </a:t>
                      </a:r>
                    </a:p>
                    <a:p>
                      <a:pPr algn="ctr">
                        <a:lnSpc>
                          <a:spcPct val="100000"/>
                        </a:lnSpc>
                        <a:buNone/>
                      </a:pPr>
                      <a:r>
                        <a:rPr lang="en-GB" sz="1600" b="0" i="0" dirty="0">
                          <a:solidFill>
                            <a:srgbClr val="0F1115"/>
                          </a:solidFill>
                          <a:effectLst/>
                          <a:latin typeface="Baskerville Old Face" panose="02020602080505020303" pitchFamily="18" charset="0"/>
                        </a:rPr>
                        <a:t>(Fatigue-resistant)</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a:solidFill>
                            <a:srgbClr val="0F1115"/>
                          </a:solidFill>
                          <a:effectLst/>
                          <a:latin typeface="Baskerville Old Face" panose="02020602080505020303" pitchFamily="18" charset="0"/>
                        </a:rPr>
                        <a:t>Small</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1" i="0">
                          <a:solidFill>
                            <a:srgbClr val="0F1115"/>
                          </a:solidFill>
                          <a:effectLst/>
                          <a:latin typeface="Baskerville Old Face" panose="02020602080505020303" pitchFamily="18" charset="0"/>
                        </a:rPr>
                        <a:t>First</a:t>
                      </a:r>
                      <a:endParaRPr lang="en-GB" sz="1600" b="0" i="0">
                        <a:solidFill>
                          <a:srgbClr val="0F1115"/>
                        </a:solidFill>
                        <a:effectLst/>
                        <a:latin typeface="Baskerville Old Face" panose="02020602080505020303" pitchFamily="18" charset="0"/>
                      </a:endParaRPr>
                    </a:p>
                  </a:txBody>
                  <a:tcPr marL="101600" marT="63500" marB="63500" anchor="ctr">
                    <a:lnL>
                      <a:noFill/>
                    </a:lnL>
                    <a:lnR>
                      <a:noFill/>
                    </a:lnR>
                    <a:lnT>
                      <a:noFill/>
                    </a:lnT>
                    <a:lnB>
                      <a:noFill/>
                    </a:lnB>
                    <a:solidFill>
                      <a:srgbClr val="FFFFFF"/>
                    </a:solidFill>
                  </a:tcPr>
                </a:tc>
                <a:extLst>
                  <a:ext uri="{0D108BD9-81ED-4DB2-BD59-A6C34878D82A}">
                    <a16:rowId xmlns:a16="http://schemas.microsoft.com/office/drawing/2014/main" val="3877998381"/>
                  </a:ext>
                </a:extLst>
              </a:tr>
              <a:tr h="1059768">
                <a:tc>
                  <a:txBody>
                    <a:bodyPr/>
                    <a:lstStyle/>
                    <a:p>
                      <a:pPr algn="ctr">
                        <a:lnSpc>
                          <a:spcPct val="100000"/>
                        </a:lnSpc>
                        <a:buNone/>
                      </a:pPr>
                      <a:r>
                        <a:rPr lang="en-GB" sz="1600" b="1" i="0" dirty="0">
                          <a:solidFill>
                            <a:srgbClr val="0F1115"/>
                          </a:solidFill>
                          <a:effectLst/>
                          <a:latin typeface="Baskerville Old Face" panose="02020602080505020303" pitchFamily="18" charset="0"/>
                        </a:rPr>
                        <a:t>Type IIa</a:t>
                      </a:r>
                    </a:p>
                    <a:p>
                      <a:pPr algn="ctr">
                        <a:lnSpc>
                          <a:spcPct val="100000"/>
                        </a:lnSpc>
                        <a:buNone/>
                      </a:pPr>
                      <a:r>
                        <a:rPr lang="en-GB" sz="1600" b="0" i="0" dirty="0">
                          <a:solidFill>
                            <a:srgbClr val="0F1115"/>
                          </a:solidFill>
                          <a:effectLst/>
                          <a:latin typeface="Baskerville Old Face" panose="02020602080505020303" pitchFamily="18" charset="0"/>
                        </a:rPr>
                        <a:t>(Oxidative Glycolytic)</a:t>
                      </a:r>
                    </a:p>
                  </a:txBody>
                  <a:tcPr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dirty="0">
                          <a:solidFill>
                            <a:srgbClr val="0F1115"/>
                          </a:solidFill>
                          <a:effectLst/>
                          <a:latin typeface="Baskerville Old Face" panose="02020602080505020303" pitchFamily="18" charset="0"/>
                        </a:rPr>
                        <a:t>Fast</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a:solidFill>
                            <a:srgbClr val="0F1115"/>
                          </a:solidFill>
                          <a:effectLst/>
                          <a:latin typeface="Baskerville Old Face" panose="02020602080505020303" pitchFamily="18" charset="0"/>
                        </a:rPr>
                        <a:t>High</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a:solidFill>
                            <a:srgbClr val="0F1115"/>
                          </a:solidFill>
                          <a:effectLst/>
                          <a:latin typeface="Baskerville Old Face" panose="02020602080505020303" pitchFamily="18" charset="0"/>
                        </a:rPr>
                        <a:t>Medium</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dirty="0">
                          <a:solidFill>
                            <a:srgbClr val="0F1115"/>
                          </a:solidFill>
                          <a:effectLst/>
                          <a:latin typeface="Baskerville Old Face" panose="02020602080505020303" pitchFamily="18" charset="0"/>
                        </a:rPr>
                        <a:t>Second</a:t>
                      </a:r>
                    </a:p>
                  </a:txBody>
                  <a:tcPr marL="101600" marT="63500" marB="63500" anchor="ctr">
                    <a:lnL>
                      <a:noFill/>
                    </a:lnL>
                    <a:lnR>
                      <a:noFill/>
                    </a:lnR>
                    <a:lnT>
                      <a:noFill/>
                    </a:lnT>
                    <a:lnB>
                      <a:noFill/>
                    </a:lnB>
                    <a:solidFill>
                      <a:srgbClr val="FFFFFF"/>
                    </a:solidFill>
                  </a:tcPr>
                </a:tc>
                <a:extLst>
                  <a:ext uri="{0D108BD9-81ED-4DB2-BD59-A6C34878D82A}">
                    <a16:rowId xmlns:a16="http://schemas.microsoft.com/office/drawing/2014/main" val="1184349107"/>
                  </a:ext>
                </a:extLst>
              </a:tr>
              <a:tr h="758769">
                <a:tc>
                  <a:txBody>
                    <a:bodyPr/>
                    <a:lstStyle/>
                    <a:p>
                      <a:pPr algn="ctr">
                        <a:lnSpc>
                          <a:spcPct val="100000"/>
                        </a:lnSpc>
                        <a:buNone/>
                      </a:pPr>
                      <a:r>
                        <a:rPr lang="en-GB" sz="1600" b="1" i="0" dirty="0">
                          <a:solidFill>
                            <a:srgbClr val="0F1115"/>
                          </a:solidFill>
                          <a:effectLst/>
                          <a:latin typeface="Baskerville Old Face" panose="02020602080505020303" pitchFamily="18" charset="0"/>
                        </a:rPr>
                        <a:t>Type </a:t>
                      </a:r>
                      <a:r>
                        <a:rPr lang="en-GB" sz="1600" b="1" i="0" dirty="0" err="1">
                          <a:solidFill>
                            <a:srgbClr val="0F1115"/>
                          </a:solidFill>
                          <a:effectLst/>
                          <a:latin typeface="Baskerville Old Face" panose="02020602080505020303" pitchFamily="18" charset="0"/>
                        </a:rPr>
                        <a:t>IIx</a:t>
                      </a:r>
                      <a:r>
                        <a:rPr lang="en-GB" sz="1600" b="0" i="0" dirty="0">
                          <a:solidFill>
                            <a:srgbClr val="0F1115"/>
                          </a:solidFill>
                          <a:effectLst/>
                          <a:latin typeface="Baskerville Old Face" panose="02020602080505020303" pitchFamily="18" charset="0"/>
                        </a:rPr>
                        <a:t> </a:t>
                      </a:r>
                    </a:p>
                    <a:p>
                      <a:pPr algn="ctr">
                        <a:lnSpc>
                          <a:spcPct val="100000"/>
                        </a:lnSpc>
                        <a:buNone/>
                      </a:pPr>
                      <a:r>
                        <a:rPr lang="en-GB" sz="1600" b="0" i="0" dirty="0">
                          <a:solidFill>
                            <a:srgbClr val="0F1115"/>
                          </a:solidFill>
                          <a:effectLst/>
                          <a:latin typeface="Baskerville Old Face" panose="02020602080505020303" pitchFamily="18" charset="0"/>
                        </a:rPr>
                        <a:t>(Glycolytic)</a:t>
                      </a:r>
                    </a:p>
                  </a:txBody>
                  <a:tcPr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1" i="0">
                          <a:solidFill>
                            <a:srgbClr val="0F1115"/>
                          </a:solidFill>
                          <a:effectLst/>
                          <a:latin typeface="Baskerville Old Face" panose="02020602080505020303" pitchFamily="18" charset="0"/>
                        </a:rPr>
                        <a:t>Fastest</a:t>
                      </a:r>
                      <a:endParaRPr lang="en-GB" sz="1600" b="0" i="0">
                        <a:solidFill>
                          <a:srgbClr val="0F1115"/>
                        </a:solidFill>
                        <a:effectLst/>
                        <a:latin typeface="Baskerville Old Face" panose="02020602080505020303" pitchFamily="18" charset="0"/>
                      </a:endParaRP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1" i="0" dirty="0">
                          <a:solidFill>
                            <a:srgbClr val="0F1115"/>
                          </a:solidFill>
                          <a:effectLst/>
                          <a:latin typeface="Baskerville Old Face" panose="02020602080505020303" pitchFamily="18" charset="0"/>
                        </a:rPr>
                        <a:t>Lowest</a:t>
                      </a:r>
                      <a:r>
                        <a:rPr lang="en-GB" sz="1600" b="0" i="0" dirty="0">
                          <a:solidFill>
                            <a:srgbClr val="0F1115"/>
                          </a:solidFill>
                          <a:effectLst/>
                          <a:latin typeface="Baskerville Old Face" panose="02020602080505020303" pitchFamily="18" charset="0"/>
                        </a:rPr>
                        <a:t> </a:t>
                      </a:r>
                    </a:p>
                    <a:p>
                      <a:pPr algn="ctr">
                        <a:lnSpc>
                          <a:spcPct val="100000"/>
                        </a:lnSpc>
                        <a:buNone/>
                      </a:pPr>
                      <a:r>
                        <a:rPr lang="en-GB" sz="1600" b="0" i="0" dirty="0">
                          <a:solidFill>
                            <a:srgbClr val="0F1115"/>
                          </a:solidFill>
                          <a:effectLst/>
                          <a:latin typeface="Baskerville Old Face" panose="02020602080505020303" pitchFamily="18" charset="0"/>
                        </a:rPr>
                        <a:t>(Fatigable)</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dirty="0">
                          <a:solidFill>
                            <a:srgbClr val="0F1115"/>
                          </a:solidFill>
                          <a:effectLst/>
                          <a:latin typeface="Baskerville Old Face" panose="02020602080505020303" pitchFamily="18" charset="0"/>
                        </a:rPr>
                        <a:t>Large</a:t>
                      </a:r>
                    </a:p>
                  </a:txBody>
                  <a:tcPr marL="101600" marR="101600" marT="63500" marB="63500" anchor="ctr">
                    <a:lnL>
                      <a:noFill/>
                    </a:lnL>
                    <a:lnR>
                      <a:noFill/>
                    </a:lnR>
                    <a:lnT>
                      <a:noFill/>
                    </a:lnT>
                    <a:lnB>
                      <a:noFill/>
                    </a:lnB>
                    <a:solidFill>
                      <a:srgbClr val="FFFFFF"/>
                    </a:solidFill>
                  </a:tcPr>
                </a:tc>
                <a:tc>
                  <a:txBody>
                    <a:bodyPr/>
                    <a:lstStyle/>
                    <a:p>
                      <a:pPr algn="ctr">
                        <a:lnSpc>
                          <a:spcPct val="100000"/>
                        </a:lnSpc>
                        <a:buNone/>
                      </a:pPr>
                      <a:r>
                        <a:rPr lang="en-GB" sz="1600" b="0" i="0" dirty="0">
                          <a:solidFill>
                            <a:srgbClr val="0F1115"/>
                          </a:solidFill>
                          <a:effectLst/>
                          <a:latin typeface="Baskerville Old Face" panose="02020602080505020303" pitchFamily="18" charset="0"/>
                        </a:rPr>
                        <a:t>Last</a:t>
                      </a:r>
                    </a:p>
                  </a:txBody>
                  <a:tcPr marL="101600" marT="63500" marB="63500" anchor="ctr">
                    <a:lnL>
                      <a:noFill/>
                    </a:lnL>
                    <a:lnR>
                      <a:noFill/>
                    </a:lnR>
                    <a:lnT>
                      <a:noFill/>
                    </a:lnT>
                    <a:lnB>
                      <a:noFill/>
                    </a:lnB>
                    <a:solidFill>
                      <a:srgbClr val="FFFFFF"/>
                    </a:solidFill>
                  </a:tcPr>
                </a:tc>
                <a:extLst>
                  <a:ext uri="{0D108BD9-81ED-4DB2-BD59-A6C34878D82A}">
                    <a16:rowId xmlns:a16="http://schemas.microsoft.com/office/drawing/2014/main" val="3364753349"/>
                  </a:ext>
                </a:extLst>
              </a:tr>
            </a:tbl>
          </a:graphicData>
        </a:graphic>
      </p:graphicFrame>
      <p:sp>
        <p:nvSpPr>
          <p:cNvPr id="5" name="TextBox 4">
            <a:extLst>
              <a:ext uri="{FF2B5EF4-FFF2-40B4-BE49-F238E27FC236}">
                <a16:creationId xmlns:a16="http://schemas.microsoft.com/office/drawing/2014/main" id="{A9A6C6F6-7D64-1208-9AE7-0E265F235FD6}"/>
              </a:ext>
            </a:extLst>
          </p:cNvPr>
          <p:cNvSpPr txBox="1"/>
          <p:nvPr/>
        </p:nvSpPr>
        <p:spPr>
          <a:xfrm>
            <a:off x="-108520" y="4570908"/>
            <a:ext cx="9073008" cy="1815882"/>
          </a:xfrm>
          <a:prstGeom prst="rect">
            <a:avLst/>
          </a:prstGeom>
          <a:noFill/>
        </p:spPr>
        <p:txBody>
          <a:bodyPr wrap="square" rtlCol="0">
            <a:spAutoFit/>
          </a:bodyPr>
          <a:lstStyle/>
          <a:p>
            <a:pPr marL="285750" indent="-285750">
              <a:buFont typeface="Courier New" panose="02070309020205020404" pitchFamily="49" charset="0"/>
              <a:buChar char="o"/>
            </a:pPr>
            <a:r>
              <a:rPr lang="en-GB" sz="1600" dirty="0"/>
              <a:t>In gastrocnemius-sciatic nerve muscle set up, the </a:t>
            </a:r>
            <a:r>
              <a:rPr lang="en-GB" sz="1600" b="1" dirty="0">
                <a:highlight>
                  <a:srgbClr val="FFFF00"/>
                </a:highlight>
              </a:rPr>
              <a:t>predominant (35-80%) motor neurons are large type </a:t>
            </a:r>
            <a:r>
              <a:rPr lang="en-GB" sz="1600" dirty="0"/>
              <a:t>(Fast twitch type) compared to small sized motor </a:t>
            </a:r>
            <a:r>
              <a:rPr lang="en-GB" sz="1600" b="1" dirty="0">
                <a:highlight>
                  <a:srgbClr val="FFFF00"/>
                </a:highlight>
              </a:rPr>
              <a:t>(20-25%) </a:t>
            </a:r>
            <a:r>
              <a:rPr lang="en-GB" sz="1600" dirty="0"/>
              <a:t>neurones (</a:t>
            </a:r>
            <a:r>
              <a:rPr lang="en-GB" sz="1600" b="1" dirty="0">
                <a:highlight>
                  <a:srgbClr val="FFFF00"/>
                </a:highlight>
              </a:rPr>
              <a:t>Slow twitch type</a:t>
            </a:r>
            <a:r>
              <a:rPr lang="en-GB" sz="1600" dirty="0"/>
              <a:t>). </a:t>
            </a:r>
          </a:p>
          <a:p>
            <a:pPr marL="285750" indent="-285750">
              <a:buFont typeface="Courier New" panose="02070309020205020404" pitchFamily="49" charset="0"/>
              <a:buChar char="o"/>
            </a:pPr>
            <a:endParaRPr lang="en-GB" sz="1600" dirty="0"/>
          </a:p>
          <a:p>
            <a:pPr marL="285750" indent="-285750">
              <a:buFont typeface="Courier New" panose="02070309020205020404" pitchFamily="49" charset="0"/>
              <a:buChar char="o"/>
            </a:pPr>
            <a:r>
              <a:rPr lang="en-GB" sz="1600" dirty="0"/>
              <a:t>When such a set up is stimulated, say with </a:t>
            </a:r>
            <a:r>
              <a:rPr lang="en-GB" sz="1600" b="1" i="1" dirty="0">
                <a:highlight>
                  <a:srgbClr val="FFFF00"/>
                </a:highlight>
              </a:rPr>
              <a:t>mild stimulus</a:t>
            </a:r>
            <a:r>
              <a:rPr lang="en-GB" sz="1600" dirty="0"/>
              <a:t>, the </a:t>
            </a:r>
            <a:r>
              <a:rPr lang="en-GB" sz="1600" b="1" dirty="0"/>
              <a:t>Slow twitch types are recruited first.</a:t>
            </a:r>
          </a:p>
          <a:p>
            <a:pPr marL="285750" indent="-285750">
              <a:buFont typeface="Courier New" panose="02070309020205020404" pitchFamily="49" charset="0"/>
              <a:buChar char="o"/>
            </a:pPr>
            <a:endParaRPr lang="en-GB" sz="1600" dirty="0"/>
          </a:p>
          <a:p>
            <a:pPr marL="285750" indent="-285750">
              <a:buFont typeface="Courier New" panose="02070309020205020404" pitchFamily="49" charset="0"/>
              <a:buChar char="o"/>
            </a:pPr>
            <a:r>
              <a:rPr lang="en-GB" sz="1600" dirty="0"/>
              <a:t>The </a:t>
            </a:r>
            <a:r>
              <a:rPr lang="en-GB" sz="1600" b="1" dirty="0">
                <a:highlight>
                  <a:srgbClr val="FFFF00"/>
                </a:highlight>
              </a:rPr>
              <a:t>large motor size types (Fast twitch) </a:t>
            </a:r>
            <a:r>
              <a:rPr lang="en-GB" sz="1600" b="1" dirty="0"/>
              <a:t>corresponds Type IIa </a:t>
            </a:r>
            <a:r>
              <a:rPr lang="en-GB" sz="1600" dirty="0"/>
              <a:t>and </a:t>
            </a:r>
            <a:r>
              <a:rPr lang="en-GB" sz="1600" b="1" dirty="0" err="1"/>
              <a:t>IIx</a:t>
            </a:r>
            <a:r>
              <a:rPr lang="en-GB" sz="1600" dirty="0"/>
              <a:t> are </a:t>
            </a:r>
            <a:r>
              <a:rPr lang="en-GB" sz="1600" b="1" dirty="0">
                <a:highlight>
                  <a:srgbClr val="FFFF00"/>
                </a:highlight>
              </a:rPr>
              <a:t>recruited later </a:t>
            </a:r>
            <a:r>
              <a:rPr lang="en-GB" sz="1600" dirty="0"/>
              <a:t>when gradually stimulus becomes </a:t>
            </a:r>
            <a:r>
              <a:rPr lang="en-GB" sz="1600" b="1" i="1" dirty="0">
                <a:highlight>
                  <a:srgbClr val="FFFF00"/>
                </a:highlight>
              </a:rPr>
              <a:t>stronger</a:t>
            </a:r>
            <a:r>
              <a:rPr lang="en-GB" sz="1600" b="1" dirty="0"/>
              <a:t>.</a:t>
            </a:r>
          </a:p>
        </p:txBody>
      </p:sp>
      <p:sp>
        <p:nvSpPr>
          <p:cNvPr id="9" name="TextBox 8">
            <a:extLst>
              <a:ext uri="{FF2B5EF4-FFF2-40B4-BE49-F238E27FC236}">
                <a16:creationId xmlns:a16="http://schemas.microsoft.com/office/drawing/2014/main" id="{DDF42232-2129-8D60-4974-572BEE3F7BD5}"/>
              </a:ext>
            </a:extLst>
          </p:cNvPr>
          <p:cNvSpPr txBox="1"/>
          <p:nvPr/>
        </p:nvSpPr>
        <p:spPr>
          <a:xfrm>
            <a:off x="1187624" y="151093"/>
            <a:ext cx="7488832" cy="523220"/>
          </a:xfrm>
          <a:prstGeom prst="rect">
            <a:avLst/>
          </a:prstGeom>
          <a:noFill/>
          <a:ln w="28575">
            <a:solidFill>
              <a:srgbClr val="0070C0"/>
            </a:solidFill>
          </a:ln>
        </p:spPr>
        <p:txBody>
          <a:bodyPr wrap="square" rtlCol="0">
            <a:spAutoFit/>
          </a:bodyPr>
          <a:lstStyle/>
          <a:p>
            <a:r>
              <a:rPr lang="en-GB" sz="2800" b="1" dirty="0"/>
              <a:t>Some relevant aspects : SIM –Muscle practical:</a:t>
            </a:r>
          </a:p>
        </p:txBody>
      </p:sp>
      <p:sp>
        <p:nvSpPr>
          <p:cNvPr id="10" name="TextBox 9">
            <a:extLst>
              <a:ext uri="{FF2B5EF4-FFF2-40B4-BE49-F238E27FC236}">
                <a16:creationId xmlns:a16="http://schemas.microsoft.com/office/drawing/2014/main" id="{C2C108B2-1541-54D8-2090-C1CBF27A991F}"/>
              </a:ext>
            </a:extLst>
          </p:cNvPr>
          <p:cNvSpPr txBox="1"/>
          <p:nvPr/>
        </p:nvSpPr>
        <p:spPr>
          <a:xfrm>
            <a:off x="1169016" y="757085"/>
            <a:ext cx="7507440" cy="369332"/>
          </a:xfrm>
          <a:prstGeom prst="rect">
            <a:avLst/>
          </a:prstGeom>
          <a:solidFill>
            <a:srgbClr val="FFC000"/>
          </a:solidFill>
          <a:ln w="28575">
            <a:solidFill>
              <a:schemeClr val="tx1"/>
            </a:solidFill>
          </a:ln>
        </p:spPr>
        <p:txBody>
          <a:bodyPr wrap="none" rtlCol="0">
            <a:spAutoFit/>
          </a:bodyPr>
          <a:lstStyle/>
          <a:p>
            <a:r>
              <a:rPr lang="en-GB" b="1" dirty="0"/>
              <a:t>Important information for SIM Muscle : [</a:t>
            </a:r>
            <a:r>
              <a:rPr lang="en-GB" b="1" dirty="0">
                <a:solidFill>
                  <a:srgbClr val="FF0000"/>
                </a:solidFill>
              </a:rPr>
              <a:t>Sciatic </a:t>
            </a:r>
            <a:r>
              <a:rPr lang="en-GB" b="1" dirty="0"/>
              <a:t>nerve </a:t>
            </a:r>
            <a:r>
              <a:rPr lang="en-GB" b="1" dirty="0">
                <a:solidFill>
                  <a:srgbClr val="FF0000"/>
                </a:solidFill>
              </a:rPr>
              <a:t>Gastrocnemius</a:t>
            </a:r>
            <a:r>
              <a:rPr lang="en-GB" b="1" dirty="0"/>
              <a:t> muscle]</a:t>
            </a:r>
          </a:p>
        </p:txBody>
      </p:sp>
      <p:pic>
        <p:nvPicPr>
          <p:cNvPr id="3" name="Picture 2">
            <a:extLst>
              <a:ext uri="{FF2B5EF4-FFF2-40B4-BE49-F238E27FC236}">
                <a16:creationId xmlns:a16="http://schemas.microsoft.com/office/drawing/2014/main" id="{041FD2F5-27AE-1338-773D-D96A2A8C3E7D}"/>
              </a:ext>
            </a:extLst>
          </p:cNvPr>
          <p:cNvPicPr>
            <a:picLocks noChangeAspect="1"/>
          </p:cNvPicPr>
          <p:nvPr/>
        </p:nvPicPr>
        <p:blipFill>
          <a:blip r:embed="rId3"/>
          <a:srcRect l="33019" t="4314" r="45283" b="35181"/>
          <a:stretch>
            <a:fillRect/>
          </a:stretch>
        </p:blipFill>
        <p:spPr>
          <a:xfrm>
            <a:off x="0" y="1555278"/>
            <a:ext cx="1564630" cy="2777371"/>
          </a:xfrm>
          <a:prstGeom prst="rect">
            <a:avLst/>
          </a:prstGeom>
        </p:spPr>
      </p:pic>
    </p:spTree>
    <p:extLst>
      <p:ext uri="{BB962C8B-B14F-4D97-AF65-F5344CB8AC3E}">
        <p14:creationId xmlns:p14="http://schemas.microsoft.com/office/powerpoint/2010/main" val="3017610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500"/>
                                        <p:tgtEl>
                                          <p:spTgt spid="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8CB8C8-4D3A-3629-A969-19B2127E6C1F}"/>
              </a:ext>
            </a:extLst>
          </p:cNvPr>
          <p:cNvSpPr txBox="1"/>
          <p:nvPr/>
        </p:nvSpPr>
        <p:spPr>
          <a:xfrm>
            <a:off x="1835696" y="2348880"/>
            <a:ext cx="6120680" cy="1569660"/>
          </a:xfrm>
          <a:prstGeom prst="rect">
            <a:avLst/>
          </a:prstGeom>
          <a:noFill/>
          <a:ln w="28575">
            <a:solidFill>
              <a:srgbClr val="0070C0"/>
            </a:solidFill>
          </a:ln>
        </p:spPr>
        <p:txBody>
          <a:bodyPr wrap="square" rtlCol="0">
            <a:spAutoFit/>
          </a:bodyPr>
          <a:lstStyle/>
          <a:p>
            <a:pPr algn="ctr"/>
            <a:r>
              <a:rPr lang="en-GB" sz="4800" dirty="0"/>
              <a:t>Back to…</a:t>
            </a:r>
          </a:p>
          <a:p>
            <a:pPr algn="ctr"/>
            <a:r>
              <a:rPr lang="en-GB" sz="4800" dirty="0"/>
              <a:t> NMJ and its Anatomy</a:t>
            </a:r>
          </a:p>
        </p:txBody>
      </p:sp>
    </p:spTree>
    <p:extLst>
      <p:ext uri="{BB962C8B-B14F-4D97-AF65-F5344CB8AC3E}">
        <p14:creationId xmlns:p14="http://schemas.microsoft.com/office/powerpoint/2010/main" val="1435470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800" y="73484"/>
            <a:ext cx="5256584" cy="634082"/>
          </a:xfrm>
        </p:spPr>
        <p:txBody>
          <a:bodyPr>
            <a:normAutofit fontScale="90000"/>
          </a:bodyPr>
          <a:lstStyle/>
          <a:p>
            <a:r>
              <a:rPr lang="en-GB"/>
              <a:t>Neuromuscular Junction</a:t>
            </a:r>
          </a:p>
        </p:txBody>
      </p:sp>
      <p:sp>
        <p:nvSpPr>
          <p:cNvPr id="5" name="Freeform 4"/>
          <p:cNvSpPr/>
          <p:nvPr/>
        </p:nvSpPr>
        <p:spPr>
          <a:xfrm>
            <a:off x="1089127" y="390525"/>
            <a:ext cx="5831972" cy="4534233"/>
          </a:xfrm>
          <a:custGeom>
            <a:avLst/>
            <a:gdLst>
              <a:gd name="connsiteX0" fmla="*/ 53873 w 5831972"/>
              <a:gd name="connsiteY0" fmla="*/ 142875 h 4534233"/>
              <a:gd name="connsiteX1" fmla="*/ 1711223 w 5831972"/>
              <a:gd name="connsiteY1" fmla="*/ 1895475 h 4534233"/>
              <a:gd name="connsiteX2" fmla="*/ 1463573 w 5831972"/>
              <a:gd name="connsiteY2" fmla="*/ 2486025 h 4534233"/>
              <a:gd name="connsiteX3" fmla="*/ 244373 w 5831972"/>
              <a:gd name="connsiteY3" fmla="*/ 2952750 h 4534233"/>
              <a:gd name="connsiteX4" fmla="*/ 34823 w 5831972"/>
              <a:gd name="connsiteY4" fmla="*/ 3819525 h 4534233"/>
              <a:gd name="connsiteX5" fmla="*/ 720623 w 5831972"/>
              <a:gd name="connsiteY5" fmla="*/ 4171950 h 4534233"/>
              <a:gd name="connsiteX6" fmla="*/ 1758848 w 5831972"/>
              <a:gd name="connsiteY6" fmla="*/ 4457700 h 4534233"/>
              <a:gd name="connsiteX7" fmla="*/ 2949473 w 5831972"/>
              <a:gd name="connsiteY7" fmla="*/ 4533900 h 4534233"/>
              <a:gd name="connsiteX8" fmla="*/ 3016148 w 5831972"/>
              <a:gd name="connsiteY8" fmla="*/ 4438650 h 4534233"/>
              <a:gd name="connsiteX9" fmla="*/ 2911373 w 5831972"/>
              <a:gd name="connsiteY9" fmla="*/ 4371975 h 4534233"/>
              <a:gd name="connsiteX10" fmla="*/ 2987573 w 5831972"/>
              <a:gd name="connsiteY10" fmla="*/ 4229100 h 4534233"/>
              <a:gd name="connsiteX11" fmla="*/ 3197123 w 5831972"/>
              <a:gd name="connsiteY11" fmla="*/ 4238625 h 4534233"/>
              <a:gd name="connsiteX12" fmla="*/ 3244748 w 5831972"/>
              <a:gd name="connsiteY12" fmla="*/ 4371975 h 4534233"/>
              <a:gd name="connsiteX13" fmla="*/ 3187598 w 5831972"/>
              <a:gd name="connsiteY13" fmla="*/ 4476750 h 4534233"/>
              <a:gd name="connsiteX14" fmla="*/ 3206648 w 5831972"/>
              <a:gd name="connsiteY14" fmla="*/ 4495800 h 4534233"/>
              <a:gd name="connsiteX15" fmla="*/ 3301898 w 5831972"/>
              <a:gd name="connsiteY15" fmla="*/ 4505325 h 4534233"/>
              <a:gd name="connsiteX16" fmla="*/ 3854348 w 5831972"/>
              <a:gd name="connsiteY16" fmla="*/ 4467225 h 4534233"/>
              <a:gd name="connsiteX17" fmla="*/ 4844948 w 5831972"/>
              <a:gd name="connsiteY17" fmla="*/ 4162425 h 4534233"/>
              <a:gd name="connsiteX18" fmla="*/ 5759348 w 5831972"/>
              <a:gd name="connsiteY18" fmla="*/ 3352800 h 4534233"/>
              <a:gd name="connsiteX19" fmla="*/ 5654573 w 5831972"/>
              <a:gd name="connsiteY19" fmla="*/ 2466975 h 4534233"/>
              <a:gd name="connsiteX20" fmla="*/ 4702073 w 5831972"/>
              <a:gd name="connsiteY20" fmla="*/ 1800225 h 4534233"/>
              <a:gd name="connsiteX21" fmla="*/ 2397023 w 5831972"/>
              <a:gd name="connsiteY21" fmla="*/ 2038350 h 4534233"/>
              <a:gd name="connsiteX22" fmla="*/ 1968398 w 5831972"/>
              <a:gd name="connsiteY22" fmla="*/ 1857375 h 4534233"/>
              <a:gd name="connsiteX23" fmla="*/ 1454048 w 5831972"/>
              <a:gd name="connsiteY23" fmla="*/ 1133475 h 4534233"/>
              <a:gd name="connsiteX24" fmla="*/ 330098 w 5831972"/>
              <a:gd name="connsiteY24" fmla="*/ 0 h 4534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31972" h="4534233">
                <a:moveTo>
                  <a:pt x="53873" y="142875"/>
                </a:moveTo>
                <a:cubicBezTo>
                  <a:pt x="765073" y="823912"/>
                  <a:pt x="1476273" y="1504950"/>
                  <a:pt x="1711223" y="1895475"/>
                </a:cubicBezTo>
                <a:cubicBezTo>
                  <a:pt x="1946173" y="2286000"/>
                  <a:pt x="1708048" y="2309813"/>
                  <a:pt x="1463573" y="2486025"/>
                </a:cubicBezTo>
                <a:cubicBezTo>
                  <a:pt x="1219098" y="2662237"/>
                  <a:pt x="482498" y="2730500"/>
                  <a:pt x="244373" y="2952750"/>
                </a:cubicBezTo>
                <a:cubicBezTo>
                  <a:pt x="6248" y="3175000"/>
                  <a:pt x="-44552" y="3616325"/>
                  <a:pt x="34823" y="3819525"/>
                </a:cubicBezTo>
                <a:cubicBezTo>
                  <a:pt x="114198" y="4022725"/>
                  <a:pt x="433286" y="4065588"/>
                  <a:pt x="720623" y="4171950"/>
                </a:cubicBezTo>
                <a:cubicBezTo>
                  <a:pt x="1007960" y="4278312"/>
                  <a:pt x="1387373" y="4397375"/>
                  <a:pt x="1758848" y="4457700"/>
                </a:cubicBezTo>
                <a:cubicBezTo>
                  <a:pt x="2130323" y="4518025"/>
                  <a:pt x="2739923" y="4537075"/>
                  <a:pt x="2949473" y="4533900"/>
                </a:cubicBezTo>
                <a:cubicBezTo>
                  <a:pt x="3159023" y="4530725"/>
                  <a:pt x="3022498" y="4465637"/>
                  <a:pt x="3016148" y="4438650"/>
                </a:cubicBezTo>
                <a:cubicBezTo>
                  <a:pt x="3009798" y="4411663"/>
                  <a:pt x="2916136" y="4406900"/>
                  <a:pt x="2911373" y="4371975"/>
                </a:cubicBezTo>
                <a:cubicBezTo>
                  <a:pt x="2906611" y="4337050"/>
                  <a:pt x="2939948" y="4251325"/>
                  <a:pt x="2987573" y="4229100"/>
                </a:cubicBezTo>
                <a:cubicBezTo>
                  <a:pt x="3035198" y="4206875"/>
                  <a:pt x="3154261" y="4214813"/>
                  <a:pt x="3197123" y="4238625"/>
                </a:cubicBezTo>
                <a:cubicBezTo>
                  <a:pt x="3239986" y="4262438"/>
                  <a:pt x="3246335" y="4332288"/>
                  <a:pt x="3244748" y="4371975"/>
                </a:cubicBezTo>
                <a:cubicBezTo>
                  <a:pt x="3243161" y="4411662"/>
                  <a:pt x="3193948" y="4456113"/>
                  <a:pt x="3187598" y="4476750"/>
                </a:cubicBezTo>
                <a:cubicBezTo>
                  <a:pt x="3181248" y="4497387"/>
                  <a:pt x="3187598" y="4491038"/>
                  <a:pt x="3206648" y="4495800"/>
                </a:cubicBezTo>
                <a:cubicBezTo>
                  <a:pt x="3225698" y="4500562"/>
                  <a:pt x="3193948" y="4510087"/>
                  <a:pt x="3301898" y="4505325"/>
                </a:cubicBezTo>
                <a:cubicBezTo>
                  <a:pt x="3409848" y="4500563"/>
                  <a:pt x="3597173" y="4524375"/>
                  <a:pt x="3854348" y="4467225"/>
                </a:cubicBezTo>
                <a:cubicBezTo>
                  <a:pt x="4111523" y="4410075"/>
                  <a:pt x="4527448" y="4348162"/>
                  <a:pt x="4844948" y="4162425"/>
                </a:cubicBezTo>
                <a:cubicBezTo>
                  <a:pt x="5162448" y="3976688"/>
                  <a:pt x="5624411" y="3635375"/>
                  <a:pt x="5759348" y="3352800"/>
                </a:cubicBezTo>
                <a:cubicBezTo>
                  <a:pt x="5894285" y="3070225"/>
                  <a:pt x="5830785" y="2725737"/>
                  <a:pt x="5654573" y="2466975"/>
                </a:cubicBezTo>
                <a:cubicBezTo>
                  <a:pt x="5478361" y="2208213"/>
                  <a:pt x="5244998" y="1871662"/>
                  <a:pt x="4702073" y="1800225"/>
                </a:cubicBezTo>
                <a:cubicBezTo>
                  <a:pt x="4159148" y="1728788"/>
                  <a:pt x="2852635" y="2028825"/>
                  <a:pt x="2397023" y="2038350"/>
                </a:cubicBezTo>
                <a:cubicBezTo>
                  <a:pt x="1941411" y="2047875"/>
                  <a:pt x="2125560" y="2008187"/>
                  <a:pt x="1968398" y="1857375"/>
                </a:cubicBezTo>
                <a:cubicBezTo>
                  <a:pt x="1811236" y="1706563"/>
                  <a:pt x="1727098" y="1443037"/>
                  <a:pt x="1454048" y="1133475"/>
                </a:cubicBezTo>
                <a:cubicBezTo>
                  <a:pt x="1180998" y="823913"/>
                  <a:pt x="755548" y="411956"/>
                  <a:pt x="330098" y="0"/>
                </a:cubicBezTo>
              </a:path>
            </a:pathLst>
          </a:custGeom>
          <a:solidFill>
            <a:schemeClr val="accent3">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5"/>
          <p:cNvSpPr/>
          <p:nvPr/>
        </p:nvSpPr>
        <p:spPr>
          <a:xfrm>
            <a:off x="0" y="3301911"/>
            <a:ext cx="9036496" cy="2647369"/>
          </a:xfrm>
          <a:custGeom>
            <a:avLst/>
            <a:gdLst>
              <a:gd name="connsiteX0" fmla="*/ 0 w 9191625"/>
              <a:gd name="connsiteY0" fmla="*/ 1657350 h 2654500"/>
              <a:gd name="connsiteX1" fmla="*/ 1123950 w 9191625"/>
              <a:gd name="connsiteY1" fmla="*/ 1562100 h 2654500"/>
              <a:gd name="connsiteX2" fmla="*/ 1428750 w 9191625"/>
              <a:gd name="connsiteY2" fmla="*/ 1590675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828800 w 9191625"/>
              <a:gd name="connsiteY6" fmla="*/ 1771650 h 2654500"/>
              <a:gd name="connsiteX7" fmla="*/ 1733550 w 9191625"/>
              <a:gd name="connsiteY7" fmla="*/ 2000250 h 2654500"/>
              <a:gd name="connsiteX8" fmla="*/ 1838325 w 9191625"/>
              <a:gd name="connsiteY8" fmla="*/ 2095500 h 2654500"/>
              <a:gd name="connsiteX9" fmla="*/ 1943100 w 9191625"/>
              <a:gd name="connsiteY9" fmla="*/ 2038350 h 2654500"/>
              <a:gd name="connsiteX10" fmla="*/ 1990725 w 9191625"/>
              <a:gd name="connsiteY10" fmla="*/ 2143125 h 2654500"/>
              <a:gd name="connsiteX11" fmla="*/ 2095500 w 9191625"/>
              <a:gd name="connsiteY11" fmla="*/ 2181225 h 2654500"/>
              <a:gd name="connsiteX12" fmla="*/ 2200275 w 9191625"/>
              <a:gd name="connsiteY12" fmla="*/ 1933575 h 2654500"/>
              <a:gd name="connsiteX13" fmla="*/ 2447925 w 9191625"/>
              <a:gd name="connsiteY13" fmla="*/ 1962150 h 2654500"/>
              <a:gd name="connsiteX14" fmla="*/ 2457450 w 9191625"/>
              <a:gd name="connsiteY14" fmla="*/ 2314575 h 2654500"/>
              <a:gd name="connsiteX15" fmla="*/ 2590800 w 9191625"/>
              <a:gd name="connsiteY15" fmla="*/ 2362200 h 2654500"/>
              <a:gd name="connsiteX16" fmla="*/ 2686050 w 9191625"/>
              <a:gd name="connsiteY16" fmla="*/ 2171700 h 2654500"/>
              <a:gd name="connsiteX17" fmla="*/ 2809875 w 9191625"/>
              <a:gd name="connsiteY17" fmla="*/ 2114550 h 2654500"/>
              <a:gd name="connsiteX18" fmla="*/ 3057525 w 9191625"/>
              <a:gd name="connsiteY18" fmla="*/ 2152650 h 2654500"/>
              <a:gd name="connsiteX19" fmla="*/ 3009900 w 9191625"/>
              <a:gd name="connsiteY19" fmla="*/ 2438400 h 2654500"/>
              <a:gd name="connsiteX20" fmla="*/ 3238500 w 9191625"/>
              <a:gd name="connsiteY20" fmla="*/ 25241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828800 w 9191625"/>
              <a:gd name="connsiteY6" fmla="*/ 1771650 h 2654500"/>
              <a:gd name="connsiteX7" fmla="*/ 1733550 w 9191625"/>
              <a:gd name="connsiteY7" fmla="*/ 2000250 h 2654500"/>
              <a:gd name="connsiteX8" fmla="*/ 1838325 w 9191625"/>
              <a:gd name="connsiteY8" fmla="*/ 2095500 h 2654500"/>
              <a:gd name="connsiteX9" fmla="*/ 1943100 w 9191625"/>
              <a:gd name="connsiteY9" fmla="*/ 2038350 h 2654500"/>
              <a:gd name="connsiteX10" fmla="*/ 1990725 w 9191625"/>
              <a:gd name="connsiteY10" fmla="*/ 2143125 h 2654500"/>
              <a:gd name="connsiteX11" fmla="*/ 2095500 w 9191625"/>
              <a:gd name="connsiteY11" fmla="*/ 2181225 h 2654500"/>
              <a:gd name="connsiteX12" fmla="*/ 2200275 w 9191625"/>
              <a:gd name="connsiteY12" fmla="*/ 1933575 h 2654500"/>
              <a:gd name="connsiteX13" fmla="*/ 2447925 w 9191625"/>
              <a:gd name="connsiteY13" fmla="*/ 1962150 h 2654500"/>
              <a:gd name="connsiteX14" fmla="*/ 2457450 w 9191625"/>
              <a:gd name="connsiteY14" fmla="*/ 2314575 h 2654500"/>
              <a:gd name="connsiteX15" fmla="*/ 2590800 w 9191625"/>
              <a:gd name="connsiteY15" fmla="*/ 2362200 h 2654500"/>
              <a:gd name="connsiteX16" fmla="*/ 2686050 w 9191625"/>
              <a:gd name="connsiteY16" fmla="*/ 2171700 h 2654500"/>
              <a:gd name="connsiteX17" fmla="*/ 2809875 w 9191625"/>
              <a:gd name="connsiteY17" fmla="*/ 2114550 h 2654500"/>
              <a:gd name="connsiteX18" fmla="*/ 3057525 w 9191625"/>
              <a:gd name="connsiteY18" fmla="*/ 2152650 h 2654500"/>
              <a:gd name="connsiteX19" fmla="*/ 3009900 w 9191625"/>
              <a:gd name="connsiteY19" fmla="*/ 2438400 h 2654500"/>
              <a:gd name="connsiteX20" fmla="*/ 3238500 w 9191625"/>
              <a:gd name="connsiteY20" fmla="*/ 25241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447925 w 9191625"/>
              <a:gd name="connsiteY14" fmla="*/ 1962150 h 2654500"/>
              <a:gd name="connsiteX15" fmla="*/ 2457450 w 9191625"/>
              <a:gd name="connsiteY15" fmla="*/ 2314575 h 2654500"/>
              <a:gd name="connsiteX16" fmla="*/ 2590800 w 9191625"/>
              <a:gd name="connsiteY16" fmla="*/ 2362200 h 2654500"/>
              <a:gd name="connsiteX17" fmla="*/ 2686050 w 9191625"/>
              <a:gd name="connsiteY17" fmla="*/ 2171700 h 2654500"/>
              <a:gd name="connsiteX18" fmla="*/ 2809875 w 9191625"/>
              <a:gd name="connsiteY18" fmla="*/ 2114550 h 2654500"/>
              <a:gd name="connsiteX19" fmla="*/ 3057525 w 9191625"/>
              <a:gd name="connsiteY19" fmla="*/ 2152650 h 2654500"/>
              <a:gd name="connsiteX20" fmla="*/ 3009900 w 9191625"/>
              <a:gd name="connsiteY20" fmla="*/ 2438400 h 2654500"/>
              <a:gd name="connsiteX21" fmla="*/ 3238500 w 9191625"/>
              <a:gd name="connsiteY21" fmla="*/ 2524125 h 2654500"/>
              <a:gd name="connsiteX22" fmla="*/ 3419475 w 9191625"/>
              <a:gd name="connsiteY22" fmla="*/ 2266950 h 2654500"/>
              <a:gd name="connsiteX23" fmla="*/ 3714750 w 9191625"/>
              <a:gd name="connsiteY23" fmla="*/ 2314575 h 2654500"/>
              <a:gd name="connsiteX24" fmla="*/ 3667125 w 9191625"/>
              <a:gd name="connsiteY24" fmla="*/ 2590800 h 2654500"/>
              <a:gd name="connsiteX25" fmla="*/ 4048125 w 9191625"/>
              <a:gd name="connsiteY25" fmla="*/ 2628900 h 2654500"/>
              <a:gd name="connsiteX26" fmla="*/ 4076700 w 9191625"/>
              <a:gd name="connsiteY26" fmla="*/ 2381250 h 2654500"/>
              <a:gd name="connsiteX27" fmla="*/ 4495800 w 9191625"/>
              <a:gd name="connsiteY27" fmla="*/ 2333625 h 2654500"/>
              <a:gd name="connsiteX28" fmla="*/ 4552950 w 9191625"/>
              <a:gd name="connsiteY28" fmla="*/ 2619375 h 2654500"/>
              <a:gd name="connsiteX29" fmla="*/ 4924425 w 9191625"/>
              <a:gd name="connsiteY29" fmla="*/ 2619375 h 2654500"/>
              <a:gd name="connsiteX30" fmla="*/ 4886325 w 9191625"/>
              <a:gd name="connsiteY30" fmla="*/ 2343150 h 2654500"/>
              <a:gd name="connsiteX31" fmla="*/ 5210175 w 9191625"/>
              <a:gd name="connsiteY31" fmla="*/ 2257425 h 2654500"/>
              <a:gd name="connsiteX32" fmla="*/ 5429250 w 9191625"/>
              <a:gd name="connsiteY32" fmla="*/ 2533650 h 2654500"/>
              <a:gd name="connsiteX33" fmla="*/ 5867400 w 9191625"/>
              <a:gd name="connsiteY33" fmla="*/ 2428875 h 2654500"/>
              <a:gd name="connsiteX34" fmla="*/ 5686425 w 9191625"/>
              <a:gd name="connsiteY34" fmla="*/ 2143125 h 2654500"/>
              <a:gd name="connsiteX35" fmla="*/ 6057900 w 9191625"/>
              <a:gd name="connsiteY35" fmla="*/ 1971675 h 2654500"/>
              <a:gd name="connsiteX36" fmla="*/ 6286500 w 9191625"/>
              <a:gd name="connsiteY36" fmla="*/ 2247900 h 2654500"/>
              <a:gd name="connsiteX37" fmla="*/ 6505575 w 9191625"/>
              <a:gd name="connsiteY37" fmla="*/ 2105025 h 2654500"/>
              <a:gd name="connsiteX38" fmla="*/ 6315075 w 9191625"/>
              <a:gd name="connsiteY38" fmla="*/ 1828800 h 2654500"/>
              <a:gd name="connsiteX39" fmla="*/ 6505575 w 9191625"/>
              <a:gd name="connsiteY39" fmla="*/ 1685925 h 2654500"/>
              <a:gd name="connsiteX40" fmla="*/ 6772275 w 9191625"/>
              <a:gd name="connsiteY40" fmla="*/ 1971675 h 2654500"/>
              <a:gd name="connsiteX41" fmla="*/ 7038975 w 9191625"/>
              <a:gd name="connsiteY41" fmla="*/ 1724025 h 2654500"/>
              <a:gd name="connsiteX42" fmla="*/ 6753225 w 9191625"/>
              <a:gd name="connsiteY42" fmla="*/ 1428750 h 2654500"/>
              <a:gd name="connsiteX43" fmla="*/ 7019925 w 9191625"/>
              <a:gd name="connsiteY43" fmla="*/ 1228725 h 2654500"/>
              <a:gd name="connsiteX44" fmla="*/ 7267575 w 9191625"/>
              <a:gd name="connsiteY44" fmla="*/ 1428750 h 2654500"/>
              <a:gd name="connsiteX45" fmla="*/ 7458075 w 9191625"/>
              <a:gd name="connsiteY45" fmla="*/ 1190625 h 2654500"/>
              <a:gd name="connsiteX46" fmla="*/ 7219950 w 9191625"/>
              <a:gd name="connsiteY46" fmla="*/ 952500 h 2654500"/>
              <a:gd name="connsiteX47" fmla="*/ 7381875 w 9191625"/>
              <a:gd name="connsiteY47" fmla="*/ 704850 h 2654500"/>
              <a:gd name="connsiteX48" fmla="*/ 7696200 w 9191625"/>
              <a:gd name="connsiteY48" fmla="*/ 914400 h 2654500"/>
              <a:gd name="connsiteX49" fmla="*/ 7839075 w 9191625"/>
              <a:gd name="connsiteY49" fmla="*/ 428625 h 2654500"/>
              <a:gd name="connsiteX50" fmla="*/ 9191625 w 9191625"/>
              <a:gd name="connsiteY50"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457450 w 9191625"/>
              <a:gd name="connsiteY15" fmla="*/ 2314575 h 2654500"/>
              <a:gd name="connsiteX16" fmla="*/ 2590800 w 9191625"/>
              <a:gd name="connsiteY16" fmla="*/ 2362200 h 2654500"/>
              <a:gd name="connsiteX17" fmla="*/ 2686050 w 9191625"/>
              <a:gd name="connsiteY17" fmla="*/ 2171700 h 2654500"/>
              <a:gd name="connsiteX18" fmla="*/ 2809875 w 9191625"/>
              <a:gd name="connsiteY18" fmla="*/ 2114550 h 2654500"/>
              <a:gd name="connsiteX19" fmla="*/ 3057525 w 9191625"/>
              <a:gd name="connsiteY19" fmla="*/ 2152650 h 2654500"/>
              <a:gd name="connsiteX20" fmla="*/ 3009900 w 9191625"/>
              <a:gd name="connsiteY20" fmla="*/ 2438400 h 2654500"/>
              <a:gd name="connsiteX21" fmla="*/ 3238500 w 9191625"/>
              <a:gd name="connsiteY21" fmla="*/ 2524125 h 2654500"/>
              <a:gd name="connsiteX22" fmla="*/ 3419475 w 9191625"/>
              <a:gd name="connsiteY22" fmla="*/ 2266950 h 2654500"/>
              <a:gd name="connsiteX23" fmla="*/ 3714750 w 9191625"/>
              <a:gd name="connsiteY23" fmla="*/ 2314575 h 2654500"/>
              <a:gd name="connsiteX24" fmla="*/ 3667125 w 9191625"/>
              <a:gd name="connsiteY24" fmla="*/ 2590800 h 2654500"/>
              <a:gd name="connsiteX25" fmla="*/ 4048125 w 9191625"/>
              <a:gd name="connsiteY25" fmla="*/ 2628900 h 2654500"/>
              <a:gd name="connsiteX26" fmla="*/ 4076700 w 9191625"/>
              <a:gd name="connsiteY26" fmla="*/ 2381250 h 2654500"/>
              <a:gd name="connsiteX27" fmla="*/ 4495800 w 9191625"/>
              <a:gd name="connsiteY27" fmla="*/ 2333625 h 2654500"/>
              <a:gd name="connsiteX28" fmla="*/ 4552950 w 9191625"/>
              <a:gd name="connsiteY28" fmla="*/ 2619375 h 2654500"/>
              <a:gd name="connsiteX29" fmla="*/ 4924425 w 9191625"/>
              <a:gd name="connsiteY29" fmla="*/ 2619375 h 2654500"/>
              <a:gd name="connsiteX30" fmla="*/ 4886325 w 9191625"/>
              <a:gd name="connsiteY30" fmla="*/ 2343150 h 2654500"/>
              <a:gd name="connsiteX31" fmla="*/ 5210175 w 9191625"/>
              <a:gd name="connsiteY31" fmla="*/ 2257425 h 2654500"/>
              <a:gd name="connsiteX32" fmla="*/ 5429250 w 9191625"/>
              <a:gd name="connsiteY32" fmla="*/ 2533650 h 2654500"/>
              <a:gd name="connsiteX33" fmla="*/ 5867400 w 9191625"/>
              <a:gd name="connsiteY33" fmla="*/ 2428875 h 2654500"/>
              <a:gd name="connsiteX34" fmla="*/ 5686425 w 9191625"/>
              <a:gd name="connsiteY34" fmla="*/ 2143125 h 2654500"/>
              <a:gd name="connsiteX35" fmla="*/ 6057900 w 9191625"/>
              <a:gd name="connsiteY35" fmla="*/ 1971675 h 2654500"/>
              <a:gd name="connsiteX36" fmla="*/ 6286500 w 9191625"/>
              <a:gd name="connsiteY36" fmla="*/ 2247900 h 2654500"/>
              <a:gd name="connsiteX37" fmla="*/ 6505575 w 9191625"/>
              <a:gd name="connsiteY37" fmla="*/ 2105025 h 2654500"/>
              <a:gd name="connsiteX38" fmla="*/ 6315075 w 9191625"/>
              <a:gd name="connsiteY38" fmla="*/ 1828800 h 2654500"/>
              <a:gd name="connsiteX39" fmla="*/ 6505575 w 9191625"/>
              <a:gd name="connsiteY39" fmla="*/ 1685925 h 2654500"/>
              <a:gd name="connsiteX40" fmla="*/ 6772275 w 9191625"/>
              <a:gd name="connsiteY40" fmla="*/ 1971675 h 2654500"/>
              <a:gd name="connsiteX41" fmla="*/ 7038975 w 9191625"/>
              <a:gd name="connsiteY41" fmla="*/ 1724025 h 2654500"/>
              <a:gd name="connsiteX42" fmla="*/ 6753225 w 9191625"/>
              <a:gd name="connsiteY42" fmla="*/ 1428750 h 2654500"/>
              <a:gd name="connsiteX43" fmla="*/ 7019925 w 9191625"/>
              <a:gd name="connsiteY43" fmla="*/ 1228725 h 2654500"/>
              <a:gd name="connsiteX44" fmla="*/ 7267575 w 9191625"/>
              <a:gd name="connsiteY44" fmla="*/ 1428750 h 2654500"/>
              <a:gd name="connsiteX45" fmla="*/ 7458075 w 9191625"/>
              <a:gd name="connsiteY45" fmla="*/ 1190625 h 2654500"/>
              <a:gd name="connsiteX46" fmla="*/ 7219950 w 9191625"/>
              <a:gd name="connsiteY46" fmla="*/ 952500 h 2654500"/>
              <a:gd name="connsiteX47" fmla="*/ 7381875 w 9191625"/>
              <a:gd name="connsiteY47" fmla="*/ 704850 h 2654500"/>
              <a:gd name="connsiteX48" fmla="*/ 7696200 w 9191625"/>
              <a:gd name="connsiteY48" fmla="*/ 914400 h 2654500"/>
              <a:gd name="connsiteX49" fmla="*/ 7839075 w 9191625"/>
              <a:gd name="connsiteY49" fmla="*/ 428625 h 2654500"/>
              <a:gd name="connsiteX50" fmla="*/ 9191625 w 9191625"/>
              <a:gd name="connsiteY50"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86050 w 9191625"/>
              <a:gd name="connsiteY17" fmla="*/ 2171700 h 2654500"/>
              <a:gd name="connsiteX18" fmla="*/ 2809875 w 9191625"/>
              <a:gd name="connsiteY18" fmla="*/ 2114550 h 2654500"/>
              <a:gd name="connsiteX19" fmla="*/ 3057525 w 9191625"/>
              <a:gd name="connsiteY19" fmla="*/ 2152650 h 2654500"/>
              <a:gd name="connsiteX20" fmla="*/ 3009900 w 9191625"/>
              <a:gd name="connsiteY20" fmla="*/ 2438400 h 2654500"/>
              <a:gd name="connsiteX21" fmla="*/ 3238500 w 9191625"/>
              <a:gd name="connsiteY21" fmla="*/ 2524125 h 2654500"/>
              <a:gd name="connsiteX22" fmla="*/ 3419475 w 9191625"/>
              <a:gd name="connsiteY22" fmla="*/ 2266950 h 2654500"/>
              <a:gd name="connsiteX23" fmla="*/ 3714750 w 9191625"/>
              <a:gd name="connsiteY23" fmla="*/ 2314575 h 2654500"/>
              <a:gd name="connsiteX24" fmla="*/ 3667125 w 9191625"/>
              <a:gd name="connsiteY24" fmla="*/ 2590800 h 2654500"/>
              <a:gd name="connsiteX25" fmla="*/ 4048125 w 9191625"/>
              <a:gd name="connsiteY25" fmla="*/ 2628900 h 2654500"/>
              <a:gd name="connsiteX26" fmla="*/ 4076700 w 9191625"/>
              <a:gd name="connsiteY26" fmla="*/ 2381250 h 2654500"/>
              <a:gd name="connsiteX27" fmla="*/ 4495800 w 9191625"/>
              <a:gd name="connsiteY27" fmla="*/ 2333625 h 2654500"/>
              <a:gd name="connsiteX28" fmla="*/ 4552950 w 9191625"/>
              <a:gd name="connsiteY28" fmla="*/ 2619375 h 2654500"/>
              <a:gd name="connsiteX29" fmla="*/ 4924425 w 9191625"/>
              <a:gd name="connsiteY29" fmla="*/ 2619375 h 2654500"/>
              <a:gd name="connsiteX30" fmla="*/ 4886325 w 9191625"/>
              <a:gd name="connsiteY30" fmla="*/ 2343150 h 2654500"/>
              <a:gd name="connsiteX31" fmla="*/ 5210175 w 9191625"/>
              <a:gd name="connsiteY31" fmla="*/ 2257425 h 2654500"/>
              <a:gd name="connsiteX32" fmla="*/ 5429250 w 9191625"/>
              <a:gd name="connsiteY32" fmla="*/ 2533650 h 2654500"/>
              <a:gd name="connsiteX33" fmla="*/ 5867400 w 9191625"/>
              <a:gd name="connsiteY33" fmla="*/ 2428875 h 2654500"/>
              <a:gd name="connsiteX34" fmla="*/ 5686425 w 9191625"/>
              <a:gd name="connsiteY34" fmla="*/ 2143125 h 2654500"/>
              <a:gd name="connsiteX35" fmla="*/ 6057900 w 9191625"/>
              <a:gd name="connsiteY35" fmla="*/ 1971675 h 2654500"/>
              <a:gd name="connsiteX36" fmla="*/ 6286500 w 9191625"/>
              <a:gd name="connsiteY36" fmla="*/ 2247900 h 2654500"/>
              <a:gd name="connsiteX37" fmla="*/ 6505575 w 9191625"/>
              <a:gd name="connsiteY37" fmla="*/ 2105025 h 2654500"/>
              <a:gd name="connsiteX38" fmla="*/ 6315075 w 9191625"/>
              <a:gd name="connsiteY38" fmla="*/ 1828800 h 2654500"/>
              <a:gd name="connsiteX39" fmla="*/ 6505575 w 9191625"/>
              <a:gd name="connsiteY39" fmla="*/ 1685925 h 2654500"/>
              <a:gd name="connsiteX40" fmla="*/ 6772275 w 9191625"/>
              <a:gd name="connsiteY40" fmla="*/ 1971675 h 2654500"/>
              <a:gd name="connsiteX41" fmla="*/ 7038975 w 9191625"/>
              <a:gd name="connsiteY41" fmla="*/ 1724025 h 2654500"/>
              <a:gd name="connsiteX42" fmla="*/ 6753225 w 9191625"/>
              <a:gd name="connsiteY42" fmla="*/ 1428750 h 2654500"/>
              <a:gd name="connsiteX43" fmla="*/ 7019925 w 9191625"/>
              <a:gd name="connsiteY43" fmla="*/ 1228725 h 2654500"/>
              <a:gd name="connsiteX44" fmla="*/ 7267575 w 9191625"/>
              <a:gd name="connsiteY44" fmla="*/ 1428750 h 2654500"/>
              <a:gd name="connsiteX45" fmla="*/ 7458075 w 9191625"/>
              <a:gd name="connsiteY45" fmla="*/ 1190625 h 2654500"/>
              <a:gd name="connsiteX46" fmla="*/ 7219950 w 9191625"/>
              <a:gd name="connsiteY46" fmla="*/ 952500 h 2654500"/>
              <a:gd name="connsiteX47" fmla="*/ 7381875 w 9191625"/>
              <a:gd name="connsiteY47" fmla="*/ 704850 h 2654500"/>
              <a:gd name="connsiteX48" fmla="*/ 7696200 w 9191625"/>
              <a:gd name="connsiteY48" fmla="*/ 914400 h 2654500"/>
              <a:gd name="connsiteX49" fmla="*/ 7839075 w 9191625"/>
              <a:gd name="connsiteY49" fmla="*/ 428625 h 2654500"/>
              <a:gd name="connsiteX50" fmla="*/ 9191625 w 9191625"/>
              <a:gd name="connsiteY50"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0175 w 9191625"/>
              <a:gd name="connsiteY17" fmla="*/ 2098675 h 2654500"/>
              <a:gd name="connsiteX18" fmla="*/ 2809875 w 9191625"/>
              <a:gd name="connsiteY18" fmla="*/ 2114550 h 2654500"/>
              <a:gd name="connsiteX19" fmla="*/ 3057525 w 9191625"/>
              <a:gd name="connsiteY19" fmla="*/ 2152650 h 2654500"/>
              <a:gd name="connsiteX20" fmla="*/ 3009900 w 9191625"/>
              <a:gd name="connsiteY20" fmla="*/ 2438400 h 2654500"/>
              <a:gd name="connsiteX21" fmla="*/ 3238500 w 9191625"/>
              <a:gd name="connsiteY21" fmla="*/ 2524125 h 2654500"/>
              <a:gd name="connsiteX22" fmla="*/ 3419475 w 9191625"/>
              <a:gd name="connsiteY22" fmla="*/ 2266950 h 2654500"/>
              <a:gd name="connsiteX23" fmla="*/ 3714750 w 9191625"/>
              <a:gd name="connsiteY23" fmla="*/ 2314575 h 2654500"/>
              <a:gd name="connsiteX24" fmla="*/ 3667125 w 9191625"/>
              <a:gd name="connsiteY24" fmla="*/ 2590800 h 2654500"/>
              <a:gd name="connsiteX25" fmla="*/ 4048125 w 9191625"/>
              <a:gd name="connsiteY25" fmla="*/ 2628900 h 2654500"/>
              <a:gd name="connsiteX26" fmla="*/ 4076700 w 9191625"/>
              <a:gd name="connsiteY26" fmla="*/ 2381250 h 2654500"/>
              <a:gd name="connsiteX27" fmla="*/ 4495800 w 9191625"/>
              <a:gd name="connsiteY27" fmla="*/ 2333625 h 2654500"/>
              <a:gd name="connsiteX28" fmla="*/ 4552950 w 9191625"/>
              <a:gd name="connsiteY28" fmla="*/ 2619375 h 2654500"/>
              <a:gd name="connsiteX29" fmla="*/ 4924425 w 9191625"/>
              <a:gd name="connsiteY29" fmla="*/ 2619375 h 2654500"/>
              <a:gd name="connsiteX30" fmla="*/ 4886325 w 9191625"/>
              <a:gd name="connsiteY30" fmla="*/ 2343150 h 2654500"/>
              <a:gd name="connsiteX31" fmla="*/ 5210175 w 9191625"/>
              <a:gd name="connsiteY31" fmla="*/ 2257425 h 2654500"/>
              <a:gd name="connsiteX32" fmla="*/ 5429250 w 9191625"/>
              <a:gd name="connsiteY32" fmla="*/ 2533650 h 2654500"/>
              <a:gd name="connsiteX33" fmla="*/ 5867400 w 9191625"/>
              <a:gd name="connsiteY33" fmla="*/ 2428875 h 2654500"/>
              <a:gd name="connsiteX34" fmla="*/ 5686425 w 9191625"/>
              <a:gd name="connsiteY34" fmla="*/ 2143125 h 2654500"/>
              <a:gd name="connsiteX35" fmla="*/ 6057900 w 9191625"/>
              <a:gd name="connsiteY35" fmla="*/ 1971675 h 2654500"/>
              <a:gd name="connsiteX36" fmla="*/ 6286500 w 9191625"/>
              <a:gd name="connsiteY36" fmla="*/ 2247900 h 2654500"/>
              <a:gd name="connsiteX37" fmla="*/ 6505575 w 9191625"/>
              <a:gd name="connsiteY37" fmla="*/ 2105025 h 2654500"/>
              <a:gd name="connsiteX38" fmla="*/ 6315075 w 9191625"/>
              <a:gd name="connsiteY38" fmla="*/ 1828800 h 2654500"/>
              <a:gd name="connsiteX39" fmla="*/ 6505575 w 9191625"/>
              <a:gd name="connsiteY39" fmla="*/ 1685925 h 2654500"/>
              <a:gd name="connsiteX40" fmla="*/ 6772275 w 9191625"/>
              <a:gd name="connsiteY40" fmla="*/ 1971675 h 2654500"/>
              <a:gd name="connsiteX41" fmla="*/ 7038975 w 9191625"/>
              <a:gd name="connsiteY41" fmla="*/ 1724025 h 2654500"/>
              <a:gd name="connsiteX42" fmla="*/ 6753225 w 9191625"/>
              <a:gd name="connsiteY42" fmla="*/ 1428750 h 2654500"/>
              <a:gd name="connsiteX43" fmla="*/ 7019925 w 9191625"/>
              <a:gd name="connsiteY43" fmla="*/ 1228725 h 2654500"/>
              <a:gd name="connsiteX44" fmla="*/ 7267575 w 9191625"/>
              <a:gd name="connsiteY44" fmla="*/ 1428750 h 2654500"/>
              <a:gd name="connsiteX45" fmla="*/ 7458075 w 9191625"/>
              <a:gd name="connsiteY45" fmla="*/ 1190625 h 2654500"/>
              <a:gd name="connsiteX46" fmla="*/ 7219950 w 9191625"/>
              <a:gd name="connsiteY46" fmla="*/ 952500 h 2654500"/>
              <a:gd name="connsiteX47" fmla="*/ 7381875 w 9191625"/>
              <a:gd name="connsiteY47" fmla="*/ 704850 h 2654500"/>
              <a:gd name="connsiteX48" fmla="*/ 7696200 w 9191625"/>
              <a:gd name="connsiteY48" fmla="*/ 914400 h 2654500"/>
              <a:gd name="connsiteX49" fmla="*/ 7839075 w 9191625"/>
              <a:gd name="connsiteY49" fmla="*/ 428625 h 2654500"/>
              <a:gd name="connsiteX50" fmla="*/ 9191625 w 9191625"/>
              <a:gd name="connsiteY50"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0175 w 9191625"/>
              <a:gd name="connsiteY17" fmla="*/ 2098675 h 2654500"/>
              <a:gd name="connsiteX18" fmla="*/ 2809875 w 9191625"/>
              <a:gd name="connsiteY18" fmla="*/ 2089150 h 2654500"/>
              <a:gd name="connsiteX19" fmla="*/ 3057525 w 9191625"/>
              <a:gd name="connsiteY19" fmla="*/ 2152650 h 2654500"/>
              <a:gd name="connsiteX20" fmla="*/ 3009900 w 9191625"/>
              <a:gd name="connsiteY20" fmla="*/ 2438400 h 2654500"/>
              <a:gd name="connsiteX21" fmla="*/ 3238500 w 9191625"/>
              <a:gd name="connsiteY21" fmla="*/ 2524125 h 2654500"/>
              <a:gd name="connsiteX22" fmla="*/ 3419475 w 9191625"/>
              <a:gd name="connsiteY22" fmla="*/ 2266950 h 2654500"/>
              <a:gd name="connsiteX23" fmla="*/ 3714750 w 9191625"/>
              <a:gd name="connsiteY23" fmla="*/ 2314575 h 2654500"/>
              <a:gd name="connsiteX24" fmla="*/ 3667125 w 9191625"/>
              <a:gd name="connsiteY24" fmla="*/ 2590800 h 2654500"/>
              <a:gd name="connsiteX25" fmla="*/ 4048125 w 9191625"/>
              <a:gd name="connsiteY25" fmla="*/ 2628900 h 2654500"/>
              <a:gd name="connsiteX26" fmla="*/ 4076700 w 9191625"/>
              <a:gd name="connsiteY26" fmla="*/ 2381250 h 2654500"/>
              <a:gd name="connsiteX27" fmla="*/ 4495800 w 9191625"/>
              <a:gd name="connsiteY27" fmla="*/ 2333625 h 2654500"/>
              <a:gd name="connsiteX28" fmla="*/ 4552950 w 9191625"/>
              <a:gd name="connsiteY28" fmla="*/ 2619375 h 2654500"/>
              <a:gd name="connsiteX29" fmla="*/ 4924425 w 9191625"/>
              <a:gd name="connsiteY29" fmla="*/ 2619375 h 2654500"/>
              <a:gd name="connsiteX30" fmla="*/ 4886325 w 9191625"/>
              <a:gd name="connsiteY30" fmla="*/ 2343150 h 2654500"/>
              <a:gd name="connsiteX31" fmla="*/ 5210175 w 9191625"/>
              <a:gd name="connsiteY31" fmla="*/ 2257425 h 2654500"/>
              <a:gd name="connsiteX32" fmla="*/ 5429250 w 9191625"/>
              <a:gd name="connsiteY32" fmla="*/ 2533650 h 2654500"/>
              <a:gd name="connsiteX33" fmla="*/ 5867400 w 9191625"/>
              <a:gd name="connsiteY33" fmla="*/ 2428875 h 2654500"/>
              <a:gd name="connsiteX34" fmla="*/ 5686425 w 9191625"/>
              <a:gd name="connsiteY34" fmla="*/ 2143125 h 2654500"/>
              <a:gd name="connsiteX35" fmla="*/ 6057900 w 9191625"/>
              <a:gd name="connsiteY35" fmla="*/ 1971675 h 2654500"/>
              <a:gd name="connsiteX36" fmla="*/ 6286500 w 9191625"/>
              <a:gd name="connsiteY36" fmla="*/ 2247900 h 2654500"/>
              <a:gd name="connsiteX37" fmla="*/ 6505575 w 9191625"/>
              <a:gd name="connsiteY37" fmla="*/ 2105025 h 2654500"/>
              <a:gd name="connsiteX38" fmla="*/ 6315075 w 9191625"/>
              <a:gd name="connsiteY38" fmla="*/ 1828800 h 2654500"/>
              <a:gd name="connsiteX39" fmla="*/ 6505575 w 9191625"/>
              <a:gd name="connsiteY39" fmla="*/ 1685925 h 2654500"/>
              <a:gd name="connsiteX40" fmla="*/ 6772275 w 9191625"/>
              <a:gd name="connsiteY40" fmla="*/ 1971675 h 2654500"/>
              <a:gd name="connsiteX41" fmla="*/ 7038975 w 9191625"/>
              <a:gd name="connsiteY41" fmla="*/ 1724025 h 2654500"/>
              <a:gd name="connsiteX42" fmla="*/ 6753225 w 9191625"/>
              <a:gd name="connsiteY42" fmla="*/ 1428750 h 2654500"/>
              <a:gd name="connsiteX43" fmla="*/ 7019925 w 9191625"/>
              <a:gd name="connsiteY43" fmla="*/ 1228725 h 2654500"/>
              <a:gd name="connsiteX44" fmla="*/ 7267575 w 9191625"/>
              <a:gd name="connsiteY44" fmla="*/ 1428750 h 2654500"/>
              <a:gd name="connsiteX45" fmla="*/ 7458075 w 9191625"/>
              <a:gd name="connsiteY45" fmla="*/ 1190625 h 2654500"/>
              <a:gd name="connsiteX46" fmla="*/ 7219950 w 9191625"/>
              <a:gd name="connsiteY46" fmla="*/ 952500 h 2654500"/>
              <a:gd name="connsiteX47" fmla="*/ 7381875 w 9191625"/>
              <a:gd name="connsiteY47" fmla="*/ 704850 h 2654500"/>
              <a:gd name="connsiteX48" fmla="*/ 7696200 w 9191625"/>
              <a:gd name="connsiteY48" fmla="*/ 914400 h 2654500"/>
              <a:gd name="connsiteX49" fmla="*/ 7839075 w 9191625"/>
              <a:gd name="connsiteY49" fmla="*/ 428625 h 2654500"/>
              <a:gd name="connsiteX50" fmla="*/ 9191625 w 9191625"/>
              <a:gd name="connsiteY50"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0175 w 9191625"/>
              <a:gd name="connsiteY17" fmla="*/ 2098675 h 2654500"/>
              <a:gd name="connsiteX18" fmla="*/ 3057525 w 9191625"/>
              <a:gd name="connsiteY18" fmla="*/ 2152650 h 2654500"/>
              <a:gd name="connsiteX19" fmla="*/ 3009900 w 9191625"/>
              <a:gd name="connsiteY19" fmla="*/ 2438400 h 2654500"/>
              <a:gd name="connsiteX20" fmla="*/ 3238500 w 9191625"/>
              <a:gd name="connsiteY20" fmla="*/ 25241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3057525 w 9191625"/>
              <a:gd name="connsiteY18" fmla="*/ 2152650 h 2654500"/>
              <a:gd name="connsiteX19" fmla="*/ 3009900 w 9191625"/>
              <a:gd name="connsiteY19" fmla="*/ 2438400 h 2654500"/>
              <a:gd name="connsiteX20" fmla="*/ 3238500 w 9191625"/>
              <a:gd name="connsiteY20" fmla="*/ 25241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3009900 w 9191625"/>
              <a:gd name="connsiteY19" fmla="*/ 2438400 h 2654500"/>
              <a:gd name="connsiteX20" fmla="*/ 3238500 w 9191625"/>
              <a:gd name="connsiteY20" fmla="*/ 25241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238500 w 9191625"/>
              <a:gd name="connsiteY20" fmla="*/ 25241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419475 w 9191625"/>
              <a:gd name="connsiteY21" fmla="*/ 2266950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714750 w 9191625"/>
              <a:gd name="connsiteY22" fmla="*/ 2314575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482975 w 9191625"/>
              <a:gd name="connsiteY22" fmla="*/ 2266950 h 2654500"/>
              <a:gd name="connsiteX23" fmla="*/ 3667125 w 9191625"/>
              <a:gd name="connsiteY23" fmla="*/ 2590800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482975 w 9191625"/>
              <a:gd name="connsiteY22" fmla="*/ 2266950 h 2654500"/>
              <a:gd name="connsiteX23" fmla="*/ 3498850 w 9191625"/>
              <a:gd name="connsiteY23" fmla="*/ 2568575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486150 w 9191625"/>
              <a:gd name="connsiteY22" fmla="*/ 2254250 h 2654500"/>
              <a:gd name="connsiteX23" fmla="*/ 3498850 w 9191625"/>
              <a:gd name="connsiteY23" fmla="*/ 2568575 h 2654500"/>
              <a:gd name="connsiteX24" fmla="*/ 4048125 w 9191625"/>
              <a:gd name="connsiteY24" fmla="*/ 2628900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486150 w 9191625"/>
              <a:gd name="connsiteY22" fmla="*/ 2254250 h 2654500"/>
              <a:gd name="connsiteX23" fmla="*/ 3498850 w 9191625"/>
              <a:gd name="connsiteY23" fmla="*/ 2568575 h 2654500"/>
              <a:gd name="connsiteX24" fmla="*/ 3784600 w 9191625"/>
              <a:gd name="connsiteY24" fmla="*/ 2613025 h 2654500"/>
              <a:gd name="connsiteX25" fmla="*/ 4076700 w 9191625"/>
              <a:gd name="connsiteY25" fmla="*/ 2381250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486150 w 9191625"/>
              <a:gd name="connsiteY22" fmla="*/ 2254250 h 2654500"/>
              <a:gd name="connsiteX23" fmla="*/ 3498850 w 9191625"/>
              <a:gd name="connsiteY23" fmla="*/ 2568575 h 2654500"/>
              <a:gd name="connsiteX24" fmla="*/ 3784600 w 9191625"/>
              <a:gd name="connsiteY24" fmla="*/ 2613025 h 2654500"/>
              <a:gd name="connsiteX25" fmla="*/ 3838575 w 9191625"/>
              <a:gd name="connsiteY25" fmla="*/ 2282825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4500"/>
              <a:gd name="connsiteX1" fmla="*/ 1123950 w 9191625"/>
              <a:gd name="connsiteY1" fmla="*/ 1562100 h 2654500"/>
              <a:gd name="connsiteX2" fmla="*/ 1479550 w 9191625"/>
              <a:gd name="connsiteY2" fmla="*/ 1555750 h 2654500"/>
              <a:gd name="connsiteX3" fmla="*/ 1400175 w 9191625"/>
              <a:gd name="connsiteY3" fmla="*/ 1809750 h 2654500"/>
              <a:gd name="connsiteX4" fmla="*/ 1533525 w 9191625"/>
              <a:gd name="connsiteY4" fmla="*/ 1895475 h 2654500"/>
              <a:gd name="connsiteX5" fmla="*/ 1619250 w 9191625"/>
              <a:gd name="connsiteY5" fmla="*/ 1733550 h 2654500"/>
              <a:gd name="connsiteX6" fmla="*/ 1673225 w 9191625"/>
              <a:gd name="connsiteY6" fmla="*/ 1708150 h 2654500"/>
              <a:gd name="connsiteX7" fmla="*/ 1828800 w 9191625"/>
              <a:gd name="connsiteY7" fmla="*/ 1771650 h 2654500"/>
              <a:gd name="connsiteX8" fmla="*/ 1733550 w 9191625"/>
              <a:gd name="connsiteY8" fmla="*/ 2000250 h 2654500"/>
              <a:gd name="connsiteX9" fmla="*/ 1838325 w 9191625"/>
              <a:gd name="connsiteY9" fmla="*/ 2095500 h 2654500"/>
              <a:gd name="connsiteX10" fmla="*/ 1943100 w 9191625"/>
              <a:gd name="connsiteY10" fmla="*/ 2038350 h 2654500"/>
              <a:gd name="connsiteX11" fmla="*/ 1990725 w 9191625"/>
              <a:gd name="connsiteY11" fmla="*/ 2143125 h 2654500"/>
              <a:gd name="connsiteX12" fmla="*/ 2095500 w 9191625"/>
              <a:gd name="connsiteY12" fmla="*/ 2181225 h 2654500"/>
              <a:gd name="connsiteX13" fmla="*/ 2200275 w 9191625"/>
              <a:gd name="connsiteY13" fmla="*/ 1933575 h 2654500"/>
              <a:gd name="connsiteX14" fmla="*/ 2397125 w 9191625"/>
              <a:gd name="connsiteY14" fmla="*/ 1971675 h 2654500"/>
              <a:gd name="connsiteX15" fmla="*/ 2362200 w 9191625"/>
              <a:gd name="connsiteY15" fmla="*/ 2292350 h 2654500"/>
              <a:gd name="connsiteX16" fmla="*/ 2590800 w 9191625"/>
              <a:gd name="connsiteY16" fmla="*/ 2362200 h 2654500"/>
              <a:gd name="connsiteX17" fmla="*/ 2673350 w 9191625"/>
              <a:gd name="connsiteY17" fmla="*/ 2066925 h 2654500"/>
              <a:gd name="connsiteX18" fmla="*/ 2933700 w 9191625"/>
              <a:gd name="connsiteY18" fmla="*/ 2130425 h 2654500"/>
              <a:gd name="connsiteX19" fmla="*/ 2914650 w 9191625"/>
              <a:gd name="connsiteY19" fmla="*/ 2451100 h 2654500"/>
              <a:gd name="connsiteX20" fmla="*/ 3155950 w 9191625"/>
              <a:gd name="connsiteY20" fmla="*/ 2511425 h 2654500"/>
              <a:gd name="connsiteX21" fmla="*/ 3267075 w 9191625"/>
              <a:gd name="connsiteY21" fmla="*/ 2206625 h 2654500"/>
              <a:gd name="connsiteX22" fmla="*/ 3531394 w 9191625"/>
              <a:gd name="connsiteY22" fmla="*/ 2249487 h 2654500"/>
              <a:gd name="connsiteX23" fmla="*/ 3498850 w 9191625"/>
              <a:gd name="connsiteY23" fmla="*/ 2568575 h 2654500"/>
              <a:gd name="connsiteX24" fmla="*/ 3784600 w 9191625"/>
              <a:gd name="connsiteY24" fmla="*/ 2613025 h 2654500"/>
              <a:gd name="connsiteX25" fmla="*/ 3838575 w 9191625"/>
              <a:gd name="connsiteY25" fmla="*/ 2282825 h 2654500"/>
              <a:gd name="connsiteX26" fmla="*/ 4495800 w 9191625"/>
              <a:gd name="connsiteY26" fmla="*/ 2333625 h 2654500"/>
              <a:gd name="connsiteX27" fmla="*/ 4552950 w 9191625"/>
              <a:gd name="connsiteY27" fmla="*/ 2619375 h 2654500"/>
              <a:gd name="connsiteX28" fmla="*/ 4924425 w 9191625"/>
              <a:gd name="connsiteY28" fmla="*/ 2619375 h 2654500"/>
              <a:gd name="connsiteX29" fmla="*/ 4886325 w 9191625"/>
              <a:gd name="connsiteY29" fmla="*/ 2343150 h 2654500"/>
              <a:gd name="connsiteX30" fmla="*/ 5210175 w 9191625"/>
              <a:gd name="connsiteY30" fmla="*/ 2257425 h 2654500"/>
              <a:gd name="connsiteX31" fmla="*/ 5429250 w 9191625"/>
              <a:gd name="connsiteY31" fmla="*/ 2533650 h 2654500"/>
              <a:gd name="connsiteX32" fmla="*/ 5867400 w 9191625"/>
              <a:gd name="connsiteY32" fmla="*/ 2428875 h 2654500"/>
              <a:gd name="connsiteX33" fmla="*/ 5686425 w 9191625"/>
              <a:gd name="connsiteY33" fmla="*/ 2143125 h 2654500"/>
              <a:gd name="connsiteX34" fmla="*/ 6057900 w 9191625"/>
              <a:gd name="connsiteY34" fmla="*/ 1971675 h 2654500"/>
              <a:gd name="connsiteX35" fmla="*/ 6286500 w 9191625"/>
              <a:gd name="connsiteY35" fmla="*/ 2247900 h 2654500"/>
              <a:gd name="connsiteX36" fmla="*/ 6505575 w 9191625"/>
              <a:gd name="connsiteY36" fmla="*/ 2105025 h 2654500"/>
              <a:gd name="connsiteX37" fmla="*/ 6315075 w 9191625"/>
              <a:gd name="connsiteY37" fmla="*/ 1828800 h 2654500"/>
              <a:gd name="connsiteX38" fmla="*/ 6505575 w 9191625"/>
              <a:gd name="connsiteY38" fmla="*/ 1685925 h 2654500"/>
              <a:gd name="connsiteX39" fmla="*/ 6772275 w 9191625"/>
              <a:gd name="connsiteY39" fmla="*/ 1971675 h 2654500"/>
              <a:gd name="connsiteX40" fmla="*/ 7038975 w 9191625"/>
              <a:gd name="connsiteY40" fmla="*/ 1724025 h 2654500"/>
              <a:gd name="connsiteX41" fmla="*/ 6753225 w 9191625"/>
              <a:gd name="connsiteY41" fmla="*/ 1428750 h 2654500"/>
              <a:gd name="connsiteX42" fmla="*/ 7019925 w 9191625"/>
              <a:gd name="connsiteY42" fmla="*/ 1228725 h 2654500"/>
              <a:gd name="connsiteX43" fmla="*/ 7267575 w 9191625"/>
              <a:gd name="connsiteY43" fmla="*/ 1428750 h 2654500"/>
              <a:gd name="connsiteX44" fmla="*/ 7458075 w 9191625"/>
              <a:gd name="connsiteY44" fmla="*/ 1190625 h 2654500"/>
              <a:gd name="connsiteX45" fmla="*/ 7219950 w 9191625"/>
              <a:gd name="connsiteY45" fmla="*/ 952500 h 2654500"/>
              <a:gd name="connsiteX46" fmla="*/ 7381875 w 9191625"/>
              <a:gd name="connsiteY46" fmla="*/ 704850 h 2654500"/>
              <a:gd name="connsiteX47" fmla="*/ 7696200 w 9191625"/>
              <a:gd name="connsiteY47" fmla="*/ 914400 h 2654500"/>
              <a:gd name="connsiteX48" fmla="*/ 7839075 w 9191625"/>
              <a:gd name="connsiteY48" fmla="*/ 428625 h 2654500"/>
              <a:gd name="connsiteX49" fmla="*/ 9191625 w 9191625"/>
              <a:gd name="connsiteY49" fmla="*/ 0 h 2654500"/>
              <a:gd name="connsiteX0" fmla="*/ 0 w 9191625"/>
              <a:gd name="connsiteY0" fmla="*/ 1657350 h 2655254"/>
              <a:gd name="connsiteX1" fmla="*/ 1123950 w 9191625"/>
              <a:gd name="connsiteY1" fmla="*/ 1562100 h 2655254"/>
              <a:gd name="connsiteX2" fmla="*/ 1479550 w 9191625"/>
              <a:gd name="connsiteY2" fmla="*/ 1555750 h 2655254"/>
              <a:gd name="connsiteX3" fmla="*/ 1400175 w 9191625"/>
              <a:gd name="connsiteY3" fmla="*/ 1809750 h 2655254"/>
              <a:gd name="connsiteX4" fmla="*/ 1533525 w 9191625"/>
              <a:gd name="connsiteY4" fmla="*/ 1895475 h 2655254"/>
              <a:gd name="connsiteX5" fmla="*/ 1619250 w 9191625"/>
              <a:gd name="connsiteY5" fmla="*/ 1733550 h 2655254"/>
              <a:gd name="connsiteX6" fmla="*/ 1673225 w 9191625"/>
              <a:gd name="connsiteY6" fmla="*/ 1708150 h 2655254"/>
              <a:gd name="connsiteX7" fmla="*/ 1828800 w 9191625"/>
              <a:gd name="connsiteY7" fmla="*/ 1771650 h 2655254"/>
              <a:gd name="connsiteX8" fmla="*/ 1733550 w 9191625"/>
              <a:gd name="connsiteY8" fmla="*/ 2000250 h 2655254"/>
              <a:gd name="connsiteX9" fmla="*/ 1838325 w 9191625"/>
              <a:gd name="connsiteY9" fmla="*/ 2095500 h 2655254"/>
              <a:gd name="connsiteX10" fmla="*/ 1943100 w 9191625"/>
              <a:gd name="connsiteY10" fmla="*/ 2038350 h 2655254"/>
              <a:gd name="connsiteX11" fmla="*/ 1990725 w 9191625"/>
              <a:gd name="connsiteY11" fmla="*/ 2143125 h 2655254"/>
              <a:gd name="connsiteX12" fmla="*/ 2095500 w 9191625"/>
              <a:gd name="connsiteY12" fmla="*/ 2181225 h 2655254"/>
              <a:gd name="connsiteX13" fmla="*/ 2200275 w 9191625"/>
              <a:gd name="connsiteY13" fmla="*/ 1933575 h 2655254"/>
              <a:gd name="connsiteX14" fmla="*/ 2397125 w 9191625"/>
              <a:gd name="connsiteY14" fmla="*/ 1971675 h 2655254"/>
              <a:gd name="connsiteX15" fmla="*/ 2362200 w 9191625"/>
              <a:gd name="connsiteY15" fmla="*/ 2292350 h 2655254"/>
              <a:gd name="connsiteX16" fmla="*/ 2590800 w 9191625"/>
              <a:gd name="connsiteY16" fmla="*/ 2362200 h 2655254"/>
              <a:gd name="connsiteX17" fmla="*/ 2673350 w 9191625"/>
              <a:gd name="connsiteY17" fmla="*/ 2066925 h 2655254"/>
              <a:gd name="connsiteX18" fmla="*/ 2933700 w 9191625"/>
              <a:gd name="connsiteY18" fmla="*/ 2130425 h 2655254"/>
              <a:gd name="connsiteX19" fmla="*/ 2914650 w 9191625"/>
              <a:gd name="connsiteY19" fmla="*/ 2451100 h 2655254"/>
              <a:gd name="connsiteX20" fmla="*/ 3155950 w 9191625"/>
              <a:gd name="connsiteY20" fmla="*/ 2511425 h 2655254"/>
              <a:gd name="connsiteX21" fmla="*/ 3267075 w 9191625"/>
              <a:gd name="connsiteY21" fmla="*/ 2206625 h 2655254"/>
              <a:gd name="connsiteX22" fmla="*/ 3531394 w 9191625"/>
              <a:gd name="connsiteY22" fmla="*/ 2249487 h 2655254"/>
              <a:gd name="connsiteX23" fmla="*/ 3498850 w 9191625"/>
              <a:gd name="connsiteY23" fmla="*/ 2568575 h 2655254"/>
              <a:gd name="connsiteX24" fmla="*/ 3784600 w 9191625"/>
              <a:gd name="connsiteY24" fmla="*/ 2613025 h 2655254"/>
              <a:gd name="connsiteX25" fmla="*/ 3838575 w 9191625"/>
              <a:gd name="connsiteY25" fmla="*/ 2282825 h 2655254"/>
              <a:gd name="connsiteX26" fmla="*/ 4341019 w 9191625"/>
              <a:gd name="connsiteY26" fmla="*/ 2321719 h 2655254"/>
              <a:gd name="connsiteX27" fmla="*/ 4552950 w 9191625"/>
              <a:gd name="connsiteY27" fmla="*/ 2619375 h 2655254"/>
              <a:gd name="connsiteX28" fmla="*/ 4924425 w 9191625"/>
              <a:gd name="connsiteY28" fmla="*/ 2619375 h 2655254"/>
              <a:gd name="connsiteX29" fmla="*/ 4886325 w 9191625"/>
              <a:gd name="connsiteY29" fmla="*/ 2343150 h 2655254"/>
              <a:gd name="connsiteX30" fmla="*/ 5210175 w 9191625"/>
              <a:gd name="connsiteY30" fmla="*/ 2257425 h 2655254"/>
              <a:gd name="connsiteX31" fmla="*/ 5429250 w 9191625"/>
              <a:gd name="connsiteY31" fmla="*/ 2533650 h 2655254"/>
              <a:gd name="connsiteX32" fmla="*/ 5867400 w 9191625"/>
              <a:gd name="connsiteY32" fmla="*/ 2428875 h 2655254"/>
              <a:gd name="connsiteX33" fmla="*/ 5686425 w 9191625"/>
              <a:gd name="connsiteY33" fmla="*/ 2143125 h 2655254"/>
              <a:gd name="connsiteX34" fmla="*/ 6057900 w 9191625"/>
              <a:gd name="connsiteY34" fmla="*/ 1971675 h 2655254"/>
              <a:gd name="connsiteX35" fmla="*/ 6286500 w 9191625"/>
              <a:gd name="connsiteY35" fmla="*/ 2247900 h 2655254"/>
              <a:gd name="connsiteX36" fmla="*/ 6505575 w 9191625"/>
              <a:gd name="connsiteY36" fmla="*/ 2105025 h 2655254"/>
              <a:gd name="connsiteX37" fmla="*/ 6315075 w 9191625"/>
              <a:gd name="connsiteY37" fmla="*/ 1828800 h 2655254"/>
              <a:gd name="connsiteX38" fmla="*/ 6505575 w 9191625"/>
              <a:gd name="connsiteY38" fmla="*/ 1685925 h 2655254"/>
              <a:gd name="connsiteX39" fmla="*/ 6772275 w 9191625"/>
              <a:gd name="connsiteY39" fmla="*/ 1971675 h 2655254"/>
              <a:gd name="connsiteX40" fmla="*/ 7038975 w 9191625"/>
              <a:gd name="connsiteY40" fmla="*/ 1724025 h 2655254"/>
              <a:gd name="connsiteX41" fmla="*/ 6753225 w 9191625"/>
              <a:gd name="connsiteY41" fmla="*/ 1428750 h 2655254"/>
              <a:gd name="connsiteX42" fmla="*/ 7019925 w 9191625"/>
              <a:gd name="connsiteY42" fmla="*/ 1228725 h 2655254"/>
              <a:gd name="connsiteX43" fmla="*/ 7267575 w 9191625"/>
              <a:gd name="connsiteY43" fmla="*/ 1428750 h 2655254"/>
              <a:gd name="connsiteX44" fmla="*/ 7458075 w 9191625"/>
              <a:gd name="connsiteY44" fmla="*/ 1190625 h 2655254"/>
              <a:gd name="connsiteX45" fmla="*/ 7219950 w 9191625"/>
              <a:gd name="connsiteY45" fmla="*/ 952500 h 2655254"/>
              <a:gd name="connsiteX46" fmla="*/ 7381875 w 9191625"/>
              <a:gd name="connsiteY46" fmla="*/ 704850 h 2655254"/>
              <a:gd name="connsiteX47" fmla="*/ 7696200 w 9191625"/>
              <a:gd name="connsiteY47" fmla="*/ 914400 h 2655254"/>
              <a:gd name="connsiteX48" fmla="*/ 7839075 w 9191625"/>
              <a:gd name="connsiteY48" fmla="*/ 428625 h 2655254"/>
              <a:gd name="connsiteX49" fmla="*/ 9191625 w 9191625"/>
              <a:gd name="connsiteY49" fmla="*/ 0 h 2655254"/>
              <a:gd name="connsiteX0" fmla="*/ 0 w 9191625"/>
              <a:gd name="connsiteY0" fmla="*/ 1657350 h 2651314"/>
              <a:gd name="connsiteX1" fmla="*/ 1123950 w 9191625"/>
              <a:gd name="connsiteY1" fmla="*/ 1562100 h 2651314"/>
              <a:gd name="connsiteX2" fmla="*/ 1479550 w 9191625"/>
              <a:gd name="connsiteY2" fmla="*/ 1555750 h 2651314"/>
              <a:gd name="connsiteX3" fmla="*/ 1400175 w 9191625"/>
              <a:gd name="connsiteY3" fmla="*/ 1809750 h 2651314"/>
              <a:gd name="connsiteX4" fmla="*/ 1533525 w 9191625"/>
              <a:gd name="connsiteY4" fmla="*/ 1895475 h 2651314"/>
              <a:gd name="connsiteX5" fmla="*/ 1619250 w 9191625"/>
              <a:gd name="connsiteY5" fmla="*/ 1733550 h 2651314"/>
              <a:gd name="connsiteX6" fmla="*/ 1673225 w 9191625"/>
              <a:gd name="connsiteY6" fmla="*/ 1708150 h 2651314"/>
              <a:gd name="connsiteX7" fmla="*/ 1828800 w 9191625"/>
              <a:gd name="connsiteY7" fmla="*/ 1771650 h 2651314"/>
              <a:gd name="connsiteX8" fmla="*/ 1733550 w 9191625"/>
              <a:gd name="connsiteY8" fmla="*/ 2000250 h 2651314"/>
              <a:gd name="connsiteX9" fmla="*/ 1838325 w 9191625"/>
              <a:gd name="connsiteY9" fmla="*/ 2095500 h 2651314"/>
              <a:gd name="connsiteX10" fmla="*/ 1943100 w 9191625"/>
              <a:gd name="connsiteY10" fmla="*/ 2038350 h 2651314"/>
              <a:gd name="connsiteX11" fmla="*/ 1990725 w 9191625"/>
              <a:gd name="connsiteY11" fmla="*/ 2143125 h 2651314"/>
              <a:gd name="connsiteX12" fmla="*/ 2095500 w 9191625"/>
              <a:gd name="connsiteY12" fmla="*/ 2181225 h 2651314"/>
              <a:gd name="connsiteX13" fmla="*/ 2200275 w 9191625"/>
              <a:gd name="connsiteY13" fmla="*/ 1933575 h 2651314"/>
              <a:gd name="connsiteX14" fmla="*/ 2397125 w 9191625"/>
              <a:gd name="connsiteY14" fmla="*/ 1971675 h 2651314"/>
              <a:gd name="connsiteX15" fmla="*/ 2362200 w 9191625"/>
              <a:gd name="connsiteY15" fmla="*/ 2292350 h 2651314"/>
              <a:gd name="connsiteX16" fmla="*/ 2590800 w 9191625"/>
              <a:gd name="connsiteY16" fmla="*/ 2362200 h 2651314"/>
              <a:gd name="connsiteX17" fmla="*/ 2673350 w 9191625"/>
              <a:gd name="connsiteY17" fmla="*/ 2066925 h 2651314"/>
              <a:gd name="connsiteX18" fmla="*/ 2933700 w 9191625"/>
              <a:gd name="connsiteY18" fmla="*/ 2130425 h 2651314"/>
              <a:gd name="connsiteX19" fmla="*/ 2914650 w 9191625"/>
              <a:gd name="connsiteY19" fmla="*/ 2451100 h 2651314"/>
              <a:gd name="connsiteX20" fmla="*/ 3155950 w 9191625"/>
              <a:gd name="connsiteY20" fmla="*/ 2511425 h 2651314"/>
              <a:gd name="connsiteX21" fmla="*/ 3267075 w 9191625"/>
              <a:gd name="connsiteY21" fmla="*/ 2206625 h 2651314"/>
              <a:gd name="connsiteX22" fmla="*/ 3531394 w 9191625"/>
              <a:gd name="connsiteY22" fmla="*/ 2249487 h 2651314"/>
              <a:gd name="connsiteX23" fmla="*/ 3498850 w 9191625"/>
              <a:gd name="connsiteY23" fmla="*/ 2568575 h 2651314"/>
              <a:gd name="connsiteX24" fmla="*/ 3784600 w 9191625"/>
              <a:gd name="connsiteY24" fmla="*/ 2613025 h 2651314"/>
              <a:gd name="connsiteX25" fmla="*/ 3838575 w 9191625"/>
              <a:gd name="connsiteY25" fmla="*/ 2282825 h 2651314"/>
              <a:gd name="connsiteX26" fmla="*/ 4341019 w 9191625"/>
              <a:gd name="connsiteY26" fmla="*/ 2321719 h 2651314"/>
              <a:gd name="connsiteX27" fmla="*/ 4395787 w 9191625"/>
              <a:gd name="connsiteY27" fmla="*/ 2612231 h 2651314"/>
              <a:gd name="connsiteX28" fmla="*/ 4924425 w 9191625"/>
              <a:gd name="connsiteY28" fmla="*/ 2619375 h 2651314"/>
              <a:gd name="connsiteX29" fmla="*/ 4886325 w 9191625"/>
              <a:gd name="connsiteY29" fmla="*/ 2343150 h 2651314"/>
              <a:gd name="connsiteX30" fmla="*/ 5210175 w 9191625"/>
              <a:gd name="connsiteY30" fmla="*/ 2257425 h 2651314"/>
              <a:gd name="connsiteX31" fmla="*/ 5429250 w 9191625"/>
              <a:gd name="connsiteY31" fmla="*/ 2533650 h 2651314"/>
              <a:gd name="connsiteX32" fmla="*/ 5867400 w 9191625"/>
              <a:gd name="connsiteY32" fmla="*/ 2428875 h 2651314"/>
              <a:gd name="connsiteX33" fmla="*/ 5686425 w 9191625"/>
              <a:gd name="connsiteY33" fmla="*/ 2143125 h 2651314"/>
              <a:gd name="connsiteX34" fmla="*/ 6057900 w 9191625"/>
              <a:gd name="connsiteY34" fmla="*/ 1971675 h 2651314"/>
              <a:gd name="connsiteX35" fmla="*/ 6286500 w 9191625"/>
              <a:gd name="connsiteY35" fmla="*/ 2247900 h 2651314"/>
              <a:gd name="connsiteX36" fmla="*/ 6505575 w 9191625"/>
              <a:gd name="connsiteY36" fmla="*/ 2105025 h 2651314"/>
              <a:gd name="connsiteX37" fmla="*/ 6315075 w 9191625"/>
              <a:gd name="connsiteY37" fmla="*/ 1828800 h 2651314"/>
              <a:gd name="connsiteX38" fmla="*/ 6505575 w 9191625"/>
              <a:gd name="connsiteY38" fmla="*/ 1685925 h 2651314"/>
              <a:gd name="connsiteX39" fmla="*/ 6772275 w 9191625"/>
              <a:gd name="connsiteY39" fmla="*/ 1971675 h 2651314"/>
              <a:gd name="connsiteX40" fmla="*/ 7038975 w 9191625"/>
              <a:gd name="connsiteY40" fmla="*/ 1724025 h 2651314"/>
              <a:gd name="connsiteX41" fmla="*/ 6753225 w 9191625"/>
              <a:gd name="connsiteY41" fmla="*/ 1428750 h 2651314"/>
              <a:gd name="connsiteX42" fmla="*/ 7019925 w 9191625"/>
              <a:gd name="connsiteY42" fmla="*/ 1228725 h 2651314"/>
              <a:gd name="connsiteX43" fmla="*/ 7267575 w 9191625"/>
              <a:gd name="connsiteY43" fmla="*/ 1428750 h 2651314"/>
              <a:gd name="connsiteX44" fmla="*/ 7458075 w 9191625"/>
              <a:gd name="connsiteY44" fmla="*/ 1190625 h 2651314"/>
              <a:gd name="connsiteX45" fmla="*/ 7219950 w 9191625"/>
              <a:gd name="connsiteY45" fmla="*/ 952500 h 2651314"/>
              <a:gd name="connsiteX46" fmla="*/ 7381875 w 9191625"/>
              <a:gd name="connsiteY46" fmla="*/ 704850 h 2651314"/>
              <a:gd name="connsiteX47" fmla="*/ 7696200 w 9191625"/>
              <a:gd name="connsiteY47" fmla="*/ 914400 h 2651314"/>
              <a:gd name="connsiteX48" fmla="*/ 7839075 w 9191625"/>
              <a:gd name="connsiteY48" fmla="*/ 428625 h 2651314"/>
              <a:gd name="connsiteX49" fmla="*/ 9191625 w 9191625"/>
              <a:gd name="connsiteY49" fmla="*/ 0 h 2651314"/>
              <a:gd name="connsiteX0" fmla="*/ 0 w 9191625"/>
              <a:gd name="connsiteY0" fmla="*/ 1657350 h 2645929"/>
              <a:gd name="connsiteX1" fmla="*/ 1123950 w 9191625"/>
              <a:gd name="connsiteY1" fmla="*/ 1562100 h 2645929"/>
              <a:gd name="connsiteX2" fmla="*/ 1479550 w 9191625"/>
              <a:gd name="connsiteY2" fmla="*/ 1555750 h 2645929"/>
              <a:gd name="connsiteX3" fmla="*/ 1400175 w 9191625"/>
              <a:gd name="connsiteY3" fmla="*/ 1809750 h 2645929"/>
              <a:gd name="connsiteX4" fmla="*/ 1533525 w 9191625"/>
              <a:gd name="connsiteY4" fmla="*/ 1895475 h 2645929"/>
              <a:gd name="connsiteX5" fmla="*/ 1619250 w 9191625"/>
              <a:gd name="connsiteY5" fmla="*/ 1733550 h 2645929"/>
              <a:gd name="connsiteX6" fmla="*/ 1673225 w 9191625"/>
              <a:gd name="connsiteY6" fmla="*/ 1708150 h 2645929"/>
              <a:gd name="connsiteX7" fmla="*/ 1828800 w 9191625"/>
              <a:gd name="connsiteY7" fmla="*/ 1771650 h 2645929"/>
              <a:gd name="connsiteX8" fmla="*/ 1733550 w 9191625"/>
              <a:gd name="connsiteY8" fmla="*/ 2000250 h 2645929"/>
              <a:gd name="connsiteX9" fmla="*/ 1838325 w 9191625"/>
              <a:gd name="connsiteY9" fmla="*/ 2095500 h 2645929"/>
              <a:gd name="connsiteX10" fmla="*/ 1943100 w 9191625"/>
              <a:gd name="connsiteY10" fmla="*/ 2038350 h 2645929"/>
              <a:gd name="connsiteX11" fmla="*/ 1990725 w 9191625"/>
              <a:gd name="connsiteY11" fmla="*/ 2143125 h 2645929"/>
              <a:gd name="connsiteX12" fmla="*/ 2095500 w 9191625"/>
              <a:gd name="connsiteY12" fmla="*/ 2181225 h 2645929"/>
              <a:gd name="connsiteX13" fmla="*/ 2200275 w 9191625"/>
              <a:gd name="connsiteY13" fmla="*/ 1933575 h 2645929"/>
              <a:gd name="connsiteX14" fmla="*/ 2397125 w 9191625"/>
              <a:gd name="connsiteY14" fmla="*/ 1971675 h 2645929"/>
              <a:gd name="connsiteX15" fmla="*/ 2362200 w 9191625"/>
              <a:gd name="connsiteY15" fmla="*/ 2292350 h 2645929"/>
              <a:gd name="connsiteX16" fmla="*/ 2590800 w 9191625"/>
              <a:gd name="connsiteY16" fmla="*/ 2362200 h 2645929"/>
              <a:gd name="connsiteX17" fmla="*/ 2673350 w 9191625"/>
              <a:gd name="connsiteY17" fmla="*/ 2066925 h 2645929"/>
              <a:gd name="connsiteX18" fmla="*/ 2933700 w 9191625"/>
              <a:gd name="connsiteY18" fmla="*/ 2130425 h 2645929"/>
              <a:gd name="connsiteX19" fmla="*/ 2914650 w 9191625"/>
              <a:gd name="connsiteY19" fmla="*/ 2451100 h 2645929"/>
              <a:gd name="connsiteX20" fmla="*/ 3155950 w 9191625"/>
              <a:gd name="connsiteY20" fmla="*/ 2511425 h 2645929"/>
              <a:gd name="connsiteX21" fmla="*/ 3267075 w 9191625"/>
              <a:gd name="connsiteY21" fmla="*/ 2206625 h 2645929"/>
              <a:gd name="connsiteX22" fmla="*/ 3531394 w 9191625"/>
              <a:gd name="connsiteY22" fmla="*/ 2249487 h 2645929"/>
              <a:gd name="connsiteX23" fmla="*/ 3498850 w 9191625"/>
              <a:gd name="connsiteY23" fmla="*/ 2568575 h 2645929"/>
              <a:gd name="connsiteX24" fmla="*/ 3784600 w 9191625"/>
              <a:gd name="connsiteY24" fmla="*/ 2613025 h 2645929"/>
              <a:gd name="connsiteX25" fmla="*/ 3838575 w 9191625"/>
              <a:gd name="connsiteY25" fmla="*/ 2282825 h 2645929"/>
              <a:gd name="connsiteX26" fmla="*/ 4341019 w 9191625"/>
              <a:gd name="connsiteY26" fmla="*/ 2321719 h 2645929"/>
              <a:gd name="connsiteX27" fmla="*/ 4395787 w 9191625"/>
              <a:gd name="connsiteY27" fmla="*/ 2612231 h 2645929"/>
              <a:gd name="connsiteX28" fmla="*/ 4781550 w 9191625"/>
              <a:gd name="connsiteY28" fmla="*/ 2609850 h 2645929"/>
              <a:gd name="connsiteX29" fmla="*/ 4886325 w 9191625"/>
              <a:gd name="connsiteY29" fmla="*/ 2343150 h 2645929"/>
              <a:gd name="connsiteX30" fmla="*/ 5210175 w 9191625"/>
              <a:gd name="connsiteY30" fmla="*/ 2257425 h 2645929"/>
              <a:gd name="connsiteX31" fmla="*/ 5429250 w 9191625"/>
              <a:gd name="connsiteY31" fmla="*/ 2533650 h 2645929"/>
              <a:gd name="connsiteX32" fmla="*/ 5867400 w 9191625"/>
              <a:gd name="connsiteY32" fmla="*/ 2428875 h 2645929"/>
              <a:gd name="connsiteX33" fmla="*/ 5686425 w 9191625"/>
              <a:gd name="connsiteY33" fmla="*/ 2143125 h 2645929"/>
              <a:gd name="connsiteX34" fmla="*/ 6057900 w 9191625"/>
              <a:gd name="connsiteY34" fmla="*/ 1971675 h 2645929"/>
              <a:gd name="connsiteX35" fmla="*/ 6286500 w 9191625"/>
              <a:gd name="connsiteY35" fmla="*/ 2247900 h 2645929"/>
              <a:gd name="connsiteX36" fmla="*/ 6505575 w 9191625"/>
              <a:gd name="connsiteY36" fmla="*/ 2105025 h 2645929"/>
              <a:gd name="connsiteX37" fmla="*/ 6315075 w 9191625"/>
              <a:gd name="connsiteY37" fmla="*/ 1828800 h 2645929"/>
              <a:gd name="connsiteX38" fmla="*/ 6505575 w 9191625"/>
              <a:gd name="connsiteY38" fmla="*/ 1685925 h 2645929"/>
              <a:gd name="connsiteX39" fmla="*/ 6772275 w 9191625"/>
              <a:gd name="connsiteY39" fmla="*/ 1971675 h 2645929"/>
              <a:gd name="connsiteX40" fmla="*/ 7038975 w 9191625"/>
              <a:gd name="connsiteY40" fmla="*/ 1724025 h 2645929"/>
              <a:gd name="connsiteX41" fmla="*/ 6753225 w 9191625"/>
              <a:gd name="connsiteY41" fmla="*/ 1428750 h 2645929"/>
              <a:gd name="connsiteX42" fmla="*/ 7019925 w 9191625"/>
              <a:gd name="connsiteY42" fmla="*/ 1228725 h 2645929"/>
              <a:gd name="connsiteX43" fmla="*/ 7267575 w 9191625"/>
              <a:gd name="connsiteY43" fmla="*/ 1428750 h 2645929"/>
              <a:gd name="connsiteX44" fmla="*/ 7458075 w 9191625"/>
              <a:gd name="connsiteY44" fmla="*/ 1190625 h 2645929"/>
              <a:gd name="connsiteX45" fmla="*/ 7219950 w 9191625"/>
              <a:gd name="connsiteY45" fmla="*/ 952500 h 2645929"/>
              <a:gd name="connsiteX46" fmla="*/ 7381875 w 9191625"/>
              <a:gd name="connsiteY46" fmla="*/ 704850 h 2645929"/>
              <a:gd name="connsiteX47" fmla="*/ 7696200 w 9191625"/>
              <a:gd name="connsiteY47" fmla="*/ 914400 h 2645929"/>
              <a:gd name="connsiteX48" fmla="*/ 7839075 w 9191625"/>
              <a:gd name="connsiteY48" fmla="*/ 428625 h 2645929"/>
              <a:gd name="connsiteX49" fmla="*/ 9191625 w 9191625"/>
              <a:gd name="connsiteY49" fmla="*/ 0 h 2645929"/>
              <a:gd name="connsiteX0" fmla="*/ 0 w 9191625"/>
              <a:gd name="connsiteY0" fmla="*/ 1657350 h 2646789"/>
              <a:gd name="connsiteX1" fmla="*/ 1123950 w 9191625"/>
              <a:gd name="connsiteY1" fmla="*/ 1562100 h 2646789"/>
              <a:gd name="connsiteX2" fmla="*/ 1479550 w 9191625"/>
              <a:gd name="connsiteY2" fmla="*/ 1555750 h 2646789"/>
              <a:gd name="connsiteX3" fmla="*/ 1400175 w 9191625"/>
              <a:gd name="connsiteY3" fmla="*/ 1809750 h 2646789"/>
              <a:gd name="connsiteX4" fmla="*/ 1533525 w 9191625"/>
              <a:gd name="connsiteY4" fmla="*/ 1895475 h 2646789"/>
              <a:gd name="connsiteX5" fmla="*/ 1619250 w 9191625"/>
              <a:gd name="connsiteY5" fmla="*/ 1733550 h 2646789"/>
              <a:gd name="connsiteX6" fmla="*/ 1673225 w 9191625"/>
              <a:gd name="connsiteY6" fmla="*/ 1708150 h 2646789"/>
              <a:gd name="connsiteX7" fmla="*/ 1828800 w 9191625"/>
              <a:gd name="connsiteY7" fmla="*/ 1771650 h 2646789"/>
              <a:gd name="connsiteX8" fmla="*/ 1733550 w 9191625"/>
              <a:gd name="connsiteY8" fmla="*/ 2000250 h 2646789"/>
              <a:gd name="connsiteX9" fmla="*/ 1838325 w 9191625"/>
              <a:gd name="connsiteY9" fmla="*/ 2095500 h 2646789"/>
              <a:gd name="connsiteX10" fmla="*/ 1943100 w 9191625"/>
              <a:gd name="connsiteY10" fmla="*/ 2038350 h 2646789"/>
              <a:gd name="connsiteX11" fmla="*/ 1990725 w 9191625"/>
              <a:gd name="connsiteY11" fmla="*/ 2143125 h 2646789"/>
              <a:gd name="connsiteX12" fmla="*/ 2095500 w 9191625"/>
              <a:gd name="connsiteY12" fmla="*/ 2181225 h 2646789"/>
              <a:gd name="connsiteX13" fmla="*/ 2200275 w 9191625"/>
              <a:gd name="connsiteY13" fmla="*/ 1933575 h 2646789"/>
              <a:gd name="connsiteX14" fmla="*/ 2397125 w 9191625"/>
              <a:gd name="connsiteY14" fmla="*/ 1971675 h 2646789"/>
              <a:gd name="connsiteX15" fmla="*/ 2362200 w 9191625"/>
              <a:gd name="connsiteY15" fmla="*/ 2292350 h 2646789"/>
              <a:gd name="connsiteX16" fmla="*/ 2590800 w 9191625"/>
              <a:gd name="connsiteY16" fmla="*/ 2362200 h 2646789"/>
              <a:gd name="connsiteX17" fmla="*/ 2673350 w 9191625"/>
              <a:gd name="connsiteY17" fmla="*/ 2066925 h 2646789"/>
              <a:gd name="connsiteX18" fmla="*/ 2933700 w 9191625"/>
              <a:gd name="connsiteY18" fmla="*/ 2130425 h 2646789"/>
              <a:gd name="connsiteX19" fmla="*/ 2914650 w 9191625"/>
              <a:gd name="connsiteY19" fmla="*/ 2451100 h 2646789"/>
              <a:gd name="connsiteX20" fmla="*/ 3155950 w 9191625"/>
              <a:gd name="connsiteY20" fmla="*/ 2511425 h 2646789"/>
              <a:gd name="connsiteX21" fmla="*/ 3267075 w 9191625"/>
              <a:gd name="connsiteY21" fmla="*/ 2206625 h 2646789"/>
              <a:gd name="connsiteX22" fmla="*/ 3531394 w 9191625"/>
              <a:gd name="connsiteY22" fmla="*/ 2249487 h 2646789"/>
              <a:gd name="connsiteX23" fmla="*/ 3498850 w 9191625"/>
              <a:gd name="connsiteY23" fmla="*/ 2568575 h 2646789"/>
              <a:gd name="connsiteX24" fmla="*/ 3784600 w 9191625"/>
              <a:gd name="connsiteY24" fmla="*/ 2613025 h 2646789"/>
              <a:gd name="connsiteX25" fmla="*/ 3838575 w 9191625"/>
              <a:gd name="connsiteY25" fmla="*/ 2282825 h 2646789"/>
              <a:gd name="connsiteX26" fmla="*/ 4341019 w 9191625"/>
              <a:gd name="connsiteY26" fmla="*/ 2321719 h 2646789"/>
              <a:gd name="connsiteX27" fmla="*/ 4395787 w 9191625"/>
              <a:gd name="connsiteY27" fmla="*/ 2612231 h 2646789"/>
              <a:gd name="connsiteX28" fmla="*/ 4781550 w 9191625"/>
              <a:gd name="connsiteY28" fmla="*/ 2609850 h 2646789"/>
              <a:gd name="connsiteX29" fmla="*/ 4762500 w 9191625"/>
              <a:gd name="connsiteY29" fmla="*/ 2328862 h 2646789"/>
              <a:gd name="connsiteX30" fmla="*/ 5210175 w 9191625"/>
              <a:gd name="connsiteY30" fmla="*/ 2257425 h 2646789"/>
              <a:gd name="connsiteX31" fmla="*/ 5429250 w 9191625"/>
              <a:gd name="connsiteY31" fmla="*/ 2533650 h 2646789"/>
              <a:gd name="connsiteX32" fmla="*/ 5867400 w 9191625"/>
              <a:gd name="connsiteY32" fmla="*/ 2428875 h 2646789"/>
              <a:gd name="connsiteX33" fmla="*/ 5686425 w 9191625"/>
              <a:gd name="connsiteY33" fmla="*/ 2143125 h 2646789"/>
              <a:gd name="connsiteX34" fmla="*/ 6057900 w 9191625"/>
              <a:gd name="connsiteY34" fmla="*/ 1971675 h 2646789"/>
              <a:gd name="connsiteX35" fmla="*/ 6286500 w 9191625"/>
              <a:gd name="connsiteY35" fmla="*/ 2247900 h 2646789"/>
              <a:gd name="connsiteX36" fmla="*/ 6505575 w 9191625"/>
              <a:gd name="connsiteY36" fmla="*/ 2105025 h 2646789"/>
              <a:gd name="connsiteX37" fmla="*/ 6315075 w 9191625"/>
              <a:gd name="connsiteY37" fmla="*/ 1828800 h 2646789"/>
              <a:gd name="connsiteX38" fmla="*/ 6505575 w 9191625"/>
              <a:gd name="connsiteY38" fmla="*/ 1685925 h 2646789"/>
              <a:gd name="connsiteX39" fmla="*/ 6772275 w 9191625"/>
              <a:gd name="connsiteY39" fmla="*/ 1971675 h 2646789"/>
              <a:gd name="connsiteX40" fmla="*/ 7038975 w 9191625"/>
              <a:gd name="connsiteY40" fmla="*/ 1724025 h 2646789"/>
              <a:gd name="connsiteX41" fmla="*/ 6753225 w 9191625"/>
              <a:gd name="connsiteY41" fmla="*/ 1428750 h 2646789"/>
              <a:gd name="connsiteX42" fmla="*/ 7019925 w 9191625"/>
              <a:gd name="connsiteY42" fmla="*/ 1228725 h 2646789"/>
              <a:gd name="connsiteX43" fmla="*/ 7267575 w 9191625"/>
              <a:gd name="connsiteY43" fmla="*/ 1428750 h 2646789"/>
              <a:gd name="connsiteX44" fmla="*/ 7458075 w 9191625"/>
              <a:gd name="connsiteY44" fmla="*/ 1190625 h 2646789"/>
              <a:gd name="connsiteX45" fmla="*/ 7219950 w 9191625"/>
              <a:gd name="connsiteY45" fmla="*/ 952500 h 2646789"/>
              <a:gd name="connsiteX46" fmla="*/ 7381875 w 9191625"/>
              <a:gd name="connsiteY46" fmla="*/ 704850 h 2646789"/>
              <a:gd name="connsiteX47" fmla="*/ 7696200 w 9191625"/>
              <a:gd name="connsiteY47" fmla="*/ 914400 h 2646789"/>
              <a:gd name="connsiteX48" fmla="*/ 7839075 w 9191625"/>
              <a:gd name="connsiteY48" fmla="*/ 428625 h 2646789"/>
              <a:gd name="connsiteX49" fmla="*/ 9191625 w 9191625"/>
              <a:gd name="connsiteY49" fmla="*/ 0 h 264678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210175 w 9191625"/>
              <a:gd name="connsiteY30" fmla="*/ 2257425 h 2647369"/>
              <a:gd name="connsiteX31" fmla="*/ 5429250 w 9191625"/>
              <a:gd name="connsiteY31" fmla="*/ 2533650 h 2647369"/>
              <a:gd name="connsiteX32" fmla="*/ 5867400 w 9191625"/>
              <a:gd name="connsiteY32" fmla="*/ 2428875 h 2647369"/>
              <a:gd name="connsiteX33" fmla="*/ 5686425 w 9191625"/>
              <a:gd name="connsiteY33" fmla="*/ 2143125 h 2647369"/>
              <a:gd name="connsiteX34" fmla="*/ 6057900 w 9191625"/>
              <a:gd name="connsiteY34" fmla="*/ 1971675 h 2647369"/>
              <a:gd name="connsiteX35" fmla="*/ 6286500 w 9191625"/>
              <a:gd name="connsiteY35" fmla="*/ 224790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126832 w 9191625"/>
              <a:gd name="connsiteY30" fmla="*/ 2281237 h 2647369"/>
              <a:gd name="connsiteX31" fmla="*/ 5429250 w 9191625"/>
              <a:gd name="connsiteY31" fmla="*/ 2533650 h 2647369"/>
              <a:gd name="connsiteX32" fmla="*/ 5867400 w 9191625"/>
              <a:gd name="connsiteY32" fmla="*/ 2428875 h 2647369"/>
              <a:gd name="connsiteX33" fmla="*/ 5686425 w 9191625"/>
              <a:gd name="connsiteY33" fmla="*/ 2143125 h 2647369"/>
              <a:gd name="connsiteX34" fmla="*/ 6057900 w 9191625"/>
              <a:gd name="connsiteY34" fmla="*/ 1971675 h 2647369"/>
              <a:gd name="connsiteX35" fmla="*/ 6286500 w 9191625"/>
              <a:gd name="connsiteY35" fmla="*/ 224790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126832 w 9191625"/>
              <a:gd name="connsiteY30" fmla="*/ 2281237 h 2647369"/>
              <a:gd name="connsiteX31" fmla="*/ 5279232 w 9191625"/>
              <a:gd name="connsiteY31" fmla="*/ 2550318 h 2647369"/>
              <a:gd name="connsiteX32" fmla="*/ 5867400 w 9191625"/>
              <a:gd name="connsiteY32" fmla="*/ 2428875 h 2647369"/>
              <a:gd name="connsiteX33" fmla="*/ 5686425 w 9191625"/>
              <a:gd name="connsiteY33" fmla="*/ 2143125 h 2647369"/>
              <a:gd name="connsiteX34" fmla="*/ 6057900 w 9191625"/>
              <a:gd name="connsiteY34" fmla="*/ 1971675 h 2647369"/>
              <a:gd name="connsiteX35" fmla="*/ 6286500 w 9191625"/>
              <a:gd name="connsiteY35" fmla="*/ 224790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126832 w 9191625"/>
              <a:gd name="connsiteY30" fmla="*/ 2281237 h 2647369"/>
              <a:gd name="connsiteX31" fmla="*/ 5279232 w 9191625"/>
              <a:gd name="connsiteY31" fmla="*/ 2550318 h 2647369"/>
              <a:gd name="connsiteX32" fmla="*/ 5676900 w 9191625"/>
              <a:gd name="connsiteY32" fmla="*/ 2459831 h 2647369"/>
              <a:gd name="connsiteX33" fmla="*/ 5686425 w 9191625"/>
              <a:gd name="connsiteY33" fmla="*/ 2143125 h 2647369"/>
              <a:gd name="connsiteX34" fmla="*/ 6057900 w 9191625"/>
              <a:gd name="connsiteY34" fmla="*/ 1971675 h 2647369"/>
              <a:gd name="connsiteX35" fmla="*/ 6286500 w 9191625"/>
              <a:gd name="connsiteY35" fmla="*/ 224790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126832 w 9191625"/>
              <a:gd name="connsiteY30" fmla="*/ 2281237 h 2647369"/>
              <a:gd name="connsiteX31" fmla="*/ 5279232 w 9191625"/>
              <a:gd name="connsiteY31" fmla="*/ 2550318 h 2647369"/>
              <a:gd name="connsiteX32" fmla="*/ 5676900 w 9191625"/>
              <a:gd name="connsiteY32" fmla="*/ 2459831 h 2647369"/>
              <a:gd name="connsiteX33" fmla="*/ 5581650 w 9191625"/>
              <a:gd name="connsiteY33" fmla="*/ 2155031 h 2647369"/>
              <a:gd name="connsiteX34" fmla="*/ 6057900 w 9191625"/>
              <a:gd name="connsiteY34" fmla="*/ 1971675 h 2647369"/>
              <a:gd name="connsiteX35" fmla="*/ 6286500 w 9191625"/>
              <a:gd name="connsiteY35" fmla="*/ 224790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126832 w 9191625"/>
              <a:gd name="connsiteY30" fmla="*/ 2281237 h 2647369"/>
              <a:gd name="connsiteX31" fmla="*/ 5279232 w 9191625"/>
              <a:gd name="connsiteY31" fmla="*/ 2550318 h 2647369"/>
              <a:gd name="connsiteX32" fmla="*/ 5676900 w 9191625"/>
              <a:gd name="connsiteY32" fmla="*/ 2459831 h 2647369"/>
              <a:gd name="connsiteX33" fmla="*/ 5581650 w 9191625"/>
              <a:gd name="connsiteY33" fmla="*/ 2155031 h 2647369"/>
              <a:gd name="connsiteX34" fmla="*/ 5936456 w 9191625"/>
              <a:gd name="connsiteY34" fmla="*/ 1993107 h 2647369"/>
              <a:gd name="connsiteX35" fmla="*/ 6286500 w 9191625"/>
              <a:gd name="connsiteY35" fmla="*/ 224790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43100 w 9191625"/>
              <a:gd name="connsiteY10" fmla="*/ 2038350 h 2647369"/>
              <a:gd name="connsiteX11" fmla="*/ 1990725 w 9191625"/>
              <a:gd name="connsiteY11" fmla="*/ 2143125 h 2647369"/>
              <a:gd name="connsiteX12" fmla="*/ 2095500 w 9191625"/>
              <a:gd name="connsiteY12" fmla="*/ 2181225 h 2647369"/>
              <a:gd name="connsiteX13" fmla="*/ 2200275 w 9191625"/>
              <a:gd name="connsiteY13" fmla="*/ 1933575 h 2647369"/>
              <a:gd name="connsiteX14" fmla="*/ 2397125 w 9191625"/>
              <a:gd name="connsiteY14" fmla="*/ 1971675 h 2647369"/>
              <a:gd name="connsiteX15" fmla="*/ 2362200 w 9191625"/>
              <a:gd name="connsiteY15" fmla="*/ 2292350 h 2647369"/>
              <a:gd name="connsiteX16" fmla="*/ 2590800 w 9191625"/>
              <a:gd name="connsiteY16" fmla="*/ 2362200 h 2647369"/>
              <a:gd name="connsiteX17" fmla="*/ 2673350 w 9191625"/>
              <a:gd name="connsiteY17" fmla="*/ 2066925 h 2647369"/>
              <a:gd name="connsiteX18" fmla="*/ 2933700 w 9191625"/>
              <a:gd name="connsiteY18" fmla="*/ 2130425 h 2647369"/>
              <a:gd name="connsiteX19" fmla="*/ 2914650 w 9191625"/>
              <a:gd name="connsiteY19" fmla="*/ 2451100 h 2647369"/>
              <a:gd name="connsiteX20" fmla="*/ 3155950 w 9191625"/>
              <a:gd name="connsiteY20" fmla="*/ 2511425 h 2647369"/>
              <a:gd name="connsiteX21" fmla="*/ 3267075 w 9191625"/>
              <a:gd name="connsiteY21" fmla="*/ 2206625 h 2647369"/>
              <a:gd name="connsiteX22" fmla="*/ 3531394 w 9191625"/>
              <a:gd name="connsiteY22" fmla="*/ 2249487 h 2647369"/>
              <a:gd name="connsiteX23" fmla="*/ 3498850 w 9191625"/>
              <a:gd name="connsiteY23" fmla="*/ 2568575 h 2647369"/>
              <a:gd name="connsiteX24" fmla="*/ 3784600 w 9191625"/>
              <a:gd name="connsiteY24" fmla="*/ 2613025 h 2647369"/>
              <a:gd name="connsiteX25" fmla="*/ 3838575 w 9191625"/>
              <a:gd name="connsiteY25" fmla="*/ 2282825 h 2647369"/>
              <a:gd name="connsiteX26" fmla="*/ 4341019 w 9191625"/>
              <a:gd name="connsiteY26" fmla="*/ 2321719 h 2647369"/>
              <a:gd name="connsiteX27" fmla="*/ 4395787 w 9191625"/>
              <a:gd name="connsiteY27" fmla="*/ 2612231 h 2647369"/>
              <a:gd name="connsiteX28" fmla="*/ 4781550 w 9191625"/>
              <a:gd name="connsiteY28" fmla="*/ 2609850 h 2647369"/>
              <a:gd name="connsiteX29" fmla="*/ 4805363 w 9191625"/>
              <a:gd name="connsiteY29" fmla="*/ 2319337 h 2647369"/>
              <a:gd name="connsiteX30" fmla="*/ 5126832 w 9191625"/>
              <a:gd name="connsiteY30" fmla="*/ 2281237 h 2647369"/>
              <a:gd name="connsiteX31" fmla="*/ 5279232 w 9191625"/>
              <a:gd name="connsiteY31" fmla="*/ 2550318 h 2647369"/>
              <a:gd name="connsiteX32" fmla="*/ 5676900 w 9191625"/>
              <a:gd name="connsiteY32" fmla="*/ 2459831 h 2647369"/>
              <a:gd name="connsiteX33" fmla="*/ 5581650 w 9191625"/>
              <a:gd name="connsiteY33" fmla="*/ 2155031 h 2647369"/>
              <a:gd name="connsiteX34" fmla="*/ 5936456 w 9191625"/>
              <a:gd name="connsiteY34" fmla="*/ 1993107 h 2647369"/>
              <a:gd name="connsiteX35" fmla="*/ 6148387 w 9191625"/>
              <a:gd name="connsiteY35" fmla="*/ 2266950 h 2647369"/>
              <a:gd name="connsiteX36" fmla="*/ 6505575 w 9191625"/>
              <a:gd name="connsiteY36" fmla="*/ 2105025 h 2647369"/>
              <a:gd name="connsiteX37" fmla="*/ 6315075 w 9191625"/>
              <a:gd name="connsiteY37" fmla="*/ 1828800 h 2647369"/>
              <a:gd name="connsiteX38" fmla="*/ 6505575 w 9191625"/>
              <a:gd name="connsiteY38" fmla="*/ 1685925 h 2647369"/>
              <a:gd name="connsiteX39" fmla="*/ 6772275 w 9191625"/>
              <a:gd name="connsiteY39" fmla="*/ 1971675 h 2647369"/>
              <a:gd name="connsiteX40" fmla="*/ 7038975 w 9191625"/>
              <a:gd name="connsiteY40" fmla="*/ 1724025 h 2647369"/>
              <a:gd name="connsiteX41" fmla="*/ 6753225 w 9191625"/>
              <a:gd name="connsiteY41" fmla="*/ 1428750 h 2647369"/>
              <a:gd name="connsiteX42" fmla="*/ 7019925 w 9191625"/>
              <a:gd name="connsiteY42" fmla="*/ 1228725 h 2647369"/>
              <a:gd name="connsiteX43" fmla="*/ 7267575 w 9191625"/>
              <a:gd name="connsiteY43" fmla="*/ 1428750 h 2647369"/>
              <a:gd name="connsiteX44" fmla="*/ 7458075 w 9191625"/>
              <a:gd name="connsiteY44" fmla="*/ 1190625 h 2647369"/>
              <a:gd name="connsiteX45" fmla="*/ 7219950 w 9191625"/>
              <a:gd name="connsiteY45" fmla="*/ 952500 h 2647369"/>
              <a:gd name="connsiteX46" fmla="*/ 7381875 w 9191625"/>
              <a:gd name="connsiteY46" fmla="*/ 704850 h 2647369"/>
              <a:gd name="connsiteX47" fmla="*/ 7696200 w 9191625"/>
              <a:gd name="connsiteY47" fmla="*/ 914400 h 2647369"/>
              <a:gd name="connsiteX48" fmla="*/ 7839075 w 9191625"/>
              <a:gd name="connsiteY48" fmla="*/ 428625 h 2647369"/>
              <a:gd name="connsiteX49" fmla="*/ 9191625 w 9191625"/>
              <a:gd name="connsiteY49"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673225 w 9191625"/>
              <a:gd name="connsiteY6" fmla="*/ 1708150 h 2647369"/>
              <a:gd name="connsiteX7" fmla="*/ 1828800 w 9191625"/>
              <a:gd name="connsiteY7" fmla="*/ 1771650 h 2647369"/>
              <a:gd name="connsiteX8" fmla="*/ 1733550 w 9191625"/>
              <a:gd name="connsiteY8" fmla="*/ 2000250 h 2647369"/>
              <a:gd name="connsiteX9" fmla="*/ 1838325 w 9191625"/>
              <a:gd name="connsiteY9" fmla="*/ 2095500 h 2647369"/>
              <a:gd name="connsiteX10" fmla="*/ 1990725 w 9191625"/>
              <a:gd name="connsiteY10" fmla="*/ 2143125 h 2647369"/>
              <a:gd name="connsiteX11" fmla="*/ 2095500 w 9191625"/>
              <a:gd name="connsiteY11" fmla="*/ 2181225 h 2647369"/>
              <a:gd name="connsiteX12" fmla="*/ 2200275 w 9191625"/>
              <a:gd name="connsiteY12" fmla="*/ 1933575 h 2647369"/>
              <a:gd name="connsiteX13" fmla="*/ 2397125 w 9191625"/>
              <a:gd name="connsiteY13" fmla="*/ 1971675 h 2647369"/>
              <a:gd name="connsiteX14" fmla="*/ 2362200 w 9191625"/>
              <a:gd name="connsiteY14" fmla="*/ 2292350 h 2647369"/>
              <a:gd name="connsiteX15" fmla="*/ 2590800 w 9191625"/>
              <a:gd name="connsiteY15" fmla="*/ 2362200 h 2647369"/>
              <a:gd name="connsiteX16" fmla="*/ 2673350 w 9191625"/>
              <a:gd name="connsiteY16" fmla="*/ 2066925 h 2647369"/>
              <a:gd name="connsiteX17" fmla="*/ 2933700 w 9191625"/>
              <a:gd name="connsiteY17" fmla="*/ 2130425 h 2647369"/>
              <a:gd name="connsiteX18" fmla="*/ 2914650 w 9191625"/>
              <a:gd name="connsiteY18" fmla="*/ 2451100 h 2647369"/>
              <a:gd name="connsiteX19" fmla="*/ 3155950 w 9191625"/>
              <a:gd name="connsiteY19" fmla="*/ 2511425 h 2647369"/>
              <a:gd name="connsiteX20" fmla="*/ 3267075 w 9191625"/>
              <a:gd name="connsiteY20" fmla="*/ 2206625 h 2647369"/>
              <a:gd name="connsiteX21" fmla="*/ 3531394 w 9191625"/>
              <a:gd name="connsiteY21" fmla="*/ 2249487 h 2647369"/>
              <a:gd name="connsiteX22" fmla="*/ 3498850 w 9191625"/>
              <a:gd name="connsiteY22" fmla="*/ 2568575 h 2647369"/>
              <a:gd name="connsiteX23" fmla="*/ 3784600 w 9191625"/>
              <a:gd name="connsiteY23" fmla="*/ 2613025 h 2647369"/>
              <a:gd name="connsiteX24" fmla="*/ 3838575 w 9191625"/>
              <a:gd name="connsiteY24" fmla="*/ 2282825 h 2647369"/>
              <a:gd name="connsiteX25" fmla="*/ 4341019 w 9191625"/>
              <a:gd name="connsiteY25" fmla="*/ 2321719 h 2647369"/>
              <a:gd name="connsiteX26" fmla="*/ 4395787 w 9191625"/>
              <a:gd name="connsiteY26" fmla="*/ 2612231 h 2647369"/>
              <a:gd name="connsiteX27" fmla="*/ 4781550 w 9191625"/>
              <a:gd name="connsiteY27" fmla="*/ 2609850 h 2647369"/>
              <a:gd name="connsiteX28" fmla="*/ 4805363 w 9191625"/>
              <a:gd name="connsiteY28" fmla="*/ 2319337 h 2647369"/>
              <a:gd name="connsiteX29" fmla="*/ 5126832 w 9191625"/>
              <a:gd name="connsiteY29" fmla="*/ 2281237 h 2647369"/>
              <a:gd name="connsiteX30" fmla="*/ 5279232 w 9191625"/>
              <a:gd name="connsiteY30" fmla="*/ 2550318 h 2647369"/>
              <a:gd name="connsiteX31" fmla="*/ 5676900 w 9191625"/>
              <a:gd name="connsiteY31" fmla="*/ 2459831 h 2647369"/>
              <a:gd name="connsiteX32" fmla="*/ 5581650 w 9191625"/>
              <a:gd name="connsiteY32" fmla="*/ 2155031 h 2647369"/>
              <a:gd name="connsiteX33" fmla="*/ 5936456 w 9191625"/>
              <a:gd name="connsiteY33" fmla="*/ 1993107 h 2647369"/>
              <a:gd name="connsiteX34" fmla="*/ 6148387 w 9191625"/>
              <a:gd name="connsiteY34" fmla="*/ 2266950 h 2647369"/>
              <a:gd name="connsiteX35" fmla="*/ 6505575 w 9191625"/>
              <a:gd name="connsiteY35" fmla="*/ 2105025 h 2647369"/>
              <a:gd name="connsiteX36" fmla="*/ 6315075 w 9191625"/>
              <a:gd name="connsiteY36" fmla="*/ 1828800 h 2647369"/>
              <a:gd name="connsiteX37" fmla="*/ 6505575 w 9191625"/>
              <a:gd name="connsiteY37" fmla="*/ 1685925 h 2647369"/>
              <a:gd name="connsiteX38" fmla="*/ 6772275 w 9191625"/>
              <a:gd name="connsiteY38" fmla="*/ 1971675 h 2647369"/>
              <a:gd name="connsiteX39" fmla="*/ 7038975 w 9191625"/>
              <a:gd name="connsiteY39" fmla="*/ 1724025 h 2647369"/>
              <a:gd name="connsiteX40" fmla="*/ 6753225 w 9191625"/>
              <a:gd name="connsiteY40" fmla="*/ 1428750 h 2647369"/>
              <a:gd name="connsiteX41" fmla="*/ 7019925 w 9191625"/>
              <a:gd name="connsiteY41" fmla="*/ 1228725 h 2647369"/>
              <a:gd name="connsiteX42" fmla="*/ 7267575 w 9191625"/>
              <a:gd name="connsiteY42" fmla="*/ 1428750 h 2647369"/>
              <a:gd name="connsiteX43" fmla="*/ 7458075 w 9191625"/>
              <a:gd name="connsiteY43" fmla="*/ 1190625 h 2647369"/>
              <a:gd name="connsiteX44" fmla="*/ 7219950 w 9191625"/>
              <a:gd name="connsiteY44" fmla="*/ 952500 h 2647369"/>
              <a:gd name="connsiteX45" fmla="*/ 7381875 w 9191625"/>
              <a:gd name="connsiteY45" fmla="*/ 704850 h 2647369"/>
              <a:gd name="connsiteX46" fmla="*/ 7696200 w 9191625"/>
              <a:gd name="connsiteY46" fmla="*/ 914400 h 2647369"/>
              <a:gd name="connsiteX47" fmla="*/ 7839075 w 9191625"/>
              <a:gd name="connsiteY47" fmla="*/ 428625 h 2647369"/>
              <a:gd name="connsiteX48" fmla="*/ 9191625 w 9191625"/>
              <a:gd name="connsiteY48"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828800 w 9191625"/>
              <a:gd name="connsiteY6" fmla="*/ 1771650 h 2647369"/>
              <a:gd name="connsiteX7" fmla="*/ 1733550 w 9191625"/>
              <a:gd name="connsiteY7" fmla="*/ 2000250 h 2647369"/>
              <a:gd name="connsiteX8" fmla="*/ 1838325 w 9191625"/>
              <a:gd name="connsiteY8" fmla="*/ 2095500 h 2647369"/>
              <a:gd name="connsiteX9" fmla="*/ 1990725 w 9191625"/>
              <a:gd name="connsiteY9" fmla="*/ 2143125 h 2647369"/>
              <a:gd name="connsiteX10" fmla="*/ 2095500 w 9191625"/>
              <a:gd name="connsiteY10" fmla="*/ 2181225 h 2647369"/>
              <a:gd name="connsiteX11" fmla="*/ 2200275 w 9191625"/>
              <a:gd name="connsiteY11" fmla="*/ 1933575 h 2647369"/>
              <a:gd name="connsiteX12" fmla="*/ 2397125 w 9191625"/>
              <a:gd name="connsiteY12" fmla="*/ 1971675 h 2647369"/>
              <a:gd name="connsiteX13" fmla="*/ 2362200 w 9191625"/>
              <a:gd name="connsiteY13" fmla="*/ 2292350 h 2647369"/>
              <a:gd name="connsiteX14" fmla="*/ 2590800 w 9191625"/>
              <a:gd name="connsiteY14" fmla="*/ 2362200 h 2647369"/>
              <a:gd name="connsiteX15" fmla="*/ 2673350 w 9191625"/>
              <a:gd name="connsiteY15" fmla="*/ 2066925 h 2647369"/>
              <a:gd name="connsiteX16" fmla="*/ 2933700 w 9191625"/>
              <a:gd name="connsiteY16" fmla="*/ 2130425 h 2647369"/>
              <a:gd name="connsiteX17" fmla="*/ 2914650 w 9191625"/>
              <a:gd name="connsiteY17" fmla="*/ 2451100 h 2647369"/>
              <a:gd name="connsiteX18" fmla="*/ 3155950 w 9191625"/>
              <a:gd name="connsiteY18" fmla="*/ 2511425 h 2647369"/>
              <a:gd name="connsiteX19" fmla="*/ 3267075 w 9191625"/>
              <a:gd name="connsiteY19" fmla="*/ 2206625 h 2647369"/>
              <a:gd name="connsiteX20" fmla="*/ 3531394 w 9191625"/>
              <a:gd name="connsiteY20" fmla="*/ 2249487 h 2647369"/>
              <a:gd name="connsiteX21" fmla="*/ 3498850 w 9191625"/>
              <a:gd name="connsiteY21" fmla="*/ 2568575 h 2647369"/>
              <a:gd name="connsiteX22" fmla="*/ 3784600 w 9191625"/>
              <a:gd name="connsiteY22" fmla="*/ 2613025 h 2647369"/>
              <a:gd name="connsiteX23" fmla="*/ 3838575 w 9191625"/>
              <a:gd name="connsiteY23" fmla="*/ 2282825 h 2647369"/>
              <a:gd name="connsiteX24" fmla="*/ 4341019 w 9191625"/>
              <a:gd name="connsiteY24" fmla="*/ 2321719 h 2647369"/>
              <a:gd name="connsiteX25" fmla="*/ 4395787 w 9191625"/>
              <a:gd name="connsiteY25" fmla="*/ 2612231 h 2647369"/>
              <a:gd name="connsiteX26" fmla="*/ 4781550 w 9191625"/>
              <a:gd name="connsiteY26" fmla="*/ 2609850 h 2647369"/>
              <a:gd name="connsiteX27" fmla="*/ 4805363 w 9191625"/>
              <a:gd name="connsiteY27" fmla="*/ 2319337 h 2647369"/>
              <a:gd name="connsiteX28" fmla="*/ 5126832 w 9191625"/>
              <a:gd name="connsiteY28" fmla="*/ 2281237 h 2647369"/>
              <a:gd name="connsiteX29" fmla="*/ 5279232 w 9191625"/>
              <a:gd name="connsiteY29" fmla="*/ 2550318 h 2647369"/>
              <a:gd name="connsiteX30" fmla="*/ 5676900 w 9191625"/>
              <a:gd name="connsiteY30" fmla="*/ 2459831 h 2647369"/>
              <a:gd name="connsiteX31" fmla="*/ 5581650 w 9191625"/>
              <a:gd name="connsiteY31" fmla="*/ 2155031 h 2647369"/>
              <a:gd name="connsiteX32" fmla="*/ 5936456 w 9191625"/>
              <a:gd name="connsiteY32" fmla="*/ 1993107 h 2647369"/>
              <a:gd name="connsiteX33" fmla="*/ 6148387 w 9191625"/>
              <a:gd name="connsiteY33" fmla="*/ 2266950 h 2647369"/>
              <a:gd name="connsiteX34" fmla="*/ 6505575 w 9191625"/>
              <a:gd name="connsiteY34" fmla="*/ 2105025 h 2647369"/>
              <a:gd name="connsiteX35" fmla="*/ 6315075 w 9191625"/>
              <a:gd name="connsiteY35" fmla="*/ 1828800 h 2647369"/>
              <a:gd name="connsiteX36" fmla="*/ 6505575 w 9191625"/>
              <a:gd name="connsiteY36" fmla="*/ 1685925 h 2647369"/>
              <a:gd name="connsiteX37" fmla="*/ 6772275 w 9191625"/>
              <a:gd name="connsiteY37" fmla="*/ 1971675 h 2647369"/>
              <a:gd name="connsiteX38" fmla="*/ 7038975 w 9191625"/>
              <a:gd name="connsiteY38" fmla="*/ 1724025 h 2647369"/>
              <a:gd name="connsiteX39" fmla="*/ 6753225 w 9191625"/>
              <a:gd name="connsiteY39" fmla="*/ 1428750 h 2647369"/>
              <a:gd name="connsiteX40" fmla="*/ 7019925 w 9191625"/>
              <a:gd name="connsiteY40" fmla="*/ 1228725 h 2647369"/>
              <a:gd name="connsiteX41" fmla="*/ 7267575 w 9191625"/>
              <a:gd name="connsiteY41" fmla="*/ 1428750 h 2647369"/>
              <a:gd name="connsiteX42" fmla="*/ 7458075 w 9191625"/>
              <a:gd name="connsiteY42" fmla="*/ 1190625 h 2647369"/>
              <a:gd name="connsiteX43" fmla="*/ 7219950 w 9191625"/>
              <a:gd name="connsiteY43" fmla="*/ 952500 h 2647369"/>
              <a:gd name="connsiteX44" fmla="*/ 7381875 w 9191625"/>
              <a:gd name="connsiteY44" fmla="*/ 704850 h 2647369"/>
              <a:gd name="connsiteX45" fmla="*/ 7696200 w 9191625"/>
              <a:gd name="connsiteY45" fmla="*/ 914400 h 2647369"/>
              <a:gd name="connsiteX46" fmla="*/ 7839075 w 9191625"/>
              <a:gd name="connsiteY46" fmla="*/ 428625 h 2647369"/>
              <a:gd name="connsiteX47" fmla="*/ 9191625 w 9191625"/>
              <a:gd name="connsiteY47"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828800 w 9191625"/>
              <a:gd name="connsiteY6" fmla="*/ 1771650 h 2647369"/>
              <a:gd name="connsiteX7" fmla="*/ 1733550 w 9191625"/>
              <a:gd name="connsiteY7" fmla="*/ 2000250 h 2647369"/>
              <a:gd name="connsiteX8" fmla="*/ 1990725 w 9191625"/>
              <a:gd name="connsiteY8" fmla="*/ 2143125 h 2647369"/>
              <a:gd name="connsiteX9" fmla="*/ 2095500 w 9191625"/>
              <a:gd name="connsiteY9" fmla="*/ 2181225 h 2647369"/>
              <a:gd name="connsiteX10" fmla="*/ 2200275 w 9191625"/>
              <a:gd name="connsiteY10" fmla="*/ 1933575 h 2647369"/>
              <a:gd name="connsiteX11" fmla="*/ 2397125 w 9191625"/>
              <a:gd name="connsiteY11" fmla="*/ 1971675 h 2647369"/>
              <a:gd name="connsiteX12" fmla="*/ 2362200 w 9191625"/>
              <a:gd name="connsiteY12" fmla="*/ 2292350 h 2647369"/>
              <a:gd name="connsiteX13" fmla="*/ 2590800 w 9191625"/>
              <a:gd name="connsiteY13" fmla="*/ 2362200 h 2647369"/>
              <a:gd name="connsiteX14" fmla="*/ 2673350 w 9191625"/>
              <a:gd name="connsiteY14" fmla="*/ 2066925 h 2647369"/>
              <a:gd name="connsiteX15" fmla="*/ 2933700 w 9191625"/>
              <a:gd name="connsiteY15" fmla="*/ 2130425 h 2647369"/>
              <a:gd name="connsiteX16" fmla="*/ 2914650 w 9191625"/>
              <a:gd name="connsiteY16" fmla="*/ 2451100 h 2647369"/>
              <a:gd name="connsiteX17" fmla="*/ 3155950 w 9191625"/>
              <a:gd name="connsiteY17" fmla="*/ 2511425 h 2647369"/>
              <a:gd name="connsiteX18" fmla="*/ 3267075 w 9191625"/>
              <a:gd name="connsiteY18" fmla="*/ 2206625 h 2647369"/>
              <a:gd name="connsiteX19" fmla="*/ 3531394 w 9191625"/>
              <a:gd name="connsiteY19" fmla="*/ 2249487 h 2647369"/>
              <a:gd name="connsiteX20" fmla="*/ 3498850 w 9191625"/>
              <a:gd name="connsiteY20" fmla="*/ 2568575 h 2647369"/>
              <a:gd name="connsiteX21" fmla="*/ 3784600 w 9191625"/>
              <a:gd name="connsiteY21" fmla="*/ 2613025 h 2647369"/>
              <a:gd name="connsiteX22" fmla="*/ 3838575 w 9191625"/>
              <a:gd name="connsiteY22" fmla="*/ 2282825 h 2647369"/>
              <a:gd name="connsiteX23" fmla="*/ 4341019 w 9191625"/>
              <a:gd name="connsiteY23" fmla="*/ 2321719 h 2647369"/>
              <a:gd name="connsiteX24" fmla="*/ 4395787 w 9191625"/>
              <a:gd name="connsiteY24" fmla="*/ 2612231 h 2647369"/>
              <a:gd name="connsiteX25" fmla="*/ 4781550 w 9191625"/>
              <a:gd name="connsiteY25" fmla="*/ 2609850 h 2647369"/>
              <a:gd name="connsiteX26" fmla="*/ 4805363 w 9191625"/>
              <a:gd name="connsiteY26" fmla="*/ 2319337 h 2647369"/>
              <a:gd name="connsiteX27" fmla="*/ 5126832 w 9191625"/>
              <a:gd name="connsiteY27" fmla="*/ 2281237 h 2647369"/>
              <a:gd name="connsiteX28" fmla="*/ 5279232 w 9191625"/>
              <a:gd name="connsiteY28" fmla="*/ 2550318 h 2647369"/>
              <a:gd name="connsiteX29" fmla="*/ 5676900 w 9191625"/>
              <a:gd name="connsiteY29" fmla="*/ 2459831 h 2647369"/>
              <a:gd name="connsiteX30" fmla="*/ 5581650 w 9191625"/>
              <a:gd name="connsiteY30" fmla="*/ 2155031 h 2647369"/>
              <a:gd name="connsiteX31" fmla="*/ 5936456 w 9191625"/>
              <a:gd name="connsiteY31" fmla="*/ 1993107 h 2647369"/>
              <a:gd name="connsiteX32" fmla="*/ 6148387 w 9191625"/>
              <a:gd name="connsiteY32" fmla="*/ 2266950 h 2647369"/>
              <a:gd name="connsiteX33" fmla="*/ 6505575 w 9191625"/>
              <a:gd name="connsiteY33" fmla="*/ 2105025 h 2647369"/>
              <a:gd name="connsiteX34" fmla="*/ 6315075 w 9191625"/>
              <a:gd name="connsiteY34" fmla="*/ 1828800 h 2647369"/>
              <a:gd name="connsiteX35" fmla="*/ 6505575 w 9191625"/>
              <a:gd name="connsiteY35" fmla="*/ 1685925 h 2647369"/>
              <a:gd name="connsiteX36" fmla="*/ 6772275 w 9191625"/>
              <a:gd name="connsiteY36" fmla="*/ 1971675 h 2647369"/>
              <a:gd name="connsiteX37" fmla="*/ 7038975 w 9191625"/>
              <a:gd name="connsiteY37" fmla="*/ 1724025 h 2647369"/>
              <a:gd name="connsiteX38" fmla="*/ 6753225 w 9191625"/>
              <a:gd name="connsiteY38" fmla="*/ 1428750 h 2647369"/>
              <a:gd name="connsiteX39" fmla="*/ 7019925 w 9191625"/>
              <a:gd name="connsiteY39" fmla="*/ 1228725 h 2647369"/>
              <a:gd name="connsiteX40" fmla="*/ 7267575 w 9191625"/>
              <a:gd name="connsiteY40" fmla="*/ 1428750 h 2647369"/>
              <a:gd name="connsiteX41" fmla="*/ 7458075 w 9191625"/>
              <a:gd name="connsiteY41" fmla="*/ 1190625 h 2647369"/>
              <a:gd name="connsiteX42" fmla="*/ 7219950 w 9191625"/>
              <a:gd name="connsiteY42" fmla="*/ 952500 h 2647369"/>
              <a:gd name="connsiteX43" fmla="*/ 7381875 w 9191625"/>
              <a:gd name="connsiteY43" fmla="*/ 704850 h 2647369"/>
              <a:gd name="connsiteX44" fmla="*/ 7696200 w 9191625"/>
              <a:gd name="connsiteY44" fmla="*/ 914400 h 2647369"/>
              <a:gd name="connsiteX45" fmla="*/ 7839075 w 9191625"/>
              <a:gd name="connsiteY45" fmla="*/ 428625 h 2647369"/>
              <a:gd name="connsiteX46" fmla="*/ 9191625 w 9191625"/>
              <a:gd name="connsiteY46"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828800 w 9191625"/>
              <a:gd name="connsiteY6" fmla="*/ 1771650 h 2647369"/>
              <a:gd name="connsiteX7" fmla="*/ 1733550 w 9191625"/>
              <a:gd name="connsiteY7" fmla="*/ 2000250 h 2647369"/>
              <a:gd name="connsiteX8" fmla="*/ 2095500 w 9191625"/>
              <a:gd name="connsiteY8" fmla="*/ 2181225 h 2647369"/>
              <a:gd name="connsiteX9" fmla="*/ 2200275 w 9191625"/>
              <a:gd name="connsiteY9" fmla="*/ 1933575 h 2647369"/>
              <a:gd name="connsiteX10" fmla="*/ 2397125 w 9191625"/>
              <a:gd name="connsiteY10" fmla="*/ 1971675 h 2647369"/>
              <a:gd name="connsiteX11" fmla="*/ 2362200 w 9191625"/>
              <a:gd name="connsiteY11" fmla="*/ 2292350 h 2647369"/>
              <a:gd name="connsiteX12" fmla="*/ 2590800 w 9191625"/>
              <a:gd name="connsiteY12" fmla="*/ 2362200 h 2647369"/>
              <a:gd name="connsiteX13" fmla="*/ 2673350 w 9191625"/>
              <a:gd name="connsiteY13" fmla="*/ 2066925 h 2647369"/>
              <a:gd name="connsiteX14" fmla="*/ 2933700 w 9191625"/>
              <a:gd name="connsiteY14" fmla="*/ 2130425 h 2647369"/>
              <a:gd name="connsiteX15" fmla="*/ 2914650 w 9191625"/>
              <a:gd name="connsiteY15" fmla="*/ 2451100 h 2647369"/>
              <a:gd name="connsiteX16" fmla="*/ 3155950 w 9191625"/>
              <a:gd name="connsiteY16" fmla="*/ 2511425 h 2647369"/>
              <a:gd name="connsiteX17" fmla="*/ 3267075 w 9191625"/>
              <a:gd name="connsiteY17" fmla="*/ 2206625 h 2647369"/>
              <a:gd name="connsiteX18" fmla="*/ 3531394 w 9191625"/>
              <a:gd name="connsiteY18" fmla="*/ 2249487 h 2647369"/>
              <a:gd name="connsiteX19" fmla="*/ 3498850 w 9191625"/>
              <a:gd name="connsiteY19" fmla="*/ 2568575 h 2647369"/>
              <a:gd name="connsiteX20" fmla="*/ 3784600 w 9191625"/>
              <a:gd name="connsiteY20" fmla="*/ 2613025 h 2647369"/>
              <a:gd name="connsiteX21" fmla="*/ 3838575 w 9191625"/>
              <a:gd name="connsiteY21" fmla="*/ 2282825 h 2647369"/>
              <a:gd name="connsiteX22" fmla="*/ 4341019 w 9191625"/>
              <a:gd name="connsiteY22" fmla="*/ 2321719 h 2647369"/>
              <a:gd name="connsiteX23" fmla="*/ 4395787 w 9191625"/>
              <a:gd name="connsiteY23" fmla="*/ 2612231 h 2647369"/>
              <a:gd name="connsiteX24" fmla="*/ 4781550 w 9191625"/>
              <a:gd name="connsiteY24" fmla="*/ 2609850 h 2647369"/>
              <a:gd name="connsiteX25" fmla="*/ 4805363 w 9191625"/>
              <a:gd name="connsiteY25" fmla="*/ 2319337 h 2647369"/>
              <a:gd name="connsiteX26" fmla="*/ 5126832 w 9191625"/>
              <a:gd name="connsiteY26" fmla="*/ 2281237 h 2647369"/>
              <a:gd name="connsiteX27" fmla="*/ 5279232 w 9191625"/>
              <a:gd name="connsiteY27" fmla="*/ 2550318 h 2647369"/>
              <a:gd name="connsiteX28" fmla="*/ 5676900 w 9191625"/>
              <a:gd name="connsiteY28" fmla="*/ 2459831 h 2647369"/>
              <a:gd name="connsiteX29" fmla="*/ 5581650 w 9191625"/>
              <a:gd name="connsiteY29" fmla="*/ 2155031 h 2647369"/>
              <a:gd name="connsiteX30" fmla="*/ 5936456 w 9191625"/>
              <a:gd name="connsiteY30" fmla="*/ 1993107 h 2647369"/>
              <a:gd name="connsiteX31" fmla="*/ 6148387 w 9191625"/>
              <a:gd name="connsiteY31" fmla="*/ 2266950 h 2647369"/>
              <a:gd name="connsiteX32" fmla="*/ 6505575 w 9191625"/>
              <a:gd name="connsiteY32" fmla="*/ 2105025 h 2647369"/>
              <a:gd name="connsiteX33" fmla="*/ 6315075 w 9191625"/>
              <a:gd name="connsiteY33" fmla="*/ 1828800 h 2647369"/>
              <a:gd name="connsiteX34" fmla="*/ 6505575 w 9191625"/>
              <a:gd name="connsiteY34" fmla="*/ 1685925 h 2647369"/>
              <a:gd name="connsiteX35" fmla="*/ 6772275 w 9191625"/>
              <a:gd name="connsiteY35" fmla="*/ 1971675 h 2647369"/>
              <a:gd name="connsiteX36" fmla="*/ 7038975 w 9191625"/>
              <a:gd name="connsiteY36" fmla="*/ 1724025 h 2647369"/>
              <a:gd name="connsiteX37" fmla="*/ 6753225 w 9191625"/>
              <a:gd name="connsiteY37" fmla="*/ 1428750 h 2647369"/>
              <a:gd name="connsiteX38" fmla="*/ 7019925 w 9191625"/>
              <a:gd name="connsiteY38" fmla="*/ 1228725 h 2647369"/>
              <a:gd name="connsiteX39" fmla="*/ 7267575 w 9191625"/>
              <a:gd name="connsiteY39" fmla="*/ 1428750 h 2647369"/>
              <a:gd name="connsiteX40" fmla="*/ 7458075 w 9191625"/>
              <a:gd name="connsiteY40" fmla="*/ 1190625 h 2647369"/>
              <a:gd name="connsiteX41" fmla="*/ 7219950 w 9191625"/>
              <a:gd name="connsiteY41" fmla="*/ 952500 h 2647369"/>
              <a:gd name="connsiteX42" fmla="*/ 7381875 w 9191625"/>
              <a:gd name="connsiteY42" fmla="*/ 704850 h 2647369"/>
              <a:gd name="connsiteX43" fmla="*/ 7696200 w 9191625"/>
              <a:gd name="connsiteY43" fmla="*/ 914400 h 2647369"/>
              <a:gd name="connsiteX44" fmla="*/ 7839075 w 9191625"/>
              <a:gd name="connsiteY44" fmla="*/ 428625 h 2647369"/>
              <a:gd name="connsiteX45" fmla="*/ 9191625 w 9191625"/>
              <a:gd name="connsiteY45"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619250 w 9191625"/>
              <a:gd name="connsiteY5" fmla="*/ 1733550 h 2647369"/>
              <a:gd name="connsiteX6" fmla="*/ 1924050 w 9191625"/>
              <a:gd name="connsiteY6" fmla="*/ 1802607 h 2647369"/>
              <a:gd name="connsiteX7" fmla="*/ 1733550 w 9191625"/>
              <a:gd name="connsiteY7" fmla="*/ 2000250 h 2647369"/>
              <a:gd name="connsiteX8" fmla="*/ 2095500 w 9191625"/>
              <a:gd name="connsiteY8" fmla="*/ 2181225 h 2647369"/>
              <a:gd name="connsiteX9" fmla="*/ 2200275 w 9191625"/>
              <a:gd name="connsiteY9" fmla="*/ 1933575 h 2647369"/>
              <a:gd name="connsiteX10" fmla="*/ 2397125 w 9191625"/>
              <a:gd name="connsiteY10" fmla="*/ 1971675 h 2647369"/>
              <a:gd name="connsiteX11" fmla="*/ 2362200 w 9191625"/>
              <a:gd name="connsiteY11" fmla="*/ 2292350 h 2647369"/>
              <a:gd name="connsiteX12" fmla="*/ 2590800 w 9191625"/>
              <a:gd name="connsiteY12" fmla="*/ 2362200 h 2647369"/>
              <a:gd name="connsiteX13" fmla="*/ 2673350 w 9191625"/>
              <a:gd name="connsiteY13" fmla="*/ 2066925 h 2647369"/>
              <a:gd name="connsiteX14" fmla="*/ 2933700 w 9191625"/>
              <a:gd name="connsiteY14" fmla="*/ 2130425 h 2647369"/>
              <a:gd name="connsiteX15" fmla="*/ 2914650 w 9191625"/>
              <a:gd name="connsiteY15" fmla="*/ 2451100 h 2647369"/>
              <a:gd name="connsiteX16" fmla="*/ 3155950 w 9191625"/>
              <a:gd name="connsiteY16" fmla="*/ 2511425 h 2647369"/>
              <a:gd name="connsiteX17" fmla="*/ 3267075 w 9191625"/>
              <a:gd name="connsiteY17" fmla="*/ 2206625 h 2647369"/>
              <a:gd name="connsiteX18" fmla="*/ 3531394 w 9191625"/>
              <a:gd name="connsiteY18" fmla="*/ 2249487 h 2647369"/>
              <a:gd name="connsiteX19" fmla="*/ 3498850 w 9191625"/>
              <a:gd name="connsiteY19" fmla="*/ 2568575 h 2647369"/>
              <a:gd name="connsiteX20" fmla="*/ 3784600 w 9191625"/>
              <a:gd name="connsiteY20" fmla="*/ 2613025 h 2647369"/>
              <a:gd name="connsiteX21" fmla="*/ 3838575 w 9191625"/>
              <a:gd name="connsiteY21" fmla="*/ 2282825 h 2647369"/>
              <a:gd name="connsiteX22" fmla="*/ 4341019 w 9191625"/>
              <a:gd name="connsiteY22" fmla="*/ 2321719 h 2647369"/>
              <a:gd name="connsiteX23" fmla="*/ 4395787 w 9191625"/>
              <a:gd name="connsiteY23" fmla="*/ 2612231 h 2647369"/>
              <a:gd name="connsiteX24" fmla="*/ 4781550 w 9191625"/>
              <a:gd name="connsiteY24" fmla="*/ 2609850 h 2647369"/>
              <a:gd name="connsiteX25" fmla="*/ 4805363 w 9191625"/>
              <a:gd name="connsiteY25" fmla="*/ 2319337 h 2647369"/>
              <a:gd name="connsiteX26" fmla="*/ 5126832 w 9191625"/>
              <a:gd name="connsiteY26" fmla="*/ 2281237 h 2647369"/>
              <a:gd name="connsiteX27" fmla="*/ 5279232 w 9191625"/>
              <a:gd name="connsiteY27" fmla="*/ 2550318 h 2647369"/>
              <a:gd name="connsiteX28" fmla="*/ 5676900 w 9191625"/>
              <a:gd name="connsiteY28" fmla="*/ 2459831 h 2647369"/>
              <a:gd name="connsiteX29" fmla="*/ 5581650 w 9191625"/>
              <a:gd name="connsiteY29" fmla="*/ 2155031 h 2647369"/>
              <a:gd name="connsiteX30" fmla="*/ 5936456 w 9191625"/>
              <a:gd name="connsiteY30" fmla="*/ 1993107 h 2647369"/>
              <a:gd name="connsiteX31" fmla="*/ 6148387 w 9191625"/>
              <a:gd name="connsiteY31" fmla="*/ 2266950 h 2647369"/>
              <a:gd name="connsiteX32" fmla="*/ 6505575 w 9191625"/>
              <a:gd name="connsiteY32" fmla="*/ 2105025 h 2647369"/>
              <a:gd name="connsiteX33" fmla="*/ 6315075 w 9191625"/>
              <a:gd name="connsiteY33" fmla="*/ 1828800 h 2647369"/>
              <a:gd name="connsiteX34" fmla="*/ 6505575 w 9191625"/>
              <a:gd name="connsiteY34" fmla="*/ 1685925 h 2647369"/>
              <a:gd name="connsiteX35" fmla="*/ 6772275 w 9191625"/>
              <a:gd name="connsiteY35" fmla="*/ 1971675 h 2647369"/>
              <a:gd name="connsiteX36" fmla="*/ 7038975 w 9191625"/>
              <a:gd name="connsiteY36" fmla="*/ 1724025 h 2647369"/>
              <a:gd name="connsiteX37" fmla="*/ 6753225 w 9191625"/>
              <a:gd name="connsiteY37" fmla="*/ 1428750 h 2647369"/>
              <a:gd name="connsiteX38" fmla="*/ 7019925 w 9191625"/>
              <a:gd name="connsiteY38" fmla="*/ 1228725 h 2647369"/>
              <a:gd name="connsiteX39" fmla="*/ 7267575 w 9191625"/>
              <a:gd name="connsiteY39" fmla="*/ 1428750 h 2647369"/>
              <a:gd name="connsiteX40" fmla="*/ 7458075 w 9191625"/>
              <a:gd name="connsiteY40" fmla="*/ 1190625 h 2647369"/>
              <a:gd name="connsiteX41" fmla="*/ 7219950 w 9191625"/>
              <a:gd name="connsiteY41" fmla="*/ 952500 h 2647369"/>
              <a:gd name="connsiteX42" fmla="*/ 7381875 w 9191625"/>
              <a:gd name="connsiteY42" fmla="*/ 704850 h 2647369"/>
              <a:gd name="connsiteX43" fmla="*/ 7696200 w 9191625"/>
              <a:gd name="connsiteY43" fmla="*/ 914400 h 2647369"/>
              <a:gd name="connsiteX44" fmla="*/ 7839075 w 9191625"/>
              <a:gd name="connsiteY44" fmla="*/ 428625 h 2647369"/>
              <a:gd name="connsiteX45" fmla="*/ 9191625 w 9191625"/>
              <a:gd name="connsiteY45"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714500 w 9191625"/>
              <a:gd name="connsiteY5" fmla="*/ 1697831 h 2647369"/>
              <a:gd name="connsiteX6" fmla="*/ 1924050 w 9191625"/>
              <a:gd name="connsiteY6" fmla="*/ 1802607 h 2647369"/>
              <a:gd name="connsiteX7" fmla="*/ 1733550 w 9191625"/>
              <a:gd name="connsiteY7" fmla="*/ 2000250 h 2647369"/>
              <a:gd name="connsiteX8" fmla="*/ 2095500 w 9191625"/>
              <a:gd name="connsiteY8" fmla="*/ 2181225 h 2647369"/>
              <a:gd name="connsiteX9" fmla="*/ 2200275 w 9191625"/>
              <a:gd name="connsiteY9" fmla="*/ 1933575 h 2647369"/>
              <a:gd name="connsiteX10" fmla="*/ 2397125 w 9191625"/>
              <a:gd name="connsiteY10" fmla="*/ 1971675 h 2647369"/>
              <a:gd name="connsiteX11" fmla="*/ 2362200 w 9191625"/>
              <a:gd name="connsiteY11" fmla="*/ 2292350 h 2647369"/>
              <a:gd name="connsiteX12" fmla="*/ 2590800 w 9191625"/>
              <a:gd name="connsiteY12" fmla="*/ 2362200 h 2647369"/>
              <a:gd name="connsiteX13" fmla="*/ 2673350 w 9191625"/>
              <a:gd name="connsiteY13" fmla="*/ 2066925 h 2647369"/>
              <a:gd name="connsiteX14" fmla="*/ 2933700 w 9191625"/>
              <a:gd name="connsiteY14" fmla="*/ 2130425 h 2647369"/>
              <a:gd name="connsiteX15" fmla="*/ 2914650 w 9191625"/>
              <a:gd name="connsiteY15" fmla="*/ 2451100 h 2647369"/>
              <a:gd name="connsiteX16" fmla="*/ 3155950 w 9191625"/>
              <a:gd name="connsiteY16" fmla="*/ 2511425 h 2647369"/>
              <a:gd name="connsiteX17" fmla="*/ 3267075 w 9191625"/>
              <a:gd name="connsiteY17" fmla="*/ 2206625 h 2647369"/>
              <a:gd name="connsiteX18" fmla="*/ 3531394 w 9191625"/>
              <a:gd name="connsiteY18" fmla="*/ 2249487 h 2647369"/>
              <a:gd name="connsiteX19" fmla="*/ 3498850 w 9191625"/>
              <a:gd name="connsiteY19" fmla="*/ 2568575 h 2647369"/>
              <a:gd name="connsiteX20" fmla="*/ 3784600 w 9191625"/>
              <a:gd name="connsiteY20" fmla="*/ 2613025 h 2647369"/>
              <a:gd name="connsiteX21" fmla="*/ 3838575 w 9191625"/>
              <a:gd name="connsiteY21" fmla="*/ 2282825 h 2647369"/>
              <a:gd name="connsiteX22" fmla="*/ 4341019 w 9191625"/>
              <a:gd name="connsiteY22" fmla="*/ 2321719 h 2647369"/>
              <a:gd name="connsiteX23" fmla="*/ 4395787 w 9191625"/>
              <a:gd name="connsiteY23" fmla="*/ 2612231 h 2647369"/>
              <a:gd name="connsiteX24" fmla="*/ 4781550 w 9191625"/>
              <a:gd name="connsiteY24" fmla="*/ 2609850 h 2647369"/>
              <a:gd name="connsiteX25" fmla="*/ 4805363 w 9191625"/>
              <a:gd name="connsiteY25" fmla="*/ 2319337 h 2647369"/>
              <a:gd name="connsiteX26" fmla="*/ 5126832 w 9191625"/>
              <a:gd name="connsiteY26" fmla="*/ 2281237 h 2647369"/>
              <a:gd name="connsiteX27" fmla="*/ 5279232 w 9191625"/>
              <a:gd name="connsiteY27" fmla="*/ 2550318 h 2647369"/>
              <a:gd name="connsiteX28" fmla="*/ 5676900 w 9191625"/>
              <a:gd name="connsiteY28" fmla="*/ 2459831 h 2647369"/>
              <a:gd name="connsiteX29" fmla="*/ 5581650 w 9191625"/>
              <a:gd name="connsiteY29" fmla="*/ 2155031 h 2647369"/>
              <a:gd name="connsiteX30" fmla="*/ 5936456 w 9191625"/>
              <a:gd name="connsiteY30" fmla="*/ 1993107 h 2647369"/>
              <a:gd name="connsiteX31" fmla="*/ 6148387 w 9191625"/>
              <a:gd name="connsiteY31" fmla="*/ 2266950 h 2647369"/>
              <a:gd name="connsiteX32" fmla="*/ 6505575 w 9191625"/>
              <a:gd name="connsiteY32" fmla="*/ 2105025 h 2647369"/>
              <a:gd name="connsiteX33" fmla="*/ 6315075 w 9191625"/>
              <a:gd name="connsiteY33" fmla="*/ 1828800 h 2647369"/>
              <a:gd name="connsiteX34" fmla="*/ 6505575 w 9191625"/>
              <a:gd name="connsiteY34" fmla="*/ 1685925 h 2647369"/>
              <a:gd name="connsiteX35" fmla="*/ 6772275 w 9191625"/>
              <a:gd name="connsiteY35" fmla="*/ 1971675 h 2647369"/>
              <a:gd name="connsiteX36" fmla="*/ 7038975 w 9191625"/>
              <a:gd name="connsiteY36" fmla="*/ 1724025 h 2647369"/>
              <a:gd name="connsiteX37" fmla="*/ 6753225 w 9191625"/>
              <a:gd name="connsiteY37" fmla="*/ 1428750 h 2647369"/>
              <a:gd name="connsiteX38" fmla="*/ 7019925 w 9191625"/>
              <a:gd name="connsiteY38" fmla="*/ 1228725 h 2647369"/>
              <a:gd name="connsiteX39" fmla="*/ 7267575 w 9191625"/>
              <a:gd name="connsiteY39" fmla="*/ 1428750 h 2647369"/>
              <a:gd name="connsiteX40" fmla="*/ 7458075 w 9191625"/>
              <a:gd name="connsiteY40" fmla="*/ 1190625 h 2647369"/>
              <a:gd name="connsiteX41" fmla="*/ 7219950 w 9191625"/>
              <a:gd name="connsiteY41" fmla="*/ 952500 h 2647369"/>
              <a:gd name="connsiteX42" fmla="*/ 7381875 w 9191625"/>
              <a:gd name="connsiteY42" fmla="*/ 704850 h 2647369"/>
              <a:gd name="connsiteX43" fmla="*/ 7696200 w 9191625"/>
              <a:gd name="connsiteY43" fmla="*/ 914400 h 2647369"/>
              <a:gd name="connsiteX44" fmla="*/ 7839075 w 9191625"/>
              <a:gd name="connsiteY44" fmla="*/ 428625 h 2647369"/>
              <a:gd name="connsiteX45" fmla="*/ 9191625 w 9191625"/>
              <a:gd name="connsiteY45"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714500 w 9191625"/>
              <a:gd name="connsiteY5" fmla="*/ 1697831 h 2647369"/>
              <a:gd name="connsiteX6" fmla="*/ 1924050 w 9191625"/>
              <a:gd name="connsiteY6" fmla="*/ 1802607 h 2647369"/>
              <a:gd name="connsiteX7" fmla="*/ 1819275 w 9191625"/>
              <a:gd name="connsiteY7" fmla="*/ 2026444 h 2647369"/>
              <a:gd name="connsiteX8" fmla="*/ 2095500 w 9191625"/>
              <a:gd name="connsiteY8" fmla="*/ 2181225 h 2647369"/>
              <a:gd name="connsiteX9" fmla="*/ 2200275 w 9191625"/>
              <a:gd name="connsiteY9" fmla="*/ 1933575 h 2647369"/>
              <a:gd name="connsiteX10" fmla="*/ 2397125 w 9191625"/>
              <a:gd name="connsiteY10" fmla="*/ 1971675 h 2647369"/>
              <a:gd name="connsiteX11" fmla="*/ 2362200 w 9191625"/>
              <a:gd name="connsiteY11" fmla="*/ 2292350 h 2647369"/>
              <a:gd name="connsiteX12" fmla="*/ 2590800 w 9191625"/>
              <a:gd name="connsiteY12" fmla="*/ 2362200 h 2647369"/>
              <a:gd name="connsiteX13" fmla="*/ 2673350 w 9191625"/>
              <a:gd name="connsiteY13" fmla="*/ 2066925 h 2647369"/>
              <a:gd name="connsiteX14" fmla="*/ 2933700 w 9191625"/>
              <a:gd name="connsiteY14" fmla="*/ 2130425 h 2647369"/>
              <a:gd name="connsiteX15" fmla="*/ 2914650 w 9191625"/>
              <a:gd name="connsiteY15" fmla="*/ 2451100 h 2647369"/>
              <a:gd name="connsiteX16" fmla="*/ 3155950 w 9191625"/>
              <a:gd name="connsiteY16" fmla="*/ 2511425 h 2647369"/>
              <a:gd name="connsiteX17" fmla="*/ 3267075 w 9191625"/>
              <a:gd name="connsiteY17" fmla="*/ 2206625 h 2647369"/>
              <a:gd name="connsiteX18" fmla="*/ 3531394 w 9191625"/>
              <a:gd name="connsiteY18" fmla="*/ 2249487 h 2647369"/>
              <a:gd name="connsiteX19" fmla="*/ 3498850 w 9191625"/>
              <a:gd name="connsiteY19" fmla="*/ 2568575 h 2647369"/>
              <a:gd name="connsiteX20" fmla="*/ 3784600 w 9191625"/>
              <a:gd name="connsiteY20" fmla="*/ 2613025 h 2647369"/>
              <a:gd name="connsiteX21" fmla="*/ 3838575 w 9191625"/>
              <a:gd name="connsiteY21" fmla="*/ 2282825 h 2647369"/>
              <a:gd name="connsiteX22" fmla="*/ 4341019 w 9191625"/>
              <a:gd name="connsiteY22" fmla="*/ 2321719 h 2647369"/>
              <a:gd name="connsiteX23" fmla="*/ 4395787 w 9191625"/>
              <a:gd name="connsiteY23" fmla="*/ 2612231 h 2647369"/>
              <a:gd name="connsiteX24" fmla="*/ 4781550 w 9191625"/>
              <a:gd name="connsiteY24" fmla="*/ 2609850 h 2647369"/>
              <a:gd name="connsiteX25" fmla="*/ 4805363 w 9191625"/>
              <a:gd name="connsiteY25" fmla="*/ 2319337 h 2647369"/>
              <a:gd name="connsiteX26" fmla="*/ 5126832 w 9191625"/>
              <a:gd name="connsiteY26" fmla="*/ 2281237 h 2647369"/>
              <a:gd name="connsiteX27" fmla="*/ 5279232 w 9191625"/>
              <a:gd name="connsiteY27" fmla="*/ 2550318 h 2647369"/>
              <a:gd name="connsiteX28" fmla="*/ 5676900 w 9191625"/>
              <a:gd name="connsiteY28" fmla="*/ 2459831 h 2647369"/>
              <a:gd name="connsiteX29" fmla="*/ 5581650 w 9191625"/>
              <a:gd name="connsiteY29" fmla="*/ 2155031 h 2647369"/>
              <a:gd name="connsiteX30" fmla="*/ 5936456 w 9191625"/>
              <a:gd name="connsiteY30" fmla="*/ 1993107 h 2647369"/>
              <a:gd name="connsiteX31" fmla="*/ 6148387 w 9191625"/>
              <a:gd name="connsiteY31" fmla="*/ 2266950 h 2647369"/>
              <a:gd name="connsiteX32" fmla="*/ 6505575 w 9191625"/>
              <a:gd name="connsiteY32" fmla="*/ 2105025 h 2647369"/>
              <a:gd name="connsiteX33" fmla="*/ 6315075 w 9191625"/>
              <a:gd name="connsiteY33" fmla="*/ 1828800 h 2647369"/>
              <a:gd name="connsiteX34" fmla="*/ 6505575 w 9191625"/>
              <a:gd name="connsiteY34" fmla="*/ 1685925 h 2647369"/>
              <a:gd name="connsiteX35" fmla="*/ 6772275 w 9191625"/>
              <a:gd name="connsiteY35" fmla="*/ 1971675 h 2647369"/>
              <a:gd name="connsiteX36" fmla="*/ 7038975 w 9191625"/>
              <a:gd name="connsiteY36" fmla="*/ 1724025 h 2647369"/>
              <a:gd name="connsiteX37" fmla="*/ 6753225 w 9191625"/>
              <a:gd name="connsiteY37" fmla="*/ 1428750 h 2647369"/>
              <a:gd name="connsiteX38" fmla="*/ 7019925 w 9191625"/>
              <a:gd name="connsiteY38" fmla="*/ 1228725 h 2647369"/>
              <a:gd name="connsiteX39" fmla="*/ 7267575 w 9191625"/>
              <a:gd name="connsiteY39" fmla="*/ 1428750 h 2647369"/>
              <a:gd name="connsiteX40" fmla="*/ 7458075 w 9191625"/>
              <a:gd name="connsiteY40" fmla="*/ 1190625 h 2647369"/>
              <a:gd name="connsiteX41" fmla="*/ 7219950 w 9191625"/>
              <a:gd name="connsiteY41" fmla="*/ 952500 h 2647369"/>
              <a:gd name="connsiteX42" fmla="*/ 7381875 w 9191625"/>
              <a:gd name="connsiteY42" fmla="*/ 704850 h 2647369"/>
              <a:gd name="connsiteX43" fmla="*/ 7696200 w 9191625"/>
              <a:gd name="connsiteY43" fmla="*/ 914400 h 2647369"/>
              <a:gd name="connsiteX44" fmla="*/ 7839075 w 9191625"/>
              <a:gd name="connsiteY44" fmla="*/ 428625 h 2647369"/>
              <a:gd name="connsiteX45" fmla="*/ 9191625 w 9191625"/>
              <a:gd name="connsiteY45"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714500 w 9191625"/>
              <a:gd name="connsiteY5" fmla="*/ 1697831 h 2647369"/>
              <a:gd name="connsiteX6" fmla="*/ 1924050 w 9191625"/>
              <a:gd name="connsiteY6" fmla="*/ 1802607 h 2647369"/>
              <a:gd name="connsiteX7" fmla="*/ 1819275 w 9191625"/>
              <a:gd name="connsiteY7" fmla="*/ 2026444 h 2647369"/>
              <a:gd name="connsiteX8" fmla="*/ 2095500 w 9191625"/>
              <a:gd name="connsiteY8" fmla="*/ 2181225 h 2647369"/>
              <a:gd name="connsiteX9" fmla="*/ 2176462 w 9191625"/>
              <a:gd name="connsiteY9" fmla="*/ 1914525 h 2647369"/>
              <a:gd name="connsiteX10" fmla="*/ 2397125 w 9191625"/>
              <a:gd name="connsiteY10" fmla="*/ 1971675 h 2647369"/>
              <a:gd name="connsiteX11" fmla="*/ 2362200 w 9191625"/>
              <a:gd name="connsiteY11" fmla="*/ 2292350 h 2647369"/>
              <a:gd name="connsiteX12" fmla="*/ 2590800 w 9191625"/>
              <a:gd name="connsiteY12" fmla="*/ 2362200 h 2647369"/>
              <a:gd name="connsiteX13" fmla="*/ 2673350 w 9191625"/>
              <a:gd name="connsiteY13" fmla="*/ 2066925 h 2647369"/>
              <a:gd name="connsiteX14" fmla="*/ 2933700 w 9191625"/>
              <a:gd name="connsiteY14" fmla="*/ 2130425 h 2647369"/>
              <a:gd name="connsiteX15" fmla="*/ 2914650 w 9191625"/>
              <a:gd name="connsiteY15" fmla="*/ 2451100 h 2647369"/>
              <a:gd name="connsiteX16" fmla="*/ 3155950 w 9191625"/>
              <a:gd name="connsiteY16" fmla="*/ 2511425 h 2647369"/>
              <a:gd name="connsiteX17" fmla="*/ 3267075 w 9191625"/>
              <a:gd name="connsiteY17" fmla="*/ 2206625 h 2647369"/>
              <a:gd name="connsiteX18" fmla="*/ 3531394 w 9191625"/>
              <a:gd name="connsiteY18" fmla="*/ 2249487 h 2647369"/>
              <a:gd name="connsiteX19" fmla="*/ 3498850 w 9191625"/>
              <a:gd name="connsiteY19" fmla="*/ 2568575 h 2647369"/>
              <a:gd name="connsiteX20" fmla="*/ 3784600 w 9191625"/>
              <a:gd name="connsiteY20" fmla="*/ 2613025 h 2647369"/>
              <a:gd name="connsiteX21" fmla="*/ 3838575 w 9191625"/>
              <a:gd name="connsiteY21" fmla="*/ 2282825 h 2647369"/>
              <a:gd name="connsiteX22" fmla="*/ 4341019 w 9191625"/>
              <a:gd name="connsiteY22" fmla="*/ 2321719 h 2647369"/>
              <a:gd name="connsiteX23" fmla="*/ 4395787 w 9191625"/>
              <a:gd name="connsiteY23" fmla="*/ 2612231 h 2647369"/>
              <a:gd name="connsiteX24" fmla="*/ 4781550 w 9191625"/>
              <a:gd name="connsiteY24" fmla="*/ 2609850 h 2647369"/>
              <a:gd name="connsiteX25" fmla="*/ 4805363 w 9191625"/>
              <a:gd name="connsiteY25" fmla="*/ 2319337 h 2647369"/>
              <a:gd name="connsiteX26" fmla="*/ 5126832 w 9191625"/>
              <a:gd name="connsiteY26" fmla="*/ 2281237 h 2647369"/>
              <a:gd name="connsiteX27" fmla="*/ 5279232 w 9191625"/>
              <a:gd name="connsiteY27" fmla="*/ 2550318 h 2647369"/>
              <a:gd name="connsiteX28" fmla="*/ 5676900 w 9191625"/>
              <a:gd name="connsiteY28" fmla="*/ 2459831 h 2647369"/>
              <a:gd name="connsiteX29" fmla="*/ 5581650 w 9191625"/>
              <a:gd name="connsiteY29" fmla="*/ 2155031 h 2647369"/>
              <a:gd name="connsiteX30" fmla="*/ 5936456 w 9191625"/>
              <a:gd name="connsiteY30" fmla="*/ 1993107 h 2647369"/>
              <a:gd name="connsiteX31" fmla="*/ 6148387 w 9191625"/>
              <a:gd name="connsiteY31" fmla="*/ 2266950 h 2647369"/>
              <a:gd name="connsiteX32" fmla="*/ 6505575 w 9191625"/>
              <a:gd name="connsiteY32" fmla="*/ 2105025 h 2647369"/>
              <a:gd name="connsiteX33" fmla="*/ 6315075 w 9191625"/>
              <a:gd name="connsiteY33" fmla="*/ 1828800 h 2647369"/>
              <a:gd name="connsiteX34" fmla="*/ 6505575 w 9191625"/>
              <a:gd name="connsiteY34" fmla="*/ 1685925 h 2647369"/>
              <a:gd name="connsiteX35" fmla="*/ 6772275 w 9191625"/>
              <a:gd name="connsiteY35" fmla="*/ 1971675 h 2647369"/>
              <a:gd name="connsiteX36" fmla="*/ 7038975 w 9191625"/>
              <a:gd name="connsiteY36" fmla="*/ 1724025 h 2647369"/>
              <a:gd name="connsiteX37" fmla="*/ 6753225 w 9191625"/>
              <a:gd name="connsiteY37" fmla="*/ 1428750 h 2647369"/>
              <a:gd name="connsiteX38" fmla="*/ 7019925 w 9191625"/>
              <a:gd name="connsiteY38" fmla="*/ 1228725 h 2647369"/>
              <a:gd name="connsiteX39" fmla="*/ 7267575 w 9191625"/>
              <a:gd name="connsiteY39" fmla="*/ 1428750 h 2647369"/>
              <a:gd name="connsiteX40" fmla="*/ 7458075 w 9191625"/>
              <a:gd name="connsiteY40" fmla="*/ 1190625 h 2647369"/>
              <a:gd name="connsiteX41" fmla="*/ 7219950 w 9191625"/>
              <a:gd name="connsiteY41" fmla="*/ 952500 h 2647369"/>
              <a:gd name="connsiteX42" fmla="*/ 7381875 w 9191625"/>
              <a:gd name="connsiteY42" fmla="*/ 704850 h 2647369"/>
              <a:gd name="connsiteX43" fmla="*/ 7696200 w 9191625"/>
              <a:gd name="connsiteY43" fmla="*/ 914400 h 2647369"/>
              <a:gd name="connsiteX44" fmla="*/ 7839075 w 9191625"/>
              <a:gd name="connsiteY44" fmla="*/ 428625 h 2647369"/>
              <a:gd name="connsiteX45" fmla="*/ 9191625 w 9191625"/>
              <a:gd name="connsiteY45" fmla="*/ 0 h 2647369"/>
              <a:gd name="connsiteX0" fmla="*/ 0 w 9191625"/>
              <a:gd name="connsiteY0" fmla="*/ 1657350 h 2647369"/>
              <a:gd name="connsiteX1" fmla="*/ 1123950 w 9191625"/>
              <a:gd name="connsiteY1" fmla="*/ 1562100 h 2647369"/>
              <a:gd name="connsiteX2" fmla="*/ 1479550 w 9191625"/>
              <a:gd name="connsiteY2" fmla="*/ 1555750 h 2647369"/>
              <a:gd name="connsiteX3" fmla="*/ 1400175 w 9191625"/>
              <a:gd name="connsiteY3" fmla="*/ 1809750 h 2647369"/>
              <a:gd name="connsiteX4" fmla="*/ 1533525 w 9191625"/>
              <a:gd name="connsiteY4" fmla="*/ 1895475 h 2647369"/>
              <a:gd name="connsiteX5" fmla="*/ 1714500 w 9191625"/>
              <a:gd name="connsiteY5" fmla="*/ 1697831 h 2647369"/>
              <a:gd name="connsiteX6" fmla="*/ 1924050 w 9191625"/>
              <a:gd name="connsiteY6" fmla="*/ 1802607 h 2647369"/>
              <a:gd name="connsiteX7" fmla="*/ 1819275 w 9191625"/>
              <a:gd name="connsiteY7" fmla="*/ 2026444 h 2647369"/>
              <a:gd name="connsiteX8" fmla="*/ 2047875 w 9191625"/>
              <a:gd name="connsiteY8" fmla="*/ 2157413 h 2647369"/>
              <a:gd name="connsiteX9" fmla="*/ 2176462 w 9191625"/>
              <a:gd name="connsiteY9" fmla="*/ 1914525 h 2647369"/>
              <a:gd name="connsiteX10" fmla="*/ 2397125 w 9191625"/>
              <a:gd name="connsiteY10" fmla="*/ 1971675 h 2647369"/>
              <a:gd name="connsiteX11" fmla="*/ 2362200 w 9191625"/>
              <a:gd name="connsiteY11" fmla="*/ 2292350 h 2647369"/>
              <a:gd name="connsiteX12" fmla="*/ 2590800 w 9191625"/>
              <a:gd name="connsiteY12" fmla="*/ 2362200 h 2647369"/>
              <a:gd name="connsiteX13" fmla="*/ 2673350 w 9191625"/>
              <a:gd name="connsiteY13" fmla="*/ 2066925 h 2647369"/>
              <a:gd name="connsiteX14" fmla="*/ 2933700 w 9191625"/>
              <a:gd name="connsiteY14" fmla="*/ 2130425 h 2647369"/>
              <a:gd name="connsiteX15" fmla="*/ 2914650 w 9191625"/>
              <a:gd name="connsiteY15" fmla="*/ 2451100 h 2647369"/>
              <a:gd name="connsiteX16" fmla="*/ 3155950 w 9191625"/>
              <a:gd name="connsiteY16" fmla="*/ 2511425 h 2647369"/>
              <a:gd name="connsiteX17" fmla="*/ 3267075 w 9191625"/>
              <a:gd name="connsiteY17" fmla="*/ 2206625 h 2647369"/>
              <a:gd name="connsiteX18" fmla="*/ 3531394 w 9191625"/>
              <a:gd name="connsiteY18" fmla="*/ 2249487 h 2647369"/>
              <a:gd name="connsiteX19" fmla="*/ 3498850 w 9191625"/>
              <a:gd name="connsiteY19" fmla="*/ 2568575 h 2647369"/>
              <a:gd name="connsiteX20" fmla="*/ 3784600 w 9191625"/>
              <a:gd name="connsiteY20" fmla="*/ 2613025 h 2647369"/>
              <a:gd name="connsiteX21" fmla="*/ 3838575 w 9191625"/>
              <a:gd name="connsiteY21" fmla="*/ 2282825 h 2647369"/>
              <a:gd name="connsiteX22" fmla="*/ 4341019 w 9191625"/>
              <a:gd name="connsiteY22" fmla="*/ 2321719 h 2647369"/>
              <a:gd name="connsiteX23" fmla="*/ 4395787 w 9191625"/>
              <a:gd name="connsiteY23" fmla="*/ 2612231 h 2647369"/>
              <a:gd name="connsiteX24" fmla="*/ 4781550 w 9191625"/>
              <a:gd name="connsiteY24" fmla="*/ 2609850 h 2647369"/>
              <a:gd name="connsiteX25" fmla="*/ 4805363 w 9191625"/>
              <a:gd name="connsiteY25" fmla="*/ 2319337 h 2647369"/>
              <a:gd name="connsiteX26" fmla="*/ 5126832 w 9191625"/>
              <a:gd name="connsiteY26" fmla="*/ 2281237 h 2647369"/>
              <a:gd name="connsiteX27" fmla="*/ 5279232 w 9191625"/>
              <a:gd name="connsiteY27" fmla="*/ 2550318 h 2647369"/>
              <a:gd name="connsiteX28" fmla="*/ 5676900 w 9191625"/>
              <a:gd name="connsiteY28" fmla="*/ 2459831 h 2647369"/>
              <a:gd name="connsiteX29" fmla="*/ 5581650 w 9191625"/>
              <a:gd name="connsiteY29" fmla="*/ 2155031 h 2647369"/>
              <a:gd name="connsiteX30" fmla="*/ 5936456 w 9191625"/>
              <a:gd name="connsiteY30" fmla="*/ 1993107 h 2647369"/>
              <a:gd name="connsiteX31" fmla="*/ 6148387 w 9191625"/>
              <a:gd name="connsiteY31" fmla="*/ 2266950 h 2647369"/>
              <a:gd name="connsiteX32" fmla="*/ 6505575 w 9191625"/>
              <a:gd name="connsiteY32" fmla="*/ 2105025 h 2647369"/>
              <a:gd name="connsiteX33" fmla="*/ 6315075 w 9191625"/>
              <a:gd name="connsiteY33" fmla="*/ 1828800 h 2647369"/>
              <a:gd name="connsiteX34" fmla="*/ 6505575 w 9191625"/>
              <a:gd name="connsiteY34" fmla="*/ 1685925 h 2647369"/>
              <a:gd name="connsiteX35" fmla="*/ 6772275 w 9191625"/>
              <a:gd name="connsiteY35" fmla="*/ 1971675 h 2647369"/>
              <a:gd name="connsiteX36" fmla="*/ 7038975 w 9191625"/>
              <a:gd name="connsiteY36" fmla="*/ 1724025 h 2647369"/>
              <a:gd name="connsiteX37" fmla="*/ 6753225 w 9191625"/>
              <a:gd name="connsiteY37" fmla="*/ 1428750 h 2647369"/>
              <a:gd name="connsiteX38" fmla="*/ 7019925 w 9191625"/>
              <a:gd name="connsiteY38" fmla="*/ 1228725 h 2647369"/>
              <a:gd name="connsiteX39" fmla="*/ 7267575 w 9191625"/>
              <a:gd name="connsiteY39" fmla="*/ 1428750 h 2647369"/>
              <a:gd name="connsiteX40" fmla="*/ 7458075 w 9191625"/>
              <a:gd name="connsiteY40" fmla="*/ 1190625 h 2647369"/>
              <a:gd name="connsiteX41" fmla="*/ 7219950 w 9191625"/>
              <a:gd name="connsiteY41" fmla="*/ 952500 h 2647369"/>
              <a:gd name="connsiteX42" fmla="*/ 7381875 w 9191625"/>
              <a:gd name="connsiteY42" fmla="*/ 704850 h 2647369"/>
              <a:gd name="connsiteX43" fmla="*/ 7696200 w 9191625"/>
              <a:gd name="connsiteY43" fmla="*/ 914400 h 2647369"/>
              <a:gd name="connsiteX44" fmla="*/ 7839075 w 9191625"/>
              <a:gd name="connsiteY44" fmla="*/ 428625 h 2647369"/>
              <a:gd name="connsiteX45" fmla="*/ 9191625 w 9191625"/>
              <a:gd name="connsiteY45" fmla="*/ 0 h 2647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9191625" h="2647369">
                <a:moveTo>
                  <a:pt x="0" y="1657350"/>
                </a:moveTo>
                <a:cubicBezTo>
                  <a:pt x="442912" y="1615281"/>
                  <a:pt x="877358" y="1579033"/>
                  <a:pt x="1123950" y="1562100"/>
                </a:cubicBezTo>
                <a:cubicBezTo>
                  <a:pt x="1370542" y="1545167"/>
                  <a:pt x="1433513" y="1514475"/>
                  <a:pt x="1479550" y="1555750"/>
                </a:cubicBezTo>
                <a:cubicBezTo>
                  <a:pt x="1525587" y="1597025"/>
                  <a:pt x="1391179" y="1753129"/>
                  <a:pt x="1400175" y="1809750"/>
                </a:cubicBezTo>
                <a:cubicBezTo>
                  <a:pt x="1409171" y="1866371"/>
                  <a:pt x="1481138" y="1914128"/>
                  <a:pt x="1533525" y="1895475"/>
                </a:cubicBezTo>
                <a:cubicBezTo>
                  <a:pt x="1585912" y="1876822"/>
                  <a:pt x="1649413" y="1713309"/>
                  <a:pt x="1714500" y="1697831"/>
                </a:cubicBezTo>
                <a:cubicBezTo>
                  <a:pt x="1779588" y="1682353"/>
                  <a:pt x="1906588" y="1747838"/>
                  <a:pt x="1924050" y="1802607"/>
                </a:cubicBezTo>
                <a:cubicBezTo>
                  <a:pt x="1941512" y="1857376"/>
                  <a:pt x="1817688" y="1972469"/>
                  <a:pt x="1819275" y="2026444"/>
                </a:cubicBezTo>
                <a:cubicBezTo>
                  <a:pt x="1863725" y="2094707"/>
                  <a:pt x="1988344" y="2176066"/>
                  <a:pt x="2047875" y="2157413"/>
                </a:cubicBezTo>
                <a:cubicBezTo>
                  <a:pt x="2107406" y="2138760"/>
                  <a:pt x="2118254" y="1945481"/>
                  <a:pt x="2176462" y="1914525"/>
                </a:cubicBezTo>
                <a:cubicBezTo>
                  <a:pt x="2234670" y="1883569"/>
                  <a:pt x="2366169" y="1908704"/>
                  <a:pt x="2397125" y="1971675"/>
                </a:cubicBezTo>
                <a:cubicBezTo>
                  <a:pt x="2428081" y="2034646"/>
                  <a:pt x="2329921" y="2227263"/>
                  <a:pt x="2362200" y="2292350"/>
                </a:cubicBezTo>
                <a:cubicBezTo>
                  <a:pt x="2394479" y="2357437"/>
                  <a:pt x="2538942" y="2399771"/>
                  <a:pt x="2590800" y="2362200"/>
                </a:cubicBezTo>
                <a:cubicBezTo>
                  <a:pt x="2642658" y="2324629"/>
                  <a:pt x="2616200" y="2105554"/>
                  <a:pt x="2673350" y="2066925"/>
                </a:cubicBezTo>
                <a:cubicBezTo>
                  <a:pt x="2730500" y="2028296"/>
                  <a:pt x="2893483" y="2066396"/>
                  <a:pt x="2933700" y="2130425"/>
                </a:cubicBezTo>
                <a:cubicBezTo>
                  <a:pt x="2973917" y="2194454"/>
                  <a:pt x="2877608" y="2387600"/>
                  <a:pt x="2914650" y="2451100"/>
                </a:cubicBezTo>
                <a:cubicBezTo>
                  <a:pt x="2951692" y="2514600"/>
                  <a:pt x="3097213" y="2552171"/>
                  <a:pt x="3155950" y="2511425"/>
                </a:cubicBezTo>
                <a:cubicBezTo>
                  <a:pt x="3214687" y="2470679"/>
                  <a:pt x="3204501" y="2250281"/>
                  <a:pt x="3267075" y="2206625"/>
                </a:cubicBezTo>
                <a:cubicBezTo>
                  <a:pt x="3329649" y="2162969"/>
                  <a:pt x="3492765" y="2189162"/>
                  <a:pt x="3531394" y="2249487"/>
                </a:cubicBezTo>
                <a:cubicBezTo>
                  <a:pt x="3570023" y="2309812"/>
                  <a:pt x="3456649" y="2507985"/>
                  <a:pt x="3498850" y="2568575"/>
                </a:cubicBezTo>
                <a:cubicBezTo>
                  <a:pt x="3541051" y="2629165"/>
                  <a:pt x="3727979" y="2660650"/>
                  <a:pt x="3784600" y="2613025"/>
                </a:cubicBezTo>
                <a:cubicBezTo>
                  <a:pt x="3841221" y="2565400"/>
                  <a:pt x="3745839" y="2331376"/>
                  <a:pt x="3838575" y="2282825"/>
                </a:cubicBezTo>
                <a:cubicBezTo>
                  <a:pt x="3931312" y="2234274"/>
                  <a:pt x="4248150" y="2266818"/>
                  <a:pt x="4341019" y="2321719"/>
                </a:cubicBezTo>
                <a:cubicBezTo>
                  <a:pt x="4433888" y="2376620"/>
                  <a:pt x="4322365" y="2564209"/>
                  <a:pt x="4395787" y="2612231"/>
                </a:cubicBezTo>
                <a:cubicBezTo>
                  <a:pt x="4469209" y="2660253"/>
                  <a:pt x="4713287" y="2658666"/>
                  <a:pt x="4781550" y="2609850"/>
                </a:cubicBezTo>
                <a:cubicBezTo>
                  <a:pt x="4849813" y="2561034"/>
                  <a:pt x="4747816" y="2374106"/>
                  <a:pt x="4805363" y="2319337"/>
                </a:cubicBezTo>
                <a:cubicBezTo>
                  <a:pt x="4862910" y="2264568"/>
                  <a:pt x="5047854" y="2242740"/>
                  <a:pt x="5126832" y="2281237"/>
                </a:cubicBezTo>
                <a:cubicBezTo>
                  <a:pt x="5205810" y="2319734"/>
                  <a:pt x="5187554" y="2520552"/>
                  <a:pt x="5279232" y="2550318"/>
                </a:cubicBezTo>
                <a:cubicBezTo>
                  <a:pt x="5370910" y="2580084"/>
                  <a:pt x="5626497" y="2525712"/>
                  <a:pt x="5676900" y="2459831"/>
                </a:cubicBezTo>
                <a:cubicBezTo>
                  <a:pt x="5727303" y="2393950"/>
                  <a:pt x="5538391" y="2232818"/>
                  <a:pt x="5581650" y="2155031"/>
                </a:cubicBezTo>
                <a:cubicBezTo>
                  <a:pt x="5624909" y="2077244"/>
                  <a:pt x="5842000" y="1974454"/>
                  <a:pt x="5936456" y="1993107"/>
                </a:cubicBezTo>
                <a:cubicBezTo>
                  <a:pt x="6030912" y="2011760"/>
                  <a:pt x="6053534" y="2248297"/>
                  <a:pt x="6148387" y="2266950"/>
                </a:cubicBezTo>
                <a:cubicBezTo>
                  <a:pt x="6243240" y="2285603"/>
                  <a:pt x="6477794" y="2178050"/>
                  <a:pt x="6505575" y="2105025"/>
                </a:cubicBezTo>
                <a:cubicBezTo>
                  <a:pt x="6533356" y="2032000"/>
                  <a:pt x="6315075" y="1898650"/>
                  <a:pt x="6315075" y="1828800"/>
                </a:cubicBezTo>
                <a:cubicBezTo>
                  <a:pt x="6315075" y="1758950"/>
                  <a:pt x="6429375" y="1662113"/>
                  <a:pt x="6505575" y="1685925"/>
                </a:cubicBezTo>
                <a:cubicBezTo>
                  <a:pt x="6581775" y="1709737"/>
                  <a:pt x="6683375" y="1965325"/>
                  <a:pt x="6772275" y="1971675"/>
                </a:cubicBezTo>
                <a:cubicBezTo>
                  <a:pt x="6861175" y="1978025"/>
                  <a:pt x="7042150" y="1814512"/>
                  <a:pt x="7038975" y="1724025"/>
                </a:cubicBezTo>
                <a:cubicBezTo>
                  <a:pt x="7035800" y="1633538"/>
                  <a:pt x="6756400" y="1511300"/>
                  <a:pt x="6753225" y="1428750"/>
                </a:cubicBezTo>
                <a:cubicBezTo>
                  <a:pt x="6750050" y="1346200"/>
                  <a:pt x="6934200" y="1228725"/>
                  <a:pt x="7019925" y="1228725"/>
                </a:cubicBezTo>
                <a:cubicBezTo>
                  <a:pt x="7105650" y="1228725"/>
                  <a:pt x="7194550" y="1435100"/>
                  <a:pt x="7267575" y="1428750"/>
                </a:cubicBezTo>
                <a:cubicBezTo>
                  <a:pt x="7340600" y="1422400"/>
                  <a:pt x="7466012" y="1270000"/>
                  <a:pt x="7458075" y="1190625"/>
                </a:cubicBezTo>
                <a:cubicBezTo>
                  <a:pt x="7450138" y="1111250"/>
                  <a:pt x="7232650" y="1033463"/>
                  <a:pt x="7219950" y="952500"/>
                </a:cubicBezTo>
                <a:cubicBezTo>
                  <a:pt x="7207250" y="871537"/>
                  <a:pt x="7302500" y="711200"/>
                  <a:pt x="7381875" y="704850"/>
                </a:cubicBezTo>
                <a:cubicBezTo>
                  <a:pt x="7461250" y="698500"/>
                  <a:pt x="7620000" y="960437"/>
                  <a:pt x="7696200" y="914400"/>
                </a:cubicBezTo>
                <a:cubicBezTo>
                  <a:pt x="7772400" y="868362"/>
                  <a:pt x="7589838" y="581025"/>
                  <a:pt x="7839075" y="428625"/>
                </a:cubicBezTo>
                <a:cubicBezTo>
                  <a:pt x="8088312" y="276225"/>
                  <a:pt x="8639968" y="138112"/>
                  <a:pt x="9191625"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Freeform 6"/>
          <p:cNvSpPr/>
          <p:nvPr/>
        </p:nvSpPr>
        <p:spPr>
          <a:xfrm>
            <a:off x="781128" y="379621"/>
            <a:ext cx="1713172" cy="1795980"/>
          </a:xfrm>
          <a:custGeom>
            <a:avLst/>
            <a:gdLst>
              <a:gd name="connsiteX0" fmla="*/ 209658 w 1979899"/>
              <a:gd name="connsiteY0" fmla="*/ 130393 h 2167554"/>
              <a:gd name="connsiteX1" fmla="*/ 1543158 w 1979899"/>
              <a:gd name="connsiteY1" fmla="*/ 1387693 h 2167554"/>
              <a:gd name="connsiteX2" fmla="*/ 1952733 w 1979899"/>
              <a:gd name="connsiteY2" fmla="*/ 1968718 h 2167554"/>
              <a:gd name="connsiteX3" fmla="*/ 1857483 w 1979899"/>
              <a:gd name="connsiteY3" fmla="*/ 2140168 h 2167554"/>
              <a:gd name="connsiteX4" fmla="*/ 1181208 w 1979899"/>
              <a:gd name="connsiteY4" fmla="*/ 1454368 h 2167554"/>
              <a:gd name="connsiteX5" fmla="*/ 714483 w 1979899"/>
              <a:gd name="connsiteY5" fmla="*/ 1359118 h 2167554"/>
              <a:gd name="connsiteX6" fmla="*/ 381108 w 1979899"/>
              <a:gd name="connsiteY6" fmla="*/ 1140043 h 2167554"/>
              <a:gd name="connsiteX7" fmla="*/ 428733 w 1979899"/>
              <a:gd name="connsiteY7" fmla="*/ 797143 h 2167554"/>
              <a:gd name="connsiteX8" fmla="*/ 57258 w 1979899"/>
              <a:gd name="connsiteY8" fmla="*/ 216118 h 2167554"/>
              <a:gd name="connsiteX9" fmla="*/ 9633 w 1979899"/>
              <a:gd name="connsiteY9" fmla="*/ 25618 h 2167554"/>
              <a:gd name="connsiteX10" fmla="*/ 142983 w 1979899"/>
              <a:gd name="connsiteY10" fmla="*/ 25618 h 2167554"/>
              <a:gd name="connsiteX11" fmla="*/ 209658 w 1979899"/>
              <a:gd name="connsiteY11" fmla="*/ 130393 h 2167554"/>
              <a:gd name="connsiteX0" fmla="*/ 209658 w 1979899"/>
              <a:gd name="connsiteY0" fmla="*/ 194053 h 2231214"/>
              <a:gd name="connsiteX1" fmla="*/ 1543158 w 1979899"/>
              <a:gd name="connsiteY1" fmla="*/ 1451353 h 2231214"/>
              <a:gd name="connsiteX2" fmla="*/ 1952733 w 1979899"/>
              <a:gd name="connsiteY2" fmla="*/ 2032378 h 2231214"/>
              <a:gd name="connsiteX3" fmla="*/ 1857483 w 1979899"/>
              <a:gd name="connsiteY3" fmla="*/ 2203828 h 2231214"/>
              <a:gd name="connsiteX4" fmla="*/ 1181208 w 1979899"/>
              <a:gd name="connsiteY4" fmla="*/ 1518028 h 2231214"/>
              <a:gd name="connsiteX5" fmla="*/ 714483 w 1979899"/>
              <a:gd name="connsiteY5" fmla="*/ 1422778 h 2231214"/>
              <a:gd name="connsiteX6" fmla="*/ 381108 w 1979899"/>
              <a:gd name="connsiteY6" fmla="*/ 1203703 h 2231214"/>
              <a:gd name="connsiteX7" fmla="*/ 428733 w 1979899"/>
              <a:gd name="connsiteY7" fmla="*/ 860803 h 2231214"/>
              <a:gd name="connsiteX8" fmla="*/ 57258 w 1979899"/>
              <a:gd name="connsiteY8" fmla="*/ 279778 h 2231214"/>
              <a:gd name="connsiteX9" fmla="*/ 9633 w 1979899"/>
              <a:gd name="connsiteY9" fmla="*/ 89278 h 2231214"/>
              <a:gd name="connsiteX10" fmla="*/ 85833 w 1979899"/>
              <a:gd name="connsiteY10" fmla="*/ 3553 h 2231214"/>
              <a:gd name="connsiteX11" fmla="*/ 209658 w 1979899"/>
              <a:gd name="connsiteY11" fmla="*/ 194053 h 2231214"/>
              <a:gd name="connsiteX0" fmla="*/ 209658 w 1979899"/>
              <a:gd name="connsiteY0" fmla="*/ 213207 h 2250368"/>
              <a:gd name="connsiteX1" fmla="*/ 1543158 w 1979899"/>
              <a:gd name="connsiteY1" fmla="*/ 1470507 h 2250368"/>
              <a:gd name="connsiteX2" fmla="*/ 1952733 w 1979899"/>
              <a:gd name="connsiteY2" fmla="*/ 2051532 h 2250368"/>
              <a:gd name="connsiteX3" fmla="*/ 1857483 w 1979899"/>
              <a:gd name="connsiteY3" fmla="*/ 2222982 h 2250368"/>
              <a:gd name="connsiteX4" fmla="*/ 1181208 w 1979899"/>
              <a:gd name="connsiteY4" fmla="*/ 1537182 h 2250368"/>
              <a:gd name="connsiteX5" fmla="*/ 714483 w 1979899"/>
              <a:gd name="connsiteY5" fmla="*/ 1441932 h 2250368"/>
              <a:gd name="connsiteX6" fmla="*/ 381108 w 1979899"/>
              <a:gd name="connsiteY6" fmla="*/ 1222857 h 2250368"/>
              <a:gd name="connsiteX7" fmla="*/ 428733 w 1979899"/>
              <a:gd name="connsiteY7" fmla="*/ 879957 h 2250368"/>
              <a:gd name="connsiteX8" fmla="*/ 57258 w 1979899"/>
              <a:gd name="connsiteY8" fmla="*/ 298932 h 2250368"/>
              <a:gd name="connsiteX9" fmla="*/ 9633 w 1979899"/>
              <a:gd name="connsiteY9" fmla="*/ 108432 h 2250368"/>
              <a:gd name="connsiteX10" fmla="*/ 85833 w 1979899"/>
              <a:gd name="connsiteY10" fmla="*/ 22707 h 2250368"/>
              <a:gd name="connsiteX11" fmla="*/ 209658 w 1979899"/>
              <a:gd name="connsiteY11" fmla="*/ 213207 h 2250368"/>
              <a:gd name="connsiteX0" fmla="*/ 209658 w 1979899"/>
              <a:gd name="connsiteY0" fmla="*/ 200562 h 2237723"/>
              <a:gd name="connsiteX1" fmla="*/ 1543158 w 1979899"/>
              <a:gd name="connsiteY1" fmla="*/ 1457862 h 2237723"/>
              <a:gd name="connsiteX2" fmla="*/ 1952733 w 1979899"/>
              <a:gd name="connsiteY2" fmla="*/ 2038887 h 2237723"/>
              <a:gd name="connsiteX3" fmla="*/ 1857483 w 1979899"/>
              <a:gd name="connsiteY3" fmla="*/ 2210337 h 2237723"/>
              <a:gd name="connsiteX4" fmla="*/ 1181208 w 1979899"/>
              <a:gd name="connsiteY4" fmla="*/ 1524537 h 2237723"/>
              <a:gd name="connsiteX5" fmla="*/ 714483 w 1979899"/>
              <a:gd name="connsiteY5" fmla="*/ 1429287 h 2237723"/>
              <a:gd name="connsiteX6" fmla="*/ 381108 w 1979899"/>
              <a:gd name="connsiteY6" fmla="*/ 1210212 h 2237723"/>
              <a:gd name="connsiteX7" fmla="*/ 428733 w 1979899"/>
              <a:gd name="connsiteY7" fmla="*/ 867312 h 2237723"/>
              <a:gd name="connsiteX8" fmla="*/ 57258 w 1979899"/>
              <a:gd name="connsiteY8" fmla="*/ 286287 h 2237723"/>
              <a:gd name="connsiteX9" fmla="*/ 9633 w 1979899"/>
              <a:gd name="connsiteY9" fmla="*/ 95787 h 2237723"/>
              <a:gd name="connsiteX10" fmla="*/ 85833 w 1979899"/>
              <a:gd name="connsiteY10" fmla="*/ 10062 h 2237723"/>
              <a:gd name="connsiteX11" fmla="*/ 209658 w 1979899"/>
              <a:gd name="connsiteY11" fmla="*/ 200562 h 2237723"/>
              <a:gd name="connsiteX0" fmla="*/ 216676 w 1986917"/>
              <a:gd name="connsiteY0" fmla="*/ 199310 h 2236471"/>
              <a:gd name="connsiteX1" fmla="*/ 1550176 w 1986917"/>
              <a:gd name="connsiteY1" fmla="*/ 1456610 h 2236471"/>
              <a:gd name="connsiteX2" fmla="*/ 1959751 w 1986917"/>
              <a:gd name="connsiteY2" fmla="*/ 2037635 h 2236471"/>
              <a:gd name="connsiteX3" fmla="*/ 1864501 w 1986917"/>
              <a:gd name="connsiteY3" fmla="*/ 2209085 h 2236471"/>
              <a:gd name="connsiteX4" fmla="*/ 1188226 w 1986917"/>
              <a:gd name="connsiteY4" fmla="*/ 1523285 h 2236471"/>
              <a:gd name="connsiteX5" fmla="*/ 721501 w 1986917"/>
              <a:gd name="connsiteY5" fmla="*/ 1428035 h 2236471"/>
              <a:gd name="connsiteX6" fmla="*/ 388126 w 1986917"/>
              <a:gd name="connsiteY6" fmla="*/ 1208960 h 2236471"/>
              <a:gd name="connsiteX7" fmla="*/ 435751 w 1986917"/>
              <a:gd name="connsiteY7" fmla="*/ 866060 h 2236471"/>
              <a:gd name="connsiteX8" fmla="*/ 64276 w 1986917"/>
              <a:gd name="connsiteY8" fmla="*/ 285035 h 2236471"/>
              <a:gd name="connsiteX9" fmla="*/ 16651 w 1986917"/>
              <a:gd name="connsiteY9" fmla="*/ 94535 h 2236471"/>
              <a:gd name="connsiteX10" fmla="*/ 92851 w 1986917"/>
              <a:gd name="connsiteY10" fmla="*/ 8810 h 2236471"/>
              <a:gd name="connsiteX11" fmla="*/ 216676 w 1986917"/>
              <a:gd name="connsiteY11" fmla="*/ 199310 h 2236471"/>
              <a:gd name="connsiteX0" fmla="*/ 276147 w 2046388"/>
              <a:gd name="connsiteY0" fmla="*/ 193785 h 2230946"/>
              <a:gd name="connsiteX1" fmla="*/ 1609647 w 2046388"/>
              <a:gd name="connsiteY1" fmla="*/ 1451085 h 2230946"/>
              <a:gd name="connsiteX2" fmla="*/ 2019222 w 2046388"/>
              <a:gd name="connsiteY2" fmla="*/ 2032110 h 2230946"/>
              <a:gd name="connsiteX3" fmla="*/ 1923972 w 2046388"/>
              <a:gd name="connsiteY3" fmla="*/ 2203560 h 2230946"/>
              <a:gd name="connsiteX4" fmla="*/ 1247697 w 2046388"/>
              <a:gd name="connsiteY4" fmla="*/ 1517760 h 2230946"/>
              <a:gd name="connsiteX5" fmla="*/ 780972 w 2046388"/>
              <a:gd name="connsiteY5" fmla="*/ 1422510 h 2230946"/>
              <a:gd name="connsiteX6" fmla="*/ 447597 w 2046388"/>
              <a:gd name="connsiteY6" fmla="*/ 1203435 h 2230946"/>
              <a:gd name="connsiteX7" fmla="*/ 495222 w 2046388"/>
              <a:gd name="connsiteY7" fmla="*/ 860535 h 2230946"/>
              <a:gd name="connsiteX8" fmla="*/ 123747 w 2046388"/>
              <a:gd name="connsiteY8" fmla="*/ 279510 h 2230946"/>
              <a:gd name="connsiteX9" fmla="*/ 2304 w 2046388"/>
              <a:gd name="connsiteY9" fmla="*/ 81866 h 2230946"/>
              <a:gd name="connsiteX10" fmla="*/ 152322 w 2046388"/>
              <a:gd name="connsiteY10" fmla="*/ 3285 h 2230946"/>
              <a:gd name="connsiteX11" fmla="*/ 276147 w 2046388"/>
              <a:gd name="connsiteY11" fmla="*/ 193785 h 2230946"/>
              <a:gd name="connsiteX0" fmla="*/ 276147 w 2046388"/>
              <a:gd name="connsiteY0" fmla="*/ 268385 h 2305546"/>
              <a:gd name="connsiteX1" fmla="*/ 1609647 w 2046388"/>
              <a:gd name="connsiteY1" fmla="*/ 1525685 h 2305546"/>
              <a:gd name="connsiteX2" fmla="*/ 2019222 w 2046388"/>
              <a:gd name="connsiteY2" fmla="*/ 2106710 h 2305546"/>
              <a:gd name="connsiteX3" fmla="*/ 1923972 w 2046388"/>
              <a:gd name="connsiteY3" fmla="*/ 2278160 h 2305546"/>
              <a:gd name="connsiteX4" fmla="*/ 1247697 w 2046388"/>
              <a:gd name="connsiteY4" fmla="*/ 1592360 h 2305546"/>
              <a:gd name="connsiteX5" fmla="*/ 780972 w 2046388"/>
              <a:gd name="connsiteY5" fmla="*/ 1497110 h 2305546"/>
              <a:gd name="connsiteX6" fmla="*/ 447597 w 2046388"/>
              <a:gd name="connsiteY6" fmla="*/ 1278035 h 2305546"/>
              <a:gd name="connsiteX7" fmla="*/ 495222 w 2046388"/>
              <a:gd name="connsiteY7" fmla="*/ 935135 h 2305546"/>
              <a:gd name="connsiteX8" fmla="*/ 123747 w 2046388"/>
              <a:gd name="connsiteY8" fmla="*/ 354110 h 2305546"/>
              <a:gd name="connsiteX9" fmla="*/ 2304 w 2046388"/>
              <a:gd name="connsiteY9" fmla="*/ 156466 h 2305546"/>
              <a:gd name="connsiteX10" fmla="*/ 142797 w 2046388"/>
              <a:gd name="connsiteY10" fmla="*/ 1685 h 2305546"/>
              <a:gd name="connsiteX11" fmla="*/ 276147 w 2046388"/>
              <a:gd name="connsiteY11" fmla="*/ 268385 h 2305546"/>
              <a:gd name="connsiteX0" fmla="*/ 276147 w 2046388"/>
              <a:gd name="connsiteY0" fmla="*/ 266709 h 2303870"/>
              <a:gd name="connsiteX1" fmla="*/ 1609647 w 2046388"/>
              <a:gd name="connsiteY1" fmla="*/ 1524009 h 2303870"/>
              <a:gd name="connsiteX2" fmla="*/ 2019222 w 2046388"/>
              <a:gd name="connsiteY2" fmla="*/ 2105034 h 2303870"/>
              <a:gd name="connsiteX3" fmla="*/ 1923972 w 2046388"/>
              <a:gd name="connsiteY3" fmla="*/ 2276484 h 2303870"/>
              <a:gd name="connsiteX4" fmla="*/ 1247697 w 2046388"/>
              <a:gd name="connsiteY4" fmla="*/ 1590684 h 2303870"/>
              <a:gd name="connsiteX5" fmla="*/ 780972 w 2046388"/>
              <a:gd name="connsiteY5" fmla="*/ 1495434 h 2303870"/>
              <a:gd name="connsiteX6" fmla="*/ 447597 w 2046388"/>
              <a:gd name="connsiteY6" fmla="*/ 1276359 h 2303870"/>
              <a:gd name="connsiteX7" fmla="*/ 495222 w 2046388"/>
              <a:gd name="connsiteY7" fmla="*/ 933459 h 2303870"/>
              <a:gd name="connsiteX8" fmla="*/ 123747 w 2046388"/>
              <a:gd name="connsiteY8" fmla="*/ 352434 h 2303870"/>
              <a:gd name="connsiteX9" fmla="*/ 2304 w 2046388"/>
              <a:gd name="connsiteY9" fmla="*/ 154790 h 2303870"/>
              <a:gd name="connsiteX10" fmla="*/ 142797 w 2046388"/>
              <a:gd name="connsiteY10" fmla="*/ 9 h 2303870"/>
              <a:gd name="connsiteX11" fmla="*/ 276147 w 2046388"/>
              <a:gd name="connsiteY11" fmla="*/ 266709 h 2303870"/>
              <a:gd name="connsiteX0" fmla="*/ 276147 w 2046388"/>
              <a:gd name="connsiteY0" fmla="*/ 266703 h 2303864"/>
              <a:gd name="connsiteX1" fmla="*/ 1609647 w 2046388"/>
              <a:gd name="connsiteY1" fmla="*/ 1524003 h 2303864"/>
              <a:gd name="connsiteX2" fmla="*/ 2019222 w 2046388"/>
              <a:gd name="connsiteY2" fmla="*/ 2105028 h 2303864"/>
              <a:gd name="connsiteX3" fmla="*/ 1923972 w 2046388"/>
              <a:gd name="connsiteY3" fmla="*/ 2276478 h 2303864"/>
              <a:gd name="connsiteX4" fmla="*/ 1247697 w 2046388"/>
              <a:gd name="connsiteY4" fmla="*/ 1590678 h 2303864"/>
              <a:gd name="connsiteX5" fmla="*/ 780972 w 2046388"/>
              <a:gd name="connsiteY5" fmla="*/ 1495428 h 2303864"/>
              <a:gd name="connsiteX6" fmla="*/ 447597 w 2046388"/>
              <a:gd name="connsiteY6" fmla="*/ 1276353 h 2303864"/>
              <a:gd name="connsiteX7" fmla="*/ 495222 w 2046388"/>
              <a:gd name="connsiteY7" fmla="*/ 933453 h 2303864"/>
              <a:gd name="connsiteX8" fmla="*/ 123747 w 2046388"/>
              <a:gd name="connsiteY8" fmla="*/ 352428 h 2303864"/>
              <a:gd name="connsiteX9" fmla="*/ 2304 w 2046388"/>
              <a:gd name="connsiteY9" fmla="*/ 154784 h 2303864"/>
              <a:gd name="connsiteX10" fmla="*/ 142797 w 2046388"/>
              <a:gd name="connsiteY10" fmla="*/ 3 h 2303864"/>
              <a:gd name="connsiteX11" fmla="*/ 276147 w 2046388"/>
              <a:gd name="connsiteY11" fmla="*/ 266703 h 2303864"/>
              <a:gd name="connsiteX0" fmla="*/ 328534 w 2046388"/>
              <a:gd name="connsiteY0" fmla="*/ 226960 h 2304602"/>
              <a:gd name="connsiteX1" fmla="*/ 1609647 w 2046388"/>
              <a:gd name="connsiteY1" fmla="*/ 1524741 h 2304602"/>
              <a:gd name="connsiteX2" fmla="*/ 2019222 w 2046388"/>
              <a:gd name="connsiteY2" fmla="*/ 2105766 h 2304602"/>
              <a:gd name="connsiteX3" fmla="*/ 1923972 w 2046388"/>
              <a:gd name="connsiteY3" fmla="*/ 2277216 h 2304602"/>
              <a:gd name="connsiteX4" fmla="*/ 1247697 w 2046388"/>
              <a:gd name="connsiteY4" fmla="*/ 1591416 h 2304602"/>
              <a:gd name="connsiteX5" fmla="*/ 780972 w 2046388"/>
              <a:gd name="connsiteY5" fmla="*/ 1496166 h 2304602"/>
              <a:gd name="connsiteX6" fmla="*/ 447597 w 2046388"/>
              <a:gd name="connsiteY6" fmla="*/ 1277091 h 2304602"/>
              <a:gd name="connsiteX7" fmla="*/ 495222 w 2046388"/>
              <a:gd name="connsiteY7" fmla="*/ 934191 h 2304602"/>
              <a:gd name="connsiteX8" fmla="*/ 123747 w 2046388"/>
              <a:gd name="connsiteY8" fmla="*/ 353166 h 2304602"/>
              <a:gd name="connsiteX9" fmla="*/ 2304 w 2046388"/>
              <a:gd name="connsiteY9" fmla="*/ 155522 h 2304602"/>
              <a:gd name="connsiteX10" fmla="*/ 142797 w 2046388"/>
              <a:gd name="connsiteY10" fmla="*/ 741 h 2304602"/>
              <a:gd name="connsiteX11" fmla="*/ 328534 w 2046388"/>
              <a:gd name="connsiteY11" fmla="*/ 226960 h 2304602"/>
              <a:gd name="connsiteX0" fmla="*/ 328534 w 2046388"/>
              <a:gd name="connsiteY0" fmla="*/ 226960 h 2304602"/>
              <a:gd name="connsiteX1" fmla="*/ 1609647 w 2046388"/>
              <a:gd name="connsiteY1" fmla="*/ 1524741 h 2304602"/>
              <a:gd name="connsiteX2" fmla="*/ 2019222 w 2046388"/>
              <a:gd name="connsiteY2" fmla="*/ 2105766 h 2304602"/>
              <a:gd name="connsiteX3" fmla="*/ 1923972 w 2046388"/>
              <a:gd name="connsiteY3" fmla="*/ 2277216 h 2304602"/>
              <a:gd name="connsiteX4" fmla="*/ 1247697 w 2046388"/>
              <a:gd name="connsiteY4" fmla="*/ 1591416 h 2304602"/>
              <a:gd name="connsiteX5" fmla="*/ 780972 w 2046388"/>
              <a:gd name="connsiteY5" fmla="*/ 1496166 h 2304602"/>
              <a:gd name="connsiteX6" fmla="*/ 447597 w 2046388"/>
              <a:gd name="connsiteY6" fmla="*/ 1277091 h 2304602"/>
              <a:gd name="connsiteX7" fmla="*/ 495222 w 2046388"/>
              <a:gd name="connsiteY7" fmla="*/ 934191 h 2304602"/>
              <a:gd name="connsiteX8" fmla="*/ 123747 w 2046388"/>
              <a:gd name="connsiteY8" fmla="*/ 353166 h 2304602"/>
              <a:gd name="connsiteX9" fmla="*/ 2304 w 2046388"/>
              <a:gd name="connsiteY9" fmla="*/ 155522 h 2304602"/>
              <a:gd name="connsiteX10" fmla="*/ 142797 w 2046388"/>
              <a:gd name="connsiteY10" fmla="*/ 741 h 2304602"/>
              <a:gd name="connsiteX11" fmla="*/ 328534 w 2046388"/>
              <a:gd name="connsiteY11" fmla="*/ 226960 h 2304602"/>
              <a:gd name="connsiteX0" fmla="*/ 328534 w 2046388"/>
              <a:gd name="connsiteY0" fmla="*/ 226960 h 2304602"/>
              <a:gd name="connsiteX1" fmla="*/ 1609647 w 2046388"/>
              <a:gd name="connsiteY1" fmla="*/ 1524741 h 2304602"/>
              <a:gd name="connsiteX2" fmla="*/ 2019222 w 2046388"/>
              <a:gd name="connsiteY2" fmla="*/ 2105766 h 2304602"/>
              <a:gd name="connsiteX3" fmla="*/ 1923972 w 2046388"/>
              <a:gd name="connsiteY3" fmla="*/ 2277216 h 2304602"/>
              <a:gd name="connsiteX4" fmla="*/ 1247697 w 2046388"/>
              <a:gd name="connsiteY4" fmla="*/ 1591416 h 2304602"/>
              <a:gd name="connsiteX5" fmla="*/ 780972 w 2046388"/>
              <a:gd name="connsiteY5" fmla="*/ 1496166 h 2304602"/>
              <a:gd name="connsiteX6" fmla="*/ 447597 w 2046388"/>
              <a:gd name="connsiteY6" fmla="*/ 1277091 h 2304602"/>
              <a:gd name="connsiteX7" fmla="*/ 495222 w 2046388"/>
              <a:gd name="connsiteY7" fmla="*/ 934191 h 2304602"/>
              <a:gd name="connsiteX8" fmla="*/ 123747 w 2046388"/>
              <a:gd name="connsiteY8" fmla="*/ 353166 h 2304602"/>
              <a:gd name="connsiteX9" fmla="*/ 2304 w 2046388"/>
              <a:gd name="connsiteY9" fmla="*/ 155522 h 2304602"/>
              <a:gd name="connsiteX10" fmla="*/ 142797 w 2046388"/>
              <a:gd name="connsiteY10" fmla="*/ 741 h 2304602"/>
              <a:gd name="connsiteX11" fmla="*/ 328534 w 2046388"/>
              <a:gd name="connsiteY11" fmla="*/ 226960 h 2304602"/>
              <a:gd name="connsiteX0" fmla="*/ 349965 w 2046388"/>
              <a:gd name="connsiteY0" fmla="*/ 195517 h 2304115"/>
              <a:gd name="connsiteX1" fmla="*/ 1609647 w 2046388"/>
              <a:gd name="connsiteY1" fmla="*/ 1524254 h 2304115"/>
              <a:gd name="connsiteX2" fmla="*/ 2019222 w 2046388"/>
              <a:gd name="connsiteY2" fmla="*/ 2105279 h 2304115"/>
              <a:gd name="connsiteX3" fmla="*/ 1923972 w 2046388"/>
              <a:gd name="connsiteY3" fmla="*/ 2276729 h 2304115"/>
              <a:gd name="connsiteX4" fmla="*/ 1247697 w 2046388"/>
              <a:gd name="connsiteY4" fmla="*/ 1590929 h 2304115"/>
              <a:gd name="connsiteX5" fmla="*/ 780972 w 2046388"/>
              <a:gd name="connsiteY5" fmla="*/ 1495679 h 2304115"/>
              <a:gd name="connsiteX6" fmla="*/ 447597 w 2046388"/>
              <a:gd name="connsiteY6" fmla="*/ 1276604 h 2304115"/>
              <a:gd name="connsiteX7" fmla="*/ 495222 w 2046388"/>
              <a:gd name="connsiteY7" fmla="*/ 933704 h 2304115"/>
              <a:gd name="connsiteX8" fmla="*/ 123747 w 2046388"/>
              <a:gd name="connsiteY8" fmla="*/ 352679 h 2304115"/>
              <a:gd name="connsiteX9" fmla="*/ 2304 w 2046388"/>
              <a:gd name="connsiteY9" fmla="*/ 155035 h 2304115"/>
              <a:gd name="connsiteX10" fmla="*/ 142797 w 2046388"/>
              <a:gd name="connsiteY10" fmla="*/ 254 h 2304115"/>
              <a:gd name="connsiteX11" fmla="*/ 349965 w 2046388"/>
              <a:gd name="connsiteY11" fmla="*/ 195517 h 2304115"/>
              <a:gd name="connsiteX0" fmla="*/ 349965 w 2045212"/>
              <a:gd name="connsiteY0" fmla="*/ 196737 h 2306213"/>
              <a:gd name="connsiteX1" fmla="*/ 1625522 w 2045212"/>
              <a:gd name="connsiteY1" fmla="*/ 1481024 h 2306213"/>
              <a:gd name="connsiteX2" fmla="*/ 2019222 w 2045212"/>
              <a:gd name="connsiteY2" fmla="*/ 2106499 h 2306213"/>
              <a:gd name="connsiteX3" fmla="*/ 1923972 w 2045212"/>
              <a:gd name="connsiteY3" fmla="*/ 2277949 h 2306213"/>
              <a:gd name="connsiteX4" fmla="*/ 1247697 w 2045212"/>
              <a:gd name="connsiteY4" fmla="*/ 1592149 h 2306213"/>
              <a:gd name="connsiteX5" fmla="*/ 780972 w 2045212"/>
              <a:gd name="connsiteY5" fmla="*/ 1496899 h 2306213"/>
              <a:gd name="connsiteX6" fmla="*/ 447597 w 2045212"/>
              <a:gd name="connsiteY6" fmla="*/ 1277824 h 2306213"/>
              <a:gd name="connsiteX7" fmla="*/ 495222 w 2045212"/>
              <a:gd name="connsiteY7" fmla="*/ 934924 h 2306213"/>
              <a:gd name="connsiteX8" fmla="*/ 123747 w 2045212"/>
              <a:gd name="connsiteY8" fmla="*/ 353899 h 2306213"/>
              <a:gd name="connsiteX9" fmla="*/ 2304 w 2045212"/>
              <a:gd name="connsiteY9" fmla="*/ 156255 h 2306213"/>
              <a:gd name="connsiteX10" fmla="*/ 142797 w 2045212"/>
              <a:gd name="connsiteY10" fmla="*/ 1474 h 2306213"/>
              <a:gd name="connsiteX11" fmla="*/ 349965 w 2045212"/>
              <a:gd name="connsiteY11" fmla="*/ 196737 h 2306213"/>
              <a:gd name="connsiteX0" fmla="*/ 349965 w 2044271"/>
              <a:gd name="connsiteY0" fmla="*/ 196645 h 2306185"/>
              <a:gd name="connsiteX1" fmla="*/ 1638222 w 2044271"/>
              <a:gd name="connsiteY1" fmla="*/ 1477757 h 2306185"/>
              <a:gd name="connsiteX2" fmla="*/ 2019222 w 2044271"/>
              <a:gd name="connsiteY2" fmla="*/ 2106407 h 2306185"/>
              <a:gd name="connsiteX3" fmla="*/ 1923972 w 2044271"/>
              <a:gd name="connsiteY3" fmla="*/ 2277857 h 2306185"/>
              <a:gd name="connsiteX4" fmla="*/ 1247697 w 2044271"/>
              <a:gd name="connsiteY4" fmla="*/ 1592057 h 2306185"/>
              <a:gd name="connsiteX5" fmla="*/ 780972 w 2044271"/>
              <a:gd name="connsiteY5" fmla="*/ 1496807 h 2306185"/>
              <a:gd name="connsiteX6" fmla="*/ 447597 w 2044271"/>
              <a:gd name="connsiteY6" fmla="*/ 1277732 h 2306185"/>
              <a:gd name="connsiteX7" fmla="*/ 495222 w 2044271"/>
              <a:gd name="connsiteY7" fmla="*/ 934832 h 2306185"/>
              <a:gd name="connsiteX8" fmla="*/ 123747 w 2044271"/>
              <a:gd name="connsiteY8" fmla="*/ 353807 h 2306185"/>
              <a:gd name="connsiteX9" fmla="*/ 2304 w 2044271"/>
              <a:gd name="connsiteY9" fmla="*/ 156163 h 2306185"/>
              <a:gd name="connsiteX10" fmla="*/ 142797 w 2044271"/>
              <a:gd name="connsiteY10" fmla="*/ 1382 h 2306185"/>
              <a:gd name="connsiteX11" fmla="*/ 349965 w 2044271"/>
              <a:gd name="connsiteY11" fmla="*/ 196645 h 2306185"/>
              <a:gd name="connsiteX0" fmla="*/ 349965 w 2072836"/>
              <a:gd name="connsiteY0" fmla="*/ 196645 h 2294603"/>
              <a:gd name="connsiteX1" fmla="*/ 1638222 w 2072836"/>
              <a:gd name="connsiteY1" fmla="*/ 1477757 h 2294603"/>
              <a:gd name="connsiteX2" fmla="*/ 2054147 w 2072836"/>
              <a:gd name="connsiteY2" fmla="*/ 2033382 h 2294603"/>
              <a:gd name="connsiteX3" fmla="*/ 1923972 w 2072836"/>
              <a:gd name="connsiteY3" fmla="*/ 2277857 h 2294603"/>
              <a:gd name="connsiteX4" fmla="*/ 1247697 w 2072836"/>
              <a:gd name="connsiteY4" fmla="*/ 1592057 h 2294603"/>
              <a:gd name="connsiteX5" fmla="*/ 780972 w 2072836"/>
              <a:gd name="connsiteY5" fmla="*/ 1496807 h 2294603"/>
              <a:gd name="connsiteX6" fmla="*/ 447597 w 2072836"/>
              <a:gd name="connsiteY6" fmla="*/ 1277732 h 2294603"/>
              <a:gd name="connsiteX7" fmla="*/ 495222 w 2072836"/>
              <a:gd name="connsiteY7" fmla="*/ 934832 h 2294603"/>
              <a:gd name="connsiteX8" fmla="*/ 123747 w 2072836"/>
              <a:gd name="connsiteY8" fmla="*/ 353807 h 2294603"/>
              <a:gd name="connsiteX9" fmla="*/ 2304 w 2072836"/>
              <a:gd name="connsiteY9" fmla="*/ 156163 h 2294603"/>
              <a:gd name="connsiteX10" fmla="*/ 142797 w 2072836"/>
              <a:gd name="connsiteY10" fmla="*/ 1382 h 2294603"/>
              <a:gd name="connsiteX11" fmla="*/ 349965 w 2072836"/>
              <a:gd name="connsiteY11" fmla="*/ 196645 h 2294603"/>
              <a:gd name="connsiteX0" fmla="*/ 349965 w 2064773"/>
              <a:gd name="connsiteY0" fmla="*/ 196645 h 2296224"/>
              <a:gd name="connsiteX1" fmla="*/ 1638222 w 2064773"/>
              <a:gd name="connsiteY1" fmla="*/ 1477757 h 2296224"/>
              <a:gd name="connsiteX2" fmla="*/ 2044622 w 2064773"/>
              <a:gd name="connsiteY2" fmla="*/ 2046082 h 2296224"/>
              <a:gd name="connsiteX3" fmla="*/ 1923972 w 2064773"/>
              <a:gd name="connsiteY3" fmla="*/ 2277857 h 2296224"/>
              <a:gd name="connsiteX4" fmla="*/ 1247697 w 2064773"/>
              <a:gd name="connsiteY4" fmla="*/ 1592057 h 2296224"/>
              <a:gd name="connsiteX5" fmla="*/ 780972 w 2064773"/>
              <a:gd name="connsiteY5" fmla="*/ 1496807 h 2296224"/>
              <a:gd name="connsiteX6" fmla="*/ 447597 w 2064773"/>
              <a:gd name="connsiteY6" fmla="*/ 1277732 h 2296224"/>
              <a:gd name="connsiteX7" fmla="*/ 495222 w 2064773"/>
              <a:gd name="connsiteY7" fmla="*/ 934832 h 2296224"/>
              <a:gd name="connsiteX8" fmla="*/ 123747 w 2064773"/>
              <a:gd name="connsiteY8" fmla="*/ 353807 h 2296224"/>
              <a:gd name="connsiteX9" fmla="*/ 2304 w 2064773"/>
              <a:gd name="connsiteY9" fmla="*/ 156163 h 2296224"/>
              <a:gd name="connsiteX10" fmla="*/ 142797 w 2064773"/>
              <a:gd name="connsiteY10" fmla="*/ 1382 h 2296224"/>
              <a:gd name="connsiteX11" fmla="*/ 349965 w 2064773"/>
              <a:gd name="connsiteY11" fmla="*/ 196645 h 2296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4773" h="2296224">
                <a:moveTo>
                  <a:pt x="349965" y="196645"/>
                </a:moveTo>
                <a:cubicBezTo>
                  <a:pt x="599203" y="442708"/>
                  <a:pt x="1355779" y="1169518"/>
                  <a:pt x="1638222" y="1477757"/>
                </a:cubicBezTo>
                <a:cubicBezTo>
                  <a:pt x="1920665" y="1785996"/>
                  <a:pt x="1996997" y="1912732"/>
                  <a:pt x="2044622" y="2046082"/>
                </a:cubicBezTo>
                <a:cubicBezTo>
                  <a:pt x="2092247" y="2179432"/>
                  <a:pt x="2056793" y="2353528"/>
                  <a:pt x="1923972" y="2277857"/>
                </a:cubicBezTo>
                <a:cubicBezTo>
                  <a:pt x="1791151" y="2202186"/>
                  <a:pt x="1438197" y="1722232"/>
                  <a:pt x="1247697" y="1592057"/>
                </a:cubicBezTo>
                <a:cubicBezTo>
                  <a:pt x="1057197" y="1461882"/>
                  <a:pt x="914322" y="1549195"/>
                  <a:pt x="780972" y="1496807"/>
                </a:cubicBezTo>
                <a:cubicBezTo>
                  <a:pt x="647622" y="1444420"/>
                  <a:pt x="495222" y="1371395"/>
                  <a:pt x="447597" y="1277732"/>
                </a:cubicBezTo>
                <a:cubicBezTo>
                  <a:pt x="399972" y="1184070"/>
                  <a:pt x="549197" y="1088819"/>
                  <a:pt x="495222" y="934832"/>
                </a:cubicBezTo>
                <a:cubicBezTo>
                  <a:pt x="441247" y="780845"/>
                  <a:pt x="205900" y="483585"/>
                  <a:pt x="123747" y="353807"/>
                </a:cubicBezTo>
                <a:cubicBezTo>
                  <a:pt x="41594" y="224029"/>
                  <a:pt x="-11984" y="187913"/>
                  <a:pt x="2304" y="156163"/>
                </a:cubicBezTo>
                <a:cubicBezTo>
                  <a:pt x="16591" y="124413"/>
                  <a:pt x="84854" y="-5365"/>
                  <a:pt x="142797" y="1382"/>
                </a:cubicBezTo>
                <a:cubicBezTo>
                  <a:pt x="200740" y="8129"/>
                  <a:pt x="100727" y="-49418"/>
                  <a:pt x="349965" y="196645"/>
                </a:cubicBezTo>
                <a:close/>
              </a:path>
            </a:pathLst>
          </a:custGeom>
          <a:solidFill>
            <a:srgbClr val="FFFF9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p:cNvSpPr/>
          <p:nvPr/>
        </p:nvSpPr>
        <p:spPr>
          <a:xfrm>
            <a:off x="1369021" y="1448780"/>
            <a:ext cx="288032" cy="2160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 name="Freeform 8"/>
          <p:cNvSpPr/>
          <p:nvPr/>
        </p:nvSpPr>
        <p:spPr>
          <a:xfrm>
            <a:off x="1428081" y="226113"/>
            <a:ext cx="1675818" cy="1438691"/>
          </a:xfrm>
          <a:custGeom>
            <a:avLst/>
            <a:gdLst>
              <a:gd name="connsiteX0" fmla="*/ 105446 w 1978363"/>
              <a:gd name="connsiteY0" fmla="*/ 173938 h 2087319"/>
              <a:gd name="connsiteX1" fmla="*/ 762671 w 1978363"/>
              <a:gd name="connsiteY1" fmla="*/ 802588 h 2087319"/>
              <a:gd name="connsiteX2" fmla="*/ 1400846 w 1978363"/>
              <a:gd name="connsiteY2" fmla="*/ 1469338 h 2087319"/>
              <a:gd name="connsiteX3" fmla="*/ 1696121 w 1978363"/>
              <a:gd name="connsiteY3" fmla="*/ 1983688 h 2087319"/>
              <a:gd name="connsiteX4" fmla="*/ 1829471 w 1978363"/>
              <a:gd name="connsiteY4" fmla="*/ 2078938 h 2087319"/>
              <a:gd name="connsiteX5" fmla="*/ 1943771 w 1978363"/>
              <a:gd name="connsiteY5" fmla="*/ 2059888 h 2087319"/>
              <a:gd name="connsiteX6" fmla="*/ 1962821 w 1978363"/>
              <a:gd name="connsiteY6" fmla="*/ 1878913 h 2087319"/>
              <a:gd name="connsiteX7" fmla="*/ 1734221 w 1978363"/>
              <a:gd name="connsiteY7" fmla="*/ 1345513 h 2087319"/>
              <a:gd name="connsiteX8" fmla="*/ 1143671 w 1978363"/>
              <a:gd name="connsiteY8" fmla="*/ 640663 h 2087319"/>
              <a:gd name="connsiteX9" fmla="*/ 524546 w 1978363"/>
              <a:gd name="connsiteY9" fmla="*/ 145363 h 2087319"/>
              <a:gd name="connsiteX10" fmla="*/ 257846 w 1978363"/>
              <a:gd name="connsiteY10" fmla="*/ 21538 h 2087319"/>
              <a:gd name="connsiteX11" fmla="*/ 76871 w 1978363"/>
              <a:gd name="connsiteY11" fmla="*/ 2488 h 2087319"/>
              <a:gd name="connsiteX12" fmla="*/ 671 w 1978363"/>
              <a:gd name="connsiteY12" fmla="*/ 50113 h 2087319"/>
              <a:gd name="connsiteX13" fmla="*/ 105446 w 1978363"/>
              <a:gd name="connsiteY13" fmla="*/ 173938 h 2087319"/>
              <a:gd name="connsiteX0" fmla="*/ 105446 w 1978363"/>
              <a:gd name="connsiteY0" fmla="*/ 173938 h 2087319"/>
              <a:gd name="connsiteX1" fmla="*/ 727746 w 1978363"/>
              <a:gd name="connsiteY1" fmla="*/ 843863 h 2087319"/>
              <a:gd name="connsiteX2" fmla="*/ 1400846 w 1978363"/>
              <a:gd name="connsiteY2" fmla="*/ 1469338 h 2087319"/>
              <a:gd name="connsiteX3" fmla="*/ 1696121 w 1978363"/>
              <a:gd name="connsiteY3" fmla="*/ 1983688 h 2087319"/>
              <a:gd name="connsiteX4" fmla="*/ 1829471 w 1978363"/>
              <a:gd name="connsiteY4" fmla="*/ 2078938 h 2087319"/>
              <a:gd name="connsiteX5" fmla="*/ 1943771 w 1978363"/>
              <a:gd name="connsiteY5" fmla="*/ 2059888 h 2087319"/>
              <a:gd name="connsiteX6" fmla="*/ 1962821 w 1978363"/>
              <a:gd name="connsiteY6" fmla="*/ 1878913 h 2087319"/>
              <a:gd name="connsiteX7" fmla="*/ 1734221 w 1978363"/>
              <a:gd name="connsiteY7" fmla="*/ 1345513 h 2087319"/>
              <a:gd name="connsiteX8" fmla="*/ 1143671 w 1978363"/>
              <a:gd name="connsiteY8" fmla="*/ 640663 h 2087319"/>
              <a:gd name="connsiteX9" fmla="*/ 524546 w 1978363"/>
              <a:gd name="connsiteY9" fmla="*/ 145363 h 2087319"/>
              <a:gd name="connsiteX10" fmla="*/ 257846 w 1978363"/>
              <a:gd name="connsiteY10" fmla="*/ 21538 h 2087319"/>
              <a:gd name="connsiteX11" fmla="*/ 76871 w 1978363"/>
              <a:gd name="connsiteY11" fmla="*/ 2488 h 2087319"/>
              <a:gd name="connsiteX12" fmla="*/ 671 w 1978363"/>
              <a:gd name="connsiteY12" fmla="*/ 50113 h 2087319"/>
              <a:gd name="connsiteX13" fmla="*/ 105446 w 1978363"/>
              <a:gd name="connsiteY13" fmla="*/ 173938 h 2087319"/>
              <a:gd name="connsiteX0" fmla="*/ 105446 w 1978363"/>
              <a:gd name="connsiteY0" fmla="*/ 173938 h 2087319"/>
              <a:gd name="connsiteX1" fmla="*/ 727746 w 1978363"/>
              <a:gd name="connsiteY1" fmla="*/ 843863 h 2087319"/>
              <a:gd name="connsiteX2" fmla="*/ 1362746 w 1978363"/>
              <a:gd name="connsiteY2" fmla="*/ 1545538 h 2087319"/>
              <a:gd name="connsiteX3" fmla="*/ 1696121 w 1978363"/>
              <a:gd name="connsiteY3" fmla="*/ 1983688 h 2087319"/>
              <a:gd name="connsiteX4" fmla="*/ 1829471 w 1978363"/>
              <a:gd name="connsiteY4" fmla="*/ 2078938 h 2087319"/>
              <a:gd name="connsiteX5" fmla="*/ 1943771 w 1978363"/>
              <a:gd name="connsiteY5" fmla="*/ 2059888 h 2087319"/>
              <a:gd name="connsiteX6" fmla="*/ 1962821 w 1978363"/>
              <a:gd name="connsiteY6" fmla="*/ 1878913 h 2087319"/>
              <a:gd name="connsiteX7" fmla="*/ 1734221 w 1978363"/>
              <a:gd name="connsiteY7" fmla="*/ 1345513 h 2087319"/>
              <a:gd name="connsiteX8" fmla="*/ 1143671 w 1978363"/>
              <a:gd name="connsiteY8" fmla="*/ 640663 h 2087319"/>
              <a:gd name="connsiteX9" fmla="*/ 524546 w 1978363"/>
              <a:gd name="connsiteY9" fmla="*/ 145363 h 2087319"/>
              <a:gd name="connsiteX10" fmla="*/ 257846 w 1978363"/>
              <a:gd name="connsiteY10" fmla="*/ 21538 h 2087319"/>
              <a:gd name="connsiteX11" fmla="*/ 76871 w 1978363"/>
              <a:gd name="connsiteY11" fmla="*/ 2488 h 2087319"/>
              <a:gd name="connsiteX12" fmla="*/ 671 w 1978363"/>
              <a:gd name="connsiteY12" fmla="*/ 50113 h 2087319"/>
              <a:gd name="connsiteX13" fmla="*/ 105446 w 1978363"/>
              <a:gd name="connsiteY13" fmla="*/ 173938 h 2087319"/>
              <a:gd name="connsiteX0" fmla="*/ 105446 w 1978363"/>
              <a:gd name="connsiteY0" fmla="*/ 173938 h 2087319"/>
              <a:gd name="connsiteX1" fmla="*/ 753146 w 1978363"/>
              <a:gd name="connsiteY1" fmla="*/ 837513 h 2087319"/>
              <a:gd name="connsiteX2" fmla="*/ 1362746 w 1978363"/>
              <a:gd name="connsiteY2" fmla="*/ 1545538 h 2087319"/>
              <a:gd name="connsiteX3" fmla="*/ 1696121 w 1978363"/>
              <a:gd name="connsiteY3" fmla="*/ 1983688 h 2087319"/>
              <a:gd name="connsiteX4" fmla="*/ 1829471 w 1978363"/>
              <a:gd name="connsiteY4" fmla="*/ 2078938 h 2087319"/>
              <a:gd name="connsiteX5" fmla="*/ 1943771 w 1978363"/>
              <a:gd name="connsiteY5" fmla="*/ 2059888 h 2087319"/>
              <a:gd name="connsiteX6" fmla="*/ 1962821 w 1978363"/>
              <a:gd name="connsiteY6" fmla="*/ 1878913 h 2087319"/>
              <a:gd name="connsiteX7" fmla="*/ 1734221 w 1978363"/>
              <a:gd name="connsiteY7" fmla="*/ 1345513 h 2087319"/>
              <a:gd name="connsiteX8" fmla="*/ 1143671 w 1978363"/>
              <a:gd name="connsiteY8" fmla="*/ 640663 h 2087319"/>
              <a:gd name="connsiteX9" fmla="*/ 524546 w 1978363"/>
              <a:gd name="connsiteY9" fmla="*/ 145363 h 2087319"/>
              <a:gd name="connsiteX10" fmla="*/ 257846 w 1978363"/>
              <a:gd name="connsiteY10" fmla="*/ 21538 h 2087319"/>
              <a:gd name="connsiteX11" fmla="*/ 76871 w 1978363"/>
              <a:gd name="connsiteY11" fmla="*/ 2488 h 2087319"/>
              <a:gd name="connsiteX12" fmla="*/ 671 w 1978363"/>
              <a:gd name="connsiteY12" fmla="*/ 50113 h 2087319"/>
              <a:gd name="connsiteX13" fmla="*/ 105446 w 1978363"/>
              <a:gd name="connsiteY13" fmla="*/ 173938 h 2087319"/>
              <a:gd name="connsiteX0" fmla="*/ 105446 w 1978363"/>
              <a:gd name="connsiteY0" fmla="*/ 173938 h 2087319"/>
              <a:gd name="connsiteX1" fmla="*/ 753146 w 1978363"/>
              <a:gd name="connsiteY1" fmla="*/ 837513 h 2087319"/>
              <a:gd name="connsiteX2" fmla="*/ 1362746 w 1978363"/>
              <a:gd name="connsiteY2" fmla="*/ 1545538 h 2087319"/>
              <a:gd name="connsiteX3" fmla="*/ 1696121 w 1978363"/>
              <a:gd name="connsiteY3" fmla="*/ 1983688 h 2087319"/>
              <a:gd name="connsiteX4" fmla="*/ 1829471 w 1978363"/>
              <a:gd name="connsiteY4" fmla="*/ 2078938 h 2087319"/>
              <a:gd name="connsiteX5" fmla="*/ 1943771 w 1978363"/>
              <a:gd name="connsiteY5" fmla="*/ 2059888 h 2087319"/>
              <a:gd name="connsiteX6" fmla="*/ 1962821 w 1978363"/>
              <a:gd name="connsiteY6" fmla="*/ 1878913 h 2087319"/>
              <a:gd name="connsiteX7" fmla="*/ 1734221 w 1978363"/>
              <a:gd name="connsiteY7" fmla="*/ 1345513 h 2087319"/>
              <a:gd name="connsiteX8" fmla="*/ 1019846 w 1978363"/>
              <a:gd name="connsiteY8" fmla="*/ 643838 h 2087319"/>
              <a:gd name="connsiteX9" fmla="*/ 524546 w 1978363"/>
              <a:gd name="connsiteY9" fmla="*/ 145363 h 2087319"/>
              <a:gd name="connsiteX10" fmla="*/ 257846 w 1978363"/>
              <a:gd name="connsiteY10" fmla="*/ 21538 h 2087319"/>
              <a:gd name="connsiteX11" fmla="*/ 76871 w 1978363"/>
              <a:gd name="connsiteY11" fmla="*/ 2488 h 2087319"/>
              <a:gd name="connsiteX12" fmla="*/ 671 w 1978363"/>
              <a:gd name="connsiteY12" fmla="*/ 50113 h 2087319"/>
              <a:gd name="connsiteX13" fmla="*/ 105446 w 1978363"/>
              <a:gd name="connsiteY13" fmla="*/ 173938 h 2087319"/>
              <a:gd name="connsiteX0" fmla="*/ 105446 w 1984003"/>
              <a:gd name="connsiteY0" fmla="*/ 173938 h 2087319"/>
              <a:gd name="connsiteX1" fmla="*/ 753146 w 1984003"/>
              <a:gd name="connsiteY1" fmla="*/ 837513 h 2087319"/>
              <a:gd name="connsiteX2" fmla="*/ 1362746 w 1984003"/>
              <a:gd name="connsiteY2" fmla="*/ 1545538 h 2087319"/>
              <a:gd name="connsiteX3" fmla="*/ 1696121 w 1984003"/>
              <a:gd name="connsiteY3" fmla="*/ 1983688 h 2087319"/>
              <a:gd name="connsiteX4" fmla="*/ 1829471 w 1984003"/>
              <a:gd name="connsiteY4" fmla="*/ 2078938 h 2087319"/>
              <a:gd name="connsiteX5" fmla="*/ 1943771 w 1984003"/>
              <a:gd name="connsiteY5" fmla="*/ 2059888 h 2087319"/>
              <a:gd name="connsiteX6" fmla="*/ 1962821 w 1984003"/>
              <a:gd name="connsiteY6" fmla="*/ 1878913 h 2087319"/>
              <a:gd name="connsiteX7" fmla="*/ 1658021 w 1984003"/>
              <a:gd name="connsiteY7" fmla="*/ 1393138 h 2087319"/>
              <a:gd name="connsiteX8" fmla="*/ 1019846 w 1984003"/>
              <a:gd name="connsiteY8" fmla="*/ 643838 h 2087319"/>
              <a:gd name="connsiteX9" fmla="*/ 524546 w 1984003"/>
              <a:gd name="connsiteY9" fmla="*/ 145363 h 2087319"/>
              <a:gd name="connsiteX10" fmla="*/ 257846 w 1984003"/>
              <a:gd name="connsiteY10" fmla="*/ 21538 h 2087319"/>
              <a:gd name="connsiteX11" fmla="*/ 76871 w 1984003"/>
              <a:gd name="connsiteY11" fmla="*/ 2488 h 2087319"/>
              <a:gd name="connsiteX12" fmla="*/ 671 w 1984003"/>
              <a:gd name="connsiteY12" fmla="*/ 50113 h 2087319"/>
              <a:gd name="connsiteX13" fmla="*/ 105446 w 1984003"/>
              <a:gd name="connsiteY13" fmla="*/ 173938 h 2087319"/>
              <a:gd name="connsiteX0" fmla="*/ 105446 w 1984003"/>
              <a:gd name="connsiteY0" fmla="*/ 173938 h 2091933"/>
              <a:gd name="connsiteX1" fmla="*/ 753146 w 1984003"/>
              <a:gd name="connsiteY1" fmla="*/ 837513 h 2091933"/>
              <a:gd name="connsiteX2" fmla="*/ 1362746 w 1984003"/>
              <a:gd name="connsiteY2" fmla="*/ 1545538 h 2091933"/>
              <a:gd name="connsiteX3" fmla="*/ 1584996 w 1984003"/>
              <a:gd name="connsiteY3" fmla="*/ 1920188 h 2091933"/>
              <a:gd name="connsiteX4" fmla="*/ 1829471 w 1984003"/>
              <a:gd name="connsiteY4" fmla="*/ 2078938 h 2091933"/>
              <a:gd name="connsiteX5" fmla="*/ 1943771 w 1984003"/>
              <a:gd name="connsiteY5" fmla="*/ 2059888 h 2091933"/>
              <a:gd name="connsiteX6" fmla="*/ 1962821 w 1984003"/>
              <a:gd name="connsiteY6" fmla="*/ 1878913 h 2091933"/>
              <a:gd name="connsiteX7" fmla="*/ 1658021 w 1984003"/>
              <a:gd name="connsiteY7" fmla="*/ 1393138 h 2091933"/>
              <a:gd name="connsiteX8" fmla="*/ 1019846 w 1984003"/>
              <a:gd name="connsiteY8" fmla="*/ 643838 h 2091933"/>
              <a:gd name="connsiteX9" fmla="*/ 524546 w 1984003"/>
              <a:gd name="connsiteY9" fmla="*/ 145363 h 2091933"/>
              <a:gd name="connsiteX10" fmla="*/ 257846 w 1984003"/>
              <a:gd name="connsiteY10" fmla="*/ 21538 h 2091933"/>
              <a:gd name="connsiteX11" fmla="*/ 76871 w 1984003"/>
              <a:gd name="connsiteY11" fmla="*/ 2488 h 2091933"/>
              <a:gd name="connsiteX12" fmla="*/ 671 w 1984003"/>
              <a:gd name="connsiteY12" fmla="*/ 50113 h 2091933"/>
              <a:gd name="connsiteX13" fmla="*/ 105446 w 1984003"/>
              <a:gd name="connsiteY13" fmla="*/ 173938 h 2091933"/>
              <a:gd name="connsiteX0" fmla="*/ 105446 w 1985050"/>
              <a:gd name="connsiteY0" fmla="*/ 173938 h 2138527"/>
              <a:gd name="connsiteX1" fmla="*/ 753146 w 1985050"/>
              <a:gd name="connsiteY1" fmla="*/ 837513 h 2138527"/>
              <a:gd name="connsiteX2" fmla="*/ 1362746 w 1985050"/>
              <a:gd name="connsiteY2" fmla="*/ 1545538 h 2138527"/>
              <a:gd name="connsiteX3" fmla="*/ 1584996 w 1985050"/>
              <a:gd name="connsiteY3" fmla="*/ 1920188 h 2138527"/>
              <a:gd name="connsiteX4" fmla="*/ 1800896 w 1985050"/>
              <a:gd name="connsiteY4" fmla="*/ 2132913 h 2138527"/>
              <a:gd name="connsiteX5" fmla="*/ 1943771 w 1985050"/>
              <a:gd name="connsiteY5" fmla="*/ 2059888 h 2138527"/>
              <a:gd name="connsiteX6" fmla="*/ 1962821 w 1985050"/>
              <a:gd name="connsiteY6" fmla="*/ 1878913 h 2138527"/>
              <a:gd name="connsiteX7" fmla="*/ 1658021 w 1985050"/>
              <a:gd name="connsiteY7" fmla="*/ 1393138 h 2138527"/>
              <a:gd name="connsiteX8" fmla="*/ 1019846 w 1985050"/>
              <a:gd name="connsiteY8" fmla="*/ 643838 h 2138527"/>
              <a:gd name="connsiteX9" fmla="*/ 524546 w 1985050"/>
              <a:gd name="connsiteY9" fmla="*/ 145363 h 2138527"/>
              <a:gd name="connsiteX10" fmla="*/ 257846 w 1985050"/>
              <a:gd name="connsiteY10" fmla="*/ 21538 h 2138527"/>
              <a:gd name="connsiteX11" fmla="*/ 76871 w 1985050"/>
              <a:gd name="connsiteY11" fmla="*/ 2488 h 2138527"/>
              <a:gd name="connsiteX12" fmla="*/ 671 w 1985050"/>
              <a:gd name="connsiteY12" fmla="*/ 50113 h 2138527"/>
              <a:gd name="connsiteX13" fmla="*/ 105446 w 1985050"/>
              <a:gd name="connsiteY13" fmla="*/ 173938 h 2138527"/>
              <a:gd name="connsiteX0" fmla="*/ 105446 w 2169309"/>
              <a:gd name="connsiteY0" fmla="*/ 173938 h 2147494"/>
              <a:gd name="connsiteX1" fmla="*/ 753146 w 2169309"/>
              <a:gd name="connsiteY1" fmla="*/ 837513 h 2147494"/>
              <a:gd name="connsiteX2" fmla="*/ 1362746 w 2169309"/>
              <a:gd name="connsiteY2" fmla="*/ 1545538 h 2147494"/>
              <a:gd name="connsiteX3" fmla="*/ 1584996 w 2169309"/>
              <a:gd name="connsiteY3" fmla="*/ 1920188 h 2147494"/>
              <a:gd name="connsiteX4" fmla="*/ 1800896 w 2169309"/>
              <a:gd name="connsiteY4" fmla="*/ 2132913 h 2147494"/>
              <a:gd name="connsiteX5" fmla="*/ 2166021 w 2169309"/>
              <a:gd name="connsiteY5" fmla="*/ 2101163 h 2147494"/>
              <a:gd name="connsiteX6" fmla="*/ 1962821 w 2169309"/>
              <a:gd name="connsiteY6" fmla="*/ 1878913 h 2147494"/>
              <a:gd name="connsiteX7" fmla="*/ 1658021 w 2169309"/>
              <a:gd name="connsiteY7" fmla="*/ 1393138 h 2147494"/>
              <a:gd name="connsiteX8" fmla="*/ 1019846 w 2169309"/>
              <a:gd name="connsiteY8" fmla="*/ 643838 h 2147494"/>
              <a:gd name="connsiteX9" fmla="*/ 524546 w 2169309"/>
              <a:gd name="connsiteY9" fmla="*/ 145363 h 2147494"/>
              <a:gd name="connsiteX10" fmla="*/ 257846 w 2169309"/>
              <a:gd name="connsiteY10" fmla="*/ 21538 h 2147494"/>
              <a:gd name="connsiteX11" fmla="*/ 76871 w 2169309"/>
              <a:gd name="connsiteY11" fmla="*/ 2488 h 2147494"/>
              <a:gd name="connsiteX12" fmla="*/ 671 w 2169309"/>
              <a:gd name="connsiteY12" fmla="*/ 50113 h 2147494"/>
              <a:gd name="connsiteX13" fmla="*/ 105446 w 2169309"/>
              <a:gd name="connsiteY13" fmla="*/ 173938 h 2147494"/>
              <a:gd name="connsiteX0" fmla="*/ 105446 w 2172557"/>
              <a:gd name="connsiteY0" fmla="*/ 173938 h 2147494"/>
              <a:gd name="connsiteX1" fmla="*/ 753146 w 2172557"/>
              <a:gd name="connsiteY1" fmla="*/ 837513 h 2147494"/>
              <a:gd name="connsiteX2" fmla="*/ 1362746 w 2172557"/>
              <a:gd name="connsiteY2" fmla="*/ 1545538 h 2147494"/>
              <a:gd name="connsiteX3" fmla="*/ 1584996 w 2172557"/>
              <a:gd name="connsiteY3" fmla="*/ 1920188 h 2147494"/>
              <a:gd name="connsiteX4" fmla="*/ 1800896 w 2172557"/>
              <a:gd name="connsiteY4" fmla="*/ 2132913 h 2147494"/>
              <a:gd name="connsiteX5" fmla="*/ 2166021 w 2172557"/>
              <a:gd name="connsiteY5" fmla="*/ 2101163 h 2147494"/>
              <a:gd name="connsiteX6" fmla="*/ 2007271 w 2172557"/>
              <a:gd name="connsiteY6" fmla="*/ 1878913 h 2147494"/>
              <a:gd name="connsiteX7" fmla="*/ 1658021 w 2172557"/>
              <a:gd name="connsiteY7" fmla="*/ 1393138 h 2147494"/>
              <a:gd name="connsiteX8" fmla="*/ 1019846 w 2172557"/>
              <a:gd name="connsiteY8" fmla="*/ 643838 h 2147494"/>
              <a:gd name="connsiteX9" fmla="*/ 524546 w 2172557"/>
              <a:gd name="connsiteY9" fmla="*/ 145363 h 2147494"/>
              <a:gd name="connsiteX10" fmla="*/ 257846 w 2172557"/>
              <a:gd name="connsiteY10" fmla="*/ 21538 h 2147494"/>
              <a:gd name="connsiteX11" fmla="*/ 76871 w 2172557"/>
              <a:gd name="connsiteY11" fmla="*/ 2488 h 2147494"/>
              <a:gd name="connsiteX12" fmla="*/ 671 w 2172557"/>
              <a:gd name="connsiteY12" fmla="*/ 50113 h 2147494"/>
              <a:gd name="connsiteX13" fmla="*/ 105446 w 2172557"/>
              <a:gd name="connsiteY13" fmla="*/ 173938 h 2147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72557" h="2147494">
                <a:moveTo>
                  <a:pt x="105446" y="173938"/>
                </a:moveTo>
                <a:cubicBezTo>
                  <a:pt x="230858" y="305171"/>
                  <a:pt x="543596" y="608913"/>
                  <a:pt x="753146" y="837513"/>
                </a:cubicBezTo>
                <a:cubicBezTo>
                  <a:pt x="962696" y="1066113"/>
                  <a:pt x="1224104" y="1365092"/>
                  <a:pt x="1362746" y="1545538"/>
                </a:cubicBezTo>
                <a:cubicBezTo>
                  <a:pt x="1501388" y="1725984"/>
                  <a:pt x="1511971" y="1822292"/>
                  <a:pt x="1584996" y="1920188"/>
                </a:cubicBezTo>
                <a:cubicBezTo>
                  <a:pt x="1658021" y="2018084"/>
                  <a:pt x="1704058" y="2102750"/>
                  <a:pt x="1800896" y="2132913"/>
                </a:cubicBezTo>
                <a:cubicBezTo>
                  <a:pt x="1897734" y="2163076"/>
                  <a:pt x="2131625" y="2143496"/>
                  <a:pt x="2166021" y="2101163"/>
                </a:cubicBezTo>
                <a:cubicBezTo>
                  <a:pt x="2200417" y="2058830"/>
                  <a:pt x="2091938" y="1996917"/>
                  <a:pt x="2007271" y="1878913"/>
                </a:cubicBezTo>
                <a:cubicBezTo>
                  <a:pt x="1922604" y="1760909"/>
                  <a:pt x="1822592" y="1598984"/>
                  <a:pt x="1658021" y="1393138"/>
                </a:cubicBezTo>
                <a:cubicBezTo>
                  <a:pt x="1493450" y="1187292"/>
                  <a:pt x="1208758" y="851800"/>
                  <a:pt x="1019846" y="643838"/>
                </a:cubicBezTo>
                <a:cubicBezTo>
                  <a:pt x="830934" y="435876"/>
                  <a:pt x="651546" y="249080"/>
                  <a:pt x="524546" y="145363"/>
                </a:cubicBezTo>
                <a:cubicBezTo>
                  <a:pt x="397546" y="41646"/>
                  <a:pt x="332458" y="45350"/>
                  <a:pt x="257846" y="21538"/>
                </a:cubicBezTo>
                <a:cubicBezTo>
                  <a:pt x="183234" y="-2274"/>
                  <a:pt x="119734" y="-2275"/>
                  <a:pt x="76871" y="2488"/>
                </a:cubicBezTo>
                <a:cubicBezTo>
                  <a:pt x="34008" y="7250"/>
                  <a:pt x="-5679" y="16775"/>
                  <a:pt x="671" y="50113"/>
                </a:cubicBezTo>
                <a:cubicBezTo>
                  <a:pt x="7021" y="83450"/>
                  <a:pt x="-19966" y="42705"/>
                  <a:pt x="105446" y="173938"/>
                </a:cubicBezTo>
                <a:close/>
              </a:path>
            </a:pathLst>
          </a:custGeom>
          <a:solidFill>
            <a:srgbClr val="FFFF99"/>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p:cNvGrpSpPr/>
          <p:nvPr/>
        </p:nvGrpSpPr>
        <p:grpSpPr>
          <a:xfrm rot="15825900">
            <a:off x="936990" y="3839898"/>
            <a:ext cx="317831" cy="288032"/>
            <a:chOff x="1813513" y="2924944"/>
            <a:chExt cx="400930" cy="360040"/>
          </a:xfrm>
        </p:grpSpPr>
        <p:sp>
          <p:nvSpPr>
            <p:cNvPr id="10" name="Oval 9"/>
            <p:cNvSpPr/>
            <p:nvPr/>
          </p:nvSpPr>
          <p:spPr>
            <a:xfrm>
              <a:off x="1813513"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12" name="Oval 11"/>
            <p:cNvSpPr/>
            <p:nvPr/>
          </p:nvSpPr>
          <p:spPr>
            <a:xfrm>
              <a:off x="2048244"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grpSp>
      <p:grpSp>
        <p:nvGrpSpPr>
          <p:cNvPr id="14" name="Group 13"/>
          <p:cNvGrpSpPr/>
          <p:nvPr/>
        </p:nvGrpSpPr>
        <p:grpSpPr>
          <a:xfrm rot="13640997">
            <a:off x="1263737" y="4216688"/>
            <a:ext cx="317831" cy="288032"/>
            <a:chOff x="1813513" y="2924944"/>
            <a:chExt cx="400930" cy="360040"/>
          </a:xfrm>
        </p:grpSpPr>
        <p:sp>
          <p:nvSpPr>
            <p:cNvPr id="15" name="Oval 14"/>
            <p:cNvSpPr/>
            <p:nvPr/>
          </p:nvSpPr>
          <p:spPr>
            <a:xfrm>
              <a:off x="1813513"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16" name="Oval 15"/>
            <p:cNvSpPr/>
            <p:nvPr/>
          </p:nvSpPr>
          <p:spPr>
            <a:xfrm>
              <a:off x="2048244"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grpSp>
      <p:grpSp>
        <p:nvGrpSpPr>
          <p:cNvPr id="17" name="Group 16"/>
          <p:cNvGrpSpPr/>
          <p:nvPr/>
        </p:nvGrpSpPr>
        <p:grpSpPr>
          <a:xfrm rot="18722633">
            <a:off x="6532096" y="3790025"/>
            <a:ext cx="317831" cy="288032"/>
            <a:chOff x="1813513" y="2924944"/>
            <a:chExt cx="400930" cy="360040"/>
          </a:xfrm>
        </p:grpSpPr>
        <p:sp>
          <p:nvSpPr>
            <p:cNvPr id="18" name="Oval 17"/>
            <p:cNvSpPr/>
            <p:nvPr/>
          </p:nvSpPr>
          <p:spPr>
            <a:xfrm>
              <a:off x="1813513"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19" name="Oval 18"/>
            <p:cNvSpPr/>
            <p:nvPr/>
          </p:nvSpPr>
          <p:spPr>
            <a:xfrm>
              <a:off x="2048244"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grpSp>
      <p:grpSp>
        <p:nvGrpSpPr>
          <p:cNvPr id="20" name="Group 19"/>
          <p:cNvGrpSpPr/>
          <p:nvPr/>
        </p:nvGrpSpPr>
        <p:grpSpPr>
          <a:xfrm rot="16758885">
            <a:off x="6778506" y="3386768"/>
            <a:ext cx="317831" cy="288032"/>
            <a:chOff x="1813513" y="2924944"/>
            <a:chExt cx="400930" cy="360040"/>
          </a:xfrm>
        </p:grpSpPr>
        <p:sp>
          <p:nvSpPr>
            <p:cNvPr id="21" name="Oval 20"/>
            <p:cNvSpPr/>
            <p:nvPr/>
          </p:nvSpPr>
          <p:spPr>
            <a:xfrm>
              <a:off x="1813513"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22" name="Oval 21"/>
            <p:cNvSpPr/>
            <p:nvPr/>
          </p:nvSpPr>
          <p:spPr>
            <a:xfrm>
              <a:off x="2048244"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grpSp>
      <p:grpSp>
        <p:nvGrpSpPr>
          <p:cNvPr id="23" name="Group 22"/>
          <p:cNvGrpSpPr/>
          <p:nvPr/>
        </p:nvGrpSpPr>
        <p:grpSpPr>
          <a:xfrm rot="434442">
            <a:off x="2511184" y="5193000"/>
            <a:ext cx="317831" cy="288032"/>
            <a:chOff x="1813513" y="2924944"/>
            <a:chExt cx="400930" cy="360040"/>
          </a:xfrm>
        </p:grpSpPr>
        <p:sp>
          <p:nvSpPr>
            <p:cNvPr id="24" name="Oval 23"/>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25" name="Oval 24"/>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26" name="Group 25"/>
          <p:cNvGrpSpPr/>
          <p:nvPr/>
        </p:nvGrpSpPr>
        <p:grpSpPr>
          <a:xfrm rot="434442">
            <a:off x="3120783" y="5320000"/>
            <a:ext cx="317831" cy="288032"/>
            <a:chOff x="1813513" y="2924944"/>
            <a:chExt cx="400930" cy="360040"/>
          </a:xfrm>
        </p:grpSpPr>
        <p:sp>
          <p:nvSpPr>
            <p:cNvPr id="27" name="Oval 26"/>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28" name="Oval 27"/>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29" name="Group 28"/>
          <p:cNvGrpSpPr/>
          <p:nvPr/>
        </p:nvGrpSpPr>
        <p:grpSpPr>
          <a:xfrm rot="434442">
            <a:off x="3768484" y="5421600"/>
            <a:ext cx="317831" cy="288032"/>
            <a:chOff x="1813513" y="2924944"/>
            <a:chExt cx="400930" cy="360040"/>
          </a:xfrm>
        </p:grpSpPr>
        <p:sp>
          <p:nvSpPr>
            <p:cNvPr id="30" name="Oval 29"/>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31" name="Oval 30"/>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32" name="Group 31"/>
          <p:cNvGrpSpPr/>
          <p:nvPr/>
        </p:nvGrpSpPr>
        <p:grpSpPr>
          <a:xfrm rot="20703953">
            <a:off x="4660667" y="5446639"/>
            <a:ext cx="317831" cy="288032"/>
            <a:chOff x="1813513" y="2924944"/>
            <a:chExt cx="400930" cy="360040"/>
          </a:xfrm>
        </p:grpSpPr>
        <p:sp>
          <p:nvSpPr>
            <p:cNvPr id="33" name="Oval 32"/>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34" name="Oval 33"/>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35" name="Group 34"/>
          <p:cNvGrpSpPr/>
          <p:nvPr/>
        </p:nvGrpSpPr>
        <p:grpSpPr>
          <a:xfrm rot="20407215">
            <a:off x="5476837" y="5192999"/>
            <a:ext cx="317831" cy="288032"/>
            <a:chOff x="1813513" y="2924944"/>
            <a:chExt cx="400930" cy="360040"/>
          </a:xfrm>
        </p:grpSpPr>
        <p:sp>
          <p:nvSpPr>
            <p:cNvPr id="36" name="Oval 35"/>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37" name="Oval 36"/>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38" name="Group 37"/>
          <p:cNvGrpSpPr/>
          <p:nvPr/>
        </p:nvGrpSpPr>
        <p:grpSpPr>
          <a:xfrm rot="434442">
            <a:off x="1970358" y="5070903"/>
            <a:ext cx="317831" cy="288032"/>
            <a:chOff x="1813513" y="2924944"/>
            <a:chExt cx="400930" cy="360040"/>
          </a:xfrm>
        </p:grpSpPr>
        <p:sp>
          <p:nvSpPr>
            <p:cNvPr id="39" name="Oval 38"/>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40" name="Oval 39"/>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41" name="Group 40"/>
          <p:cNvGrpSpPr/>
          <p:nvPr/>
        </p:nvGrpSpPr>
        <p:grpSpPr>
          <a:xfrm rot="19560940">
            <a:off x="6101053" y="4900997"/>
            <a:ext cx="317831" cy="288032"/>
            <a:chOff x="1813513" y="2924944"/>
            <a:chExt cx="400930" cy="360040"/>
          </a:xfrm>
        </p:grpSpPr>
        <p:sp>
          <p:nvSpPr>
            <p:cNvPr id="42" name="Oval 41"/>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43" name="Oval 42"/>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44" name="Group 43"/>
          <p:cNvGrpSpPr/>
          <p:nvPr/>
        </p:nvGrpSpPr>
        <p:grpSpPr>
          <a:xfrm rot="1785543">
            <a:off x="1525233" y="4867205"/>
            <a:ext cx="317831" cy="288032"/>
            <a:chOff x="1813513" y="2924944"/>
            <a:chExt cx="400930" cy="360040"/>
          </a:xfrm>
        </p:grpSpPr>
        <p:sp>
          <p:nvSpPr>
            <p:cNvPr id="45" name="Oval 44"/>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46" name="Oval 45"/>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47" name="Group 46"/>
          <p:cNvGrpSpPr/>
          <p:nvPr/>
        </p:nvGrpSpPr>
        <p:grpSpPr>
          <a:xfrm rot="19311118">
            <a:off x="6562085" y="4481578"/>
            <a:ext cx="317831" cy="288032"/>
            <a:chOff x="1813513" y="2924944"/>
            <a:chExt cx="400930" cy="360040"/>
          </a:xfrm>
        </p:grpSpPr>
        <p:sp>
          <p:nvSpPr>
            <p:cNvPr id="48" name="Oval 47"/>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49" name="Oval 48"/>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grpSp>
        <p:nvGrpSpPr>
          <p:cNvPr id="50" name="Group 49"/>
          <p:cNvGrpSpPr/>
          <p:nvPr/>
        </p:nvGrpSpPr>
        <p:grpSpPr>
          <a:xfrm rot="18162485">
            <a:off x="6951819" y="3968865"/>
            <a:ext cx="317831" cy="288032"/>
            <a:chOff x="1813513" y="2924944"/>
            <a:chExt cx="400930" cy="360040"/>
          </a:xfrm>
        </p:grpSpPr>
        <p:sp>
          <p:nvSpPr>
            <p:cNvPr id="51" name="Oval 50"/>
            <p:cNvSpPr/>
            <p:nvPr/>
          </p:nvSpPr>
          <p:spPr>
            <a:xfrm>
              <a:off x="1813513"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52" name="Oval 51"/>
            <p:cNvSpPr/>
            <p:nvPr/>
          </p:nvSpPr>
          <p:spPr>
            <a:xfrm>
              <a:off x="2048244" y="2924944"/>
              <a:ext cx="166199" cy="36004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sp>
        <p:nvSpPr>
          <p:cNvPr id="13" name="Oval 12"/>
          <p:cNvSpPr/>
          <p:nvPr/>
        </p:nvSpPr>
        <p:spPr>
          <a:xfrm>
            <a:off x="3461550" y="3050547"/>
            <a:ext cx="480695" cy="45039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Oval 53"/>
          <p:cNvSpPr/>
          <p:nvPr/>
        </p:nvSpPr>
        <p:spPr>
          <a:xfrm>
            <a:off x="2661305" y="3584196"/>
            <a:ext cx="480695" cy="45039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54"/>
          <p:cNvSpPr/>
          <p:nvPr/>
        </p:nvSpPr>
        <p:spPr>
          <a:xfrm>
            <a:off x="4568367" y="3198874"/>
            <a:ext cx="480695" cy="45039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Oval 59"/>
          <p:cNvSpPr/>
          <p:nvPr/>
        </p:nvSpPr>
        <p:spPr>
          <a:xfrm>
            <a:off x="3461550" y="3832718"/>
            <a:ext cx="480695" cy="45039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Oval 60"/>
          <p:cNvSpPr/>
          <p:nvPr/>
        </p:nvSpPr>
        <p:spPr>
          <a:xfrm>
            <a:off x="4668297" y="3884388"/>
            <a:ext cx="480695" cy="45039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p:cNvSpPr/>
          <p:nvPr/>
        </p:nvSpPr>
        <p:spPr>
          <a:xfrm>
            <a:off x="5567002" y="3355347"/>
            <a:ext cx="480695" cy="450398"/>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Oval 62"/>
          <p:cNvSpPr/>
          <p:nvPr/>
        </p:nvSpPr>
        <p:spPr>
          <a:xfrm>
            <a:off x="4155603" y="5013176"/>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64" name="Oval 63"/>
          <p:cNvSpPr/>
          <p:nvPr/>
        </p:nvSpPr>
        <p:spPr>
          <a:xfrm>
            <a:off x="4484437" y="5065747"/>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65" name="Oval 64"/>
          <p:cNvSpPr/>
          <p:nvPr/>
        </p:nvSpPr>
        <p:spPr>
          <a:xfrm>
            <a:off x="4943665" y="4952070"/>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66" name="Oval 65"/>
          <p:cNvSpPr/>
          <p:nvPr/>
        </p:nvSpPr>
        <p:spPr>
          <a:xfrm>
            <a:off x="3687416" y="5052021"/>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67" name="Oval 66"/>
          <p:cNvSpPr/>
          <p:nvPr/>
        </p:nvSpPr>
        <p:spPr>
          <a:xfrm>
            <a:off x="4308249" y="5346725"/>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68" name="Oval 67"/>
          <p:cNvSpPr/>
          <p:nvPr/>
        </p:nvSpPr>
        <p:spPr>
          <a:xfrm>
            <a:off x="3974834" y="5200114"/>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69" name="Oval 68"/>
          <p:cNvSpPr/>
          <p:nvPr/>
        </p:nvSpPr>
        <p:spPr>
          <a:xfrm>
            <a:off x="4844461" y="5193464"/>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70" name="Oval 69"/>
          <p:cNvSpPr/>
          <p:nvPr/>
        </p:nvSpPr>
        <p:spPr>
          <a:xfrm>
            <a:off x="3327133" y="5029835"/>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71" name="Oval 70"/>
          <p:cNvSpPr/>
          <p:nvPr/>
        </p:nvSpPr>
        <p:spPr>
          <a:xfrm>
            <a:off x="5235689" y="5046030"/>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72" name="Oval 71"/>
          <p:cNvSpPr/>
          <p:nvPr/>
        </p:nvSpPr>
        <p:spPr>
          <a:xfrm>
            <a:off x="2222194" y="5495338"/>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74" name="Oval 73"/>
          <p:cNvSpPr/>
          <p:nvPr/>
        </p:nvSpPr>
        <p:spPr>
          <a:xfrm>
            <a:off x="2773286" y="5629705"/>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75" name="Oval 74"/>
          <p:cNvSpPr/>
          <p:nvPr/>
        </p:nvSpPr>
        <p:spPr>
          <a:xfrm>
            <a:off x="3333184" y="5764072"/>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76" name="Oval 75"/>
          <p:cNvSpPr/>
          <p:nvPr/>
        </p:nvSpPr>
        <p:spPr>
          <a:xfrm>
            <a:off x="4244066" y="5773521"/>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77" name="Oval 76"/>
          <p:cNvSpPr/>
          <p:nvPr/>
        </p:nvSpPr>
        <p:spPr>
          <a:xfrm>
            <a:off x="3485348" y="5782105"/>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78" name="Oval 77"/>
          <p:cNvSpPr/>
          <p:nvPr/>
        </p:nvSpPr>
        <p:spPr>
          <a:xfrm>
            <a:off x="4493389" y="5782104"/>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79" name="Oval 78"/>
          <p:cNvSpPr/>
          <p:nvPr/>
        </p:nvSpPr>
        <p:spPr>
          <a:xfrm>
            <a:off x="5117014" y="5693298"/>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0" name="Oval 79"/>
          <p:cNvSpPr/>
          <p:nvPr/>
        </p:nvSpPr>
        <p:spPr>
          <a:xfrm>
            <a:off x="5364055" y="5655623"/>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1" name="Oval 80"/>
          <p:cNvSpPr/>
          <p:nvPr/>
        </p:nvSpPr>
        <p:spPr>
          <a:xfrm>
            <a:off x="5998028" y="5413908"/>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2" name="Oval 81"/>
          <p:cNvSpPr/>
          <p:nvPr/>
        </p:nvSpPr>
        <p:spPr>
          <a:xfrm>
            <a:off x="6163587" y="5330158"/>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3" name="Oval 82"/>
          <p:cNvSpPr/>
          <p:nvPr/>
        </p:nvSpPr>
        <p:spPr>
          <a:xfrm>
            <a:off x="6583650" y="5098475"/>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4" name="Oval 83"/>
          <p:cNvSpPr/>
          <p:nvPr/>
        </p:nvSpPr>
        <p:spPr>
          <a:xfrm>
            <a:off x="6729986" y="4965040"/>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5" name="Oval 84"/>
          <p:cNvSpPr/>
          <p:nvPr/>
        </p:nvSpPr>
        <p:spPr>
          <a:xfrm>
            <a:off x="7086237" y="4529116"/>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6" name="Oval 85"/>
          <p:cNvSpPr/>
          <p:nvPr/>
        </p:nvSpPr>
        <p:spPr>
          <a:xfrm>
            <a:off x="1749330" y="5249669"/>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7" name="Oval 86"/>
          <p:cNvSpPr/>
          <p:nvPr/>
        </p:nvSpPr>
        <p:spPr>
          <a:xfrm>
            <a:off x="7380312" y="4033478"/>
            <a:ext cx="128366" cy="134367"/>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a:p>
        </p:txBody>
      </p:sp>
      <p:sp>
        <p:nvSpPr>
          <p:cNvPr id="88" name="Oval 87"/>
          <p:cNvSpPr/>
          <p:nvPr/>
        </p:nvSpPr>
        <p:spPr>
          <a:xfrm>
            <a:off x="2762397" y="3677875"/>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89" name="Oval 88"/>
          <p:cNvSpPr/>
          <p:nvPr/>
        </p:nvSpPr>
        <p:spPr>
          <a:xfrm>
            <a:off x="2914797" y="3830275"/>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0" name="Oval 89"/>
          <p:cNvSpPr/>
          <p:nvPr/>
        </p:nvSpPr>
        <p:spPr>
          <a:xfrm>
            <a:off x="3536454" y="3198874"/>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1" name="Oval 90"/>
          <p:cNvSpPr/>
          <p:nvPr/>
        </p:nvSpPr>
        <p:spPr>
          <a:xfrm>
            <a:off x="3751599" y="3167544"/>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2" name="Oval 91"/>
          <p:cNvSpPr/>
          <p:nvPr/>
        </p:nvSpPr>
        <p:spPr>
          <a:xfrm>
            <a:off x="3637714" y="3355347"/>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3" name="Oval 92"/>
          <p:cNvSpPr/>
          <p:nvPr/>
        </p:nvSpPr>
        <p:spPr>
          <a:xfrm>
            <a:off x="3562754" y="3884388"/>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4" name="Oval 93"/>
          <p:cNvSpPr/>
          <p:nvPr/>
        </p:nvSpPr>
        <p:spPr>
          <a:xfrm>
            <a:off x="3750349" y="3951571"/>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5" name="Oval 94"/>
          <p:cNvSpPr/>
          <p:nvPr/>
        </p:nvSpPr>
        <p:spPr>
          <a:xfrm>
            <a:off x="3607817" y="4033477"/>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6" name="Oval 95"/>
          <p:cNvSpPr/>
          <p:nvPr/>
        </p:nvSpPr>
        <p:spPr>
          <a:xfrm>
            <a:off x="4680349" y="3262051"/>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7" name="Oval 96"/>
          <p:cNvSpPr/>
          <p:nvPr/>
        </p:nvSpPr>
        <p:spPr>
          <a:xfrm>
            <a:off x="4832749" y="3414451"/>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8" name="Oval 97"/>
          <p:cNvSpPr/>
          <p:nvPr/>
        </p:nvSpPr>
        <p:spPr>
          <a:xfrm>
            <a:off x="5743166" y="3396418"/>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99" name="Oval 98"/>
          <p:cNvSpPr/>
          <p:nvPr/>
        </p:nvSpPr>
        <p:spPr>
          <a:xfrm>
            <a:off x="4832749" y="3928559"/>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00" name="Oval 99"/>
          <p:cNvSpPr/>
          <p:nvPr/>
        </p:nvSpPr>
        <p:spPr>
          <a:xfrm>
            <a:off x="4985149" y="4080959"/>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01" name="Oval 100"/>
          <p:cNvSpPr/>
          <p:nvPr/>
        </p:nvSpPr>
        <p:spPr>
          <a:xfrm>
            <a:off x="4729686" y="4033476"/>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02" name="Oval 101"/>
          <p:cNvSpPr/>
          <p:nvPr/>
        </p:nvSpPr>
        <p:spPr>
          <a:xfrm>
            <a:off x="4859134" y="4153516"/>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03" name="Oval 102"/>
          <p:cNvSpPr/>
          <p:nvPr/>
        </p:nvSpPr>
        <p:spPr>
          <a:xfrm>
            <a:off x="5614800" y="3548275"/>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04" name="Oval 103"/>
          <p:cNvSpPr/>
          <p:nvPr/>
        </p:nvSpPr>
        <p:spPr>
          <a:xfrm>
            <a:off x="5834171" y="3553585"/>
            <a:ext cx="128366" cy="134367"/>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14" name="TextBox 113"/>
          <p:cNvSpPr txBox="1"/>
          <p:nvPr/>
        </p:nvSpPr>
        <p:spPr>
          <a:xfrm>
            <a:off x="162400" y="5655623"/>
            <a:ext cx="205979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solidFill>
                  <a:srgbClr val="C00000"/>
                </a:solidFill>
              </a:rPr>
              <a:t>Synaptic Cleft</a:t>
            </a:r>
            <a:endParaRPr lang="en-GB" sz="2400">
              <a:solidFill>
                <a:srgbClr val="C00000"/>
              </a:solidFill>
            </a:endParaRPr>
          </a:p>
        </p:txBody>
      </p:sp>
      <p:grpSp>
        <p:nvGrpSpPr>
          <p:cNvPr id="56" name="Group 55"/>
          <p:cNvGrpSpPr/>
          <p:nvPr/>
        </p:nvGrpSpPr>
        <p:grpSpPr>
          <a:xfrm rot="20355577">
            <a:off x="1739141" y="3392023"/>
            <a:ext cx="801587" cy="369439"/>
            <a:chOff x="6507068" y="5849287"/>
            <a:chExt cx="1449308" cy="532041"/>
          </a:xfrm>
        </p:grpSpPr>
        <p:sp>
          <p:nvSpPr>
            <p:cNvPr id="3" name="Oval 2"/>
            <p:cNvSpPr/>
            <p:nvPr/>
          </p:nvSpPr>
          <p:spPr>
            <a:xfrm>
              <a:off x="6507068" y="5849287"/>
              <a:ext cx="1449308" cy="532041"/>
            </a:xfrm>
            <a:prstGeom prst="ellipse">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lumMod val="40000"/>
                    <a:lumOff val="60000"/>
                  </a:schemeClr>
                </a:solidFill>
              </a:endParaRPr>
            </a:p>
          </p:txBody>
        </p:sp>
        <p:sp>
          <p:nvSpPr>
            <p:cNvPr id="53" name="Freeform 52"/>
            <p:cNvSpPr/>
            <p:nvPr/>
          </p:nvSpPr>
          <p:spPr>
            <a:xfrm>
              <a:off x="6577917" y="5924942"/>
              <a:ext cx="1280805" cy="406860"/>
            </a:xfrm>
            <a:custGeom>
              <a:avLst/>
              <a:gdLst>
                <a:gd name="connsiteX0" fmla="*/ 216583 w 1280805"/>
                <a:gd name="connsiteY0" fmla="*/ 101208 h 406860"/>
                <a:gd name="connsiteX1" fmla="*/ 375333 w 1280805"/>
                <a:gd name="connsiteY1" fmla="*/ 37708 h 406860"/>
                <a:gd name="connsiteX2" fmla="*/ 432483 w 1280805"/>
                <a:gd name="connsiteY2" fmla="*/ 196458 h 406860"/>
                <a:gd name="connsiteX3" fmla="*/ 508683 w 1280805"/>
                <a:gd name="connsiteY3" fmla="*/ 196458 h 406860"/>
                <a:gd name="connsiteX4" fmla="*/ 527733 w 1280805"/>
                <a:gd name="connsiteY4" fmla="*/ 31358 h 406860"/>
                <a:gd name="connsiteX5" fmla="*/ 686483 w 1280805"/>
                <a:gd name="connsiteY5" fmla="*/ 12308 h 406860"/>
                <a:gd name="connsiteX6" fmla="*/ 705533 w 1280805"/>
                <a:gd name="connsiteY6" fmla="*/ 171058 h 406860"/>
                <a:gd name="connsiteX7" fmla="*/ 762683 w 1280805"/>
                <a:gd name="connsiteY7" fmla="*/ 177408 h 406860"/>
                <a:gd name="connsiteX8" fmla="*/ 775383 w 1280805"/>
                <a:gd name="connsiteY8" fmla="*/ 31358 h 406860"/>
                <a:gd name="connsiteX9" fmla="*/ 857933 w 1280805"/>
                <a:gd name="connsiteY9" fmla="*/ 18658 h 406860"/>
                <a:gd name="connsiteX10" fmla="*/ 921433 w 1280805"/>
                <a:gd name="connsiteY10" fmla="*/ 31358 h 406860"/>
                <a:gd name="connsiteX11" fmla="*/ 915083 w 1280805"/>
                <a:gd name="connsiteY11" fmla="*/ 158358 h 406860"/>
                <a:gd name="connsiteX12" fmla="*/ 984933 w 1280805"/>
                <a:gd name="connsiteY12" fmla="*/ 171058 h 406860"/>
                <a:gd name="connsiteX13" fmla="*/ 1003983 w 1280805"/>
                <a:gd name="connsiteY13" fmla="*/ 37708 h 406860"/>
                <a:gd name="connsiteX14" fmla="*/ 1048433 w 1280805"/>
                <a:gd name="connsiteY14" fmla="*/ 37708 h 406860"/>
                <a:gd name="connsiteX15" fmla="*/ 1175433 w 1280805"/>
                <a:gd name="connsiteY15" fmla="*/ 82158 h 406860"/>
                <a:gd name="connsiteX16" fmla="*/ 1105583 w 1280805"/>
                <a:gd name="connsiteY16" fmla="*/ 183758 h 406860"/>
                <a:gd name="connsiteX17" fmla="*/ 1143683 w 1280805"/>
                <a:gd name="connsiteY17" fmla="*/ 209158 h 406860"/>
                <a:gd name="connsiteX18" fmla="*/ 1226233 w 1280805"/>
                <a:gd name="connsiteY18" fmla="*/ 145658 h 406860"/>
                <a:gd name="connsiteX19" fmla="*/ 1277033 w 1280805"/>
                <a:gd name="connsiteY19" fmla="*/ 177408 h 406860"/>
                <a:gd name="connsiteX20" fmla="*/ 1270683 w 1280805"/>
                <a:gd name="connsiteY20" fmla="*/ 221858 h 406860"/>
                <a:gd name="connsiteX21" fmla="*/ 1219883 w 1280805"/>
                <a:gd name="connsiteY21" fmla="*/ 279008 h 406860"/>
                <a:gd name="connsiteX22" fmla="*/ 1130983 w 1280805"/>
                <a:gd name="connsiteY22" fmla="*/ 323458 h 406860"/>
                <a:gd name="connsiteX23" fmla="*/ 1042083 w 1280805"/>
                <a:gd name="connsiteY23" fmla="*/ 228208 h 406860"/>
                <a:gd name="connsiteX24" fmla="*/ 991283 w 1280805"/>
                <a:gd name="connsiteY24" fmla="*/ 234558 h 406860"/>
                <a:gd name="connsiteX25" fmla="*/ 1042083 w 1280805"/>
                <a:gd name="connsiteY25" fmla="*/ 355208 h 406860"/>
                <a:gd name="connsiteX26" fmla="*/ 959533 w 1280805"/>
                <a:gd name="connsiteY26" fmla="*/ 374258 h 406860"/>
                <a:gd name="connsiteX27" fmla="*/ 921433 w 1280805"/>
                <a:gd name="connsiteY27" fmla="*/ 259958 h 406860"/>
                <a:gd name="connsiteX28" fmla="*/ 851583 w 1280805"/>
                <a:gd name="connsiteY28" fmla="*/ 247258 h 406860"/>
                <a:gd name="connsiteX29" fmla="*/ 845233 w 1280805"/>
                <a:gd name="connsiteY29" fmla="*/ 361558 h 406860"/>
                <a:gd name="connsiteX30" fmla="*/ 794433 w 1280805"/>
                <a:gd name="connsiteY30" fmla="*/ 399658 h 406860"/>
                <a:gd name="connsiteX31" fmla="*/ 730933 w 1280805"/>
                <a:gd name="connsiteY31" fmla="*/ 393308 h 406860"/>
                <a:gd name="connsiteX32" fmla="*/ 705533 w 1280805"/>
                <a:gd name="connsiteY32" fmla="*/ 266308 h 406860"/>
                <a:gd name="connsiteX33" fmla="*/ 635683 w 1280805"/>
                <a:gd name="connsiteY33" fmla="*/ 266308 h 406860"/>
                <a:gd name="connsiteX34" fmla="*/ 616633 w 1280805"/>
                <a:gd name="connsiteY34" fmla="*/ 386958 h 406860"/>
                <a:gd name="connsiteX35" fmla="*/ 515033 w 1280805"/>
                <a:gd name="connsiteY35" fmla="*/ 380608 h 406860"/>
                <a:gd name="connsiteX36" fmla="*/ 515033 w 1280805"/>
                <a:gd name="connsiteY36" fmla="*/ 285358 h 406860"/>
                <a:gd name="connsiteX37" fmla="*/ 394383 w 1280805"/>
                <a:gd name="connsiteY37" fmla="*/ 279008 h 406860"/>
                <a:gd name="connsiteX38" fmla="*/ 381683 w 1280805"/>
                <a:gd name="connsiteY38" fmla="*/ 374258 h 406860"/>
                <a:gd name="connsiteX39" fmla="*/ 248333 w 1280805"/>
                <a:gd name="connsiteY39" fmla="*/ 355208 h 406860"/>
                <a:gd name="connsiteX40" fmla="*/ 318183 w 1280805"/>
                <a:gd name="connsiteY40" fmla="*/ 266308 h 406860"/>
                <a:gd name="connsiteX41" fmla="*/ 273733 w 1280805"/>
                <a:gd name="connsiteY41" fmla="*/ 209158 h 406860"/>
                <a:gd name="connsiteX42" fmla="*/ 172133 w 1280805"/>
                <a:gd name="connsiteY42" fmla="*/ 247258 h 406860"/>
                <a:gd name="connsiteX43" fmla="*/ 76883 w 1280805"/>
                <a:gd name="connsiteY43" fmla="*/ 272658 h 406860"/>
                <a:gd name="connsiteX44" fmla="*/ 683 w 1280805"/>
                <a:gd name="connsiteY44" fmla="*/ 228208 h 406860"/>
                <a:gd name="connsiteX45" fmla="*/ 45133 w 1280805"/>
                <a:gd name="connsiteY45" fmla="*/ 132958 h 406860"/>
                <a:gd name="connsiteX46" fmla="*/ 140383 w 1280805"/>
                <a:gd name="connsiteY46" fmla="*/ 215508 h 406860"/>
                <a:gd name="connsiteX47" fmla="*/ 203883 w 1280805"/>
                <a:gd name="connsiteY47" fmla="*/ 183758 h 406860"/>
                <a:gd name="connsiteX48" fmla="*/ 153083 w 1280805"/>
                <a:gd name="connsiteY48" fmla="*/ 69458 h 406860"/>
                <a:gd name="connsiteX49" fmla="*/ 216583 w 1280805"/>
                <a:gd name="connsiteY49" fmla="*/ 101208 h 40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80805" h="406860">
                  <a:moveTo>
                    <a:pt x="216583" y="101208"/>
                  </a:moveTo>
                  <a:cubicBezTo>
                    <a:pt x="253625" y="95916"/>
                    <a:pt x="339350" y="21833"/>
                    <a:pt x="375333" y="37708"/>
                  </a:cubicBezTo>
                  <a:cubicBezTo>
                    <a:pt x="411316" y="53583"/>
                    <a:pt x="410258" y="170000"/>
                    <a:pt x="432483" y="196458"/>
                  </a:cubicBezTo>
                  <a:cubicBezTo>
                    <a:pt x="454708" y="222916"/>
                    <a:pt x="492808" y="223975"/>
                    <a:pt x="508683" y="196458"/>
                  </a:cubicBezTo>
                  <a:cubicBezTo>
                    <a:pt x="524558" y="168941"/>
                    <a:pt x="498100" y="62050"/>
                    <a:pt x="527733" y="31358"/>
                  </a:cubicBezTo>
                  <a:cubicBezTo>
                    <a:pt x="557366" y="666"/>
                    <a:pt x="656850" y="-10975"/>
                    <a:pt x="686483" y="12308"/>
                  </a:cubicBezTo>
                  <a:cubicBezTo>
                    <a:pt x="716116" y="35591"/>
                    <a:pt x="692833" y="143541"/>
                    <a:pt x="705533" y="171058"/>
                  </a:cubicBezTo>
                  <a:cubicBezTo>
                    <a:pt x="718233" y="198575"/>
                    <a:pt x="751041" y="200691"/>
                    <a:pt x="762683" y="177408"/>
                  </a:cubicBezTo>
                  <a:cubicBezTo>
                    <a:pt x="774325" y="154125"/>
                    <a:pt x="759508" y="57816"/>
                    <a:pt x="775383" y="31358"/>
                  </a:cubicBezTo>
                  <a:cubicBezTo>
                    <a:pt x="791258" y="4900"/>
                    <a:pt x="833591" y="18658"/>
                    <a:pt x="857933" y="18658"/>
                  </a:cubicBezTo>
                  <a:cubicBezTo>
                    <a:pt x="882275" y="18658"/>
                    <a:pt x="911908" y="8075"/>
                    <a:pt x="921433" y="31358"/>
                  </a:cubicBezTo>
                  <a:cubicBezTo>
                    <a:pt x="930958" y="54641"/>
                    <a:pt x="904500" y="135075"/>
                    <a:pt x="915083" y="158358"/>
                  </a:cubicBezTo>
                  <a:cubicBezTo>
                    <a:pt x="925666" y="181641"/>
                    <a:pt x="970116" y="191166"/>
                    <a:pt x="984933" y="171058"/>
                  </a:cubicBezTo>
                  <a:cubicBezTo>
                    <a:pt x="999750" y="150950"/>
                    <a:pt x="993400" y="59933"/>
                    <a:pt x="1003983" y="37708"/>
                  </a:cubicBezTo>
                  <a:cubicBezTo>
                    <a:pt x="1014566" y="15483"/>
                    <a:pt x="1019858" y="30300"/>
                    <a:pt x="1048433" y="37708"/>
                  </a:cubicBezTo>
                  <a:cubicBezTo>
                    <a:pt x="1077008" y="45116"/>
                    <a:pt x="1165908" y="57816"/>
                    <a:pt x="1175433" y="82158"/>
                  </a:cubicBezTo>
                  <a:cubicBezTo>
                    <a:pt x="1184958" y="106500"/>
                    <a:pt x="1110875" y="162592"/>
                    <a:pt x="1105583" y="183758"/>
                  </a:cubicBezTo>
                  <a:cubicBezTo>
                    <a:pt x="1100291" y="204924"/>
                    <a:pt x="1123575" y="215508"/>
                    <a:pt x="1143683" y="209158"/>
                  </a:cubicBezTo>
                  <a:cubicBezTo>
                    <a:pt x="1163791" y="202808"/>
                    <a:pt x="1204008" y="150950"/>
                    <a:pt x="1226233" y="145658"/>
                  </a:cubicBezTo>
                  <a:cubicBezTo>
                    <a:pt x="1248458" y="140366"/>
                    <a:pt x="1269625" y="164708"/>
                    <a:pt x="1277033" y="177408"/>
                  </a:cubicBezTo>
                  <a:cubicBezTo>
                    <a:pt x="1284441" y="190108"/>
                    <a:pt x="1280208" y="204925"/>
                    <a:pt x="1270683" y="221858"/>
                  </a:cubicBezTo>
                  <a:cubicBezTo>
                    <a:pt x="1261158" y="238791"/>
                    <a:pt x="1243166" y="262075"/>
                    <a:pt x="1219883" y="279008"/>
                  </a:cubicBezTo>
                  <a:cubicBezTo>
                    <a:pt x="1196600" y="295941"/>
                    <a:pt x="1160616" y="331925"/>
                    <a:pt x="1130983" y="323458"/>
                  </a:cubicBezTo>
                  <a:cubicBezTo>
                    <a:pt x="1101350" y="314991"/>
                    <a:pt x="1065366" y="243025"/>
                    <a:pt x="1042083" y="228208"/>
                  </a:cubicBezTo>
                  <a:cubicBezTo>
                    <a:pt x="1018800" y="213391"/>
                    <a:pt x="991283" y="213391"/>
                    <a:pt x="991283" y="234558"/>
                  </a:cubicBezTo>
                  <a:cubicBezTo>
                    <a:pt x="991283" y="255725"/>
                    <a:pt x="1047375" y="331925"/>
                    <a:pt x="1042083" y="355208"/>
                  </a:cubicBezTo>
                  <a:cubicBezTo>
                    <a:pt x="1036791" y="378491"/>
                    <a:pt x="979641" y="390133"/>
                    <a:pt x="959533" y="374258"/>
                  </a:cubicBezTo>
                  <a:cubicBezTo>
                    <a:pt x="939425" y="358383"/>
                    <a:pt x="939425" y="281125"/>
                    <a:pt x="921433" y="259958"/>
                  </a:cubicBezTo>
                  <a:cubicBezTo>
                    <a:pt x="903441" y="238791"/>
                    <a:pt x="864283" y="230325"/>
                    <a:pt x="851583" y="247258"/>
                  </a:cubicBezTo>
                  <a:cubicBezTo>
                    <a:pt x="838883" y="264191"/>
                    <a:pt x="854758" y="336158"/>
                    <a:pt x="845233" y="361558"/>
                  </a:cubicBezTo>
                  <a:cubicBezTo>
                    <a:pt x="835708" y="386958"/>
                    <a:pt x="813483" y="394366"/>
                    <a:pt x="794433" y="399658"/>
                  </a:cubicBezTo>
                  <a:cubicBezTo>
                    <a:pt x="775383" y="404950"/>
                    <a:pt x="745750" y="415533"/>
                    <a:pt x="730933" y="393308"/>
                  </a:cubicBezTo>
                  <a:cubicBezTo>
                    <a:pt x="716116" y="371083"/>
                    <a:pt x="721408" y="287475"/>
                    <a:pt x="705533" y="266308"/>
                  </a:cubicBezTo>
                  <a:cubicBezTo>
                    <a:pt x="689658" y="245141"/>
                    <a:pt x="650500" y="246200"/>
                    <a:pt x="635683" y="266308"/>
                  </a:cubicBezTo>
                  <a:cubicBezTo>
                    <a:pt x="620866" y="286416"/>
                    <a:pt x="636741" y="367908"/>
                    <a:pt x="616633" y="386958"/>
                  </a:cubicBezTo>
                  <a:cubicBezTo>
                    <a:pt x="596525" y="406008"/>
                    <a:pt x="531966" y="397541"/>
                    <a:pt x="515033" y="380608"/>
                  </a:cubicBezTo>
                  <a:cubicBezTo>
                    <a:pt x="498100" y="363675"/>
                    <a:pt x="535141" y="302291"/>
                    <a:pt x="515033" y="285358"/>
                  </a:cubicBezTo>
                  <a:cubicBezTo>
                    <a:pt x="494925" y="268425"/>
                    <a:pt x="416608" y="264191"/>
                    <a:pt x="394383" y="279008"/>
                  </a:cubicBezTo>
                  <a:cubicBezTo>
                    <a:pt x="372158" y="293825"/>
                    <a:pt x="406025" y="361558"/>
                    <a:pt x="381683" y="374258"/>
                  </a:cubicBezTo>
                  <a:cubicBezTo>
                    <a:pt x="357341" y="386958"/>
                    <a:pt x="258916" y="373200"/>
                    <a:pt x="248333" y="355208"/>
                  </a:cubicBezTo>
                  <a:cubicBezTo>
                    <a:pt x="237750" y="337216"/>
                    <a:pt x="313950" y="290650"/>
                    <a:pt x="318183" y="266308"/>
                  </a:cubicBezTo>
                  <a:cubicBezTo>
                    <a:pt x="322416" y="241966"/>
                    <a:pt x="298075" y="212333"/>
                    <a:pt x="273733" y="209158"/>
                  </a:cubicBezTo>
                  <a:cubicBezTo>
                    <a:pt x="249391" y="205983"/>
                    <a:pt x="204941" y="236675"/>
                    <a:pt x="172133" y="247258"/>
                  </a:cubicBezTo>
                  <a:cubicBezTo>
                    <a:pt x="139325" y="257841"/>
                    <a:pt x="105458" y="275833"/>
                    <a:pt x="76883" y="272658"/>
                  </a:cubicBezTo>
                  <a:cubicBezTo>
                    <a:pt x="48308" y="269483"/>
                    <a:pt x="5975" y="251491"/>
                    <a:pt x="683" y="228208"/>
                  </a:cubicBezTo>
                  <a:cubicBezTo>
                    <a:pt x="-4609" y="204925"/>
                    <a:pt x="21850" y="135075"/>
                    <a:pt x="45133" y="132958"/>
                  </a:cubicBezTo>
                  <a:cubicBezTo>
                    <a:pt x="68416" y="130841"/>
                    <a:pt x="113925" y="207041"/>
                    <a:pt x="140383" y="215508"/>
                  </a:cubicBezTo>
                  <a:cubicBezTo>
                    <a:pt x="166841" y="223975"/>
                    <a:pt x="201766" y="208100"/>
                    <a:pt x="203883" y="183758"/>
                  </a:cubicBezTo>
                  <a:cubicBezTo>
                    <a:pt x="206000" y="159416"/>
                    <a:pt x="148850" y="84275"/>
                    <a:pt x="153083" y="69458"/>
                  </a:cubicBezTo>
                  <a:cubicBezTo>
                    <a:pt x="157316" y="54641"/>
                    <a:pt x="179541" y="106500"/>
                    <a:pt x="216583" y="101208"/>
                  </a:cubicBezTo>
                  <a:close/>
                </a:path>
              </a:pathLst>
            </a:cu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grpSp>
        <p:nvGrpSpPr>
          <p:cNvPr id="115" name="Group 114"/>
          <p:cNvGrpSpPr/>
          <p:nvPr/>
        </p:nvGrpSpPr>
        <p:grpSpPr>
          <a:xfrm rot="20355577">
            <a:off x="5258385" y="2579744"/>
            <a:ext cx="801587" cy="369439"/>
            <a:chOff x="6507068" y="5849287"/>
            <a:chExt cx="1449308" cy="532041"/>
          </a:xfrm>
        </p:grpSpPr>
        <p:sp>
          <p:nvSpPr>
            <p:cNvPr id="116" name="Oval 115"/>
            <p:cNvSpPr/>
            <p:nvPr/>
          </p:nvSpPr>
          <p:spPr>
            <a:xfrm>
              <a:off x="6507068" y="5849287"/>
              <a:ext cx="1449308" cy="532041"/>
            </a:xfrm>
            <a:prstGeom prst="ellipse">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6">
                    <a:lumMod val="40000"/>
                    <a:lumOff val="60000"/>
                  </a:schemeClr>
                </a:solidFill>
              </a:endParaRPr>
            </a:p>
          </p:txBody>
        </p:sp>
        <p:sp>
          <p:nvSpPr>
            <p:cNvPr id="117" name="Freeform 116"/>
            <p:cNvSpPr/>
            <p:nvPr/>
          </p:nvSpPr>
          <p:spPr>
            <a:xfrm>
              <a:off x="6577917" y="5924942"/>
              <a:ext cx="1280805" cy="406860"/>
            </a:xfrm>
            <a:custGeom>
              <a:avLst/>
              <a:gdLst>
                <a:gd name="connsiteX0" fmla="*/ 216583 w 1280805"/>
                <a:gd name="connsiteY0" fmla="*/ 101208 h 406860"/>
                <a:gd name="connsiteX1" fmla="*/ 375333 w 1280805"/>
                <a:gd name="connsiteY1" fmla="*/ 37708 h 406860"/>
                <a:gd name="connsiteX2" fmla="*/ 432483 w 1280805"/>
                <a:gd name="connsiteY2" fmla="*/ 196458 h 406860"/>
                <a:gd name="connsiteX3" fmla="*/ 508683 w 1280805"/>
                <a:gd name="connsiteY3" fmla="*/ 196458 h 406860"/>
                <a:gd name="connsiteX4" fmla="*/ 527733 w 1280805"/>
                <a:gd name="connsiteY4" fmla="*/ 31358 h 406860"/>
                <a:gd name="connsiteX5" fmla="*/ 686483 w 1280805"/>
                <a:gd name="connsiteY5" fmla="*/ 12308 h 406860"/>
                <a:gd name="connsiteX6" fmla="*/ 705533 w 1280805"/>
                <a:gd name="connsiteY6" fmla="*/ 171058 h 406860"/>
                <a:gd name="connsiteX7" fmla="*/ 762683 w 1280805"/>
                <a:gd name="connsiteY7" fmla="*/ 177408 h 406860"/>
                <a:gd name="connsiteX8" fmla="*/ 775383 w 1280805"/>
                <a:gd name="connsiteY8" fmla="*/ 31358 h 406860"/>
                <a:gd name="connsiteX9" fmla="*/ 857933 w 1280805"/>
                <a:gd name="connsiteY9" fmla="*/ 18658 h 406860"/>
                <a:gd name="connsiteX10" fmla="*/ 921433 w 1280805"/>
                <a:gd name="connsiteY10" fmla="*/ 31358 h 406860"/>
                <a:gd name="connsiteX11" fmla="*/ 915083 w 1280805"/>
                <a:gd name="connsiteY11" fmla="*/ 158358 h 406860"/>
                <a:gd name="connsiteX12" fmla="*/ 984933 w 1280805"/>
                <a:gd name="connsiteY12" fmla="*/ 171058 h 406860"/>
                <a:gd name="connsiteX13" fmla="*/ 1003983 w 1280805"/>
                <a:gd name="connsiteY13" fmla="*/ 37708 h 406860"/>
                <a:gd name="connsiteX14" fmla="*/ 1048433 w 1280805"/>
                <a:gd name="connsiteY14" fmla="*/ 37708 h 406860"/>
                <a:gd name="connsiteX15" fmla="*/ 1175433 w 1280805"/>
                <a:gd name="connsiteY15" fmla="*/ 82158 h 406860"/>
                <a:gd name="connsiteX16" fmla="*/ 1105583 w 1280805"/>
                <a:gd name="connsiteY16" fmla="*/ 183758 h 406860"/>
                <a:gd name="connsiteX17" fmla="*/ 1143683 w 1280805"/>
                <a:gd name="connsiteY17" fmla="*/ 209158 h 406860"/>
                <a:gd name="connsiteX18" fmla="*/ 1226233 w 1280805"/>
                <a:gd name="connsiteY18" fmla="*/ 145658 h 406860"/>
                <a:gd name="connsiteX19" fmla="*/ 1277033 w 1280805"/>
                <a:gd name="connsiteY19" fmla="*/ 177408 h 406860"/>
                <a:gd name="connsiteX20" fmla="*/ 1270683 w 1280805"/>
                <a:gd name="connsiteY20" fmla="*/ 221858 h 406860"/>
                <a:gd name="connsiteX21" fmla="*/ 1219883 w 1280805"/>
                <a:gd name="connsiteY21" fmla="*/ 279008 h 406860"/>
                <a:gd name="connsiteX22" fmla="*/ 1130983 w 1280805"/>
                <a:gd name="connsiteY22" fmla="*/ 323458 h 406860"/>
                <a:gd name="connsiteX23" fmla="*/ 1042083 w 1280805"/>
                <a:gd name="connsiteY23" fmla="*/ 228208 h 406860"/>
                <a:gd name="connsiteX24" fmla="*/ 991283 w 1280805"/>
                <a:gd name="connsiteY24" fmla="*/ 234558 h 406860"/>
                <a:gd name="connsiteX25" fmla="*/ 1042083 w 1280805"/>
                <a:gd name="connsiteY25" fmla="*/ 355208 h 406860"/>
                <a:gd name="connsiteX26" fmla="*/ 959533 w 1280805"/>
                <a:gd name="connsiteY26" fmla="*/ 374258 h 406860"/>
                <a:gd name="connsiteX27" fmla="*/ 921433 w 1280805"/>
                <a:gd name="connsiteY27" fmla="*/ 259958 h 406860"/>
                <a:gd name="connsiteX28" fmla="*/ 851583 w 1280805"/>
                <a:gd name="connsiteY28" fmla="*/ 247258 h 406860"/>
                <a:gd name="connsiteX29" fmla="*/ 845233 w 1280805"/>
                <a:gd name="connsiteY29" fmla="*/ 361558 h 406860"/>
                <a:gd name="connsiteX30" fmla="*/ 794433 w 1280805"/>
                <a:gd name="connsiteY30" fmla="*/ 399658 h 406860"/>
                <a:gd name="connsiteX31" fmla="*/ 730933 w 1280805"/>
                <a:gd name="connsiteY31" fmla="*/ 393308 h 406860"/>
                <a:gd name="connsiteX32" fmla="*/ 705533 w 1280805"/>
                <a:gd name="connsiteY32" fmla="*/ 266308 h 406860"/>
                <a:gd name="connsiteX33" fmla="*/ 635683 w 1280805"/>
                <a:gd name="connsiteY33" fmla="*/ 266308 h 406860"/>
                <a:gd name="connsiteX34" fmla="*/ 616633 w 1280805"/>
                <a:gd name="connsiteY34" fmla="*/ 386958 h 406860"/>
                <a:gd name="connsiteX35" fmla="*/ 515033 w 1280805"/>
                <a:gd name="connsiteY35" fmla="*/ 380608 h 406860"/>
                <a:gd name="connsiteX36" fmla="*/ 515033 w 1280805"/>
                <a:gd name="connsiteY36" fmla="*/ 285358 h 406860"/>
                <a:gd name="connsiteX37" fmla="*/ 394383 w 1280805"/>
                <a:gd name="connsiteY37" fmla="*/ 279008 h 406860"/>
                <a:gd name="connsiteX38" fmla="*/ 381683 w 1280805"/>
                <a:gd name="connsiteY38" fmla="*/ 374258 h 406860"/>
                <a:gd name="connsiteX39" fmla="*/ 248333 w 1280805"/>
                <a:gd name="connsiteY39" fmla="*/ 355208 h 406860"/>
                <a:gd name="connsiteX40" fmla="*/ 318183 w 1280805"/>
                <a:gd name="connsiteY40" fmla="*/ 266308 h 406860"/>
                <a:gd name="connsiteX41" fmla="*/ 273733 w 1280805"/>
                <a:gd name="connsiteY41" fmla="*/ 209158 h 406860"/>
                <a:gd name="connsiteX42" fmla="*/ 172133 w 1280805"/>
                <a:gd name="connsiteY42" fmla="*/ 247258 h 406860"/>
                <a:gd name="connsiteX43" fmla="*/ 76883 w 1280805"/>
                <a:gd name="connsiteY43" fmla="*/ 272658 h 406860"/>
                <a:gd name="connsiteX44" fmla="*/ 683 w 1280805"/>
                <a:gd name="connsiteY44" fmla="*/ 228208 h 406860"/>
                <a:gd name="connsiteX45" fmla="*/ 45133 w 1280805"/>
                <a:gd name="connsiteY45" fmla="*/ 132958 h 406860"/>
                <a:gd name="connsiteX46" fmla="*/ 140383 w 1280805"/>
                <a:gd name="connsiteY46" fmla="*/ 215508 h 406860"/>
                <a:gd name="connsiteX47" fmla="*/ 203883 w 1280805"/>
                <a:gd name="connsiteY47" fmla="*/ 183758 h 406860"/>
                <a:gd name="connsiteX48" fmla="*/ 153083 w 1280805"/>
                <a:gd name="connsiteY48" fmla="*/ 69458 h 406860"/>
                <a:gd name="connsiteX49" fmla="*/ 216583 w 1280805"/>
                <a:gd name="connsiteY49" fmla="*/ 101208 h 40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80805" h="406860">
                  <a:moveTo>
                    <a:pt x="216583" y="101208"/>
                  </a:moveTo>
                  <a:cubicBezTo>
                    <a:pt x="253625" y="95916"/>
                    <a:pt x="339350" y="21833"/>
                    <a:pt x="375333" y="37708"/>
                  </a:cubicBezTo>
                  <a:cubicBezTo>
                    <a:pt x="411316" y="53583"/>
                    <a:pt x="410258" y="170000"/>
                    <a:pt x="432483" y="196458"/>
                  </a:cubicBezTo>
                  <a:cubicBezTo>
                    <a:pt x="454708" y="222916"/>
                    <a:pt x="492808" y="223975"/>
                    <a:pt x="508683" y="196458"/>
                  </a:cubicBezTo>
                  <a:cubicBezTo>
                    <a:pt x="524558" y="168941"/>
                    <a:pt x="498100" y="62050"/>
                    <a:pt x="527733" y="31358"/>
                  </a:cubicBezTo>
                  <a:cubicBezTo>
                    <a:pt x="557366" y="666"/>
                    <a:pt x="656850" y="-10975"/>
                    <a:pt x="686483" y="12308"/>
                  </a:cubicBezTo>
                  <a:cubicBezTo>
                    <a:pt x="716116" y="35591"/>
                    <a:pt x="692833" y="143541"/>
                    <a:pt x="705533" y="171058"/>
                  </a:cubicBezTo>
                  <a:cubicBezTo>
                    <a:pt x="718233" y="198575"/>
                    <a:pt x="751041" y="200691"/>
                    <a:pt x="762683" y="177408"/>
                  </a:cubicBezTo>
                  <a:cubicBezTo>
                    <a:pt x="774325" y="154125"/>
                    <a:pt x="759508" y="57816"/>
                    <a:pt x="775383" y="31358"/>
                  </a:cubicBezTo>
                  <a:cubicBezTo>
                    <a:pt x="791258" y="4900"/>
                    <a:pt x="833591" y="18658"/>
                    <a:pt x="857933" y="18658"/>
                  </a:cubicBezTo>
                  <a:cubicBezTo>
                    <a:pt x="882275" y="18658"/>
                    <a:pt x="911908" y="8075"/>
                    <a:pt x="921433" y="31358"/>
                  </a:cubicBezTo>
                  <a:cubicBezTo>
                    <a:pt x="930958" y="54641"/>
                    <a:pt x="904500" y="135075"/>
                    <a:pt x="915083" y="158358"/>
                  </a:cubicBezTo>
                  <a:cubicBezTo>
                    <a:pt x="925666" y="181641"/>
                    <a:pt x="970116" y="191166"/>
                    <a:pt x="984933" y="171058"/>
                  </a:cubicBezTo>
                  <a:cubicBezTo>
                    <a:pt x="999750" y="150950"/>
                    <a:pt x="993400" y="59933"/>
                    <a:pt x="1003983" y="37708"/>
                  </a:cubicBezTo>
                  <a:cubicBezTo>
                    <a:pt x="1014566" y="15483"/>
                    <a:pt x="1019858" y="30300"/>
                    <a:pt x="1048433" y="37708"/>
                  </a:cubicBezTo>
                  <a:cubicBezTo>
                    <a:pt x="1077008" y="45116"/>
                    <a:pt x="1165908" y="57816"/>
                    <a:pt x="1175433" y="82158"/>
                  </a:cubicBezTo>
                  <a:cubicBezTo>
                    <a:pt x="1184958" y="106500"/>
                    <a:pt x="1110875" y="162592"/>
                    <a:pt x="1105583" y="183758"/>
                  </a:cubicBezTo>
                  <a:cubicBezTo>
                    <a:pt x="1100291" y="204924"/>
                    <a:pt x="1123575" y="215508"/>
                    <a:pt x="1143683" y="209158"/>
                  </a:cubicBezTo>
                  <a:cubicBezTo>
                    <a:pt x="1163791" y="202808"/>
                    <a:pt x="1204008" y="150950"/>
                    <a:pt x="1226233" y="145658"/>
                  </a:cubicBezTo>
                  <a:cubicBezTo>
                    <a:pt x="1248458" y="140366"/>
                    <a:pt x="1269625" y="164708"/>
                    <a:pt x="1277033" y="177408"/>
                  </a:cubicBezTo>
                  <a:cubicBezTo>
                    <a:pt x="1284441" y="190108"/>
                    <a:pt x="1280208" y="204925"/>
                    <a:pt x="1270683" y="221858"/>
                  </a:cubicBezTo>
                  <a:cubicBezTo>
                    <a:pt x="1261158" y="238791"/>
                    <a:pt x="1243166" y="262075"/>
                    <a:pt x="1219883" y="279008"/>
                  </a:cubicBezTo>
                  <a:cubicBezTo>
                    <a:pt x="1196600" y="295941"/>
                    <a:pt x="1160616" y="331925"/>
                    <a:pt x="1130983" y="323458"/>
                  </a:cubicBezTo>
                  <a:cubicBezTo>
                    <a:pt x="1101350" y="314991"/>
                    <a:pt x="1065366" y="243025"/>
                    <a:pt x="1042083" y="228208"/>
                  </a:cubicBezTo>
                  <a:cubicBezTo>
                    <a:pt x="1018800" y="213391"/>
                    <a:pt x="991283" y="213391"/>
                    <a:pt x="991283" y="234558"/>
                  </a:cubicBezTo>
                  <a:cubicBezTo>
                    <a:pt x="991283" y="255725"/>
                    <a:pt x="1047375" y="331925"/>
                    <a:pt x="1042083" y="355208"/>
                  </a:cubicBezTo>
                  <a:cubicBezTo>
                    <a:pt x="1036791" y="378491"/>
                    <a:pt x="979641" y="390133"/>
                    <a:pt x="959533" y="374258"/>
                  </a:cubicBezTo>
                  <a:cubicBezTo>
                    <a:pt x="939425" y="358383"/>
                    <a:pt x="939425" y="281125"/>
                    <a:pt x="921433" y="259958"/>
                  </a:cubicBezTo>
                  <a:cubicBezTo>
                    <a:pt x="903441" y="238791"/>
                    <a:pt x="864283" y="230325"/>
                    <a:pt x="851583" y="247258"/>
                  </a:cubicBezTo>
                  <a:cubicBezTo>
                    <a:pt x="838883" y="264191"/>
                    <a:pt x="854758" y="336158"/>
                    <a:pt x="845233" y="361558"/>
                  </a:cubicBezTo>
                  <a:cubicBezTo>
                    <a:pt x="835708" y="386958"/>
                    <a:pt x="813483" y="394366"/>
                    <a:pt x="794433" y="399658"/>
                  </a:cubicBezTo>
                  <a:cubicBezTo>
                    <a:pt x="775383" y="404950"/>
                    <a:pt x="745750" y="415533"/>
                    <a:pt x="730933" y="393308"/>
                  </a:cubicBezTo>
                  <a:cubicBezTo>
                    <a:pt x="716116" y="371083"/>
                    <a:pt x="721408" y="287475"/>
                    <a:pt x="705533" y="266308"/>
                  </a:cubicBezTo>
                  <a:cubicBezTo>
                    <a:pt x="689658" y="245141"/>
                    <a:pt x="650500" y="246200"/>
                    <a:pt x="635683" y="266308"/>
                  </a:cubicBezTo>
                  <a:cubicBezTo>
                    <a:pt x="620866" y="286416"/>
                    <a:pt x="636741" y="367908"/>
                    <a:pt x="616633" y="386958"/>
                  </a:cubicBezTo>
                  <a:cubicBezTo>
                    <a:pt x="596525" y="406008"/>
                    <a:pt x="531966" y="397541"/>
                    <a:pt x="515033" y="380608"/>
                  </a:cubicBezTo>
                  <a:cubicBezTo>
                    <a:pt x="498100" y="363675"/>
                    <a:pt x="535141" y="302291"/>
                    <a:pt x="515033" y="285358"/>
                  </a:cubicBezTo>
                  <a:cubicBezTo>
                    <a:pt x="494925" y="268425"/>
                    <a:pt x="416608" y="264191"/>
                    <a:pt x="394383" y="279008"/>
                  </a:cubicBezTo>
                  <a:cubicBezTo>
                    <a:pt x="372158" y="293825"/>
                    <a:pt x="406025" y="361558"/>
                    <a:pt x="381683" y="374258"/>
                  </a:cubicBezTo>
                  <a:cubicBezTo>
                    <a:pt x="357341" y="386958"/>
                    <a:pt x="258916" y="373200"/>
                    <a:pt x="248333" y="355208"/>
                  </a:cubicBezTo>
                  <a:cubicBezTo>
                    <a:pt x="237750" y="337216"/>
                    <a:pt x="313950" y="290650"/>
                    <a:pt x="318183" y="266308"/>
                  </a:cubicBezTo>
                  <a:cubicBezTo>
                    <a:pt x="322416" y="241966"/>
                    <a:pt x="298075" y="212333"/>
                    <a:pt x="273733" y="209158"/>
                  </a:cubicBezTo>
                  <a:cubicBezTo>
                    <a:pt x="249391" y="205983"/>
                    <a:pt x="204941" y="236675"/>
                    <a:pt x="172133" y="247258"/>
                  </a:cubicBezTo>
                  <a:cubicBezTo>
                    <a:pt x="139325" y="257841"/>
                    <a:pt x="105458" y="275833"/>
                    <a:pt x="76883" y="272658"/>
                  </a:cubicBezTo>
                  <a:cubicBezTo>
                    <a:pt x="48308" y="269483"/>
                    <a:pt x="5975" y="251491"/>
                    <a:pt x="683" y="228208"/>
                  </a:cubicBezTo>
                  <a:cubicBezTo>
                    <a:pt x="-4609" y="204925"/>
                    <a:pt x="21850" y="135075"/>
                    <a:pt x="45133" y="132958"/>
                  </a:cubicBezTo>
                  <a:cubicBezTo>
                    <a:pt x="68416" y="130841"/>
                    <a:pt x="113925" y="207041"/>
                    <a:pt x="140383" y="215508"/>
                  </a:cubicBezTo>
                  <a:cubicBezTo>
                    <a:pt x="166841" y="223975"/>
                    <a:pt x="201766" y="208100"/>
                    <a:pt x="203883" y="183758"/>
                  </a:cubicBezTo>
                  <a:cubicBezTo>
                    <a:pt x="206000" y="159416"/>
                    <a:pt x="148850" y="84275"/>
                    <a:pt x="153083" y="69458"/>
                  </a:cubicBezTo>
                  <a:cubicBezTo>
                    <a:pt x="157316" y="54641"/>
                    <a:pt x="179541" y="106500"/>
                    <a:pt x="216583" y="101208"/>
                  </a:cubicBezTo>
                  <a:close/>
                </a:path>
              </a:pathLst>
            </a:cu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sp>
        <p:nvSpPr>
          <p:cNvPr id="113" name="TextBox 112"/>
          <p:cNvSpPr txBox="1"/>
          <p:nvPr/>
        </p:nvSpPr>
        <p:spPr>
          <a:xfrm>
            <a:off x="308981" y="6262177"/>
            <a:ext cx="205979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t>Active zones</a:t>
            </a:r>
            <a:endParaRPr lang="en-GB" sz="2400"/>
          </a:p>
        </p:txBody>
      </p:sp>
      <p:grpSp>
        <p:nvGrpSpPr>
          <p:cNvPr id="118" name="Group 117"/>
          <p:cNvGrpSpPr/>
          <p:nvPr/>
        </p:nvGrpSpPr>
        <p:grpSpPr>
          <a:xfrm rot="11817320">
            <a:off x="1878060" y="4424108"/>
            <a:ext cx="317831" cy="288032"/>
            <a:chOff x="1813513" y="2924944"/>
            <a:chExt cx="400930" cy="360040"/>
          </a:xfrm>
        </p:grpSpPr>
        <p:sp>
          <p:nvSpPr>
            <p:cNvPr id="119" name="Oval 118"/>
            <p:cNvSpPr/>
            <p:nvPr/>
          </p:nvSpPr>
          <p:spPr>
            <a:xfrm>
              <a:off x="1813513"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120" name="Oval 119"/>
            <p:cNvSpPr/>
            <p:nvPr/>
          </p:nvSpPr>
          <p:spPr>
            <a:xfrm>
              <a:off x="2048244" y="2924944"/>
              <a:ext cx="166199" cy="360040"/>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grpSp>
      <p:sp>
        <p:nvSpPr>
          <p:cNvPr id="121" name="Freeform 120"/>
          <p:cNvSpPr/>
          <p:nvPr/>
        </p:nvSpPr>
        <p:spPr>
          <a:xfrm>
            <a:off x="2169459" y="4623084"/>
            <a:ext cx="779929" cy="199928"/>
          </a:xfrm>
          <a:custGeom>
            <a:avLst/>
            <a:gdLst>
              <a:gd name="connsiteX0" fmla="*/ 0 w 779929"/>
              <a:gd name="connsiteY0" fmla="*/ 47528 h 199928"/>
              <a:gd name="connsiteX1" fmla="*/ 44823 w 779929"/>
              <a:gd name="connsiteY1" fmla="*/ 38563 h 199928"/>
              <a:gd name="connsiteX2" fmla="*/ 143435 w 779929"/>
              <a:gd name="connsiteY2" fmla="*/ 56492 h 199928"/>
              <a:gd name="connsiteX3" fmla="*/ 170329 w 779929"/>
              <a:gd name="connsiteY3" fmla="*/ 74422 h 199928"/>
              <a:gd name="connsiteX4" fmla="*/ 224117 w 779929"/>
              <a:gd name="connsiteY4" fmla="*/ 92351 h 199928"/>
              <a:gd name="connsiteX5" fmla="*/ 242047 w 779929"/>
              <a:gd name="connsiteY5" fmla="*/ 110281 h 199928"/>
              <a:gd name="connsiteX6" fmla="*/ 259976 w 779929"/>
              <a:gd name="connsiteY6" fmla="*/ 56492 h 199928"/>
              <a:gd name="connsiteX7" fmla="*/ 233082 w 779929"/>
              <a:gd name="connsiteY7" fmla="*/ 47528 h 199928"/>
              <a:gd name="connsiteX8" fmla="*/ 161365 w 779929"/>
              <a:gd name="connsiteY8" fmla="*/ 56492 h 199928"/>
              <a:gd name="connsiteX9" fmla="*/ 125506 w 779929"/>
              <a:gd name="connsiteY9" fmla="*/ 65457 h 199928"/>
              <a:gd name="connsiteX10" fmla="*/ 107576 w 779929"/>
              <a:gd name="connsiteY10" fmla="*/ 47528 h 199928"/>
              <a:gd name="connsiteX11" fmla="*/ 116541 w 779929"/>
              <a:gd name="connsiteY11" fmla="*/ 2704 h 199928"/>
              <a:gd name="connsiteX12" fmla="*/ 161365 w 779929"/>
              <a:gd name="connsiteY12" fmla="*/ 11669 h 199928"/>
              <a:gd name="connsiteX13" fmla="*/ 215153 w 779929"/>
              <a:gd name="connsiteY13" fmla="*/ 38563 h 199928"/>
              <a:gd name="connsiteX14" fmla="*/ 242047 w 779929"/>
              <a:gd name="connsiteY14" fmla="*/ 47528 h 199928"/>
              <a:gd name="connsiteX15" fmla="*/ 268941 w 779929"/>
              <a:gd name="connsiteY15" fmla="*/ 65457 h 199928"/>
              <a:gd name="connsiteX16" fmla="*/ 286870 w 779929"/>
              <a:gd name="connsiteY16" fmla="*/ 83387 h 199928"/>
              <a:gd name="connsiteX17" fmla="*/ 313765 w 779929"/>
              <a:gd name="connsiteY17" fmla="*/ 92351 h 199928"/>
              <a:gd name="connsiteX18" fmla="*/ 331694 w 779929"/>
              <a:gd name="connsiteY18" fmla="*/ 110281 h 199928"/>
              <a:gd name="connsiteX19" fmla="*/ 385482 w 779929"/>
              <a:gd name="connsiteY19" fmla="*/ 128210 h 199928"/>
              <a:gd name="connsiteX20" fmla="*/ 412376 w 779929"/>
              <a:gd name="connsiteY20" fmla="*/ 137175 h 199928"/>
              <a:gd name="connsiteX21" fmla="*/ 439270 w 779929"/>
              <a:gd name="connsiteY21" fmla="*/ 146140 h 199928"/>
              <a:gd name="connsiteX22" fmla="*/ 466165 w 779929"/>
              <a:gd name="connsiteY22" fmla="*/ 155104 h 199928"/>
              <a:gd name="connsiteX23" fmla="*/ 502023 w 779929"/>
              <a:gd name="connsiteY23" fmla="*/ 119245 h 199928"/>
              <a:gd name="connsiteX24" fmla="*/ 475129 w 779929"/>
              <a:gd name="connsiteY24" fmla="*/ 101316 h 199928"/>
              <a:gd name="connsiteX25" fmla="*/ 421341 w 779929"/>
              <a:gd name="connsiteY25" fmla="*/ 83387 h 199928"/>
              <a:gd name="connsiteX26" fmla="*/ 277906 w 779929"/>
              <a:gd name="connsiteY26" fmla="*/ 83387 h 199928"/>
              <a:gd name="connsiteX27" fmla="*/ 313765 w 779929"/>
              <a:gd name="connsiteY27" fmla="*/ 65457 h 199928"/>
              <a:gd name="connsiteX28" fmla="*/ 340659 w 779929"/>
              <a:gd name="connsiteY28" fmla="*/ 56492 h 199928"/>
              <a:gd name="connsiteX29" fmla="*/ 421341 w 779929"/>
              <a:gd name="connsiteY29" fmla="*/ 65457 h 199928"/>
              <a:gd name="connsiteX30" fmla="*/ 475129 w 779929"/>
              <a:gd name="connsiteY30" fmla="*/ 101316 h 199928"/>
              <a:gd name="connsiteX31" fmla="*/ 537882 w 779929"/>
              <a:gd name="connsiteY31" fmla="*/ 128210 h 199928"/>
              <a:gd name="connsiteX32" fmla="*/ 555812 w 779929"/>
              <a:gd name="connsiteY32" fmla="*/ 146140 h 199928"/>
              <a:gd name="connsiteX33" fmla="*/ 618565 w 779929"/>
              <a:gd name="connsiteY33" fmla="*/ 164069 h 199928"/>
              <a:gd name="connsiteX34" fmla="*/ 645459 w 779929"/>
              <a:gd name="connsiteY34" fmla="*/ 155104 h 199928"/>
              <a:gd name="connsiteX35" fmla="*/ 636494 w 779929"/>
              <a:gd name="connsiteY35" fmla="*/ 128210 h 199928"/>
              <a:gd name="connsiteX36" fmla="*/ 582706 w 779929"/>
              <a:gd name="connsiteY36" fmla="*/ 110281 h 199928"/>
              <a:gd name="connsiteX37" fmla="*/ 555812 w 779929"/>
              <a:gd name="connsiteY37" fmla="*/ 101316 h 199928"/>
              <a:gd name="connsiteX38" fmla="*/ 304800 w 779929"/>
              <a:gd name="connsiteY38" fmla="*/ 92351 h 199928"/>
              <a:gd name="connsiteX39" fmla="*/ 277906 w 779929"/>
              <a:gd name="connsiteY39" fmla="*/ 83387 h 199928"/>
              <a:gd name="connsiteX40" fmla="*/ 313765 w 779929"/>
              <a:gd name="connsiteY40" fmla="*/ 38563 h 199928"/>
              <a:gd name="connsiteX41" fmla="*/ 295835 w 779929"/>
              <a:gd name="connsiteY41" fmla="*/ 20634 h 199928"/>
              <a:gd name="connsiteX42" fmla="*/ 197223 w 779929"/>
              <a:gd name="connsiteY42" fmla="*/ 20634 h 199928"/>
              <a:gd name="connsiteX43" fmla="*/ 179294 w 779929"/>
              <a:gd name="connsiteY43" fmla="*/ 47528 h 199928"/>
              <a:gd name="connsiteX44" fmla="*/ 62753 w 779929"/>
              <a:gd name="connsiteY44" fmla="*/ 47528 h 199928"/>
              <a:gd name="connsiteX45" fmla="*/ 44823 w 779929"/>
              <a:gd name="connsiteY45" fmla="*/ 29598 h 199928"/>
              <a:gd name="connsiteX46" fmla="*/ 71717 w 779929"/>
              <a:gd name="connsiteY46" fmla="*/ 20634 h 199928"/>
              <a:gd name="connsiteX47" fmla="*/ 125506 w 779929"/>
              <a:gd name="connsiteY47" fmla="*/ 29598 h 199928"/>
              <a:gd name="connsiteX48" fmla="*/ 215153 w 779929"/>
              <a:gd name="connsiteY48" fmla="*/ 56492 h 199928"/>
              <a:gd name="connsiteX49" fmla="*/ 242047 w 779929"/>
              <a:gd name="connsiteY49" fmla="*/ 65457 h 199928"/>
              <a:gd name="connsiteX50" fmla="*/ 322729 w 779929"/>
              <a:gd name="connsiteY50" fmla="*/ 101316 h 199928"/>
              <a:gd name="connsiteX51" fmla="*/ 421341 w 779929"/>
              <a:gd name="connsiteY51" fmla="*/ 128210 h 199928"/>
              <a:gd name="connsiteX52" fmla="*/ 457200 w 779929"/>
              <a:gd name="connsiteY52" fmla="*/ 137175 h 199928"/>
              <a:gd name="connsiteX53" fmla="*/ 627529 w 779929"/>
              <a:gd name="connsiteY53" fmla="*/ 146140 h 199928"/>
              <a:gd name="connsiteX54" fmla="*/ 672353 w 779929"/>
              <a:gd name="connsiteY54" fmla="*/ 181998 h 199928"/>
              <a:gd name="connsiteX55" fmla="*/ 690282 w 779929"/>
              <a:gd name="connsiteY55" fmla="*/ 199928 h 199928"/>
              <a:gd name="connsiteX56" fmla="*/ 753035 w 779929"/>
              <a:gd name="connsiteY56" fmla="*/ 190963 h 199928"/>
              <a:gd name="connsiteX57" fmla="*/ 699247 w 779929"/>
              <a:gd name="connsiteY57" fmla="*/ 155104 h 199928"/>
              <a:gd name="connsiteX58" fmla="*/ 681317 w 779929"/>
              <a:gd name="connsiteY58" fmla="*/ 137175 h 199928"/>
              <a:gd name="connsiteX59" fmla="*/ 654423 w 779929"/>
              <a:gd name="connsiteY59" fmla="*/ 128210 h 199928"/>
              <a:gd name="connsiteX60" fmla="*/ 744070 w 779929"/>
              <a:gd name="connsiteY60" fmla="*/ 119245 h 199928"/>
              <a:gd name="connsiteX61" fmla="*/ 779929 w 779929"/>
              <a:gd name="connsiteY61" fmla="*/ 137175 h 199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779929" h="199928">
                <a:moveTo>
                  <a:pt x="0" y="47528"/>
                </a:moveTo>
                <a:cubicBezTo>
                  <a:pt x="14941" y="44540"/>
                  <a:pt x="29586" y="38563"/>
                  <a:pt x="44823" y="38563"/>
                </a:cubicBezTo>
                <a:cubicBezTo>
                  <a:pt x="95504" y="38563"/>
                  <a:pt x="105614" y="43886"/>
                  <a:pt x="143435" y="56492"/>
                </a:cubicBezTo>
                <a:cubicBezTo>
                  <a:pt x="152400" y="62469"/>
                  <a:pt x="160483" y="70046"/>
                  <a:pt x="170329" y="74422"/>
                </a:cubicBezTo>
                <a:cubicBezTo>
                  <a:pt x="187599" y="82098"/>
                  <a:pt x="224117" y="92351"/>
                  <a:pt x="224117" y="92351"/>
                </a:cubicBezTo>
                <a:cubicBezTo>
                  <a:pt x="230094" y="98328"/>
                  <a:pt x="233759" y="108623"/>
                  <a:pt x="242047" y="110281"/>
                </a:cubicBezTo>
                <a:cubicBezTo>
                  <a:pt x="282298" y="118331"/>
                  <a:pt x="272565" y="75375"/>
                  <a:pt x="259976" y="56492"/>
                </a:cubicBezTo>
                <a:cubicBezTo>
                  <a:pt x="254734" y="48630"/>
                  <a:pt x="242047" y="50516"/>
                  <a:pt x="233082" y="47528"/>
                </a:cubicBezTo>
                <a:cubicBezTo>
                  <a:pt x="209176" y="50516"/>
                  <a:pt x="185129" y="52531"/>
                  <a:pt x="161365" y="56492"/>
                </a:cubicBezTo>
                <a:cubicBezTo>
                  <a:pt x="149212" y="58518"/>
                  <a:pt x="137659" y="67482"/>
                  <a:pt x="125506" y="65457"/>
                </a:cubicBezTo>
                <a:cubicBezTo>
                  <a:pt x="117169" y="64068"/>
                  <a:pt x="113553" y="53504"/>
                  <a:pt x="107576" y="47528"/>
                </a:cubicBezTo>
                <a:cubicBezTo>
                  <a:pt x="110564" y="32587"/>
                  <a:pt x="103863" y="11156"/>
                  <a:pt x="116541" y="2704"/>
                </a:cubicBezTo>
                <a:cubicBezTo>
                  <a:pt x="129219" y="-5748"/>
                  <a:pt x="146583" y="7973"/>
                  <a:pt x="161365" y="11669"/>
                </a:cubicBezTo>
                <a:cubicBezTo>
                  <a:pt x="206429" y="22935"/>
                  <a:pt x="171334" y="16653"/>
                  <a:pt x="215153" y="38563"/>
                </a:cubicBezTo>
                <a:cubicBezTo>
                  <a:pt x="223605" y="42789"/>
                  <a:pt x="233595" y="43302"/>
                  <a:pt x="242047" y="47528"/>
                </a:cubicBezTo>
                <a:cubicBezTo>
                  <a:pt x="251684" y="52346"/>
                  <a:pt x="260528" y="58726"/>
                  <a:pt x="268941" y="65457"/>
                </a:cubicBezTo>
                <a:cubicBezTo>
                  <a:pt x="275541" y="70737"/>
                  <a:pt x="279622" y="79039"/>
                  <a:pt x="286870" y="83387"/>
                </a:cubicBezTo>
                <a:cubicBezTo>
                  <a:pt x="294973" y="88249"/>
                  <a:pt x="304800" y="89363"/>
                  <a:pt x="313765" y="92351"/>
                </a:cubicBezTo>
                <a:cubicBezTo>
                  <a:pt x="319741" y="98328"/>
                  <a:pt x="324134" y="106501"/>
                  <a:pt x="331694" y="110281"/>
                </a:cubicBezTo>
                <a:cubicBezTo>
                  <a:pt x="348598" y="118733"/>
                  <a:pt x="367553" y="122234"/>
                  <a:pt x="385482" y="128210"/>
                </a:cubicBezTo>
                <a:lnTo>
                  <a:pt x="412376" y="137175"/>
                </a:lnTo>
                <a:lnTo>
                  <a:pt x="439270" y="146140"/>
                </a:lnTo>
                <a:lnTo>
                  <a:pt x="466165" y="155104"/>
                </a:lnTo>
                <a:cubicBezTo>
                  <a:pt x="493433" y="149651"/>
                  <a:pt x="532441" y="157268"/>
                  <a:pt x="502023" y="119245"/>
                </a:cubicBezTo>
                <a:cubicBezTo>
                  <a:pt x="495292" y="110832"/>
                  <a:pt x="484975" y="105692"/>
                  <a:pt x="475129" y="101316"/>
                </a:cubicBezTo>
                <a:cubicBezTo>
                  <a:pt x="457859" y="93640"/>
                  <a:pt x="421341" y="83387"/>
                  <a:pt x="421341" y="83387"/>
                </a:cubicBezTo>
                <a:cubicBezTo>
                  <a:pt x="369726" y="96290"/>
                  <a:pt x="341825" y="107357"/>
                  <a:pt x="277906" y="83387"/>
                </a:cubicBezTo>
                <a:cubicBezTo>
                  <a:pt x="265393" y="78695"/>
                  <a:pt x="301482" y="70721"/>
                  <a:pt x="313765" y="65457"/>
                </a:cubicBezTo>
                <a:cubicBezTo>
                  <a:pt x="322451" y="61735"/>
                  <a:pt x="331694" y="59480"/>
                  <a:pt x="340659" y="56492"/>
                </a:cubicBezTo>
                <a:cubicBezTo>
                  <a:pt x="367553" y="59480"/>
                  <a:pt x="395670" y="56900"/>
                  <a:pt x="421341" y="65457"/>
                </a:cubicBezTo>
                <a:cubicBezTo>
                  <a:pt x="441784" y="72271"/>
                  <a:pt x="455855" y="91679"/>
                  <a:pt x="475129" y="101316"/>
                </a:cubicBezTo>
                <a:cubicBezTo>
                  <a:pt x="519440" y="123471"/>
                  <a:pt x="498310" y="115019"/>
                  <a:pt x="537882" y="128210"/>
                </a:cubicBezTo>
                <a:cubicBezTo>
                  <a:pt x="543859" y="134187"/>
                  <a:pt x="548564" y="141791"/>
                  <a:pt x="555812" y="146140"/>
                </a:cubicBezTo>
                <a:cubicBezTo>
                  <a:pt x="564995" y="151650"/>
                  <a:pt x="611872" y="162396"/>
                  <a:pt x="618565" y="164069"/>
                </a:cubicBezTo>
                <a:cubicBezTo>
                  <a:pt x="627530" y="161081"/>
                  <a:pt x="641233" y="163556"/>
                  <a:pt x="645459" y="155104"/>
                </a:cubicBezTo>
                <a:cubicBezTo>
                  <a:pt x="649685" y="146652"/>
                  <a:pt x="644184" y="133702"/>
                  <a:pt x="636494" y="128210"/>
                </a:cubicBezTo>
                <a:cubicBezTo>
                  <a:pt x="621115" y="117225"/>
                  <a:pt x="600635" y="116257"/>
                  <a:pt x="582706" y="110281"/>
                </a:cubicBezTo>
                <a:cubicBezTo>
                  <a:pt x="573741" y="107293"/>
                  <a:pt x="565256" y="101653"/>
                  <a:pt x="555812" y="101316"/>
                </a:cubicBezTo>
                <a:lnTo>
                  <a:pt x="304800" y="92351"/>
                </a:lnTo>
                <a:cubicBezTo>
                  <a:pt x="295835" y="89363"/>
                  <a:pt x="280198" y="92554"/>
                  <a:pt x="277906" y="83387"/>
                </a:cubicBezTo>
                <a:cubicBezTo>
                  <a:pt x="275644" y="74338"/>
                  <a:pt x="307733" y="44595"/>
                  <a:pt x="313765" y="38563"/>
                </a:cubicBezTo>
                <a:cubicBezTo>
                  <a:pt x="307788" y="32587"/>
                  <a:pt x="303083" y="24982"/>
                  <a:pt x="295835" y="20634"/>
                </a:cubicBezTo>
                <a:cubicBezTo>
                  <a:pt x="264383" y="1763"/>
                  <a:pt x="231668" y="16328"/>
                  <a:pt x="197223" y="20634"/>
                </a:cubicBezTo>
                <a:cubicBezTo>
                  <a:pt x="191247" y="29599"/>
                  <a:pt x="187707" y="40798"/>
                  <a:pt x="179294" y="47528"/>
                </a:cubicBezTo>
                <a:cubicBezTo>
                  <a:pt x="152629" y="68860"/>
                  <a:pt x="70530" y="48306"/>
                  <a:pt x="62753" y="47528"/>
                </a:cubicBezTo>
                <a:cubicBezTo>
                  <a:pt x="56776" y="41551"/>
                  <a:pt x="42150" y="37617"/>
                  <a:pt x="44823" y="29598"/>
                </a:cubicBezTo>
                <a:cubicBezTo>
                  <a:pt x="47811" y="20633"/>
                  <a:pt x="62267" y="20634"/>
                  <a:pt x="71717" y="20634"/>
                </a:cubicBezTo>
                <a:cubicBezTo>
                  <a:pt x="89894" y="20634"/>
                  <a:pt x="107682" y="26033"/>
                  <a:pt x="125506" y="29598"/>
                </a:cubicBezTo>
                <a:cubicBezTo>
                  <a:pt x="159371" y="36371"/>
                  <a:pt x="180860" y="45061"/>
                  <a:pt x="215153" y="56492"/>
                </a:cubicBezTo>
                <a:cubicBezTo>
                  <a:pt x="224118" y="59480"/>
                  <a:pt x="234185" y="60215"/>
                  <a:pt x="242047" y="65457"/>
                </a:cubicBezTo>
                <a:cubicBezTo>
                  <a:pt x="284667" y="93871"/>
                  <a:pt x="258718" y="79979"/>
                  <a:pt x="322729" y="101316"/>
                </a:cubicBezTo>
                <a:cubicBezTo>
                  <a:pt x="373009" y="118076"/>
                  <a:pt x="340431" y="107983"/>
                  <a:pt x="421341" y="128210"/>
                </a:cubicBezTo>
                <a:cubicBezTo>
                  <a:pt x="433294" y="131198"/>
                  <a:pt x="444896" y="136527"/>
                  <a:pt x="457200" y="137175"/>
                </a:cubicBezTo>
                <a:lnTo>
                  <a:pt x="627529" y="146140"/>
                </a:lnTo>
                <a:cubicBezTo>
                  <a:pt x="670830" y="189439"/>
                  <a:pt x="615797" y="136752"/>
                  <a:pt x="672353" y="181998"/>
                </a:cubicBezTo>
                <a:cubicBezTo>
                  <a:pt x="678953" y="187278"/>
                  <a:pt x="684306" y="193951"/>
                  <a:pt x="690282" y="199928"/>
                </a:cubicBezTo>
                <a:cubicBezTo>
                  <a:pt x="711200" y="196940"/>
                  <a:pt x="738094" y="205904"/>
                  <a:pt x="753035" y="190963"/>
                </a:cubicBezTo>
                <a:cubicBezTo>
                  <a:pt x="769822" y="174176"/>
                  <a:pt x="700630" y="155565"/>
                  <a:pt x="699247" y="155104"/>
                </a:cubicBezTo>
                <a:cubicBezTo>
                  <a:pt x="693270" y="149128"/>
                  <a:pt x="688565" y="141523"/>
                  <a:pt x="681317" y="137175"/>
                </a:cubicBezTo>
                <a:cubicBezTo>
                  <a:pt x="673214" y="132313"/>
                  <a:pt x="645337" y="130806"/>
                  <a:pt x="654423" y="128210"/>
                </a:cubicBezTo>
                <a:cubicBezTo>
                  <a:pt x="683299" y="119960"/>
                  <a:pt x="714188" y="122233"/>
                  <a:pt x="744070" y="119245"/>
                </a:cubicBezTo>
                <a:cubicBezTo>
                  <a:pt x="774974" y="129546"/>
                  <a:pt x="764283" y="121528"/>
                  <a:pt x="779929" y="137175"/>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TextBox 121"/>
          <p:cNvSpPr txBox="1"/>
          <p:nvPr/>
        </p:nvSpPr>
        <p:spPr>
          <a:xfrm>
            <a:off x="70263" y="474358"/>
            <a:ext cx="205979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t>Schwann Cell</a:t>
            </a:r>
            <a:endParaRPr lang="en-GB" sz="2400"/>
          </a:p>
        </p:txBody>
      </p:sp>
      <p:sp>
        <p:nvSpPr>
          <p:cNvPr id="123" name="TextBox 122"/>
          <p:cNvSpPr txBox="1"/>
          <p:nvPr/>
        </p:nvSpPr>
        <p:spPr>
          <a:xfrm>
            <a:off x="7075142" y="2329156"/>
            <a:ext cx="1876782" cy="83099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t>Acetylcholine receptor</a:t>
            </a:r>
            <a:endParaRPr lang="en-GB" sz="2400"/>
          </a:p>
        </p:txBody>
      </p:sp>
      <p:sp>
        <p:nvSpPr>
          <p:cNvPr id="124" name="TextBox 123"/>
          <p:cNvSpPr txBox="1"/>
          <p:nvPr/>
        </p:nvSpPr>
        <p:spPr>
          <a:xfrm>
            <a:off x="5727993" y="6262176"/>
            <a:ext cx="2781791"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t>Acetylcholinesterase</a:t>
            </a:r>
            <a:endParaRPr lang="en-GB" sz="2400"/>
          </a:p>
        </p:txBody>
      </p:sp>
      <p:sp>
        <p:nvSpPr>
          <p:cNvPr id="125" name="TextBox 124"/>
          <p:cNvSpPr txBox="1"/>
          <p:nvPr/>
        </p:nvSpPr>
        <p:spPr>
          <a:xfrm>
            <a:off x="3318492" y="1398079"/>
            <a:ext cx="1215992" cy="89255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a:t>Vesicles </a:t>
            </a:r>
            <a:r>
              <a:rPr lang="en-US" sz="1400"/>
              <a:t>(5000-10,000 molecules)</a:t>
            </a:r>
            <a:endParaRPr lang="en-GB" sz="1400"/>
          </a:p>
        </p:txBody>
      </p:sp>
      <p:sp>
        <p:nvSpPr>
          <p:cNvPr id="127" name="TextBox 126"/>
          <p:cNvSpPr txBox="1"/>
          <p:nvPr/>
        </p:nvSpPr>
        <p:spPr>
          <a:xfrm>
            <a:off x="3207792" y="6262177"/>
            <a:ext cx="2216287"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Junctional folds</a:t>
            </a:r>
            <a:endParaRPr lang="en-GB" sz="2400" dirty="0"/>
          </a:p>
        </p:txBody>
      </p:sp>
      <p:sp>
        <p:nvSpPr>
          <p:cNvPr id="128" name="TextBox 127"/>
          <p:cNvSpPr txBox="1"/>
          <p:nvPr/>
        </p:nvSpPr>
        <p:spPr>
          <a:xfrm>
            <a:off x="4645774" y="988096"/>
            <a:ext cx="1876782"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t>Mitochondria</a:t>
            </a:r>
            <a:endParaRPr lang="en-GB" sz="2400"/>
          </a:p>
        </p:txBody>
      </p:sp>
      <p:sp>
        <p:nvSpPr>
          <p:cNvPr id="129" name="TextBox 128"/>
          <p:cNvSpPr txBox="1"/>
          <p:nvPr/>
        </p:nvSpPr>
        <p:spPr>
          <a:xfrm>
            <a:off x="6635324" y="1382690"/>
            <a:ext cx="2316599"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a:t>Calcium Channel</a:t>
            </a:r>
            <a:endParaRPr lang="en-GB" sz="2400"/>
          </a:p>
        </p:txBody>
      </p:sp>
      <p:cxnSp>
        <p:nvCxnSpPr>
          <p:cNvPr id="58" name="Straight Arrow Connector 57"/>
          <p:cNvCxnSpPr/>
          <p:nvPr/>
        </p:nvCxnSpPr>
        <p:spPr>
          <a:xfrm flipV="1">
            <a:off x="885626" y="4899680"/>
            <a:ext cx="1464934" cy="74023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stCxn id="127" idx="0"/>
            <a:endCxn id="6" idx="20"/>
          </p:cNvCxnSpPr>
          <p:nvPr/>
        </p:nvCxnSpPr>
        <p:spPr>
          <a:xfrm flipH="1" flipV="1">
            <a:off x="3720727" y="5914936"/>
            <a:ext cx="595209" cy="34724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a:xfrm flipV="1">
            <a:off x="6291953" y="5222503"/>
            <a:ext cx="336751" cy="103967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a:stCxn id="127" idx="0"/>
          </p:cNvCxnSpPr>
          <p:nvPr/>
        </p:nvCxnSpPr>
        <p:spPr>
          <a:xfrm flipV="1">
            <a:off x="4315936" y="5949280"/>
            <a:ext cx="120679" cy="312897"/>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a:stCxn id="123" idx="2"/>
          </p:cNvCxnSpPr>
          <p:nvPr/>
        </p:nvCxnSpPr>
        <p:spPr>
          <a:xfrm flipH="1">
            <a:off x="7105261" y="3160153"/>
            <a:ext cx="908272" cy="76840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p:nvPr/>
        </p:nvCxnSpPr>
        <p:spPr>
          <a:xfrm>
            <a:off x="6653404" y="1844355"/>
            <a:ext cx="302128" cy="150629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8" name="Straight Arrow Connector 147"/>
          <p:cNvCxnSpPr/>
          <p:nvPr/>
        </p:nvCxnSpPr>
        <p:spPr>
          <a:xfrm flipH="1">
            <a:off x="3814533" y="2175601"/>
            <a:ext cx="429533" cy="81994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0" name="Straight Arrow Connector 149"/>
          <p:cNvCxnSpPr/>
          <p:nvPr/>
        </p:nvCxnSpPr>
        <p:spPr>
          <a:xfrm flipH="1">
            <a:off x="5548257" y="1527732"/>
            <a:ext cx="473530" cy="106977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2" name="Straight Arrow Connector 151"/>
          <p:cNvCxnSpPr>
            <a:stCxn id="113" idx="3"/>
          </p:cNvCxnSpPr>
          <p:nvPr/>
        </p:nvCxnSpPr>
        <p:spPr>
          <a:xfrm flipV="1">
            <a:off x="2368775" y="4807318"/>
            <a:ext cx="393622" cy="168569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p:nvPr/>
        </p:nvCxnSpPr>
        <p:spPr>
          <a:xfrm>
            <a:off x="683568" y="972599"/>
            <a:ext cx="640107" cy="20886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923138" y="2449780"/>
            <a:ext cx="0" cy="212538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H="1">
            <a:off x="923138" y="4561379"/>
            <a:ext cx="625965" cy="5489"/>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H="1">
            <a:off x="923138" y="2455269"/>
            <a:ext cx="1903442" cy="0"/>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1799" y="2487623"/>
            <a:ext cx="1357818" cy="1200329"/>
          </a:xfrm>
          <a:prstGeom prst="rect">
            <a:avLst/>
          </a:prstGeom>
          <a:noFill/>
        </p:spPr>
        <p:txBody>
          <a:bodyPr wrap="square" rtlCol="0">
            <a:spAutoFit/>
          </a:bodyPr>
          <a:lstStyle/>
          <a:p>
            <a:pPr algn="ctr"/>
            <a:r>
              <a:rPr lang="en-US" sz="2400">
                <a:solidFill>
                  <a:srgbClr val="C00000"/>
                </a:solidFill>
              </a:rPr>
              <a:t>Pre Synaptic area</a:t>
            </a:r>
            <a:endParaRPr lang="en-GB" sz="2400">
              <a:solidFill>
                <a:srgbClr val="C00000"/>
              </a:solidFill>
            </a:endParaRPr>
          </a:p>
        </p:txBody>
      </p:sp>
      <p:cxnSp>
        <p:nvCxnSpPr>
          <p:cNvPr id="146" name="Straight Connector 145"/>
          <p:cNvCxnSpPr/>
          <p:nvPr/>
        </p:nvCxnSpPr>
        <p:spPr>
          <a:xfrm>
            <a:off x="7603130" y="3871924"/>
            <a:ext cx="410403" cy="0"/>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a:off x="8013533" y="3871924"/>
            <a:ext cx="2491" cy="197846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7521269" y="5831255"/>
            <a:ext cx="494755" cy="0"/>
          </a:xfrm>
          <a:prstGeom prst="line">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54" name="TextBox 153"/>
          <p:cNvSpPr txBox="1"/>
          <p:nvPr/>
        </p:nvSpPr>
        <p:spPr>
          <a:xfrm>
            <a:off x="7934734" y="4234924"/>
            <a:ext cx="1313125" cy="1200329"/>
          </a:xfrm>
          <a:prstGeom prst="rect">
            <a:avLst/>
          </a:prstGeom>
          <a:noFill/>
        </p:spPr>
        <p:txBody>
          <a:bodyPr wrap="square" rtlCol="0">
            <a:spAutoFit/>
          </a:bodyPr>
          <a:lstStyle/>
          <a:p>
            <a:pPr algn="ctr"/>
            <a:r>
              <a:rPr lang="en-US" sz="2400" dirty="0">
                <a:solidFill>
                  <a:srgbClr val="C00000"/>
                </a:solidFill>
              </a:rPr>
              <a:t>Post Synaptic area</a:t>
            </a:r>
            <a:endParaRPr lang="en-GB" sz="2400" dirty="0">
              <a:solidFill>
                <a:srgbClr val="C00000"/>
              </a:solidFill>
            </a:endParaRPr>
          </a:p>
        </p:txBody>
      </p:sp>
    </p:spTree>
    <p:custDataLst>
      <p:tags r:id="rId1"/>
    </p:custDataLst>
    <p:extLst>
      <p:ext uri="{BB962C8B-B14F-4D97-AF65-F5344CB8AC3E}">
        <p14:creationId xmlns:p14="http://schemas.microsoft.com/office/powerpoint/2010/main" val="272473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500"/>
                                        <p:tgtEl>
                                          <p:spTgt spid="122"/>
                                        </p:tgtEl>
                                      </p:cBhvr>
                                    </p:animEffect>
                                  </p:childTnLst>
                                </p:cTn>
                              </p:par>
                              <p:par>
                                <p:cTn id="8" presetID="10" presetClass="entr" presetSubtype="0" fill="hold" nodeType="withEffect">
                                  <p:stCondLst>
                                    <p:cond delay="0"/>
                                  </p:stCondLst>
                                  <p:childTnLst>
                                    <p:set>
                                      <p:cBhvr>
                                        <p:cTn id="9" dur="1" fill="hold">
                                          <p:stCondLst>
                                            <p:cond delay="0"/>
                                          </p:stCondLst>
                                        </p:cTn>
                                        <p:tgtEl>
                                          <p:spTgt spid="155"/>
                                        </p:tgtEl>
                                        <p:attrNameLst>
                                          <p:attrName>style.visibility</p:attrName>
                                        </p:attrNameLst>
                                      </p:cBhvr>
                                      <p:to>
                                        <p:strVal val="visible"/>
                                      </p:to>
                                    </p:set>
                                    <p:animEffect transition="in" filter="fade">
                                      <p:cBhvr>
                                        <p:cTn id="10" dur="500"/>
                                        <p:tgtEl>
                                          <p:spTgt spid="15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
                                        <p:tgtEl>
                                          <p:spTgt spid="125"/>
                                        </p:tgtEl>
                                      </p:cBhvr>
                                    </p:animEffect>
                                  </p:childTnLst>
                                </p:cTn>
                              </p:par>
                              <p:par>
                                <p:cTn id="16" presetID="10" presetClass="entr" presetSubtype="0" fill="hold" nodeType="withEffect">
                                  <p:stCondLst>
                                    <p:cond delay="0"/>
                                  </p:stCondLst>
                                  <p:childTnLst>
                                    <p:set>
                                      <p:cBhvr>
                                        <p:cTn id="17" dur="1" fill="hold">
                                          <p:stCondLst>
                                            <p:cond delay="0"/>
                                          </p:stCondLst>
                                        </p:cTn>
                                        <p:tgtEl>
                                          <p:spTgt spid="148"/>
                                        </p:tgtEl>
                                        <p:attrNameLst>
                                          <p:attrName>style.visibility</p:attrName>
                                        </p:attrNameLst>
                                      </p:cBhvr>
                                      <p:to>
                                        <p:strVal val="visible"/>
                                      </p:to>
                                    </p:set>
                                    <p:animEffect transition="in" filter="fade">
                                      <p:cBhvr>
                                        <p:cTn id="18" dur="500"/>
                                        <p:tgtEl>
                                          <p:spTgt spid="14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8"/>
                                        </p:tgtEl>
                                        <p:attrNameLst>
                                          <p:attrName>style.visibility</p:attrName>
                                        </p:attrNameLst>
                                      </p:cBhvr>
                                      <p:to>
                                        <p:strVal val="visible"/>
                                      </p:to>
                                    </p:set>
                                    <p:animEffect transition="in" filter="fade">
                                      <p:cBhvr>
                                        <p:cTn id="23" dur="500"/>
                                        <p:tgtEl>
                                          <p:spTgt spid="128"/>
                                        </p:tgtEl>
                                      </p:cBhvr>
                                    </p:animEffect>
                                  </p:childTnLst>
                                </p:cTn>
                              </p:par>
                              <p:par>
                                <p:cTn id="24" presetID="10" presetClass="entr" presetSubtype="0" fill="hold" nodeType="withEffect">
                                  <p:stCondLst>
                                    <p:cond delay="0"/>
                                  </p:stCondLst>
                                  <p:childTnLst>
                                    <p:set>
                                      <p:cBhvr>
                                        <p:cTn id="25" dur="1" fill="hold">
                                          <p:stCondLst>
                                            <p:cond delay="0"/>
                                          </p:stCondLst>
                                        </p:cTn>
                                        <p:tgtEl>
                                          <p:spTgt spid="150"/>
                                        </p:tgtEl>
                                        <p:attrNameLst>
                                          <p:attrName>style.visibility</p:attrName>
                                        </p:attrNameLst>
                                      </p:cBhvr>
                                      <p:to>
                                        <p:strVal val="visible"/>
                                      </p:to>
                                    </p:set>
                                    <p:animEffect transition="in" filter="fade">
                                      <p:cBhvr>
                                        <p:cTn id="26" dur="500"/>
                                        <p:tgtEl>
                                          <p:spTgt spid="15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9"/>
                                        </p:tgtEl>
                                        <p:attrNameLst>
                                          <p:attrName>style.visibility</p:attrName>
                                        </p:attrNameLst>
                                      </p:cBhvr>
                                      <p:to>
                                        <p:strVal val="visible"/>
                                      </p:to>
                                    </p:set>
                                    <p:animEffect transition="in" filter="fade">
                                      <p:cBhvr>
                                        <p:cTn id="31" dur="500"/>
                                        <p:tgtEl>
                                          <p:spTgt spid="129"/>
                                        </p:tgtEl>
                                      </p:cBhvr>
                                    </p:animEffect>
                                  </p:childTnLst>
                                </p:cTn>
                              </p:par>
                              <p:par>
                                <p:cTn id="32" presetID="10" presetClass="entr" presetSubtype="0" fill="hold" nodeType="withEffect">
                                  <p:stCondLst>
                                    <p:cond delay="0"/>
                                  </p:stCondLst>
                                  <p:childTnLst>
                                    <p:set>
                                      <p:cBhvr>
                                        <p:cTn id="33" dur="1" fill="hold">
                                          <p:stCondLst>
                                            <p:cond delay="0"/>
                                          </p:stCondLst>
                                        </p:cTn>
                                        <p:tgtEl>
                                          <p:spTgt spid="145"/>
                                        </p:tgtEl>
                                        <p:attrNameLst>
                                          <p:attrName>style.visibility</p:attrName>
                                        </p:attrNameLst>
                                      </p:cBhvr>
                                      <p:to>
                                        <p:strVal val="visible"/>
                                      </p:to>
                                    </p:set>
                                    <p:animEffect transition="in" filter="fade">
                                      <p:cBhvr>
                                        <p:cTn id="34" dur="500"/>
                                        <p:tgtEl>
                                          <p:spTgt spid="1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3"/>
                                        </p:tgtEl>
                                        <p:attrNameLst>
                                          <p:attrName>style.visibility</p:attrName>
                                        </p:attrNameLst>
                                      </p:cBhvr>
                                      <p:to>
                                        <p:strVal val="visible"/>
                                      </p:to>
                                    </p:set>
                                    <p:animEffect transition="in" filter="fade">
                                      <p:cBhvr>
                                        <p:cTn id="39" dur="500"/>
                                        <p:tgtEl>
                                          <p:spTgt spid="1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2"/>
                                        </p:tgtEl>
                                        <p:attrNameLst>
                                          <p:attrName>style.visibility</p:attrName>
                                        </p:attrNameLst>
                                      </p:cBhvr>
                                      <p:to>
                                        <p:strVal val="visible"/>
                                      </p:to>
                                    </p:set>
                                    <p:animEffect transition="in" filter="fade">
                                      <p:cBhvr>
                                        <p:cTn id="44" dur="500"/>
                                        <p:tgtEl>
                                          <p:spTgt spid="15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23"/>
                                        </p:tgtEl>
                                        <p:attrNameLst>
                                          <p:attrName>style.visibility</p:attrName>
                                        </p:attrNameLst>
                                      </p:cBhvr>
                                      <p:to>
                                        <p:strVal val="visible"/>
                                      </p:to>
                                    </p:set>
                                    <p:animEffect transition="in" filter="fade">
                                      <p:cBhvr>
                                        <p:cTn id="49" dur="500"/>
                                        <p:tgtEl>
                                          <p:spTgt spid="123"/>
                                        </p:tgtEl>
                                      </p:cBhvr>
                                    </p:animEffect>
                                  </p:childTnLst>
                                </p:cTn>
                              </p:par>
                              <p:par>
                                <p:cTn id="50" presetID="10" presetClass="entr" presetSubtype="0" fill="hold" nodeType="withEffect">
                                  <p:stCondLst>
                                    <p:cond delay="0"/>
                                  </p:stCondLst>
                                  <p:childTnLst>
                                    <p:set>
                                      <p:cBhvr>
                                        <p:cTn id="51" dur="1" fill="hold">
                                          <p:stCondLst>
                                            <p:cond delay="0"/>
                                          </p:stCondLst>
                                        </p:cTn>
                                        <p:tgtEl>
                                          <p:spTgt spid="142"/>
                                        </p:tgtEl>
                                        <p:attrNameLst>
                                          <p:attrName>style.visibility</p:attrName>
                                        </p:attrNameLst>
                                      </p:cBhvr>
                                      <p:to>
                                        <p:strVal val="visible"/>
                                      </p:to>
                                    </p:set>
                                    <p:animEffect transition="in" filter="fade">
                                      <p:cBhvr>
                                        <p:cTn id="52" dur="500"/>
                                        <p:tgtEl>
                                          <p:spTgt spid="14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2"/>
                                        </p:tgtEl>
                                        <p:attrNameLst>
                                          <p:attrName>style.visibility</p:attrName>
                                        </p:attrNameLst>
                                      </p:cBhvr>
                                      <p:to>
                                        <p:strVal val="visible"/>
                                      </p:to>
                                    </p:set>
                                    <p:animEffect transition="in" filter="fade">
                                      <p:cBhvr>
                                        <p:cTn id="57" dur="500"/>
                                        <p:tgtEl>
                                          <p:spTgt spid="132"/>
                                        </p:tgtEl>
                                      </p:cBhvr>
                                    </p:animEffect>
                                  </p:childTnLst>
                                </p:cTn>
                              </p:par>
                              <p:par>
                                <p:cTn id="58" presetID="10" presetClass="entr" presetSubtype="0" fill="hold" nodeType="withEffect">
                                  <p:stCondLst>
                                    <p:cond delay="0"/>
                                  </p:stCondLst>
                                  <p:childTnLst>
                                    <p:set>
                                      <p:cBhvr>
                                        <p:cTn id="59" dur="1" fill="hold">
                                          <p:stCondLst>
                                            <p:cond delay="0"/>
                                          </p:stCondLst>
                                        </p:cTn>
                                        <p:tgtEl>
                                          <p:spTgt spid="137"/>
                                        </p:tgtEl>
                                        <p:attrNameLst>
                                          <p:attrName>style.visibility</p:attrName>
                                        </p:attrNameLst>
                                      </p:cBhvr>
                                      <p:to>
                                        <p:strVal val="visible"/>
                                      </p:to>
                                    </p:set>
                                    <p:animEffect transition="in" filter="fade">
                                      <p:cBhvr>
                                        <p:cTn id="60" dur="500"/>
                                        <p:tgtEl>
                                          <p:spTgt spid="13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27"/>
                                        </p:tgtEl>
                                        <p:attrNameLst>
                                          <p:attrName>style.visibility</p:attrName>
                                        </p:attrNameLst>
                                      </p:cBhvr>
                                      <p:to>
                                        <p:strVal val="visible"/>
                                      </p:to>
                                    </p:set>
                                    <p:animEffect transition="in" filter="fade">
                                      <p:cBhvr>
                                        <p:cTn id="63" dur="500"/>
                                        <p:tgtEl>
                                          <p:spTgt spid="127"/>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34"/>
                                        </p:tgtEl>
                                        <p:attrNameLst>
                                          <p:attrName>style.visibility</p:attrName>
                                        </p:attrNameLst>
                                      </p:cBhvr>
                                      <p:to>
                                        <p:strVal val="visible"/>
                                      </p:to>
                                    </p:set>
                                    <p:animEffect transition="in" filter="fade">
                                      <p:cBhvr>
                                        <p:cTn id="68" dur="500"/>
                                        <p:tgtEl>
                                          <p:spTgt spid="1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24"/>
                                        </p:tgtEl>
                                        <p:attrNameLst>
                                          <p:attrName>style.visibility</p:attrName>
                                        </p:attrNameLst>
                                      </p:cBhvr>
                                      <p:to>
                                        <p:strVal val="visible"/>
                                      </p:to>
                                    </p:set>
                                    <p:animEffect transition="in" filter="fade">
                                      <p:cBhvr>
                                        <p:cTn id="71"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22" grpId="0" animBg="1"/>
      <p:bldP spid="123" grpId="0" animBg="1"/>
      <p:bldP spid="124" grpId="0" animBg="1"/>
      <p:bldP spid="125" grpId="0" animBg="1"/>
      <p:bldP spid="127" grpId="0" animBg="1"/>
      <p:bldP spid="128" grpId="0" animBg="1"/>
      <p:bldP spid="1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1925638" y="228600"/>
            <a:ext cx="48561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3200">
                <a:solidFill>
                  <a:schemeClr val="hlink"/>
                </a:solidFill>
                <a:latin typeface="Arial Rounded MT Bold" pitchFamily="34" charset="0"/>
              </a:rPr>
              <a:t>a synapse at a real NMJ</a:t>
            </a:r>
            <a:endParaRPr lang="en-US" sz="2800">
              <a:latin typeface="Arial Rounded MT Bold" pitchFamily="34" charset="0"/>
            </a:endParaRPr>
          </a:p>
        </p:txBody>
      </p:sp>
      <p:pic>
        <p:nvPicPr>
          <p:cNvPr id="33807" name="Picture 15" descr="nerve-muscle-em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990600"/>
            <a:ext cx="5113338" cy="4954588"/>
          </a:xfrm>
          <a:prstGeom prst="rect">
            <a:avLst/>
          </a:prstGeom>
          <a:noFill/>
          <a:extLst>
            <a:ext uri="{909E8E84-426E-40DD-AFC4-6F175D3DCCD1}">
              <a14:hiddenFill xmlns:a14="http://schemas.microsoft.com/office/drawing/2010/main">
                <a:solidFill>
                  <a:srgbClr val="FFFFFF"/>
                </a:solidFill>
              </a14:hiddenFill>
            </a:ext>
          </a:extLst>
        </p:spPr>
      </p:pic>
      <p:grpSp>
        <p:nvGrpSpPr>
          <p:cNvPr id="33808" name="Group 16"/>
          <p:cNvGrpSpPr>
            <a:grpSpLocks/>
          </p:cNvGrpSpPr>
          <p:nvPr/>
        </p:nvGrpSpPr>
        <p:grpSpPr bwMode="auto">
          <a:xfrm>
            <a:off x="4953000" y="4419600"/>
            <a:ext cx="2743200" cy="2085975"/>
            <a:chOff x="2688" y="2784"/>
            <a:chExt cx="1728" cy="1314"/>
          </a:xfrm>
        </p:grpSpPr>
        <p:sp>
          <p:nvSpPr>
            <p:cNvPr id="33804" name="Text Box 12"/>
            <p:cNvSpPr txBox="1">
              <a:spLocks noChangeArrowheads="1"/>
            </p:cNvSpPr>
            <p:nvPr/>
          </p:nvSpPr>
          <p:spPr bwMode="auto">
            <a:xfrm>
              <a:off x="3168" y="3408"/>
              <a:ext cx="1248" cy="690"/>
            </a:xfrm>
            <a:prstGeom prst="rect">
              <a:avLst/>
            </a:prstGeom>
            <a:solidFill>
              <a:schemeClr val="bg1"/>
            </a:solidFill>
            <a:ln w="28575">
              <a:solidFill>
                <a:schemeClr val="hlink"/>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3200">
                  <a:solidFill>
                    <a:schemeClr val="hlink"/>
                  </a:solidFill>
                  <a:latin typeface="Arial Rounded MT Bold" pitchFamily="34" charset="0"/>
                </a:rPr>
                <a:t>synaptic</a:t>
              </a:r>
            </a:p>
            <a:p>
              <a:pPr eaLnBrk="0" hangingPunct="0"/>
              <a:r>
                <a:rPr lang="en-US" sz="3200">
                  <a:solidFill>
                    <a:schemeClr val="hlink"/>
                  </a:solidFill>
                  <a:latin typeface="Arial Rounded MT Bold" pitchFamily="34" charset="0"/>
                </a:rPr>
                <a:t> cleft</a:t>
              </a:r>
              <a:endParaRPr lang="en-US" sz="2800">
                <a:latin typeface="Arial Rounded MT Bold" pitchFamily="34" charset="0"/>
              </a:endParaRPr>
            </a:p>
          </p:txBody>
        </p:sp>
        <p:sp>
          <p:nvSpPr>
            <p:cNvPr id="33805" name="Line 13"/>
            <p:cNvSpPr>
              <a:spLocks noChangeShapeType="1"/>
            </p:cNvSpPr>
            <p:nvPr/>
          </p:nvSpPr>
          <p:spPr bwMode="auto">
            <a:xfrm rot="4868903" flipH="1">
              <a:off x="2712" y="2760"/>
              <a:ext cx="672" cy="72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9687242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8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38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527843" y="-99392"/>
            <a:ext cx="7772400" cy="1143000"/>
          </a:xfrm>
          <a:noFill/>
          <a:ln/>
        </p:spPr>
        <p:txBody>
          <a:bodyPr>
            <a:normAutofit/>
          </a:bodyPr>
          <a:lstStyle/>
          <a:p>
            <a:pPr algn="l"/>
            <a:r>
              <a:rPr lang="en-GB" sz="2000" b="1" dirty="0">
                <a:solidFill>
                  <a:schemeClr val="hlink"/>
                </a:solidFill>
                <a:latin typeface="Arial Rounded MT Bold" pitchFamily="34" charset="0"/>
              </a:rPr>
              <a:t>Ach is synthesized from Choline &amp; Acetyl Co A by Choline acetyl </a:t>
            </a:r>
            <a:r>
              <a:rPr lang="en-GB" sz="2000" b="1" dirty="0" err="1">
                <a:solidFill>
                  <a:schemeClr val="hlink"/>
                </a:solidFill>
                <a:latin typeface="Arial Rounded MT Bold" pitchFamily="34" charset="0"/>
              </a:rPr>
              <a:t>transferase</a:t>
            </a:r>
            <a:r>
              <a:rPr lang="en-GB" sz="2000" b="1" dirty="0">
                <a:solidFill>
                  <a:schemeClr val="hlink"/>
                </a:solidFill>
                <a:latin typeface="Arial Rounded MT Bold" pitchFamily="34" charset="0"/>
              </a:rPr>
              <a:t> </a:t>
            </a:r>
            <a:r>
              <a:rPr lang="en-GB" sz="2000" b="1">
                <a:solidFill>
                  <a:schemeClr val="hlink"/>
                </a:solidFill>
                <a:latin typeface="Arial Rounded MT Bold" pitchFamily="34" charset="0"/>
              </a:rPr>
              <a:t>(CAT), an enzyme found in neuron</a:t>
            </a:r>
            <a:endParaRPr lang="en-GB" sz="2000" b="1" dirty="0">
              <a:solidFill>
                <a:schemeClr val="hlink"/>
              </a:solidFill>
              <a:latin typeface="Arial Rounded MT Bold" pitchFamily="34" charset="0"/>
            </a:endParaRPr>
          </a:p>
        </p:txBody>
      </p:sp>
      <p:grpSp>
        <p:nvGrpSpPr>
          <p:cNvPr id="17430" name="Group 22"/>
          <p:cNvGrpSpPr>
            <a:grpSpLocks/>
          </p:cNvGrpSpPr>
          <p:nvPr/>
        </p:nvGrpSpPr>
        <p:grpSpPr bwMode="auto">
          <a:xfrm>
            <a:off x="1131093" y="1795463"/>
            <a:ext cx="5302250" cy="5062537"/>
            <a:chOff x="1152" y="1039"/>
            <a:chExt cx="3340" cy="3189"/>
          </a:xfrm>
        </p:grpSpPr>
        <p:sp>
          <p:nvSpPr>
            <p:cNvPr id="17411" name="Freeform 3"/>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412" name="Oval 4"/>
            <p:cNvSpPr>
              <a:spLocks noChangeArrowheads="1"/>
            </p:cNvSpPr>
            <p:nvPr/>
          </p:nvSpPr>
          <p:spPr bwMode="auto">
            <a:xfrm>
              <a:off x="1972" y="230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13" name="Oval 5"/>
            <p:cNvSpPr>
              <a:spLocks noChangeArrowheads="1"/>
            </p:cNvSpPr>
            <p:nvPr/>
          </p:nvSpPr>
          <p:spPr bwMode="auto">
            <a:xfrm>
              <a:off x="2740" y="230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14" name="Oval 6"/>
            <p:cNvSpPr>
              <a:spLocks noChangeArrowheads="1"/>
            </p:cNvSpPr>
            <p:nvPr/>
          </p:nvSpPr>
          <p:spPr bwMode="auto">
            <a:xfrm>
              <a:off x="2308" y="2356"/>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15" name="Oval 7"/>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16" name="Oval 8"/>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17" name="Freeform 9"/>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418" name="Oval 10"/>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19" name="Oval 11"/>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0" name="Oval 12"/>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421" name="Freeform 13"/>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422" name="Oval 14"/>
            <p:cNvSpPr>
              <a:spLocks noChangeArrowheads="1"/>
            </p:cNvSpPr>
            <p:nvPr/>
          </p:nvSpPr>
          <p:spPr bwMode="auto">
            <a:xfrm>
              <a:off x="2356" y="3268"/>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7424" name="Freeform 16"/>
          <p:cNvSpPr>
            <a:spLocks/>
          </p:cNvSpPr>
          <p:nvPr/>
        </p:nvSpPr>
        <p:spPr bwMode="auto">
          <a:xfrm>
            <a:off x="3886200" y="2438400"/>
            <a:ext cx="1008063" cy="533400"/>
          </a:xfrm>
          <a:custGeom>
            <a:avLst/>
            <a:gdLst>
              <a:gd name="T0" fmla="*/ 0 w 635"/>
              <a:gd name="T1" fmla="*/ 270 h 408"/>
              <a:gd name="T2" fmla="*/ 45 w 635"/>
              <a:gd name="T3" fmla="*/ 260 h 408"/>
              <a:gd name="T4" fmla="*/ 79 w 635"/>
              <a:gd name="T5" fmla="*/ 271 h 408"/>
              <a:gd name="T6" fmla="*/ 113 w 635"/>
              <a:gd name="T7" fmla="*/ 260 h 408"/>
              <a:gd name="T8" fmla="*/ 147 w 635"/>
              <a:gd name="T9" fmla="*/ 238 h 408"/>
              <a:gd name="T10" fmla="*/ 147 w 635"/>
              <a:gd name="T11" fmla="*/ 204 h 408"/>
              <a:gd name="T12" fmla="*/ 158 w 635"/>
              <a:gd name="T13" fmla="*/ 170 h 408"/>
              <a:gd name="T14" fmla="*/ 158 w 635"/>
              <a:gd name="T15" fmla="*/ 136 h 408"/>
              <a:gd name="T16" fmla="*/ 170 w 635"/>
              <a:gd name="T17" fmla="*/ 102 h 408"/>
              <a:gd name="T18" fmla="*/ 170 w 635"/>
              <a:gd name="T19" fmla="*/ 68 h 408"/>
              <a:gd name="T20" fmla="*/ 181 w 635"/>
              <a:gd name="T21" fmla="*/ 34 h 408"/>
              <a:gd name="T22" fmla="*/ 181 w 635"/>
              <a:gd name="T23" fmla="*/ 0 h 408"/>
              <a:gd name="T24" fmla="*/ 215 w 635"/>
              <a:gd name="T25" fmla="*/ 11 h 408"/>
              <a:gd name="T26" fmla="*/ 238 w 635"/>
              <a:gd name="T27" fmla="*/ 45 h 408"/>
              <a:gd name="T28" fmla="*/ 260 w 635"/>
              <a:gd name="T29" fmla="*/ 79 h 408"/>
              <a:gd name="T30" fmla="*/ 272 w 635"/>
              <a:gd name="T31" fmla="*/ 113 h 408"/>
              <a:gd name="T32" fmla="*/ 272 w 635"/>
              <a:gd name="T33" fmla="*/ 147 h 408"/>
              <a:gd name="T34" fmla="*/ 272 w 635"/>
              <a:gd name="T35" fmla="*/ 181 h 408"/>
              <a:gd name="T36" fmla="*/ 283 w 635"/>
              <a:gd name="T37" fmla="*/ 215 h 408"/>
              <a:gd name="T38" fmla="*/ 294 w 635"/>
              <a:gd name="T39" fmla="*/ 249 h 408"/>
              <a:gd name="T40" fmla="*/ 306 w 635"/>
              <a:gd name="T41" fmla="*/ 294 h 408"/>
              <a:gd name="T42" fmla="*/ 317 w 635"/>
              <a:gd name="T43" fmla="*/ 328 h 408"/>
              <a:gd name="T44" fmla="*/ 340 w 635"/>
              <a:gd name="T45" fmla="*/ 362 h 408"/>
              <a:gd name="T46" fmla="*/ 374 w 635"/>
              <a:gd name="T47" fmla="*/ 396 h 408"/>
              <a:gd name="T48" fmla="*/ 408 w 635"/>
              <a:gd name="T49" fmla="*/ 407 h 408"/>
              <a:gd name="T50" fmla="*/ 430 w 635"/>
              <a:gd name="T51" fmla="*/ 373 h 408"/>
              <a:gd name="T52" fmla="*/ 441 w 635"/>
              <a:gd name="T53" fmla="*/ 339 h 408"/>
              <a:gd name="T54" fmla="*/ 464 w 635"/>
              <a:gd name="T55" fmla="*/ 305 h 408"/>
              <a:gd name="T56" fmla="*/ 498 w 635"/>
              <a:gd name="T57" fmla="*/ 305 h 408"/>
              <a:gd name="T58" fmla="*/ 532 w 635"/>
              <a:gd name="T59" fmla="*/ 294 h 408"/>
              <a:gd name="T60" fmla="*/ 566 w 635"/>
              <a:gd name="T61" fmla="*/ 294 h 408"/>
              <a:gd name="T62" fmla="*/ 600 w 635"/>
              <a:gd name="T63" fmla="*/ 294 h 408"/>
              <a:gd name="T64" fmla="*/ 634 w 635"/>
              <a:gd name="T65" fmla="*/ 294 h 408"/>
              <a:gd name="T66" fmla="*/ 624 w 635"/>
              <a:gd name="T67" fmla="*/ 270 h 408"/>
              <a:gd name="T68" fmla="*/ 624 w 635"/>
              <a:gd name="T69" fmla="*/ 31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5" h="408">
                <a:moveTo>
                  <a:pt x="0" y="270"/>
                </a:moveTo>
                <a:lnTo>
                  <a:pt x="45" y="260"/>
                </a:lnTo>
                <a:lnTo>
                  <a:pt x="79" y="271"/>
                </a:lnTo>
                <a:lnTo>
                  <a:pt x="113" y="260"/>
                </a:lnTo>
                <a:lnTo>
                  <a:pt x="147" y="238"/>
                </a:lnTo>
                <a:lnTo>
                  <a:pt x="147" y="204"/>
                </a:lnTo>
                <a:lnTo>
                  <a:pt x="158" y="170"/>
                </a:lnTo>
                <a:lnTo>
                  <a:pt x="158" y="136"/>
                </a:lnTo>
                <a:lnTo>
                  <a:pt x="170" y="102"/>
                </a:lnTo>
                <a:lnTo>
                  <a:pt x="170" y="68"/>
                </a:lnTo>
                <a:lnTo>
                  <a:pt x="181" y="34"/>
                </a:lnTo>
                <a:lnTo>
                  <a:pt x="181" y="0"/>
                </a:lnTo>
                <a:lnTo>
                  <a:pt x="215" y="11"/>
                </a:lnTo>
                <a:lnTo>
                  <a:pt x="238" y="45"/>
                </a:lnTo>
                <a:lnTo>
                  <a:pt x="260" y="79"/>
                </a:lnTo>
                <a:lnTo>
                  <a:pt x="272" y="113"/>
                </a:lnTo>
                <a:lnTo>
                  <a:pt x="272" y="147"/>
                </a:lnTo>
                <a:lnTo>
                  <a:pt x="272" y="181"/>
                </a:lnTo>
                <a:lnTo>
                  <a:pt x="283" y="215"/>
                </a:lnTo>
                <a:lnTo>
                  <a:pt x="294" y="249"/>
                </a:lnTo>
                <a:lnTo>
                  <a:pt x="306" y="294"/>
                </a:lnTo>
                <a:lnTo>
                  <a:pt x="317" y="328"/>
                </a:lnTo>
                <a:lnTo>
                  <a:pt x="340" y="362"/>
                </a:lnTo>
                <a:lnTo>
                  <a:pt x="374" y="396"/>
                </a:lnTo>
                <a:lnTo>
                  <a:pt x="408" y="407"/>
                </a:lnTo>
                <a:lnTo>
                  <a:pt x="430" y="373"/>
                </a:lnTo>
                <a:lnTo>
                  <a:pt x="441" y="339"/>
                </a:lnTo>
                <a:lnTo>
                  <a:pt x="464" y="305"/>
                </a:lnTo>
                <a:lnTo>
                  <a:pt x="498" y="305"/>
                </a:lnTo>
                <a:lnTo>
                  <a:pt x="532" y="294"/>
                </a:lnTo>
                <a:lnTo>
                  <a:pt x="566" y="294"/>
                </a:lnTo>
                <a:lnTo>
                  <a:pt x="600" y="294"/>
                </a:lnTo>
                <a:lnTo>
                  <a:pt x="634" y="294"/>
                </a:lnTo>
                <a:lnTo>
                  <a:pt x="624" y="270"/>
                </a:lnTo>
                <a:lnTo>
                  <a:pt x="624" y="318"/>
                </a:lnTo>
              </a:path>
            </a:pathLst>
          </a:custGeom>
          <a:noFill/>
          <a:ln w="50800" cap="rnd" cmpd="sng">
            <a:solidFill>
              <a:srgbClr val="FFFF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7425" name="Rectangle 17"/>
          <p:cNvSpPr>
            <a:spLocks noChangeArrowheads="1"/>
          </p:cNvSpPr>
          <p:nvPr/>
        </p:nvSpPr>
        <p:spPr bwMode="auto">
          <a:xfrm>
            <a:off x="4975020" y="4032526"/>
            <a:ext cx="4074762" cy="206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defTabSz="762000" eaLnBrk="0" hangingPunct="0"/>
            <a:r>
              <a:rPr lang="en-GB" sz="3200">
                <a:solidFill>
                  <a:schemeClr val="tx2">
                    <a:lumMod val="50000"/>
                  </a:schemeClr>
                </a:solidFill>
              </a:rPr>
              <a:t>(1)</a:t>
            </a:r>
            <a:r>
              <a:rPr lang="en-GB" sz="3200"/>
              <a:t> when A.P invades the axon terminal, the presynaptic membrane is depolarised</a:t>
            </a:r>
          </a:p>
        </p:txBody>
      </p:sp>
      <p:grpSp>
        <p:nvGrpSpPr>
          <p:cNvPr id="17429" name="Group 21"/>
          <p:cNvGrpSpPr>
            <a:grpSpLocks/>
          </p:cNvGrpSpPr>
          <p:nvPr/>
        </p:nvGrpSpPr>
        <p:grpSpPr bwMode="auto">
          <a:xfrm>
            <a:off x="3807744" y="3067251"/>
            <a:ext cx="666750" cy="762000"/>
            <a:chOff x="2838" y="1872"/>
            <a:chExt cx="420" cy="480"/>
          </a:xfrm>
        </p:grpSpPr>
        <p:sp>
          <p:nvSpPr>
            <p:cNvPr id="17427" name="Text Box 19"/>
            <p:cNvSpPr txBox="1">
              <a:spLocks noChangeArrowheads="1"/>
            </p:cNvSpPr>
            <p:nvPr/>
          </p:nvSpPr>
          <p:spPr bwMode="auto">
            <a:xfrm>
              <a:off x="2838" y="1872"/>
              <a:ext cx="3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800">
                  <a:solidFill>
                    <a:schemeClr val="hlink"/>
                  </a:solidFill>
                  <a:latin typeface="Arial Rounded MT Bold" pitchFamily="34" charset="0"/>
                </a:rPr>
                <a:t>+</a:t>
              </a:r>
              <a:r>
                <a:rPr lang="en-US" sz="2800">
                  <a:latin typeface="Arial Rounded MT Bold" pitchFamily="34" charset="0"/>
                </a:rPr>
                <a:t> </a:t>
              </a:r>
              <a:r>
                <a:rPr lang="en-US" sz="2800">
                  <a:solidFill>
                    <a:schemeClr val="folHlink"/>
                  </a:solidFill>
                  <a:latin typeface="Arial Rounded MT Bold" pitchFamily="34" charset="0"/>
                </a:rPr>
                <a:t>-</a:t>
              </a:r>
              <a:endParaRPr lang="en-US" sz="2800">
                <a:latin typeface="Arial Rounded MT Bold" pitchFamily="34" charset="0"/>
              </a:endParaRPr>
            </a:p>
          </p:txBody>
        </p:sp>
        <p:sp>
          <p:nvSpPr>
            <p:cNvPr id="17428" name="Text Box 20"/>
            <p:cNvSpPr txBox="1">
              <a:spLocks noChangeArrowheads="1"/>
            </p:cNvSpPr>
            <p:nvPr/>
          </p:nvSpPr>
          <p:spPr bwMode="auto">
            <a:xfrm>
              <a:off x="2880" y="2025"/>
              <a:ext cx="3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800" dirty="0">
                  <a:solidFill>
                    <a:schemeClr val="hlink"/>
                  </a:solidFill>
                  <a:latin typeface="Arial Rounded MT Bold" pitchFamily="34" charset="0"/>
                </a:rPr>
                <a:t>+</a:t>
              </a:r>
              <a:r>
                <a:rPr lang="en-US" sz="2800" dirty="0">
                  <a:latin typeface="Arial Rounded MT Bold" pitchFamily="34" charset="0"/>
                </a:rPr>
                <a:t> </a:t>
              </a:r>
              <a:r>
                <a:rPr lang="en-US" sz="2800" dirty="0">
                  <a:solidFill>
                    <a:schemeClr val="folHlink"/>
                  </a:solidFill>
                  <a:latin typeface="Arial Rounded MT Bold" pitchFamily="34" charset="0"/>
                </a:rPr>
                <a:t>-</a:t>
              </a:r>
              <a:endParaRPr lang="en-US" sz="2800" dirty="0">
                <a:latin typeface="Arial Rounded MT Bold" pitchFamily="34" charset="0"/>
              </a:endParaRPr>
            </a:p>
          </p:txBody>
        </p:sp>
      </p:grpSp>
      <p:sp>
        <p:nvSpPr>
          <p:cNvPr id="3" name="Rectangle 2"/>
          <p:cNvSpPr/>
          <p:nvPr/>
        </p:nvSpPr>
        <p:spPr>
          <a:xfrm>
            <a:off x="564703" y="998930"/>
            <a:ext cx="8282880" cy="646331"/>
          </a:xfrm>
          <a:prstGeom prst="rect">
            <a:avLst/>
          </a:prstGeom>
        </p:spPr>
        <p:txBody>
          <a:bodyPr wrap="square">
            <a:spAutoFit/>
          </a:bodyPr>
          <a:lstStyle/>
          <a:p>
            <a:r>
              <a:rPr lang="en-GB" b="1" dirty="0">
                <a:solidFill>
                  <a:schemeClr val="hlink"/>
                </a:solidFill>
                <a:latin typeface="Arial Rounded MT Bold" pitchFamily="34" charset="0"/>
              </a:rPr>
              <a:t>Vesicles contain </a:t>
            </a:r>
            <a:r>
              <a:rPr lang="en-GB" b="1" u="sng" dirty="0">
                <a:solidFill>
                  <a:schemeClr val="hlink"/>
                </a:solidFill>
                <a:latin typeface="Arial Rounded MT Bold" pitchFamily="34" charset="0"/>
              </a:rPr>
              <a:t>acetylcholine</a:t>
            </a:r>
            <a:r>
              <a:rPr lang="en-GB" b="1" dirty="0">
                <a:solidFill>
                  <a:schemeClr val="hlink"/>
                </a:solidFill>
                <a:latin typeface="Arial Rounded MT Bold" pitchFamily="34" charset="0"/>
              </a:rPr>
              <a:t> (Ach), a neurotransmitter molecule, incorporated by </a:t>
            </a:r>
            <a:r>
              <a:rPr lang="en-GB" b="1" u="sng">
                <a:solidFill>
                  <a:schemeClr val="hlink"/>
                </a:solidFill>
                <a:latin typeface="Arial Rounded MT Bold" pitchFamily="34" charset="0"/>
              </a:rPr>
              <a:t>Vesicle acetyl  choline transporter (</a:t>
            </a:r>
            <a:r>
              <a:rPr lang="en-GB" b="1" u="sng" err="1">
                <a:solidFill>
                  <a:schemeClr val="hlink"/>
                </a:solidFill>
                <a:latin typeface="Arial Rounded MT Bold" pitchFamily="34" charset="0"/>
              </a:rPr>
              <a:t>Vach</a:t>
            </a:r>
            <a:r>
              <a:rPr lang="en-GB" b="1" u="sng">
                <a:solidFill>
                  <a:schemeClr val="hlink"/>
                </a:solidFill>
                <a:latin typeface="Arial Rounded MT Bold" pitchFamily="34" charset="0"/>
              </a:rPr>
              <a:t> T) protein</a:t>
            </a:r>
            <a:endParaRPr lang="en-GB" u="sng"/>
          </a:p>
        </p:txBody>
      </p:sp>
      <p:sp>
        <p:nvSpPr>
          <p:cNvPr id="6" name="TextBox 5"/>
          <p:cNvSpPr txBox="1"/>
          <p:nvPr/>
        </p:nvSpPr>
        <p:spPr>
          <a:xfrm rot="10800000" flipH="1" flipV="1">
            <a:off x="5652120" y="1916832"/>
            <a:ext cx="2904057" cy="646331"/>
          </a:xfrm>
          <a:prstGeom prst="rect">
            <a:avLst/>
          </a:prstGeom>
          <a:noFill/>
        </p:spPr>
        <p:txBody>
          <a:bodyPr wrap="square" rtlCol="0">
            <a:spAutoFit/>
          </a:bodyPr>
          <a:lstStyle/>
          <a:p>
            <a:pPr algn="ctr"/>
            <a:r>
              <a:rPr lang="en-US" b="1" dirty="0"/>
              <a:t>Releasable pool (20%)</a:t>
            </a:r>
          </a:p>
          <a:p>
            <a:r>
              <a:rPr lang="en-US" b="1" dirty="0">
                <a:solidFill>
                  <a:srgbClr val="C00000"/>
                </a:solidFill>
              </a:rPr>
              <a:t>Low Neuron firing frequency</a:t>
            </a:r>
            <a:endParaRPr lang="en-GB" b="1" dirty="0">
              <a:solidFill>
                <a:srgbClr val="C00000"/>
              </a:solidFill>
            </a:endParaRPr>
          </a:p>
        </p:txBody>
      </p:sp>
      <p:sp>
        <p:nvSpPr>
          <p:cNvPr id="26" name="TextBox 25"/>
          <p:cNvSpPr txBox="1"/>
          <p:nvPr/>
        </p:nvSpPr>
        <p:spPr>
          <a:xfrm rot="10800000" flipH="1" flipV="1">
            <a:off x="5652120" y="2705100"/>
            <a:ext cx="3012577" cy="646331"/>
          </a:xfrm>
          <a:prstGeom prst="rect">
            <a:avLst/>
          </a:prstGeom>
          <a:noFill/>
        </p:spPr>
        <p:txBody>
          <a:bodyPr wrap="square" rtlCol="0">
            <a:spAutoFit/>
          </a:bodyPr>
          <a:lstStyle/>
          <a:p>
            <a:pPr algn="ctr"/>
            <a:r>
              <a:rPr lang="en-US" b="1" dirty="0"/>
              <a:t>Reserve pool (80%)</a:t>
            </a:r>
          </a:p>
          <a:p>
            <a:r>
              <a:rPr lang="en-US" b="1" dirty="0">
                <a:solidFill>
                  <a:srgbClr val="C00000"/>
                </a:solidFill>
              </a:rPr>
              <a:t>High Neuron firing frequency</a:t>
            </a:r>
            <a:endParaRPr lang="en-GB" b="1" dirty="0">
              <a:solidFill>
                <a:srgbClr val="C00000"/>
              </a:solidFill>
            </a:endParaRPr>
          </a:p>
        </p:txBody>
      </p:sp>
      <p:sp>
        <p:nvSpPr>
          <p:cNvPr id="2" name="TextBox 1"/>
          <p:cNvSpPr txBox="1"/>
          <p:nvPr/>
        </p:nvSpPr>
        <p:spPr>
          <a:xfrm>
            <a:off x="323527" y="3810000"/>
            <a:ext cx="2026765" cy="584775"/>
          </a:xfrm>
          <a:prstGeom prst="rect">
            <a:avLst/>
          </a:prstGeom>
          <a:noFill/>
        </p:spPr>
        <p:txBody>
          <a:bodyPr wrap="square" rtlCol="0">
            <a:spAutoFit/>
          </a:bodyPr>
          <a:lstStyle/>
          <a:p>
            <a:r>
              <a:rPr lang="en-US" sz="3200" dirty="0"/>
              <a:t>Steps are:</a:t>
            </a:r>
            <a:endParaRPr lang="en-GB" sz="3200" dirty="0"/>
          </a:p>
        </p:txBody>
      </p:sp>
    </p:spTree>
    <p:extLst>
      <p:ext uri="{BB962C8B-B14F-4D97-AF65-F5344CB8AC3E}">
        <p14:creationId xmlns:p14="http://schemas.microsoft.com/office/powerpoint/2010/main" val="293082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1000"/>
                                        <p:tgtEl>
                                          <p:spTgt spid="17410"/>
                                        </p:tgtEl>
                                      </p:cBhvr>
                                    </p:animEffect>
                                    <p:anim calcmode="lin" valueType="num">
                                      <p:cBhvr>
                                        <p:cTn id="8" dur="1000" fill="hold"/>
                                        <p:tgtEl>
                                          <p:spTgt spid="17410"/>
                                        </p:tgtEl>
                                        <p:attrNameLst>
                                          <p:attrName>ppt_x</p:attrName>
                                        </p:attrNameLst>
                                      </p:cBhvr>
                                      <p:tavLst>
                                        <p:tav tm="0">
                                          <p:val>
                                            <p:strVal val="#ppt_x"/>
                                          </p:val>
                                        </p:tav>
                                        <p:tav tm="100000">
                                          <p:val>
                                            <p:strVal val="#ppt_x"/>
                                          </p:val>
                                        </p:tav>
                                      </p:tavLst>
                                    </p:anim>
                                    <p:anim calcmode="lin" valueType="num">
                                      <p:cBhvr>
                                        <p:cTn id="9"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430"/>
                                        </p:tgtEl>
                                        <p:attrNameLst>
                                          <p:attrName>style.visibility</p:attrName>
                                        </p:attrNameLst>
                                      </p:cBhvr>
                                      <p:to>
                                        <p:strVal val="visible"/>
                                      </p:to>
                                    </p:set>
                                    <p:anim calcmode="lin" valueType="num">
                                      <p:cBhvr additive="base">
                                        <p:cTn id="21" dur="500" fill="hold"/>
                                        <p:tgtEl>
                                          <p:spTgt spid="17430"/>
                                        </p:tgtEl>
                                        <p:attrNameLst>
                                          <p:attrName>ppt_x</p:attrName>
                                        </p:attrNameLst>
                                      </p:cBhvr>
                                      <p:tavLst>
                                        <p:tav tm="0">
                                          <p:val>
                                            <p:strVal val="#ppt_x"/>
                                          </p:val>
                                        </p:tav>
                                        <p:tav tm="100000">
                                          <p:val>
                                            <p:strVal val="#ppt_x"/>
                                          </p:val>
                                        </p:tav>
                                      </p:tavLst>
                                    </p:anim>
                                    <p:anim calcmode="lin" valueType="num">
                                      <p:cBhvr additive="base">
                                        <p:cTn id="22" dur="500" fill="hold"/>
                                        <p:tgtEl>
                                          <p:spTgt spid="1743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424"/>
                                        </p:tgtEl>
                                        <p:attrNameLst>
                                          <p:attrName>style.visibility</p:attrName>
                                        </p:attrNameLst>
                                      </p:cBhvr>
                                      <p:to>
                                        <p:strVal val="visible"/>
                                      </p:to>
                                    </p:set>
                                    <p:anim calcmode="lin" valueType="num">
                                      <p:cBhvr additive="base">
                                        <p:cTn id="37" dur="500" fill="hold"/>
                                        <p:tgtEl>
                                          <p:spTgt spid="17424"/>
                                        </p:tgtEl>
                                        <p:attrNameLst>
                                          <p:attrName>ppt_x</p:attrName>
                                        </p:attrNameLst>
                                      </p:cBhvr>
                                      <p:tavLst>
                                        <p:tav tm="0">
                                          <p:val>
                                            <p:strVal val="#ppt_x"/>
                                          </p:val>
                                        </p:tav>
                                        <p:tav tm="100000">
                                          <p:val>
                                            <p:strVal val="#ppt_x"/>
                                          </p:val>
                                        </p:tav>
                                      </p:tavLst>
                                    </p:anim>
                                    <p:anim calcmode="lin" valueType="num">
                                      <p:cBhvr additive="base">
                                        <p:cTn id="38" dur="500" fill="hold"/>
                                        <p:tgtEl>
                                          <p:spTgt spid="1742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7429"/>
                                        </p:tgtEl>
                                        <p:attrNameLst>
                                          <p:attrName>style.visibility</p:attrName>
                                        </p:attrNameLst>
                                      </p:cBhvr>
                                      <p:to>
                                        <p:strVal val="visible"/>
                                      </p:to>
                                    </p:set>
                                    <p:animEffect transition="in" filter="fade">
                                      <p:cBhvr>
                                        <p:cTn id="43" dur="1000"/>
                                        <p:tgtEl>
                                          <p:spTgt spid="17429"/>
                                        </p:tgtEl>
                                      </p:cBhvr>
                                    </p:animEffect>
                                    <p:anim calcmode="lin" valueType="num">
                                      <p:cBhvr>
                                        <p:cTn id="44" dur="1000" fill="hold"/>
                                        <p:tgtEl>
                                          <p:spTgt spid="17429"/>
                                        </p:tgtEl>
                                        <p:attrNameLst>
                                          <p:attrName>ppt_x</p:attrName>
                                        </p:attrNameLst>
                                      </p:cBhvr>
                                      <p:tavLst>
                                        <p:tav tm="0">
                                          <p:val>
                                            <p:strVal val="#ppt_x"/>
                                          </p:val>
                                        </p:tav>
                                        <p:tav tm="100000">
                                          <p:val>
                                            <p:strVal val="#ppt_x"/>
                                          </p:val>
                                        </p:tav>
                                      </p:tavLst>
                                    </p:anim>
                                    <p:anim calcmode="lin" valueType="num">
                                      <p:cBhvr>
                                        <p:cTn id="45" dur="1000" fill="hold"/>
                                        <p:tgtEl>
                                          <p:spTgt spid="1742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barn(inVertical)">
                                      <p:cBhvr>
                                        <p:cTn id="50" dur="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7425"/>
                                        </p:tgtEl>
                                        <p:attrNameLst>
                                          <p:attrName>style.visibility</p:attrName>
                                        </p:attrNameLst>
                                      </p:cBhvr>
                                      <p:to>
                                        <p:strVal val="visible"/>
                                      </p:to>
                                    </p:set>
                                    <p:animEffect transition="in" filter="wipe(down)">
                                      <p:cBhvr>
                                        <p:cTn id="55" dur="500"/>
                                        <p:tgtEl>
                                          <p:spTgt spid="17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17424" grpId="0" animBg="1"/>
      <p:bldP spid="17425" grpId="0"/>
      <p:bldP spid="3" grpId="0"/>
      <p:bldP spid="6" grpId="0"/>
      <p:bldP spid="2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609600" y="122238"/>
            <a:ext cx="8266113" cy="1441450"/>
          </a:xfrm>
          <a:noFill/>
          <a:ln/>
        </p:spPr>
        <p:txBody>
          <a:bodyPr/>
          <a:lstStyle/>
          <a:p>
            <a:pPr algn="l"/>
            <a:r>
              <a:rPr lang="en-GB" sz="3200" b="1">
                <a:solidFill>
                  <a:schemeClr val="tx2">
                    <a:lumMod val="50000"/>
                  </a:schemeClr>
                </a:solidFill>
                <a:latin typeface="Arial Rounded MT Bold" pitchFamily="34" charset="0"/>
              </a:rPr>
              <a:t>(2) The depolarisation causes the opening of voltage-gated Ca</a:t>
            </a:r>
            <a:r>
              <a:rPr lang="en-GB" sz="3200" b="1" baseline="30000">
                <a:solidFill>
                  <a:schemeClr val="tx2">
                    <a:lumMod val="50000"/>
                  </a:schemeClr>
                </a:solidFill>
                <a:latin typeface="Arial Rounded MT Bold" pitchFamily="34" charset="0"/>
              </a:rPr>
              <a:t>2+</a:t>
            </a:r>
            <a:r>
              <a:rPr lang="en-GB" sz="3200" b="1">
                <a:solidFill>
                  <a:schemeClr val="tx2">
                    <a:lumMod val="50000"/>
                  </a:schemeClr>
                </a:solidFill>
                <a:latin typeface="Arial Rounded MT Bold" pitchFamily="34" charset="0"/>
              </a:rPr>
              <a:t> channels</a:t>
            </a:r>
          </a:p>
        </p:txBody>
      </p:sp>
      <p:grpSp>
        <p:nvGrpSpPr>
          <p:cNvPr id="40963" name="Group 3"/>
          <p:cNvGrpSpPr>
            <a:grpSpLocks/>
          </p:cNvGrpSpPr>
          <p:nvPr/>
        </p:nvGrpSpPr>
        <p:grpSpPr bwMode="auto">
          <a:xfrm>
            <a:off x="1828800" y="1649413"/>
            <a:ext cx="5302250" cy="5062537"/>
            <a:chOff x="1152" y="1039"/>
            <a:chExt cx="3340" cy="3189"/>
          </a:xfrm>
        </p:grpSpPr>
        <p:sp>
          <p:nvSpPr>
            <p:cNvPr id="40964" name="Freeform 4"/>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965" name="Oval 5"/>
            <p:cNvSpPr>
              <a:spLocks noChangeArrowheads="1"/>
            </p:cNvSpPr>
            <p:nvPr/>
          </p:nvSpPr>
          <p:spPr bwMode="auto">
            <a:xfrm>
              <a:off x="1972" y="230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6" name="Oval 6"/>
            <p:cNvSpPr>
              <a:spLocks noChangeArrowheads="1"/>
            </p:cNvSpPr>
            <p:nvPr/>
          </p:nvSpPr>
          <p:spPr bwMode="auto">
            <a:xfrm>
              <a:off x="2740" y="230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7" name="Oval 7"/>
            <p:cNvSpPr>
              <a:spLocks noChangeArrowheads="1"/>
            </p:cNvSpPr>
            <p:nvPr/>
          </p:nvSpPr>
          <p:spPr bwMode="auto">
            <a:xfrm>
              <a:off x="2308" y="2356"/>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8" name="Oval 8"/>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69" name="Oval 9"/>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70" name="Freeform 10"/>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971" name="Oval 11"/>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72" name="Oval 12"/>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73" name="Oval 13"/>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74" name="Freeform 14"/>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0975" name="Oval 15"/>
            <p:cNvSpPr>
              <a:spLocks noChangeArrowheads="1"/>
            </p:cNvSpPr>
            <p:nvPr/>
          </p:nvSpPr>
          <p:spPr bwMode="auto">
            <a:xfrm>
              <a:off x="2356" y="3268"/>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40976" name="Freeform 16"/>
          <p:cNvSpPr>
            <a:spLocks/>
          </p:cNvSpPr>
          <p:nvPr/>
        </p:nvSpPr>
        <p:spPr bwMode="auto">
          <a:xfrm>
            <a:off x="3886200" y="2438400"/>
            <a:ext cx="1008063" cy="533400"/>
          </a:xfrm>
          <a:custGeom>
            <a:avLst/>
            <a:gdLst>
              <a:gd name="T0" fmla="*/ 0 w 635"/>
              <a:gd name="T1" fmla="*/ 270 h 408"/>
              <a:gd name="T2" fmla="*/ 45 w 635"/>
              <a:gd name="T3" fmla="*/ 260 h 408"/>
              <a:gd name="T4" fmla="*/ 79 w 635"/>
              <a:gd name="T5" fmla="*/ 271 h 408"/>
              <a:gd name="T6" fmla="*/ 113 w 635"/>
              <a:gd name="T7" fmla="*/ 260 h 408"/>
              <a:gd name="T8" fmla="*/ 147 w 635"/>
              <a:gd name="T9" fmla="*/ 238 h 408"/>
              <a:gd name="T10" fmla="*/ 147 w 635"/>
              <a:gd name="T11" fmla="*/ 204 h 408"/>
              <a:gd name="T12" fmla="*/ 158 w 635"/>
              <a:gd name="T13" fmla="*/ 170 h 408"/>
              <a:gd name="T14" fmla="*/ 158 w 635"/>
              <a:gd name="T15" fmla="*/ 136 h 408"/>
              <a:gd name="T16" fmla="*/ 170 w 635"/>
              <a:gd name="T17" fmla="*/ 102 h 408"/>
              <a:gd name="T18" fmla="*/ 170 w 635"/>
              <a:gd name="T19" fmla="*/ 68 h 408"/>
              <a:gd name="T20" fmla="*/ 181 w 635"/>
              <a:gd name="T21" fmla="*/ 34 h 408"/>
              <a:gd name="T22" fmla="*/ 181 w 635"/>
              <a:gd name="T23" fmla="*/ 0 h 408"/>
              <a:gd name="T24" fmla="*/ 215 w 635"/>
              <a:gd name="T25" fmla="*/ 11 h 408"/>
              <a:gd name="T26" fmla="*/ 238 w 635"/>
              <a:gd name="T27" fmla="*/ 45 h 408"/>
              <a:gd name="T28" fmla="*/ 260 w 635"/>
              <a:gd name="T29" fmla="*/ 79 h 408"/>
              <a:gd name="T30" fmla="*/ 272 w 635"/>
              <a:gd name="T31" fmla="*/ 113 h 408"/>
              <a:gd name="T32" fmla="*/ 272 w 635"/>
              <a:gd name="T33" fmla="*/ 147 h 408"/>
              <a:gd name="T34" fmla="*/ 272 w 635"/>
              <a:gd name="T35" fmla="*/ 181 h 408"/>
              <a:gd name="T36" fmla="*/ 283 w 635"/>
              <a:gd name="T37" fmla="*/ 215 h 408"/>
              <a:gd name="T38" fmla="*/ 294 w 635"/>
              <a:gd name="T39" fmla="*/ 249 h 408"/>
              <a:gd name="T40" fmla="*/ 306 w 635"/>
              <a:gd name="T41" fmla="*/ 294 h 408"/>
              <a:gd name="T42" fmla="*/ 317 w 635"/>
              <a:gd name="T43" fmla="*/ 328 h 408"/>
              <a:gd name="T44" fmla="*/ 340 w 635"/>
              <a:gd name="T45" fmla="*/ 362 h 408"/>
              <a:gd name="T46" fmla="*/ 374 w 635"/>
              <a:gd name="T47" fmla="*/ 396 h 408"/>
              <a:gd name="T48" fmla="*/ 408 w 635"/>
              <a:gd name="T49" fmla="*/ 407 h 408"/>
              <a:gd name="T50" fmla="*/ 430 w 635"/>
              <a:gd name="T51" fmla="*/ 373 h 408"/>
              <a:gd name="T52" fmla="*/ 441 w 635"/>
              <a:gd name="T53" fmla="*/ 339 h 408"/>
              <a:gd name="T54" fmla="*/ 464 w 635"/>
              <a:gd name="T55" fmla="*/ 305 h 408"/>
              <a:gd name="T56" fmla="*/ 498 w 635"/>
              <a:gd name="T57" fmla="*/ 305 h 408"/>
              <a:gd name="T58" fmla="*/ 532 w 635"/>
              <a:gd name="T59" fmla="*/ 294 h 408"/>
              <a:gd name="T60" fmla="*/ 566 w 635"/>
              <a:gd name="T61" fmla="*/ 294 h 408"/>
              <a:gd name="T62" fmla="*/ 600 w 635"/>
              <a:gd name="T63" fmla="*/ 294 h 408"/>
              <a:gd name="T64" fmla="*/ 634 w 635"/>
              <a:gd name="T65" fmla="*/ 294 h 408"/>
              <a:gd name="T66" fmla="*/ 624 w 635"/>
              <a:gd name="T67" fmla="*/ 270 h 408"/>
              <a:gd name="T68" fmla="*/ 624 w 635"/>
              <a:gd name="T69" fmla="*/ 318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5" h="408">
                <a:moveTo>
                  <a:pt x="0" y="270"/>
                </a:moveTo>
                <a:lnTo>
                  <a:pt x="45" y="260"/>
                </a:lnTo>
                <a:lnTo>
                  <a:pt x="79" y="271"/>
                </a:lnTo>
                <a:lnTo>
                  <a:pt x="113" y="260"/>
                </a:lnTo>
                <a:lnTo>
                  <a:pt x="147" y="238"/>
                </a:lnTo>
                <a:lnTo>
                  <a:pt x="147" y="204"/>
                </a:lnTo>
                <a:lnTo>
                  <a:pt x="158" y="170"/>
                </a:lnTo>
                <a:lnTo>
                  <a:pt x="158" y="136"/>
                </a:lnTo>
                <a:lnTo>
                  <a:pt x="170" y="102"/>
                </a:lnTo>
                <a:lnTo>
                  <a:pt x="170" y="68"/>
                </a:lnTo>
                <a:lnTo>
                  <a:pt x="181" y="34"/>
                </a:lnTo>
                <a:lnTo>
                  <a:pt x="181" y="0"/>
                </a:lnTo>
                <a:lnTo>
                  <a:pt x="215" y="11"/>
                </a:lnTo>
                <a:lnTo>
                  <a:pt x="238" y="45"/>
                </a:lnTo>
                <a:lnTo>
                  <a:pt x="260" y="79"/>
                </a:lnTo>
                <a:lnTo>
                  <a:pt x="272" y="113"/>
                </a:lnTo>
                <a:lnTo>
                  <a:pt x="272" y="147"/>
                </a:lnTo>
                <a:lnTo>
                  <a:pt x="272" y="181"/>
                </a:lnTo>
                <a:lnTo>
                  <a:pt x="283" y="215"/>
                </a:lnTo>
                <a:lnTo>
                  <a:pt x="294" y="249"/>
                </a:lnTo>
                <a:lnTo>
                  <a:pt x="306" y="294"/>
                </a:lnTo>
                <a:lnTo>
                  <a:pt x="317" y="328"/>
                </a:lnTo>
                <a:lnTo>
                  <a:pt x="340" y="362"/>
                </a:lnTo>
                <a:lnTo>
                  <a:pt x="374" y="396"/>
                </a:lnTo>
                <a:lnTo>
                  <a:pt x="408" y="407"/>
                </a:lnTo>
                <a:lnTo>
                  <a:pt x="430" y="373"/>
                </a:lnTo>
                <a:lnTo>
                  <a:pt x="441" y="339"/>
                </a:lnTo>
                <a:lnTo>
                  <a:pt x="464" y="305"/>
                </a:lnTo>
                <a:lnTo>
                  <a:pt x="498" y="305"/>
                </a:lnTo>
                <a:lnTo>
                  <a:pt x="532" y="294"/>
                </a:lnTo>
                <a:lnTo>
                  <a:pt x="566" y="294"/>
                </a:lnTo>
                <a:lnTo>
                  <a:pt x="600" y="294"/>
                </a:lnTo>
                <a:lnTo>
                  <a:pt x="634" y="294"/>
                </a:lnTo>
                <a:lnTo>
                  <a:pt x="624" y="270"/>
                </a:lnTo>
                <a:lnTo>
                  <a:pt x="624" y="318"/>
                </a:lnTo>
              </a:path>
            </a:pathLst>
          </a:custGeom>
          <a:noFill/>
          <a:ln w="50800" cap="rnd" cmpd="sng">
            <a:solidFill>
              <a:srgbClr val="FFFF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40978" name="Group 18"/>
          <p:cNvGrpSpPr>
            <a:grpSpLocks/>
          </p:cNvGrpSpPr>
          <p:nvPr/>
        </p:nvGrpSpPr>
        <p:grpSpPr bwMode="auto">
          <a:xfrm>
            <a:off x="4514850" y="3048000"/>
            <a:ext cx="666750" cy="762000"/>
            <a:chOff x="2838" y="1872"/>
            <a:chExt cx="420" cy="480"/>
          </a:xfrm>
        </p:grpSpPr>
        <p:sp>
          <p:nvSpPr>
            <p:cNvPr id="40979" name="Text Box 19"/>
            <p:cNvSpPr txBox="1">
              <a:spLocks noChangeArrowheads="1"/>
            </p:cNvSpPr>
            <p:nvPr/>
          </p:nvSpPr>
          <p:spPr bwMode="auto">
            <a:xfrm>
              <a:off x="2838" y="1872"/>
              <a:ext cx="3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800">
                  <a:solidFill>
                    <a:schemeClr val="hlink"/>
                  </a:solidFill>
                  <a:latin typeface="Arial Rounded MT Bold" pitchFamily="34" charset="0"/>
                </a:rPr>
                <a:t>+</a:t>
              </a:r>
              <a:r>
                <a:rPr lang="en-US" sz="2800">
                  <a:latin typeface="Arial Rounded MT Bold" pitchFamily="34" charset="0"/>
                </a:rPr>
                <a:t> </a:t>
              </a:r>
              <a:r>
                <a:rPr lang="en-US" sz="2800">
                  <a:solidFill>
                    <a:schemeClr val="folHlink"/>
                  </a:solidFill>
                  <a:latin typeface="Arial Rounded MT Bold" pitchFamily="34" charset="0"/>
                </a:rPr>
                <a:t>-</a:t>
              </a:r>
              <a:endParaRPr lang="en-US" sz="2800">
                <a:latin typeface="Arial Rounded MT Bold" pitchFamily="34" charset="0"/>
              </a:endParaRPr>
            </a:p>
          </p:txBody>
        </p:sp>
        <p:sp>
          <p:nvSpPr>
            <p:cNvPr id="40980" name="Text Box 20"/>
            <p:cNvSpPr txBox="1">
              <a:spLocks noChangeArrowheads="1"/>
            </p:cNvSpPr>
            <p:nvPr/>
          </p:nvSpPr>
          <p:spPr bwMode="auto">
            <a:xfrm>
              <a:off x="2880" y="2025"/>
              <a:ext cx="3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800">
                  <a:solidFill>
                    <a:schemeClr val="hlink"/>
                  </a:solidFill>
                  <a:latin typeface="Arial Rounded MT Bold" pitchFamily="34" charset="0"/>
                </a:rPr>
                <a:t>+</a:t>
              </a:r>
              <a:r>
                <a:rPr lang="en-US" sz="2800">
                  <a:latin typeface="Arial Rounded MT Bold" pitchFamily="34" charset="0"/>
                </a:rPr>
                <a:t> </a:t>
              </a:r>
              <a:r>
                <a:rPr lang="en-US" sz="2800">
                  <a:solidFill>
                    <a:schemeClr val="folHlink"/>
                  </a:solidFill>
                  <a:latin typeface="Arial Rounded MT Bold" pitchFamily="34" charset="0"/>
                </a:rPr>
                <a:t>-</a:t>
              </a:r>
              <a:endParaRPr lang="en-US" sz="2800">
                <a:latin typeface="Arial Rounded MT Bold" pitchFamily="34" charset="0"/>
              </a:endParaRPr>
            </a:p>
          </p:txBody>
        </p:sp>
      </p:grpSp>
      <p:sp>
        <p:nvSpPr>
          <p:cNvPr id="40981" name="Line 21"/>
          <p:cNvSpPr>
            <a:spLocks noChangeShapeType="1"/>
          </p:cNvSpPr>
          <p:nvPr/>
        </p:nvSpPr>
        <p:spPr bwMode="auto">
          <a:xfrm>
            <a:off x="4076700" y="3895725"/>
            <a:ext cx="95250" cy="523875"/>
          </a:xfrm>
          <a:prstGeom prst="line">
            <a:avLst/>
          </a:prstGeom>
          <a:noFill/>
          <a:ln w="38100">
            <a:solidFill>
              <a:srgbClr val="00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82" name="Line 22"/>
          <p:cNvSpPr>
            <a:spLocks noChangeShapeType="1"/>
          </p:cNvSpPr>
          <p:nvPr/>
        </p:nvSpPr>
        <p:spPr bwMode="auto">
          <a:xfrm>
            <a:off x="4248150" y="3876675"/>
            <a:ext cx="95250" cy="523875"/>
          </a:xfrm>
          <a:prstGeom prst="line">
            <a:avLst/>
          </a:prstGeom>
          <a:noFill/>
          <a:ln w="38100">
            <a:solidFill>
              <a:srgbClr val="00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0990" name="Group 30"/>
          <p:cNvGrpSpPr>
            <a:grpSpLocks/>
          </p:cNvGrpSpPr>
          <p:nvPr/>
        </p:nvGrpSpPr>
        <p:grpSpPr bwMode="auto">
          <a:xfrm>
            <a:off x="3376613" y="2693988"/>
            <a:ext cx="5829300" cy="2417763"/>
            <a:chOff x="2127" y="1697"/>
            <a:chExt cx="3672" cy="1523"/>
          </a:xfrm>
        </p:grpSpPr>
        <p:sp>
          <p:nvSpPr>
            <p:cNvPr id="40977" name="Rectangle 17"/>
            <p:cNvSpPr>
              <a:spLocks noChangeArrowheads="1"/>
            </p:cNvSpPr>
            <p:nvPr/>
          </p:nvSpPr>
          <p:spPr bwMode="auto">
            <a:xfrm>
              <a:off x="3413" y="1697"/>
              <a:ext cx="2386" cy="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defTabSz="762000" eaLnBrk="0" hangingPunct="0"/>
              <a:r>
                <a:rPr lang="en-GB" sz="3600" b="1"/>
                <a:t>(3) Ca</a:t>
              </a:r>
              <a:r>
                <a:rPr lang="en-GB" sz="3600" b="1" baseline="30000"/>
                <a:t>2+</a:t>
              </a:r>
              <a:r>
                <a:rPr lang="en-GB" sz="3600" b="1"/>
                <a:t> rush </a:t>
              </a:r>
              <a:r>
                <a:rPr lang="en-GB" sz="3600" b="1" u="sng"/>
                <a:t>into</a:t>
              </a:r>
              <a:r>
                <a:rPr lang="en-GB" sz="3600" b="1"/>
                <a:t> the axon terminal</a:t>
              </a:r>
            </a:p>
          </p:txBody>
        </p:sp>
        <p:sp>
          <p:nvSpPr>
            <p:cNvPr id="40983" name="Rectangle 23"/>
            <p:cNvSpPr>
              <a:spLocks noChangeArrowheads="1"/>
            </p:cNvSpPr>
            <p:nvPr/>
          </p:nvSpPr>
          <p:spPr bwMode="auto">
            <a:xfrm>
              <a:off x="2127" y="2814"/>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Ca</a:t>
              </a:r>
              <a:r>
                <a:rPr lang="en-GB" sz="2000" baseline="30000">
                  <a:solidFill>
                    <a:schemeClr val="folHlink"/>
                  </a:solidFill>
                </a:rPr>
                <a:t>2+</a:t>
              </a:r>
              <a:endParaRPr lang="en-GB" sz="2000">
                <a:solidFill>
                  <a:schemeClr val="folHlink"/>
                </a:solidFill>
              </a:endParaRPr>
            </a:p>
          </p:txBody>
        </p:sp>
        <p:sp>
          <p:nvSpPr>
            <p:cNvPr id="40984" name="Rectangle 24"/>
            <p:cNvSpPr>
              <a:spLocks noChangeArrowheads="1"/>
            </p:cNvSpPr>
            <p:nvPr/>
          </p:nvSpPr>
          <p:spPr bwMode="auto">
            <a:xfrm>
              <a:off x="2373" y="2970"/>
              <a:ext cx="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eaLnBrk="0" hangingPunct="0"/>
              <a:r>
                <a:rPr lang="en-GB" sz="2000">
                  <a:solidFill>
                    <a:schemeClr val="folHlink"/>
                  </a:solidFill>
                </a:rPr>
                <a:t>Ca</a:t>
              </a:r>
              <a:r>
                <a:rPr lang="en-GB" sz="2000" baseline="30000">
                  <a:solidFill>
                    <a:schemeClr val="folHlink"/>
                  </a:solidFill>
                </a:rPr>
                <a:t>2+</a:t>
              </a:r>
              <a:endParaRPr lang="en-GB" sz="2000">
                <a:solidFill>
                  <a:schemeClr val="folHlink"/>
                </a:solidFill>
              </a:endParaRPr>
            </a:p>
          </p:txBody>
        </p:sp>
        <p:sp>
          <p:nvSpPr>
            <p:cNvPr id="40985" name="Freeform 25"/>
            <p:cNvSpPr>
              <a:spLocks/>
            </p:cNvSpPr>
            <p:nvPr/>
          </p:nvSpPr>
          <p:spPr bwMode="auto">
            <a:xfrm>
              <a:off x="2466" y="2256"/>
              <a:ext cx="222" cy="726"/>
            </a:xfrm>
            <a:custGeom>
              <a:avLst/>
              <a:gdLst>
                <a:gd name="T0" fmla="*/ 126 w 222"/>
                <a:gd name="T1" fmla="*/ 726 h 726"/>
                <a:gd name="T2" fmla="*/ 222 w 222"/>
                <a:gd name="T3" fmla="*/ 546 h 726"/>
                <a:gd name="T4" fmla="*/ 132 w 222"/>
                <a:gd name="T5" fmla="*/ 132 h 726"/>
                <a:gd name="T6" fmla="*/ 0 w 222"/>
                <a:gd name="T7" fmla="*/ 0 h 726"/>
              </a:gdLst>
              <a:ahLst/>
              <a:cxnLst>
                <a:cxn ang="0">
                  <a:pos x="T0" y="T1"/>
                </a:cxn>
                <a:cxn ang="0">
                  <a:pos x="T2" y="T3"/>
                </a:cxn>
                <a:cxn ang="0">
                  <a:pos x="T4" y="T5"/>
                </a:cxn>
                <a:cxn ang="0">
                  <a:pos x="T6" y="T7"/>
                </a:cxn>
              </a:cxnLst>
              <a:rect l="0" t="0" r="r" b="b"/>
              <a:pathLst>
                <a:path w="222" h="726">
                  <a:moveTo>
                    <a:pt x="126" y="726"/>
                  </a:moveTo>
                  <a:cubicBezTo>
                    <a:pt x="142" y="696"/>
                    <a:pt x="221" y="645"/>
                    <a:pt x="222" y="546"/>
                  </a:cubicBezTo>
                  <a:lnTo>
                    <a:pt x="132" y="132"/>
                  </a:lnTo>
                  <a:cubicBezTo>
                    <a:pt x="95" y="41"/>
                    <a:pt x="27" y="27"/>
                    <a:pt x="0" y="0"/>
                  </a:cubicBezTo>
                </a:path>
              </a:pathLst>
            </a:custGeom>
            <a:noFill/>
            <a:ln w="28575" cap="flat" cmpd="sng">
              <a:solidFill>
                <a:schemeClr val="folHlink"/>
              </a:solidFill>
              <a:prstDash val="solid"/>
              <a:round/>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86" name="Rectangle 26"/>
            <p:cNvSpPr>
              <a:spLocks noChangeArrowheads="1"/>
            </p:cNvSpPr>
            <p:nvPr/>
          </p:nvSpPr>
          <p:spPr bwMode="auto">
            <a:xfrm>
              <a:off x="2163" y="2094"/>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1600">
                  <a:solidFill>
                    <a:schemeClr val="folHlink"/>
                  </a:solidFill>
                </a:rPr>
                <a:t>Ca</a:t>
              </a:r>
              <a:r>
                <a:rPr lang="en-GB" sz="1600" baseline="30000">
                  <a:solidFill>
                    <a:schemeClr val="folHlink"/>
                  </a:solidFill>
                </a:rPr>
                <a:t>2+</a:t>
              </a:r>
              <a:endParaRPr lang="en-GB" sz="2000">
                <a:solidFill>
                  <a:schemeClr val="folHlink"/>
                </a:solidFill>
              </a:endParaRPr>
            </a:p>
          </p:txBody>
        </p:sp>
      </p:grpSp>
      <p:grpSp>
        <p:nvGrpSpPr>
          <p:cNvPr id="40989" name="Group 29"/>
          <p:cNvGrpSpPr>
            <a:grpSpLocks/>
          </p:cNvGrpSpPr>
          <p:nvPr/>
        </p:nvGrpSpPr>
        <p:grpSpPr bwMode="auto">
          <a:xfrm>
            <a:off x="4654550" y="3652838"/>
            <a:ext cx="530225" cy="869950"/>
            <a:chOff x="2932" y="2301"/>
            <a:chExt cx="334" cy="548"/>
          </a:xfrm>
        </p:grpSpPr>
        <p:sp>
          <p:nvSpPr>
            <p:cNvPr id="40987" name="Freeform 27"/>
            <p:cNvSpPr>
              <a:spLocks/>
            </p:cNvSpPr>
            <p:nvPr/>
          </p:nvSpPr>
          <p:spPr bwMode="auto">
            <a:xfrm rot="2135085" flipV="1">
              <a:off x="2932" y="2301"/>
              <a:ext cx="152" cy="514"/>
            </a:xfrm>
            <a:custGeom>
              <a:avLst/>
              <a:gdLst>
                <a:gd name="T0" fmla="*/ 126 w 222"/>
                <a:gd name="T1" fmla="*/ 726 h 726"/>
                <a:gd name="T2" fmla="*/ 222 w 222"/>
                <a:gd name="T3" fmla="*/ 546 h 726"/>
                <a:gd name="T4" fmla="*/ 132 w 222"/>
                <a:gd name="T5" fmla="*/ 132 h 726"/>
                <a:gd name="T6" fmla="*/ 0 w 222"/>
                <a:gd name="T7" fmla="*/ 0 h 726"/>
              </a:gdLst>
              <a:ahLst/>
              <a:cxnLst>
                <a:cxn ang="0">
                  <a:pos x="T0" y="T1"/>
                </a:cxn>
                <a:cxn ang="0">
                  <a:pos x="T2" y="T3"/>
                </a:cxn>
                <a:cxn ang="0">
                  <a:pos x="T4" y="T5"/>
                </a:cxn>
                <a:cxn ang="0">
                  <a:pos x="T6" y="T7"/>
                </a:cxn>
              </a:cxnLst>
              <a:rect l="0" t="0" r="r" b="b"/>
              <a:pathLst>
                <a:path w="222" h="726">
                  <a:moveTo>
                    <a:pt x="126" y="726"/>
                  </a:moveTo>
                  <a:cubicBezTo>
                    <a:pt x="142" y="696"/>
                    <a:pt x="221" y="645"/>
                    <a:pt x="222" y="546"/>
                  </a:cubicBezTo>
                  <a:lnTo>
                    <a:pt x="132" y="132"/>
                  </a:lnTo>
                  <a:cubicBezTo>
                    <a:pt x="95" y="41"/>
                    <a:pt x="27" y="27"/>
                    <a:pt x="0" y="0"/>
                  </a:cubicBezTo>
                </a:path>
              </a:pathLst>
            </a:custGeom>
            <a:noFill/>
            <a:ln w="28575" cap="flat" cmpd="sng">
              <a:solidFill>
                <a:srgbClr val="00FFFF"/>
              </a:solidFill>
              <a:prstDash val="solid"/>
              <a:round/>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988" name="Text Box 28"/>
            <p:cNvSpPr txBox="1">
              <a:spLocks noChangeArrowheads="1"/>
            </p:cNvSpPr>
            <p:nvPr/>
          </p:nvSpPr>
          <p:spPr bwMode="auto">
            <a:xfrm rot="2691902">
              <a:off x="2978" y="2522"/>
              <a:ext cx="2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800">
                  <a:solidFill>
                    <a:srgbClr val="00FFFF"/>
                  </a:solidFill>
                  <a:latin typeface="Arial Rounded MT Bold" pitchFamily="34" charset="0"/>
                  <a:sym typeface="Symbol" pitchFamily="18" charset="2"/>
                </a:rPr>
                <a:t></a:t>
              </a:r>
              <a:endParaRPr lang="en-US" sz="2800">
                <a:latin typeface="Arial Rounded MT Bold" pitchFamily="34" charset="0"/>
              </a:endParaRPr>
            </a:p>
          </p:txBody>
        </p:sp>
      </p:grpSp>
    </p:spTree>
    <p:extLst>
      <p:ext uri="{BB962C8B-B14F-4D97-AF65-F5344CB8AC3E}">
        <p14:creationId xmlns:p14="http://schemas.microsoft.com/office/powerpoint/2010/main" val="1497000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65125" y="157163"/>
            <a:ext cx="8534400" cy="1336675"/>
          </a:xfrm>
          <a:noFill/>
          <a:ln/>
        </p:spPr>
        <p:txBody>
          <a:bodyPr>
            <a:normAutofit fontScale="90000"/>
          </a:bodyPr>
          <a:lstStyle/>
          <a:p>
            <a:pPr algn="l"/>
            <a:r>
              <a:rPr lang="en-GB" sz="3200" b="1" dirty="0">
                <a:solidFill>
                  <a:schemeClr val="hlink"/>
                </a:solidFill>
                <a:latin typeface="Arial Rounded MT Bold" pitchFamily="34" charset="0"/>
              </a:rPr>
              <a:t> </a:t>
            </a:r>
            <a:r>
              <a:rPr lang="en-GB" sz="3200" b="1" dirty="0">
                <a:solidFill>
                  <a:schemeClr val="tx2">
                    <a:lumMod val="50000"/>
                  </a:schemeClr>
                </a:solidFill>
                <a:latin typeface="Arial Rounded MT Bold" pitchFamily="34" charset="0"/>
              </a:rPr>
              <a:t>(4) The rise in Ca</a:t>
            </a:r>
            <a:r>
              <a:rPr lang="en-GB" sz="3200" b="1" baseline="30000" dirty="0">
                <a:solidFill>
                  <a:schemeClr val="tx2">
                    <a:lumMod val="50000"/>
                  </a:schemeClr>
                </a:solidFill>
                <a:latin typeface="Arial Rounded MT Bold" pitchFamily="34" charset="0"/>
              </a:rPr>
              <a:t>2+</a:t>
            </a:r>
            <a:r>
              <a:rPr lang="en-GB" sz="3200" b="1" dirty="0">
                <a:solidFill>
                  <a:schemeClr val="tx2">
                    <a:lumMod val="50000"/>
                  </a:schemeClr>
                </a:solidFill>
                <a:latin typeface="Arial Rounded MT Bold" pitchFamily="34" charset="0"/>
              </a:rPr>
              <a:t> concentration causes the vesicles to fuse with the presynaptic membrane </a:t>
            </a:r>
            <a:r>
              <a:rPr lang="en-GB" sz="3200" b="1" dirty="0">
                <a:solidFill>
                  <a:srgbClr val="FF0000"/>
                </a:solidFill>
                <a:latin typeface="Arial Rounded MT Bold" pitchFamily="34" charset="0"/>
              </a:rPr>
              <a:t>(Role of </a:t>
            </a:r>
            <a:r>
              <a:rPr lang="en-GB" sz="3200" b="1" dirty="0" err="1">
                <a:solidFill>
                  <a:srgbClr val="FF0000"/>
                </a:solidFill>
                <a:latin typeface="Arial Rounded MT Bold" pitchFamily="34" charset="0"/>
              </a:rPr>
              <a:t>synaptotagmin</a:t>
            </a:r>
            <a:r>
              <a:rPr lang="en-GB" sz="3200" b="1" dirty="0">
                <a:solidFill>
                  <a:srgbClr val="FF0000"/>
                </a:solidFill>
                <a:latin typeface="Arial Rounded MT Bold" pitchFamily="34" charset="0"/>
              </a:rPr>
              <a:t>: Ca sensor)</a:t>
            </a:r>
          </a:p>
        </p:txBody>
      </p:sp>
      <p:grpSp>
        <p:nvGrpSpPr>
          <p:cNvPr id="18469" name="Group 37"/>
          <p:cNvGrpSpPr>
            <a:grpSpLocks/>
          </p:cNvGrpSpPr>
          <p:nvPr/>
        </p:nvGrpSpPr>
        <p:grpSpPr bwMode="auto">
          <a:xfrm>
            <a:off x="1828800" y="1649413"/>
            <a:ext cx="5302250" cy="5062537"/>
            <a:chOff x="1152" y="1039"/>
            <a:chExt cx="3340" cy="3189"/>
          </a:xfrm>
        </p:grpSpPr>
        <p:grpSp>
          <p:nvGrpSpPr>
            <p:cNvPr id="18466" name="Group 34"/>
            <p:cNvGrpSpPr>
              <a:grpSpLocks/>
            </p:cNvGrpSpPr>
            <p:nvPr/>
          </p:nvGrpSpPr>
          <p:grpSpPr bwMode="auto">
            <a:xfrm>
              <a:off x="1152" y="1039"/>
              <a:ext cx="3340" cy="3189"/>
              <a:chOff x="1152" y="1039"/>
              <a:chExt cx="3340" cy="3189"/>
            </a:xfrm>
          </p:grpSpPr>
          <p:grpSp>
            <p:nvGrpSpPr>
              <p:cNvPr id="18465" name="Group 33"/>
              <p:cNvGrpSpPr>
                <a:grpSpLocks/>
              </p:cNvGrpSpPr>
              <p:nvPr/>
            </p:nvGrpSpPr>
            <p:grpSpPr bwMode="auto">
              <a:xfrm>
                <a:off x="1152" y="1039"/>
                <a:ext cx="3340" cy="3189"/>
                <a:chOff x="1152" y="1039"/>
                <a:chExt cx="3340" cy="3189"/>
              </a:xfrm>
            </p:grpSpPr>
            <p:sp>
              <p:nvSpPr>
                <p:cNvPr id="18435" name="Freeform 3"/>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18464" name="Group 32"/>
                <p:cNvGrpSpPr>
                  <a:grpSpLocks/>
                </p:cNvGrpSpPr>
                <p:nvPr/>
              </p:nvGrpSpPr>
              <p:grpSpPr bwMode="auto">
                <a:xfrm>
                  <a:off x="1152" y="2858"/>
                  <a:ext cx="3340" cy="1370"/>
                  <a:chOff x="1152" y="2858"/>
                  <a:chExt cx="3340" cy="1370"/>
                </a:xfrm>
              </p:grpSpPr>
              <p:sp>
                <p:nvSpPr>
                  <p:cNvPr id="18441" name="Freeform 9"/>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2" name="Oval 10"/>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3" name="Oval 11"/>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4" name="Oval 12"/>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5" name="Freeform 13"/>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6" name="Oval 14"/>
                  <p:cNvSpPr>
                    <a:spLocks noChangeArrowheads="1"/>
                  </p:cNvSpPr>
                  <p:nvPr/>
                </p:nvSpPr>
                <p:spPr bwMode="auto">
                  <a:xfrm>
                    <a:off x="2356" y="3268"/>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7" name="Line 15"/>
                  <p:cNvSpPr>
                    <a:spLocks noChangeShapeType="1"/>
                  </p:cNvSpPr>
                  <p:nvPr/>
                </p:nvSpPr>
                <p:spPr bwMode="auto">
                  <a:xfrm flipV="1">
                    <a:off x="2407" y="3253"/>
                    <a:ext cx="203" cy="2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8" name="Line 16"/>
                  <p:cNvSpPr>
                    <a:spLocks noChangeShapeType="1"/>
                  </p:cNvSpPr>
                  <p:nvPr/>
                </p:nvSpPr>
                <p:spPr bwMode="auto">
                  <a:xfrm flipV="1">
                    <a:off x="2610" y="3081"/>
                    <a:ext cx="16" cy="17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49" name="Line 17"/>
                  <p:cNvSpPr>
                    <a:spLocks noChangeShapeType="1"/>
                  </p:cNvSpPr>
                  <p:nvPr/>
                </p:nvSpPr>
                <p:spPr bwMode="auto">
                  <a:xfrm>
                    <a:off x="2626" y="3081"/>
                    <a:ext cx="149" cy="12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50" name="Line 18"/>
                  <p:cNvSpPr>
                    <a:spLocks noChangeShapeType="1"/>
                  </p:cNvSpPr>
                  <p:nvPr/>
                </p:nvSpPr>
                <p:spPr bwMode="auto">
                  <a:xfrm flipV="1">
                    <a:off x="2775" y="3157"/>
                    <a:ext cx="98" cy="4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grpSp>
            <p:nvGrpSpPr>
              <p:cNvPr id="18463" name="Group 31"/>
              <p:cNvGrpSpPr>
                <a:grpSpLocks/>
              </p:cNvGrpSpPr>
              <p:nvPr/>
            </p:nvGrpSpPr>
            <p:grpSpPr bwMode="auto">
              <a:xfrm>
                <a:off x="1968" y="1972"/>
                <a:ext cx="1000" cy="660"/>
                <a:chOff x="1968" y="1972"/>
                <a:chExt cx="1000" cy="660"/>
              </a:xfrm>
            </p:grpSpPr>
            <p:sp>
              <p:nvSpPr>
                <p:cNvPr id="18439" name="Oval 7"/>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40" name="Oval 8"/>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59" name="Oval 27"/>
                <p:cNvSpPr>
                  <a:spLocks noChangeArrowheads="1"/>
                </p:cNvSpPr>
                <p:nvPr/>
              </p:nvSpPr>
              <p:spPr bwMode="auto">
                <a:xfrm>
                  <a:off x="1968" y="2400"/>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60" name="Oval 28"/>
                <p:cNvSpPr>
                  <a:spLocks noChangeArrowheads="1"/>
                </p:cNvSpPr>
                <p:nvPr/>
              </p:nvSpPr>
              <p:spPr bwMode="auto">
                <a:xfrm>
                  <a:off x="2304" y="2496"/>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61" name="Oval 29"/>
                <p:cNvSpPr>
                  <a:spLocks noChangeArrowheads="1"/>
                </p:cNvSpPr>
                <p:nvPr/>
              </p:nvSpPr>
              <p:spPr bwMode="auto">
                <a:xfrm>
                  <a:off x="2832" y="2400"/>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
          <p:nvSpPr>
            <p:cNvPr id="18467" name="Rectangle 35"/>
            <p:cNvSpPr>
              <a:spLocks noChangeArrowheads="1"/>
            </p:cNvSpPr>
            <p:nvPr/>
          </p:nvSpPr>
          <p:spPr bwMode="auto">
            <a:xfrm>
              <a:off x="1839" y="2180"/>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r>
                <a:rPr lang="en-GB" sz="1600">
                  <a:solidFill>
                    <a:schemeClr val="folHlink"/>
                  </a:solidFill>
                </a:rPr>
                <a:t>Ca</a:t>
              </a:r>
              <a:r>
                <a:rPr lang="en-GB" sz="1600" baseline="30000">
                  <a:solidFill>
                    <a:schemeClr val="folHlink"/>
                  </a:solidFill>
                </a:rPr>
                <a:t>2+</a:t>
              </a:r>
              <a:endParaRPr lang="en-US" sz="1600" baseline="30000">
                <a:solidFill>
                  <a:schemeClr val="folHlink"/>
                </a:solidFill>
              </a:endParaRPr>
            </a:p>
          </p:txBody>
        </p:sp>
        <p:sp>
          <p:nvSpPr>
            <p:cNvPr id="18468" name="Rectangle 36"/>
            <p:cNvSpPr>
              <a:spLocks noChangeArrowheads="1"/>
            </p:cNvSpPr>
            <p:nvPr/>
          </p:nvSpPr>
          <p:spPr bwMode="auto">
            <a:xfrm>
              <a:off x="2149" y="2269"/>
              <a:ext cx="3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762000" eaLnBrk="0" hangingPunct="0"/>
              <a:r>
                <a:rPr lang="en-GB" sz="1600">
                  <a:solidFill>
                    <a:schemeClr val="folHlink"/>
                  </a:solidFill>
                </a:rPr>
                <a:t>Ca</a:t>
              </a:r>
              <a:r>
                <a:rPr lang="en-GB" sz="1600" baseline="30000">
                  <a:solidFill>
                    <a:schemeClr val="folHlink"/>
                  </a:solidFill>
                </a:rPr>
                <a:t>2+</a:t>
              </a:r>
              <a:endParaRPr lang="en-US" sz="1600" baseline="30000">
                <a:solidFill>
                  <a:schemeClr val="folHlink"/>
                </a:solidFill>
              </a:endParaRPr>
            </a:p>
          </p:txBody>
        </p:sp>
      </p:grpSp>
      <p:grpSp>
        <p:nvGrpSpPr>
          <p:cNvPr id="18470" name="Group 38"/>
          <p:cNvGrpSpPr>
            <a:grpSpLocks/>
          </p:cNvGrpSpPr>
          <p:nvPr/>
        </p:nvGrpSpPr>
        <p:grpSpPr bwMode="auto">
          <a:xfrm>
            <a:off x="2895600" y="2206627"/>
            <a:ext cx="6183313" cy="2593976"/>
            <a:chOff x="1824" y="1390"/>
            <a:chExt cx="3895" cy="1634"/>
          </a:xfrm>
        </p:grpSpPr>
        <p:sp>
          <p:nvSpPr>
            <p:cNvPr id="18457" name="Rectangle 25"/>
            <p:cNvSpPr>
              <a:spLocks noChangeArrowheads="1"/>
            </p:cNvSpPr>
            <p:nvPr/>
          </p:nvSpPr>
          <p:spPr bwMode="auto">
            <a:xfrm>
              <a:off x="3171" y="1390"/>
              <a:ext cx="2548" cy="1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defTabSz="762000" eaLnBrk="0" hangingPunct="0"/>
              <a:r>
                <a:rPr lang="en-GB" sz="3200" b="1">
                  <a:latin typeface="Arial Rounded MT Bold" panose="020F0704030504030204" pitchFamily="34" charset="0"/>
                </a:rPr>
                <a:t>(5)</a:t>
              </a:r>
              <a:r>
                <a:rPr lang="en-GB" sz="3200" b="1"/>
                <a:t> </a:t>
              </a:r>
              <a:r>
                <a:rPr lang="en-GB" sz="3200" b="1">
                  <a:latin typeface="Arial Rounded MT Bold" panose="020F0704030504030204" pitchFamily="34" charset="0"/>
                </a:rPr>
                <a:t>Vesicles release Ach molecules into the synaptic cleft (</a:t>
              </a:r>
              <a:r>
                <a:rPr lang="en-GB" sz="3200" b="1">
                  <a:solidFill>
                    <a:schemeClr val="folHlink"/>
                  </a:solidFill>
                  <a:latin typeface="Arial Rounded MT Bold" panose="020F0704030504030204" pitchFamily="34" charset="0"/>
                </a:rPr>
                <a:t>exocytosis</a:t>
              </a:r>
              <a:r>
                <a:rPr lang="en-GB" sz="3200" b="1">
                  <a:latin typeface="Arial Rounded MT Bold" panose="020F0704030504030204" pitchFamily="34" charset="0"/>
                </a:rPr>
                <a:t>)</a:t>
              </a:r>
            </a:p>
          </p:txBody>
        </p:sp>
        <p:grpSp>
          <p:nvGrpSpPr>
            <p:cNvPr id="18462" name="Group 30"/>
            <p:cNvGrpSpPr>
              <a:grpSpLocks/>
            </p:cNvGrpSpPr>
            <p:nvPr/>
          </p:nvGrpSpPr>
          <p:grpSpPr bwMode="auto">
            <a:xfrm>
              <a:off x="1824" y="2400"/>
              <a:ext cx="1384" cy="624"/>
              <a:chOff x="1824" y="2400"/>
              <a:chExt cx="1384" cy="624"/>
            </a:xfrm>
          </p:grpSpPr>
          <p:sp>
            <p:nvSpPr>
              <p:cNvPr id="18453" name="Freeform 21" descr="20%"/>
              <p:cNvSpPr>
                <a:spLocks/>
              </p:cNvSpPr>
              <p:nvPr/>
            </p:nvSpPr>
            <p:spPr bwMode="auto">
              <a:xfrm>
                <a:off x="2304" y="2592"/>
                <a:ext cx="253" cy="432"/>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55" name="Freeform 23" descr="20%"/>
              <p:cNvSpPr>
                <a:spLocks/>
              </p:cNvSpPr>
              <p:nvPr/>
            </p:nvSpPr>
            <p:spPr bwMode="auto">
              <a:xfrm rot="2057661">
                <a:off x="1824" y="2448"/>
                <a:ext cx="240" cy="513"/>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56" name="Freeform 24" descr="20%"/>
              <p:cNvSpPr>
                <a:spLocks/>
              </p:cNvSpPr>
              <p:nvPr/>
            </p:nvSpPr>
            <p:spPr bwMode="auto">
              <a:xfrm rot="-2068959">
                <a:off x="2955" y="2439"/>
                <a:ext cx="253" cy="432"/>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8437" name="Oval 5"/>
              <p:cNvSpPr>
                <a:spLocks noChangeArrowheads="1"/>
              </p:cNvSpPr>
              <p:nvPr/>
            </p:nvSpPr>
            <p:spPr bwMode="auto">
              <a:xfrm>
                <a:off x="2832" y="2400"/>
                <a:ext cx="136" cy="136"/>
              </a:xfrm>
              <a:prstGeom prst="ellipse">
                <a:avLst/>
              </a:prstGeom>
              <a:gradFill rotWithShape="0">
                <a:gsLst>
                  <a:gs pos="0">
                    <a:schemeClr val="accent2"/>
                  </a:gs>
                  <a:gs pos="100000">
                    <a:srgbClr val="FFFFFF"/>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38" name="Oval 6"/>
              <p:cNvSpPr>
                <a:spLocks noChangeArrowheads="1"/>
              </p:cNvSpPr>
              <p:nvPr/>
            </p:nvSpPr>
            <p:spPr bwMode="auto">
              <a:xfrm>
                <a:off x="2308" y="2500"/>
                <a:ext cx="136" cy="136"/>
              </a:xfrm>
              <a:prstGeom prst="ellipse">
                <a:avLst/>
              </a:prstGeom>
              <a:gradFill rotWithShape="0">
                <a:gsLst>
                  <a:gs pos="0">
                    <a:schemeClr val="accent2"/>
                  </a:gs>
                  <a:gs pos="100000">
                    <a:srgbClr val="FFFFFF"/>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436" name="Oval 4"/>
              <p:cNvSpPr>
                <a:spLocks noChangeArrowheads="1"/>
              </p:cNvSpPr>
              <p:nvPr/>
            </p:nvSpPr>
            <p:spPr bwMode="auto">
              <a:xfrm>
                <a:off x="1968" y="2400"/>
                <a:ext cx="136" cy="136"/>
              </a:xfrm>
              <a:prstGeom prst="ellipse">
                <a:avLst/>
              </a:prstGeom>
              <a:gradFill rotWithShape="0">
                <a:gsLst>
                  <a:gs pos="0">
                    <a:schemeClr val="accent2"/>
                  </a:gs>
                  <a:gs pos="100000">
                    <a:srgbClr val="FFFFFF"/>
                  </a:gs>
                </a:gsLst>
                <a:lin ang="5400000" scaled="1"/>
              </a:gra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cxnSp>
        <p:nvCxnSpPr>
          <p:cNvPr id="3" name="Straight Arrow Connector 2"/>
          <p:cNvCxnSpPr>
            <a:cxnSpLocks/>
          </p:cNvCxnSpPr>
          <p:nvPr/>
        </p:nvCxnSpPr>
        <p:spPr>
          <a:xfrm flipV="1">
            <a:off x="1907704" y="3994282"/>
            <a:ext cx="1248114" cy="10531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8435" idx="16"/>
          </p:cNvCxnSpPr>
          <p:nvPr/>
        </p:nvCxnSpPr>
        <p:spPr>
          <a:xfrm flipV="1">
            <a:off x="1907704" y="4183063"/>
            <a:ext cx="1891184" cy="8286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V="1">
            <a:off x="1899766" y="4003675"/>
            <a:ext cx="2754784" cy="104378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71600" y="4737136"/>
            <a:ext cx="936104" cy="5801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chemeClr val="tx1"/>
                </a:solidFill>
              </a:rPr>
              <a:t>Active zones</a:t>
            </a:r>
            <a:endParaRPr lang="en-GB" b="1" dirty="0">
              <a:solidFill>
                <a:schemeClr val="tx1"/>
              </a:solidFill>
            </a:endParaRPr>
          </a:p>
        </p:txBody>
      </p:sp>
      <p:sp>
        <p:nvSpPr>
          <p:cNvPr id="2" name="TextBox 1"/>
          <p:cNvSpPr txBox="1"/>
          <p:nvPr/>
        </p:nvSpPr>
        <p:spPr>
          <a:xfrm>
            <a:off x="971600" y="5657671"/>
            <a:ext cx="8248392" cy="1200329"/>
          </a:xfrm>
          <a:prstGeom prst="rect">
            <a:avLst/>
          </a:prstGeom>
          <a:noFill/>
        </p:spPr>
        <p:txBody>
          <a:bodyPr wrap="square" rtlCol="0">
            <a:spAutoFit/>
          </a:bodyPr>
          <a:lstStyle/>
          <a:p>
            <a:r>
              <a:rPr lang="en-US" sz="3600"/>
              <a:t>Calcium binds to </a:t>
            </a:r>
            <a:r>
              <a:rPr lang="en-US" sz="3600" err="1"/>
              <a:t>synaptotagmin</a:t>
            </a:r>
            <a:r>
              <a:rPr lang="en-US" sz="3600"/>
              <a:t> which induces </a:t>
            </a:r>
            <a:r>
              <a:rPr lang="en-US" sz="3600" b="1">
                <a:solidFill>
                  <a:srgbClr val="00B0F0"/>
                </a:solidFill>
              </a:rPr>
              <a:t>SNARE</a:t>
            </a:r>
            <a:r>
              <a:rPr lang="en-US" sz="3600"/>
              <a:t> proteins (Next page)</a:t>
            </a:r>
            <a:endParaRPr lang="en-GB" sz="3600"/>
          </a:p>
        </p:txBody>
      </p:sp>
    </p:spTree>
    <p:extLst>
      <p:ext uri="{BB962C8B-B14F-4D97-AF65-F5344CB8AC3E}">
        <p14:creationId xmlns:p14="http://schemas.microsoft.com/office/powerpoint/2010/main" val="276055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85AA4E7-D7DA-46EF-B669-5526BACE771F}" type="slidenum">
              <a:rPr lang="en-GB" smtClean="0"/>
              <a:pPr/>
              <a:t>15</a:t>
            </a:fld>
            <a:endParaRPr lang="en-GB"/>
          </a:p>
        </p:txBody>
      </p:sp>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9778" t="61337" r="65214" b="28562"/>
          <a:stretch/>
        </p:blipFill>
        <p:spPr bwMode="auto">
          <a:xfrm>
            <a:off x="735133" y="866527"/>
            <a:ext cx="2684739" cy="129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59487" y="2607295"/>
            <a:ext cx="205979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‘Dense Bars’</a:t>
            </a:r>
            <a:endParaRPr lang="en-GB" sz="2400" dirty="0"/>
          </a:p>
        </p:txBody>
      </p:sp>
      <p:sp>
        <p:nvSpPr>
          <p:cNvPr id="6" name="Down Arrow 5"/>
          <p:cNvSpPr/>
          <p:nvPr/>
        </p:nvSpPr>
        <p:spPr>
          <a:xfrm rot="12807041">
            <a:off x="1489424" y="1981859"/>
            <a:ext cx="216024" cy="630286"/>
          </a:xfrm>
          <a:prstGeom prst="downArrow">
            <a:avLst>
              <a:gd name="adj1" fmla="val 50000"/>
              <a:gd name="adj2" fmla="val 6806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grpSp>
        <p:nvGrpSpPr>
          <p:cNvPr id="11" name="Group 10"/>
          <p:cNvGrpSpPr/>
          <p:nvPr/>
        </p:nvGrpSpPr>
        <p:grpSpPr>
          <a:xfrm>
            <a:off x="2679809" y="2622501"/>
            <a:ext cx="1663007" cy="1659396"/>
            <a:chOff x="4499991" y="908721"/>
            <a:chExt cx="1332000" cy="1332000"/>
          </a:xfrm>
        </p:grpSpPr>
        <p:sp>
          <p:nvSpPr>
            <p:cNvPr id="7" name="Oval 6"/>
            <p:cNvSpPr/>
            <p:nvPr/>
          </p:nvSpPr>
          <p:spPr>
            <a:xfrm>
              <a:off x="4499991" y="908721"/>
              <a:ext cx="1332000" cy="1332000"/>
            </a:xfrm>
            <a:prstGeom prst="ellipse">
              <a:avLst/>
            </a:prstGeom>
            <a:ln w="762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5108578" y="1056970"/>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3" name="Oval 12"/>
            <p:cNvSpPr/>
            <p:nvPr/>
          </p:nvSpPr>
          <p:spPr>
            <a:xfrm>
              <a:off x="5286428" y="1376032"/>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4" name="Oval 13"/>
            <p:cNvSpPr/>
            <p:nvPr/>
          </p:nvSpPr>
          <p:spPr>
            <a:xfrm>
              <a:off x="4849814" y="1191325"/>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5" name="Oval 14"/>
            <p:cNvSpPr/>
            <p:nvPr/>
          </p:nvSpPr>
          <p:spPr>
            <a:xfrm>
              <a:off x="5464278" y="1585607"/>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6" name="Oval 15"/>
            <p:cNvSpPr/>
            <p:nvPr/>
          </p:nvSpPr>
          <p:spPr>
            <a:xfrm>
              <a:off x="5108578" y="1594079"/>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7" name="Oval 16"/>
            <p:cNvSpPr/>
            <p:nvPr/>
          </p:nvSpPr>
          <p:spPr>
            <a:xfrm>
              <a:off x="4746628" y="1788311"/>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8" name="Oval 17"/>
            <p:cNvSpPr/>
            <p:nvPr/>
          </p:nvSpPr>
          <p:spPr>
            <a:xfrm>
              <a:off x="5192767" y="185133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9" name="Oval 18"/>
            <p:cNvSpPr/>
            <p:nvPr/>
          </p:nvSpPr>
          <p:spPr>
            <a:xfrm>
              <a:off x="4564042" y="140124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0" name="Oval 19"/>
            <p:cNvSpPr/>
            <p:nvPr/>
          </p:nvSpPr>
          <p:spPr>
            <a:xfrm>
              <a:off x="4941917" y="1936085"/>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1" name="Oval 20"/>
            <p:cNvSpPr/>
            <p:nvPr/>
          </p:nvSpPr>
          <p:spPr>
            <a:xfrm>
              <a:off x="5464278" y="115631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3" name="Oval 22"/>
            <p:cNvSpPr/>
            <p:nvPr/>
          </p:nvSpPr>
          <p:spPr>
            <a:xfrm>
              <a:off x="4829153" y="1475376"/>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grpSp>
      <p:grpSp>
        <p:nvGrpSpPr>
          <p:cNvPr id="26" name="Group 25"/>
          <p:cNvGrpSpPr/>
          <p:nvPr/>
        </p:nvGrpSpPr>
        <p:grpSpPr>
          <a:xfrm>
            <a:off x="4857398" y="3104906"/>
            <a:ext cx="1663007" cy="1659396"/>
            <a:chOff x="4499991" y="908721"/>
            <a:chExt cx="1332000" cy="1332000"/>
          </a:xfrm>
        </p:grpSpPr>
        <p:sp>
          <p:nvSpPr>
            <p:cNvPr id="27" name="Oval 26"/>
            <p:cNvSpPr/>
            <p:nvPr/>
          </p:nvSpPr>
          <p:spPr>
            <a:xfrm>
              <a:off x="4499991" y="908721"/>
              <a:ext cx="1332000" cy="1332000"/>
            </a:xfrm>
            <a:prstGeom prst="ellipse">
              <a:avLst/>
            </a:prstGeom>
            <a:ln w="762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p:cNvSpPr/>
            <p:nvPr/>
          </p:nvSpPr>
          <p:spPr>
            <a:xfrm>
              <a:off x="5108578" y="1056970"/>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9" name="Oval 28"/>
            <p:cNvSpPr/>
            <p:nvPr/>
          </p:nvSpPr>
          <p:spPr>
            <a:xfrm>
              <a:off x="5286428" y="1376032"/>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0" name="Oval 29"/>
            <p:cNvSpPr/>
            <p:nvPr/>
          </p:nvSpPr>
          <p:spPr>
            <a:xfrm>
              <a:off x="4849814" y="1191325"/>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1" name="Oval 30"/>
            <p:cNvSpPr/>
            <p:nvPr/>
          </p:nvSpPr>
          <p:spPr>
            <a:xfrm>
              <a:off x="5464278" y="1585607"/>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2" name="Oval 31"/>
            <p:cNvSpPr/>
            <p:nvPr/>
          </p:nvSpPr>
          <p:spPr>
            <a:xfrm>
              <a:off x="5108578" y="1594079"/>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3" name="Oval 32"/>
            <p:cNvSpPr/>
            <p:nvPr/>
          </p:nvSpPr>
          <p:spPr>
            <a:xfrm>
              <a:off x="4746628" y="1788311"/>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4" name="Oval 33"/>
            <p:cNvSpPr/>
            <p:nvPr/>
          </p:nvSpPr>
          <p:spPr>
            <a:xfrm>
              <a:off x="5192767" y="185133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5" name="Oval 34"/>
            <p:cNvSpPr/>
            <p:nvPr/>
          </p:nvSpPr>
          <p:spPr>
            <a:xfrm>
              <a:off x="4564042" y="140124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6" name="Oval 35"/>
            <p:cNvSpPr/>
            <p:nvPr/>
          </p:nvSpPr>
          <p:spPr>
            <a:xfrm>
              <a:off x="4941917" y="1936085"/>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7" name="Oval 36"/>
            <p:cNvSpPr/>
            <p:nvPr/>
          </p:nvSpPr>
          <p:spPr>
            <a:xfrm>
              <a:off x="5464278" y="115631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8" name="Oval 37"/>
            <p:cNvSpPr/>
            <p:nvPr/>
          </p:nvSpPr>
          <p:spPr>
            <a:xfrm>
              <a:off x="4829153" y="1475376"/>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grpSp>
      <p:cxnSp>
        <p:nvCxnSpPr>
          <p:cNvPr id="25" name="Straight Connector 24"/>
          <p:cNvCxnSpPr/>
          <p:nvPr/>
        </p:nvCxnSpPr>
        <p:spPr>
          <a:xfrm>
            <a:off x="2555776" y="5742294"/>
            <a:ext cx="6218666" cy="0"/>
          </a:xfrm>
          <a:prstGeom prst="line">
            <a:avLst/>
          </a:prstGeom>
          <a:ln w="76200" cmpd="dbl">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7004150" y="3998600"/>
            <a:ext cx="1663007" cy="2022688"/>
            <a:chOff x="7004150" y="3998600"/>
            <a:chExt cx="1663007" cy="2022688"/>
          </a:xfrm>
        </p:grpSpPr>
        <p:sp>
          <p:nvSpPr>
            <p:cNvPr id="40" name="Oval 39"/>
            <p:cNvSpPr/>
            <p:nvPr/>
          </p:nvSpPr>
          <p:spPr>
            <a:xfrm>
              <a:off x="7004150" y="3998600"/>
              <a:ext cx="1663007" cy="1659396"/>
            </a:xfrm>
            <a:prstGeom prst="ellipse">
              <a:avLst/>
            </a:prstGeom>
            <a:ln w="762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GB">
                <a:solidFill>
                  <a:schemeClr val="bg1"/>
                </a:solidFill>
              </a:endParaRPr>
            </a:p>
          </p:txBody>
        </p:sp>
        <p:sp>
          <p:nvSpPr>
            <p:cNvPr id="41" name="Oval 40"/>
            <p:cNvSpPr/>
            <p:nvPr/>
          </p:nvSpPr>
          <p:spPr>
            <a:xfrm>
              <a:off x="7739655" y="4076174"/>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2" name="Oval 41"/>
            <p:cNvSpPr/>
            <p:nvPr/>
          </p:nvSpPr>
          <p:spPr>
            <a:xfrm>
              <a:off x="7961701" y="4473659"/>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3" name="Oval 42"/>
            <p:cNvSpPr/>
            <p:nvPr/>
          </p:nvSpPr>
          <p:spPr>
            <a:xfrm>
              <a:off x="7416587" y="4243553"/>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4" name="Oval 43"/>
            <p:cNvSpPr/>
            <p:nvPr/>
          </p:nvSpPr>
          <p:spPr>
            <a:xfrm>
              <a:off x="8183748" y="4734747"/>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5" name="Oval 44"/>
            <p:cNvSpPr/>
            <p:nvPr/>
          </p:nvSpPr>
          <p:spPr>
            <a:xfrm>
              <a:off x="7739655" y="4745301"/>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6" name="Oval 45"/>
            <p:cNvSpPr/>
            <p:nvPr/>
          </p:nvSpPr>
          <p:spPr>
            <a:xfrm>
              <a:off x="7287759" y="4987274"/>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7" name="Oval 46"/>
            <p:cNvSpPr/>
            <p:nvPr/>
          </p:nvSpPr>
          <p:spPr>
            <a:xfrm>
              <a:off x="7844765" y="5065787"/>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8" name="Oval 47"/>
            <p:cNvSpPr/>
            <p:nvPr/>
          </p:nvSpPr>
          <p:spPr>
            <a:xfrm>
              <a:off x="7059800" y="4505068"/>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49" name="Oval 48"/>
            <p:cNvSpPr/>
            <p:nvPr/>
          </p:nvSpPr>
          <p:spPr>
            <a:xfrm>
              <a:off x="7531578" y="5171369"/>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50" name="Oval 49"/>
            <p:cNvSpPr/>
            <p:nvPr/>
          </p:nvSpPr>
          <p:spPr>
            <a:xfrm>
              <a:off x="8183748" y="4199936"/>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51" name="Oval 50"/>
            <p:cNvSpPr/>
            <p:nvPr/>
          </p:nvSpPr>
          <p:spPr>
            <a:xfrm>
              <a:off x="7390792" y="4597422"/>
              <a:ext cx="222046" cy="24752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en-GB"/>
            </a:p>
          </p:txBody>
        </p:sp>
        <p:sp>
          <p:nvSpPr>
            <p:cNvPr id="52" name="Oval 51"/>
            <p:cNvSpPr/>
            <p:nvPr/>
          </p:nvSpPr>
          <p:spPr>
            <a:xfrm>
              <a:off x="7733742" y="5523620"/>
              <a:ext cx="333070" cy="49766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grpSp>
      <p:sp>
        <p:nvSpPr>
          <p:cNvPr id="53" name="Freeform 52"/>
          <p:cNvSpPr/>
          <p:nvPr/>
        </p:nvSpPr>
        <p:spPr>
          <a:xfrm>
            <a:off x="3242748" y="4107056"/>
            <a:ext cx="384916" cy="751052"/>
          </a:xfrm>
          <a:custGeom>
            <a:avLst/>
            <a:gdLst>
              <a:gd name="connsiteX0" fmla="*/ 209592 w 308302"/>
              <a:gd name="connsiteY0" fmla="*/ 23025 h 602871"/>
              <a:gd name="connsiteX1" fmla="*/ 42 w 308302"/>
              <a:gd name="connsiteY1" fmla="*/ 289725 h 602871"/>
              <a:gd name="connsiteX2" fmla="*/ 190542 w 308302"/>
              <a:gd name="connsiteY2" fmla="*/ 423075 h 602871"/>
              <a:gd name="connsiteX3" fmla="*/ 104817 w 308302"/>
              <a:gd name="connsiteY3" fmla="*/ 594525 h 602871"/>
              <a:gd name="connsiteX4" fmla="*/ 219117 w 308302"/>
              <a:gd name="connsiteY4" fmla="*/ 556425 h 602871"/>
              <a:gd name="connsiteX5" fmla="*/ 276267 w 308302"/>
              <a:gd name="connsiteY5" fmla="*/ 384975 h 602871"/>
              <a:gd name="connsiteX6" fmla="*/ 76242 w 308302"/>
              <a:gd name="connsiteY6" fmla="*/ 280200 h 602871"/>
              <a:gd name="connsiteX7" fmla="*/ 304842 w 308302"/>
              <a:gd name="connsiteY7" fmla="*/ 42075 h 602871"/>
              <a:gd name="connsiteX8" fmla="*/ 209592 w 308302"/>
              <a:gd name="connsiteY8" fmla="*/ 23025 h 60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302" h="602871">
                <a:moveTo>
                  <a:pt x="209592" y="23025"/>
                </a:moveTo>
                <a:cubicBezTo>
                  <a:pt x="158792" y="64300"/>
                  <a:pt x="3217" y="223050"/>
                  <a:pt x="42" y="289725"/>
                </a:cubicBezTo>
                <a:cubicBezTo>
                  <a:pt x="-3133" y="356400"/>
                  <a:pt x="173080" y="372275"/>
                  <a:pt x="190542" y="423075"/>
                </a:cubicBezTo>
                <a:cubicBezTo>
                  <a:pt x="208004" y="473875"/>
                  <a:pt x="100054" y="572300"/>
                  <a:pt x="104817" y="594525"/>
                </a:cubicBezTo>
                <a:cubicBezTo>
                  <a:pt x="109579" y="616750"/>
                  <a:pt x="190542" y="591350"/>
                  <a:pt x="219117" y="556425"/>
                </a:cubicBezTo>
                <a:cubicBezTo>
                  <a:pt x="247692" y="521500"/>
                  <a:pt x="300080" y="431013"/>
                  <a:pt x="276267" y="384975"/>
                </a:cubicBezTo>
                <a:cubicBezTo>
                  <a:pt x="252455" y="338938"/>
                  <a:pt x="71479" y="337350"/>
                  <a:pt x="76242" y="280200"/>
                </a:cubicBezTo>
                <a:cubicBezTo>
                  <a:pt x="81004" y="223050"/>
                  <a:pt x="285792" y="83350"/>
                  <a:pt x="304842" y="42075"/>
                </a:cubicBezTo>
                <a:cubicBezTo>
                  <a:pt x="323892" y="800"/>
                  <a:pt x="260392" y="-18250"/>
                  <a:pt x="209592" y="23025"/>
                </a:cubicBezTo>
                <a:close/>
              </a:path>
            </a:pathLst>
          </a:cu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54" name="Freeform 53"/>
          <p:cNvSpPr/>
          <p:nvPr/>
        </p:nvSpPr>
        <p:spPr>
          <a:xfrm>
            <a:off x="2846416" y="5091240"/>
            <a:ext cx="594526" cy="812561"/>
          </a:xfrm>
          <a:custGeom>
            <a:avLst/>
            <a:gdLst>
              <a:gd name="connsiteX0" fmla="*/ 79362 w 476191"/>
              <a:gd name="connsiteY0" fmla="*/ 52169 h 652244"/>
              <a:gd name="connsiteX1" fmla="*/ 155562 w 476191"/>
              <a:gd name="connsiteY1" fmla="*/ 175994 h 652244"/>
              <a:gd name="connsiteX2" fmla="*/ 393687 w 476191"/>
              <a:gd name="connsiteY2" fmla="*/ 118844 h 652244"/>
              <a:gd name="connsiteX3" fmla="*/ 469887 w 476191"/>
              <a:gd name="connsiteY3" fmla="*/ 261719 h 652244"/>
              <a:gd name="connsiteX4" fmla="*/ 250812 w 476191"/>
              <a:gd name="connsiteY4" fmla="*/ 347444 h 652244"/>
              <a:gd name="connsiteX5" fmla="*/ 231762 w 476191"/>
              <a:gd name="connsiteY5" fmla="*/ 652244 h 652244"/>
              <a:gd name="connsiteX6" fmla="*/ 155562 w 476191"/>
              <a:gd name="connsiteY6" fmla="*/ 652244 h 652244"/>
              <a:gd name="connsiteX7" fmla="*/ 165087 w 476191"/>
              <a:gd name="connsiteY7" fmla="*/ 347444 h 652244"/>
              <a:gd name="connsiteX8" fmla="*/ 355587 w 476191"/>
              <a:gd name="connsiteY8" fmla="*/ 233144 h 652244"/>
              <a:gd name="connsiteX9" fmla="*/ 355587 w 476191"/>
              <a:gd name="connsiteY9" fmla="*/ 204569 h 652244"/>
              <a:gd name="connsiteX10" fmla="*/ 155562 w 476191"/>
              <a:gd name="connsiteY10" fmla="*/ 252194 h 652244"/>
              <a:gd name="connsiteX11" fmla="*/ 31737 w 476191"/>
              <a:gd name="connsiteY11" fmla="*/ 175994 h 652244"/>
              <a:gd name="connsiteX12" fmla="*/ 3162 w 476191"/>
              <a:gd name="connsiteY12" fmla="*/ 4544 h 652244"/>
              <a:gd name="connsiteX13" fmla="*/ 79362 w 476191"/>
              <a:gd name="connsiteY13" fmla="*/ 52169 h 65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191" h="652244">
                <a:moveTo>
                  <a:pt x="79362" y="52169"/>
                </a:moveTo>
                <a:cubicBezTo>
                  <a:pt x="104762" y="80744"/>
                  <a:pt x="103175" y="164882"/>
                  <a:pt x="155562" y="175994"/>
                </a:cubicBezTo>
                <a:cubicBezTo>
                  <a:pt x="207949" y="187106"/>
                  <a:pt x="341300" y="104557"/>
                  <a:pt x="393687" y="118844"/>
                </a:cubicBezTo>
                <a:cubicBezTo>
                  <a:pt x="446074" y="133131"/>
                  <a:pt x="493699" y="223619"/>
                  <a:pt x="469887" y="261719"/>
                </a:cubicBezTo>
                <a:cubicBezTo>
                  <a:pt x="446075" y="299819"/>
                  <a:pt x="290499" y="282357"/>
                  <a:pt x="250812" y="347444"/>
                </a:cubicBezTo>
                <a:cubicBezTo>
                  <a:pt x="211125" y="412531"/>
                  <a:pt x="247637" y="601444"/>
                  <a:pt x="231762" y="652244"/>
                </a:cubicBezTo>
                <a:cubicBezTo>
                  <a:pt x="215887" y="703044"/>
                  <a:pt x="166675" y="703044"/>
                  <a:pt x="155562" y="652244"/>
                </a:cubicBezTo>
                <a:cubicBezTo>
                  <a:pt x="144450" y="601444"/>
                  <a:pt x="131750" y="417294"/>
                  <a:pt x="165087" y="347444"/>
                </a:cubicBezTo>
                <a:cubicBezTo>
                  <a:pt x="198424" y="277594"/>
                  <a:pt x="323837" y="256956"/>
                  <a:pt x="355587" y="233144"/>
                </a:cubicBezTo>
                <a:cubicBezTo>
                  <a:pt x="387337" y="209332"/>
                  <a:pt x="388924" y="201394"/>
                  <a:pt x="355587" y="204569"/>
                </a:cubicBezTo>
                <a:cubicBezTo>
                  <a:pt x="322250" y="207744"/>
                  <a:pt x="209537" y="256957"/>
                  <a:pt x="155562" y="252194"/>
                </a:cubicBezTo>
                <a:cubicBezTo>
                  <a:pt x="101587" y="247431"/>
                  <a:pt x="57137" y="217269"/>
                  <a:pt x="31737" y="175994"/>
                </a:cubicBezTo>
                <a:cubicBezTo>
                  <a:pt x="6337" y="134719"/>
                  <a:pt x="-6363" y="22006"/>
                  <a:pt x="3162" y="4544"/>
                </a:cubicBezTo>
                <a:cubicBezTo>
                  <a:pt x="12687" y="-12919"/>
                  <a:pt x="53962" y="23594"/>
                  <a:pt x="79362" y="52169"/>
                </a:cubicBezTo>
                <a:close/>
              </a:path>
            </a:pathLst>
          </a:cu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55" name="Freeform 54"/>
          <p:cNvSpPr/>
          <p:nvPr/>
        </p:nvSpPr>
        <p:spPr>
          <a:xfrm>
            <a:off x="3216704" y="5086460"/>
            <a:ext cx="810113" cy="546628"/>
          </a:xfrm>
          <a:custGeom>
            <a:avLst/>
            <a:gdLst>
              <a:gd name="connsiteX0" fmla="*/ 1852 w 648867"/>
              <a:gd name="connsiteY0" fmla="*/ 113156 h 438779"/>
              <a:gd name="connsiteX1" fmla="*/ 154252 w 648867"/>
              <a:gd name="connsiteY1" fmla="*/ 75056 h 438779"/>
              <a:gd name="connsiteX2" fmla="*/ 230452 w 648867"/>
              <a:gd name="connsiteY2" fmla="*/ 265556 h 438779"/>
              <a:gd name="connsiteX3" fmla="*/ 201877 w 648867"/>
              <a:gd name="connsiteY3" fmla="*/ 370331 h 438779"/>
              <a:gd name="connsiteX4" fmla="*/ 335227 w 648867"/>
              <a:gd name="connsiteY4" fmla="*/ 427481 h 438779"/>
              <a:gd name="connsiteX5" fmla="*/ 640027 w 648867"/>
              <a:gd name="connsiteY5" fmla="*/ 141731 h 438779"/>
              <a:gd name="connsiteX6" fmla="*/ 544777 w 648867"/>
              <a:gd name="connsiteY6" fmla="*/ 103631 h 438779"/>
              <a:gd name="connsiteX7" fmla="*/ 316177 w 648867"/>
              <a:gd name="connsiteY7" fmla="*/ 351281 h 438779"/>
              <a:gd name="connsiteX8" fmla="*/ 278077 w 648867"/>
              <a:gd name="connsiteY8" fmla="*/ 351281 h 438779"/>
              <a:gd name="connsiteX9" fmla="*/ 306652 w 648867"/>
              <a:gd name="connsiteY9" fmla="*/ 208406 h 438779"/>
              <a:gd name="connsiteX10" fmla="*/ 201877 w 648867"/>
              <a:gd name="connsiteY10" fmla="*/ 27431 h 438779"/>
              <a:gd name="connsiteX11" fmla="*/ 78052 w 648867"/>
              <a:gd name="connsiteY11" fmla="*/ 8381 h 438779"/>
              <a:gd name="connsiteX12" fmla="*/ 1852 w 648867"/>
              <a:gd name="connsiteY12" fmla="*/ 113156 h 438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8867" h="438779">
                <a:moveTo>
                  <a:pt x="1852" y="113156"/>
                </a:moveTo>
                <a:cubicBezTo>
                  <a:pt x="14552" y="124268"/>
                  <a:pt x="116152" y="49656"/>
                  <a:pt x="154252" y="75056"/>
                </a:cubicBezTo>
                <a:cubicBezTo>
                  <a:pt x="192352" y="100456"/>
                  <a:pt x="222515" y="216344"/>
                  <a:pt x="230452" y="265556"/>
                </a:cubicBezTo>
                <a:cubicBezTo>
                  <a:pt x="238389" y="314768"/>
                  <a:pt x="184414" y="343343"/>
                  <a:pt x="201877" y="370331"/>
                </a:cubicBezTo>
                <a:cubicBezTo>
                  <a:pt x="219340" y="397319"/>
                  <a:pt x="262202" y="465581"/>
                  <a:pt x="335227" y="427481"/>
                </a:cubicBezTo>
                <a:cubicBezTo>
                  <a:pt x="408252" y="389381"/>
                  <a:pt x="605102" y="195706"/>
                  <a:pt x="640027" y="141731"/>
                </a:cubicBezTo>
                <a:cubicBezTo>
                  <a:pt x="674952" y="87756"/>
                  <a:pt x="598752" y="68706"/>
                  <a:pt x="544777" y="103631"/>
                </a:cubicBezTo>
                <a:cubicBezTo>
                  <a:pt x="490802" y="138556"/>
                  <a:pt x="360627" y="310006"/>
                  <a:pt x="316177" y="351281"/>
                </a:cubicBezTo>
                <a:cubicBezTo>
                  <a:pt x="271727" y="392556"/>
                  <a:pt x="279665" y="375094"/>
                  <a:pt x="278077" y="351281"/>
                </a:cubicBezTo>
                <a:cubicBezTo>
                  <a:pt x="276489" y="327468"/>
                  <a:pt x="319352" y="262381"/>
                  <a:pt x="306652" y="208406"/>
                </a:cubicBezTo>
                <a:cubicBezTo>
                  <a:pt x="293952" y="154431"/>
                  <a:pt x="239977" y="60768"/>
                  <a:pt x="201877" y="27431"/>
                </a:cubicBezTo>
                <a:cubicBezTo>
                  <a:pt x="163777" y="-5906"/>
                  <a:pt x="111390" y="-4319"/>
                  <a:pt x="78052" y="8381"/>
                </a:cubicBezTo>
                <a:cubicBezTo>
                  <a:pt x="44715" y="21081"/>
                  <a:pt x="-10848" y="102044"/>
                  <a:pt x="1852" y="113156"/>
                </a:cubicBezTo>
                <a:close/>
              </a:path>
            </a:pathLst>
          </a:cu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58" name="Freeform 57"/>
          <p:cNvSpPr/>
          <p:nvPr/>
        </p:nvSpPr>
        <p:spPr>
          <a:xfrm>
            <a:off x="5246275" y="4567957"/>
            <a:ext cx="384916" cy="751052"/>
          </a:xfrm>
          <a:custGeom>
            <a:avLst/>
            <a:gdLst>
              <a:gd name="connsiteX0" fmla="*/ 209592 w 308302"/>
              <a:gd name="connsiteY0" fmla="*/ 23025 h 602871"/>
              <a:gd name="connsiteX1" fmla="*/ 42 w 308302"/>
              <a:gd name="connsiteY1" fmla="*/ 289725 h 602871"/>
              <a:gd name="connsiteX2" fmla="*/ 190542 w 308302"/>
              <a:gd name="connsiteY2" fmla="*/ 423075 h 602871"/>
              <a:gd name="connsiteX3" fmla="*/ 104817 w 308302"/>
              <a:gd name="connsiteY3" fmla="*/ 594525 h 602871"/>
              <a:gd name="connsiteX4" fmla="*/ 219117 w 308302"/>
              <a:gd name="connsiteY4" fmla="*/ 556425 h 602871"/>
              <a:gd name="connsiteX5" fmla="*/ 276267 w 308302"/>
              <a:gd name="connsiteY5" fmla="*/ 384975 h 602871"/>
              <a:gd name="connsiteX6" fmla="*/ 76242 w 308302"/>
              <a:gd name="connsiteY6" fmla="*/ 280200 h 602871"/>
              <a:gd name="connsiteX7" fmla="*/ 304842 w 308302"/>
              <a:gd name="connsiteY7" fmla="*/ 42075 h 602871"/>
              <a:gd name="connsiteX8" fmla="*/ 209592 w 308302"/>
              <a:gd name="connsiteY8" fmla="*/ 23025 h 60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302" h="602871">
                <a:moveTo>
                  <a:pt x="209592" y="23025"/>
                </a:moveTo>
                <a:cubicBezTo>
                  <a:pt x="158792" y="64300"/>
                  <a:pt x="3217" y="223050"/>
                  <a:pt x="42" y="289725"/>
                </a:cubicBezTo>
                <a:cubicBezTo>
                  <a:pt x="-3133" y="356400"/>
                  <a:pt x="173080" y="372275"/>
                  <a:pt x="190542" y="423075"/>
                </a:cubicBezTo>
                <a:cubicBezTo>
                  <a:pt x="208004" y="473875"/>
                  <a:pt x="100054" y="572300"/>
                  <a:pt x="104817" y="594525"/>
                </a:cubicBezTo>
                <a:cubicBezTo>
                  <a:pt x="109579" y="616750"/>
                  <a:pt x="190542" y="591350"/>
                  <a:pt x="219117" y="556425"/>
                </a:cubicBezTo>
                <a:cubicBezTo>
                  <a:pt x="247692" y="521500"/>
                  <a:pt x="300080" y="431013"/>
                  <a:pt x="276267" y="384975"/>
                </a:cubicBezTo>
                <a:cubicBezTo>
                  <a:pt x="252455" y="338938"/>
                  <a:pt x="71479" y="337350"/>
                  <a:pt x="76242" y="280200"/>
                </a:cubicBezTo>
                <a:cubicBezTo>
                  <a:pt x="81004" y="223050"/>
                  <a:pt x="285792" y="83350"/>
                  <a:pt x="304842" y="42075"/>
                </a:cubicBezTo>
                <a:cubicBezTo>
                  <a:pt x="323892" y="800"/>
                  <a:pt x="260392" y="-18250"/>
                  <a:pt x="209592" y="23025"/>
                </a:cubicBezTo>
                <a:close/>
              </a:path>
            </a:pathLst>
          </a:cu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59" name="Freeform 58"/>
          <p:cNvSpPr/>
          <p:nvPr/>
        </p:nvSpPr>
        <p:spPr>
          <a:xfrm>
            <a:off x="4586272" y="5150360"/>
            <a:ext cx="594526" cy="812561"/>
          </a:xfrm>
          <a:custGeom>
            <a:avLst/>
            <a:gdLst>
              <a:gd name="connsiteX0" fmla="*/ 79362 w 476191"/>
              <a:gd name="connsiteY0" fmla="*/ 52169 h 652244"/>
              <a:gd name="connsiteX1" fmla="*/ 155562 w 476191"/>
              <a:gd name="connsiteY1" fmla="*/ 175994 h 652244"/>
              <a:gd name="connsiteX2" fmla="*/ 393687 w 476191"/>
              <a:gd name="connsiteY2" fmla="*/ 118844 h 652244"/>
              <a:gd name="connsiteX3" fmla="*/ 469887 w 476191"/>
              <a:gd name="connsiteY3" fmla="*/ 261719 h 652244"/>
              <a:gd name="connsiteX4" fmla="*/ 250812 w 476191"/>
              <a:gd name="connsiteY4" fmla="*/ 347444 h 652244"/>
              <a:gd name="connsiteX5" fmla="*/ 231762 w 476191"/>
              <a:gd name="connsiteY5" fmla="*/ 652244 h 652244"/>
              <a:gd name="connsiteX6" fmla="*/ 155562 w 476191"/>
              <a:gd name="connsiteY6" fmla="*/ 652244 h 652244"/>
              <a:gd name="connsiteX7" fmla="*/ 165087 w 476191"/>
              <a:gd name="connsiteY7" fmla="*/ 347444 h 652244"/>
              <a:gd name="connsiteX8" fmla="*/ 355587 w 476191"/>
              <a:gd name="connsiteY8" fmla="*/ 233144 h 652244"/>
              <a:gd name="connsiteX9" fmla="*/ 355587 w 476191"/>
              <a:gd name="connsiteY9" fmla="*/ 204569 h 652244"/>
              <a:gd name="connsiteX10" fmla="*/ 155562 w 476191"/>
              <a:gd name="connsiteY10" fmla="*/ 252194 h 652244"/>
              <a:gd name="connsiteX11" fmla="*/ 31737 w 476191"/>
              <a:gd name="connsiteY11" fmla="*/ 175994 h 652244"/>
              <a:gd name="connsiteX12" fmla="*/ 3162 w 476191"/>
              <a:gd name="connsiteY12" fmla="*/ 4544 h 652244"/>
              <a:gd name="connsiteX13" fmla="*/ 79362 w 476191"/>
              <a:gd name="connsiteY13" fmla="*/ 52169 h 65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191" h="652244">
                <a:moveTo>
                  <a:pt x="79362" y="52169"/>
                </a:moveTo>
                <a:cubicBezTo>
                  <a:pt x="104762" y="80744"/>
                  <a:pt x="103175" y="164882"/>
                  <a:pt x="155562" y="175994"/>
                </a:cubicBezTo>
                <a:cubicBezTo>
                  <a:pt x="207949" y="187106"/>
                  <a:pt x="341300" y="104557"/>
                  <a:pt x="393687" y="118844"/>
                </a:cubicBezTo>
                <a:cubicBezTo>
                  <a:pt x="446074" y="133131"/>
                  <a:pt x="493699" y="223619"/>
                  <a:pt x="469887" y="261719"/>
                </a:cubicBezTo>
                <a:cubicBezTo>
                  <a:pt x="446075" y="299819"/>
                  <a:pt x="290499" y="282357"/>
                  <a:pt x="250812" y="347444"/>
                </a:cubicBezTo>
                <a:cubicBezTo>
                  <a:pt x="211125" y="412531"/>
                  <a:pt x="247637" y="601444"/>
                  <a:pt x="231762" y="652244"/>
                </a:cubicBezTo>
                <a:cubicBezTo>
                  <a:pt x="215887" y="703044"/>
                  <a:pt x="166675" y="703044"/>
                  <a:pt x="155562" y="652244"/>
                </a:cubicBezTo>
                <a:cubicBezTo>
                  <a:pt x="144450" y="601444"/>
                  <a:pt x="131750" y="417294"/>
                  <a:pt x="165087" y="347444"/>
                </a:cubicBezTo>
                <a:cubicBezTo>
                  <a:pt x="198424" y="277594"/>
                  <a:pt x="323837" y="256956"/>
                  <a:pt x="355587" y="233144"/>
                </a:cubicBezTo>
                <a:cubicBezTo>
                  <a:pt x="387337" y="209332"/>
                  <a:pt x="388924" y="201394"/>
                  <a:pt x="355587" y="204569"/>
                </a:cubicBezTo>
                <a:cubicBezTo>
                  <a:pt x="322250" y="207744"/>
                  <a:pt x="209537" y="256957"/>
                  <a:pt x="155562" y="252194"/>
                </a:cubicBezTo>
                <a:cubicBezTo>
                  <a:pt x="101587" y="247431"/>
                  <a:pt x="57137" y="217269"/>
                  <a:pt x="31737" y="175994"/>
                </a:cubicBezTo>
                <a:cubicBezTo>
                  <a:pt x="6337" y="134719"/>
                  <a:pt x="-6363" y="22006"/>
                  <a:pt x="3162" y="4544"/>
                </a:cubicBezTo>
                <a:cubicBezTo>
                  <a:pt x="12687" y="-12919"/>
                  <a:pt x="53962" y="23594"/>
                  <a:pt x="79362" y="52169"/>
                </a:cubicBezTo>
                <a:close/>
              </a:path>
            </a:pathLst>
          </a:cu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60" name="Freeform 59"/>
          <p:cNvSpPr/>
          <p:nvPr/>
        </p:nvSpPr>
        <p:spPr>
          <a:xfrm>
            <a:off x="4956560" y="5145580"/>
            <a:ext cx="810113" cy="546628"/>
          </a:xfrm>
          <a:custGeom>
            <a:avLst/>
            <a:gdLst>
              <a:gd name="connsiteX0" fmla="*/ 1852 w 648867"/>
              <a:gd name="connsiteY0" fmla="*/ 113156 h 438779"/>
              <a:gd name="connsiteX1" fmla="*/ 154252 w 648867"/>
              <a:gd name="connsiteY1" fmla="*/ 75056 h 438779"/>
              <a:gd name="connsiteX2" fmla="*/ 230452 w 648867"/>
              <a:gd name="connsiteY2" fmla="*/ 265556 h 438779"/>
              <a:gd name="connsiteX3" fmla="*/ 201877 w 648867"/>
              <a:gd name="connsiteY3" fmla="*/ 370331 h 438779"/>
              <a:gd name="connsiteX4" fmla="*/ 335227 w 648867"/>
              <a:gd name="connsiteY4" fmla="*/ 427481 h 438779"/>
              <a:gd name="connsiteX5" fmla="*/ 640027 w 648867"/>
              <a:gd name="connsiteY5" fmla="*/ 141731 h 438779"/>
              <a:gd name="connsiteX6" fmla="*/ 544777 w 648867"/>
              <a:gd name="connsiteY6" fmla="*/ 103631 h 438779"/>
              <a:gd name="connsiteX7" fmla="*/ 316177 w 648867"/>
              <a:gd name="connsiteY7" fmla="*/ 351281 h 438779"/>
              <a:gd name="connsiteX8" fmla="*/ 278077 w 648867"/>
              <a:gd name="connsiteY8" fmla="*/ 351281 h 438779"/>
              <a:gd name="connsiteX9" fmla="*/ 306652 w 648867"/>
              <a:gd name="connsiteY9" fmla="*/ 208406 h 438779"/>
              <a:gd name="connsiteX10" fmla="*/ 201877 w 648867"/>
              <a:gd name="connsiteY10" fmla="*/ 27431 h 438779"/>
              <a:gd name="connsiteX11" fmla="*/ 78052 w 648867"/>
              <a:gd name="connsiteY11" fmla="*/ 8381 h 438779"/>
              <a:gd name="connsiteX12" fmla="*/ 1852 w 648867"/>
              <a:gd name="connsiteY12" fmla="*/ 113156 h 438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8867" h="438779">
                <a:moveTo>
                  <a:pt x="1852" y="113156"/>
                </a:moveTo>
                <a:cubicBezTo>
                  <a:pt x="14552" y="124268"/>
                  <a:pt x="116152" y="49656"/>
                  <a:pt x="154252" y="75056"/>
                </a:cubicBezTo>
                <a:cubicBezTo>
                  <a:pt x="192352" y="100456"/>
                  <a:pt x="222515" y="216344"/>
                  <a:pt x="230452" y="265556"/>
                </a:cubicBezTo>
                <a:cubicBezTo>
                  <a:pt x="238389" y="314768"/>
                  <a:pt x="184414" y="343343"/>
                  <a:pt x="201877" y="370331"/>
                </a:cubicBezTo>
                <a:cubicBezTo>
                  <a:pt x="219340" y="397319"/>
                  <a:pt x="262202" y="465581"/>
                  <a:pt x="335227" y="427481"/>
                </a:cubicBezTo>
                <a:cubicBezTo>
                  <a:pt x="408252" y="389381"/>
                  <a:pt x="605102" y="195706"/>
                  <a:pt x="640027" y="141731"/>
                </a:cubicBezTo>
                <a:cubicBezTo>
                  <a:pt x="674952" y="87756"/>
                  <a:pt x="598752" y="68706"/>
                  <a:pt x="544777" y="103631"/>
                </a:cubicBezTo>
                <a:cubicBezTo>
                  <a:pt x="490802" y="138556"/>
                  <a:pt x="360627" y="310006"/>
                  <a:pt x="316177" y="351281"/>
                </a:cubicBezTo>
                <a:cubicBezTo>
                  <a:pt x="271727" y="392556"/>
                  <a:pt x="279665" y="375094"/>
                  <a:pt x="278077" y="351281"/>
                </a:cubicBezTo>
                <a:cubicBezTo>
                  <a:pt x="276489" y="327468"/>
                  <a:pt x="319352" y="262381"/>
                  <a:pt x="306652" y="208406"/>
                </a:cubicBezTo>
                <a:cubicBezTo>
                  <a:pt x="293952" y="154431"/>
                  <a:pt x="239977" y="60768"/>
                  <a:pt x="201877" y="27431"/>
                </a:cubicBezTo>
                <a:cubicBezTo>
                  <a:pt x="163777" y="-5906"/>
                  <a:pt x="111390" y="-4319"/>
                  <a:pt x="78052" y="8381"/>
                </a:cubicBezTo>
                <a:cubicBezTo>
                  <a:pt x="44715" y="21081"/>
                  <a:pt x="-10848" y="102044"/>
                  <a:pt x="1852" y="113156"/>
                </a:cubicBezTo>
                <a:close/>
              </a:path>
            </a:pathLst>
          </a:cu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62" name="Title 1"/>
          <p:cNvSpPr txBox="1">
            <a:spLocks/>
          </p:cNvSpPr>
          <p:nvPr/>
        </p:nvSpPr>
        <p:spPr>
          <a:xfrm>
            <a:off x="514021" y="188640"/>
            <a:ext cx="8393938" cy="562074"/>
          </a:xfrm>
          <a:prstGeom prst="rect">
            <a:avLst/>
          </a:prstGeom>
        </p:spPr>
        <p:txBody>
          <a:bodyPr>
            <a:normAutofit fontScale="82500" lnSpcReduction="2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Vesicle Fusion</a:t>
            </a:r>
          </a:p>
        </p:txBody>
      </p:sp>
      <p:sp>
        <p:nvSpPr>
          <p:cNvPr id="57" name="TextBox 56"/>
          <p:cNvSpPr txBox="1"/>
          <p:nvPr/>
        </p:nvSpPr>
        <p:spPr>
          <a:xfrm>
            <a:off x="3518073" y="1061417"/>
            <a:ext cx="205979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Active zone</a:t>
            </a:r>
            <a:endParaRPr lang="en-GB" sz="2400" dirty="0"/>
          </a:p>
        </p:txBody>
      </p:sp>
      <p:sp>
        <p:nvSpPr>
          <p:cNvPr id="61" name="TextBox 60"/>
          <p:cNvSpPr txBox="1"/>
          <p:nvPr/>
        </p:nvSpPr>
        <p:spPr>
          <a:xfrm>
            <a:off x="239752" y="6134633"/>
            <a:ext cx="8534689"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SNARE Proteins (Soluble NSF attachment protein receptors)</a:t>
            </a:r>
            <a:endParaRPr lang="en-GB" sz="2400" dirty="0"/>
          </a:p>
        </p:txBody>
      </p:sp>
      <p:sp>
        <p:nvSpPr>
          <p:cNvPr id="64" name="TextBox 63"/>
          <p:cNvSpPr txBox="1"/>
          <p:nvPr/>
        </p:nvSpPr>
        <p:spPr>
          <a:xfrm>
            <a:off x="6029903" y="599752"/>
            <a:ext cx="2059794"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err="1"/>
              <a:t>Synaptobrevin</a:t>
            </a:r>
            <a:endParaRPr lang="en-GB" sz="2400" dirty="0"/>
          </a:p>
        </p:txBody>
      </p:sp>
      <p:sp>
        <p:nvSpPr>
          <p:cNvPr id="65" name="Freeform 64"/>
          <p:cNvSpPr/>
          <p:nvPr/>
        </p:nvSpPr>
        <p:spPr>
          <a:xfrm>
            <a:off x="8275084" y="492540"/>
            <a:ext cx="384916" cy="751052"/>
          </a:xfrm>
          <a:custGeom>
            <a:avLst/>
            <a:gdLst>
              <a:gd name="connsiteX0" fmla="*/ 209592 w 308302"/>
              <a:gd name="connsiteY0" fmla="*/ 23025 h 602871"/>
              <a:gd name="connsiteX1" fmla="*/ 42 w 308302"/>
              <a:gd name="connsiteY1" fmla="*/ 289725 h 602871"/>
              <a:gd name="connsiteX2" fmla="*/ 190542 w 308302"/>
              <a:gd name="connsiteY2" fmla="*/ 423075 h 602871"/>
              <a:gd name="connsiteX3" fmla="*/ 104817 w 308302"/>
              <a:gd name="connsiteY3" fmla="*/ 594525 h 602871"/>
              <a:gd name="connsiteX4" fmla="*/ 219117 w 308302"/>
              <a:gd name="connsiteY4" fmla="*/ 556425 h 602871"/>
              <a:gd name="connsiteX5" fmla="*/ 276267 w 308302"/>
              <a:gd name="connsiteY5" fmla="*/ 384975 h 602871"/>
              <a:gd name="connsiteX6" fmla="*/ 76242 w 308302"/>
              <a:gd name="connsiteY6" fmla="*/ 280200 h 602871"/>
              <a:gd name="connsiteX7" fmla="*/ 304842 w 308302"/>
              <a:gd name="connsiteY7" fmla="*/ 42075 h 602871"/>
              <a:gd name="connsiteX8" fmla="*/ 209592 w 308302"/>
              <a:gd name="connsiteY8" fmla="*/ 23025 h 60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302" h="602871">
                <a:moveTo>
                  <a:pt x="209592" y="23025"/>
                </a:moveTo>
                <a:cubicBezTo>
                  <a:pt x="158792" y="64300"/>
                  <a:pt x="3217" y="223050"/>
                  <a:pt x="42" y="289725"/>
                </a:cubicBezTo>
                <a:cubicBezTo>
                  <a:pt x="-3133" y="356400"/>
                  <a:pt x="173080" y="372275"/>
                  <a:pt x="190542" y="423075"/>
                </a:cubicBezTo>
                <a:cubicBezTo>
                  <a:pt x="208004" y="473875"/>
                  <a:pt x="100054" y="572300"/>
                  <a:pt x="104817" y="594525"/>
                </a:cubicBezTo>
                <a:cubicBezTo>
                  <a:pt x="109579" y="616750"/>
                  <a:pt x="190542" y="591350"/>
                  <a:pt x="219117" y="556425"/>
                </a:cubicBezTo>
                <a:cubicBezTo>
                  <a:pt x="247692" y="521500"/>
                  <a:pt x="300080" y="431013"/>
                  <a:pt x="276267" y="384975"/>
                </a:cubicBezTo>
                <a:cubicBezTo>
                  <a:pt x="252455" y="338938"/>
                  <a:pt x="71479" y="337350"/>
                  <a:pt x="76242" y="280200"/>
                </a:cubicBezTo>
                <a:cubicBezTo>
                  <a:pt x="81004" y="223050"/>
                  <a:pt x="285792" y="83350"/>
                  <a:pt x="304842" y="42075"/>
                </a:cubicBezTo>
                <a:cubicBezTo>
                  <a:pt x="323892" y="800"/>
                  <a:pt x="260392" y="-18250"/>
                  <a:pt x="209592" y="23025"/>
                </a:cubicBezTo>
                <a:close/>
              </a:path>
            </a:pathLst>
          </a:cu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66" name="Freeform 65"/>
          <p:cNvSpPr/>
          <p:nvPr/>
        </p:nvSpPr>
        <p:spPr>
          <a:xfrm>
            <a:off x="8179322" y="2118390"/>
            <a:ext cx="594526" cy="812561"/>
          </a:xfrm>
          <a:custGeom>
            <a:avLst/>
            <a:gdLst>
              <a:gd name="connsiteX0" fmla="*/ 79362 w 476191"/>
              <a:gd name="connsiteY0" fmla="*/ 52169 h 652244"/>
              <a:gd name="connsiteX1" fmla="*/ 155562 w 476191"/>
              <a:gd name="connsiteY1" fmla="*/ 175994 h 652244"/>
              <a:gd name="connsiteX2" fmla="*/ 393687 w 476191"/>
              <a:gd name="connsiteY2" fmla="*/ 118844 h 652244"/>
              <a:gd name="connsiteX3" fmla="*/ 469887 w 476191"/>
              <a:gd name="connsiteY3" fmla="*/ 261719 h 652244"/>
              <a:gd name="connsiteX4" fmla="*/ 250812 w 476191"/>
              <a:gd name="connsiteY4" fmla="*/ 347444 h 652244"/>
              <a:gd name="connsiteX5" fmla="*/ 231762 w 476191"/>
              <a:gd name="connsiteY5" fmla="*/ 652244 h 652244"/>
              <a:gd name="connsiteX6" fmla="*/ 155562 w 476191"/>
              <a:gd name="connsiteY6" fmla="*/ 652244 h 652244"/>
              <a:gd name="connsiteX7" fmla="*/ 165087 w 476191"/>
              <a:gd name="connsiteY7" fmla="*/ 347444 h 652244"/>
              <a:gd name="connsiteX8" fmla="*/ 355587 w 476191"/>
              <a:gd name="connsiteY8" fmla="*/ 233144 h 652244"/>
              <a:gd name="connsiteX9" fmla="*/ 355587 w 476191"/>
              <a:gd name="connsiteY9" fmla="*/ 204569 h 652244"/>
              <a:gd name="connsiteX10" fmla="*/ 155562 w 476191"/>
              <a:gd name="connsiteY10" fmla="*/ 252194 h 652244"/>
              <a:gd name="connsiteX11" fmla="*/ 31737 w 476191"/>
              <a:gd name="connsiteY11" fmla="*/ 175994 h 652244"/>
              <a:gd name="connsiteX12" fmla="*/ 3162 w 476191"/>
              <a:gd name="connsiteY12" fmla="*/ 4544 h 652244"/>
              <a:gd name="connsiteX13" fmla="*/ 79362 w 476191"/>
              <a:gd name="connsiteY13" fmla="*/ 52169 h 65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191" h="652244">
                <a:moveTo>
                  <a:pt x="79362" y="52169"/>
                </a:moveTo>
                <a:cubicBezTo>
                  <a:pt x="104762" y="80744"/>
                  <a:pt x="103175" y="164882"/>
                  <a:pt x="155562" y="175994"/>
                </a:cubicBezTo>
                <a:cubicBezTo>
                  <a:pt x="207949" y="187106"/>
                  <a:pt x="341300" y="104557"/>
                  <a:pt x="393687" y="118844"/>
                </a:cubicBezTo>
                <a:cubicBezTo>
                  <a:pt x="446074" y="133131"/>
                  <a:pt x="493699" y="223619"/>
                  <a:pt x="469887" y="261719"/>
                </a:cubicBezTo>
                <a:cubicBezTo>
                  <a:pt x="446075" y="299819"/>
                  <a:pt x="290499" y="282357"/>
                  <a:pt x="250812" y="347444"/>
                </a:cubicBezTo>
                <a:cubicBezTo>
                  <a:pt x="211125" y="412531"/>
                  <a:pt x="247637" y="601444"/>
                  <a:pt x="231762" y="652244"/>
                </a:cubicBezTo>
                <a:cubicBezTo>
                  <a:pt x="215887" y="703044"/>
                  <a:pt x="166675" y="703044"/>
                  <a:pt x="155562" y="652244"/>
                </a:cubicBezTo>
                <a:cubicBezTo>
                  <a:pt x="144450" y="601444"/>
                  <a:pt x="131750" y="417294"/>
                  <a:pt x="165087" y="347444"/>
                </a:cubicBezTo>
                <a:cubicBezTo>
                  <a:pt x="198424" y="277594"/>
                  <a:pt x="323837" y="256956"/>
                  <a:pt x="355587" y="233144"/>
                </a:cubicBezTo>
                <a:cubicBezTo>
                  <a:pt x="387337" y="209332"/>
                  <a:pt x="388924" y="201394"/>
                  <a:pt x="355587" y="204569"/>
                </a:cubicBezTo>
                <a:cubicBezTo>
                  <a:pt x="322250" y="207744"/>
                  <a:pt x="209537" y="256957"/>
                  <a:pt x="155562" y="252194"/>
                </a:cubicBezTo>
                <a:cubicBezTo>
                  <a:pt x="101587" y="247431"/>
                  <a:pt x="57137" y="217269"/>
                  <a:pt x="31737" y="175994"/>
                </a:cubicBezTo>
                <a:cubicBezTo>
                  <a:pt x="6337" y="134719"/>
                  <a:pt x="-6363" y="22006"/>
                  <a:pt x="3162" y="4544"/>
                </a:cubicBezTo>
                <a:cubicBezTo>
                  <a:pt x="12687" y="-12919"/>
                  <a:pt x="53962" y="23594"/>
                  <a:pt x="79362" y="52169"/>
                </a:cubicBezTo>
                <a:close/>
              </a:path>
            </a:pathLst>
          </a:cu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67" name="Freeform 66"/>
          <p:cNvSpPr/>
          <p:nvPr/>
        </p:nvSpPr>
        <p:spPr>
          <a:xfrm>
            <a:off x="8062485" y="1352244"/>
            <a:ext cx="810113" cy="546628"/>
          </a:xfrm>
          <a:custGeom>
            <a:avLst/>
            <a:gdLst>
              <a:gd name="connsiteX0" fmla="*/ 1852 w 648867"/>
              <a:gd name="connsiteY0" fmla="*/ 113156 h 438779"/>
              <a:gd name="connsiteX1" fmla="*/ 154252 w 648867"/>
              <a:gd name="connsiteY1" fmla="*/ 75056 h 438779"/>
              <a:gd name="connsiteX2" fmla="*/ 230452 w 648867"/>
              <a:gd name="connsiteY2" fmla="*/ 265556 h 438779"/>
              <a:gd name="connsiteX3" fmla="*/ 201877 w 648867"/>
              <a:gd name="connsiteY3" fmla="*/ 370331 h 438779"/>
              <a:gd name="connsiteX4" fmla="*/ 335227 w 648867"/>
              <a:gd name="connsiteY4" fmla="*/ 427481 h 438779"/>
              <a:gd name="connsiteX5" fmla="*/ 640027 w 648867"/>
              <a:gd name="connsiteY5" fmla="*/ 141731 h 438779"/>
              <a:gd name="connsiteX6" fmla="*/ 544777 w 648867"/>
              <a:gd name="connsiteY6" fmla="*/ 103631 h 438779"/>
              <a:gd name="connsiteX7" fmla="*/ 316177 w 648867"/>
              <a:gd name="connsiteY7" fmla="*/ 351281 h 438779"/>
              <a:gd name="connsiteX8" fmla="*/ 278077 w 648867"/>
              <a:gd name="connsiteY8" fmla="*/ 351281 h 438779"/>
              <a:gd name="connsiteX9" fmla="*/ 306652 w 648867"/>
              <a:gd name="connsiteY9" fmla="*/ 208406 h 438779"/>
              <a:gd name="connsiteX10" fmla="*/ 201877 w 648867"/>
              <a:gd name="connsiteY10" fmla="*/ 27431 h 438779"/>
              <a:gd name="connsiteX11" fmla="*/ 78052 w 648867"/>
              <a:gd name="connsiteY11" fmla="*/ 8381 h 438779"/>
              <a:gd name="connsiteX12" fmla="*/ 1852 w 648867"/>
              <a:gd name="connsiteY12" fmla="*/ 113156 h 438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8867" h="438779">
                <a:moveTo>
                  <a:pt x="1852" y="113156"/>
                </a:moveTo>
                <a:cubicBezTo>
                  <a:pt x="14552" y="124268"/>
                  <a:pt x="116152" y="49656"/>
                  <a:pt x="154252" y="75056"/>
                </a:cubicBezTo>
                <a:cubicBezTo>
                  <a:pt x="192352" y="100456"/>
                  <a:pt x="222515" y="216344"/>
                  <a:pt x="230452" y="265556"/>
                </a:cubicBezTo>
                <a:cubicBezTo>
                  <a:pt x="238389" y="314768"/>
                  <a:pt x="184414" y="343343"/>
                  <a:pt x="201877" y="370331"/>
                </a:cubicBezTo>
                <a:cubicBezTo>
                  <a:pt x="219340" y="397319"/>
                  <a:pt x="262202" y="465581"/>
                  <a:pt x="335227" y="427481"/>
                </a:cubicBezTo>
                <a:cubicBezTo>
                  <a:pt x="408252" y="389381"/>
                  <a:pt x="605102" y="195706"/>
                  <a:pt x="640027" y="141731"/>
                </a:cubicBezTo>
                <a:cubicBezTo>
                  <a:pt x="674952" y="87756"/>
                  <a:pt x="598752" y="68706"/>
                  <a:pt x="544777" y="103631"/>
                </a:cubicBezTo>
                <a:cubicBezTo>
                  <a:pt x="490802" y="138556"/>
                  <a:pt x="360627" y="310006"/>
                  <a:pt x="316177" y="351281"/>
                </a:cubicBezTo>
                <a:cubicBezTo>
                  <a:pt x="271727" y="392556"/>
                  <a:pt x="279665" y="375094"/>
                  <a:pt x="278077" y="351281"/>
                </a:cubicBezTo>
                <a:cubicBezTo>
                  <a:pt x="276489" y="327468"/>
                  <a:pt x="319352" y="262381"/>
                  <a:pt x="306652" y="208406"/>
                </a:cubicBezTo>
                <a:cubicBezTo>
                  <a:pt x="293952" y="154431"/>
                  <a:pt x="239977" y="60768"/>
                  <a:pt x="201877" y="27431"/>
                </a:cubicBezTo>
                <a:cubicBezTo>
                  <a:pt x="163777" y="-5906"/>
                  <a:pt x="111390" y="-4319"/>
                  <a:pt x="78052" y="8381"/>
                </a:cubicBezTo>
                <a:cubicBezTo>
                  <a:pt x="44715" y="21081"/>
                  <a:pt x="-10848" y="102044"/>
                  <a:pt x="1852" y="113156"/>
                </a:cubicBezTo>
                <a:close/>
              </a:path>
            </a:pathLst>
          </a:cu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68" name="TextBox 67"/>
          <p:cNvSpPr txBox="1"/>
          <p:nvPr/>
        </p:nvSpPr>
        <p:spPr>
          <a:xfrm>
            <a:off x="6036137" y="1383159"/>
            <a:ext cx="1251622"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err="1"/>
              <a:t>Syntaxin</a:t>
            </a:r>
            <a:endParaRPr lang="en-GB" sz="2400" dirty="0"/>
          </a:p>
        </p:txBody>
      </p:sp>
      <p:sp>
        <p:nvSpPr>
          <p:cNvPr id="69" name="TextBox 68"/>
          <p:cNvSpPr txBox="1"/>
          <p:nvPr/>
        </p:nvSpPr>
        <p:spPr>
          <a:xfrm>
            <a:off x="6061314" y="2153750"/>
            <a:ext cx="1251622" cy="46166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t>SNAP25</a:t>
            </a:r>
            <a:endParaRPr lang="en-GB" sz="2400" dirty="0"/>
          </a:p>
        </p:txBody>
      </p:sp>
    </p:spTree>
    <p:extLst>
      <p:ext uri="{BB962C8B-B14F-4D97-AF65-F5344CB8AC3E}">
        <p14:creationId xmlns:p14="http://schemas.microsoft.com/office/powerpoint/2010/main" val="3539402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fade">
                                      <p:cBhvr>
                                        <p:cTn id="15" dur="500"/>
                                        <p:tgtEl>
                                          <p:spTgt spid="5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fade">
                                      <p:cBhvr>
                                        <p:cTn id="20" dur="500"/>
                                        <p:tgtEl>
                                          <p:spTgt spid="6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8"/>
                                        </p:tgtEl>
                                        <p:attrNameLst>
                                          <p:attrName>style.visibility</p:attrName>
                                        </p:attrNameLst>
                                      </p:cBhvr>
                                      <p:to>
                                        <p:strVal val="visible"/>
                                      </p:to>
                                    </p:set>
                                    <p:animEffect transition="in" filter="fade">
                                      <p:cBhvr>
                                        <p:cTn id="33" dur="500"/>
                                        <p:tgtEl>
                                          <p:spTgt spid="6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7"/>
                                        </p:tgtEl>
                                        <p:attrNameLst>
                                          <p:attrName>style.visibility</p:attrName>
                                        </p:attrNameLst>
                                      </p:cBhvr>
                                      <p:to>
                                        <p:strVal val="visible"/>
                                      </p:to>
                                    </p:set>
                                    <p:animEffect transition="in" filter="fade">
                                      <p:cBhvr>
                                        <p:cTn id="36" dur="500"/>
                                        <p:tgtEl>
                                          <p:spTgt spid="6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fade">
                                      <p:cBhvr>
                                        <p:cTn id="41" dur="500"/>
                                        <p:tgtEl>
                                          <p:spTgt spid="6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fade">
                                      <p:cBhvr>
                                        <p:cTn id="44" dur="500"/>
                                        <p:tgtEl>
                                          <p:spTgt spid="6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fade">
                                      <p:cBhvr>
                                        <p:cTn id="66" dur="500"/>
                                        <p:tgtEl>
                                          <p:spTgt spid="5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fade">
                                      <p:cBhvr>
                                        <p:cTn id="69" dur="500"/>
                                        <p:tgtEl>
                                          <p:spTgt spid="5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500"/>
                                        <p:tgtEl>
                                          <p:spTgt spid="6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fade">
                                      <p:cBhvr>
                                        <p:cTn id="7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53" grpId="0" animBg="1"/>
      <p:bldP spid="54" grpId="0" animBg="1"/>
      <p:bldP spid="55" grpId="0" animBg="1"/>
      <p:bldP spid="58" grpId="0" animBg="1"/>
      <p:bldP spid="59" grpId="0" animBg="1"/>
      <p:bldP spid="60" grpId="0" animBg="1"/>
      <p:bldP spid="57" grpId="0" animBg="1"/>
      <p:bldP spid="61" grpId="0" animBg="1"/>
      <p:bldP spid="64" grpId="0" animBg="1"/>
      <p:bldP spid="65" grpId="0" animBg="1"/>
      <p:bldP spid="66" grpId="0" animBg="1"/>
      <p:bldP spid="67" grpId="0" animBg="1"/>
      <p:bldP spid="68" grpId="0" animBg="1"/>
      <p:bldP spid="6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p:txBody>
          <a:bodyPr/>
          <a:lstStyle/>
          <a:p>
            <a:r>
              <a:rPr lang="en-FI"/>
              <a:t>Join the Vevox session  </a:t>
            </a:r>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TextBox 3">
            <a:extLst>
              <a:ext uri="{FF2B5EF4-FFF2-40B4-BE49-F238E27FC236}">
                <a16:creationId xmlns:a16="http://schemas.microsoft.com/office/drawing/2014/main" id="{96499025-3DA4-4F05-9E65-7F93E0831443}"/>
              </a:ext>
            </a:extLst>
          </p:cNvPr>
          <p:cNvSpPr txBox="1"/>
          <p:nvPr>
            <p:custDataLst>
              <p:tags r:id="rId4"/>
            </p:custDataLst>
          </p:nvPr>
        </p:nvSpPr>
        <p:spPr>
          <a:xfrm>
            <a:off x="628650" y="1798320"/>
            <a:ext cx="4711700" cy="4429760"/>
          </a:xfrm>
          <a:prstGeom prst="rect">
            <a:avLst/>
          </a:prstGeom>
          <a:noFill/>
        </p:spPr>
        <p:txBody>
          <a:bodyPr vertOverflow="overflow" vert="horz" wrap="square" rtlCol="0" anchor="t">
            <a:spAutoFit/>
          </a:bodyPr>
          <a:lstStyle/>
          <a:p>
            <a:pPr algn="l"/>
            <a:r>
              <a:rPr lang="en-GB" sz="3500"/>
              <a:t>Go to </a:t>
            </a:r>
            <a:r>
              <a:rPr lang="en-GB" sz="3500" b="1"/>
              <a:t>vevox.app</a:t>
            </a:r>
            <a:endParaRPr lang="en-GB" sz="3500"/>
          </a:p>
          <a:p>
            <a:pPr algn="l"/>
            <a:endParaRPr lang="en-GB" sz="3500"/>
          </a:p>
          <a:p>
            <a:pPr algn="l"/>
            <a:r>
              <a:rPr lang="en-GB" sz="3500"/>
              <a:t>Enter the session ID: </a:t>
            </a:r>
            <a:r>
              <a:rPr lang="en-GB" sz="3500" b="1"/>
              <a:t>149-856-345</a:t>
            </a:r>
            <a:endParaRPr lang="en-GB" sz="3500"/>
          </a:p>
          <a:p>
            <a:pPr algn="l"/>
            <a:endParaRPr lang="en-GB" sz="3500"/>
          </a:p>
          <a:p>
            <a:pPr algn="l"/>
            <a:r>
              <a:rPr lang="en-GB" sz="3500"/>
              <a:t>Or scan the QR code</a:t>
            </a:r>
          </a:p>
        </p:txBody>
      </p:sp>
      <p:pic>
        <p:nvPicPr>
          <p:cNvPr id="6" name="Picture 5" descr="QR code instruction to join https://vevox.app/#/m/149856345">
            <a:extLst>
              <a:ext uri="{FF2B5EF4-FFF2-40B4-BE49-F238E27FC236}">
                <a16:creationId xmlns:a16="http://schemas.microsoft.com/office/drawing/2014/main" id="{E49EFB62-9092-CB8F-B070-DD148D8A86F1}"/>
              </a:ext>
            </a:extLst>
          </p:cNvPr>
          <p:cNvPicPr>
            <a:picLocks/>
          </p:cNvPicPr>
          <p:nvPr>
            <p:custDataLst>
              <p:tags r:id="rId5"/>
            </p:custDataLst>
          </p:nvPr>
        </p:nvPicPr>
        <p:blipFill>
          <a:blip r:embed="rId7"/>
          <a:stretch>
            <a:fillRect/>
          </a:stretch>
        </p:blipFill>
        <p:spPr>
          <a:xfrm>
            <a:off x="5340350" y="1783079"/>
            <a:ext cx="3175000" cy="3175000"/>
          </a:xfrm>
          <a:prstGeom prst="rect">
            <a:avLst/>
          </a:prstGeom>
        </p:spPr>
      </p:pic>
    </p:spTree>
    <p:custDataLst>
      <p:tags r:id="rId1"/>
    </p:custDataLst>
    <p:extLst>
      <p:ext uri="{BB962C8B-B14F-4D97-AF65-F5344CB8AC3E}">
        <p14:creationId xmlns:p14="http://schemas.microsoft.com/office/powerpoint/2010/main" val="1836587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23BCB-36AB-CF8F-EEAD-0A991B27E71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D44B6A4-385E-A0EA-49C5-A67C9B2FFECB}"/>
              </a:ext>
            </a:extLst>
          </p:cNvPr>
          <p:cNvSpPr/>
          <p:nvPr/>
        </p:nvSpPr>
        <p:spPr>
          <a:xfrm>
            <a:off x="442721" y="843603"/>
            <a:ext cx="8510779" cy="5186676"/>
          </a:xfrm>
          <a:prstGeom prst="rect">
            <a:avLst/>
          </a:prstGeom>
        </p:spPr>
        <p:txBody>
          <a:bodyPr wrap="square">
            <a:spAutoFit/>
          </a:bodyPr>
          <a:lstStyle/>
          <a:p>
            <a:pPr marL="457200" indent="-457200">
              <a:lnSpc>
                <a:spcPct val="150000"/>
              </a:lnSpc>
              <a:buFont typeface="Arial" panose="020B0604020202020204" pitchFamily="34" charset="0"/>
              <a:buChar char="•"/>
            </a:pPr>
            <a:r>
              <a:rPr lang="en-US" sz="3200" dirty="0">
                <a:effectLst/>
              </a:rPr>
              <a:t>The basic structure of the synapse / NMJ and concept of a motor unit</a:t>
            </a:r>
          </a:p>
          <a:p>
            <a:pPr marL="457200" indent="-457200">
              <a:lnSpc>
                <a:spcPct val="150000"/>
              </a:lnSpc>
              <a:buFont typeface="Arial" panose="020B0604020202020204" pitchFamily="34" charset="0"/>
              <a:buChar char="•"/>
            </a:pPr>
            <a:r>
              <a:rPr lang="en-US" sz="3200" dirty="0">
                <a:effectLst/>
                <a:highlight>
                  <a:srgbClr val="FFFF00"/>
                </a:highlight>
              </a:rPr>
              <a:t>Events underlying chemical transmission &amp; fate of NTs</a:t>
            </a:r>
          </a:p>
          <a:p>
            <a:pPr marL="457200" indent="-457200">
              <a:lnSpc>
                <a:spcPct val="150000"/>
              </a:lnSpc>
              <a:buFont typeface="Arial" panose="020B0604020202020204" pitchFamily="34" charset="0"/>
              <a:buChar char="•"/>
            </a:pPr>
            <a:r>
              <a:rPr lang="en-US" sz="3200" dirty="0">
                <a:highlight>
                  <a:srgbClr val="FFFF00"/>
                </a:highlight>
              </a:rPr>
              <a:t>MEPP, EPP and quantal transmission</a:t>
            </a:r>
          </a:p>
          <a:p>
            <a:pPr marL="457200" indent="-457200">
              <a:lnSpc>
                <a:spcPct val="150000"/>
              </a:lnSpc>
              <a:buFont typeface="Arial" panose="020B0604020202020204" pitchFamily="34" charset="0"/>
              <a:buChar char="•"/>
            </a:pPr>
            <a:r>
              <a:rPr lang="en-US" sz="3200" dirty="0">
                <a:effectLst/>
                <a:highlight>
                  <a:srgbClr val="FFFF00"/>
                </a:highlight>
              </a:rPr>
              <a:t> </a:t>
            </a:r>
            <a:r>
              <a:rPr lang="en-GB" sz="3200" dirty="0">
                <a:highlight>
                  <a:srgbClr val="FFFF00"/>
                </a:highlight>
              </a:rPr>
              <a:t>Initiation of action potential &amp; contraction</a:t>
            </a:r>
          </a:p>
          <a:p>
            <a:pPr marL="457200" indent="-457200">
              <a:lnSpc>
                <a:spcPct val="150000"/>
              </a:lnSpc>
              <a:buFont typeface="Arial" panose="020B0604020202020204" pitchFamily="34" charset="0"/>
              <a:buChar char="•"/>
            </a:pPr>
            <a:r>
              <a:rPr lang="en-US" sz="3200" dirty="0"/>
              <a:t>Drugs and diseases that affect transmission</a:t>
            </a:r>
            <a:endParaRPr lang="en-GB" sz="3200" b="1" dirty="0"/>
          </a:p>
        </p:txBody>
      </p:sp>
      <p:sp>
        <p:nvSpPr>
          <p:cNvPr id="5" name="TextBox 4">
            <a:extLst>
              <a:ext uri="{FF2B5EF4-FFF2-40B4-BE49-F238E27FC236}">
                <a16:creationId xmlns:a16="http://schemas.microsoft.com/office/drawing/2014/main" id="{45F3206B-8925-5A9F-5032-274332E693F1}"/>
              </a:ext>
            </a:extLst>
          </p:cNvPr>
          <p:cNvSpPr txBox="1"/>
          <p:nvPr/>
        </p:nvSpPr>
        <p:spPr>
          <a:xfrm>
            <a:off x="1331640" y="197272"/>
            <a:ext cx="6480720" cy="646331"/>
          </a:xfrm>
          <a:prstGeom prst="rect">
            <a:avLst/>
          </a:prstGeom>
          <a:noFill/>
        </p:spPr>
        <p:txBody>
          <a:bodyPr wrap="square" rtlCol="0">
            <a:spAutoFit/>
          </a:bodyPr>
          <a:lstStyle/>
          <a:p>
            <a:pPr algn="ctr">
              <a:buNone/>
            </a:pPr>
            <a:r>
              <a:rPr lang="en-IN" sz="3600" b="1" dirty="0">
                <a:solidFill>
                  <a:srgbClr val="FF0000"/>
                </a:solidFill>
              </a:rPr>
              <a:t>You will be able to know</a:t>
            </a:r>
          </a:p>
        </p:txBody>
      </p:sp>
    </p:spTree>
    <p:extLst>
      <p:ext uri="{BB962C8B-B14F-4D97-AF65-F5344CB8AC3E}">
        <p14:creationId xmlns:p14="http://schemas.microsoft.com/office/powerpoint/2010/main" val="3439842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A190F4-DB1F-4C8A-BC1A-96CD171E06DB}"/>
              </a:ext>
            </a:extLst>
          </p:cNvPr>
          <p:cNvSpPr txBox="1"/>
          <p:nvPr/>
        </p:nvSpPr>
        <p:spPr>
          <a:xfrm>
            <a:off x="1763688" y="2505670"/>
            <a:ext cx="6192688" cy="923330"/>
          </a:xfrm>
          <a:prstGeom prst="rect">
            <a:avLst/>
          </a:prstGeom>
          <a:noFill/>
        </p:spPr>
        <p:txBody>
          <a:bodyPr wrap="square" rtlCol="0">
            <a:spAutoFit/>
          </a:bodyPr>
          <a:lstStyle/>
          <a:p>
            <a:r>
              <a:rPr lang="en-MY" sz="5400"/>
              <a:t>Post </a:t>
            </a:r>
            <a:r>
              <a:rPr lang="en-MY" sz="5400">
                <a:solidFill>
                  <a:srgbClr val="FF0000"/>
                </a:solidFill>
              </a:rPr>
              <a:t>Synaptic</a:t>
            </a:r>
            <a:r>
              <a:rPr lang="en-MY" sz="5400"/>
              <a:t> Events</a:t>
            </a:r>
          </a:p>
        </p:txBody>
      </p:sp>
    </p:spTree>
    <p:extLst>
      <p:ext uri="{BB962C8B-B14F-4D97-AF65-F5344CB8AC3E}">
        <p14:creationId xmlns:p14="http://schemas.microsoft.com/office/powerpoint/2010/main" val="3437648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(6) Ach molecules diffuse across the cleft in less than 1 millisecond</a:t>
            </a:r>
          </a:p>
        </p:txBody>
      </p:sp>
      <p:sp>
        <p:nvSpPr>
          <p:cNvPr id="19459" name="Freeform 3"/>
          <p:cNvSpPr>
            <a:spLocks/>
          </p:cNvSpPr>
          <p:nvPr/>
        </p:nvSpPr>
        <p:spPr bwMode="auto">
          <a:xfrm>
            <a:off x="2863850" y="1649413"/>
            <a:ext cx="2016125" cy="253523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19488" name="Group 32"/>
          <p:cNvGrpSpPr>
            <a:grpSpLocks/>
          </p:cNvGrpSpPr>
          <p:nvPr/>
        </p:nvGrpSpPr>
        <p:grpSpPr bwMode="auto">
          <a:xfrm>
            <a:off x="1828800" y="3130550"/>
            <a:ext cx="5302250" cy="3581400"/>
            <a:chOff x="1152" y="1972"/>
            <a:chExt cx="3340" cy="2256"/>
          </a:xfrm>
        </p:grpSpPr>
        <p:sp>
          <p:nvSpPr>
            <p:cNvPr id="19463" name="Oval 7"/>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64" name="Oval 8"/>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65" name="Freeform 9"/>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66" name="Oval 10"/>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67" name="Oval 11"/>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68" name="Oval 12"/>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69" name="Freeform 13"/>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0" name="Oval 14"/>
            <p:cNvSpPr>
              <a:spLocks noChangeArrowheads="1"/>
            </p:cNvSpPr>
            <p:nvPr/>
          </p:nvSpPr>
          <p:spPr bwMode="auto">
            <a:xfrm>
              <a:off x="2356" y="3268"/>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71" name="Freeform 15" descr="20%"/>
            <p:cNvSpPr>
              <a:spLocks/>
            </p:cNvSpPr>
            <p:nvPr/>
          </p:nvSpPr>
          <p:spPr bwMode="auto">
            <a:xfrm>
              <a:off x="1904" y="2832"/>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2" name="Freeform 16" descr="20%"/>
            <p:cNvSpPr>
              <a:spLocks/>
            </p:cNvSpPr>
            <p:nvPr/>
          </p:nvSpPr>
          <p:spPr bwMode="auto">
            <a:xfrm>
              <a:off x="2795" y="2900"/>
              <a:ext cx="211" cy="229"/>
            </a:xfrm>
            <a:custGeom>
              <a:avLst/>
              <a:gdLst>
                <a:gd name="T0" fmla="*/ 0 w 211"/>
                <a:gd name="T1" fmla="*/ 0 h 229"/>
                <a:gd name="T2" fmla="*/ 10 w 211"/>
                <a:gd name="T3" fmla="*/ 48 h 229"/>
                <a:gd name="T4" fmla="*/ 10 w 211"/>
                <a:gd name="T5" fmla="*/ 84 h 229"/>
                <a:gd name="T6" fmla="*/ 12 w 211"/>
                <a:gd name="T7" fmla="*/ 120 h 229"/>
                <a:gd name="T8" fmla="*/ 13 w 211"/>
                <a:gd name="T9" fmla="*/ 156 h 229"/>
                <a:gd name="T10" fmla="*/ 13 w 211"/>
                <a:gd name="T11" fmla="*/ 192 h 229"/>
                <a:gd name="T12" fmla="*/ 15 w 211"/>
                <a:gd name="T13" fmla="*/ 228 h 229"/>
                <a:gd name="T14" fmla="*/ 50 w 211"/>
                <a:gd name="T15" fmla="*/ 226 h 229"/>
                <a:gd name="T16" fmla="*/ 82 w 211"/>
                <a:gd name="T17" fmla="*/ 215 h 229"/>
                <a:gd name="T18" fmla="*/ 114 w 211"/>
                <a:gd name="T19" fmla="*/ 203 h 229"/>
                <a:gd name="T20" fmla="*/ 146 w 211"/>
                <a:gd name="T21" fmla="*/ 191 h 229"/>
                <a:gd name="T22" fmla="*/ 178 w 211"/>
                <a:gd name="T23" fmla="*/ 180 h 229"/>
                <a:gd name="T24" fmla="*/ 210 w 211"/>
                <a:gd name="T25" fmla="*/ 168 h 229"/>
                <a:gd name="T26" fmla="*/ 167 w 211"/>
                <a:gd name="T27" fmla="*/ 148 h 229"/>
                <a:gd name="T28" fmla="*/ 133 w 211"/>
                <a:gd name="T29" fmla="*/ 124 h 229"/>
                <a:gd name="T30" fmla="*/ 101 w 211"/>
                <a:gd name="T31" fmla="*/ 99 h 229"/>
                <a:gd name="T32" fmla="*/ 68 w 211"/>
                <a:gd name="T33" fmla="*/ 76 h 229"/>
                <a:gd name="T34" fmla="*/ 35 w 211"/>
                <a:gd name="T35" fmla="*/ 52 h 229"/>
                <a:gd name="T36" fmla="*/ 0 w 211"/>
                <a:gd name="T37"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1" h="229">
                  <a:moveTo>
                    <a:pt x="0" y="0"/>
                  </a:moveTo>
                  <a:lnTo>
                    <a:pt x="10" y="48"/>
                  </a:lnTo>
                  <a:lnTo>
                    <a:pt x="10" y="84"/>
                  </a:lnTo>
                  <a:lnTo>
                    <a:pt x="12" y="120"/>
                  </a:lnTo>
                  <a:lnTo>
                    <a:pt x="13" y="156"/>
                  </a:lnTo>
                  <a:lnTo>
                    <a:pt x="13" y="192"/>
                  </a:lnTo>
                  <a:lnTo>
                    <a:pt x="15" y="228"/>
                  </a:lnTo>
                  <a:lnTo>
                    <a:pt x="50" y="226"/>
                  </a:lnTo>
                  <a:lnTo>
                    <a:pt x="82" y="215"/>
                  </a:lnTo>
                  <a:lnTo>
                    <a:pt x="114" y="203"/>
                  </a:lnTo>
                  <a:lnTo>
                    <a:pt x="146" y="191"/>
                  </a:lnTo>
                  <a:lnTo>
                    <a:pt x="178" y="180"/>
                  </a:lnTo>
                  <a:lnTo>
                    <a:pt x="210" y="168"/>
                  </a:lnTo>
                  <a:lnTo>
                    <a:pt x="167" y="148"/>
                  </a:lnTo>
                  <a:lnTo>
                    <a:pt x="133" y="124"/>
                  </a:lnTo>
                  <a:lnTo>
                    <a:pt x="101" y="99"/>
                  </a:lnTo>
                  <a:lnTo>
                    <a:pt x="68" y="76"/>
                  </a:lnTo>
                  <a:lnTo>
                    <a:pt x="35" y="52"/>
                  </a:lnTo>
                  <a:lnTo>
                    <a:pt x="0"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3" name="Freeform 17" descr="20%"/>
            <p:cNvSpPr>
              <a:spLocks/>
            </p:cNvSpPr>
            <p:nvPr/>
          </p:nvSpPr>
          <p:spPr bwMode="auto">
            <a:xfrm>
              <a:off x="2192" y="3072"/>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4" name="Freeform 18" descr="20%"/>
            <p:cNvSpPr>
              <a:spLocks/>
            </p:cNvSpPr>
            <p:nvPr/>
          </p:nvSpPr>
          <p:spPr bwMode="auto">
            <a:xfrm>
              <a:off x="3008" y="2592"/>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5" name="Line 19"/>
            <p:cNvSpPr>
              <a:spLocks noChangeShapeType="1"/>
            </p:cNvSpPr>
            <p:nvPr/>
          </p:nvSpPr>
          <p:spPr bwMode="auto">
            <a:xfrm flipV="1">
              <a:off x="2407" y="3253"/>
              <a:ext cx="203" cy="2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6" name="Line 20"/>
            <p:cNvSpPr>
              <a:spLocks noChangeShapeType="1"/>
            </p:cNvSpPr>
            <p:nvPr/>
          </p:nvSpPr>
          <p:spPr bwMode="auto">
            <a:xfrm flipV="1">
              <a:off x="2610" y="3081"/>
              <a:ext cx="16" cy="172"/>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7" name="Line 21"/>
            <p:cNvSpPr>
              <a:spLocks noChangeShapeType="1"/>
            </p:cNvSpPr>
            <p:nvPr/>
          </p:nvSpPr>
          <p:spPr bwMode="auto">
            <a:xfrm>
              <a:off x="2626" y="3081"/>
              <a:ext cx="149" cy="12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78" name="Line 22"/>
            <p:cNvSpPr>
              <a:spLocks noChangeShapeType="1"/>
            </p:cNvSpPr>
            <p:nvPr/>
          </p:nvSpPr>
          <p:spPr bwMode="auto">
            <a:xfrm flipV="1">
              <a:off x="2775" y="3157"/>
              <a:ext cx="98" cy="45"/>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9485" name="Oval 29"/>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86" name="Oval 30"/>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487" name="Oval 31"/>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977717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(7) Ach molecules bind to receptors in the postsynaptic membrane</a:t>
            </a:r>
          </a:p>
        </p:txBody>
      </p:sp>
      <p:grpSp>
        <p:nvGrpSpPr>
          <p:cNvPr id="20512" name="Group 32"/>
          <p:cNvGrpSpPr>
            <a:grpSpLocks/>
          </p:cNvGrpSpPr>
          <p:nvPr/>
        </p:nvGrpSpPr>
        <p:grpSpPr bwMode="auto">
          <a:xfrm>
            <a:off x="1828800" y="1649413"/>
            <a:ext cx="5302250" cy="5062537"/>
            <a:chOff x="1152" y="1039"/>
            <a:chExt cx="3340" cy="3189"/>
          </a:xfrm>
        </p:grpSpPr>
        <p:sp>
          <p:nvSpPr>
            <p:cNvPr id="20483" name="Freeform 3"/>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84" name="Freeform 4"/>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87" name="Oval 7"/>
            <p:cNvSpPr>
              <a:spLocks noChangeArrowheads="1"/>
            </p:cNvSpPr>
            <p:nvPr/>
          </p:nvSpPr>
          <p:spPr bwMode="auto">
            <a:xfrm>
              <a:off x="2308" y="2500"/>
              <a:ext cx="136" cy="136"/>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88" name="Oval 8"/>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89" name="Oval 9"/>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0" name="Freeform 10"/>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91" name="Oval 11"/>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2" name="Oval 12"/>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3" name="Oval 13"/>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4" name="Oval 14"/>
            <p:cNvSpPr>
              <a:spLocks noChangeArrowheads="1"/>
            </p:cNvSpPr>
            <p:nvPr/>
          </p:nvSpPr>
          <p:spPr bwMode="auto">
            <a:xfrm>
              <a:off x="2356" y="3268"/>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495" name="Freeform 15" descr="20%"/>
            <p:cNvSpPr>
              <a:spLocks/>
            </p:cNvSpPr>
            <p:nvPr/>
          </p:nvSpPr>
          <p:spPr bwMode="auto">
            <a:xfrm>
              <a:off x="1808" y="2784"/>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96" name="Freeform 16" descr="20%"/>
            <p:cNvSpPr>
              <a:spLocks/>
            </p:cNvSpPr>
            <p:nvPr/>
          </p:nvSpPr>
          <p:spPr bwMode="auto">
            <a:xfrm rot="-1245942">
              <a:off x="2448" y="2928"/>
              <a:ext cx="264" cy="245"/>
            </a:xfrm>
            <a:custGeom>
              <a:avLst/>
              <a:gdLst>
                <a:gd name="T0" fmla="*/ 0 w 264"/>
                <a:gd name="T1" fmla="*/ 0 h 197"/>
                <a:gd name="T2" fmla="*/ 30 w 264"/>
                <a:gd name="T3" fmla="*/ 38 h 197"/>
                <a:gd name="T4" fmla="*/ 47 w 264"/>
                <a:gd name="T5" fmla="*/ 70 h 197"/>
                <a:gd name="T6" fmla="*/ 65 w 264"/>
                <a:gd name="T7" fmla="*/ 102 h 197"/>
                <a:gd name="T8" fmla="*/ 82 w 264"/>
                <a:gd name="T9" fmla="*/ 133 h 197"/>
                <a:gd name="T10" fmla="*/ 98 w 264"/>
                <a:gd name="T11" fmla="*/ 165 h 197"/>
                <a:gd name="T12" fmla="*/ 117 w 264"/>
                <a:gd name="T13" fmla="*/ 196 h 197"/>
                <a:gd name="T14" fmla="*/ 147 w 264"/>
                <a:gd name="T15" fmla="*/ 179 h 197"/>
                <a:gd name="T16" fmla="*/ 170 w 264"/>
                <a:gd name="T17" fmla="*/ 154 h 197"/>
                <a:gd name="T18" fmla="*/ 193 w 264"/>
                <a:gd name="T19" fmla="*/ 129 h 197"/>
                <a:gd name="T20" fmla="*/ 216 w 264"/>
                <a:gd name="T21" fmla="*/ 104 h 197"/>
                <a:gd name="T22" fmla="*/ 240 w 264"/>
                <a:gd name="T23" fmla="*/ 80 h 197"/>
                <a:gd name="T24" fmla="*/ 263 w 264"/>
                <a:gd name="T25" fmla="*/ 54 h 197"/>
                <a:gd name="T26" fmla="*/ 216 w 264"/>
                <a:gd name="T27" fmla="*/ 56 h 197"/>
                <a:gd name="T28" fmla="*/ 174 w 264"/>
                <a:gd name="T29" fmla="*/ 50 h 197"/>
                <a:gd name="T30" fmla="*/ 135 w 264"/>
                <a:gd name="T31" fmla="*/ 42 h 197"/>
                <a:gd name="T32" fmla="*/ 95 w 264"/>
                <a:gd name="T33" fmla="*/ 37 h 197"/>
                <a:gd name="T34" fmla="*/ 54 w 264"/>
                <a:gd name="T35" fmla="*/ 31 h 197"/>
                <a:gd name="T36" fmla="*/ 0 w 264"/>
                <a:gd name="T37"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4" h="197">
                  <a:moveTo>
                    <a:pt x="0" y="0"/>
                  </a:moveTo>
                  <a:lnTo>
                    <a:pt x="30" y="38"/>
                  </a:lnTo>
                  <a:lnTo>
                    <a:pt x="47" y="70"/>
                  </a:lnTo>
                  <a:lnTo>
                    <a:pt x="65" y="102"/>
                  </a:lnTo>
                  <a:lnTo>
                    <a:pt x="82" y="133"/>
                  </a:lnTo>
                  <a:lnTo>
                    <a:pt x="98" y="165"/>
                  </a:lnTo>
                  <a:lnTo>
                    <a:pt x="117" y="196"/>
                  </a:lnTo>
                  <a:lnTo>
                    <a:pt x="147" y="179"/>
                  </a:lnTo>
                  <a:lnTo>
                    <a:pt x="170" y="154"/>
                  </a:lnTo>
                  <a:lnTo>
                    <a:pt x="193" y="129"/>
                  </a:lnTo>
                  <a:lnTo>
                    <a:pt x="216" y="104"/>
                  </a:lnTo>
                  <a:lnTo>
                    <a:pt x="240" y="80"/>
                  </a:lnTo>
                  <a:lnTo>
                    <a:pt x="263" y="54"/>
                  </a:lnTo>
                  <a:lnTo>
                    <a:pt x="216" y="56"/>
                  </a:lnTo>
                  <a:lnTo>
                    <a:pt x="174" y="50"/>
                  </a:lnTo>
                  <a:lnTo>
                    <a:pt x="135" y="42"/>
                  </a:lnTo>
                  <a:lnTo>
                    <a:pt x="95" y="37"/>
                  </a:lnTo>
                  <a:lnTo>
                    <a:pt x="54" y="31"/>
                  </a:lnTo>
                  <a:lnTo>
                    <a:pt x="0"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97" name="Freeform 17" descr="20%"/>
            <p:cNvSpPr>
              <a:spLocks/>
            </p:cNvSpPr>
            <p:nvPr/>
          </p:nvSpPr>
          <p:spPr bwMode="auto">
            <a:xfrm>
              <a:off x="2144" y="2784"/>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98" name="Freeform 18" descr="20%"/>
            <p:cNvSpPr>
              <a:spLocks/>
            </p:cNvSpPr>
            <p:nvPr/>
          </p:nvSpPr>
          <p:spPr bwMode="auto">
            <a:xfrm>
              <a:off x="3008" y="249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499" name="Line 19"/>
            <p:cNvSpPr>
              <a:spLocks noChangeShapeType="1"/>
            </p:cNvSpPr>
            <p:nvPr/>
          </p:nvSpPr>
          <p:spPr bwMode="auto">
            <a:xfrm flipV="1">
              <a:off x="2425" y="3105"/>
              <a:ext cx="110" cy="17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500" name="Line 20"/>
            <p:cNvSpPr>
              <a:spLocks noChangeShapeType="1"/>
            </p:cNvSpPr>
            <p:nvPr/>
          </p:nvSpPr>
          <p:spPr bwMode="auto">
            <a:xfrm flipH="1" flipV="1">
              <a:off x="2412" y="2984"/>
              <a:ext cx="123" cy="12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501" name="Line 21"/>
            <p:cNvSpPr>
              <a:spLocks noChangeShapeType="1"/>
            </p:cNvSpPr>
            <p:nvPr/>
          </p:nvSpPr>
          <p:spPr bwMode="auto">
            <a:xfrm flipV="1">
              <a:off x="2412" y="2944"/>
              <a:ext cx="188" cy="4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502" name="Line 22"/>
            <p:cNvSpPr>
              <a:spLocks noChangeShapeType="1"/>
            </p:cNvSpPr>
            <p:nvPr/>
          </p:nvSpPr>
          <p:spPr bwMode="auto">
            <a:xfrm flipV="1">
              <a:off x="2600" y="2840"/>
              <a:ext cx="26" cy="10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0509" name="Oval 29"/>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10" name="Oval 30"/>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511" name="Oval 31"/>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227094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5"/>
          <p:cNvSpPr txBox="1">
            <a:spLocks noChangeArrowheads="1"/>
          </p:cNvSpPr>
          <p:nvPr/>
        </p:nvSpPr>
        <p:spPr bwMode="auto">
          <a:xfrm>
            <a:off x="685800" y="838200"/>
            <a:ext cx="81534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Tx/>
              <a:buAutoNum type="arabicPeriod"/>
            </a:pPr>
            <a:r>
              <a:rPr lang="en-US" sz="2800" dirty="0">
                <a:latin typeface="Baskerville Old Face" pitchFamily="18" charset="0"/>
              </a:rPr>
              <a:t>Nicotinic receptor</a:t>
            </a:r>
          </a:p>
          <a:p>
            <a:pPr eaLnBrk="1" hangingPunct="1">
              <a:spcBef>
                <a:spcPct val="50000"/>
              </a:spcBef>
              <a:buFontTx/>
              <a:buAutoNum type="arabicPeriod"/>
            </a:pPr>
            <a:r>
              <a:rPr lang="en-US" sz="2800" dirty="0">
                <a:latin typeface="Baskerville Old Face" pitchFamily="18" charset="0"/>
              </a:rPr>
              <a:t>Inner lining is negatively charged</a:t>
            </a:r>
          </a:p>
          <a:p>
            <a:pPr eaLnBrk="1" hangingPunct="1">
              <a:spcBef>
                <a:spcPct val="50000"/>
              </a:spcBef>
              <a:buFontTx/>
              <a:buAutoNum type="arabicPeriod"/>
            </a:pPr>
            <a:r>
              <a:rPr lang="en-US" sz="2800" dirty="0">
                <a:latin typeface="Baskerville Old Face" pitchFamily="18" charset="0"/>
              </a:rPr>
              <a:t>Two alpha subunits are occupied by Ach molecules</a:t>
            </a:r>
          </a:p>
        </p:txBody>
      </p:sp>
      <p:sp>
        <p:nvSpPr>
          <p:cNvPr id="2" name="TextBox 1"/>
          <p:cNvSpPr txBox="1"/>
          <p:nvPr/>
        </p:nvSpPr>
        <p:spPr>
          <a:xfrm>
            <a:off x="3200400" y="182563"/>
            <a:ext cx="2744788" cy="585787"/>
          </a:xfrm>
          <a:prstGeom prst="rect">
            <a:avLst/>
          </a:prstGeom>
        </p:spPr>
        <p:style>
          <a:lnRef idx="1">
            <a:schemeClr val="accent2"/>
          </a:lnRef>
          <a:fillRef idx="2">
            <a:schemeClr val="accent2"/>
          </a:fillRef>
          <a:effectRef idx="1">
            <a:schemeClr val="accent2"/>
          </a:effectRef>
          <a:fontRef idx="minor">
            <a:schemeClr val="dk1"/>
          </a:fontRef>
        </p:style>
        <p:txBody>
          <a:bodyPr>
            <a:spAutoFit/>
          </a:bodyPr>
          <a:lstStyle/>
          <a:p>
            <a:pPr algn="ctr">
              <a:defRPr/>
            </a:pPr>
            <a:r>
              <a:rPr lang="en-US" sz="3200" dirty="0">
                <a:effectLst>
                  <a:outerShdw blurRad="38100" dist="38100" dir="2700000" algn="tl">
                    <a:srgbClr val="000000">
                      <a:alpha val="43137"/>
                    </a:srgbClr>
                  </a:outerShdw>
                </a:effectLst>
              </a:rPr>
              <a:t>Ach Receptor</a:t>
            </a:r>
            <a:endParaRPr lang="en-GB" sz="3200" dirty="0">
              <a:effectLst>
                <a:outerShdw blurRad="38100" dist="38100" dir="2700000" algn="tl">
                  <a:srgbClr val="000000">
                    <a:alpha val="43137"/>
                  </a:srgbClr>
                </a:outerShdw>
              </a:effectLst>
            </a:endParaRPr>
          </a:p>
        </p:txBody>
      </p:sp>
      <p:pic>
        <p:nvPicPr>
          <p:cNvPr id="819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509" y="3068959"/>
            <a:ext cx="4242839" cy="347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CAF8FFF6-2CFA-46B6-8593-C25BA52199B0}"/>
              </a:ext>
            </a:extLst>
          </p:cNvPr>
          <p:cNvSpPr txBox="1"/>
          <p:nvPr/>
        </p:nvSpPr>
        <p:spPr>
          <a:xfrm>
            <a:off x="4901161" y="4450140"/>
            <a:ext cx="3938039" cy="2000548"/>
          </a:xfrm>
          <a:prstGeom prst="rect">
            <a:avLst/>
          </a:prstGeom>
          <a:noFill/>
        </p:spPr>
        <p:txBody>
          <a:bodyPr wrap="square">
            <a:spAutoFit/>
          </a:bodyPr>
          <a:lstStyle/>
          <a:p>
            <a:pPr algn="ctr"/>
            <a:r>
              <a:rPr lang="en-GB" sz="2400" b="1" i="0" dirty="0">
                <a:solidFill>
                  <a:srgbClr val="FF0000"/>
                </a:solidFill>
                <a:effectLst/>
                <a:latin typeface="Arial" panose="020B0604020202020204" pitchFamily="34" charset="0"/>
                <a:cs typeface="Arial" panose="020B0604020202020204" pitchFamily="34" charset="0"/>
              </a:rPr>
              <a:t>Note</a:t>
            </a:r>
            <a:r>
              <a:rPr lang="en-GB" sz="2400" b="1" i="0" dirty="0">
                <a:solidFill>
                  <a:srgbClr val="0F1115"/>
                </a:solidFill>
                <a:effectLst/>
                <a:latin typeface="Arial" panose="020B0604020202020204" pitchFamily="34" charset="0"/>
                <a:cs typeface="Arial" panose="020B0604020202020204" pitchFamily="34" charset="0"/>
              </a:rPr>
              <a:t>: </a:t>
            </a:r>
          </a:p>
          <a:p>
            <a:r>
              <a:rPr lang="en-GB" sz="2000" b="1" i="0" dirty="0">
                <a:solidFill>
                  <a:srgbClr val="0F1115"/>
                </a:solidFill>
                <a:effectLst/>
                <a:latin typeface="Arial" panose="020B0604020202020204" pitchFamily="34" charset="0"/>
                <a:cs typeface="Arial" panose="020B0604020202020204" pitchFamily="34" charset="0"/>
              </a:rPr>
              <a:t>ligand-gated ion channel</a:t>
            </a:r>
            <a:r>
              <a:rPr lang="en-GB" sz="2000" b="0" i="0" dirty="0">
                <a:solidFill>
                  <a:srgbClr val="0F1115"/>
                </a:solidFill>
                <a:effectLst/>
                <a:latin typeface="Arial" panose="020B0604020202020204" pitchFamily="34" charset="0"/>
                <a:cs typeface="Arial" panose="020B0604020202020204" pitchFamily="34" charset="0"/>
              </a:rPr>
              <a:t> that is </a:t>
            </a:r>
            <a:r>
              <a:rPr lang="en-GB" sz="2000" b="1" i="0" dirty="0">
                <a:solidFill>
                  <a:srgbClr val="0F1115"/>
                </a:solidFill>
                <a:effectLst/>
                <a:latin typeface="Arial" panose="020B0604020202020204" pitchFamily="34" charset="0"/>
                <a:cs typeface="Arial" panose="020B0604020202020204" pitchFamily="34" charset="0"/>
              </a:rPr>
              <a:t>ionotropic </a:t>
            </a:r>
            <a:r>
              <a:rPr lang="en-GB" sz="2000" b="0" i="0" dirty="0">
                <a:solidFill>
                  <a:srgbClr val="0F1115"/>
                </a:solidFill>
                <a:effectLst/>
                <a:latin typeface="Arial" panose="020B0604020202020204" pitchFamily="34" charset="0"/>
                <a:cs typeface="Arial" panose="020B0604020202020204" pitchFamily="34" charset="0"/>
              </a:rPr>
              <a:t>(as opposed to metabotropic, which acts via G-proteins </a:t>
            </a:r>
            <a:r>
              <a:rPr lang="en-GB" dirty="0"/>
              <a:t>→</a:t>
            </a:r>
            <a:r>
              <a:rPr lang="en-GB" sz="2000" b="0" i="0" dirty="0">
                <a:solidFill>
                  <a:srgbClr val="0F1115"/>
                </a:solidFill>
                <a:effectLst/>
                <a:latin typeface="Arial" panose="020B0604020202020204" pitchFamily="34" charset="0"/>
                <a:cs typeface="Arial" panose="020B0604020202020204" pitchFamily="34" charset="0"/>
              </a:rPr>
              <a:t> </a:t>
            </a:r>
            <a:r>
              <a:rPr lang="en-GB" sz="2000" dirty="0">
                <a:latin typeface="Arial" panose="020B0604020202020204" pitchFamily="34" charset="0"/>
                <a:cs typeface="Arial" panose="020B0604020202020204" pitchFamily="34" charset="0"/>
              </a:rPr>
              <a:t>downstream </a:t>
            </a:r>
            <a:r>
              <a:rPr lang="en-GB" sz="2000" dirty="0" err="1">
                <a:latin typeface="Arial" panose="020B0604020202020204" pitchFamily="34" charset="0"/>
                <a:cs typeface="Arial" panose="020B0604020202020204" pitchFamily="34" charset="0"/>
              </a:rPr>
              <a:t>signaling</a:t>
            </a:r>
            <a:r>
              <a:rPr lang="en-GB" sz="2000" dirty="0">
                <a:latin typeface="Arial" panose="020B0604020202020204" pitchFamily="34" charset="0"/>
                <a:cs typeface="Arial" panose="020B0604020202020204" pitchFamily="34" charset="0"/>
              </a:rPr>
              <a:t> cascades</a:t>
            </a:r>
            <a:r>
              <a:rPr lang="en-GB" sz="2000" b="0" i="0" dirty="0">
                <a:solidFill>
                  <a:srgbClr val="0F1115"/>
                </a:solidFill>
                <a:effectLst/>
                <a:latin typeface="Arial" panose="020B0604020202020204" pitchFamily="34" charset="0"/>
                <a:cs typeface="Arial" panose="020B0604020202020204" pitchFamily="34" charset="0"/>
              </a:rPr>
              <a:t>).</a:t>
            </a:r>
            <a:endParaRPr lang="en-GB"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14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(8) The binding of Ach to the receptor causes ion channels to open</a:t>
            </a:r>
          </a:p>
        </p:txBody>
      </p:sp>
      <p:grpSp>
        <p:nvGrpSpPr>
          <p:cNvPr id="21530" name="Group 26"/>
          <p:cNvGrpSpPr>
            <a:grpSpLocks/>
          </p:cNvGrpSpPr>
          <p:nvPr/>
        </p:nvGrpSpPr>
        <p:grpSpPr bwMode="auto">
          <a:xfrm>
            <a:off x="1828800" y="1649413"/>
            <a:ext cx="5302250" cy="5062537"/>
            <a:chOff x="1152" y="1039"/>
            <a:chExt cx="3340" cy="3189"/>
          </a:xfrm>
        </p:grpSpPr>
        <p:sp>
          <p:nvSpPr>
            <p:cNvPr id="21507" name="Freeform 3"/>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08" name="Oval 4"/>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09" name="Oval 5"/>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0" name="Oval 6"/>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1" name="Oval 7"/>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2" name="Oval 8"/>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3" name="Freeform 9"/>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4" name="Oval 10"/>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5" name="Oval 11"/>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6" name="Oval 12"/>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517" name="Freeform 13"/>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8" name="Freeform 14" descr="20%"/>
            <p:cNvSpPr>
              <a:spLocks/>
            </p:cNvSpPr>
            <p:nvPr/>
          </p:nvSpPr>
          <p:spPr bwMode="auto">
            <a:xfrm>
              <a:off x="1808" y="288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19" name="Freeform 15" descr="20%"/>
            <p:cNvSpPr>
              <a:spLocks/>
            </p:cNvSpPr>
            <p:nvPr/>
          </p:nvSpPr>
          <p:spPr bwMode="auto">
            <a:xfrm rot="-1314530">
              <a:off x="2256" y="2880"/>
              <a:ext cx="288" cy="288"/>
            </a:xfrm>
            <a:custGeom>
              <a:avLst/>
              <a:gdLst>
                <a:gd name="T0" fmla="*/ 0 w 246"/>
                <a:gd name="T1" fmla="*/ 111 h 202"/>
                <a:gd name="T2" fmla="*/ 47 w 246"/>
                <a:gd name="T3" fmla="*/ 124 h 202"/>
                <a:gd name="T4" fmla="*/ 80 w 246"/>
                <a:gd name="T5" fmla="*/ 140 h 202"/>
                <a:gd name="T6" fmla="*/ 113 w 246"/>
                <a:gd name="T7" fmla="*/ 155 h 202"/>
                <a:gd name="T8" fmla="*/ 145 w 246"/>
                <a:gd name="T9" fmla="*/ 170 h 202"/>
                <a:gd name="T10" fmla="*/ 177 w 246"/>
                <a:gd name="T11" fmla="*/ 187 h 202"/>
                <a:gd name="T12" fmla="*/ 210 w 246"/>
                <a:gd name="T13" fmla="*/ 201 h 202"/>
                <a:gd name="T14" fmla="*/ 225 w 246"/>
                <a:gd name="T15" fmla="*/ 169 h 202"/>
                <a:gd name="T16" fmla="*/ 228 w 246"/>
                <a:gd name="T17" fmla="*/ 135 h 202"/>
                <a:gd name="T18" fmla="*/ 232 w 246"/>
                <a:gd name="T19" fmla="*/ 102 h 202"/>
                <a:gd name="T20" fmla="*/ 236 w 246"/>
                <a:gd name="T21" fmla="*/ 68 h 202"/>
                <a:gd name="T22" fmla="*/ 242 w 246"/>
                <a:gd name="T23" fmla="*/ 34 h 202"/>
                <a:gd name="T24" fmla="*/ 245 w 246"/>
                <a:gd name="T25" fmla="*/ 0 h 202"/>
                <a:gd name="T26" fmla="*/ 208 w 246"/>
                <a:gd name="T27" fmla="*/ 29 h 202"/>
                <a:gd name="T28" fmla="*/ 171 w 246"/>
                <a:gd name="T29" fmla="*/ 49 h 202"/>
                <a:gd name="T30" fmla="*/ 134 w 246"/>
                <a:gd name="T31" fmla="*/ 65 h 202"/>
                <a:gd name="T32" fmla="*/ 99 w 246"/>
                <a:gd name="T33" fmla="*/ 85 h 202"/>
                <a:gd name="T34" fmla="*/ 62 w 246"/>
                <a:gd name="T35" fmla="*/ 104 h 202"/>
                <a:gd name="T36" fmla="*/ 0 w 246"/>
                <a:gd name="T37" fmla="*/ 11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02">
                  <a:moveTo>
                    <a:pt x="0" y="111"/>
                  </a:moveTo>
                  <a:lnTo>
                    <a:pt x="47" y="124"/>
                  </a:lnTo>
                  <a:lnTo>
                    <a:pt x="80" y="140"/>
                  </a:lnTo>
                  <a:lnTo>
                    <a:pt x="113" y="155"/>
                  </a:lnTo>
                  <a:lnTo>
                    <a:pt x="145" y="170"/>
                  </a:lnTo>
                  <a:lnTo>
                    <a:pt x="177" y="187"/>
                  </a:lnTo>
                  <a:lnTo>
                    <a:pt x="210" y="201"/>
                  </a:lnTo>
                  <a:lnTo>
                    <a:pt x="225" y="169"/>
                  </a:lnTo>
                  <a:lnTo>
                    <a:pt x="228" y="135"/>
                  </a:lnTo>
                  <a:lnTo>
                    <a:pt x="232" y="102"/>
                  </a:lnTo>
                  <a:lnTo>
                    <a:pt x="236" y="68"/>
                  </a:lnTo>
                  <a:lnTo>
                    <a:pt x="242" y="34"/>
                  </a:lnTo>
                  <a:lnTo>
                    <a:pt x="245" y="0"/>
                  </a:lnTo>
                  <a:lnTo>
                    <a:pt x="208" y="29"/>
                  </a:lnTo>
                  <a:lnTo>
                    <a:pt x="171" y="49"/>
                  </a:lnTo>
                  <a:lnTo>
                    <a:pt x="134" y="65"/>
                  </a:lnTo>
                  <a:lnTo>
                    <a:pt x="99" y="85"/>
                  </a:lnTo>
                  <a:lnTo>
                    <a:pt x="62" y="104"/>
                  </a:lnTo>
                  <a:lnTo>
                    <a:pt x="0" y="111"/>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0" name="Freeform 16" descr="20%"/>
            <p:cNvSpPr>
              <a:spLocks/>
            </p:cNvSpPr>
            <p:nvPr/>
          </p:nvSpPr>
          <p:spPr bwMode="auto">
            <a:xfrm>
              <a:off x="3008" y="249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1" name="Line 17"/>
            <p:cNvSpPr>
              <a:spLocks noChangeShapeType="1"/>
            </p:cNvSpPr>
            <p:nvPr/>
          </p:nvSpPr>
          <p:spPr bwMode="auto">
            <a:xfrm flipV="1">
              <a:off x="2403" y="3139"/>
              <a:ext cx="9" cy="2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2" name="Line 18"/>
            <p:cNvSpPr>
              <a:spLocks noChangeShapeType="1"/>
            </p:cNvSpPr>
            <p:nvPr/>
          </p:nvSpPr>
          <p:spPr bwMode="auto">
            <a:xfrm flipH="1" flipV="1">
              <a:off x="2245" y="3095"/>
              <a:ext cx="167" cy="4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3" name="Line 19"/>
            <p:cNvSpPr>
              <a:spLocks noChangeShapeType="1"/>
            </p:cNvSpPr>
            <p:nvPr/>
          </p:nvSpPr>
          <p:spPr bwMode="auto">
            <a:xfrm flipV="1">
              <a:off x="2245" y="2967"/>
              <a:ext cx="143" cy="12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4" name="Line 20"/>
            <p:cNvSpPr>
              <a:spLocks noChangeShapeType="1"/>
            </p:cNvSpPr>
            <p:nvPr/>
          </p:nvSpPr>
          <p:spPr bwMode="auto">
            <a:xfrm flipH="1" flipV="1">
              <a:off x="2359" y="2864"/>
              <a:ext cx="29" cy="1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6" name="Line 22"/>
            <p:cNvSpPr>
              <a:spLocks noChangeShapeType="1"/>
            </p:cNvSpPr>
            <p:nvPr/>
          </p:nvSpPr>
          <p:spPr bwMode="auto">
            <a:xfrm>
              <a:off x="2400"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7" name="Line 23"/>
            <p:cNvSpPr>
              <a:spLocks noChangeShapeType="1"/>
            </p:cNvSpPr>
            <p:nvPr/>
          </p:nvSpPr>
          <p:spPr bwMode="auto">
            <a:xfrm>
              <a:off x="2496"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1528" name="Freeform 24" descr="20%"/>
            <p:cNvSpPr>
              <a:spLocks/>
            </p:cNvSpPr>
            <p:nvPr/>
          </p:nvSpPr>
          <p:spPr bwMode="auto">
            <a:xfrm>
              <a:off x="1952" y="264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3498621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62000" y="152400"/>
            <a:ext cx="7772400" cy="1371600"/>
          </a:xfrm>
          <a:noFill/>
          <a:ln/>
        </p:spPr>
        <p:txBody>
          <a:bodyPr/>
          <a:lstStyle/>
          <a:p>
            <a:pPr algn="l"/>
            <a:r>
              <a:rPr lang="en-GB" sz="3200" b="1">
                <a:solidFill>
                  <a:schemeClr val="hlink"/>
                </a:solidFill>
                <a:latin typeface="Arial Rounded MT Bold" pitchFamily="34" charset="0"/>
              </a:rPr>
              <a:t>The ion channel is called a ligand-gated Na+ channel </a:t>
            </a:r>
          </a:p>
        </p:txBody>
      </p:sp>
      <p:grpSp>
        <p:nvGrpSpPr>
          <p:cNvPr id="35843" name="Group 3"/>
          <p:cNvGrpSpPr>
            <a:grpSpLocks/>
          </p:cNvGrpSpPr>
          <p:nvPr/>
        </p:nvGrpSpPr>
        <p:grpSpPr bwMode="auto">
          <a:xfrm>
            <a:off x="1828800" y="1649413"/>
            <a:ext cx="5302250" cy="5062537"/>
            <a:chOff x="1152" y="1039"/>
            <a:chExt cx="3340" cy="3189"/>
          </a:xfrm>
        </p:grpSpPr>
        <p:sp>
          <p:nvSpPr>
            <p:cNvPr id="35844" name="Freeform 4"/>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45" name="Oval 5"/>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46" name="Oval 6"/>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47" name="Oval 7"/>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48" name="Oval 8"/>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49" name="Oval 9"/>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50" name="Freeform 10"/>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51" name="Oval 11"/>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52" name="Oval 12"/>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53" name="Oval 13"/>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5854" name="Freeform 14"/>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55" name="Freeform 15" descr="20%"/>
            <p:cNvSpPr>
              <a:spLocks/>
            </p:cNvSpPr>
            <p:nvPr/>
          </p:nvSpPr>
          <p:spPr bwMode="auto">
            <a:xfrm>
              <a:off x="1808" y="288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56" name="Freeform 16" descr="20%"/>
            <p:cNvSpPr>
              <a:spLocks/>
            </p:cNvSpPr>
            <p:nvPr/>
          </p:nvSpPr>
          <p:spPr bwMode="auto">
            <a:xfrm rot="-1314530">
              <a:off x="2256" y="2880"/>
              <a:ext cx="288" cy="288"/>
            </a:xfrm>
            <a:custGeom>
              <a:avLst/>
              <a:gdLst>
                <a:gd name="T0" fmla="*/ 0 w 246"/>
                <a:gd name="T1" fmla="*/ 111 h 202"/>
                <a:gd name="T2" fmla="*/ 47 w 246"/>
                <a:gd name="T3" fmla="*/ 124 h 202"/>
                <a:gd name="T4" fmla="*/ 80 w 246"/>
                <a:gd name="T5" fmla="*/ 140 h 202"/>
                <a:gd name="T6" fmla="*/ 113 w 246"/>
                <a:gd name="T7" fmla="*/ 155 h 202"/>
                <a:gd name="T8" fmla="*/ 145 w 246"/>
                <a:gd name="T9" fmla="*/ 170 h 202"/>
                <a:gd name="T10" fmla="*/ 177 w 246"/>
                <a:gd name="T11" fmla="*/ 187 h 202"/>
                <a:gd name="T12" fmla="*/ 210 w 246"/>
                <a:gd name="T13" fmla="*/ 201 h 202"/>
                <a:gd name="T14" fmla="*/ 225 w 246"/>
                <a:gd name="T15" fmla="*/ 169 h 202"/>
                <a:gd name="T16" fmla="*/ 228 w 246"/>
                <a:gd name="T17" fmla="*/ 135 h 202"/>
                <a:gd name="T18" fmla="*/ 232 w 246"/>
                <a:gd name="T19" fmla="*/ 102 h 202"/>
                <a:gd name="T20" fmla="*/ 236 w 246"/>
                <a:gd name="T21" fmla="*/ 68 h 202"/>
                <a:gd name="T22" fmla="*/ 242 w 246"/>
                <a:gd name="T23" fmla="*/ 34 h 202"/>
                <a:gd name="T24" fmla="*/ 245 w 246"/>
                <a:gd name="T25" fmla="*/ 0 h 202"/>
                <a:gd name="T26" fmla="*/ 208 w 246"/>
                <a:gd name="T27" fmla="*/ 29 h 202"/>
                <a:gd name="T28" fmla="*/ 171 w 246"/>
                <a:gd name="T29" fmla="*/ 49 h 202"/>
                <a:gd name="T30" fmla="*/ 134 w 246"/>
                <a:gd name="T31" fmla="*/ 65 h 202"/>
                <a:gd name="T32" fmla="*/ 99 w 246"/>
                <a:gd name="T33" fmla="*/ 85 h 202"/>
                <a:gd name="T34" fmla="*/ 62 w 246"/>
                <a:gd name="T35" fmla="*/ 104 h 202"/>
                <a:gd name="T36" fmla="*/ 0 w 246"/>
                <a:gd name="T37" fmla="*/ 11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02">
                  <a:moveTo>
                    <a:pt x="0" y="111"/>
                  </a:moveTo>
                  <a:lnTo>
                    <a:pt x="47" y="124"/>
                  </a:lnTo>
                  <a:lnTo>
                    <a:pt x="80" y="140"/>
                  </a:lnTo>
                  <a:lnTo>
                    <a:pt x="113" y="155"/>
                  </a:lnTo>
                  <a:lnTo>
                    <a:pt x="145" y="170"/>
                  </a:lnTo>
                  <a:lnTo>
                    <a:pt x="177" y="187"/>
                  </a:lnTo>
                  <a:lnTo>
                    <a:pt x="210" y="201"/>
                  </a:lnTo>
                  <a:lnTo>
                    <a:pt x="225" y="169"/>
                  </a:lnTo>
                  <a:lnTo>
                    <a:pt x="228" y="135"/>
                  </a:lnTo>
                  <a:lnTo>
                    <a:pt x="232" y="102"/>
                  </a:lnTo>
                  <a:lnTo>
                    <a:pt x="236" y="68"/>
                  </a:lnTo>
                  <a:lnTo>
                    <a:pt x="242" y="34"/>
                  </a:lnTo>
                  <a:lnTo>
                    <a:pt x="245" y="0"/>
                  </a:lnTo>
                  <a:lnTo>
                    <a:pt x="208" y="29"/>
                  </a:lnTo>
                  <a:lnTo>
                    <a:pt x="171" y="49"/>
                  </a:lnTo>
                  <a:lnTo>
                    <a:pt x="134" y="65"/>
                  </a:lnTo>
                  <a:lnTo>
                    <a:pt x="99" y="85"/>
                  </a:lnTo>
                  <a:lnTo>
                    <a:pt x="62" y="104"/>
                  </a:lnTo>
                  <a:lnTo>
                    <a:pt x="0" y="111"/>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57" name="Freeform 17" descr="20%"/>
            <p:cNvSpPr>
              <a:spLocks/>
            </p:cNvSpPr>
            <p:nvPr/>
          </p:nvSpPr>
          <p:spPr bwMode="auto">
            <a:xfrm>
              <a:off x="3008" y="249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58" name="Line 18"/>
            <p:cNvSpPr>
              <a:spLocks noChangeShapeType="1"/>
            </p:cNvSpPr>
            <p:nvPr/>
          </p:nvSpPr>
          <p:spPr bwMode="auto">
            <a:xfrm flipV="1">
              <a:off x="2403" y="3139"/>
              <a:ext cx="9" cy="2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59" name="Line 19"/>
            <p:cNvSpPr>
              <a:spLocks noChangeShapeType="1"/>
            </p:cNvSpPr>
            <p:nvPr/>
          </p:nvSpPr>
          <p:spPr bwMode="auto">
            <a:xfrm flipH="1" flipV="1">
              <a:off x="2245" y="3095"/>
              <a:ext cx="167" cy="4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60" name="Line 20"/>
            <p:cNvSpPr>
              <a:spLocks noChangeShapeType="1"/>
            </p:cNvSpPr>
            <p:nvPr/>
          </p:nvSpPr>
          <p:spPr bwMode="auto">
            <a:xfrm flipV="1">
              <a:off x="2245" y="2967"/>
              <a:ext cx="143" cy="12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61" name="Line 21"/>
            <p:cNvSpPr>
              <a:spLocks noChangeShapeType="1"/>
            </p:cNvSpPr>
            <p:nvPr/>
          </p:nvSpPr>
          <p:spPr bwMode="auto">
            <a:xfrm flipH="1" flipV="1">
              <a:off x="2359" y="2864"/>
              <a:ext cx="29" cy="1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62" name="Line 22"/>
            <p:cNvSpPr>
              <a:spLocks noChangeShapeType="1"/>
            </p:cNvSpPr>
            <p:nvPr/>
          </p:nvSpPr>
          <p:spPr bwMode="auto">
            <a:xfrm>
              <a:off x="2400"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63" name="Line 23"/>
            <p:cNvSpPr>
              <a:spLocks noChangeShapeType="1"/>
            </p:cNvSpPr>
            <p:nvPr/>
          </p:nvSpPr>
          <p:spPr bwMode="auto">
            <a:xfrm>
              <a:off x="2496"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5864" name="Freeform 24" descr="20%"/>
            <p:cNvSpPr>
              <a:spLocks/>
            </p:cNvSpPr>
            <p:nvPr/>
          </p:nvSpPr>
          <p:spPr bwMode="auto">
            <a:xfrm>
              <a:off x="1952" y="264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1935869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762000" y="152400"/>
            <a:ext cx="7772400" cy="1371600"/>
          </a:xfrm>
          <a:noFill/>
          <a:ln/>
        </p:spPr>
        <p:txBody>
          <a:bodyPr/>
          <a:lstStyle/>
          <a:p>
            <a:pPr algn="l"/>
            <a:r>
              <a:rPr lang="en-GB" sz="3200" b="1">
                <a:solidFill>
                  <a:schemeClr val="hlink"/>
                </a:solidFill>
                <a:latin typeface="Arial Rounded MT Bold" pitchFamily="34" charset="0"/>
              </a:rPr>
              <a:t>What happens when this new Na+ channel opens up?</a:t>
            </a:r>
          </a:p>
        </p:txBody>
      </p:sp>
      <p:grpSp>
        <p:nvGrpSpPr>
          <p:cNvPr id="36867" name="Group 3"/>
          <p:cNvGrpSpPr>
            <a:grpSpLocks/>
          </p:cNvGrpSpPr>
          <p:nvPr/>
        </p:nvGrpSpPr>
        <p:grpSpPr bwMode="auto">
          <a:xfrm>
            <a:off x="1828800" y="1649413"/>
            <a:ext cx="5302250" cy="5062537"/>
            <a:chOff x="1152" y="1039"/>
            <a:chExt cx="3340" cy="3189"/>
          </a:xfrm>
        </p:grpSpPr>
        <p:sp>
          <p:nvSpPr>
            <p:cNvPr id="36868" name="Freeform 4"/>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69" name="Oval 5"/>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0" name="Oval 6"/>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1" name="Oval 7"/>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2" name="Oval 8"/>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3" name="Oval 9"/>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4" name="Freeform 10"/>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75" name="Oval 11"/>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6" name="Oval 12"/>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7" name="Oval 13"/>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6878" name="Freeform 14"/>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79" name="Freeform 15" descr="20%"/>
            <p:cNvSpPr>
              <a:spLocks/>
            </p:cNvSpPr>
            <p:nvPr/>
          </p:nvSpPr>
          <p:spPr bwMode="auto">
            <a:xfrm>
              <a:off x="1808" y="288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0" name="Freeform 16" descr="20%"/>
            <p:cNvSpPr>
              <a:spLocks/>
            </p:cNvSpPr>
            <p:nvPr/>
          </p:nvSpPr>
          <p:spPr bwMode="auto">
            <a:xfrm rot="-1314530">
              <a:off x="2256" y="2880"/>
              <a:ext cx="288" cy="288"/>
            </a:xfrm>
            <a:custGeom>
              <a:avLst/>
              <a:gdLst>
                <a:gd name="T0" fmla="*/ 0 w 246"/>
                <a:gd name="T1" fmla="*/ 111 h 202"/>
                <a:gd name="T2" fmla="*/ 47 w 246"/>
                <a:gd name="T3" fmla="*/ 124 h 202"/>
                <a:gd name="T4" fmla="*/ 80 w 246"/>
                <a:gd name="T5" fmla="*/ 140 h 202"/>
                <a:gd name="T6" fmla="*/ 113 w 246"/>
                <a:gd name="T7" fmla="*/ 155 h 202"/>
                <a:gd name="T8" fmla="*/ 145 w 246"/>
                <a:gd name="T9" fmla="*/ 170 h 202"/>
                <a:gd name="T10" fmla="*/ 177 w 246"/>
                <a:gd name="T11" fmla="*/ 187 h 202"/>
                <a:gd name="T12" fmla="*/ 210 w 246"/>
                <a:gd name="T13" fmla="*/ 201 h 202"/>
                <a:gd name="T14" fmla="*/ 225 w 246"/>
                <a:gd name="T15" fmla="*/ 169 h 202"/>
                <a:gd name="T16" fmla="*/ 228 w 246"/>
                <a:gd name="T17" fmla="*/ 135 h 202"/>
                <a:gd name="T18" fmla="*/ 232 w 246"/>
                <a:gd name="T19" fmla="*/ 102 h 202"/>
                <a:gd name="T20" fmla="*/ 236 w 246"/>
                <a:gd name="T21" fmla="*/ 68 h 202"/>
                <a:gd name="T22" fmla="*/ 242 w 246"/>
                <a:gd name="T23" fmla="*/ 34 h 202"/>
                <a:gd name="T24" fmla="*/ 245 w 246"/>
                <a:gd name="T25" fmla="*/ 0 h 202"/>
                <a:gd name="T26" fmla="*/ 208 w 246"/>
                <a:gd name="T27" fmla="*/ 29 h 202"/>
                <a:gd name="T28" fmla="*/ 171 w 246"/>
                <a:gd name="T29" fmla="*/ 49 h 202"/>
                <a:gd name="T30" fmla="*/ 134 w 246"/>
                <a:gd name="T31" fmla="*/ 65 h 202"/>
                <a:gd name="T32" fmla="*/ 99 w 246"/>
                <a:gd name="T33" fmla="*/ 85 h 202"/>
                <a:gd name="T34" fmla="*/ 62 w 246"/>
                <a:gd name="T35" fmla="*/ 104 h 202"/>
                <a:gd name="T36" fmla="*/ 0 w 246"/>
                <a:gd name="T37" fmla="*/ 11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02">
                  <a:moveTo>
                    <a:pt x="0" y="111"/>
                  </a:moveTo>
                  <a:lnTo>
                    <a:pt x="47" y="124"/>
                  </a:lnTo>
                  <a:lnTo>
                    <a:pt x="80" y="140"/>
                  </a:lnTo>
                  <a:lnTo>
                    <a:pt x="113" y="155"/>
                  </a:lnTo>
                  <a:lnTo>
                    <a:pt x="145" y="170"/>
                  </a:lnTo>
                  <a:lnTo>
                    <a:pt x="177" y="187"/>
                  </a:lnTo>
                  <a:lnTo>
                    <a:pt x="210" y="201"/>
                  </a:lnTo>
                  <a:lnTo>
                    <a:pt x="225" y="169"/>
                  </a:lnTo>
                  <a:lnTo>
                    <a:pt x="228" y="135"/>
                  </a:lnTo>
                  <a:lnTo>
                    <a:pt x="232" y="102"/>
                  </a:lnTo>
                  <a:lnTo>
                    <a:pt x="236" y="68"/>
                  </a:lnTo>
                  <a:lnTo>
                    <a:pt x="242" y="34"/>
                  </a:lnTo>
                  <a:lnTo>
                    <a:pt x="245" y="0"/>
                  </a:lnTo>
                  <a:lnTo>
                    <a:pt x="208" y="29"/>
                  </a:lnTo>
                  <a:lnTo>
                    <a:pt x="171" y="49"/>
                  </a:lnTo>
                  <a:lnTo>
                    <a:pt x="134" y="65"/>
                  </a:lnTo>
                  <a:lnTo>
                    <a:pt x="99" y="85"/>
                  </a:lnTo>
                  <a:lnTo>
                    <a:pt x="62" y="104"/>
                  </a:lnTo>
                  <a:lnTo>
                    <a:pt x="0" y="111"/>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1" name="Freeform 17" descr="20%"/>
            <p:cNvSpPr>
              <a:spLocks/>
            </p:cNvSpPr>
            <p:nvPr/>
          </p:nvSpPr>
          <p:spPr bwMode="auto">
            <a:xfrm>
              <a:off x="3008" y="249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2" name="Line 18"/>
            <p:cNvSpPr>
              <a:spLocks noChangeShapeType="1"/>
            </p:cNvSpPr>
            <p:nvPr/>
          </p:nvSpPr>
          <p:spPr bwMode="auto">
            <a:xfrm flipV="1">
              <a:off x="2403" y="3139"/>
              <a:ext cx="9" cy="2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3" name="Line 19"/>
            <p:cNvSpPr>
              <a:spLocks noChangeShapeType="1"/>
            </p:cNvSpPr>
            <p:nvPr/>
          </p:nvSpPr>
          <p:spPr bwMode="auto">
            <a:xfrm flipH="1" flipV="1">
              <a:off x="2245" y="3095"/>
              <a:ext cx="167" cy="4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4" name="Line 20"/>
            <p:cNvSpPr>
              <a:spLocks noChangeShapeType="1"/>
            </p:cNvSpPr>
            <p:nvPr/>
          </p:nvSpPr>
          <p:spPr bwMode="auto">
            <a:xfrm flipV="1">
              <a:off x="2245" y="2967"/>
              <a:ext cx="143" cy="12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5" name="Line 21"/>
            <p:cNvSpPr>
              <a:spLocks noChangeShapeType="1"/>
            </p:cNvSpPr>
            <p:nvPr/>
          </p:nvSpPr>
          <p:spPr bwMode="auto">
            <a:xfrm flipH="1" flipV="1">
              <a:off x="2359" y="2864"/>
              <a:ext cx="29" cy="1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6" name="Line 22"/>
            <p:cNvSpPr>
              <a:spLocks noChangeShapeType="1"/>
            </p:cNvSpPr>
            <p:nvPr/>
          </p:nvSpPr>
          <p:spPr bwMode="auto">
            <a:xfrm>
              <a:off x="2400"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7" name="Line 23"/>
            <p:cNvSpPr>
              <a:spLocks noChangeShapeType="1"/>
            </p:cNvSpPr>
            <p:nvPr/>
          </p:nvSpPr>
          <p:spPr bwMode="auto">
            <a:xfrm>
              <a:off x="2496"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6888" name="Freeform 24" descr="20%"/>
            <p:cNvSpPr>
              <a:spLocks/>
            </p:cNvSpPr>
            <p:nvPr/>
          </p:nvSpPr>
          <p:spPr bwMode="auto">
            <a:xfrm>
              <a:off x="1952" y="264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36894" name="Group 30"/>
          <p:cNvGrpSpPr>
            <a:grpSpLocks/>
          </p:cNvGrpSpPr>
          <p:nvPr/>
        </p:nvGrpSpPr>
        <p:grpSpPr bwMode="auto">
          <a:xfrm>
            <a:off x="3429000" y="3154363"/>
            <a:ext cx="2641600" cy="3262312"/>
            <a:chOff x="2160" y="1987"/>
            <a:chExt cx="1664" cy="2055"/>
          </a:xfrm>
        </p:grpSpPr>
        <p:sp>
          <p:nvSpPr>
            <p:cNvPr id="36889" name="Rectangle 25"/>
            <p:cNvSpPr>
              <a:spLocks noChangeArrowheads="1"/>
            </p:cNvSpPr>
            <p:nvPr/>
          </p:nvSpPr>
          <p:spPr bwMode="auto">
            <a:xfrm>
              <a:off x="3398" y="1987"/>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36890" name="Rectangle 26"/>
            <p:cNvSpPr>
              <a:spLocks noChangeArrowheads="1"/>
            </p:cNvSpPr>
            <p:nvPr/>
          </p:nvSpPr>
          <p:spPr bwMode="auto">
            <a:xfrm>
              <a:off x="3302" y="2659"/>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36891" name="Rectangle 27"/>
            <p:cNvSpPr>
              <a:spLocks noChangeArrowheads="1"/>
            </p:cNvSpPr>
            <p:nvPr/>
          </p:nvSpPr>
          <p:spPr bwMode="auto">
            <a:xfrm>
              <a:off x="2544" y="2976"/>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36892" name="Rectangle 28"/>
            <p:cNvSpPr>
              <a:spLocks noChangeArrowheads="1"/>
            </p:cNvSpPr>
            <p:nvPr/>
          </p:nvSpPr>
          <p:spPr bwMode="auto">
            <a:xfrm>
              <a:off x="3206" y="2371"/>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36893" name="Rectangle 29"/>
            <p:cNvSpPr>
              <a:spLocks noChangeArrowheads="1"/>
            </p:cNvSpPr>
            <p:nvPr/>
          </p:nvSpPr>
          <p:spPr bwMode="auto">
            <a:xfrm>
              <a:off x="2160" y="37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eaLnBrk="0" hangingPunct="0"/>
              <a:r>
                <a:rPr lang="en-GB" sz="2000">
                  <a:solidFill>
                    <a:schemeClr val="folHlink"/>
                  </a:solidFill>
                </a:rPr>
                <a:t>Na+</a:t>
              </a:r>
            </a:p>
          </p:txBody>
        </p:sp>
      </p:grpSp>
    </p:spTree>
    <p:extLst>
      <p:ext uri="{BB962C8B-B14F-4D97-AF65-F5344CB8AC3E}">
        <p14:creationId xmlns:p14="http://schemas.microsoft.com/office/powerpoint/2010/main" val="715024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(9) Na+ ions rush </a:t>
            </a:r>
            <a:r>
              <a:rPr lang="en-GB" sz="3200" b="1" u="sng">
                <a:solidFill>
                  <a:schemeClr val="hlink"/>
                </a:solidFill>
                <a:latin typeface="Arial Rounded MT Bold" pitchFamily="34" charset="0"/>
              </a:rPr>
              <a:t>into </a:t>
            </a:r>
            <a:r>
              <a:rPr lang="en-GB" sz="3200" b="1">
                <a:solidFill>
                  <a:schemeClr val="hlink"/>
                </a:solidFill>
                <a:latin typeface="Arial Rounded MT Bold" pitchFamily="34" charset="0"/>
              </a:rPr>
              <a:t>the postsynaptic cell (the muscle endplate)</a:t>
            </a:r>
          </a:p>
        </p:txBody>
      </p:sp>
      <p:sp>
        <p:nvSpPr>
          <p:cNvPr id="24607" name="Rectangle 31"/>
          <p:cNvSpPr>
            <a:spLocks noChangeArrowheads="1"/>
          </p:cNvSpPr>
          <p:nvPr/>
        </p:nvSpPr>
        <p:spPr bwMode="auto">
          <a:xfrm>
            <a:off x="6232525" y="1766888"/>
            <a:ext cx="2606675"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eaLnBrk="0" hangingPunct="0"/>
            <a:r>
              <a:rPr lang="en-GB">
                <a:solidFill>
                  <a:schemeClr val="hlink"/>
                </a:solidFill>
              </a:rPr>
              <a:t>!</a:t>
            </a:r>
            <a:r>
              <a:rPr lang="en-GB"/>
              <a:t> but K+ also flow through this channel</a:t>
            </a:r>
          </a:p>
        </p:txBody>
      </p:sp>
      <p:grpSp>
        <p:nvGrpSpPr>
          <p:cNvPr id="24608" name="Group 32"/>
          <p:cNvGrpSpPr>
            <a:grpSpLocks/>
          </p:cNvGrpSpPr>
          <p:nvPr/>
        </p:nvGrpSpPr>
        <p:grpSpPr bwMode="auto">
          <a:xfrm>
            <a:off x="1828800" y="1643063"/>
            <a:ext cx="5302250" cy="5062537"/>
            <a:chOff x="1152" y="1039"/>
            <a:chExt cx="3340" cy="3189"/>
          </a:xfrm>
        </p:grpSpPr>
        <p:sp>
          <p:nvSpPr>
            <p:cNvPr id="24609" name="Freeform 33"/>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10" name="Oval 34"/>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1" name="Oval 35"/>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2" name="Oval 36"/>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3" name="Oval 37"/>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4" name="Oval 38"/>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5" name="Freeform 39"/>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16" name="Oval 40"/>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7" name="Oval 41"/>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8" name="Oval 42"/>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619" name="Freeform 43"/>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0" name="Freeform 44" descr="20%"/>
            <p:cNvSpPr>
              <a:spLocks/>
            </p:cNvSpPr>
            <p:nvPr/>
          </p:nvSpPr>
          <p:spPr bwMode="auto">
            <a:xfrm>
              <a:off x="1808" y="288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1" name="Freeform 45" descr="20%"/>
            <p:cNvSpPr>
              <a:spLocks/>
            </p:cNvSpPr>
            <p:nvPr/>
          </p:nvSpPr>
          <p:spPr bwMode="auto">
            <a:xfrm rot="-1314530">
              <a:off x="2256" y="2880"/>
              <a:ext cx="288" cy="288"/>
            </a:xfrm>
            <a:custGeom>
              <a:avLst/>
              <a:gdLst>
                <a:gd name="T0" fmla="*/ 0 w 246"/>
                <a:gd name="T1" fmla="*/ 111 h 202"/>
                <a:gd name="T2" fmla="*/ 47 w 246"/>
                <a:gd name="T3" fmla="*/ 124 h 202"/>
                <a:gd name="T4" fmla="*/ 80 w 246"/>
                <a:gd name="T5" fmla="*/ 140 h 202"/>
                <a:gd name="T6" fmla="*/ 113 w 246"/>
                <a:gd name="T7" fmla="*/ 155 h 202"/>
                <a:gd name="T8" fmla="*/ 145 w 246"/>
                <a:gd name="T9" fmla="*/ 170 h 202"/>
                <a:gd name="T10" fmla="*/ 177 w 246"/>
                <a:gd name="T11" fmla="*/ 187 h 202"/>
                <a:gd name="T12" fmla="*/ 210 w 246"/>
                <a:gd name="T13" fmla="*/ 201 h 202"/>
                <a:gd name="T14" fmla="*/ 225 w 246"/>
                <a:gd name="T15" fmla="*/ 169 h 202"/>
                <a:gd name="T16" fmla="*/ 228 w 246"/>
                <a:gd name="T17" fmla="*/ 135 h 202"/>
                <a:gd name="T18" fmla="*/ 232 w 246"/>
                <a:gd name="T19" fmla="*/ 102 h 202"/>
                <a:gd name="T20" fmla="*/ 236 w 246"/>
                <a:gd name="T21" fmla="*/ 68 h 202"/>
                <a:gd name="T22" fmla="*/ 242 w 246"/>
                <a:gd name="T23" fmla="*/ 34 h 202"/>
                <a:gd name="T24" fmla="*/ 245 w 246"/>
                <a:gd name="T25" fmla="*/ 0 h 202"/>
                <a:gd name="T26" fmla="*/ 208 w 246"/>
                <a:gd name="T27" fmla="*/ 29 h 202"/>
                <a:gd name="T28" fmla="*/ 171 w 246"/>
                <a:gd name="T29" fmla="*/ 49 h 202"/>
                <a:gd name="T30" fmla="*/ 134 w 246"/>
                <a:gd name="T31" fmla="*/ 65 h 202"/>
                <a:gd name="T32" fmla="*/ 99 w 246"/>
                <a:gd name="T33" fmla="*/ 85 h 202"/>
                <a:gd name="T34" fmla="*/ 62 w 246"/>
                <a:gd name="T35" fmla="*/ 104 h 202"/>
                <a:gd name="T36" fmla="*/ 0 w 246"/>
                <a:gd name="T37" fmla="*/ 11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02">
                  <a:moveTo>
                    <a:pt x="0" y="111"/>
                  </a:moveTo>
                  <a:lnTo>
                    <a:pt x="47" y="124"/>
                  </a:lnTo>
                  <a:lnTo>
                    <a:pt x="80" y="140"/>
                  </a:lnTo>
                  <a:lnTo>
                    <a:pt x="113" y="155"/>
                  </a:lnTo>
                  <a:lnTo>
                    <a:pt x="145" y="170"/>
                  </a:lnTo>
                  <a:lnTo>
                    <a:pt x="177" y="187"/>
                  </a:lnTo>
                  <a:lnTo>
                    <a:pt x="210" y="201"/>
                  </a:lnTo>
                  <a:lnTo>
                    <a:pt x="225" y="169"/>
                  </a:lnTo>
                  <a:lnTo>
                    <a:pt x="228" y="135"/>
                  </a:lnTo>
                  <a:lnTo>
                    <a:pt x="232" y="102"/>
                  </a:lnTo>
                  <a:lnTo>
                    <a:pt x="236" y="68"/>
                  </a:lnTo>
                  <a:lnTo>
                    <a:pt x="242" y="34"/>
                  </a:lnTo>
                  <a:lnTo>
                    <a:pt x="245" y="0"/>
                  </a:lnTo>
                  <a:lnTo>
                    <a:pt x="208" y="29"/>
                  </a:lnTo>
                  <a:lnTo>
                    <a:pt x="171" y="49"/>
                  </a:lnTo>
                  <a:lnTo>
                    <a:pt x="134" y="65"/>
                  </a:lnTo>
                  <a:lnTo>
                    <a:pt x="99" y="85"/>
                  </a:lnTo>
                  <a:lnTo>
                    <a:pt x="62" y="104"/>
                  </a:lnTo>
                  <a:lnTo>
                    <a:pt x="0" y="111"/>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2" name="Freeform 46" descr="20%"/>
            <p:cNvSpPr>
              <a:spLocks/>
            </p:cNvSpPr>
            <p:nvPr/>
          </p:nvSpPr>
          <p:spPr bwMode="auto">
            <a:xfrm>
              <a:off x="3008" y="249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3" name="Line 47"/>
            <p:cNvSpPr>
              <a:spLocks noChangeShapeType="1"/>
            </p:cNvSpPr>
            <p:nvPr/>
          </p:nvSpPr>
          <p:spPr bwMode="auto">
            <a:xfrm flipV="1">
              <a:off x="2403" y="3139"/>
              <a:ext cx="9" cy="2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4" name="Line 48"/>
            <p:cNvSpPr>
              <a:spLocks noChangeShapeType="1"/>
            </p:cNvSpPr>
            <p:nvPr/>
          </p:nvSpPr>
          <p:spPr bwMode="auto">
            <a:xfrm flipH="1" flipV="1">
              <a:off x="2245" y="3095"/>
              <a:ext cx="167" cy="4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5" name="Line 49"/>
            <p:cNvSpPr>
              <a:spLocks noChangeShapeType="1"/>
            </p:cNvSpPr>
            <p:nvPr/>
          </p:nvSpPr>
          <p:spPr bwMode="auto">
            <a:xfrm flipV="1">
              <a:off x="2245" y="2967"/>
              <a:ext cx="143" cy="12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6" name="Line 50"/>
            <p:cNvSpPr>
              <a:spLocks noChangeShapeType="1"/>
            </p:cNvSpPr>
            <p:nvPr/>
          </p:nvSpPr>
          <p:spPr bwMode="auto">
            <a:xfrm flipH="1" flipV="1">
              <a:off x="2359" y="2864"/>
              <a:ext cx="29" cy="1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7" name="Line 51"/>
            <p:cNvSpPr>
              <a:spLocks noChangeShapeType="1"/>
            </p:cNvSpPr>
            <p:nvPr/>
          </p:nvSpPr>
          <p:spPr bwMode="auto">
            <a:xfrm>
              <a:off x="2400"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8" name="Line 52"/>
            <p:cNvSpPr>
              <a:spLocks noChangeShapeType="1"/>
            </p:cNvSpPr>
            <p:nvPr/>
          </p:nvSpPr>
          <p:spPr bwMode="auto">
            <a:xfrm>
              <a:off x="2496"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4629" name="Freeform 53" descr="20%"/>
            <p:cNvSpPr>
              <a:spLocks/>
            </p:cNvSpPr>
            <p:nvPr/>
          </p:nvSpPr>
          <p:spPr bwMode="auto">
            <a:xfrm>
              <a:off x="1952" y="264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24631" name="Group 55"/>
          <p:cNvGrpSpPr>
            <a:grpSpLocks/>
          </p:cNvGrpSpPr>
          <p:nvPr/>
        </p:nvGrpSpPr>
        <p:grpSpPr bwMode="auto">
          <a:xfrm>
            <a:off x="3429000" y="3154363"/>
            <a:ext cx="2641600" cy="3262312"/>
            <a:chOff x="2160" y="1987"/>
            <a:chExt cx="1664" cy="2055"/>
          </a:xfrm>
        </p:grpSpPr>
        <p:sp>
          <p:nvSpPr>
            <p:cNvPr id="24602" name="Rectangle 26"/>
            <p:cNvSpPr>
              <a:spLocks noChangeArrowheads="1"/>
            </p:cNvSpPr>
            <p:nvPr/>
          </p:nvSpPr>
          <p:spPr bwMode="auto">
            <a:xfrm>
              <a:off x="3398" y="1987"/>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24603" name="Rectangle 27"/>
            <p:cNvSpPr>
              <a:spLocks noChangeArrowheads="1"/>
            </p:cNvSpPr>
            <p:nvPr/>
          </p:nvSpPr>
          <p:spPr bwMode="auto">
            <a:xfrm>
              <a:off x="3302" y="2659"/>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24604" name="Rectangle 28"/>
            <p:cNvSpPr>
              <a:spLocks noChangeArrowheads="1"/>
            </p:cNvSpPr>
            <p:nvPr/>
          </p:nvSpPr>
          <p:spPr bwMode="auto">
            <a:xfrm>
              <a:off x="2544" y="2976"/>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24605" name="Rectangle 29"/>
            <p:cNvSpPr>
              <a:spLocks noChangeArrowheads="1"/>
            </p:cNvSpPr>
            <p:nvPr/>
          </p:nvSpPr>
          <p:spPr bwMode="auto">
            <a:xfrm>
              <a:off x="3206" y="2371"/>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Na+</a:t>
              </a:r>
            </a:p>
          </p:txBody>
        </p:sp>
        <p:sp>
          <p:nvSpPr>
            <p:cNvPr id="24606" name="Rectangle 30"/>
            <p:cNvSpPr>
              <a:spLocks noChangeArrowheads="1"/>
            </p:cNvSpPr>
            <p:nvPr/>
          </p:nvSpPr>
          <p:spPr bwMode="auto">
            <a:xfrm>
              <a:off x="2160" y="3792"/>
              <a:ext cx="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eaLnBrk="0" hangingPunct="0"/>
              <a:r>
                <a:rPr lang="en-GB" sz="2000">
                  <a:solidFill>
                    <a:schemeClr val="folHlink"/>
                  </a:solidFill>
                </a:rPr>
                <a:t>Na+</a:t>
              </a:r>
            </a:p>
          </p:txBody>
        </p:sp>
      </p:grpSp>
      <p:sp>
        <p:nvSpPr>
          <p:cNvPr id="24630" name="Freeform 54"/>
          <p:cNvSpPr>
            <a:spLocks/>
          </p:cNvSpPr>
          <p:nvPr/>
        </p:nvSpPr>
        <p:spPr bwMode="auto">
          <a:xfrm>
            <a:off x="3851275" y="4991100"/>
            <a:ext cx="254000" cy="1165225"/>
          </a:xfrm>
          <a:custGeom>
            <a:avLst/>
            <a:gdLst>
              <a:gd name="T0" fmla="*/ 160 w 160"/>
              <a:gd name="T1" fmla="*/ 0 h 734"/>
              <a:gd name="T2" fmla="*/ 22 w 160"/>
              <a:gd name="T3" fmla="*/ 132 h 734"/>
              <a:gd name="T4" fmla="*/ 28 w 160"/>
              <a:gd name="T5" fmla="*/ 648 h 734"/>
              <a:gd name="T6" fmla="*/ 4 w 160"/>
              <a:gd name="T7" fmla="*/ 648 h 734"/>
            </a:gdLst>
            <a:ahLst/>
            <a:cxnLst>
              <a:cxn ang="0">
                <a:pos x="T0" y="T1"/>
              </a:cxn>
              <a:cxn ang="0">
                <a:pos x="T2" y="T3"/>
              </a:cxn>
              <a:cxn ang="0">
                <a:pos x="T4" y="T5"/>
              </a:cxn>
              <a:cxn ang="0">
                <a:pos x="T6" y="T7"/>
              </a:cxn>
            </a:cxnLst>
            <a:rect l="0" t="0" r="r" b="b"/>
            <a:pathLst>
              <a:path w="160" h="734">
                <a:moveTo>
                  <a:pt x="160" y="0"/>
                </a:moveTo>
                <a:cubicBezTo>
                  <a:pt x="137" y="23"/>
                  <a:pt x="44" y="24"/>
                  <a:pt x="22" y="132"/>
                </a:cubicBezTo>
                <a:cubicBezTo>
                  <a:pt x="0" y="240"/>
                  <a:pt x="31" y="562"/>
                  <a:pt x="28" y="648"/>
                </a:cubicBezTo>
                <a:cubicBezTo>
                  <a:pt x="25" y="734"/>
                  <a:pt x="9" y="648"/>
                  <a:pt x="4" y="648"/>
                </a:cubicBezTo>
              </a:path>
            </a:pathLst>
          </a:custGeom>
          <a:noFill/>
          <a:ln w="28575" cap="flat" cmpd="sng">
            <a:solidFill>
              <a:schemeClr val="folHlink"/>
            </a:solidFill>
            <a:prstDash val="solid"/>
            <a:round/>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877741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6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7"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634" name="Group 34"/>
          <p:cNvGrpSpPr>
            <a:grpSpLocks/>
          </p:cNvGrpSpPr>
          <p:nvPr/>
        </p:nvGrpSpPr>
        <p:grpSpPr bwMode="auto">
          <a:xfrm>
            <a:off x="1828800" y="1643063"/>
            <a:ext cx="5302250" cy="5062537"/>
            <a:chOff x="1152" y="1039"/>
            <a:chExt cx="3340" cy="3189"/>
          </a:xfrm>
        </p:grpSpPr>
        <p:sp>
          <p:nvSpPr>
            <p:cNvPr id="25635" name="Freeform 35"/>
            <p:cNvSpPr>
              <a:spLocks/>
            </p:cNvSpPr>
            <p:nvPr/>
          </p:nvSpPr>
          <p:spPr bwMode="auto">
            <a:xfrm>
              <a:off x="1804" y="1039"/>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36" name="Oval 36"/>
            <p:cNvSpPr>
              <a:spLocks noChangeArrowheads="1"/>
            </p:cNvSpPr>
            <p:nvPr/>
          </p:nvSpPr>
          <p:spPr bwMode="auto">
            <a:xfrm>
              <a:off x="1968"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37" name="Oval 37"/>
            <p:cNvSpPr>
              <a:spLocks noChangeArrowheads="1"/>
            </p:cNvSpPr>
            <p:nvPr/>
          </p:nvSpPr>
          <p:spPr bwMode="auto">
            <a:xfrm>
              <a:off x="2832" y="24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38" name="Oval 38"/>
            <p:cNvSpPr>
              <a:spLocks noChangeArrowheads="1"/>
            </p:cNvSpPr>
            <p:nvPr/>
          </p:nvSpPr>
          <p:spPr bwMode="auto">
            <a:xfrm>
              <a:off x="2308" y="2500"/>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39" name="Oval 39"/>
            <p:cNvSpPr>
              <a:spLocks noChangeArrowheads="1"/>
            </p:cNvSpPr>
            <p:nvPr/>
          </p:nvSpPr>
          <p:spPr bwMode="auto">
            <a:xfrm>
              <a:off x="2116" y="1972"/>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40" name="Oval 40"/>
            <p:cNvSpPr>
              <a:spLocks noChangeArrowheads="1"/>
            </p:cNvSpPr>
            <p:nvPr/>
          </p:nvSpPr>
          <p:spPr bwMode="auto">
            <a:xfrm>
              <a:off x="2548" y="20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41" name="Freeform 41"/>
            <p:cNvSpPr>
              <a:spLocks/>
            </p:cNvSpPr>
            <p:nvPr/>
          </p:nvSpPr>
          <p:spPr bwMode="auto">
            <a:xfrm>
              <a:off x="1152" y="2858"/>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42" name="Oval 42"/>
            <p:cNvSpPr>
              <a:spLocks noChangeArrowheads="1"/>
            </p:cNvSpPr>
            <p:nvPr/>
          </p:nvSpPr>
          <p:spPr bwMode="auto">
            <a:xfrm>
              <a:off x="1828" y="3172"/>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43" name="Oval 43"/>
            <p:cNvSpPr>
              <a:spLocks noChangeArrowheads="1"/>
            </p:cNvSpPr>
            <p:nvPr/>
          </p:nvSpPr>
          <p:spPr bwMode="auto">
            <a:xfrm>
              <a:off x="3220" y="288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44" name="Oval 44"/>
            <p:cNvSpPr>
              <a:spLocks noChangeArrowheads="1"/>
            </p:cNvSpPr>
            <p:nvPr/>
          </p:nvSpPr>
          <p:spPr bwMode="auto">
            <a:xfrm>
              <a:off x="2932" y="3124"/>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5645" name="Freeform 45"/>
            <p:cNvSpPr>
              <a:spLocks/>
            </p:cNvSpPr>
            <p:nvPr/>
          </p:nvSpPr>
          <p:spPr bwMode="auto">
            <a:xfrm>
              <a:off x="1152" y="2982"/>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46" name="Freeform 46" descr="20%"/>
            <p:cNvSpPr>
              <a:spLocks/>
            </p:cNvSpPr>
            <p:nvPr/>
          </p:nvSpPr>
          <p:spPr bwMode="auto">
            <a:xfrm>
              <a:off x="1808" y="288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47" name="Freeform 47" descr="20%"/>
            <p:cNvSpPr>
              <a:spLocks/>
            </p:cNvSpPr>
            <p:nvPr/>
          </p:nvSpPr>
          <p:spPr bwMode="auto">
            <a:xfrm rot="-1314530">
              <a:off x="2256" y="2880"/>
              <a:ext cx="288" cy="288"/>
            </a:xfrm>
            <a:custGeom>
              <a:avLst/>
              <a:gdLst>
                <a:gd name="T0" fmla="*/ 0 w 246"/>
                <a:gd name="T1" fmla="*/ 111 h 202"/>
                <a:gd name="T2" fmla="*/ 47 w 246"/>
                <a:gd name="T3" fmla="*/ 124 h 202"/>
                <a:gd name="T4" fmla="*/ 80 w 246"/>
                <a:gd name="T5" fmla="*/ 140 h 202"/>
                <a:gd name="T6" fmla="*/ 113 w 246"/>
                <a:gd name="T7" fmla="*/ 155 h 202"/>
                <a:gd name="T8" fmla="*/ 145 w 246"/>
                <a:gd name="T9" fmla="*/ 170 h 202"/>
                <a:gd name="T10" fmla="*/ 177 w 246"/>
                <a:gd name="T11" fmla="*/ 187 h 202"/>
                <a:gd name="T12" fmla="*/ 210 w 246"/>
                <a:gd name="T13" fmla="*/ 201 h 202"/>
                <a:gd name="T14" fmla="*/ 225 w 246"/>
                <a:gd name="T15" fmla="*/ 169 h 202"/>
                <a:gd name="T16" fmla="*/ 228 w 246"/>
                <a:gd name="T17" fmla="*/ 135 h 202"/>
                <a:gd name="T18" fmla="*/ 232 w 246"/>
                <a:gd name="T19" fmla="*/ 102 h 202"/>
                <a:gd name="T20" fmla="*/ 236 w 246"/>
                <a:gd name="T21" fmla="*/ 68 h 202"/>
                <a:gd name="T22" fmla="*/ 242 w 246"/>
                <a:gd name="T23" fmla="*/ 34 h 202"/>
                <a:gd name="T24" fmla="*/ 245 w 246"/>
                <a:gd name="T25" fmla="*/ 0 h 202"/>
                <a:gd name="T26" fmla="*/ 208 w 246"/>
                <a:gd name="T27" fmla="*/ 29 h 202"/>
                <a:gd name="T28" fmla="*/ 171 w 246"/>
                <a:gd name="T29" fmla="*/ 49 h 202"/>
                <a:gd name="T30" fmla="*/ 134 w 246"/>
                <a:gd name="T31" fmla="*/ 65 h 202"/>
                <a:gd name="T32" fmla="*/ 99 w 246"/>
                <a:gd name="T33" fmla="*/ 85 h 202"/>
                <a:gd name="T34" fmla="*/ 62 w 246"/>
                <a:gd name="T35" fmla="*/ 104 h 202"/>
                <a:gd name="T36" fmla="*/ 0 w 246"/>
                <a:gd name="T37" fmla="*/ 11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02">
                  <a:moveTo>
                    <a:pt x="0" y="111"/>
                  </a:moveTo>
                  <a:lnTo>
                    <a:pt x="47" y="124"/>
                  </a:lnTo>
                  <a:lnTo>
                    <a:pt x="80" y="140"/>
                  </a:lnTo>
                  <a:lnTo>
                    <a:pt x="113" y="155"/>
                  </a:lnTo>
                  <a:lnTo>
                    <a:pt x="145" y="170"/>
                  </a:lnTo>
                  <a:lnTo>
                    <a:pt x="177" y="187"/>
                  </a:lnTo>
                  <a:lnTo>
                    <a:pt x="210" y="201"/>
                  </a:lnTo>
                  <a:lnTo>
                    <a:pt x="225" y="169"/>
                  </a:lnTo>
                  <a:lnTo>
                    <a:pt x="228" y="135"/>
                  </a:lnTo>
                  <a:lnTo>
                    <a:pt x="232" y="102"/>
                  </a:lnTo>
                  <a:lnTo>
                    <a:pt x="236" y="68"/>
                  </a:lnTo>
                  <a:lnTo>
                    <a:pt x="242" y="34"/>
                  </a:lnTo>
                  <a:lnTo>
                    <a:pt x="245" y="0"/>
                  </a:lnTo>
                  <a:lnTo>
                    <a:pt x="208" y="29"/>
                  </a:lnTo>
                  <a:lnTo>
                    <a:pt x="171" y="49"/>
                  </a:lnTo>
                  <a:lnTo>
                    <a:pt x="134" y="65"/>
                  </a:lnTo>
                  <a:lnTo>
                    <a:pt x="99" y="85"/>
                  </a:lnTo>
                  <a:lnTo>
                    <a:pt x="62" y="104"/>
                  </a:lnTo>
                  <a:lnTo>
                    <a:pt x="0" y="111"/>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48" name="Freeform 48" descr="20%"/>
            <p:cNvSpPr>
              <a:spLocks/>
            </p:cNvSpPr>
            <p:nvPr/>
          </p:nvSpPr>
          <p:spPr bwMode="auto">
            <a:xfrm>
              <a:off x="3008" y="249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49" name="Line 49"/>
            <p:cNvSpPr>
              <a:spLocks noChangeShapeType="1"/>
            </p:cNvSpPr>
            <p:nvPr/>
          </p:nvSpPr>
          <p:spPr bwMode="auto">
            <a:xfrm flipV="1">
              <a:off x="2403" y="3139"/>
              <a:ext cx="9" cy="2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50" name="Line 50"/>
            <p:cNvSpPr>
              <a:spLocks noChangeShapeType="1"/>
            </p:cNvSpPr>
            <p:nvPr/>
          </p:nvSpPr>
          <p:spPr bwMode="auto">
            <a:xfrm flipH="1" flipV="1">
              <a:off x="2245" y="3095"/>
              <a:ext cx="167" cy="4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51" name="Line 51"/>
            <p:cNvSpPr>
              <a:spLocks noChangeShapeType="1"/>
            </p:cNvSpPr>
            <p:nvPr/>
          </p:nvSpPr>
          <p:spPr bwMode="auto">
            <a:xfrm flipV="1">
              <a:off x="2245" y="2967"/>
              <a:ext cx="143" cy="12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52" name="Line 52"/>
            <p:cNvSpPr>
              <a:spLocks noChangeShapeType="1"/>
            </p:cNvSpPr>
            <p:nvPr/>
          </p:nvSpPr>
          <p:spPr bwMode="auto">
            <a:xfrm flipH="1" flipV="1">
              <a:off x="2359" y="2864"/>
              <a:ext cx="29" cy="1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53" name="Line 53"/>
            <p:cNvSpPr>
              <a:spLocks noChangeShapeType="1"/>
            </p:cNvSpPr>
            <p:nvPr/>
          </p:nvSpPr>
          <p:spPr bwMode="auto">
            <a:xfrm>
              <a:off x="2400"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54" name="Line 54"/>
            <p:cNvSpPr>
              <a:spLocks noChangeShapeType="1"/>
            </p:cNvSpPr>
            <p:nvPr/>
          </p:nvSpPr>
          <p:spPr bwMode="auto">
            <a:xfrm>
              <a:off x="2496" y="3312"/>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5655" name="Freeform 55" descr="20%"/>
            <p:cNvSpPr>
              <a:spLocks/>
            </p:cNvSpPr>
            <p:nvPr/>
          </p:nvSpPr>
          <p:spPr bwMode="auto">
            <a:xfrm>
              <a:off x="1952" y="2640"/>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25602" name="Rectangle 2"/>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K+ ions rush </a:t>
            </a:r>
            <a:r>
              <a:rPr lang="en-GB" sz="3200" b="1" u="sng">
                <a:solidFill>
                  <a:schemeClr val="hlink"/>
                </a:solidFill>
                <a:latin typeface="Arial Rounded MT Bold" pitchFamily="34" charset="0"/>
              </a:rPr>
              <a:t>out</a:t>
            </a:r>
            <a:r>
              <a:rPr lang="en-GB" sz="3200" b="1">
                <a:solidFill>
                  <a:schemeClr val="hlink"/>
                </a:solidFill>
                <a:latin typeface="Arial Rounded MT Bold" pitchFamily="34" charset="0"/>
              </a:rPr>
              <a:t> of the postsynaptic cell</a:t>
            </a:r>
          </a:p>
        </p:txBody>
      </p:sp>
      <p:sp>
        <p:nvSpPr>
          <p:cNvPr id="25631" name="Rectangle 31"/>
          <p:cNvSpPr>
            <a:spLocks noChangeArrowheads="1"/>
          </p:cNvSpPr>
          <p:nvPr/>
        </p:nvSpPr>
        <p:spPr bwMode="auto">
          <a:xfrm>
            <a:off x="2819400" y="6019800"/>
            <a:ext cx="519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K+</a:t>
            </a:r>
          </a:p>
        </p:txBody>
      </p:sp>
      <p:sp>
        <p:nvSpPr>
          <p:cNvPr id="25632" name="Rectangle 32"/>
          <p:cNvSpPr>
            <a:spLocks noChangeArrowheads="1"/>
          </p:cNvSpPr>
          <p:nvPr/>
        </p:nvSpPr>
        <p:spPr bwMode="auto">
          <a:xfrm>
            <a:off x="3429000" y="5861050"/>
            <a:ext cx="519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eaLnBrk="0" hangingPunct="0"/>
            <a:r>
              <a:rPr lang="en-GB" sz="2000">
                <a:solidFill>
                  <a:schemeClr val="folHlink"/>
                </a:solidFill>
              </a:rPr>
              <a:t>K+</a:t>
            </a:r>
          </a:p>
        </p:txBody>
      </p:sp>
      <p:sp>
        <p:nvSpPr>
          <p:cNvPr id="25633" name="Rectangle 33"/>
          <p:cNvSpPr>
            <a:spLocks noChangeArrowheads="1"/>
          </p:cNvSpPr>
          <p:nvPr/>
        </p:nvSpPr>
        <p:spPr bwMode="auto">
          <a:xfrm>
            <a:off x="4191000" y="6003925"/>
            <a:ext cx="519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K+</a:t>
            </a:r>
          </a:p>
        </p:txBody>
      </p:sp>
      <p:sp>
        <p:nvSpPr>
          <p:cNvPr id="25656" name="Rectangle 56"/>
          <p:cNvSpPr>
            <a:spLocks noChangeArrowheads="1"/>
          </p:cNvSpPr>
          <p:nvPr/>
        </p:nvSpPr>
        <p:spPr bwMode="auto">
          <a:xfrm>
            <a:off x="3938588" y="4714875"/>
            <a:ext cx="5191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K+</a:t>
            </a:r>
          </a:p>
        </p:txBody>
      </p:sp>
      <p:sp>
        <p:nvSpPr>
          <p:cNvPr id="25657" name="Freeform 57"/>
          <p:cNvSpPr>
            <a:spLocks/>
          </p:cNvSpPr>
          <p:nvPr/>
        </p:nvSpPr>
        <p:spPr bwMode="auto">
          <a:xfrm flipH="1" flipV="1">
            <a:off x="3702050" y="4838700"/>
            <a:ext cx="222250" cy="1012825"/>
          </a:xfrm>
          <a:custGeom>
            <a:avLst/>
            <a:gdLst>
              <a:gd name="T0" fmla="*/ 160 w 160"/>
              <a:gd name="T1" fmla="*/ 0 h 734"/>
              <a:gd name="T2" fmla="*/ 22 w 160"/>
              <a:gd name="T3" fmla="*/ 132 h 734"/>
              <a:gd name="T4" fmla="*/ 28 w 160"/>
              <a:gd name="T5" fmla="*/ 648 h 734"/>
              <a:gd name="T6" fmla="*/ 4 w 160"/>
              <a:gd name="T7" fmla="*/ 648 h 734"/>
            </a:gdLst>
            <a:ahLst/>
            <a:cxnLst>
              <a:cxn ang="0">
                <a:pos x="T0" y="T1"/>
              </a:cxn>
              <a:cxn ang="0">
                <a:pos x="T2" y="T3"/>
              </a:cxn>
              <a:cxn ang="0">
                <a:pos x="T4" y="T5"/>
              </a:cxn>
              <a:cxn ang="0">
                <a:pos x="T6" y="T7"/>
              </a:cxn>
            </a:cxnLst>
            <a:rect l="0" t="0" r="r" b="b"/>
            <a:pathLst>
              <a:path w="160" h="734">
                <a:moveTo>
                  <a:pt x="160" y="0"/>
                </a:moveTo>
                <a:cubicBezTo>
                  <a:pt x="137" y="23"/>
                  <a:pt x="44" y="24"/>
                  <a:pt x="22" y="132"/>
                </a:cubicBezTo>
                <a:cubicBezTo>
                  <a:pt x="0" y="240"/>
                  <a:pt x="31" y="562"/>
                  <a:pt x="28" y="648"/>
                </a:cubicBezTo>
                <a:cubicBezTo>
                  <a:pt x="25" y="734"/>
                  <a:pt x="9" y="648"/>
                  <a:pt x="4" y="648"/>
                </a:cubicBezTo>
              </a:path>
            </a:pathLst>
          </a:custGeom>
          <a:noFill/>
          <a:ln w="28575" cap="flat" cmpd="sng">
            <a:solidFill>
              <a:schemeClr val="folHlink"/>
            </a:solidFill>
            <a:prstDash val="solid"/>
            <a:round/>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242254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12" name="Rectangle 1048"/>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What happens to the membrane potential?</a:t>
            </a:r>
          </a:p>
        </p:txBody>
      </p:sp>
      <p:grpSp>
        <p:nvGrpSpPr>
          <p:cNvPr id="37919" name="Group 1055"/>
          <p:cNvGrpSpPr>
            <a:grpSpLocks/>
          </p:cNvGrpSpPr>
          <p:nvPr/>
        </p:nvGrpSpPr>
        <p:grpSpPr bwMode="auto">
          <a:xfrm>
            <a:off x="1828800" y="1643063"/>
            <a:ext cx="5302250" cy="5062537"/>
            <a:chOff x="1152" y="1035"/>
            <a:chExt cx="3340" cy="3189"/>
          </a:xfrm>
        </p:grpSpPr>
        <p:sp>
          <p:nvSpPr>
            <p:cNvPr id="37891" name="Freeform 1027"/>
            <p:cNvSpPr>
              <a:spLocks/>
            </p:cNvSpPr>
            <p:nvPr/>
          </p:nvSpPr>
          <p:spPr bwMode="auto">
            <a:xfrm>
              <a:off x="1804" y="1035"/>
              <a:ext cx="1270" cy="1597"/>
            </a:xfrm>
            <a:custGeom>
              <a:avLst/>
              <a:gdLst>
                <a:gd name="T0" fmla="*/ 295 w 1270"/>
                <a:gd name="T1" fmla="*/ 193 h 1597"/>
                <a:gd name="T2" fmla="*/ 329 w 1270"/>
                <a:gd name="T3" fmla="*/ 374 h 1597"/>
                <a:gd name="T4" fmla="*/ 329 w 1270"/>
                <a:gd name="T5" fmla="*/ 476 h 1597"/>
                <a:gd name="T6" fmla="*/ 317 w 1270"/>
                <a:gd name="T7" fmla="*/ 578 h 1597"/>
                <a:gd name="T8" fmla="*/ 306 w 1270"/>
                <a:gd name="T9" fmla="*/ 680 h 1597"/>
                <a:gd name="T10" fmla="*/ 238 w 1270"/>
                <a:gd name="T11" fmla="*/ 770 h 1597"/>
                <a:gd name="T12" fmla="*/ 147 w 1270"/>
                <a:gd name="T13" fmla="*/ 849 h 1597"/>
                <a:gd name="T14" fmla="*/ 80 w 1270"/>
                <a:gd name="T15" fmla="*/ 951 h 1597"/>
                <a:gd name="T16" fmla="*/ 23 w 1270"/>
                <a:gd name="T17" fmla="*/ 1053 h 1597"/>
                <a:gd name="T18" fmla="*/ 0 w 1270"/>
                <a:gd name="T19" fmla="*/ 1155 h 1597"/>
                <a:gd name="T20" fmla="*/ 12 w 1270"/>
                <a:gd name="T21" fmla="*/ 1257 h 1597"/>
                <a:gd name="T22" fmla="*/ 68 w 1270"/>
                <a:gd name="T23" fmla="*/ 1381 h 1597"/>
                <a:gd name="T24" fmla="*/ 159 w 1270"/>
                <a:gd name="T25" fmla="*/ 1461 h 1597"/>
                <a:gd name="T26" fmla="*/ 261 w 1270"/>
                <a:gd name="T27" fmla="*/ 1506 h 1597"/>
                <a:gd name="T28" fmla="*/ 363 w 1270"/>
                <a:gd name="T29" fmla="*/ 1540 h 1597"/>
                <a:gd name="T30" fmla="*/ 487 w 1270"/>
                <a:gd name="T31" fmla="*/ 1585 h 1597"/>
                <a:gd name="T32" fmla="*/ 589 w 1270"/>
                <a:gd name="T33" fmla="*/ 1596 h 1597"/>
                <a:gd name="T34" fmla="*/ 702 w 1270"/>
                <a:gd name="T35" fmla="*/ 1596 h 1597"/>
                <a:gd name="T36" fmla="*/ 804 w 1270"/>
                <a:gd name="T37" fmla="*/ 1585 h 1597"/>
                <a:gd name="T38" fmla="*/ 929 w 1270"/>
                <a:gd name="T39" fmla="*/ 1562 h 1597"/>
                <a:gd name="T40" fmla="*/ 1031 w 1270"/>
                <a:gd name="T41" fmla="*/ 1528 h 1597"/>
                <a:gd name="T42" fmla="*/ 1133 w 1270"/>
                <a:gd name="T43" fmla="*/ 1483 h 1597"/>
                <a:gd name="T44" fmla="*/ 1212 w 1270"/>
                <a:gd name="T45" fmla="*/ 1393 h 1597"/>
                <a:gd name="T46" fmla="*/ 1257 w 1270"/>
                <a:gd name="T47" fmla="*/ 1291 h 1597"/>
                <a:gd name="T48" fmla="*/ 1269 w 1270"/>
                <a:gd name="T49" fmla="*/ 1178 h 1597"/>
                <a:gd name="T50" fmla="*/ 1269 w 1270"/>
                <a:gd name="T51" fmla="*/ 1064 h 1597"/>
                <a:gd name="T52" fmla="*/ 1235 w 1270"/>
                <a:gd name="T53" fmla="*/ 963 h 1597"/>
                <a:gd name="T54" fmla="*/ 1178 w 1270"/>
                <a:gd name="T55" fmla="*/ 861 h 1597"/>
                <a:gd name="T56" fmla="*/ 1087 w 1270"/>
                <a:gd name="T57" fmla="*/ 781 h 1597"/>
                <a:gd name="T58" fmla="*/ 985 w 1270"/>
                <a:gd name="T59" fmla="*/ 714 h 1597"/>
                <a:gd name="T60" fmla="*/ 883 w 1270"/>
                <a:gd name="T61" fmla="*/ 657 h 1597"/>
                <a:gd name="T62" fmla="*/ 782 w 1270"/>
                <a:gd name="T63" fmla="*/ 600 h 1597"/>
                <a:gd name="T64" fmla="*/ 668 w 1270"/>
                <a:gd name="T65" fmla="*/ 532 h 1597"/>
                <a:gd name="T66" fmla="*/ 623 w 1270"/>
                <a:gd name="T67" fmla="*/ 431 h 1597"/>
                <a:gd name="T68" fmla="*/ 589 w 1270"/>
                <a:gd name="T69" fmla="*/ 329 h 1597"/>
                <a:gd name="T70" fmla="*/ 578 w 1270"/>
                <a:gd name="T71" fmla="*/ 227 h 1597"/>
                <a:gd name="T72" fmla="*/ 566 w 1270"/>
                <a:gd name="T73" fmla="*/ 125 h 1597"/>
                <a:gd name="T74" fmla="*/ 521 w 1270"/>
                <a:gd name="T75" fmla="*/ 34 h 1597"/>
                <a:gd name="T76" fmla="*/ 419 w 1270"/>
                <a:gd name="T77" fmla="*/ 68 h 1597"/>
                <a:gd name="T78" fmla="*/ 317 w 1270"/>
                <a:gd name="T79" fmla="*/ 80 h 1597"/>
                <a:gd name="T80" fmla="*/ 272 w 1270"/>
                <a:gd name="T81" fmla="*/ 34 h 1597"/>
                <a:gd name="T82" fmla="*/ 374 w 1270"/>
                <a:gd name="T83" fmla="*/ 0 h 1597"/>
                <a:gd name="T84" fmla="*/ 476 w 1270"/>
                <a:gd name="T85" fmla="*/ 0 h 1597"/>
                <a:gd name="T86" fmla="*/ 548 w 1270"/>
                <a:gd name="T87" fmla="*/ 65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0" h="1597">
                  <a:moveTo>
                    <a:pt x="260" y="113"/>
                  </a:moveTo>
                  <a:lnTo>
                    <a:pt x="283" y="159"/>
                  </a:lnTo>
                  <a:lnTo>
                    <a:pt x="295" y="193"/>
                  </a:lnTo>
                  <a:lnTo>
                    <a:pt x="306" y="283"/>
                  </a:lnTo>
                  <a:lnTo>
                    <a:pt x="317" y="329"/>
                  </a:lnTo>
                  <a:lnTo>
                    <a:pt x="329" y="374"/>
                  </a:lnTo>
                  <a:lnTo>
                    <a:pt x="329" y="408"/>
                  </a:lnTo>
                  <a:lnTo>
                    <a:pt x="329" y="442"/>
                  </a:lnTo>
                  <a:lnTo>
                    <a:pt x="329" y="476"/>
                  </a:lnTo>
                  <a:lnTo>
                    <a:pt x="329" y="510"/>
                  </a:lnTo>
                  <a:lnTo>
                    <a:pt x="317" y="544"/>
                  </a:lnTo>
                  <a:lnTo>
                    <a:pt x="317" y="578"/>
                  </a:lnTo>
                  <a:lnTo>
                    <a:pt x="306" y="612"/>
                  </a:lnTo>
                  <a:lnTo>
                    <a:pt x="306" y="646"/>
                  </a:lnTo>
                  <a:lnTo>
                    <a:pt x="306" y="680"/>
                  </a:lnTo>
                  <a:lnTo>
                    <a:pt x="295" y="714"/>
                  </a:lnTo>
                  <a:lnTo>
                    <a:pt x="272" y="747"/>
                  </a:lnTo>
                  <a:lnTo>
                    <a:pt x="238" y="770"/>
                  </a:lnTo>
                  <a:lnTo>
                    <a:pt x="204" y="804"/>
                  </a:lnTo>
                  <a:lnTo>
                    <a:pt x="170" y="815"/>
                  </a:lnTo>
                  <a:lnTo>
                    <a:pt x="147" y="849"/>
                  </a:lnTo>
                  <a:lnTo>
                    <a:pt x="113" y="883"/>
                  </a:lnTo>
                  <a:lnTo>
                    <a:pt x="91" y="917"/>
                  </a:lnTo>
                  <a:lnTo>
                    <a:pt x="80" y="951"/>
                  </a:lnTo>
                  <a:lnTo>
                    <a:pt x="57" y="985"/>
                  </a:lnTo>
                  <a:lnTo>
                    <a:pt x="34" y="1019"/>
                  </a:lnTo>
                  <a:lnTo>
                    <a:pt x="23" y="1053"/>
                  </a:lnTo>
                  <a:lnTo>
                    <a:pt x="12" y="1087"/>
                  </a:lnTo>
                  <a:lnTo>
                    <a:pt x="0" y="1121"/>
                  </a:lnTo>
                  <a:lnTo>
                    <a:pt x="0" y="1155"/>
                  </a:lnTo>
                  <a:lnTo>
                    <a:pt x="0" y="1189"/>
                  </a:lnTo>
                  <a:lnTo>
                    <a:pt x="0" y="1223"/>
                  </a:lnTo>
                  <a:lnTo>
                    <a:pt x="12" y="1257"/>
                  </a:lnTo>
                  <a:lnTo>
                    <a:pt x="23" y="1302"/>
                  </a:lnTo>
                  <a:lnTo>
                    <a:pt x="46" y="1336"/>
                  </a:lnTo>
                  <a:lnTo>
                    <a:pt x="68" y="1381"/>
                  </a:lnTo>
                  <a:lnTo>
                    <a:pt x="91" y="1415"/>
                  </a:lnTo>
                  <a:lnTo>
                    <a:pt x="125" y="1438"/>
                  </a:lnTo>
                  <a:lnTo>
                    <a:pt x="159" y="1461"/>
                  </a:lnTo>
                  <a:lnTo>
                    <a:pt x="193" y="1472"/>
                  </a:lnTo>
                  <a:lnTo>
                    <a:pt x="227" y="1483"/>
                  </a:lnTo>
                  <a:lnTo>
                    <a:pt x="261" y="1506"/>
                  </a:lnTo>
                  <a:lnTo>
                    <a:pt x="295" y="1517"/>
                  </a:lnTo>
                  <a:lnTo>
                    <a:pt x="329" y="1528"/>
                  </a:lnTo>
                  <a:lnTo>
                    <a:pt x="363" y="1540"/>
                  </a:lnTo>
                  <a:lnTo>
                    <a:pt x="408" y="1562"/>
                  </a:lnTo>
                  <a:lnTo>
                    <a:pt x="442" y="1574"/>
                  </a:lnTo>
                  <a:lnTo>
                    <a:pt x="487" y="1585"/>
                  </a:lnTo>
                  <a:lnTo>
                    <a:pt x="521" y="1585"/>
                  </a:lnTo>
                  <a:lnTo>
                    <a:pt x="555" y="1596"/>
                  </a:lnTo>
                  <a:lnTo>
                    <a:pt x="589" y="1596"/>
                  </a:lnTo>
                  <a:lnTo>
                    <a:pt x="623" y="1596"/>
                  </a:lnTo>
                  <a:lnTo>
                    <a:pt x="668" y="1596"/>
                  </a:lnTo>
                  <a:lnTo>
                    <a:pt x="702" y="1596"/>
                  </a:lnTo>
                  <a:lnTo>
                    <a:pt x="736" y="1596"/>
                  </a:lnTo>
                  <a:lnTo>
                    <a:pt x="770" y="1585"/>
                  </a:lnTo>
                  <a:lnTo>
                    <a:pt x="804" y="1585"/>
                  </a:lnTo>
                  <a:lnTo>
                    <a:pt x="850" y="1574"/>
                  </a:lnTo>
                  <a:lnTo>
                    <a:pt x="883" y="1574"/>
                  </a:lnTo>
                  <a:lnTo>
                    <a:pt x="929" y="1562"/>
                  </a:lnTo>
                  <a:lnTo>
                    <a:pt x="963" y="1551"/>
                  </a:lnTo>
                  <a:lnTo>
                    <a:pt x="997" y="1551"/>
                  </a:lnTo>
                  <a:lnTo>
                    <a:pt x="1031" y="1528"/>
                  </a:lnTo>
                  <a:lnTo>
                    <a:pt x="1065" y="1528"/>
                  </a:lnTo>
                  <a:lnTo>
                    <a:pt x="1099" y="1506"/>
                  </a:lnTo>
                  <a:lnTo>
                    <a:pt x="1133" y="1483"/>
                  </a:lnTo>
                  <a:lnTo>
                    <a:pt x="1167" y="1461"/>
                  </a:lnTo>
                  <a:lnTo>
                    <a:pt x="1189" y="1427"/>
                  </a:lnTo>
                  <a:lnTo>
                    <a:pt x="1212" y="1393"/>
                  </a:lnTo>
                  <a:lnTo>
                    <a:pt x="1235" y="1359"/>
                  </a:lnTo>
                  <a:lnTo>
                    <a:pt x="1246" y="1325"/>
                  </a:lnTo>
                  <a:lnTo>
                    <a:pt x="1257" y="1291"/>
                  </a:lnTo>
                  <a:lnTo>
                    <a:pt x="1269" y="1257"/>
                  </a:lnTo>
                  <a:lnTo>
                    <a:pt x="1269" y="1212"/>
                  </a:lnTo>
                  <a:lnTo>
                    <a:pt x="1269" y="1178"/>
                  </a:lnTo>
                  <a:lnTo>
                    <a:pt x="1269" y="1144"/>
                  </a:lnTo>
                  <a:lnTo>
                    <a:pt x="1269" y="1110"/>
                  </a:lnTo>
                  <a:lnTo>
                    <a:pt x="1269" y="1064"/>
                  </a:lnTo>
                  <a:lnTo>
                    <a:pt x="1257" y="1030"/>
                  </a:lnTo>
                  <a:lnTo>
                    <a:pt x="1246" y="996"/>
                  </a:lnTo>
                  <a:lnTo>
                    <a:pt x="1235" y="963"/>
                  </a:lnTo>
                  <a:lnTo>
                    <a:pt x="1223" y="929"/>
                  </a:lnTo>
                  <a:lnTo>
                    <a:pt x="1201" y="895"/>
                  </a:lnTo>
                  <a:lnTo>
                    <a:pt x="1178" y="861"/>
                  </a:lnTo>
                  <a:lnTo>
                    <a:pt x="1155" y="827"/>
                  </a:lnTo>
                  <a:lnTo>
                    <a:pt x="1121" y="804"/>
                  </a:lnTo>
                  <a:lnTo>
                    <a:pt x="1087" y="781"/>
                  </a:lnTo>
                  <a:lnTo>
                    <a:pt x="1053" y="759"/>
                  </a:lnTo>
                  <a:lnTo>
                    <a:pt x="1019" y="736"/>
                  </a:lnTo>
                  <a:lnTo>
                    <a:pt x="985" y="714"/>
                  </a:lnTo>
                  <a:lnTo>
                    <a:pt x="951" y="691"/>
                  </a:lnTo>
                  <a:lnTo>
                    <a:pt x="917" y="680"/>
                  </a:lnTo>
                  <a:lnTo>
                    <a:pt x="883" y="657"/>
                  </a:lnTo>
                  <a:lnTo>
                    <a:pt x="850" y="634"/>
                  </a:lnTo>
                  <a:lnTo>
                    <a:pt x="816" y="623"/>
                  </a:lnTo>
                  <a:lnTo>
                    <a:pt x="782" y="600"/>
                  </a:lnTo>
                  <a:lnTo>
                    <a:pt x="736" y="578"/>
                  </a:lnTo>
                  <a:lnTo>
                    <a:pt x="702" y="566"/>
                  </a:lnTo>
                  <a:lnTo>
                    <a:pt x="668" y="532"/>
                  </a:lnTo>
                  <a:lnTo>
                    <a:pt x="657" y="498"/>
                  </a:lnTo>
                  <a:lnTo>
                    <a:pt x="634" y="465"/>
                  </a:lnTo>
                  <a:lnTo>
                    <a:pt x="623" y="431"/>
                  </a:lnTo>
                  <a:lnTo>
                    <a:pt x="612" y="397"/>
                  </a:lnTo>
                  <a:lnTo>
                    <a:pt x="600" y="363"/>
                  </a:lnTo>
                  <a:lnTo>
                    <a:pt x="589" y="329"/>
                  </a:lnTo>
                  <a:lnTo>
                    <a:pt x="578" y="295"/>
                  </a:lnTo>
                  <a:lnTo>
                    <a:pt x="578" y="261"/>
                  </a:lnTo>
                  <a:lnTo>
                    <a:pt x="578" y="227"/>
                  </a:lnTo>
                  <a:lnTo>
                    <a:pt x="566" y="193"/>
                  </a:lnTo>
                  <a:lnTo>
                    <a:pt x="566" y="159"/>
                  </a:lnTo>
                  <a:lnTo>
                    <a:pt x="566" y="125"/>
                  </a:lnTo>
                  <a:lnTo>
                    <a:pt x="555" y="91"/>
                  </a:lnTo>
                  <a:lnTo>
                    <a:pt x="555" y="57"/>
                  </a:lnTo>
                  <a:lnTo>
                    <a:pt x="521" y="34"/>
                  </a:lnTo>
                  <a:lnTo>
                    <a:pt x="487" y="46"/>
                  </a:lnTo>
                  <a:lnTo>
                    <a:pt x="453" y="57"/>
                  </a:lnTo>
                  <a:lnTo>
                    <a:pt x="419" y="68"/>
                  </a:lnTo>
                  <a:lnTo>
                    <a:pt x="385" y="68"/>
                  </a:lnTo>
                  <a:lnTo>
                    <a:pt x="351" y="68"/>
                  </a:lnTo>
                  <a:lnTo>
                    <a:pt x="317" y="80"/>
                  </a:lnTo>
                  <a:lnTo>
                    <a:pt x="260" y="113"/>
                  </a:lnTo>
                  <a:lnTo>
                    <a:pt x="249" y="68"/>
                  </a:lnTo>
                  <a:lnTo>
                    <a:pt x="272" y="34"/>
                  </a:lnTo>
                  <a:lnTo>
                    <a:pt x="306" y="12"/>
                  </a:lnTo>
                  <a:lnTo>
                    <a:pt x="340" y="0"/>
                  </a:lnTo>
                  <a:lnTo>
                    <a:pt x="374" y="0"/>
                  </a:lnTo>
                  <a:lnTo>
                    <a:pt x="408" y="0"/>
                  </a:lnTo>
                  <a:lnTo>
                    <a:pt x="442" y="0"/>
                  </a:lnTo>
                  <a:lnTo>
                    <a:pt x="476" y="0"/>
                  </a:lnTo>
                  <a:lnTo>
                    <a:pt x="510" y="12"/>
                  </a:lnTo>
                  <a:lnTo>
                    <a:pt x="532" y="46"/>
                  </a:lnTo>
                  <a:lnTo>
                    <a:pt x="548" y="65"/>
                  </a:lnTo>
                </a:path>
              </a:pathLst>
            </a:custGeom>
            <a:solidFill>
              <a:schemeClr val="bg2">
                <a:alpha val="50000"/>
              </a:schemeClr>
            </a:solidFill>
            <a:ln w="12700" cap="rnd"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892" name="Oval 1028"/>
            <p:cNvSpPr>
              <a:spLocks noChangeArrowheads="1"/>
            </p:cNvSpPr>
            <p:nvPr/>
          </p:nvSpPr>
          <p:spPr bwMode="auto">
            <a:xfrm>
              <a:off x="1968" y="2396"/>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93" name="Oval 1029"/>
            <p:cNvSpPr>
              <a:spLocks noChangeArrowheads="1"/>
            </p:cNvSpPr>
            <p:nvPr/>
          </p:nvSpPr>
          <p:spPr bwMode="auto">
            <a:xfrm>
              <a:off x="2832" y="2396"/>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94" name="Oval 1030"/>
            <p:cNvSpPr>
              <a:spLocks noChangeArrowheads="1"/>
            </p:cNvSpPr>
            <p:nvPr/>
          </p:nvSpPr>
          <p:spPr bwMode="auto">
            <a:xfrm>
              <a:off x="2308" y="2496"/>
              <a:ext cx="136" cy="136"/>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95" name="Oval 1031"/>
            <p:cNvSpPr>
              <a:spLocks noChangeArrowheads="1"/>
            </p:cNvSpPr>
            <p:nvPr/>
          </p:nvSpPr>
          <p:spPr bwMode="auto">
            <a:xfrm>
              <a:off x="2116" y="1968"/>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96" name="Oval 1032"/>
            <p:cNvSpPr>
              <a:spLocks noChangeArrowheads="1"/>
            </p:cNvSpPr>
            <p:nvPr/>
          </p:nvSpPr>
          <p:spPr bwMode="auto">
            <a:xfrm>
              <a:off x="2548" y="2064"/>
              <a:ext cx="136" cy="136"/>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97" name="Freeform 1033"/>
            <p:cNvSpPr>
              <a:spLocks/>
            </p:cNvSpPr>
            <p:nvPr/>
          </p:nvSpPr>
          <p:spPr bwMode="auto">
            <a:xfrm>
              <a:off x="1152" y="2854"/>
              <a:ext cx="3169" cy="983"/>
            </a:xfrm>
            <a:custGeom>
              <a:avLst/>
              <a:gdLst>
                <a:gd name="T0" fmla="*/ 100 w 3169"/>
                <a:gd name="T1" fmla="*/ 917 h 983"/>
                <a:gd name="T2" fmla="*/ 202 w 3169"/>
                <a:gd name="T3" fmla="*/ 849 h 983"/>
                <a:gd name="T4" fmla="*/ 293 w 3169"/>
                <a:gd name="T5" fmla="*/ 758 h 983"/>
                <a:gd name="T6" fmla="*/ 372 w 3169"/>
                <a:gd name="T7" fmla="*/ 656 h 983"/>
                <a:gd name="T8" fmla="*/ 440 w 3169"/>
                <a:gd name="T9" fmla="*/ 554 h 983"/>
                <a:gd name="T10" fmla="*/ 519 w 3169"/>
                <a:gd name="T11" fmla="*/ 453 h 983"/>
                <a:gd name="T12" fmla="*/ 610 w 3169"/>
                <a:gd name="T13" fmla="*/ 373 h 983"/>
                <a:gd name="T14" fmla="*/ 712 w 3169"/>
                <a:gd name="T15" fmla="*/ 317 h 983"/>
                <a:gd name="T16" fmla="*/ 813 w 3169"/>
                <a:gd name="T17" fmla="*/ 317 h 983"/>
                <a:gd name="T18" fmla="*/ 893 w 3169"/>
                <a:gd name="T19" fmla="*/ 362 h 983"/>
                <a:gd name="T20" fmla="*/ 927 w 3169"/>
                <a:gd name="T21" fmla="*/ 464 h 983"/>
                <a:gd name="T22" fmla="*/ 927 w 3169"/>
                <a:gd name="T23" fmla="*/ 566 h 983"/>
                <a:gd name="T24" fmla="*/ 983 w 3169"/>
                <a:gd name="T25" fmla="*/ 668 h 983"/>
                <a:gd name="T26" fmla="*/ 1085 w 3169"/>
                <a:gd name="T27" fmla="*/ 668 h 983"/>
                <a:gd name="T28" fmla="*/ 1131 w 3169"/>
                <a:gd name="T29" fmla="*/ 566 h 983"/>
                <a:gd name="T30" fmla="*/ 1187 w 3169"/>
                <a:gd name="T31" fmla="*/ 464 h 983"/>
                <a:gd name="T32" fmla="*/ 1289 w 3169"/>
                <a:gd name="T33" fmla="*/ 430 h 983"/>
                <a:gd name="T34" fmla="*/ 1391 w 3169"/>
                <a:gd name="T35" fmla="*/ 453 h 983"/>
                <a:gd name="T36" fmla="*/ 1470 w 3169"/>
                <a:gd name="T37" fmla="*/ 554 h 983"/>
                <a:gd name="T38" fmla="*/ 1561 w 3169"/>
                <a:gd name="T39" fmla="*/ 645 h 983"/>
                <a:gd name="T40" fmla="*/ 1663 w 3169"/>
                <a:gd name="T41" fmla="*/ 702 h 983"/>
                <a:gd name="T42" fmla="*/ 1753 w 3169"/>
                <a:gd name="T43" fmla="*/ 645 h 983"/>
                <a:gd name="T44" fmla="*/ 1765 w 3169"/>
                <a:gd name="T45" fmla="*/ 543 h 983"/>
                <a:gd name="T46" fmla="*/ 1753 w 3169"/>
                <a:gd name="T47" fmla="*/ 441 h 983"/>
                <a:gd name="T48" fmla="*/ 1765 w 3169"/>
                <a:gd name="T49" fmla="*/ 339 h 983"/>
                <a:gd name="T50" fmla="*/ 1855 w 3169"/>
                <a:gd name="T51" fmla="*/ 271 h 983"/>
                <a:gd name="T52" fmla="*/ 1957 w 3169"/>
                <a:gd name="T53" fmla="*/ 305 h 983"/>
                <a:gd name="T54" fmla="*/ 2048 w 3169"/>
                <a:gd name="T55" fmla="*/ 396 h 983"/>
                <a:gd name="T56" fmla="*/ 2150 w 3169"/>
                <a:gd name="T57" fmla="*/ 441 h 983"/>
                <a:gd name="T58" fmla="*/ 2240 w 3169"/>
                <a:gd name="T59" fmla="*/ 385 h 983"/>
                <a:gd name="T60" fmla="*/ 2206 w 3169"/>
                <a:gd name="T61" fmla="*/ 294 h 983"/>
                <a:gd name="T62" fmla="*/ 2104 w 3169"/>
                <a:gd name="T63" fmla="*/ 215 h 983"/>
                <a:gd name="T64" fmla="*/ 2082 w 3169"/>
                <a:gd name="T65" fmla="*/ 113 h 983"/>
                <a:gd name="T66" fmla="*/ 2082 w 3169"/>
                <a:gd name="T67" fmla="*/ 11 h 983"/>
                <a:gd name="T68" fmla="*/ 2184 w 3169"/>
                <a:gd name="T69" fmla="*/ 11 h 983"/>
                <a:gd name="T70" fmla="*/ 2286 w 3169"/>
                <a:gd name="T71" fmla="*/ 68 h 983"/>
                <a:gd name="T72" fmla="*/ 2387 w 3169"/>
                <a:gd name="T73" fmla="*/ 124 h 983"/>
                <a:gd name="T74" fmla="*/ 2523 w 3169"/>
                <a:gd name="T75" fmla="*/ 192 h 983"/>
                <a:gd name="T76" fmla="*/ 2637 w 3169"/>
                <a:gd name="T77" fmla="*/ 226 h 983"/>
                <a:gd name="T78" fmla="*/ 2739 w 3169"/>
                <a:gd name="T79" fmla="*/ 260 h 983"/>
                <a:gd name="T80" fmla="*/ 2840 w 3169"/>
                <a:gd name="T81" fmla="*/ 283 h 983"/>
                <a:gd name="T82" fmla="*/ 2942 w 3169"/>
                <a:gd name="T83" fmla="*/ 283 h 983"/>
                <a:gd name="T84" fmla="*/ 3044 w 3169"/>
                <a:gd name="T85" fmla="*/ 283 h 983"/>
                <a:gd name="T86" fmla="*/ 3146 w 3169"/>
                <a:gd name="T87" fmla="*/ 249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169" h="983">
                  <a:moveTo>
                    <a:pt x="0" y="982"/>
                  </a:moveTo>
                  <a:lnTo>
                    <a:pt x="66" y="939"/>
                  </a:lnTo>
                  <a:lnTo>
                    <a:pt x="100" y="917"/>
                  </a:lnTo>
                  <a:lnTo>
                    <a:pt x="134" y="905"/>
                  </a:lnTo>
                  <a:lnTo>
                    <a:pt x="168" y="883"/>
                  </a:lnTo>
                  <a:lnTo>
                    <a:pt x="202" y="849"/>
                  </a:lnTo>
                  <a:lnTo>
                    <a:pt x="236" y="815"/>
                  </a:lnTo>
                  <a:lnTo>
                    <a:pt x="270" y="792"/>
                  </a:lnTo>
                  <a:lnTo>
                    <a:pt x="293" y="758"/>
                  </a:lnTo>
                  <a:lnTo>
                    <a:pt x="327" y="724"/>
                  </a:lnTo>
                  <a:lnTo>
                    <a:pt x="349" y="690"/>
                  </a:lnTo>
                  <a:lnTo>
                    <a:pt x="372" y="656"/>
                  </a:lnTo>
                  <a:lnTo>
                    <a:pt x="395" y="622"/>
                  </a:lnTo>
                  <a:lnTo>
                    <a:pt x="417" y="588"/>
                  </a:lnTo>
                  <a:lnTo>
                    <a:pt x="440" y="554"/>
                  </a:lnTo>
                  <a:lnTo>
                    <a:pt x="462" y="520"/>
                  </a:lnTo>
                  <a:lnTo>
                    <a:pt x="496" y="486"/>
                  </a:lnTo>
                  <a:lnTo>
                    <a:pt x="519" y="453"/>
                  </a:lnTo>
                  <a:lnTo>
                    <a:pt x="553" y="430"/>
                  </a:lnTo>
                  <a:lnTo>
                    <a:pt x="576" y="396"/>
                  </a:lnTo>
                  <a:lnTo>
                    <a:pt x="610" y="373"/>
                  </a:lnTo>
                  <a:lnTo>
                    <a:pt x="644" y="351"/>
                  </a:lnTo>
                  <a:lnTo>
                    <a:pt x="678" y="339"/>
                  </a:lnTo>
                  <a:lnTo>
                    <a:pt x="712" y="317"/>
                  </a:lnTo>
                  <a:lnTo>
                    <a:pt x="746" y="317"/>
                  </a:lnTo>
                  <a:lnTo>
                    <a:pt x="780" y="317"/>
                  </a:lnTo>
                  <a:lnTo>
                    <a:pt x="813" y="317"/>
                  </a:lnTo>
                  <a:lnTo>
                    <a:pt x="847" y="317"/>
                  </a:lnTo>
                  <a:lnTo>
                    <a:pt x="881" y="328"/>
                  </a:lnTo>
                  <a:lnTo>
                    <a:pt x="893" y="362"/>
                  </a:lnTo>
                  <a:lnTo>
                    <a:pt x="904" y="396"/>
                  </a:lnTo>
                  <a:lnTo>
                    <a:pt x="915" y="430"/>
                  </a:lnTo>
                  <a:lnTo>
                    <a:pt x="927" y="464"/>
                  </a:lnTo>
                  <a:lnTo>
                    <a:pt x="927" y="498"/>
                  </a:lnTo>
                  <a:lnTo>
                    <a:pt x="927" y="532"/>
                  </a:lnTo>
                  <a:lnTo>
                    <a:pt x="927" y="566"/>
                  </a:lnTo>
                  <a:lnTo>
                    <a:pt x="938" y="600"/>
                  </a:lnTo>
                  <a:lnTo>
                    <a:pt x="949" y="634"/>
                  </a:lnTo>
                  <a:lnTo>
                    <a:pt x="983" y="668"/>
                  </a:lnTo>
                  <a:lnTo>
                    <a:pt x="1017" y="690"/>
                  </a:lnTo>
                  <a:lnTo>
                    <a:pt x="1051" y="690"/>
                  </a:lnTo>
                  <a:lnTo>
                    <a:pt x="1085" y="668"/>
                  </a:lnTo>
                  <a:lnTo>
                    <a:pt x="1097" y="634"/>
                  </a:lnTo>
                  <a:lnTo>
                    <a:pt x="1119" y="600"/>
                  </a:lnTo>
                  <a:lnTo>
                    <a:pt x="1131" y="566"/>
                  </a:lnTo>
                  <a:lnTo>
                    <a:pt x="1153" y="532"/>
                  </a:lnTo>
                  <a:lnTo>
                    <a:pt x="1165" y="498"/>
                  </a:lnTo>
                  <a:lnTo>
                    <a:pt x="1187" y="464"/>
                  </a:lnTo>
                  <a:lnTo>
                    <a:pt x="1221" y="441"/>
                  </a:lnTo>
                  <a:lnTo>
                    <a:pt x="1255" y="441"/>
                  </a:lnTo>
                  <a:lnTo>
                    <a:pt x="1289" y="430"/>
                  </a:lnTo>
                  <a:lnTo>
                    <a:pt x="1323" y="430"/>
                  </a:lnTo>
                  <a:lnTo>
                    <a:pt x="1357" y="430"/>
                  </a:lnTo>
                  <a:lnTo>
                    <a:pt x="1391" y="453"/>
                  </a:lnTo>
                  <a:lnTo>
                    <a:pt x="1425" y="486"/>
                  </a:lnTo>
                  <a:lnTo>
                    <a:pt x="1448" y="520"/>
                  </a:lnTo>
                  <a:lnTo>
                    <a:pt x="1470" y="554"/>
                  </a:lnTo>
                  <a:lnTo>
                    <a:pt x="1493" y="588"/>
                  </a:lnTo>
                  <a:lnTo>
                    <a:pt x="1527" y="622"/>
                  </a:lnTo>
                  <a:lnTo>
                    <a:pt x="1561" y="645"/>
                  </a:lnTo>
                  <a:lnTo>
                    <a:pt x="1595" y="679"/>
                  </a:lnTo>
                  <a:lnTo>
                    <a:pt x="1629" y="702"/>
                  </a:lnTo>
                  <a:lnTo>
                    <a:pt x="1663" y="702"/>
                  </a:lnTo>
                  <a:lnTo>
                    <a:pt x="1697" y="702"/>
                  </a:lnTo>
                  <a:lnTo>
                    <a:pt x="1731" y="679"/>
                  </a:lnTo>
                  <a:lnTo>
                    <a:pt x="1753" y="645"/>
                  </a:lnTo>
                  <a:lnTo>
                    <a:pt x="1765" y="611"/>
                  </a:lnTo>
                  <a:lnTo>
                    <a:pt x="1765" y="577"/>
                  </a:lnTo>
                  <a:lnTo>
                    <a:pt x="1765" y="543"/>
                  </a:lnTo>
                  <a:lnTo>
                    <a:pt x="1753" y="509"/>
                  </a:lnTo>
                  <a:lnTo>
                    <a:pt x="1753" y="475"/>
                  </a:lnTo>
                  <a:lnTo>
                    <a:pt x="1753" y="441"/>
                  </a:lnTo>
                  <a:lnTo>
                    <a:pt x="1753" y="407"/>
                  </a:lnTo>
                  <a:lnTo>
                    <a:pt x="1753" y="373"/>
                  </a:lnTo>
                  <a:lnTo>
                    <a:pt x="1765" y="339"/>
                  </a:lnTo>
                  <a:lnTo>
                    <a:pt x="1787" y="305"/>
                  </a:lnTo>
                  <a:lnTo>
                    <a:pt x="1821" y="294"/>
                  </a:lnTo>
                  <a:lnTo>
                    <a:pt x="1855" y="271"/>
                  </a:lnTo>
                  <a:lnTo>
                    <a:pt x="1889" y="271"/>
                  </a:lnTo>
                  <a:lnTo>
                    <a:pt x="1923" y="283"/>
                  </a:lnTo>
                  <a:lnTo>
                    <a:pt x="1957" y="305"/>
                  </a:lnTo>
                  <a:lnTo>
                    <a:pt x="1980" y="339"/>
                  </a:lnTo>
                  <a:lnTo>
                    <a:pt x="2014" y="362"/>
                  </a:lnTo>
                  <a:lnTo>
                    <a:pt x="2048" y="396"/>
                  </a:lnTo>
                  <a:lnTo>
                    <a:pt x="2082" y="419"/>
                  </a:lnTo>
                  <a:lnTo>
                    <a:pt x="2116" y="441"/>
                  </a:lnTo>
                  <a:lnTo>
                    <a:pt x="2150" y="441"/>
                  </a:lnTo>
                  <a:lnTo>
                    <a:pt x="2184" y="441"/>
                  </a:lnTo>
                  <a:lnTo>
                    <a:pt x="2218" y="419"/>
                  </a:lnTo>
                  <a:lnTo>
                    <a:pt x="2240" y="385"/>
                  </a:lnTo>
                  <a:lnTo>
                    <a:pt x="2252" y="351"/>
                  </a:lnTo>
                  <a:lnTo>
                    <a:pt x="2240" y="317"/>
                  </a:lnTo>
                  <a:lnTo>
                    <a:pt x="2206" y="294"/>
                  </a:lnTo>
                  <a:lnTo>
                    <a:pt x="2172" y="271"/>
                  </a:lnTo>
                  <a:lnTo>
                    <a:pt x="2138" y="249"/>
                  </a:lnTo>
                  <a:lnTo>
                    <a:pt x="2104" y="215"/>
                  </a:lnTo>
                  <a:lnTo>
                    <a:pt x="2093" y="181"/>
                  </a:lnTo>
                  <a:lnTo>
                    <a:pt x="2082" y="147"/>
                  </a:lnTo>
                  <a:lnTo>
                    <a:pt x="2082" y="113"/>
                  </a:lnTo>
                  <a:lnTo>
                    <a:pt x="2082" y="79"/>
                  </a:lnTo>
                  <a:lnTo>
                    <a:pt x="2082" y="45"/>
                  </a:lnTo>
                  <a:lnTo>
                    <a:pt x="2082" y="11"/>
                  </a:lnTo>
                  <a:lnTo>
                    <a:pt x="2116" y="0"/>
                  </a:lnTo>
                  <a:lnTo>
                    <a:pt x="2150" y="0"/>
                  </a:lnTo>
                  <a:lnTo>
                    <a:pt x="2184" y="11"/>
                  </a:lnTo>
                  <a:lnTo>
                    <a:pt x="2218" y="22"/>
                  </a:lnTo>
                  <a:lnTo>
                    <a:pt x="2252" y="45"/>
                  </a:lnTo>
                  <a:lnTo>
                    <a:pt x="2286" y="68"/>
                  </a:lnTo>
                  <a:lnTo>
                    <a:pt x="2320" y="90"/>
                  </a:lnTo>
                  <a:lnTo>
                    <a:pt x="2354" y="102"/>
                  </a:lnTo>
                  <a:lnTo>
                    <a:pt x="2387" y="124"/>
                  </a:lnTo>
                  <a:lnTo>
                    <a:pt x="2433" y="147"/>
                  </a:lnTo>
                  <a:lnTo>
                    <a:pt x="2478" y="170"/>
                  </a:lnTo>
                  <a:lnTo>
                    <a:pt x="2523" y="192"/>
                  </a:lnTo>
                  <a:lnTo>
                    <a:pt x="2557" y="204"/>
                  </a:lnTo>
                  <a:lnTo>
                    <a:pt x="2591" y="215"/>
                  </a:lnTo>
                  <a:lnTo>
                    <a:pt x="2637" y="226"/>
                  </a:lnTo>
                  <a:lnTo>
                    <a:pt x="2671" y="237"/>
                  </a:lnTo>
                  <a:lnTo>
                    <a:pt x="2705" y="249"/>
                  </a:lnTo>
                  <a:lnTo>
                    <a:pt x="2739" y="260"/>
                  </a:lnTo>
                  <a:lnTo>
                    <a:pt x="2772" y="271"/>
                  </a:lnTo>
                  <a:lnTo>
                    <a:pt x="2806" y="271"/>
                  </a:lnTo>
                  <a:lnTo>
                    <a:pt x="2840" y="283"/>
                  </a:lnTo>
                  <a:lnTo>
                    <a:pt x="2874" y="283"/>
                  </a:lnTo>
                  <a:lnTo>
                    <a:pt x="2908" y="283"/>
                  </a:lnTo>
                  <a:lnTo>
                    <a:pt x="2942" y="283"/>
                  </a:lnTo>
                  <a:lnTo>
                    <a:pt x="2976" y="283"/>
                  </a:lnTo>
                  <a:lnTo>
                    <a:pt x="3010" y="283"/>
                  </a:lnTo>
                  <a:lnTo>
                    <a:pt x="3044" y="283"/>
                  </a:lnTo>
                  <a:lnTo>
                    <a:pt x="3078" y="283"/>
                  </a:lnTo>
                  <a:lnTo>
                    <a:pt x="3112" y="271"/>
                  </a:lnTo>
                  <a:lnTo>
                    <a:pt x="3146" y="249"/>
                  </a:lnTo>
                  <a:lnTo>
                    <a:pt x="3168" y="214"/>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898" name="Oval 1034"/>
            <p:cNvSpPr>
              <a:spLocks noChangeArrowheads="1"/>
            </p:cNvSpPr>
            <p:nvPr/>
          </p:nvSpPr>
          <p:spPr bwMode="auto">
            <a:xfrm>
              <a:off x="1828" y="3168"/>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899" name="Oval 1035"/>
            <p:cNvSpPr>
              <a:spLocks noChangeArrowheads="1"/>
            </p:cNvSpPr>
            <p:nvPr/>
          </p:nvSpPr>
          <p:spPr bwMode="auto">
            <a:xfrm>
              <a:off x="3220" y="2880"/>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00" name="Oval 1036"/>
            <p:cNvSpPr>
              <a:spLocks noChangeArrowheads="1"/>
            </p:cNvSpPr>
            <p:nvPr/>
          </p:nvSpPr>
          <p:spPr bwMode="auto">
            <a:xfrm>
              <a:off x="2932" y="3120"/>
              <a:ext cx="184" cy="88"/>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01" name="Freeform 1037"/>
            <p:cNvSpPr>
              <a:spLocks/>
            </p:cNvSpPr>
            <p:nvPr/>
          </p:nvSpPr>
          <p:spPr bwMode="auto">
            <a:xfrm>
              <a:off x="1152" y="2978"/>
              <a:ext cx="3340" cy="1246"/>
            </a:xfrm>
            <a:custGeom>
              <a:avLst/>
              <a:gdLst>
                <a:gd name="T0" fmla="*/ 123 w 3340"/>
                <a:gd name="T1" fmla="*/ 849 h 1246"/>
                <a:gd name="T2" fmla="*/ 259 w 3340"/>
                <a:gd name="T3" fmla="*/ 747 h 1246"/>
                <a:gd name="T4" fmla="*/ 372 w 3340"/>
                <a:gd name="T5" fmla="*/ 612 h 1246"/>
                <a:gd name="T6" fmla="*/ 462 w 3340"/>
                <a:gd name="T7" fmla="*/ 476 h 1246"/>
                <a:gd name="T8" fmla="*/ 576 w 3340"/>
                <a:gd name="T9" fmla="*/ 351 h 1246"/>
                <a:gd name="T10" fmla="*/ 712 w 3340"/>
                <a:gd name="T11" fmla="*/ 306 h 1246"/>
                <a:gd name="T12" fmla="*/ 847 w 3340"/>
                <a:gd name="T13" fmla="*/ 306 h 1246"/>
                <a:gd name="T14" fmla="*/ 881 w 3340"/>
                <a:gd name="T15" fmla="*/ 442 h 1246"/>
                <a:gd name="T16" fmla="*/ 961 w 3340"/>
                <a:gd name="T17" fmla="*/ 566 h 1246"/>
                <a:gd name="T18" fmla="*/ 1097 w 3340"/>
                <a:gd name="T19" fmla="*/ 612 h 1246"/>
                <a:gd name="T20" fmla="*/ 1165 w 3340"/>
                <a:gd name="T21" fmla="*/ 476 h 1246"/>
                <a:gd name="T22" fmla="*/ 1300 w 3340"/>
                <a:gd name="T23" fmla="*/ 396 h 1246"/>
                <a:gd name="T24" fmla="*/ 1436 w 3340"/>
                <a:gd name="T25" fmla="*/ 396 h 1246"/>
                <a:gd name="T26" fmla="*/ 1538 w 3340"/>
                <a:gd name="T27" fmla="*/ 532 h 1246"/>
                <a:gd name="T28" fmla="*/ 1674 w 3340"/>
                <a:gd name="T29" fmla="*/ 612 h 1246"/>
                <a:gd name="T30" fmla="*/ 1753 w 3340"/>
                <a:gd name="T31" fmla="*/ 555 h 1246"/>
                <a:gd name="T32" fmla="*/ 1821 w 3340"/>
                <a:gd name="T33" fmla="*/ 430 h 1246"/>
                <a:gd name="T34" fmla="*/ 1821 w 3340"/>
                <a:gd name="T35" fmla="*/ 295 h 1246"/>
                <a:gd name="T36" fmla="*/ 1946 w 3340"/>
                <a:gd name="T37" fmla="*/ 261 h 1246"/>
                <a:gd name="T38" fmla="*/ 2082 w 3340"/>
                <a:gd name="T39" fmla="*/ 306 h 1246"/>
                <a:gd name="T40" fmla="*/ 2218 w 3340"/>
                <a:gd name="T41" fmla="*/ 317 h 1246"/>
                <a:gd name="T42" fmla="*/ 2252 w 3340"/>
                <a:gd name="T43" fmla="*/ 215 h 1246"/>
                <a:gd name="T44" fmla="*/ 2172 w 3340"/>
                <a:gd name="T45" fmla="*/ 80 h 1246"/>
                <a:gd name="T46" fmla="*/ 2263 w 3340"/>
                <a:gd name="T47" fmla="*/ 0 h 1246"/>
                <a:gd name="T48" fmla="*/ 2399 w 3340"/>
                <a:gd name="T49" fmla="*/ 23 h 1246"/>
                <a:gd name="T50" fmla="*/ 2535 w 3340"/>
                <a:gd name="T51" fmla="*/ 80 h 1246"/>
                <a:gd name="T52" fmla="*/ 2671 w 3340"/>
                <a:gd name="T53" fmla="*/ 125 h 1246"/>
                <a:gd name="T54" fmla="*/ 2818 w 3340"/>
                <a:gd name="T55" fmla="*/ 181 h 1246"/>
                <a:gd name="T56" fmla="*/ 2965 w 3340"/>
                <a:gd name="T57" fmla="*/ 215 h 1246"/>
                <a:gd name="T58" fmla="*/ 3101 w 3340"/>
                <a:gd name="T59" fmla="*/ 204 h 1246"/>
                <a:gd name="T60" fmla="*/ 3237 w 3340"/>
                <a:gd name="T61" fmla="*/ 170 h 1246"/>
                <a:gd name="T62" fmla="*/ 3327 w 3340"/>
                <a:gd name="T63" fmla="*/ 261 h 1246"/>
                <a:gd name="T64" fmla="*/ 3316 w 3340"/>
                <a:gd name="T65" fmla="*/ 396 h 1246"/>
                <a:gd name="T66" fmla="*/ 3225 w 3340"/>
                <a:gd name="T67" fmla="*/ 532 h 1246"/>
                <a:gd name="T68" fmla="*/ 3101 w 3340"/>
                <a:gd name="T69" fmla="*/ 668 h 1246"/>
                <a:gd name="T70" fmla="*/ 2954 w 3340"/>
                <a:gd name="T71" fmla="*/ 781 h 1246"/>
                <a:gd name="T72" fmla="*/ 2795 w 3340"/>
                <a:gd name="T73" fmla="*/ 872 h 1246"/>
                <a:gd name="T74" fmla="*/ 2625 w 3340"/>
                <a:gd name="T75" fmla="*/ 962 h 1246"/>
                <a:gd name="T76" fmla="*/ 2331 w 3340"/>
                <a:gd name="T77" fmla="*/ 1030 h 1246"/>
                <a:gd name="T78" fmla="*/ 2070 w 3340"/>
                <a:gd name="T79" fmla="*/ 1098 h 1246"/>
                <a:gd name="T80" fmla="*/ 1923 w 3340"/>
                <a:gd name="T81" fmla="*/ 1132 h 1246"/>
                <a:gd name="T82" fmla="*/ 1742 w 3340"/>
                <a:gd name="T83" fmla="*/ 1177 h 1246"/>
                <a:gd name="T84" fmla="*/ 1606 w 3340"/>
                <a:gd name="T85" fmla="*/ 1211 h 1246"/>
                <a:gd name="T86" fmla="*/ 1459 w 3340"/>
                <a:gd name="T87" fmla="*/ 1234 h 1246"/>
                <a:gd name="T88" fmla="*/ 1312 w 3340"/>
                <a:gd name="T89" fmla="*/ 1245 h 1246"/>
                <a:gd name="T90" fmla="*/ 1165 w 3340"/>
                <a:gd name="T91" fmla="*/ 1245 h 1246"/>
                <a:gd name="T92" fmla="*/ 1017 w 3340"/>
                <a:gd name="T93" fmla="*/ 1245 h 1246"/>
                <a:gd name="T94" fmla="*/ 836 w 3340"/>
                <a:gd name="T95" fmla="*/ 1245 h 1246"/>
                <a:gd name="T96" fmla="*/ 644 w 3340"/>
                <a:gd name="T97" fmla="*/ 1223 h 1246"/>
                <a:gd name="T98" fmla="*/ 281 w 3340"/>
                <a:gd name="T99" fmla="*/ 1155 h 1246"/>
                <a:gd name="T100" fmla="*/ 145 w 3340"/>
                <a:gd name="T101" fmla="*/ 1076 h 1246"/>
                <a:gd name="T102" fmla="*/ 32 w 3340"/>
                <a:gd name="T103" fmla="*/ 985 h 1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40" h="1246">
                  <a:moveTo>
                    <a:pt x="0" y="906"/>
                  </a:moveTo>
                  <a:lnTo>
                    <a:pt x="55" y="883"/>
                  </a:lnTo>
                  <a:lnTo>
                    <a:pt x="89" y="861"/>
                  </a:lnTo>
                  <a:lnTo>
                    <a:pt x="123" y="849"/>
                  </a:lnTo>
                  <a:lnTo>
                    <a:pt x="157" y="838"/>
                  </a:lnTo>
                  <a:lnTo>
                    <a:pt x="191" y="815"/>
                  </a:lnTo>
                  <a:lnTo>
                    <a:pt x="225" y="781"/>
                  </a:lnTo>
                  <a:lnTo>
                    <a:pt x="259" y="747"/>
                  </a:lnTo>
                  <a:lnTo>
                    <a:pt x="281" y="713"/>
                  </a:lnTo>
                  <a:lnTo>
                    <a:pt x="304" y="679"/>
                  </a:lnTo>
                  <a:lnTo>
                    <a:pt x="338" y="645"/>
                  </a:lnTo>
                  <a:lnTo>
                    <a:pt x="372" y="612"/>
                  </a:lnTo>
                  <a:lnTo>
                    <a:pt x="395" y="578"/>
                  </a:lnTo>
                  <a:lnTo>
                    <a:pt x="417" y="544"/>
                  </a:lnTo>
                  <a:lnTo>
                    <a:pt x="440" y="510"/>
                  </a:lnTo>
                  <a:lnTo>
                    <a:pt x="462" y="476"/>
                  </a:lnTo>
                  <a:lnTo>
                    <a:pt x="496" y="442"/>
                  </a:lnTo>
                  <a:lnTo>
                    <a:pt x="519" y="408"/>
                  </a:lnTo>
                  <a:lnTo>
                    <a:pt x="542" y="374"/>
                  </a:lnTo>
                  <a:lnTo>
                    <a:pt x="576" y="351"/>
                  </a:lnTo>
                  <a:lnTo>
                    <a:pt x="610" y="317"/>
                  </a:lnTo>
                  <a:lnTo>
                    <a:pt x="644" y="306"/>
                  </a:lnTo>
                  <a:lnTo>
                    <a:pt x="678" y="295"/>
                  </a:lnTo>
                  <a:lnTo>
                    <a:pt x="712" y="306"/>
                  </a:lnTo>
                  <a:lnTo>
                    <a:pt x="746" y="306"/>
                  </a:lnTo>
                  <a:lnTo>
                    <a:pt x="780" y="295"/>
                  </a:lnTo>
                  <a:lnTo>
                    <a:pt x="813" y="295"/>
                  </a:lnTo>
                  <a:lnTo>
                    <a:pt x="847" y="306"/>
                  </a:lnTo>
                  <a:lnTo>
                    <a:pt x="859" y="340"/>
                  </a:lnTo>
                  <a:lnTo>
                    <a:pt x="870" y="374"/>
                  </a:lnTo>
                  <a:lnTo>
                    <a:pt x="881" y="408"/>
                  </a:lnTo>
                  <a:lnTo>
                    <a:pt x="881" y="442"/>
                  </a:lnTo>
                  <a:lnTo>
                    <a:pt x="893" y="476"/>
                  </a:lnTo>
                  <a:lnTo>
                    <a:pt x="904" y="510"/>
                  </a:lnTo>
                  <a:lnTo>
                    <a:pt x="938" y="532"/>
                  </a:lnTo>
                  <a:lnTo>
                    <a:pt x="961" y="566"/>
                  </a:lnTo>
                  <a:lnTo>
                    <a:pt x="995" y="589"/>
                  </a:lnTo>
                  <a:lnTo>
                    <a:pt x="1029" y="612"/>
                  </a:lnTo>
                  <a:lnTo>
                    <a:pt x="1063" y="623"/>
                  </a:lnTo>
                  <a:lnTo>
                    <a:pt x="1097" y="612"/>
                  </a:lnTo>
                  <a:lnTo>
                    <a:pt x="1108" y="578"/>
                  </a:lnTo>
                  <a:lnTo>
                    <a:pt x="1131" y="544"/>
                  </a:lnTo>
                  <a:lnTo>
                    <a:pt x="1153" y="510"/>
                  </a:lnTo>
                  <a:lnTo>
                    <a:pt x="1165" y="476"/>
                  </a:lnTo>
                  <a:lnTo>
                    <a:pt x="1198" y="442"/>
                  </a:lnTo>
                  <a:lnTo>
                    <a:pt x="1232" y="419"/>
                  </a:lnTo>
                  <a:lnTo>
                    <a:pt x="1266" y="396"/>
                  </a:lnTo>
                  <a:lnTo>
                    <a:pt x="1300" y="396"/>
                  </a:lnTo>
                  <a:lnTo>
                    <a:pt x="1334" y="385"/>
                  </a:lnTo>
                  <a:lnTo>
                    <a:pt x="1368" y="385"/>
                  </a:lnTo>
                  <a:lnTo>
                    <a:pt x="1402" y="385"/>
                  </a:lnTo>
                  <a:lnTo>
                    <a:pt x="1436" y="396"/>
                  </a:lnTo>
                  <a:lnTo>
                    <a:pt x="1470" y="430"/>
                  </a:lnTo>
                  <a:lnTo>
                    <a:pt x="1493" y="464"/>
                  </a:lnTo>
                  <a:lnTo>
                    <a:pt x="1516" y="498"/>
                  </a:lnTo>
                  <a:lnTo>
                    <a:pt x="1538" y="532"/>
                  </a:lnTo>
                  <a:lnTo>
                    <a:pt x="1572" y="555"/>
                  </a:lnTo>
                  <a:lnTo>
                    <a:pt x="1606" y="578"/>
                  </a:lnTo>
                  <a:lnTo>
                    <a:pt x="1640" y="600"/>
                  </a:lnTo>
                  <a:lnTo>
                    <a:pt x="1674" y="612"/>
                  </a:lnTo>
                  <a:lnTo>
                    <a:pt x="1708" y="623"/>
                  </a:lnTo>
                  <a:lnTo>
                    <a:pt x="1742" y="623"/>
                  </a:lnTo>
                  <a:lnTo>
                    <a:pt x="1742" y="589"/>
                  </a:lnTo>
                  <a:lnTo>
                    <a:pt x="1753" y="555"/>
                  </a:lnTo>
                  <a:lnTo>
                    <a:pt x="1765" y="521"/>
                  </a:lnTo>
                  <a:lnTo>
                    <a:pt x="1776" y="487"/>
                  </a:lnTo>
                  <a:lnTo>
                    <a:pt x="1810" y="464"/>
                  </a:lnTo>
                  <a:lnTo>
                    <a:pt x="1821" y="430"/>
                  </a:lnTo>
                  <a:lnTo>
                    <a:pt x="1810" y="396"/>
                  </a:lnTo>
                  <a:lnTo>
                    <a:pt x="1810" y="362"/>
                  </a:lnTo>
                  <a:lnTo>
                    <a:pt x="1810" y="329"/>
                  </a:lnTo>
                  <a:lnTo>
                    <a:pt x="1821" y="295"/>
                  </a:lnTo>
                  <a:lnTo>
                    <a:pt x="1844" y="261"/>
                  </a:lnTo>
                  <a:lnTo>
                    <a:pt x="1878" y="261"/>
                  </a:lnTo>
                  <a:lnTo>
                    <a:pt x="1912" y="261"/>
                  </a:lnTo>
                  <a:lnTo>
                    <a:pt x="1946" y="261"/>
                  </a:lnTo>
                  <a:lnTo>
                    <a:pt x="1980" y="272"/>
                  </a:lnTo>
                  <a:lnTo>
                    <a:pt x="2014" y="283"/>
                  </a:lnTo>
                  <a:lnTo>
                    <a:pt x="2048" y="295"/>
                  </a:lnTo>
                  <a:lnTo>
                    <a:pt x="2082" y="306"/>
                  </a:lnTo>
                  <a:lnTo>
                    <a:pt x="2116" y="306"/>
                  </a:lnTo>
                  <a:lnTo>
                    <a:pt x="2150" y="317"/>
                  </a:lnTo>
                  <a:lnTo>
                    <a:pt x="2184" y="317"/>
                  </a:lnTo>
                  <a:lnTo>
                    <a:pt x="2218" y="317"/>
                  </a:lnTo>
                  <a:lnTo>
                    <a:pt x="2252" y="317"/>
                  </a:lnTo>
                  <a:lnTo>
                    <a:pt x="2274" y="283"/>
                  </a:lnTo>
                  <a:lnTo>
                    <a:pt x="2274" y="249"/>
                  </a:lnTo>
                  <a:lnTo>
                    <a:pt x="2252" y="215"/>
                  </a:lnTo>
                  <a:lnTo>
                    <a:pt x="2229" y="181"/>
                  </a:lnTo>
                  <a:lnTo>
                    <a:pt x="2206" y="147"/>
                  </a:lnTo>
                  <a:lnTo>
                    <a:pt x="2184" y="113"/>
                  </a:lnTo>
                  <a:lnTo>
                    <a:pt x="2172" y="80"/>
                  </a:lnTo>
                  <a:lnTo>
                    <a:pt x="2184" y="46"/>
                  </a:lnTo>
                  <a:lnTo>
                    <a:pt x="2195" y="12"/>
                  </a:lnTo>
                  <a:lnTo>
                    <a:pt x="2229" y="0"/>
                  </a:lnTo>
                  <a:lnTo>
                    <a:pt x="2263" y="0"/>
                  </a:lnTo>
                  <a:lnTo>
                    <a:pt x="2297" y="0"/>
                  </a:lnTo>
                  <a:lnTo>
                    <a:pt x="2331" y="12"/>
                  </a:lnTo>
                  <a:lnTo>
                    <a:pt x="2365" y="12"/>
                  </a:lnTo>
                  <a:lnTo>
                    <a:pt x="2399" y="23"/>
                  </a:lnTo>
                  <a:lnTo>
                    <a:pt x="2433" y="34"/>
                  </a:lnTo>
                  <a:lnTo>
                    <a:pt x="2467" y="46"/>
                  </a:lnTo>
                  <a:lnTo>
                    <a:pt x="2501" y="57"/>
                  </a:lnTo>
                  <a:lnTo>
                    <a:pt x="2535" y="80"/>
                  </a:lnTo>
                  <a:lnTo>
                    <a:pt x="2569" y="91"/>
                  </a:lnTo>
                  <a:lnTo>
                    <a:pt x="2603" y="102"/>
                  </a:lnTo>
                  <a:lnTo>
                    <a:pt x="2637" y="113"/>
                  </a:lnTo>
                  <a:lnTo>
                    <a:pt x="2671" y="125"/>
                  </a:lnTo>
                  <a:lnTo>
                    <a:pt x="2705" y="136"/>
                  </a:lnTo>
                  <a:lnTo>
                    <a:pt x="2739" y="147"/>
                  </a:lnTo>
                  <a:lnTo>
                    <a:pt x="2784" y="170"/>
                  </a:lnTo>
                  <a:lnTo>
                    <a:pt x="2818" y="181"/>
                  </a:lnTo>
                  <a:lnTo>
                    <a:pt x="2863" y="193"/>
                  </a:lnTo>
                  <a:lnTo>
                    <a:pt x="2897" y="204"/>
                  </a:lnTo>
                  <a:lnTo>
                    <a:pt x="2931" y="204"/>
                  </a:lnTo>
                  <a:lnTo>
                    <a:pt x="2965" y="215"/>
                  </a:lnTo>
                  <a:lnTo>
                    <a:pt x="2999" y="215"/>
                  </a:lnTo>
                  <a:lnTo>
                    <a:pt x="3033" y="215"/>
                  </a:lnTo>
                  <a:lnTo>
                    <a:pt x="3067" y="215"/>
                  </a:lnTo>
                  <a:lnTo>
                    <a:pt x="3101" y="204"/>
                  </a:lnTo>
                  <a:lnTo>
                    <a:pt x="3135" y="204"/>
                  </a:lnTo>
                  <a:lnTo>
                    <a:pt x="3169" y="181"/>
                  </a:lnTo>
                  <a:lnTo>
                    <a:pt x="3203" y="170"/>
                  </a:lnTo>
                  <a:lnTo>
                    <a:pt x="3237" y="170"/>
                  </a:lnTo>
                  <a:lnTo>
                    <a:pt x="3271" y="170"/>
                  </a:lnTo>
                  <a:lnTo>
                    <a:pt x="3305" y="193"/>
                  </a:lnTo>
                  <a:lnTo>
                    <a:pt x="3316" y="227"/>
                  </a:lnTo>
                  <a:lnTo>
                    <a:pt x="3327" y="261"/>
                  </a:lnTo>
                  <a:lnTo>
                    <a:pt x="3327" y="295"/>
                  </a:lnTo>
                  <a:lnTo>
                    <a:pt x="3339" y="329"/>
                  </a:lnTo>
                  <a:lnTo>
                    <a:pt x="3339" y="362"/>
                  </a:lnTo>
                  <a:lnTo>
                    <a:pt x="3316" y="396"/>
                  </a:lnTo>
                  <a:lnTo>
                    <a:pt x="3305" y="430"/>
                  </a:lnTo>
                  <a:lnTo>
                    <a:pt x="3282" y="464"/>
                  </a:lnTo>
                  <a:lnTo>
                    <a:pt x="3259" y="498"/>
                  </a:lnTo>
                  <a:lnTo>
                    <a:pt x="3225" y="532"/>
                  </a:lnTo>
                  <a:lnTo>
                    <a:pt x="3203" y="566"/>
                  </a:lnTo>
                  <a:lnTo>
                    <a:pt x="3169" y="600"/>
                  </a:lnTo>
                  <a:lnTo>
                    <a:pt x="3135" y="634"/>
                  </a:lnTo>
                  <a:lnTo>
                    <a:pt x="3101" y="668"/>
                  </a:lnTo>
                  <a:lnTo>
                    <a:pt x="3056" y="702"/>
                  </a:lnTo>
                  <a:lnTo>
                    <a:pt x="3022" y="736"/>
                  </a:lnTo>
                  <a:lnTo>
                    <a:pt x="2988" y="759"/>
                  </a:lnTo>
                  <a:lnTo>
                    <a:pt x="2954" y="781"/>
                  </a:lnTo>
                  <a:lnTo>
                    <a:pt x="2908" y="804"/>
                  </a:lnTo>
                  <a:lnTo>
                    <a:pt x="2863" y="838"/>
                  </a:lnTo>
                  <a:lnTo>
                    <a:pt x="2829" y="861"/>
                  </a:lnTo>
                  <a:lnTo>
                    <a:pt x="2795" y="872"/>
                  </a:lnTo>
                  <a:lnTo>
                    <a:pt x="2750" y="894"/>
                  </a:lnTo>
                  <a:lnTo>
                    <a:pt x="2716" y="917"/>
                  </a:lnTo>
                  <a:lnTo>
                    <a:pt x="2671" y="940"/>
                  </a:lnTo>
                  <a:lnTo>
                    <a:pt x="2625" y="962"/>
                  </a:lnTo>
                  <a:lnTo>
                    <a:pt x="2591" y="974"/>
                  </a:lnTo>
                  <a:lnTo>
                    <a:pt x="2501" y="996"/>
                  </a:lnTo>
                  <a:lnTo>
                    <a:pt x="2421" y="1019"/>
                  </a:lnTo>
                  <a:lnTo>
                    <a:pt x="2331" y="1030"/>
                  </a:lnTo>
                  <a:lnTo>
                    <a:pt x="2252" y="1053"/>
                  </a:lnTo>
                  <a:lnTo>
                    <a:pt x="2206" y="1064"/>
                  </a:lnTo>
                  <a:lnTo>
                    <a:pt x="2116" y="1087"/>
                  </a:lnTo>
                  <a:lnTo>
                    <a:pt x="2070" y="1098"/>
                  </a:lnTo>
                  <a:lnTo>
                    <a:pt x="2025" y="1110"/>
                  </a:lnTo>
                  <a:lnTo>
                    <a:pt x="1991" y="1121"/>
                  </a:lnTo>
                  <a:lnTo>
                    <a:pt x="1957" y="1132"/>
                  </a:lnTo>
                  <a:lnTo>
                    <a:pt x="1923" y="1132"/>
                  </a:lnTo>
                  <a:lnTo>
                    <a:pt x="1844" y="1155"/>
                  </a:lnTo>
                  <a:lnTo>
                    <a:pt x="1810" y="1166"/>
                  </a:lnTo>
                  <a:lnTo>
                    <a:pt x="1776" y="1166"/>
                  </a:lnTo>
                  <a:lnTo>
                    <a:pt x="1742" y="1177"/>
                  </a:lnTo>
                  <a:lnTo>
                    <a:pt x="1708" y="1189"/>
                  </a:lnTo>
                  <a:lnTo>
                    <a:pt x="1674" y="1189"/>
                  </a:lnTo>
                  <a:lnTo>
                    <a:pt x="1640" y="1200"/>
                  </a:lnTo>
                  <a:lnTo>
                    <a:pt x="1606" y="1211"/>
                  </a:lnTo>
                  <a:lnTo>
                    <a:pt x="1561" y="1211"/>
                  </a:lnTo>
                  <a:lnTo>
                    <a:pt x="1527" y="1223"/>
                  </a:lnTo>
                  <a:lnTo>
                    <a:pt x="1493" y="1223"/>
                  </a:lnTo>
                  <a:lnTo>
                    <a:pt x="1459" y="1234"/>
                  </a:lnTo>
                  <a:lnTo>
                    <a:pt x="1425" y="1234"/>
                  </a:lnTo>
                  <a:lnTo>
                    <a:pt x="1391" y="1234"/>
                  </a:lnTo>
                  <a:lnTo>
                    <a:pt x="1346" y="1245"/>
                  </a:lnTo>
                  <a:lnTo>
                    <a:pt x="1312" y="1245"/>
                  </a:lnTo>
                  <a:lnTo>
                    <a:pt x="1278" y="1245"/>
                  </a:lnTo>
                  <a:lnTo>
                    <a:pt x="1244" y="1245"/>
                  </a:lnTo>
                  <a:lnTo>
                    <a:pt x="1210" y="1245"/>
                  </a:lnTo>
                  <a:lnTo>
                    <a:pt x="1165" y="1245"/>
                  </a:lnTo>
                  <a:lnTo>
                    <a:pt x="1131" y="1245"/>
                  </a:lnTo>
                  <a:lnTo>
                    <a:pt x="1097" y="1245"/>
                  </a:lnTo>
                  <a:lnTo>
                    <a:pt x="1063" y="1245"/>
                  </a:lnTo>
                  <a:lnTo>
                    <a:pt x="1017" y="1245"/>
                  </a:lnTo>
                  <a:lnTo>
                    <a:pt x="983" y="1245"/>
                  </a:lnTo>
                  <a:lnTo>
                    <a:pt x="938" y="1245"/>
                  </a:lnTo>
                  <a:lnTo>
                    <a:pt x="870" y="1245"/>
                  </a:lnTo>
                  <a:lnTo>
                    <a:pt x="836" y="1245"/>
                  </a:lnTo>
                  <a:lnTo>
                    <a:pt x="802" y="1234"/>
                  </a:lnTo>
                  <a:lnTo>
                    <a:pt x="768" y="1234"/>
                  </a:lnTo>
                  <a:lnTo>
                    <a:pt x="678" y="1234"/>
                  </a:lnTo>
                  <a:lnTo>
                    <a:pt x="644" y="1223"/>
                  </a:lnTo>
                  <a:lnTo>
                    <a:pt x="553" y="1211"/>
                  </a:lnTo>
                  <a:lnTo>
                    <a:pt x="462" y="1189"/>
                  </a:lnTo>
                  <a:lnTo>
                    <a:pt x="372" y="1166"/>
                  </a:lnTo>
                  <a:lnTo>
                    <a:pt x="281" y="1155"/>
                  </a:lnTo>
                  <a:lnTo>
                    <a:pt x="247" y="1143"/>
                  </a:lnTo>
                  <a:lnTo>
                    <a:pt x="213" y="1121"/>
                  </a:lnTo>
                  <a:lnTo>
                    <a:pt x="179" y="1098"/>
                  </a:lnTo>
                  <a:lnTo>
                    <a:pt x="145" y="1076"/>
                  </a:lnTo>
                  <a:lnTo>
                    <a:pt x="111" y="1053"/>
                  </a:lnTo>
                  <a:lnTo>
                    <a:pt x="77" y="1042"/>
                  </a:lnTo>
                  <a:lnTo>
                    <a:pt x="43" y="1019"/>
                  </a:lnTo>
                  <a:lnTo>
                    <a:pt x="32" y="985"/>
                  </a:lnTo>
                  <a:lnTo>
                    <a:pt x="9" y="951"/>
                  </a:lnTo>
                  <a:lnTo>
                    <a:pt x="0" y="906"/>
                  </a:lnTo>
                  <a:lnTo>
                    <a:pt x="0" y="906"/>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2" name="Freeform 1038" descr="20%"/>
            <p:cNvSpPr>
              <a:spLocks/>
            </p:cNvSpPr>
            <p:nvPr/>
          </p:nvSpPr>
          <p:spPr bwMode="auto">
            <a:xfrm>
              <a:off x="1808" y="287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3" name="Freeform 1039" descr="20%"/>
            <p:cNvSpPr>
              <a:spLocks/>
            </p:cNvSpPr>
            <p:nvPr/>
          </p:nvSpPr>
          <p:spPr bwMode="auto">
            <a:xfrm rot="-1314530">
              <a:off x="2256" y="2876"/>
              <a:ext cx="288" cy="288"/>
            </a:xfrm>
            <a:custGeom>
              <a:avLst/>
              <a:gdLst>
                <a:gd name="T0" fmla="*/ 0 w 246"/>
                <a:gd name="T1" fmla="*/ 111 h 202"/>
                <a:gd name="T2" fmla="*/ 47 w 246"/>
                <a:gd name="T3" fmla="*/ 124 h 202"/>
                <a:gd name="T4" fmla="*/ 80 w 246"/>
                <a:gd name="T5" fmla="*/ 140 h 202"/>
                <a:gd name="T6" fmla="*/ 113 w 246"/>
                <a:gd name="T7" fmla="*/ 155 h 202"/>
                <a:gd name="T8" fmla="*/ 145 w 246"/>
                <a:gd name="T9" fmla="*/ 170 h 202"/>
                <a:gd name="T10" fmla="*/ 177 w 246"/>
                <a:gd name="T11" fmla="*/ 187 h 202"/>
                <a:gd name="T12" fmla="*/ 210 w 246"/>
                <a:gd name="T13" fmla="*/ 201 h 202"/>
                <a:gd name="T14" fmla="*/ 225 w 246"/>
                <a:gd name="T15" fmla="*/ 169 h 202"/>
                <a:gd name="T16" fmla="*/ 228 w 246"/>
                <a:gd name="T17" fmla="*/ 135 h 202"/>
                <a:gd name="T18" fmla="*/ 232 w 246"/>
                <a:gd name="T19" fmla="*/ 102 h 202"/>
                <a:gd name="T20" fmla="*/ 236 w 246"/>
                <a:gd name="T21" fmla="*/ 68 h 202"/>
                <a:gd name="T22" fmla="*/ 242 w 246"/>
                <a:gd name="T23" fmla="*/ 34 h 202"/>
                <a:gd name="T24" fmla="*/ 245 w 246"/>
                <a:gd name="T25" fmla="*/ 0 h 202"/>
                <a:gd name="T26" fmla="*/ 208 w 246"/>
                <a:gd name="T27" fmla="*/ 29 h 202"/>
                <a:gd name="T28" fmla="*/ 171 w 246"/>
                <a:gd name="T29" fmla="*/ 49 h 202"/>
                <a:gd name="T30" fmla="*/ 134 w 246"/>
                <a:gd name="T31" fmla="*/ 65 h 202"/>
                <a:gd name="T32" fmla="*/ 99 w 246"/>
                <a:gd name="T33" fmla="*/ 85 h 202"/>
                <a:gd name="T34" fmla="*/ 62 w 246"/>
                <a:gd name="T35" fmla="*/ 104 h 202"/>
                <a:gd name="T36" fmla="*/ 0 w 246"/>
                <a:gd name="T37" fmla="*/ 11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6" h="202">
                  <a:moveTo>
                    <a:pt x="0" y="111"/>
                  </a:moveTo>
                  <a:lnTo>
                    <a:pt x="47" y="124"/>
                  </a:lnTo>
                  <a:lnTo>
                    <a:pt x="80" y="140"/>
                  </a:lnTo>
                  <a:lnTo>
                    <a:pt x="113" y="155"/>
                  </a:lnTo>
                  <a:lnTo>
                    <a:pt x="145" y="170"/>
                  </a:lnTo>
                  <a:lnTo>
                    <a:pt x="177" y="187"/>
                  </a:lnTo>
                  <a:lnTo>
                    <a:pt x="210" y="201"/>
                  </a:lnTo>
                  <a:lnTo>
                    <a:pt x="225" y="169"/>
                  </a:lnTo>
                  <a:lnTo>
                    <a:pt x="228" y="135"/>
                  </a:lnTo>
                  <a:lnTo>
                    <a:pt x="232" y="102"/>
                  </a:lnTo>
                  <a:lnTo>
                    <a:pt x="236" y="68"/>
                  </a:lnTo>
                  <a:lnTo>
                    <a:pt x="242" y="34"/>
                  </a:lnTo>
                  <a:lnTo>
                    <a:pt x="245" y="0"/>
                  </a:lnTo>
                  <a:lnTo>
                    <a:pt x="208" y="29"/>
                  </a:lnTo>
                  <a:lnTo>
                    <a:pt x="171" y="49"/>
                  </a:lnTo>
                  <a:lnTo>
                    <a:pt x="134" y="65"/>
                  </a:lnTo>
                  <a:lnTo>
                    <a:pt x="99" y="85"/>
                  </a:lnTo>
                  <a:lnTo>
                    <a:pt x="62" y="104"/>
                  </a:lnTo>
                  <a:lnTo>
                    <a:pt x="0" y="111"/>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4" name="Freeform 1040" descr="20%"/>
            <p:cNvSpPr>
              <a:spLocks/>
            </p:cNvSpPr>
            <p:nvPr/>
          </p:nvSpPr>
          <p:spPr bwMode="auto">
            <a:xfrm>
              <a:off x="3008" y="2492"/>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5" name="Line 1041"/>
            <p:cNvSpPr>
              <a:spLocks noChangeShapeType="1"/>
            </p:cNvSpPr>
            <p:nvPr/>
          </p:nvSpPr>
          <p:spPr bwMode="auto">
            <a:xfrm flipV="1">
              <a:off x="2403" y="3135"/>
              <a:ext cx="9" cy="2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6" name="Line 1042"/>
            <p:cNvSpPr>
              <a:spLocks noChangeShapeType="1"/>
            </p:cNvSpPr>
            <p:nvPr/>
          </p:nvSpPr>
          <p:spPr bwMode="auto">
            <a:xfrm flipH="1" flipV="1">
              <a:off x="2245" y="3091"/>
              <a:ext cx="167" cy="44"/>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7" name="Line 1043"/>
            <p:cNvSpPr>
              <a:spLocks noChangeShapeType="1"/>
            </p:cNvSpPr>
            <p:nvPr/>
          </p:nvSpPr>
          <p:spPr bwMode="auto">
            <a:xfrm flipV="1">
              <a:off x="2245" y="2963"/>
              <a:ext cx="143" cy="12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8" name="Line 1044"/>
            <p:cNvSpPr>
              <a:spLocks noChangeShapeType="1"/>
            </p:cNvSpPr>
            <p:nvPr/>
          </p:nvSpPr>
          <p:spPr bwMode="auto">
            <a:xfrm flipH="1" flipV="1">
              <a:off x="2359" y="2860"/>
              <a:ext cx="29" cy="10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09" name="Line 1045"/>
            <p:cNvSpPr>
              <a:spLocks noChangeShapeType="1"/>
            </p:cNvSpPr>
            <p:nvPr/>
          </p:nvSpPr>
          <p:spPr bwMode="auto">
            <a:xfrm>
              <a:off x="2406" y="3308"/>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10" name="Line 1046"/>
            <p:cNvSpPr>
              <a:spLocks noChangeShapeType="1"/>
            </p:cNvSpPr>
            <p:nvPr/>
          </p:nvSpPr>
          <p:spPr bwMode="auto">
            <a:xfrm>
              <a:off x="2568" y="3308"/>
              <a:ext cx="0" cy="28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11" name="Freeform 1047" descr="20%"/>
            <p:cNvSpPr>
              <a:spLocks/>
            </p:cNvSpPr>
            <p:nvPr/>
          </p:nvSpPr>
          <p:spPr bwMode="auto">
            <a:xfrm>
              <a:off x="1952" y="2636"/>
              <a:ext cx="205" cy="231"/>
            </a:xfrm>
            <a:custGeom>
              <a:avLst/>
              <a:gdLst>
                <a:gd name="T0" fmla="*/ 64 w 205"/>
                <a:gd name="T1" fmla="*/ 0 h 231"/>
                <a:gd name="T2" fmla="*/ 57 w 205"/>
                <a:gd name="T3" fmla="*/ 49 h 231"/>
                <a:gd name="T4" fmla="*/ 45 w 205"/>
                <a:gd name="T5" fmla="*/ 83 h 231"/>
                <a:gd name="T6" fmla="*/ 34 w 205"/>
                <a:gd name="T7" fmla="*/ 117 h 231"/>
                <a:gd name="T8" fmla="*/ 23 w 205"/>
                <a:gd name="T9" fmla="*/ 151 h 231"/>
                <a:gd name="T10" fmla="*/ 11 w 205"/>
                <a:gd name="T11" fmla="*/ 185 h 231"/>
                <a:gd name="T12" fmla="*/ 0 w 205"/>
                <a:gd name="T13" fmla="*/ 219 h 231"/>
                <a:gd name="T14" fmla="*/ 34 w 205"/>
                <a:gd name="T15" fmla="*/ 230 h 231"/>
                <a:gd name="T16" fmla="*/ 68 w 205"/>
                <a:gd name="T17" fmla="*/ 230 h 231"/>
                <a:gd name="T18" fmla="*/ 102 w 205"/>
                <a:gd name="T19" fmla="*/ 230 h 231"/>
                <a:gd name="T20" fmla="*/ 136 w 205"/>
                <a:gd name="T21" fmla="*/ 230 h 231"/>
                <a:gd name="T22" fmla="*/ 170 w 205"/>
                <a:gd name="T23" fmla="*/ 230 h 231"/>
                <a:gd name="T24" fmla="*/ 204 w 205"/>
                <a:gd name="T25" fmla="*/ 230 h 231"/>
                <a:gd name="T26" fmla="*/ 170 w 205"/>
                <a:gd name="T27" fmla="*/ 196 h 231"/>
                <a:gd name="T28" fmla="*/ 147 w 205"/>
                <a:gd name="T29" fmla="*/ 162 h 231"/>
                <a:gd name="T30" fmla="*/ 125 w 205"/>
                <a:gd name="T31" fmla="*/ 128 h 231"/>
                <a:gd name="T32" fmla="*/ 102 w 205"/>
                <a:gd name="T33" fmla="*/ 95 h 231"/>
                <a:gd name="T34" fmla="*/ 79 w 205"/>
                <a:gd name="T35" fmla="*/ 61 h 231"/>
                <a:gd name="T36" fmla="*/ 64 w 205"/>
                <a:gd name="T37" fmla="*/ 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5" h="231">
                  <a:moveTo>
                    <a:pt x="64" y="0"/>
                  </a:moveTo>
                  <a:lnTo>
                    <a:pt x="57" y="49"/>
                  </a:lnTo>
                  <a:lnTo>
                    <a:pt x="45" y="83"/>
                  </a:lnTo>
                  <a:lnTo>
                    <a:pt x="34" y="117"/>
                  </a:lnTo>
                  <a:lnTo>
                    <a:pt x="23" y="151"/>
                  </a:lnTo>
                  <a:lnTo>
                    <a:pt x="11" y="185"/>
                  </a:lnTo>
                  <a:lnTo>
                    <a:pt x="0" y="219"/>
                  </a:lnTo>
                  <a:lnTo>
                    <a:pt x="34" y="230"/>
                  </a:lnTo>
                  <a:lnTo>
                    <a:pt x="68" y="230"/>
                  </a:lnTo>
                  <a:lnTo>
                    <a:pt x="102" y="230"/>
                  </a:lnTo>
                  <a:lnTo>
                    <a:pt x="136" y="230"/>
                  </a:lnTo>
                  <a:lnTo>
                    <a:pt x="170" y="230"/>
                  </a:lnTo>
                  <a:lnTo>
                    <a:pt x="204" y="230"/>
                  </a:lnTo>
                  <a:lnTo>
                    <a:pt x="170" y="196"/>
                  </a:lnTo>
                  <a:lnTo>
                    <a:pt x="147" y="162"/>
                  </a:lnTo>
                  <a:lnTo>
                    <a:pt x="125" y="128"/>
                  </a:lnTo>
                  <a:lnTo>
                    <a:pt x="102" y="95"/>
                  </a:lnTo>
                  <a:lnTo>
                    <a:pt x="79" y="61"/>
                  </a:lnTo>
                  <a:lnTo>
                    <a:pt x="64" y="0"/>
                  </a:lnTo>
                </a:path>
              </a:pathLst>
            </a:custGeom>
            <a:pattFill prst="pct20">
              <a:fgClr>
                <a:schemeClr val="accent2"/>
              </a:fgClr>
              <a:bgClr>
                <a:srgbClr val="FFFFFF"/>
              </a:bgClr>
            </a:pattFill>
            <a:ln>
              <a:noFill/>
            </a:ln>
            <a:effectLst/>
            <a:extLst>
              <a:ext uri="{91240B29-F687-4F45-9708-019B960494DF}">
                <a14:hiddenLine xmlns:a14="http://schemas.microsoft.com/office/drawing/2010/main" w="12700" cap="rnd"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7913" name="Rectangle 1049"/>
            <p:cNvSpPr>
              <a:spLocks noChangeArrowheads="1"/>
            </p:cNvSpPr>
            <p:nvPr/>
          </p:nvSpPr>
          <p:spPr bwMode="auto">
            <a:xfrm>
              <a:off x="2250" y="3690"/>
              <a:ext cx="42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rgbClr val="FFFF00"/>
                  </a:solidFill>
                </a:rPr>
                <a:t>Na+</a:t>
              </a:r>
              <a:endParaRPr lang="en-GB" sz="2000">
                <a:solidFill>
                  <a:schemeClr val="folHlink"/>
                </a:solidFill>
              </a:endParaRPr>
            </a:p>
          </p:txBody>
        </p:sp>
        <p:sp>
          <p:nvSpPr>
            <p:cNvPr id="37916" name="Rectangle 1052"/>
            <p:cNvSpPr>
              <a:spLocks noChangeArrowheads="1"/>
            </p:cNvSpPr>
            <p:nvPr/>
          </p:nvSpPr>
          <p:spPr bwMode="auto">
            <a:xfrm>
              <a:off x="2373" y="2898"/>
              <a:ext cx="3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sz="2000">
                  <a:solidFill>
                    <a:schemeClr val="folHlink"/>
                  </a:solidFill>
                </a:rPr>
                <a:t>K+</a:t>
              </a:r>
            </a:p>
          </p:txBody>
        </p:sp>
        <p:sp>
          <p:nvSpPr>
            <p:cNvPr id="37917" name="Freeform 1053"/>
            <p:cNvSpPr>
              <a:spLocks/>
            </p:cNvSpPr>
            <p:nvPr/>
          </p:nvSpPr>
          <p:spPr bwMode="auto">
            <a:xfrm flipH="1" flipV="1">
              <a:off x="2332" y="3048"/>
              <a:ext cx="140" cy="638"/>
            </a:xfrm>
            <a:custGeom>
              <a:avLst/>
              <a:gdLst>
                <a:gd name="T0" fmla="*/ 160 w 160"/>
                <a:gd name="T1" fmla="*/ 0 h 734"/>
                <a:gd name="T2" fmla="*/ 22 w 160"/>
                <a:gd name="T3" fmla="*/ 132 h 734"/>
                <a:gd name="T4" fmla="*/ 28 w 160"/>
                <a:gd name="T5" fmla="*/ 648 h 734"/>
                <a:gd name="T6" fmla="*/ 4 w 160"/>
                <a:gd name="T7" fmla="*/ 648 h 734"/>
              </a:gdLst>
              <a:ahLst/>
              <a:cxnLst>
                <a:cxn ang="0">
                  <a:pos x="T0" y="T1"/>
                </a:cxn>
                <a:cxn ang="0">
                  <a:pos x="T2" y="T3"/>
                </a:cxn>
                <a:cxn ang="0">
                  <a:pos x="T4" y="T5"/>
                </a:cxn>
                <a:cxn ang="0">
                  <a:pos x="T6" y="T7"/>
                </a:cxn>
              </a:cxnLst>
              <a:rect l="0" t="0" r="r" b="b"/>
              <a:pathLst>
                <a:path w="160" h="734">
                  <a:moveTo>
                    <a:pt x="160" y="0"/>
                  </a:moveTo>
                  <a:cubicBezTo>
                    <a:pt x="137" y="23"/>
                    <a:pt x="44" y="24"/>
                    <a:pt x="22" y="132"/>
                  </a:cubicBezTo>
                  <a:cubicBezTo>
                    <a:pt x="0" y="240"/>
                    <a:pt x="31" y="562"/>
                    <a:pt x="28" y="648"/>
                  </a:cubicBezTo>
                  <a:cubicBezTo>
                    <a:pt x="25" y="734"/>
                    <a:pt x="9" y="648"/>
                    <a:pt x="4" y="648"/>
                  </a:cubicBezTo>
                </a:path>
              </a:pathLst>
            </a:custGeom>
            <a:noFill/>
            <a:ln w="28575" cap="flat" cmpd="sng">
              <a:solidFill>
                <a:schemeClr val="folHlink"/>
              </a:solidFill>
              <a:prstDash val="solid"/>
              <a:round/>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7918" name="Freeform 1054"/>
            <p:cNvSpPr>
              <a:spLocks/>
            </p:cNvSpPr>
            <p:nvPr/>
          </p:nvSpPr>
          <p:spPr bwMode="auto">
            <a:xfrm>
              <a:off x="2512" y="3174"/>
              <a:ext cx="140" cy="638"/>
            </a:xfrm>
            <a:custGeom>
              <a:avLst/>
              <a:gdLst>
                <a:gd name="T0" fmla="*/ 160 w 160"/>
                <a:gd name="T1" fmla="*/ 0 h 734"/>
                <a:gd name="T2" fmla="*/ 22 w 160"/>
                <a:gd name="T3" fmla="*/ 132 h 734"/>
                <a:gd name="T4" fmla="*/ 28 w 160"/>
                <a:gd name="T5" fmla="*/ 648 h 734"/>
                <a:gd name="T6" fmla="*/ 4 w 160"/>
                <a:gd name="T7" fmla="*/ 648 h 734"/>
              </a:gdLst>
              <a:ahLst/>
              <a:cxnLst>
                <a:cxn ang="0">
                  <a:pos x="T0" y="T1"/>
                </a:cxn>
                <a:cxn ang="0">
                  <a:pos x="T2" y="T3"/>
                </a:cxn>
                <a:cxn ang="0">
                  <a:pos x="T4" y="T5"/>
                </a:cxn>
                <a:cxn ang="0">
                  <a:pos x="T6" y="T7"/>
                </a:cxn>
              </a:cxnLst>
              <a:rect l="0" t="0" r="r" b="b"/>
              <a:pathLst>
                <a:path w="160" h="734">
                  <a:moveTo>
                    <a:pt x="160" y="0"/>
                  </a:moveTo>
                  <a:cubicBezTo>
                    <a:pt x="137" y="23"/>
                    <a:pt x="44" y="24"/>
                    <a:pt x="22" y="132"/>
                  </a:cubicBezTo>
                  <a:cubicBezTo>
                    <a:pt x="0" y="240"/>
                    <a:pt x="31" y="562"/>
                    <a:pt x="28" y="648"/>
                  </a:cubicBezTo>
                  <a:cubicBezTo>
                    <a:pt x="25" y="734"/>
                    <a:pt x="9" y="648"/>
                    <a:pt x="4" y="648"/>
                  </a:cubicBezTo>
                </a:path>
              </a:pathLst>
            </a:custGeom>
            <a:noFill/>
            <a:ln w="28575" cap="flat" cmpd="sng">
              <a:solidFill>
                <a:srgbClr val="FFFF00"/>
              </a:solidFill>
              <a:prstDash val="solid"/>
              <a:round/>
              <a:headEnd type="none" w="sm" len="sm"/>
              <a:tailEnd type="triangl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Tree>
    <p:extLst>
      <p:ext uri="{BB962C8B-B14F-4D97-AF65-F5344CB8AC3E}">
        <p14:creationId xmlns:p14="http://schemas.microsoft.com/office/powerpoint/2010/main" val="2965405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33400" y="304800"/>
            <a:ext cx="7772400" cy="1752600"/>
          </a:xfrm>
          <a:noFill/>
          <a:ln/>
        </p:spPr>
        <p:txBody>
          <a:bodyPr/>
          <a:lstStyle/>
          <a:p>
            <a:r>
              <a:rPr lang="en-GB" sz="3200" b="1">
                <a:solidFill>
                  <a:schemeClr val="hlink"/>
                </a:solidFill>
                <a:latin typeface="Arial Rounded MT Bold" pitchFamily="34" charset="0"/>
              </a:rPr>
              <a:t>The postsynaptic membrane potential reaches a level halfway between the equilibrium potentials of the 2 ions</a:t>
            </a:r>
          </a:p>
        </p:txBody>
      </p:sp>
      <p:sp>
        <p:nvSpPr>
          <p:cNvPr id="26628" name="Line 4"/>
          <p:cNvSpPr>
            <a:spLocks noChangeShapeType="1"/>
          </p:cNvSpPr>
          <p:nvPr/>
        </p:nvSpPr>
        <p:spPr bwMode="auto">
          <a:xfrm>
            <a:off x="1905000" y="2940050"/>
            <a:ext cx="685800" cy="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26632" name="Group 8"/>
          <p:cNvGrpSpPr>
            <a:grpSpLocks/>
          </p:cNvGrpSpPr>
          <p:nvPr/>
        </p:nvGrpSpPr>
        <p:grpSpPr bwMode="auto">
          <a:xfrm>
            <a:off x="2879725" y="2376488"/>
            <a:ext cx="1768475" cy="1128712"/>
            <a:chOff x="1814" y="1497"/>
            <a:chExt cx="1114" cy="711"/>
          </a:xfrm>
        </p:grpSpPr>
        <p:sp>
          <p:nvSpPr>
            <p:cNvPr id="26629" name="Line 5"/>
            <p:cNvSpPr>
              <a:spLocks noChangeShapeType="1"/>
            </p:cNvSpPr>
            <p:nvPr/>
          </p:nvSpPr>
          <p:spPr bwMode="auto">
            <a:xfrm>
              <a:off x="1824" y="1872"/>
              <a:ext cx="1104"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630" name="Rectangle 6"/>
            <p:cNvSpPr>
              <a:spLocks noChangeArrowheads="1"/>
            </p:cNvSpPr>
            <p:nvPr/>
          </p:nvSpPr>
          <p:spPr bwMode="auto">
            <a:xfrm>
              <a:off x="1814" y="1497"/>
              <a:ext cx="9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E</a:t>
              </a:r>
              <a:r>
                <a:rPr lang="en-GB" baseline="-25000"/>
                <a:t>Na</a:t>
              </a:r>
              <a:r>
                <a:rPr lang="en-GB"/>
                <a:t> + E</a:t>
              </a:r>
              <a:r>
                <a:rPr lang="en-GB" baseline="-25000"/>
                <a:t>K</a:t>
              </a:r>
            </a:p>
          </p:txBody>
        </p:sp>
        <p:sp>
          <p:nvSpPr>
            <p:cNvPr id="26631" name="Rectangle 7"/>
            <p:cNvSpPr>
              <a:spLocks noChangeArrowheads="1"/>
            </p:cNvSpPr>
            <p:nvPr/>
          </p:nvSpPr>
          <p:spPr bwMode="auto">
            <a:xfrm>
              <a:off x="2198" y="1881"/>
              <a:ext cx="2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2</a:t>
              </a:r>
            </a:p>
          </p:txBody>
        </p:sp>
      </p:grpSp>
      <p:grpSp>
        <p:nvGrpSpPr>
          <p:cNvPr id="26636" name="Group 12"/>
          <p:cNvGrpSpPr>
            <a:grpSpLocks/>
          </p:cNvGrpSpPr>
          <p:nvPr/>
        </p:nvGrpSpPr>
        <p:grpSpPr bwMode="auto">
          <a:xfrm>
            <a:off x="2955925" y="4129088"/>
            <a:ext cx="1920875" cy="1052512"/>
            <a:chOff x="1862" y="2601"/>
            <a:chExt cx="1210" cy="663"/>
          </a:xfrm>
        </p:grpSpPr>
        <p:sp>
          <p:nvSpPr>
            <p:cNvPr id="26633" name="Line 9"/>
            <p:cNvSpPr>
              <a:spLocks noChangeShapeType="1"/>
            </p:cNvSpPr>
            <p:nvPr/>
          </p:nvSpPr>
          <p:spPr bwMode="auto">
            <a:xfrm>
              <a:off x="1872" y="2928"/>
              <a:ext cx="1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6634" name="Rectangle 10"/>
            <p:cNvSpPr>
              <a:spLocks noChangeArrowheads="1"/>
            </p:cNvSpPr>
            <p:nvPr/>
          </p:nvSpPr>
          <p:spPr bwMode="auto">
            <a:xfrm>
              <a:off x="2294" y="2937"/>
              <a:ext cx="24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2</a:t>
              </a:r>
            </a:p>
          </p:txBody>
        </p:sp>
        <p:sp>
          <p:nvSpPr>
            <p:cNvPr id="26635" name="Rectangle 11"/>
            <p:cNvSpPr>
              <a:spLocks noChangeArrowheads="1"/>
            </p:cNvSpPr>
            <p:nvPr/>
          </p:nvSpPr>
          <p:spPr bwMode="auto">
            <a:xfrm>
              <a:off x="1862" y="2601"/>
              <a:ext cx="11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60 + (-90)</a:t>
              </a:r>
            </a:p>
          </p:txBody>
        </p:sp>
      </p:grpSp>
      <p:sp>
        <p:nvSpPr>
          <p:cNvPr id="26637" name="Rectangle 13"/>
          <p:cNvSpPr>
            <a:spLocks noChangeArrowheads="1"/>
          </p:cNvSpPr>
          <p:nvPr/>
        </p:nvSpPr>
        <p:spPr bwMode="auto">
          <a:xfrm>
            <a:off x="5241925" y="4395788"/>
            <a:ext cx="1670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 -15 mV</a:t>
            </a:r>
          </a:p>
        </p:txBody>
      </p:sp>
      <p:grpSp>
        <p:nvGrpSpPr>
          <p:cNvPr id="26639" name="Group 15"/>
          <p:cNvGrpSpPr>
            <a:grpSpLocks/>
          </p:cNvGrpSpPr>
          <p:nvPr/>
        </p:nvGrpSpPr>
        <p:grpSpPr bwMode="auto">
          <a:xfrm>
            <a:off x="642143" y="2681288"/>
            <a:ext cx="2528010" cy="2917825"/>
            <a:chOff x="452" y="1689"/>
            <a:chExt cx="926" cy="1838"/>
          </a:xfrm>
        </p:grpSpPr>
        <p:sp>
          <p:nvSpPr>
            <p:cNvPr id="26627" name="Rectangle 3"/>
            <p:cNvSpPr>
              <a:spLocks noChangeArrowheads="1"/>
            </p:cNvSpPr>
            <p:nvPr/>
          </p:nvSpPr>
          <p:spPr bwMode="auto">
            <a:xfrm>
              <a:off x="518" y="1689"/>
              <a:ext cx="5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EPP</a:t>
              </a:r>
              <a:endParaRPr lang="en-GB" baseline="-25000"/>
            </a:p>
          </p:txBody>
        </p:sp>
        <p:sp>
          <p:nvSpPr>
            <p:cNvPr id="26638" name="Rectangle 14"/>
            <p:cNvSpPr>
              <a:spLocks noChangeArrowheads="1"/>
            </p:cNvSpPr>
            <p:nvPr/>
          </p:nvSpPr>
          <p:spPr bwMode="auto">
            <a:xfrm>
              <a:off x="452" y="3294"/>
              <a:ext cx="92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dirty="0"/>
                <a:t>EPP = End Plate Potential</a:t>
              </a:r>
            </a:p>
          </p:txBody>
        </p:sp>
      </p:grpSp>
      <p:sp>
        <p:nvSpPr>
          <p:cNvPr id="2" name="Rectangle 1">
            <a:extLst>
              <a:ext uri="{FF2B5EF4-FFF2-40B4-BE49-F238E27FC236}">
                <a16:creationId xmlns:a16="http://schemas.microsoft.com/office/drawing/2014/main" id="{B6C7E444-7BC6-4943-B356-AF45566DFC50}"/>
              </a:ext>
            </a:extLst>
          </p:cNvPr>
          <p:cNvSpPr/>
          <p:nvPr/>
        </p:nvSpPr>
        <p:spPr>
          <a:xfrm>
            <a:off x="629310" y="5557391"/>
            <a:ext cx="8294563" cy="1077218"/>
          </a:xfrm>
          <a:prstGeom prst="rect">
            <a:avLst/>
          </a:prstGeom>
        </p:spPr>
        <p:txBody>
          <a:bodyPr wrap="square">
            <a:spAutoFit/>
          </a:bodyPr>
          <a:lstStyle/>
          <a:p>
            <a:pPr defTabSz="762000" eaLnBrk="0" hangingPunct="0"/>
            <a:r>
              <a:rPr lang="en-GB" sz="3200" baseline="-25000" dirty="0"/>
              <a:t>So, in </a:t>
            </a:r>
            <a:r>
              <a:rPr lang="en-GB" sz="3200" b="1" baseline="-25000" dirty="0">
                <a:solidFill>
                  <a:srgbClr val="FF0000"/>
                </a:solidFill>
              </a:rPr>
              <a:t>net sense</a:t>
            </a:r>
            <a:r>
              <a:rPr lang="en-GB" sz="3200" baseline="-25000" dirty="0">
                <a:solidFill>
                  <a:srgbClr val="FF0000"/>
                </a:solidFill>
              </a:rPr>
              <a:t> </a:t>
            </a:r>
            <a:r>
              <a:rPr lang="en-GB" sz="3200" baseline="-25000" dirty="0"/>
              <a:t>potential changes from -70 to -15 mv </a:t>
            </a:r>
            <a:r>
              <a:rPr lang="en-GB" sz="3200" baseline="-25000" dirty="0" err="1"/>
              <a:t>ie</a:t>
            </a:r>
            <a:r>
              <a:rPr lang="en-GB" sz="3200" baseline="-25000" dirty="0"/>
              <a:t>: approximately </a:t>
            </a:r>
            <a:r>
              <a:rPr lang="en-GB" sz="3200" b="1" u="sng" baseline="-25000" dirty="0">
                <a:solidFill>
                  <a:srgbClr val="FF0000"/>
                </a:solidFill>
              </a:rPr>
              <a:t>55 units</a:t>
            </a:r>
            <a:r>
              <a:rPr lang="en-GB" sz="3200" baseline="-25000" dirty="0"/>
              <a:t>. </a:t>
            </a:r>
          </a:p>
          <a:p>
            <a:pPr defTabSz="762000" eaLnBrk="0" hangingPunct="0"/>
            <a:r>
              <a:rPr lang="en-GB" sz="3200" baseline="-25000" dirty="0"/>
              <a:t>For easy understanding we assume it to be </a:t>
            </a:r>
            <a:r>
              <a:rPr lang="en-GB" sz="3200" u="sng" baseline="-25000" dirty="0">
                <a:solidFill>
                  <a:srgbClr val="FF0000"/>
                </a:solidFill>
              </a:rPr>
              <a:t>40-50</a:t>
            </a:r>
            <a:r>
              <a:rPr lang="en-GB" sz="3200" baseline="-25000" dirty="0">
                <a:solidFill>
                  <a:srgbClr val="FF0000"/>
                </a:solidFill>
              </a:rPr>
              <a:t> mv units</a:t>
            </a:r>
            <a:r>
              <a:rPr lang="en-GB" sz="3200" baseline="-25000" dirty="0"/>
              <a:t>. </a:t>
            </a:r>
          </a:p>
        </p:txBody>
      </p:sp>
    </p:spTree>
    <p:extLst>
      <p:ext uri="{BB962C8B-B14F-4D97-AF65-F5344CB8AC3E}">
        <p14:creationId xmlns:p14="http://schemas.microsoft.com/office/powerpoint/2010/main" val="325933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6639"/>
                                        </p:tgtEl>
                                        <p:attrNameLst>
                                          <p:attrName>style.visibility</p:attrName>
                                        </p:attrNameLst>
                                      </p:cBhvr>
                                      <p:to>
                                        <p:strVal val="visible"/>
                                      </p:to>
                                    </p:set>
                                    <p:animEffect transition="in" filter="fade">
                                      <p:cBhvr>
                                        <p:cTn id="7" dur="500"/>
                                        <p:tgtEl>
                                          <p:spTgt spid="2663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662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2663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26636"/>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2663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P spid="26637" grpId="0" autoUpdateAnimBg="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609600" y="228600"/>
            <a:ext cx="7772400" cy="1143000"/>
          </a:xfrm>
          <a:noFill/>
          <a:ln/>
        </p:spPr>
        <p:txBody>
          <a:bodyPr/>
          <a:lstStyle/>
          <a:p>
            <a:pPr algn="l"/>
            <a:r>
              <a:rPr lang="en-GB" sz="3200" b="1">
                <a:solidFill>
                  <a:schemeClr val="hlink"/>
                </a:solidFill>
                <a:latin typeface="Arial Rounded MT Bold" pitchFamily="34" charset="0"/>
              </a:rPr>
              <a:t>The endplate potential  (EPP) reaches -15mV</a:t>
            </a:r>
          </a:p>
        </p:txBody>
      </p:sp>
      <p:grpSp>
        <p:nvGrpSpPr>
          <p:cNvPr id="27655" name="Group 7"/>
          <p:cNvGrpSpPr>
            <a:grpSpLocks/>
          </p:cNvGrpSpPr>
          <p:nvPr/>
        </p:nvGrpSpPr>
        <p:grpSpPr bwMode="auto">
          <a:xfrm>
            <a:off x="288925" y="1676400"/>
            <a:ext cx="4435475" cy="4876800"/>
            <a:chOff x="182" y="1056"/>
            <a:chExt cx="2794" cy="3072"/>
          </a:xfrm>
        </p:grpSpPr>
        <p:sp>
          <p:nvSpPr>
            <p:cNvPr id="27651" name="Line 3"/>
            <p:cNvSpPr>
              <a:spLocks noChangeShapeType="1"/>
            </p:cNvSpPr>
            <p:nvPr/>
          </p:nvSpPr>
          <p:spPr bwMode="auto">
            <a:xfrm>
              <a:off x="816" y="1056"/>
              <a:ext cx="0" cy="244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2" name="Line 4"/>
            <p:cNvSpPr>
              <a:spLocks noChangeShapeType="1"/>
            </p:cNvSpPr>
            <p:nvPr/>
          </p:nvSpPr>
          <p:spPr bwMode="auto">
            <a:xfrm>
              <a:off x="816" y="3504"/>
              <a:ext cx="21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3" name="Rectangle 5"/>
            <p:cNvSpPr>
              <a:spLocks noChangeArrowheads="1"/>
            </p:cNvSpPr>
            <p:nvPr/>
          </p:nvSpPr>
          <p:spPr bwMode="auto">
            <a:xfrm>
              <a:off x="182" y="2025"/>
              <a:ext cx="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mV</a:t>
              </a:r>
            </a:p>
          </p:txBody>
        </p:sp>
        <p:sp>
          <p:nvSpPr>
            <p:cNvPr id="27654" name="Rectangle 6"/>
            <p:cNvSpPr>
              <a:spLocks noChangeArrowheads="1"/>
            </p:cNvSpPr>
            <p:nvPr/>
          </p:nvSpPr>
          <p:spPr bwMode="auto">
            <a:xfrm>
              <a:off x="1382" y="3801"/>
              <a:ext cx="11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time (ms)</a:t>
              </a:r>
            </a:p>
          </p:txBody>
        </p:sp>
      </p:grpSp>
      <p:sp>
        <p:nvSpPr>
          <p:cNvPr id="27656" name="Rectangle 8"/>
          <p:cNvSpPr>
            <a:spLocks noChangeArrowheads="1"/>
          </p:cNvSpPr>
          <p:nvPr/>
        </p:nvSpPr>
        <p:spPr bwMode="auto">
          <a:xfrm>
            <a:off x="1965325" y="1233488"/>
            <a:ext cx="11699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nerve</a:t>
            </a:r>
          </a:p>
        </p:txBody>
      </p:sp>
      <p:sp>
        <p:nvSpPr>
          <p:cNvPr id="27657" name="Line 9"/>
          <p:cNvSpPr>
            <a:spLocks noChangeShapeType="1"/>
          </p:cNvSpPr>
          <p:nvPr/>
        </p:nvSpPr>
        <p:spPr bwMode="auto">
          <a:xfrm>
            <a:off x="5257800" y="5562600"/>
            <a:ext cx="342900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58" name="Rectangle 10"/>
          <p:cNvSpPr>
            <a:spLocks noChangeArrowheads="1"/>
          </p:cNvSpPr>
          <p:nvPr/>
        </p:nvSpPr>
        <p:spPr bwMode="auto">
          <a:xfrm>
            <a:off x="5927725" y="1233488"/>
            <a:ext cx="2244725"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muscle</a:t>
            </a:r>
          </a:p>
          <a:p>
            <a:pPr defTabSz="762000" eaLnBrk="0" hangingPunct="0"/>
            <a:r>
              <a:rPr lang="en-GB" sz="2000"/>
              <a:t>(junctional folds)</a:t>
            </a:r>
            <a:endParaRPr lang="en-GB"/>
          </a:p>
        </p:txBody>
      </p:sp>
      <p:sp>
        <p:nvSpPr>
          <p:cNvPr id="27659" name="Line 11"/>
          <p:cNvSpPr>
            <a:spLocks noChangeShapeType="1"/>
          </p:cNvSpPr>
          <p:nvPr/>
        </p:nvSpPr>
        <p:spPr bwMode="auto">
          <a:xfrm>
            <a:off x="1066800" y="48768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60" name="Line 12"/>
          <p:cNvSpPr>
            <a:spLocks noChangeShapeType="1"/>
          </p:cNvSpPr>
          <p:nvPr/>
        </p:nvSpPr>
        <p:spPr bwMode="auto">
          <a:xfrm>
            <a:off x="1066800" y="3124200"/>
            <a:ext cx="533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61" name="Line 13"/>
          <p:cNvSpPr>
            <a:spLocks noChangeShapeType="1"/>
          </p:cNvSpPr>
          <p:nvPr/>
        </p:nvSpPr>
        <p:spPr bwMode="auto">
          <a:xfrm>
            <a:off x="1066800" y="1905000"/>
            <a:ext cx="533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62" name="Line 14"/>
          <p:cNvSpPr>
            <a:spLocks noChangeShapeType="1"/>
          </p:cNvSpPr>
          <p:nvPr/>
        </p:nvSpPr>
        <p:spPr bwMode="auto">
          <a:xfrm>
            <a:off x="1676400" y="4876800"/>
            <a:ext cx="685800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63" name="Freeform 15"/>
          <p:cNvSpPr>
            <a:spLocks/>
          </p:cNvSpPr>
          <p:nvPr/>
        </p:nvSpPr>
        <p:spPr bwMode="auto">
          <a:xfrm>
            <a:off x="1676400" y="1901825"/>
            <a:ext cx="3735388" cy="3451225"/>
          </a:xfrm>
          <a:custGeom>
            <a:avLst/>
            <a:gdLst>
              <a:gd name="T0" fmla="*/ 80 w 2353"/>
              <a:gd name="T1" fmla="*/ 1879 h 2174"/>
              <a:gd name="T2" fmla="*/ 182 w 2353"/>
              <a:gd name="T3" fmla="*/ 1845 h 2174"/>
              <a:gd name="T4" fmla="*/ 261 w 2353"/>
              <a:gd name="T5" fmla="*/ 1743 h 2174"/>
              <a:gd name="T6" fmla="*/ 318 w 2353"/>
              <a:gd name="T7" fmla="*/ 1641 h 2174"/>
              <a:gd name="T8" fmla="*/ 363 w 2353"/>
              <a:gd name="T9" fmla="*/ 1528 h 2174"/>
              <a:gd name="T10" fmla="*/ 397 w 2353"/>
              <a:gd name="T11" fmla="*/ 1426 h 2174"/>
              <a:gd name="T12" fmla="*/ 431 w 2353"/>
              <a:gd name="T13" fmla="*/ 1313 h 2174"/>
              <a:gd name="T14" fmla="*/ 465 w 2353"/>
              <a:gd name="T15" fmla="*/ 1109 h 2174"/>
              <a:gd name="T16" fmla="*/ 499 w 2353"/>
              <a:gd name="T17" fmla="*/ 849 h 2174"/>
              <a:gd name="T18" fmla="*/ 544 w 2353"/>
              <a:gd name="T19" fmla="*/ 724 h 2174"/>
              <a:gd name="T20" fmla="*/ 578 w 2353"/>
              <a:gd name="T21" fmla="*/ 611 h 2174"/>
              <a:gd name="T22" fmla="*/ 601 w 2353"/>
              <a:gd name="T23" fmla="*/ 509 h 2174"/>
              <a:gd name="T24" fmla="*/ 624 w 2353"/>
              <a:gd name="T25" fmla="*/ 407 h 2174"/>
              <a:gd name="T26" fmla="*/ 646 w 2353"/>
              <a:gd name="T27" fmla="*/ 306 h 2174"/>
              <a:gd name="T28" fmla="*/ 658 w 2353"/>
              <a:gd name="T29" fmla="*/ 192 h 2174"/>
              <a:gd name="T30" fmla="*/ 680 w 2353"/>
              <a:gd name="T31" fmla="*/ 90 h 2174"/>
              <a:gd name="T32" fmla="*/ 748 w 2353"/>
              <a:gd name="T33" fmla="*/ 0 h 2174"/>
              <a:gd name="T34" fmla="*/ 816 w 2353"/>
              <a:gd name="T35" fmla="*/ 79 h 2174"/>
              <a:gd name="T36" fmla="*/ 861 w 2353"/>
              <a:gd name="T37" fmla="*/ 181 h 2174"/>
              <a:gd name="T38" fmla="*/ 884 w 2353"/>
              <a:gd name="T39" fmla="*/ 294 h 2174"/>
              <a:gd name="T40" fmla="*/ 907 w 2353"/>
              <a:gd name="T41" fmla="*/ 396 h 2174"/>
              <a:gd name="T42" fmla="*/ 929 w 2353"/>
              <a:gd name="T43" fmla="*/ 498 h 2174"/>
              <a:gd name="T44" fmla="*/ 952 w 2353"/>
              <a:gd name="T45" fmla="*/ 600 h 2174"/>
              <a:gd name="T46" fmla="*/ 963 w 2353"/>
              <a:gd name="T47" fmla="*/ 713 h 2174"/>
              <a:gd name="T48" fmla="*/ 975 w 2353"/>
              <a:gd name="T49" fmla="*/ 826 h 2174"/>
              <a:gd name="T50" fmla="*/ 997 w 2353"/>
              <a:gd name="T51" fmla="*/ 939 h 2174"/>
              <a:gd name="T52" fmla="*/ 1009 w 2353"/>
              <a:gd name="T53" fmla="*/ 1053 h 2174"/>
              <a:gd name="T54" fmla="*/ 1031 w 2353"/>
              <a:gd name="T55" fmla="*/ 1177 h 2174"/>
              <a:gd name="T56" fmla="*/ 1043 w 2353"/>
              <a:gd name="T57" fmla="*/ 1302 h 2174"/>
              <a:gd name="T58" fmla="*/ 1065 w 2353"/>
              <a:gd name="T59" fmla="*/ 1403 h 2174"/>
              <a:gd name="T60" fmla="*/ 1088 w 2353"/>
              <a:gd name="T61" fmla="*/ 1505 h 2174"/>
              <a:gd name="T62" fmla="*/ 1111 w 2353"/>
              <a:gd name="T63" fmla="*/ 1607 h 2174"/>
              <a:gd name="T64" fmla="*/ 1133 w 2353"/>
              <a:gd name="T65" fmla="*/ 1720 h 2174"/>
              <a:gd name="T66" fmla="*/ 1167 w 2353"/>
              <a:gd name="T67" fmla="*/ 1901 h 2174"/>
              <a:gd name="T68" fmla="*/ 1201 w 2353"/>
              <a:gd name="T69" fmla="*/ 2003 h 2174"/>
              <a:gd name="T70" fmla="*/ 1280 w 2353"/>
              <a:gd name="T71" fmla="*/ 2094 h 2174"/>
              <a:gd name="T72" fmla="*/ 1382 w 2353"/>
              <a:gd name="T73" fmla="*/ 2150 h 2174"/>
              <a:gd name="T74" fmla="*/ 1484 w 2353"/>
              <a:gd name="T75" fmla="*/ 2173 h 2174"/>
              <a:gd name="T76" fmla="*/ 1586 w 2353"/>
              <a:gd name="T77" fmla="*/ 2162 h 2174"/>
              <a:gd name="T78" fmla="*/ 1688 w 2353"/>
              <a:gd name="T79" fmla="*/ 2117 h 2174"/>
              <a:gd name="T80" fmla="*/ 1790 w 2353"/>
              <a:gd name="T81" fmla="*/ 2083 h 2174"/>
              <a:gd name="T82" fmla="*/ 1892 w 2353"/>
              <a:gd name="T83" fmla="*/ 2037 h 2174"/>
              <a:gd name="T84" fmla="*/ 1994 w 2353"/>
              <a:gd name="T85" fmla="*/ 1981 h 2174"/>
              <a:gd name="T86" fmla="*/ 2096 w 2353"/>
              <a:gd name="T87" fmla="*/ 1969 h 2174"/>
              <a:gd name="T88" fmla="*/ 2198 w 2353"/>
              <a:gd name="T89" fmla="*/ 1958 h 2174"/>
              <a:gd name="T90" fmla="*/ 2300 w 2353"/>
              <a:gd name="T91" fmla="*/ 1947 h 2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53" h="2174">
                <a:moveTo>
                  <a:pt x="0" y="1874"/>
                </a:moveTo>
                <a:lnTo>
                  <a:pt x="46" y="1879"/>
                </a:lnTo>
                <a:lnTo>
                  <a:pt x="80" y="1879"/>
                </a:lnTo>
                <a:lnTo>
                  <a:pt x="114" y="1879"/>
                </a:lnTo>
                <a:lnTo>
                  <a:pt x="148" y="1868"/>
                </a:lnTo>
                <a:lnTo>
                  <a:pt x="182" y="1845"/>
                </a:lnTo>
                <a:lnTo>
                  <a:pt x="205" y="1811"/>
                </a:lnTo>
                <a:lnTo>
                  <a:pt x="239" y="1777"/>
                </a:lnTo>
                <a:lnTo>
                  <a:pt x="261" y="1743"/>
                </a:lnTo>
                <a:lnTo>
                  <a:pt x="284" y="1709"/>
                </a:lnTo>
                <a:lnTo>
                  <a:pt x="307" y="1675"/>
                </a:lnTo>
                <a:lnTo>
                  <a:pt x="318" y="1641"/>
                </a:lnTo>
                <a:lnTo>
                  <a:pt x="341" y="1596"/>
                </a:lnTo>
                <a:lnTo>
                  <a:pt x="352" y="1562"/>
                </a:lnTo>
                <a:lnTo>
                  <a:pt x="363" y="1528"/>
                </a:lnTo>
                <a:lnTo>
                  <a:pt x="375" y="1494"/>
                </a:lnTo>
                <a:lnTo>
                  <a:pt x="386" y="1460"/>
                </a:lnTo>
                <a:lnTo>
                  <a:pt x="397" y="1426"/>
                </a:lnTo>
                <a:lnTo>
                  <a:pt x="409" y="1392"/>
                </a:lnTo>
                <a:lnTo>
                  <a:pt x="420" y="1358"/>
                </a:lnTo>
                <a:lnTo>
                  <a:pt x="431" y="1313"/>
                </a:lnTo>
                <a:lnTo>
                  <a:pt x="443" y="1245"/>
                </a:lnTo>
                <a:lnTo>
                  <a:pt x="454" y="1200"/>
                </a:lnTo>
                <a:lnTo>
                  <a:pt x="465" y="1109"/>
                </a:lnTo>
                <a:lnTo>
                  <a:pt x="476" y="1019"/>
                </a:lnTo>
                <a:lnTo>
                  <a:pt x="488" y="939"/>
                </a:lnTo>
                <a:lnTo>
                  <a:pt x="499" y="849"/>
                </a:lnTo>
                <a:lnTo>
                  <a:pt x="510" y="804"/>
                </a:lnTo>
                <a:lnTo>
                  <a:pt x="522" y="758"/>
                </a:lnTo>
                <a:lnTo>
                  <a:pt x="544" y="724"/>
                </a:lnTo>
                <a:lnTo>
                  <a:pt x="556" y="679"/>
                </a:lnTo>
                <a:lnTo>
                  <a:pt x="567" y="645"/>
                </a:lnTo>
                <a:lnTo>
                  <a:pt x="578" y="611"/>
                </a:lnTo>
                <a:lnTo>
                  <a:pt x="590" y="577"/>
                </a:lnTo>
                <a:lnTo>
                  <a:pt x="601" y="543"/>
                </a:lnTo>
                <a:lnTo>
                  <a:pt x="601" y="509"/>
                </a:lnTo>
                <a:lnTo>
                  <a:pt x="612" y="475"/>
                </a:lnTo>
                <a:lnTo>
                  <a:pt x="612" y="441"/>
                </a:lnTo>
                <a:lnTo>
                  <a:pt x="624" y="407"/>
                </a:lnTo>
                <a:lnTo>
                  <a:pt x="624" y="373"/>
                </a:lnTo>
                <a:lnTo>
                  <a:pt x="635" y="339"/>
                </a:lnTo>
                <a:lnTo>
                  <a:pt x="646" y="306"/>
                </a:lnTo>
                <a:lnTo>
                  <a:pt x="646" y="272"/>
                </a:lnTo>
                <a:lnTo>
                  <a:pt x="658" y="238"/>
                </a:lnTo>
                <a:lnTo>
                  <a:pt x="658" y="192"/>
                </a:lnTo>
                <a:lnTo>
                  <a:pt x="669" y="158"/>
                </a:lnTo>
                <a:lnTo>
                  <a:pt x="680" y="124"/>
                </a:lnTo>
                <a:lnTo>
                  <a:pt x="680" y="90"/>
                </a:lnTo>
                <a:lnTo>
                  <a:pt x="692" y="56"/>
                </a:lnTo>
                <a:lnTo>
                  <a:pt x="714" y="23"/>
                </a:lnTo>
                <a:lnTo>
                  <a:pt x="748" y="0"/>
                </a:lnTo>
                <a:lnTo>
                  <a:pt x="782" y="11"/>
                </a:lnTo>
                <a:lnTo>
                  <a:pt x="805" y="45"/>
                </a:lnTo>
                <a:lnTo>
                  <a:pt x="816" y="79"/>
                </a:lnTo>
                <a:lnTo>
                  <a:pt x="839" y="113"/>
                </a:lnTo>
                <a:lnTo>
                  <a:pt x="850" y="147"/>
                </a:lnTo>
                <a:lnTo>
                  <a:pt x="861" y="181"/>
                </a:lnTo>
                <a:lnTo>
                  <a:pt x="873" y="215"/>
                </a:lnTo>
                <a:lnTo>
                  <a:pt x="873" y="249"/>
                </a:lnTo>
                <a:lnTo>
                  <a:pt x="884" y="294"/>
                </a:lnTo>
                <a:lnTo>
                  <a:pt x="895" y="328"/>
                </a:lnTo>
                <a:lnTo>
                  <a:pt x="895" y="362"/>
                </a:lnTo>
                <a:lnTo>
                  <a:pt x="907" y="396"/>
                </a:lnTo>
                <a:lnTo>
                  <a:pt x="918" y="430"/>
                </a:lnTo>
                <a:lnTo>
                  <a:pt x="918" y="464"/>
                </a:lnTo>
                <a:lnTo>
                  <a:pt x="929" y="498"/>
                </a:lnTo>
                <a:lnTo>
                  <a:pt x="929" y="532"/>
                </a:lnTo>
                <a:lnTo>
                  <a:pt x="941" y="566"/>
                </a:lnTo>
                <a:lnTo>
                  <a:pt x="952" y="600"/>
                </a:lnTo>
                <a:lnTo>
                  <a:pt x="952" y="634"/>
                </a:lnTo>
                <a:lnTo>
                  <a:pt x="952" y="668"/>
                </a:lnTo>
                <a:lnTo>
                  <a:pt x="963" y="713"/>
                </a:lnTo>
                <a:lnTo>
                  <a:pt x="963" y="747"/>
                </a:lnTo>
                <a:lnTo>
                  <a:pt x="975" y="792"/>
                </a:lnTo>
                <a:lnTo>
                  <a:pt x="975" y="826"/>
                </a:lnTo>
                <a:lnTo>
                  <a:pt x="986" y="871"/>
                </a:lnTo>
                <a:lnTo>
                  <a:pt x="986" y="905"/>
                </a:lnTo>
                <a:lnTo>
                  <a:pt x="997" y="939"/>
                </a:lnTo>
                <a:lnTo>
                  <a:pt x="997" y="985"/>
                </a:lnTo>
                <a:lnTo>
                  <a:pt x="1009" y="1019"/>
                </a:lnTo>
                <a:lnTo>
                  <a:pt x="1009" y="1053"/>
                </a:lnTo>
                <a:lnTo>
                  <a:pt x="1020" y="1098"/>
                </a:lnTo>
                <a:lnTo>
                  <a:pt x="1020" y="1132"/>
                </a:lnTo>
                <a:lnTo>
                  <a:pt x="1031" y="1177"/>
                </a:lnTo>
                <a:lnTo>
                  <a:pt x="1031" y="1211"/>
                </a:lnTo>
                <a:lnTo>
                  <a:pt x="1043" y="1256"/>
                </a:lnTo>
                <a:lnTo>
                  <a:pt x="1043" y="1302"/>
                </a:lnTo>
                <a:lnTo>
                  <a:pt x="1054" y="1336"/>
                </a:lnTo>
                <a:lnTo>
                  <a:pt x="1065" y="1369"/>
                </a:lnTo>
                <a:lnTo>
                  <a:pt x="1065" y="1403"/>
                </a:lnTo>
                <a:lnTo>
                  <a:pt x="1077" y="1437"/>
                </a:lnTo>
                <a:lnTo>
                  <a:pt x="1077" y="1471"/>
                </a:lnTo>
                <a:lnTo>
                  <a:pt x="1088" y="1505"/>
                </a:lnTo>
                <a:lnTo>
                  <a:pt x="1088" y="1539"/>
                </a:lnTo>
                <a:lnTo>
                  <a:pt x="1099" y="1573"/>
                </a:lnTo>
                <a:lnTo>
                  <a:pt x="1111" y="1607"/>
                </a:lnTo>
                <a:lnTo>
                  <a:pt x="1111" y="1641"/>
                </a:lnTo>
                <a:lnTo>
                  <a:pt x="1122" y="1686"/>
                </a:lnTo>
                <a:lnTo>
                  <a:pt x="1133" y="1720"/>
                </a:lnTo>
                <a:lnTo>
                  <a:pt x="1145" y="1754"/>
                </a:lnTo>
                <a:lnTo>
                  <a:pt x="1145" y="1822"/>
                </a:lnTo>
                <a:lnTo>
                  <a:pt x="1167" y="1901"/>
                </a:lnTo>
                <a:lnTo>
                  <a:pt x="1167" y="1935"/>
                </a:lnTo>
                <a:lnTo>
                  <a:pt x="1179" y="1969"/>
                </a:lnTo>
                <a:lnTo>
                  <a:pt x="1201" y="2003"/>
                </a:lnTo>
                <a:lnTo>
                  <a:pt x="1213" y="2037"/>
                </a:lnTo>
                <a:lnTo>
                  <a:pt x="1246" y="2071"/>
                </a:lnTo>
                <a:lnTo>
                  <a:pt x="1280" y="2094"/>
                </a:lnTo>
                <a:lnTo>
                  <a:pt x="1314" y="2117"/>
                </a:lnTo>
                <a:lnTo>
                  <a:pt x="1348" y="2139"/>
                </a:lnTo>
                <a:lnTo>
                  <a:pt x="1382" y="2150"/>
                </a:lnTo>
                <a:lnTo>
                  <a:pt x="1416" y="2162"/>
                </a:lnTo>
                <a:lnTo>
                  <a:pt x="1450" y="2173"/>
                </a:lnTo>
                <a:lnTo>
                  <a:pt x="1484" y="2173"/>
                </a:lnTo>
                <a:lnTo>
                  <a:pt x="1518" y="2173"/>
                </a:lnTo>
                <a:lnTo>
                  <a:pt x="1552" y="2173"/>
                </a:lnTo>
                <a:lnTo>
                  <a:pt x="1586" y="2162"/>
                </a:lnTo>
                <a:lnTo>
                  <a:pt x="1620" y="2150"/>
                </a:lnTo>
                <a:lnTo>
                  <a:pt x="1654" y="2139"/>
                </a:lnTo>
                <a:lnTo>
                  <a:pt x="1688" y="2117"/>
                </a:lnTo>
                <a:lnTo>
                  <a:pt x="1722" y="2105"/>
                </a:lnTo>
                <a:lnTo>
                  <a:pt x="1756" y="2105"/>
                </a:lnTo>
                <a:lnTo>
                  <a:pt x="1790" y="2083"/>
                </a:lnTo>
                <a:lnTo>
                  <a:pt x="1824" y="2071"/>
                </a:lnTo>
                <a:lnTo>
                  <a:pt x="1858" y="2060"/>
                </a:lnTo>
                <a:lnTo>
                  <a:pt x="1892" y="2037"/>
                </a:lnTo>
                <a:lnTo>
                  <a:pt x="1926" y="2015"/>
                </a:lnTo>
                <a:lnTo>
                  <a:pt x="1960" y="2003"/>
                </a:lnTo>
                <a:lnTo>
                  <a:pt x="1994" y="1981"/>
                </a:lnTo>
                <a:lnTo>
                  <a:pt x="2028" y="1969"/>
                </a:lnTo>
                <a:lnTo>
                  <a:pt x="2062" y="1969"/>
                </a:lnTo>
                <a:lnTo>
                  <a:pt x="2096" y="1969"/>
                </a:lnTo>
                <a:lnTo>
                  <a:pt x="2130" y="1969"/>
                </a:lnTo>
                <a:lnTo>
                  <a:pt x="2164" y="1969"/>
                </a:lnTo>
                <a:lnTo>
                  <a:pt x="2198" y="1958"/>
                </a:lnTo>
                <a:lnTo>
                  <a:pt x="2232" y="1947"/>
                </a:lnTo>
                <a:lnTo>
                  <a:pt x="2266" y="1947"/>
                </a:lnTo>
                <a:lnTo>
                  <a:pt x="2300" y="1947"/>
                </a:lnTo>
                <a:lnTo>
                  <a:pt x="2334" y="1947"/>
                </a:lnTo>
                <a:lnTo>
                  <a:pt x="2352" y="1970"/>
                </a:lnTo>
              </a:path>
            </a:pathLst>
          </a:custGeom>
          <a:noFill/>
          <a:ln w="50800" cap="rnd" cmpd="sng">
            <a:solidFill>
              <a:schemeClr va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7664" name="Rectangle 16"/>
          <p:cNvSpPr>
            <a:spLocks noChangeArrowheads="1"/>
          </p:cNvSpPr>
          <p:nvPr/>
        </p:nvSpPr>
        <p:spPr bwMode="auto">
          <a:xfrm>
            <a:off x="365125" y="4662488"/>
            <a:ext cx="725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-70</a:t>
            </a:r>
          </a:p>
        </p:txBody>
      </p:sp>
      <p:sp>
        <p:nvSpPr>
          <p:cNvPr id="27665" name="Rectangle 17"/>
          <p:cNvSpPr>
            <a:spLocks noChangeArrowheads="1"/>
          </p:cNvSpPr>
          <p:nvPr/>
        </p:nvSpPr>
        <p:spPr bwMode="auto">
          <a:xfrm>
            <a:off x="288925" y="2757488"/>
            <a:ext cx="725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-15</a:t>
            </a:r>
          </a:p>
        </p:txBody>
      </p:sp>
      <p:sp>
        <p:nvSpPr>
          <p:cNvPr id="27666" name="Rectangle 18"/>
          <p:cNvSpPr>
            <a:spLocks noChangeArrowheads="1"/>
          </p:cNvSpPr>
          <p:nvPr/>
        </p:nvSpPr>
        <p:spPr bwMode="auto">
          <a:xfrm>
            <a:off x="288925" y="1614488"/>
            <a:ext cx="814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GB"/>
              <a:t>+30</a:t>
            </a:r>
          </a:p>
        </p:txBody>
      </p:sp>
      <p:sp>
        <p:nvSpPr>
          <p:cNvPr id="27667" name="Freeform 19"/>
          <p:cNvSpPr>
            <a:spLocks/>
          </p:cNvSpPr>
          <p:nvPr/>
        </p:nvSpPr>
        <p:spPr bwMode="auto">
          <a:xfrm>
            <a:off x="4953000" y="3159125"/>
            <a:ext cx="4191000" cy="1727200"/>
          </a:xfrm>
          <a:custGeom>
            <a:avLst/>
            <a:gdLst>
              <a:gd name="T0" fmla="*/ 54 w 2640"/>
              <a:gd name="T1" fmla="*/ 1087 h 1088"/>
              <a:gd name="T2" fmla="*/ 122 w 2640"/>
              <a:gd name="T3" fmla="*/ 1064 h 1088"/>
              <a:gd name="T4" fmla="*/ 190 w 2640"/>
              <a:gd name="T5" fmla="*/ 1019 h 1088"/>
              <a:gd name="T6" fmla="*/ 258 w 2640"/>
              <a:gd name="T7" fmla="*/ 962 h 1088"/>
              <a:gd name="T8" fmla="*/ 315 w 2640"/>
              <a:gd name="T9" fmla="*/ 906 h 1088"/>
              <a:gd name="T10" fmla="*/ 383 w 2640"/>
              <a:gd name="T11" fmla="*/ 838 h 1088"/>
              <a:gd name="T12" fmla="*/ 428 w 2640"/>
              <a:gd name="T13" fmla="*/ 770 h 1088"/>
              <a:gd name="T14" fmla="*/ 485 w 2640"/>
              <a:gd name="T15" fmla="*/ 702 h 1088"/>
              <a:gd name="T16" fmla="*/ 519 w 2640"/>
              <a:gd name="T17" fmla="*/ 634 h 1088"/>
              <a:gd name="T18" fmla="*/ 541 w 2640"/>
              <a:gd name="T19" fmla="*/ 566 h 1088"/>
              <a:gd name="T20" fmla="*/ 575 w 2640"/>
              <a:gd name="T21" fmla="*/ 498 h 1088"/>
              <a:gd name="T22" fmla="*/ 609 w 2640"/>
              <a:gd name="T23" fmla="*/ 430 h 1088"/>
              <a:gd name="T24" fmla="*/ 655 w 2640"/>
              <a:gd name="T25" fmla="*/ 362 h 1088"/>
              <a:gd name="T26" fmla="*/ 689 w 2640"/>
              <a:gd name="T27" fmla="*/ 283 h 1088"/>
              <a:gd name="T28" fmla="*/ 723 w 2640"/>
              <a:gd name="T29" fmla="*/ 215 h 1088"/>
              <a:gd name="T30" fmla="*/ 768 w 2640"/>
              <a:gd name="T31" fmla="*/ 147 h 1088"/>
              <a:gd name="T32" fmla="*/ 813 w 2640"/>
              <a:gd name="T33" fmla="*/ 79 h 1088"/>
              <a:gd name="T34" fmla="*/ 881 w 2640"/>
              <a:gd name="T35" fmla="*/ 34 h 1088"/>
              <a:gd name="T36" fmla="*/ 960 w 2640"/>
              <a:gd name="T37" fmla="*/ 12 h 1088"/>
              <a:gd name="T38" fmla="*/ 1028 w 2640"/>
              <a:gd name="T39" fmla="*/ 0 h 1088"/>
              <a:gd name="T40" fmla="*/ 1096 w 2640"/>
              <a:gd name="T41" fmla="*/ 0 h 1088"/>
              <a:gd name="T42" fmla="*/ 1164 w 2640"/>
              <a:gd name="T43" fmla="*/ 23 h 1088"/>
              <a:gd name="T44" fmla="*/ 1232 w 2640"/>
              <a:gd name="T45" fmla="*/ 45 h 1088"/>
              <a:gd name="T46" fmla="*/ 1300 w 2640"/>
              <a:gd name="T47" fmla="*/ 68 h 1088"/>
              <a:gd name="T48" fmla="*/ 1368 w 2640"/>
              <a:gd name="T49" fmla="*/ 113 h 1088"/>
              <a:gd name="T50" fmla="*/ 1447 w 2640"/>
              <a:gd name="T51" fmla="*/ 181 h 1088"/>
              <a:gd name="T52" fmla="*/ 1515 w 2640"/>
              <a:gd name="T53" fmla="*/ 227 h 1088"/>
              <a:gd name="T54" fmla="*/ 1594 w 2640"/>
              <a:gd name="T55" fmla="*/ 283 h 1088"/>
              <a:gd name="T56" fmla="*/ 1662 w 2640"/>
              <a:gd name="T57" fmla="*/ 340 h 1088"/>
              <a:gd name="T58" fmla="*/ 1742 w 2640"/>
              <a:gd name="T59" fmla="*/ 408 h 1088"/>
              <a:gd name="T60" fmla="*/ 1810 w 2640"/>
              <a:gd name="T61" fmla="*/ 476 h 1088"/>
              <a:gd name="T62" fmla="*/ 1912 w 2640"/>
              <a:gd name="T63" fmla="*/ 532 h 1088"/>
              <a:gd name="T64" fmla="*/ 1991 w 2640"/>
              <a:gd name="T65" fmla="*/ 600 h 1088"/>
              <a:gd name="T66" fmla="*/ 2081 w 2640"/>
              <a:gd name="T67" fmla="*/ 668 h 1088"/>
              <a:gd name="T68" fmla="*/ 2172 w 2640"/>
              <a:gd name="T69" fmla="*/ 736 h 1088"/>
              <a:gd name="T70" fmla="*/ 2240 w 2640"/>
              <a:gd name="T71" fmla="*/ 793 h 1088"/>
              <a:gd name="T72" fmla="*/ 2319 w 2640"/>
              <a:gd name="T73" fmla="*/ 838 h 1088"/>
              <a:gd name="T74" fmla="*/ 2398 w 2640"/>
              <a:gd name="T75" fmla="*/ 906 h 1088"/>
              <a:gd name="T76" fmla="*/ 2478 w 2640"/>
              <a:gd name="T77" fmla="*/ 962 h 1088"/>
              <a:gd name="T78" fmla="*/ 2546 w 2640"/>
              <a:gd name="T79" fmla="*/ 996 h 1088"/>
              <a:gd name="T80" fmla="*/ 2614 w 2640"/>
              <a:gd name="T81" fmla="*/ 1030 h 1088"/>
              <a:gd name="T82" fmla="*/ 2639 w 2640"/>
              <a:gd name="T83" fmla="*/ 1053 h 1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640" h="1088">
                <a:moveTo>
                  <a:pt x="0" y="1082"/>
                </a:moveTo>
                <a:lnTo>
                  <a:pt x="54" y="1087"/>
                </a:lnTo>
                <a:lnTo>
                  <a:pt x="88" y="1076"/>
                </a:lnTo>
                <a:lnTo>
                  <a:pt x="122" y="1064"/>
                </a:lnTo>
                <a:lnTo>
                  <a:pt x="156" y="1042"/>
                </a:lnTo>
                <a:lnTo>
                  <a:pt x="190" y="1019"/>
                </a:lnTo>
                <a:lnTo>
                  <a:pt x="224" y="996"/>
                </a:lnTo>
                <a:lnTo>
                  <a:pt x="258" y="962"/>
                </a:lnTo>
                <a:lnTo>
                  <a:pt x="292" y="940"/>
                </a:lnTo>
                <a:lnTo>
                  <a:pt x="315" y="906"/>
                </a:lnTo>
                <a:lnTo>
                  <a:pt x="349" y="872"/>
                </a:lnTo>
                <a:lnTo>
                  <a:pt x="383" y="838"/>
                </a:lnTo>
                <a:lnTo>
                  <a:pt x="405" y="804"/>
                </a:lnTo>
                <a:lnTo>
                  <a:pt x="428" y="770"/>
                </a:lnTo>
                <a:lnTo>
                  <a:pt x="462" y="736"/>
                </a:lnTo>
                <a:lnTo>
                  <a:pt x="485" y="702"/>
                </a:lnTo>
                <a:lnTo>
                  <a:pt x="496" y="668"/>
                </a:lnTo>
                <a:lnTo>
                  <a:pt x="519" y="634"/>
                </a:lnTo>
                <a:lnTo>
                  <a:pt x="530" y="600"/>
                </a:lnTo>
                <a:lnTo>
                  <a:pt x="541" y="566"/>
                </a:lnTo>
                <a:lnTo>
                  <a:pt x="564" y="532"/>
                </a:lnTo>
                <a:lnTo>
                  <a:pt x="575" y="498"/>
                </a:lnTo>
                <a:lnTo>
                  <a:pt x="598" y="464"/>
                </a:lnTo>
                <a:lnTo>
                  <a:pt x="609" y="430"/>
                </a:lnTo>
                <a:lnTo>
                  <a:pt x="632" y="396"/>
                </a:lnTo>
                <a:lnTo>
                  <a:pt x="655" y="362"/>
                </a:lnTo>
                <a:lnTo>
                  <a:pt x="666" y="328"/>
                </a:lnTo>
                <a:lnTo>
                  <a:pt x="689" y="283"/>
                </a:lnTo>
                <a:lnTo>
                  <a:pt x="700" y="249"/>
                </a:lnTo>
                <a:lnTo>
                  <a:pt x="723" y="215"/>
                </a:lnTo>
                <a:lnTo>
                  <a:pt x="734" y="181"/>
                </a:lnTo>
                <a:lnTo>
                  <a:pt x="768" y="147"/>
                </a:lnTo>
                <a:lnTo>
                  <a:pt x="790" y="113"/>
                </a:lnTo>
                <a:lnTo>
                  <a:pt x="813" y="79"/>
                </a:lnTo>
                <a:lnTo>
                  <a:pt x="847" y="45"/>
                </a:lnTo>
                <a:lnTo>
                  <a:pt x="881" y="34"/>
                </a:lnTo>
                <a:lnTo>
                  <a:pt x="926" y="12"/>
                </a:lnTo>
                <a:lnTo>
                  <a:pt x="960" y="12"/>
                </a:lnTo>
                <a:lnTo>
                  <a:pt x="994" y="0"/>
                </a:lnTo>
                <a:lnTo>
                  <a:pt x="1028" y="0"/>
                </a:lnTo>
                <a:lnTo>
                  <a:pt x="1062" y="0"/>
                </a:lnTo>
                <a:lnTo>
                  <a:pt x="1096" y="0"/>
                </a:lnTo>
                <a:lnTo>
                  <a:pt x="1130" y="0"/>
                </a:lnTo>
                <a:lnTo>
                  <a:pt x="1164" y="23"/>
                </a:lnTo>
                <a:lnTo>
                  <a:pt x="1198" y="34"/>
                </a:lnTo>
                <a:lnTo>
                  <a:pt x="1232" y="45"/>
                </a:lnTo>
                <a:lnTo>
                  <a:pt x="1266" y="57"/>
                </a:lnTo>
                <a:lnTo>
                  <a:pt x="1300" y="68"/>
                </a:lnTo>
                <a:lnTo>
                  <a:pt x="1334" y="91"/>
                </a:lnTo>
                <a:lnTo>
                  <a:pt x="1368" y="113"/>
                </a:lnTo>
                <a:lnTo>
                  <a:pt x="1402" y="147"/>
                </a:lnTo>
                <a:lnTo>
                  <a:pt x="1447" y="181"/>
                </a:lnTo>
                <a:lnTo>
                  <a:pt x="1481" y="204"/>
                </a:lnTo>
                <a:lnTo>
                  <a:pt x="1515" y="227"/>
                </a:lnTo>
                <a:lnTo>
                  <a:pt x="1549" y="249"/>
                </a:lnTo>
                <a:lnTo>
                  <a:pt x="1594" y="283"/>
                </a:lnTo>
                <a:lnTo>
                  <a:pt x="1628" y="317"/>
                </a:lnTo>
                <a:lnTo>
                  <a:pt x="1662" y="340"/>
                </a:lnTo>
                <a:lnTo>
                  <a:pt x="1708" y="385"/>
                </a:lnTo>
                <a:lnTo>
                  <a:pt x="1742" y="408"/>
                </a:lnTo>
                <a:lnTo>
                  <a:pt x="1776" y="442"/>
                </a:lnTo>
                <a:lnTo>
                  <a:pt x="1810" y="476"/>
                </a:lnTo>
                <a:lnTo>
                  <a:pt x="1844" y="510"/>
                </a:lnTo>
                <a:lnTo>
                  <a:pt x="1912" y="532"/>
                </a:lnTo>
                <a:lnTo>
                  <a:pt x="1945" y="566"/>
                </a:lnTo>
                <a:lnTo>
                  <a:pt x="1991" y="600"/>
                </a:lnTo>
                <a:lnTo>
                  <a:pt x="2036" y="634"/>
                </a:lnTo>
                <a:lnTo>
                  <a:pt x="2081" y="668"/>
                </a:lnTo>
                <a:lnTo>
                  <a:pt x="2127" y="702"/>
                </a:lnTo>
                <a:lnTo>
                  <a:pt x="2172" y="736"/>
                </a:lnTo>
                <a:lnTo>
                  <a:pt x="2206" y="759"/>
                </a:lnTo>
                <a:lnTo>
                  <a:pt x="2240" y="793"/>
                </a:lnTo>
                <a:lnTo>
                  <a:pt x="2285" y="815"/>
                </a:lnTo>
                <a:lnTo>
                  <a:pt x="2319" y="838"/>
                </a:lnTo>
                <a:lnTo>
                  <a:pt x="2364" y="872"/>
                </a:lnTo>
                <a:lnTo>
                  <a:pt x="2398" y="906"/>
                </a:lnTo>
                <a:lnTo>
                  <a:pt x="2432" y="928"/>
                </a:lnTo>
                <a:lnTo>
                  <a:pt x="2478" y="962"/>
                </a:lnTo>
                <a:lnTo>
                  <a:pt x="2512" y="974"/>
                </a:lnTo>
                <a:lnTo>
                  <a:pt x="2546" y="996"/>
                </a:lnTo>
                <a:lnTo>
                  <a:pt x="2580" y="1019"/>
                </a:lnTo>
                <a:lnTo>
                  <a:pt x="2614" y="1030"/>
                </a:lnTo>
                <a:lnTo>
                  <a:pt x="2639" y="1042"/>
                </a:lnTo>
                <a:lnTo>
                  <a:pt x="2639" y="1053"/>
                </a:lnTo>
                <a:lnTo>
                  <a:pt x="2639" y="1034"/>
                </a:lnTo>
              </a:path>
            </a:pathLst>
          </a:custGeom>
          <a:noFill/>
          <a:ln w="50800"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40382528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76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6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65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765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766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76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6" grpId="0" autoUpdateAnimBg="0"/>
      <p:bldP spid="27657" grpId="0" animBg="1"/>
      <p:bldP spid="27658" grpId="0" autoUpdateAnimBg="0"/>
      <p:bldP spid="27663" grpId="0" animBg="1"/>
      <p:bldP spid="2766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1" name="Text Box 21"/>
          <p:cNvSpPr txBox="1">
            <a:spLocks noChangeArrowheads="1"/>
          </p:cNvSpPr>
          <p:nvPr/>
        </p:nvSpPr>
        <p:spPr bwMode="auto">
          <a:xfrm>
            <a:off x="346075" y="1087438"/>
            <a:ext cx="84931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571500">
              <a:defRPr sz="2400">
                <a:solidFill>
                  <a:schemeClr val="tx1"/>
                </a:solidFill>
                <a:latin typeface="Times New Roman" pitchFamily="18" charset="0"/>
              </a:defRPr>
            </a:lvl2pPr>
            <a:lvl3pPr marL="1143000">
              <a:defRPr sz="2400">
                <a:solidFill>
                  <a:schemeClr val="tx1"/>
                </a:solidFill>
                <a:latin typeface="Times New Roman" pitchFamily="18" charset="0"/>
              </a:defRPr>
            </a:lvl3pPr>
            <a:lvl4pPr marL="1714500">
              <a:defRPr sz="2400">
                <a:solidFill>
                  <a:schemeClr val="tx1"/>
                </a:solidFill>
                <a:latin typeface="Times New Roman" pitchFamily="18" charset="0"/>
              </a:defRPr>
            </a:lvl4pPr>
            <a:lvl5pPr marL="2286000">
              <a:defRPr sz="2400">
                <a:solidFill>
                  <a:schemeClr val="tx1"/>
                </a:solidFill>
                <a:latin typeface="Times New Roman" pitchFamily="18" charset="0"/>
              </a:defRPr>
            </a:lvl5pPr>
            <a:lvl6pPr marL="2743200" fontAlgn="base">
              <a:spcBef>
                <a:spcPct val="0"/>
              </a:spcBef>
              <a:spcAft>
                <a:spcPct val="0"/>
              </a:spcAft>
              <a:defRPr sz="2400">
                <a:solidFill>
                  <a:schemeClr val="tx1"/>
                </a:solidFill>
                <a:latin typeface="Times New Roman" pitchFamily="18" charset="0"/>
              </a:defRPr>
            </a:lvl6pPr>
            <a:lvl7pPr marL="3200400" fontAlgn="base">
              <a:spcBef>
                <a:spcPct val="0"/>
              </a:spcBef>
              <a:spcAft>
                <a:spcPct val="0"/>
              </a:spcAft>
              <a:defRPr sz="2400">
                <a:solidFill>
                  <a:schemeClr val="tx1"/>
                </a:solidFill>
                <a:latin typeface="Times New Roman" pitchFamily="18" charset="0"/>
              </a:defRPr>
            </a:lvl7pPr>
            <a:lvl8pPr marL="3657600" fontAlgn="base">
              <a:spcBef>
                <a:spcPct val="0"/>
              </a:spcBef>
              <a:spcAft>
                <a:spcPct val="0"/>
              </a:spcAft>
              <a:defRPr sz="2400">
                <a:solidFill>
                  <a:schemeClr val="tx1"/>
                </a:solidFill>
                <a:latin typeface="Times New Roman" pitchFamily="18" charset="0"/>
              </a:defRPr>
            </a:lvl8pPr>
            <a:lvl9pPr marL="4114800" fontAlgn="base">
              <a:spcBef>
                <a:spcPct val="0"/>
              </a:spcBef>
              <a:spcAft>
                <a:spcPct val="0"/>
              </a:spcAft>
              <a:defRPr sz="2400">
                <a:solidFill>
                  <a:schemeClr val="tx1"/>
                </a:solidFill>
                <a:latin typeface="Times New Roman" pitchFamily="18" charset="0"/>
              </a:defRPr>
            </a:lvl9pPr>
          </a:lstStyle>
          <a:p>
            <a:r>
              <a:rPr lang="en-GB" sz="3200" dirty="0">
                <a:latin typeface="Arial Rounded MT Bold" pitchFamily="34" charset="0"/>
              </a:rPr>
              <a:t>There are no </a:t>
            </a:r>
            <a:r>
              <a:rPr lang="en-GB" sz="3200" dirty="0" err="1">
                <a:latin typeface="Arial Rounded MT Bold" pitchFamily="34" charset="0"/>
              </a:rPr>
              <a:t>a.p.'s</a:t>
            </a:r>
            <a:r>
              <a:rPr lang="en-GB" sz="3200" dirty="0">
                <a:latin typeface="Arial Rounded MT Bold" pitchFamily="34" charset="0"/>
              </a:rPr>
              <a:t> at junctional folds because there are no </a:t>
            </a:r>
            <a:r>
              <a:rPr lang="en-GB" sz="3200" u="sng" dirty="0">
                <a:solidFill>
                  <a:srgbClr val="FF0000"/>
                </a:solidFill>
                <a:latin typeface="Arial Rounded MT Bold" pitchFamily="34" charset="0"/>
              </a:rPr>
              <a:t>voltage-gated Na</a:t>
            </a:r>
            <a:r>
              <a:rPr lang="en-GB" sz="3200" u="sng" baseline="30000" dirty="0">
                <a:solidFill>
                  <a:srgbClr val="FF0000"/>
                </a:solidFill>
                <a:latin typeface="Arial Rounded MT Bold" pitchFamily="34" charset="0"/>
              </a:rPr>
              <a:t>+</a:t>
            </a:r>
            <a:r>
              <a:rPr lang="en-GB" sz="3200" u="sng" dirty="0">
                <a:solidFill>
                  <a:srgbClr val="FF0000"/>
                </a:solidFill>
                <a:latin typeface="Arial Rounded MT Bold" pitchFamily="34" charset="0"/>
              </a:rPr>
              <a:t> channels</a:t>
            </a:r>
            <a:r>
              <a:rPr lang="en-GB" sz="3200" dirty="0">
                <a:latin typeface="Arial Rounded MT Bold" pitchFamily="34" charset="0"/>
              </a:rPr>
              <a:t> </a:t>
            </a:r>
            <a:r>
              <a:rPr lang="en-GB" sz="3200" dirty="0">
                <a:solidFill>
                  <a:schemeClr val="hlink"/>
                </a:solidFill>
                <a:latin typeface="Arial Rounded MT Bold" pitchFamily="34" charset="0"/>
              </a:rPr>
              <a:t>!</a:t>
            </a:r>
            <a:r>
              <a:rPr lang="en-GB" sz="3200" dirty="0">
                <a:latin typeface="Arial Rounded MT Bold" pitchFamily="34" charset="0"/>
              </a:rPr>
              <a:t> </a:t>
            </a:r>
          </a:p>
          <a:p>
            <a:endParaRPr lang="en-GB" sz="3200" dirty="0">
              <a:latin typeface="Arial Rounded MT Bold" pitchFamily="34" charset="0"/>
            </a:endParaRPr>
          </a:p>
          <a:p>
            <a:r>
              <a:rPr lang="en-GB" sz="3200" dirty="0">
                <a:latin typeface="Arial Rounded MT Bold" pitchFamily="34" charset="0"/>
              </a:rPr>
              <a:t>But EPP's in the junctional folds trigger </a:t>
            </a:r>
            <a:r>
              <a:rPr lang="en-GB" sz="3200" dirty="0" err="1">
                <a:latin typeface="Arial Rounded MT Bold" pitchFamily="34" charset="0"/>
              </a:rPr>
              <a:t>a.p.'s</a:t>
            </a:r>
            <a:r>
              <a:rPr lang="en-GB" sz="3200" dirty="0">
                <a:latin typeface="Arial Rounded MT Bold" pitchFamily="34" charset="0"/>
              </a:rPr>
              <a:t> nearby, where </a:t>
            </a:r>
            <a:r>
              <a:rPr lang="en-GB" sz="3200" dirty="0">
                <a:highlight>
                  <a:srgbClr val="FFFF00"/>
                </a:highlight>
                <a:latin typeface="Arial Rounded MT Bold" pitchFamily="34" charset="0"/>
              </a:rPr>
              <a:t>voltage-gated Na</a:t>
            </a:r>
            <a:r>
              <a:rPr lang="en-GB" sz="3200" baseline="30000" dirty="0">
                <a:highlight>
                  <a:srgbClr val="FFFF00"/>
                </a:highlight>
                <a:latin typeface="Arial Rounded MT Bold" pitchFamily="34" charset="0"/>
              </a:rPr>
              <a:t>+</a:t>
            </a:r>
            <a:r>
              <a:rPr lang="en-GB" sz="3200" dirty="0">
                <a:highlight>
                  <a:srgbClr val="FFFF00"/>
                </a:highlight>
                <a:latin typeface="Arial Rounded MT Bold" pitchFamily="34" charset="0"/>
              </a:rPr>
              <a:t> channels do exist</a:t>
            </a:r>
            <a:r>
              <a:rPr lang="en-GB" sz="3200" dirty="0">
                <a:latin typeface="Arial Rounded MT Bold" pitchFamily="34" charset="0"/>
              </a:rPr>
              <a:t>. These Action potential propagate deep within the muscle to activate muscle contraction. </a:t>
            </a:r>
          </a:p>
        </p:txBody>
      </p:sp>
    </p:spTree>
    <p:extLst>
      <p:ext uri="{BB962C8B-B14F-4D97-AF65-F5344CB8AC3E}">
        <p14:creationId xmlns:p14="http://schemas.microsoft.com/office/powerpoint/2010/main" val="37887845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09600" y="228600"/>
            <a:ext cx="7772400" cy="1143000"/>
          </a:xfrm>
          <a:noFill/>
          <a:ln/>
        </p:spPr>
        <p:txBody>
          <a:bodyPr/>
          <a:lstStyle/>
          <a:p>
            <a:pPr algn="l"/>
            <a:r>
              <a:rPr lang="en-US" sz="3200" b="1">
                <a:solidFill>
                  <a:schemeClr val="hlink"/>
                </a:solidFill>
                <a:latin typeface="Arial Rounded MT Bold" pitchFamily="34" charset="0"/>
              </a:rPr>
              <a:t>What is the smallest EPP that be generated?</a:t>
            </a:r>
          </a:p>
        </p:txBody>
      </p:sp>
      <p:grpSp>
        <p:nvGrpSpPr>
          <p:cNvPr id="52227" name="Group 3"/>
          <p:cNvGrpSpPr>
            <a:grpSpLocks/>
          </p:cNvGrpSpPr>
          <p:nvPr/>
        </p:nvGrpSpPr>
        <p:grpSpPr bwMode="auto">
          <a:xfrm>
            <a:off x="288925" y="1676400"/>
            <a:ext cx="4435475" cy="4876800"/>
            <a:chOff x="182" y="1056"/>
            <a:chExt cx="2794" cy="3072"/>
          </a:xfrm>
        </p:grpSpPr>
        <p:sp>
          <p:nvSpPr>
            <p:cNvPr id="52228" name="Line 4"/>
            <p:cNvSpPr>
              <a:spLocks noChangeShapeType="1"/>
            </p:cNvSpPr>
            <p:nvPr/>
          </p:nvSpPr>
          <p:spPr bwMode="auto">
            <a:xfrm>
              <a:off x="816" y="1056"/>
              <a:ext cx="0" cy="244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29" name="Line 5"/>
            <p:cNvSpPr>
              <a:spLocks noChangeShapeType="1"/>
            </p:cNvSpPr>
            <p:nvPr/>
          </p:nvSpPr>
          <p:spPr bwMode="auto">
            <a:xfrm>
              <a:off x="816" y="3504"/>
              <a:ext cx="21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30" name="Rectangle 6"/>
            <p:cNvSpPr>
              <a:spLocks noChangeArrowheads="1"/>
            </p:cNvSpPr>
            <p:nvPr/>
          </p:nvSpPr>
          <p:spPr bwMode="auto">
            <a:xfrm>
              <a:off x="182" y="2025"/>
              <a:ext cx="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mV</a:t>
              </a:r>
            </a:p>
          </p:txBody>
        </p:sp>
        <p:sp>
          <p:nvSpPr>
            <p:cNvPr id="52231" name="Rectangle 7"/>
            <p:cNvSpPr>
              <a:spLocks noChangeArrowheads="1"/>
            </p:cNvSpPr>
            <p:nvPr/>
          </p:nvSpPr>
          <p:spPr bwMode="auto">
            <a:xfrm>
              <a:off x="1382" y="3801"/>
              <a:ext cx="11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time (ms)</a:t>
              </a:r>
            </a:p>
          </p:txBody>
        </p:sp>
      </p:grpSp>
      <p:sp>
        <p:nvSpPr>
          <p:cNvPr id="52232" name="Rectangle 8"/>
          <p:cNvSpPr>
            <a:spLocks noChangeArrowheads="1"/>
          </p:cNvSpPr>
          <p:nvPr/>
        </p:nvSpPr>
        <p:spPr bwMode="auto">
          <a:xfrm>
            <a:off x="1965325" y="1309688"/>
            <a:ext cx="23701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nerve at rest</a:t>
            </a:r>
          </a:p>
        </p:txBody>
      </p:sp>
      <p:sp>
        <p:nvSpPr>
          <p:cNvPr id="52233" name="Line 9"/>
          <p:cNvSpPr>
            <a:spLocks noChangeShapeType="1"/>
          </p:cNvSpPr>
          <p:nvPr/>
        </p:nvSpPr>
        <p:spPr bwMode="auto">
          <a:xfrm>
            <a:off x="5257800" y="5562600"/>
            <a:ext cx="342900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34" name="Rectangle 10"/>
          <p:cNvSpPr>
            <a:spLocks noChangeArrowheads="1"/>
          </p:cNvSpPr>
          <p:nvPr/>
        </p:nvSpPr>
        <p:spPr bwMode="auto">
          <a:xfrm>
            <a:off x="5622925" y="1309688"/>
            <a:ext cx="3028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muscle endplate</a:t>
            </a:r>
          </a:p>
        </p:txBody>
      </p:sp>
      <p:sp>
        <p:nvSpPr>
          <p:cNvPr id="52235" name="Line 11"/>
          <p:cNvSpPr>
            <a:spLocks noChangeShapeType="1"/>
          </p:cNvSpPr>
          <p:nvPr/>
        </p:nvSpPr>
        <p:spPr bwMode="auto">
          <a:xfrm>
            <a:off x="1066800" y="48768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36" name="Line 12"/>
          <p:cNvSpPr>
            <a:spLocks noChangeShapeType="1"/>
          </p:cNvSpPr>
          <p:nvPr/>
        </p:nvSpPr>
        <p:spPr bwMode="auto">
          <a:xfrm>
            <a:off x="1066800" y="3124200"/>
            <a:ext cx="533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37" name="Line 13"/>
          <p:cNvSpPr>
            <a:spLocks noChangeShapeType="1"/>
          </p:cNvSpPr>
          <p:nvPr/>
        </p:nvSpPr>
        <p:spPr bwMode="auto">
          <a:xfrm>
            <a:off x="1066800" y="1905000"/>
            <a:ext cx="5334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38" name="Line 14"/>
          <p:cNvSpPr>
            <a:spLocks noChangeShapeType="1"/>
          </p:cNvSpPr>
          <p:nvPr/>
        </p:nvSpPr>
        <p:spPr bwMode="auto">
          <a:xfrm>
            <a:off x="1676400" y="4876800"/>
            <a:ext cx="685800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39" name="Rectangle 15"/>
          <p:cNvSpPr>
            <a:spLocks noChangeArrowheads="1"/>
          </p:cNvSpPr>
          <p:nvPr/>
        </p:nvSpPr>
        <p:spPr bwMode="auto">
          <a:xfrm>
            <a:off x="365125" y="4662488"/>
            <a:ext cx="725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-70</a:t>
            </a:r>
          </a:p>
        </p:txBody>
      </p:sp>
      <p:sp>
        <p:nvSpPr>
          <p:cNvPr id="52240" name="Rectangle 16"/>
          <p:cNvSpPr>
            <a:spLocks noChangeArrowheads="1"/>
          </p:cNvSpPr>
          <p:nvPr/>
        </p:nvSpPr>
        <p:spPr bwMode="auto">
          <a:xfrm>
            <a:off x="288925" y="2757488"/>
            <a:ext cx="7254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-15</a:t>
            </a:r>
          </a:p>
        </p:txBody>
      </p:sp>
      <p:sp>
        <p:nvSpPr>
          <p:cNvPr id="52241" name="Rectangle 17"/>
          <p:cNvSpPr>
            <a:spLocks noChangeArrowheads="1"/>
          </p:cNvSpPr>
          <p:nvPr/>
        </p:nvSpPr>
        <p:spPr bwMode="auto">
          <a:xfrm>
            <a:off x="288925" y="1614488"/>
            <a:ext cx="8143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+30</a:t>
            </a:r>
          </a:p>
        </p:txBody>
      </p:sp>
      <p:sp>
        <p:nvSpPr>
          <p:cNvPr id="52242" name="Line 18"/>
          <p:cNvSpPr>
            <a:spLocks noChangeShapeType="1"/>
          </p:cNvSpPr>
          <p:nvPr/>
        </p:nvSpPr>
        <p:spPr bwMode="auto">
          <a:xfrm>
            <a:off x="1371600" y="4876800"/>
            <a:ext cx="3505200" cy="0"/>
          </a:xfrm>
          <a:prstGeom prst="line">
            <a:avLst/>
          </a:prstGeom>
          <a:noFill/>
          <a:ln w="508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52243" name="Group 19"/>
          <p:cNvGrpSpPr>
            <a:grpSpLocks/>
          </p:cNvGrpSpPr>
          <p:nvPr/>
        </p:nvGrpSpPr>
        <p:grpSpPr bwMode="auto">
          <a:xfrm>
            <a:off x="5410200" y="4740275"/>
            <a:ext cx="3125788" cy="146050"/>
            <a:chOff x="3408" y="2986"/>
            <a:chExt cx="1969" cy="92"/>
          </a:xfrm>
        </p:grpSpPr>
        <p:sp>
          <p:nvSpPr>
            <p:cNvPr id="52244" name="Line 20"/>
            <p:cNvSpPr>
              <a:spLocks noChangeShapeType="1"/>
            </p:cNvSpPr>
            <p:nvPr/>
          </p:nvSpPr>
          <p:spPr bwMode="auto">
            <a:xfrm>
              <a:off x="3408" y="3072"/>
              <a:ext cx="528" cy="0"/>
            </a:xfrm>
            <a:prstGeom prst="line">
              <a:avLst/>
            </a:prstGeom>
            <a:noFill/>
            <a:ln w="50800">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45" name="Freeform 21"/>
            <p:cNvSpPr>
              <a:spLocks/>
            </p:cNvSpPr>
            <p:nvPr/>
          </p:nvSpPr>
          <p:spPr bwMode="auto">
            <a:xfrm>
              <a:off x="3984" y="2986"/>
              <a:ext cx="481" cy="92"/>
            </a:xfrm>
            <a:custGeom>
              <a:avLst/>
              <a:gdLst>
                <a:gd name="T0" fmla="*/ 0 w 481"/>
                <a:gd name="T1" fmla="*/ 86 h 92"/>
                <a:gd name="T2" fmla="*/ 51 w 481"/>
                <a:gd name="T3" fmla="*/ 91 h 92"/>
                <a:gd name="T4" fmla="*/ 74 w 481"/>
                <a:gd name="T5" fmla="*/ 57 h 92"/>
                <a:gd name="T6" fmla="*/ 108 w 481"/>
                <a:gd name="T7" fmla="*/ 46 h 92"/>
                <a:gd name="T8" fmla="*/ 142 w 481"/>
                <a:gd name="T9" fmla="*/ 23 h 92"/>
                <a:gd name="T10" fmla="*/ 176 w 481"/>
                <a:gd name="T11" fmla="*/ 0 h 92"/>
                <a:gd name="T12" fmla="*/ 210 w 481"/>
                <a:gd name="T13" fmla="*/ 0 h 92"/>
                <a:gd name="T14" fmla="*/ 244 w 481"/>
                <a:gd name="T15" fmla="*/ 12 h 92"/>
                <a:gd name="T16" fmla="*/ 277 w 481"/>
                <a:gd name="T17" fmla="*/ 34 h 92"/>
                <a:gd name="T18" fmla="*/ 311 w 481"/>
                <a:gd name="T19" fmla="*/ 57 h 92"/>
                <a:gd name="T20" fmla="*/ 345 w 481"/>
                <a:gd name="T21" fmla="*/ 68 h 92"/>
                <a:gd name="T22" fmla="*/ 379 w 481"/>
                <a:gd name="T23" fmla="*/ 68 h 92"/>
                <a:gd name="T24" fmla="*/ 413 w 481"/>
                <a:gd name="T25" fmla="*/ 68 h 92"/>
                <a:gd name="T26" fmla="*/ 447 w 481"/>
                <a:gd name="T27" fmla="*/ 68 h 92"/>
                <a:gd name="T28" fmla="*/ 480 w 481"/>
                <a:gd name="T29" fmla="*/ 8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1" h="92">
                  <a:moveTo>
                    <a:pt x="0" y="86"/>
                  </a:moveTo>
                  <a:lnTo>
                    <a:pt x="51" y="91"/>
                  </a:lnTo>
                  <a:lnTo>
                    <a:pt x="74" y="57"/>
                  </a:lnTo>
                  <a:lnTo>
                    <a:pt x="108" y="46"/>
                  </a:lnTo>
                  <a:lnTo>
                    <a:pt x="142" y="23"/>
                  </a:lnTo>
                  <a:lnTo>
                    <a:pt x="176" y="0"/>
                  </a:lnTo>
                  <a:lnTo>
                    <a:pt x="210" y="0"/>
                  </a:lnTo>
                  <a:lnTo>
                    <a:pt x="244" y="12"/>
                  </a:lnTo>
                  <a:lnTo>
                    <a:pt x="277" y="34"/>
                  </a:lnTo>
                  <a:lnTo>
                    <a:pt x="311" y="57"/>
                  </a:lnTo>
                  <a:lnTo>
                    <a:pt x="345" y="68"/>
                  </a:lnTo>
                  <a:lnTo>
                    <a:pt x="379" y="68"/>
                  </a:lnTo>
                  <a:lnTo>
                    <a:pt x="413" y="68"/>
                  </a:lnTo>
                  <a:lnTo>
                    <a:pt x="447" y="68"/>
                  </a:lnTo>
                  <a:lnTo>
                    <a:pt x="480" y="86"/>
                  </a:lnTo>
                </a:path>
              </a:pathLst>
            </a:custGeom>
            <a:noFill/>
            <a:ln w="50800"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2246" name="Line 22"/>
            <p:cNvSpPr>
              <a:spLocks noChangeShapeType="1"/>
            </p:cNvSpPr>
            <p:nvPr/>
          </p:nvSpPr>
          <p:spPr bwMode="auto">
            <a:xfrm>
              <a:off x="4368" y="3072"/>
              <a:ext cx="528" cy="0"/>
            </a:xfrm>
            <a:prstGeom prst="line">
              <a:avLst/>
            </a:prstGeom>
            <a:noFill/>
            <a:ln w="50800">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2247" name="Freeform 23"/>
            <p:cNvSpPr>
              <a:spLocks/>
            </p:cNvSpPr>
            <p:nvPr/>
          </p:nvSpPr>
          <p:spPr bwMode="auto">
            <a:xfrm>
              <a:off x="4896" y="2986"/>
              <a:ext cx="481" cy="92"/>
            </a:xfrm>
            <a:custGeom>
              <a:avLst/>
              <a:gdLst>
                <a:gd name="T0" fmla="*/ 0 w 481"/>
                <a:gd name="T1" fmla="*/ 86 h 92"/>
                <a:gd name="T2" fmla="*/ 51 w 481"/>
                <a:gd name="T3" fmla="*/ 91 h 92"/>
                <a:gd name="T4" fmla="*/ 74 w 481"/>
                <a:gd name="T5" fmla="*/ 57 h 92"/>
                <a:gd name="T6" fmla="*/ 108 w 481"/>
                <a:gd name="T7" fmla="*/ 46 h 92"/>
                <a:gd name="T8" fmla="*/ 142 w 481"/>
                <a:gd name="T9" fmla="*/ 23 h 92"/>
                <a:gd name="T10" fmla="*/ 176 w 481"/>
                <a:gd name="T11" fmla="*/ 0 h 92"/>
                <a:gd name="T12" fmla="*/ 210 w 481"/>
                <a:gd name="T13" fmla="*/ 0 h 92"/>
                <a:gd name="T14" fmla="*/ 244 w 481"/>
                <a:gd name="T15" fmla="*/ 12 h 92"/>
                <a:gd name="T16" fmla="*/ 277 w 481"/>
                <a:gd name="T17" fmla="*/ 34 h 92"/>
                <a:gd name="T18" fmla="*/ 311 w 481"/>
                <a:gd name="T19" fmla="*/ 57 h 92"/>
                <a:gd name="T20" fmla="*/ 345 w 481"/>
                <a:gd name="T21" fmla="*/ 68 h 92"/>
                <a:gd name="T22" fmla="*/ 379 w 481"/>
                <a:gd name="T23" fmla="*/ 68 h 92"/>
                <a:gd name="T24" fmla="*/ 413 w 481"/>
                <a:gd name="T25" fmla="*/ 68 h 92"/>
                <a:gd name="T26" fmla="*/ 447 w 481"/>
                <a:gd name="T27" fmla="*/ 68 h 92"/>
                <a:gd name="T28" fmla="*/ 480 w 481"/>
                <a:gd name="T29" fmla="*/ 8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1" h="92">
                  <a:moveTo>
                    <a:pt x="0" y="86"/>
                  </a:moveTo>
                  <a:lnTo>
                    <a:pt x="51" y="91"/>
                  </a:lnTo>
                  <a:lnTo>
                    <a:pt x="74" y="57"/>
                  </a:lnTo>
                  <a:lnTo>
                    <a:pt x="108" y="46"/>
                  </a:lnTo>
                  <a:lnTo>
                    <a:pt x="142" y="23"/>
                  </a:lnTo>
                  <a:lnTo>
                    <a:pt x="176" y="0"/>
                  </a:lnTo>
                  <a:lnTo>
                    <a:pt x="210" y="0"/>
                  </a:lnTo>
                  <a:lnTo>
                    <a:pt x="244" y="12"/>
                  </a:lnTo>
                  <a:lnTo>
                    <a:pt x="277" y="34"/>
                  </a:lnTo>
                  <a:lnTo>
                    <a:pt x="311" y="57"/>
                  </a:lnTo>
                  <a:lnTo>
                    <a:pt x="345" y="68"/>
                  </a:lnTo>
                  <a:lnTo>
                    <a:pt x="379" y="68"/>
                  </a:lnTo>
                  <a:lnTo>
                    <a:pt x="413" y="68"/>
                  </a:lnTo>
                  <a:lnTo>
                    <a:pt x="447" y="68"/>
                  </a:lnTo>
                  <a:lnTo>
                    <a:pt x="480" y="86"/>
                  </a:lnTo>
                </a:path>
              </a:pathLst>
            </a:custGeom>
            <a:noFill/>
            <a:ln w="50800"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52248" name="Rectangle 24"/>
          <p:cNvSpPr>
            <a:spLocks noChangeArrowheads="1"/>
          </p:cNvSpPr>
          <p:nvPr/>
        </p:nvSpPr>
        <p:spPr bwMode="auto">
          <a:xfrm>
            <a:off x="5165725" y="3214688"/>
            <a:ext cx="3170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i="1">
                <a:solidFill>
                  <a:schemeClr val="folHlink"/>
                </a:solidFill>
              </a:rPr>
              <a:t>mini-EPP (0.5mV)</a:t>
            </a:r>
          </a:p>
        </p:txBody>
      </p:sp>
    </p:spTree>
    <p:extLst>
      <p:ext uri="{BB962C8B-B14F-4D97-AF65-F5344CB8AC3E}">
        <p14:creationId xmlns:p14="http://schemas.microsoft.com/office/powerpoint/2010/main" val="10137228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22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2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223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223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224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224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2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2" grpId="0" autoUpdateAnimBg="0"/>
      <p:bldP spid="52233" grpId="0" animBg="1"/>
      <p:bldP spid="52234" grpId="0" autoUpdateAnimBg="0"/>
      <p:bldP spid="52242" grpId="0" animBg="1"/>
      <p:bldP spid="52248"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09600" y="228600"/>
            <a:ext cx="7772400" cy="1143000"/>
          </a:xfrm>
          <a:noFill/>
          <a:ln/>
        </p:spPr>
        <p:txBody>
          <a:bodyPr>
            <a:normAutofit fontScale="90000"/>
          </a:bodyPr>
          <a:lstStyle/>
          <a:p>
            <a:pPr algn="l"/>
            <a:r>
              <a:rPr lang="en-US" sz="2800" b="1" dirty="0">
                <a:solidFill>
                  <a:schemeClr val="hlink"/>
                </a:solidFill>
                <a:latin typeface="Arial Rounded MT Bold" pitchFamily="34" charset="0"/>
              </a:rPr>
              <a:t>The mini-EPP is the same shape as the EPP, but smaller, and occurs at random, when the nerve and muscle are at rest</a:t>
            </a:r>
          </a:p>
        </p:txBody>
      </p:sp>
      <p:sp>
        <p:nvSpPr>
          <p:cNvPr id="53251" name="Rectangle 3"/>
          <p:cNvSpPr>
            <a:spLocks noChangeArrowheads="1"/>
          </p:cNvSpPr>
          <p:nvPr/>
        </p:nvSpPr>
        <p:spPr bwMode="auto">
          <a:xfrm>
            <a:off x="1965325" y="1309688"/>
            <a:ext cx="23701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nerve at rest</a:t>
            </a:r>
          </a:p>
        </p:txBody>
      </p:sp>
      <p:sp>
        <p:nvSpPr>
          <p:cNvPr id="53252" name="Rectangle 4"/>
          <p:cNvSpPr>
            <a:spLocks noChangeArrowheads="1"/>
          </p:cNvSpPr>
          <p:nvPr/>
        </p:nvSpPr>
        <p:spPr bwMode="auto">
          <a:xfrm>
            <a:off x="5622925" y="1309688"/>
            <a:ext cx="30289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muscle endplate</a:t>
            </a:r>
          </a:p>
        </p:txBody>
      </p:sp>
      <p:grpSp>
        <p:nvGrpSpPr>
          <p:cNvPr id="53253" name="Group 5"/>
          <p:cNvGrpSpPr>
            <a:grpSpLocks/>
          </p:cNvGrpSpPr>
          <p:nvPr/>
        </p:nvGrpSpPr>
        <p:grpSpPr bwMode="auto">
          <a:xfrm>
            <a:off x="288925" y="1614488"/>
            <a:ext cx="8397875" cy="4492625"/>
            <a:chOff x="182" y="1017"/>
            <a:chExt cx="5290" cy="2830"/>
          </a:xfrm>
        </p:grpSpPr>
        <p:grpSp>
          <p:nvGrpSpPr>
            <p:cNvPr id="53254" name="Group 6"/>
            <p:cNvGrpSpPr>
              <a:grpSpLocks/>
            </p:cNvGrpSpPr>
            <p:nvPr/>
          </p:nvGrpSpPr>
          <p:grpSpPr bwMode="auto">
            <a:xfrm>
              <a:off x="182" y="1056"/>
              <a:ext cx="2794" cy="2791"/>
              <a:chOff x="182" y="1056"/>
              <a:chExt cx="2794" cy="2791"/>
            </a:xfrm>
          </p:grpSpPr>
          <p:sp>
            <p:nvSpPr>
              <p:cNvPr id="53255" name="Line 7"/>
              <p:cNvSpPr>
                <a:spLocks noChangeShapeType="1"/>
              </p:cNvSpPr>
              <p:nvPr/>
            </p:nvSpPr>
            <p:spPr bwMode="auto">
              <a:xfrm>
                <a:off x="816" y="1056"/>
                <a:ext cx="0" cy="2448"/>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56" name="Line 8"/>
              <p:cNvSpPr>
                <a:spLocks noChangeShapeType="1"/>
              </p:cNvSpPr>
              <p:nvPr/>
            </p:nvSpPr>
            <p:spPr bwMode="auto">
              <a:xfrm>
                <a:off x="816" y="3504"/>
                <a:ext cx="21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57" name="Rectangle 9"/>
              <p:cNvSpPr>
                <a:spLocks noChangeArrowheads="1"/>
              </p:cNvSpPr>
              <p:nvPr/>
            </p:nvSpPr>
            <p:spPr bwMode="auto">
              <a:xfrm>
                <a:off x="182" y="2025"/>
                <a:ext cx="4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mV</a:t>
                </a:r>
              </a:p>
            </p:txBody>
          </p:sp>
          <p:sp>
            <p:nvSpPr>
              <p:cNvPr id="53258" name="Rectangle 10"/>
              <p:cNvSpPr>
                <a:spLocks noChangeArrowheads="1"/>
              </p:cNvSpPr>
              <p:nvPr/>
            </p:nvSpPr>
            <p:spPr bwMode="auto">
              <a:xfrm>
                <a:off x="1407" y="3520"/>
                <a:ext cx="112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dirty="0"/>
                  <a:t>time (</a:t>
                </a:r>
                <a:r>
                  <a:rPr lang="en-US" dirty="0" err="1"/>
                  <a:t>ms</a:t>
                </a:r>
                <a:r>
                  <a:rPr lang="en-US" dirty="0"/>
                  <a:t>)</a:t>
                </a:r>
              </a:p>
            </p:txBody>
          </p:sp>
        </p:grpSp>
        <p:sp>
          <p:nvSpPr>
            <p:cNvPr id="53259" name="Line 11"/>
            <p:cNvSpPr>
              <a:spLocks noChangeShapeType="1"/>
            </p:cNvSpPr>
            <p:nvPr/>
          </p:nvSpPr>
          <p:spPr bwMode="auto">
            <a:xfrm>
              <a:off x="3312" y="3504"/>
              <a:ext cx="2160" cy="0"/>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60" name="Line 12"/>
            <p:cNvSpPr>
              <a:spLocks noChangeShapeType="1"/>
            </p:cNvSpPr>
            <p:nvPr/>
          </p:nvSpPr>
          <p:spPr bwMode="auto">
            <a:xfrm>
              <a:off x="672" y="3072"/>
              <a:ext cx="28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61" name="Line 13"/>
            <p:cNvSpPr>
              <a:spLocks noChangeShapeType="1"/>
            </p:cNvSpPr>
            <p:nvPr/>
          </p:nvSpPr>
          <p:spPr bwMode="auto">
            <a:xfrm>
              <a:off x="672" y="1968"/>
              <a:ext cx="3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62" name="Line 14"/>
            <p:cNvSpPr>
              <a:spLocks noChangeShapeType="1"/>
            </p:cNvSpPr>
            <p:nvPr/>
          </p:nvSpPr>
          <p:spPr bwMode="auto">
            <a:xfrm>
              <a:off x="672" y="1200"/>
              <a:ext cx="336"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63" name="Line 15"/>
            <p:cNvSpPr>
              <a:spLocks noChangeShapeType="1"/>
            </p:cNvSpPr>
            <p:nvPr/>
          </p:nvSpPr>
          <p:spPr bwMode="auto">
            <a:xfrm>
              <a:off x="1056" y="3072"/>
              <a:ext cx="4320" cy="0"/>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64" name="Rectangle 16"/>
            <p:cNvSpPr>
              <a:spLocks noChangeArrowheads="1"/>
            </p:cNvSpPr>
            <p:nvPr/>
          </p:nvSpPr>
          <p:spPr bwMode="auto">
            <a:xfrm>
              <a:off x="230" y="2937"/>
              <a:ext cx="4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-70</a:t>
              </a:r>
            </a:p>
          </p:txBody>
        </p:sp>
        <p:sp>
          <p:nvSpPr>
            <p:cNvPr id="53265" name="Rectangle 17"/>
            <p:cNvSpPr>
              <a:spLocks noChangeArrowheads="1"/>
            </p:cNvSpPr>
            <p:nvPr/>
          </p:nvSpPr>
          <p:spPr bwMode="auto">
            <a:xfrm>
              <a:off x="182" y="1737"/>
              <a:ext cx="45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-15</a:t>
              </a:r>
            </a:p>
          </p:txBody>
        </p:sp>
        <p:sp>
          <p:nvSpPr>
            <p:cNvPr id="53266" name="Rectangle 18"/>
            <p:cNvSpPr>
              <a:spLocks noChangeArrowheads="1"/>
            </p:cNvSpPr>
            <p:nvPr/>
          </p:nvSpPr>
          <p:spPr bwMode="auto">
            <a:xfrm>
              <a:off x="182" y="1017"/>
              <a:ext cx="51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a:t>+30</a:t>
              </a:r>
            </a:p>
          </p:txBody>
        </p:sp>
        <p:sp>
          <p:nvSpPr>
            <p:cNvPr id="53267" name="Line 19"/>
            <p:cNvSpPr>
              <a:spLocks noChangeShapeType="1"/>
            </p:cNvSpPr>
            <p:nvPr/>
          </p:nvSpPr>
          <p:spPr bwMode="auto">
            <a:xfrm>
              <a:off x="864" y="3072"/>
              <a:ext cx="2208" cy="0"/>
            </a:xfrm>
            <a:prstGeom prst="line">
              <a:avLst/>
            </a:prstGeom>
            <a:noFill/>
            <a:ln w="508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53268" name="Group 20"/>
            <p:cNvGrpSpPr>
              <a:grpSpLocks/>
            </p:cNvGrpSpPr>
            <p:nvPr/>
          </p:nvGrpSpPr>
          <p:grpSpPr bwMode="auto">
            <a:xfrm>
              <a:off x="3408" y="2986"/>
              <a:ext cx="1969" cy="92"/>
              <a:chOff x="3408" y="2986"/>
              <a:chExt cx="1969" cy="92"/>
            </a:xfrm>
          </p:grpSpPr>
          <p:sp>
            <p:nvSpPr>
              <p:cNvPr id="53269" name="Line 21"/>
              <p:cNvSpPr>
                <a:spLocks noChangeShapeType="1"/>
              </p:cNvSpPr>
              <p:nvPr/>
            </p:nvSpPr>
            <p:spPr bwMode="auto">
              <a:xfrm>
                <a:off x="3408" y="3072"/>
                <a:ext cx="528" cy="0"/>
              </a:xfrm>
              <a:prstGeom prst="line">
                <a:avLst/>
              </a:prstGeom>
              <a:noFill/>
              <a:ln w="50800">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0" name="Freeform 22"/>
              <p:cNvSpPr>
                <a:spLocks/>
              </p:cNvSpPr>
              <p:nvPr/>
            </p:nvSpPr>
            <p:spPr bwMode="auto">
              <a:xfrm>
                <a:off x="3984" y="2986"/>
                <a:ext cx="481" cy="92"/>
              </a:xfrm>
              <a:custGeom>
                <a:avLst/>
                <a:gdLst>
                  <a:gd name="T0" fmla="*/ 0 w 481"/>
                  <a:gd name="T1" fmla="*/ 86 h 92"/>
                  <a:gd name="T2" fmla="*/ 51 w 481"/>
                  <a:gd name="T3" fmla="*/ 91 h 92"/>
                  <a:gd name="T4" fmla="*/ 74 w 481"/>
                  <a:gd name="T5" fmla="*/ 57 h 92"/>
                  <a:gd name="T6" fmla="*/ 108 w 481"/>
                  <a:gd name="T7" fmla="*/ 46 h 92"/>
                  <a:gd name="T8" fmla="*/ 142 w 481"/>
                  <a:gd name="T9" fmla="*/ 23 h 92"/>
                  <a:gd name="T10" fmla="*/ 176 w 481"/>
                  <a:gd name="T11" fmla="*/ 0 h 92"/>
                  <a:gd name="T12" fmla="*/ 210 w 481"/>
                  <a:gd name="T13" fmla="*/ 0 h 92"/>
                  <a:gd name="T14" fmla="*/ 244 w 481"/>
                  <a:gd name="T15" fmla="*/ 12 h 92"/>
                  <a:gd name="T16" fmla="*/ 277 w 481"/>
                  <a:gd name="T17" fmla="*/ 34 h 92"/>
                  <a:gd name="T18" fmla="*/ 311 w 481"/>
                  <a:gd name="T19" fmla="*/ 57 h 92"/>
                  <a:gd name="T20" fmla="*/ 345 w 481"/>
                  <a:gd name="T21" fmla="*/ 68 h 92"/>
                  <a:gd name="T22" fmla="*/ 379 w 481"/>
                  <a:gd name="T23" fmla="*/ 68 h 92"/>
                  <a:gd name="T24" fmla="*/ 413 w 481"/>
                  <a:gd name="T25" fmla="*/ 68 h 92"/>
                  <a:gd name="T26" fmla="*/ 447 w 481"/>
                  <a:gd name="T27" fmla="*/ 68 h 92"/>
                  <a:gd name="T28" fmla="*/ 480 w 481"/>
                  <a:gd name="T29" fmla="*/ 8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1" h="92">
                    <a:moveTo>
                      <a:pt x="0" y="86"/>
                    </a:moveTo>
                    <a:lnTo>
                      <a:pt x="51" y="91"/>
                    </a:lnTo>
                    <a:lnTo>
                      <a:pt x="74" y="57"/>
                    </a:lnTo>
                    <a:lnTo>
                      <a:pt x="108" y="46"/>
                    </a:lnTo>
                    <a:lnTo>
                      <a:pt x="142" y="23"/>
                    </a:lnTo>
                    <a:lnTo>
                      <a:pt x="176" y="0"/>
                    </a:lnTo>
                    <a:lnTo>
                      <a:pt x="210" y="0"/>
                    </a:lnTo>
                    <a:lnTo>
                      <a:pt x="244" y="12"/>
                    </a:lnTo>
                    <a:lnTo>
                      <a:pt x="277" y="34"/>
                    </a:lnTo>
                    <a:lnTo>
                      <a:pt x="311" y="57"/>
                    </a:lnTo>
                    <a:lnTo>
                      <a:pt x="345" y="68"/>
                    </a:lnTo>
                    <a:lnTo>
                      <a:pt x="379" y="68"/>
                    </a:lnTo>
                    <a:lnTo>
                      <a:pt x="413" y="68"/>
                    </a:lnTo>
                    <a:lnTo>
                      <a:pt x="447" y="68"/>
                    </a:lnTo>
                    <a:lnTo>
                      <a:pt x="480" y="86"/>
                    </a:lnTo>
                  </a:path>
                </a:pathLst>
              </a:custGeom>
              <a:noFill/>
              <a:ln w="50800"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3271" name="Line 23"/>
              <p:cNvSpPr>
                <a:spLocks noChangeShapeType="1"/>
              </p:cNvSpPr>
              <p:nvPr/>
            </p:nvSpPr>
            <p:spPr bwMode="auto">
              <a:xfrm>
                <a:off x="4368" y="3072"/>
                <a:ext cx="528" cy="0"/>
              </a:xfrm>
              <a:prstGeom prst="line">
                <a:avLst/>
              </a:prstGeom>
              <a:noFill/>
              <a:ln w="50800">
                <a:solidFill>
                  <a:schemeClr val="fo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3272" name="Freeform 24"/>
              <p:cNvSpPr>
                <a:spLocks/>
              </p:cNvSpPr>
              <p:nvPr/>
            </p:nvSpPr>
            <p:spPr bwMode="auto">
              <a:xfrm>
                <a:off x="4896" y="2986"/>
                <a:ext cx="481" cy="92"/>
              </a:xfrm>
              <a:custGeom>
                <a:avLst/>
                <a:gdLst>
                  <a:gd name="T0" fmla="*/ 0 w 481"/>
                  <a:gd name="T1" fmla="*/ 86 h 92"/>
                  <a:gd name="T2" fmla="*/ 51 w 481"/>
                  <a:gd name="T3" fmla="*/ 91 h 92"/>
                  <a:gd name="T4" fmla="*/ 74 w 481"/>
                  <a:gd name="T5" fmla="*/ 57 h 92"/>
                  <a:gd name="T6" fmla="*/ 108 w 481"/>
                  <a:gd name="T7" fmla="*/ 46 h 92"/>
                  <a:gd name="T8" fmla="*/ 142 w 481"/>
                  <a:gd name="T9" fmla="*/ 23 h 92"/>
                  <a:gd name="T10" fmla="*/ 176 w 481"/>
                  <a:gd name="T11" fmla="*/ 0 h 92"/>
                  <a:gd name="T12" fmla="*/ 210 w 481"/>
                  <a:gd name="T13" fmla="*/ 0 h 92"/>
                  <a:gd name="T14" fmla="*/ 244 w 481"/>
                  <a:gd name="T15" fmla="*/ 12 h 92"/>
                  <a:gd name="T16" fmla="*/ 277 w 481"/>
                  <a:gd name="T17" fmla="*/ 34 h 92"/>
                  <a:gd name="T18" fmla="*/ 311 w 481"/>
                  <a:gd name="T19" fmla="*/ 57 h 92"/>
                  <a:gd name="T20" fmla="*/ 345 w 481"/>
                  <a:gd name="T21" fmla="*/ 68 h 92"/>
                  <a:gd name="T22" fmla="*/ 379 w 481"/>
                  <a:gd name="T23" fmla="*/ 68 h 92"/>
                  <a:gd name="T24" fmla="*/ 413 w 481"/>
                  <a:gd name="T25" fmla="*/ 68 h 92"/>
                  <a:gd name="T26" fmla="*/ 447 w 481"/>
                  <a:gd name="T27" fmla="*/ 68 h 92"/>
                  <a:gd name="T28" fmla="*/ 480 w 481"/>
                  <a:gd name="T29" fmla="*/ 8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81" h="92">
                    <a:moveTo>
                      <a:pt x="0" y="86"/>
                    </a:moveTo>
                    <a:lnTo>
                      <a:pt x="51" y="91"/>
                    </a:lnTo>
                    <a:lnTo>
                      <a:pt x="74" y="57"/>
                    </a:lnTo>
                    <a:lnTo>
                      <a:pt x="108" y="46"/>
                    </a:lnTo>
                    <a:lnTo>
                      <a:pt x="142" y="23"/>
                    </a:lnTo>
                    <a:lnTo>
                      <a:pt x="176" y="0"/>
                    </a:lnTo>
                    <a:lnTo>
                      <a:pt x="210" y="0"/>
                    </a:lnTo>
                    <a:lnTo>
                      <a:pt x="244" y="12"/>
                    </a:lnTo>
                    <a:lnTo>
                      <a:pt x="277" y="34"/>
                    </a:lnTo>
                    <a:lnTo>
                      <a:pt x="311" y="57"/>
                    </a:lnTo>
                    <a:lnTo>
                      <a:pt x="345" y="68"/>
                    </a:lnTo>
                    <a:lnTo>
                      <a:pt x="379" y="68"/>
                    </a:lnTo>
                    <a:lnTo>
                      <a:pt x="413" y="68"/>
                    </a:lnTo>
                    <a:lnTo>
                      <a:pt x="447" y="68"/>
                    </a:lnTo>
                    <a:lnTo>
                      <a:pt x="480" y="86"/>
                    </a:lnTo>
                  </a:path>
                </a:pathLst>
              </a:custGeom>
              <a:noFill/>
              <a:ln w="50800" cap="rnd" cmpd="sng">
                <a:solidFill>
                  <a:schemeClr val="folHlink"/>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53273" name="Rectangle 25"/>
            <p:cNvSpPr>
              <a:spLocks noChangeArrowheads="1"/>
            </p:cNvSpPr>
            <p:nvPr/>
          </p:nvSpPr>
          <p:spPr bwMode="auto">
            <a:xfrm>
              <a:off x="3254" y="2025"/>
              <a:ext cx="199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eaLnBrk="0" hangingPunct="0"/>
              <a:r>
                <a:rPr lang="en-US" i="1">
                  <a:solidFill>
                    <a:schemeClr val="folHlink"/>
                  </a:solidFill>
                </a:rPr>
                <a:t>mini-EPP (0.5mV)</a:t>
              </a:r>
            </a:p>
          </p:txBody>
        </p:sp>
      </p:grpSp>
      <p:sp>
        <p:nvSpPr>
          <p:cNvPr id="2" name="Rectangle 1"/>
          <p:cNvSpPr/>
          <p:nvPr/>
        </p:nvSpPr>
        <p:spPr>
          <a:xfrm>
            <a:off x="317139" y="5847126"/>
            <a:ext cx="8671371" cy="1077218"/>
          </a:xfrm>
          <a:prstGeom prst="rect">
            <a:avLst/>
          </a:prstGeom>
        </p:spPr>
        <p:txBody>
          <a:bodyPr wrap="square">
            <a:spAutoFit/>
          </a:bodyPr>
          <a:lstStyle/>
          <a:p>
            <a:r>
              <a:rPr lang="en-MY" sz="3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Significance:</a:t>
            </a:r>
            <a:r>
              <a:rPr lang="en-MY" sz="3200" dirty="0">
                <a:latin typeface="Calibri" panose="020F0502020204030204" pitchFamily="34" charset="0"/>
                <a:ea typeface="Calibri" panose="020F0502020204030204" pitchFamily="34" charset="0"/>
                <a:cs typeface="Times New Roman" panose="02020603050405020304" pitchFamily="18" charset="0"/>
              </a:rPr>
              <a:t> Maintains muscle integrity or tone; </a:t>
            </a:r>
            <a:r>
              <a:rPr lang="en-MY" sz="3200" dirty="0"/>
              <a:t>Gives efficiency of muscles in general in our body.</a:t>
            </a:r>
            <a:r>
              <a:rPr lang="en-MY" sz="3200" dirty="0">
                <a:latin typeface="Calibri" panose="020F0502020204030204" pitchFamily="34" charset="0"/>
                <a:ea typeface="Calibri" panose="020F0502020204030204" pitchFamily="34" charset="0"/>
                <a:cs typeface="Times New Roman" panose="02020603050405020304" pitchFamily="18" charset="0"/>
              </a:rPr>
              <a:t> </a:t>
            </a:r>
            <a:endParaRPr lang="en-MY" sz="3200" dirty="0"/>
          </a:p>
        </p:txBody>
      </p:sp>
    </p:spTree>
    <p:extLst>
      <p:ext uri="{BB962C8B-B14F-4D97-AF65-F5344CB8AC3E}">
        <p14:creationId xmlns:p14="http://schemas.microsoft.com/office/powerpoint/2010/main" val="21337114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2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32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utoUpdateAnimBg="0"/>
      <p:bldP spid="53252" grpId="0" autoUpdateAnimBg="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533400" y="0"/>
            <a:ext cx="7772400" cy="1219200"/>
          </a:xfrm>
          <a:noFill/>
          <a:ln/>
        </p:spPr>
        <p:txBody>
          <a:bodyPr/>
          <a:lstStyle/>
          <a:p>
            <a:r>
              <a:rPr lang="en-US" sz="3200" b="1">
                <a:solidFill>
                  <a:schemeClr val="hlink"/>
                </a:solidFill>
                <a:latin typeface="Arial Rounded MT Bold" pitchFamily="34" charset="0"/>
              </a:rPr>
              <a:t>Why does the mini-EPP (mEPP) come in just one size?</a:t>
            </a:r>
          </a:p>
        </p:txBody>
      </p:sp>
      <p:sp>
        <p:nvSpPr>
          <p:cNvPr id="54275" name="Rectangle 3"/>
          <p:cNvSpPr>
            <a:spLocks noGrp="1" noChangeArrowheads="1"/>
          </p:cNvSpPr>
          <p:nvPr>
            <p:ph type="body" idx="1"/>
          </p:nvPr>
        </p:nvSpPr>
        <p:spPr>
          <a:xfrm>
            <a:off x="251520" y="1340768"/>
            <a:ext cx="8714928" cy="4876800"/>
          </a:xfrm>
          <a:noFill/>
          <a:ln/>
        </p:spPr>
        <p:txBody>
          <a:bodyPr>
            <a:normAutofit fontScale="92500" lnSpcReduction="10000"/>
          </a:bodyPr>
          <a:lstStyle/>
          <a:p>
            <a:r>
              <a:rPr lang="en-US" sz="2800" b="1" dirty="0">
                <a:latin typeface="Arial Rounded MT Bold" pitchFamily="34" charset="0"/>
              </a:rPr>
              <a:t>As Katz and </a:t>
            </a:r>
            <a:r>
              <a:rPr lang="en-US" sz="2800" b="1" dirty="0" err="1">
                <a:latin typeface="Arial Rounded MT Bold" pitchFamily="34" charset="0"/>
              </a:rPr>
              <a:t>Miledi</a:t>
            </a:r>
            <a:r>
              <a:rPr lang="en-US" sz="2800" b="1" dirty="0">
                <a:latin typeface="Arial Rounded MT Bold" pitchFamily="34" charset="0"/>
              </a:rPr>
              <a:t> discovered in the 1950’s, </a:t>
            </a:r>
          </a:p>
          <a:p>
            <a:pPr marL="819150" lvl="1">
              <a:buFontTx/>
              <a:buNone/>
            </a:pPr>
            <a:r>
              <a:rPr lang="en-US" b="1" dirty="0">
                <a:latin typeface="Arial Rounded MT Bold" pitchFamily="34" charset="0"/>
              </a:rPr>
              <a:t>1 </a:t>
            </a:r>
            <a:r>
              <a:rPr lang="en-US" b="1" dirty="0" err="1">
                <a:latin typeface="Arial Rounded MT Bold" pitchFamily="34" charset="0"/>
              </a:rPr>
              <a:t>mEPP</a:t>
            </a:r>
            <a:r>
              <a:rPr lang="en-US" b="1" dirty="0">
                <a:latin typeface="Arial Rounded MT Bold" pitchFamily="34" charset="0"/>
              </a:rPr>
              <a:t> = 1 vesicle fusion = 1 quantum </a:t>
            </a:r>
          </a:p>
          <a:p>
            <a:pPr marL="819150" lvl="1">
              <a:buFontTx/>
              <a:buNone/>
            </a:pPr>
            <a:r>
              <a:rPr lang="en-US" b="1" dirty="0">
                <a:latin typeface="Arial Rounded MT Bold" pitchFamily="34" charset="0"/>
              </a:rPr>
              <a:t>= 10,000 Ach molecules</a:t>
            </a:r>
          </a:p>
          <a:p>
            <a:pPr marL="819150" lvl="1">
              <a:buFontTx/>
              <a:buNone/>
            </a:pPr>
            <a:r>
              <a:rPr lang="en-US" b="1" i="1" dirty="0">
                <a:solidFill>
                  <a:schemeClr val="folHlink"/>
                </a:solidFill>
                <a:latin typeface="Arial Rounded MT Bold" pitchFamily="34" charset="0"/>
              </a:rPr>
              <a:t>the quantal nature of transmission: each vesicle releases all or none of its contents</a:t>
            </a:r>
            <a:endParaRPr lang="en-US" b="1" dirty="0">
              <a:latin typeface="Arial Rounded MT Bold" pitchFamily="34" charset="0"/>
            </a:endParaRPr>
          </a:p>
          <a:p>
            <a:r>
              <a:rPr lang="en-US" sz="2800" b="1" dirty="0">
                <a:latin typeface="Arial Rounded MT Bold" pitchFamily="34" charset="0"/>
              </a:rPr>
              <a:t>1 EPP (40-50 mv change) = (</a:t>
            </a:r>
            <a:r>
              <a:rPr lang="en-US" sz="2800" b="1" dirty="0" err="1">
                <a:latin typeface="Arial Rounded MT Bold" pitchFamily="34" charset="0"/>
              </a:rPr>
              <a:t>approx</a:t>
            </a:r>
            <a:r>
              <a:rPr lang="en-US" sz="2800" b="1" dirty="0">
                <a:latin typeface="Arial Rounded MT Bold" pitchFamily="34" charset="0"/>
              </a:rPr>
              <a:t>) </a:t>
            </a:r>
            <a:r>
              <a:rPr lang="en-US" sz="2800" b="1" dirty="0">
                <a:solidFill>
                  <a:srgbClr val="FF0000"/>
                </a:solidFill>
                <a:latin typeface="Arial Rounded MT Bold" pitchFamily="34" charset="0"/>
              </a:rPr>
              <a:t>100</a:t>
            </a:r>
            <a:r>
              <a:rPr lang="en-US" sz="2800" b="1" dirty="0">
                <a:latin typeface="Arial Rounded MT Bold" pitchFamily="34" charset="0"/>
              </a:rPr>
              <a:t> x </a:t>
            </a:r>
            <a:r>
              <a:rPr lang="en-US" sz="2800" b="1" dirty="0" err="1">
                <a:latin typeface="Arial Rounded MT Bold" pitchFamily="34" charset="0"/>
              </a:rPr>
              <a:t>mEPP</a:t>
            </a:r>
            <a:r>
              <a:rPr lang="en-US" sz="2800" b="1" dirty="0">
                <a:latin typeface="Arial Rounded MT Bold" pitchFamily="34" charset="0"/>
              </a:rPr>
              <a:t> (0.5 mv) amplitude.</a:t>
            </a:r>
          </a:p>
          <a:p>
            <a:r>
              <a:rPr lang="en-US" sz="2800" b="1" dirty="0">
                <a:latin typeface="Arial Rounded MT Bold" pitchFamily="34" charset="0"/>
              </a:rPr>
              <a:t>So, (</a:t>
            </a:r>
            <a:r>
              <a:rPr lang="en-US" sz="2800" b="1" dirty="0" err="1">
                <a:latin typeface="Arial Rounded MT Bold" pitchFamily="34" charset="0"/>
              </a:rPr>
              <a:t>approx</a:t>
            </a:r>
            <a:r>
              <a:rPr lang="en-US" sz="2800" b="1" dirty="0">
                <a:latin typeface="Arial Rounded MT Bold" pitchFamily="34" charset="0"/>
              </a:rPr>
              <a:t>) 100 vesicles needed for EPP.</a:t>
            </a:r>
          </a:p>
          <a:p>
            <a:r>
              <a:rPr lang="en-US" sz="2800" b="1" dirty="0">
                <a:latin typeface="Arial Rounded MT Bold" pitchFamily="34" charset="0"/>
              </a:rPr>
              <a:t>But, (</a:t>
            </a:r>
            <a:r>
              <a:rPr lang="en-US" sz="2800" b="1" dirty="0" err="1">
                <a:latin typeface="Arial Rounded MT Bold" pitchFamily="34" charset="0"/>
              </a:rPr>
              <a:t>approx</a:t>
            </a:r>
            <a:r>
              <a:rPr lang="en-US" sz="2800" b="1" dirty="0">
                <a:latin typeface="Arial Rounded MT Bold" pitchFamily="34" charset="0"/>
              </a:rPr>
              <a:t>) 200-300 vesicles released in response to normal </a:t>
            </a:r>
            <a:r>
              <a:rPr lang="en-US" sz="2800" b="1" dirty="0" err="1">
                <a:latin typeface="Arial Rounded MT Bold" pitchFamily="34" charset="0"/>
              </a:rPr>
              <a:t>a.p</a:t>
            </a:r>
            <a:r>
              <a:rPr lang="en-US" sz="2800" b="1" dirty="0">
                <a:latin typeface="Arial Rounded MT Bold" pitchFamily="34" charset="0"/>
              </a:rPr>
              <a:t>. at NMJ.</a:t>
            </a:r>
          </a:p>
          <a:p>
            <a:r>
              <a:rPr lang="en-US" sz="2800" b="1" dirty="0">
                <a:latin typeface="Arial Rounded MT Bold" pitchFamily="34" charset="0"/>
              </a:rPr>
              <a:t>This extra margin is the </a:t>
            </a:r>
            <a:r>
              <a:rPr lang="en-US" sz="2800" b="1" i="1" dirty="0">
                <a:solidFill>
                  <a:schemeClr val="folHlink"/>
                </a:solidFill>
                <a:latin typeface="Arial Rounded MT Bold" pitchFamily="34" charset="0"/>
              </a:rPr>
              <a:t>safety factor.</a:t>
            </a:r>
          </a:p>
        </p:txBody>
      </p:sp>
    </p:spTree>
    <p:extLst>
      <p:ext uri="{BB962C8B-B14F-4D97-AF65-F5344CB8AC3E}">
        <p14:creationId xmlns:p14="http://schemas.microsoft.com/office/powerpoint/2010/main" val="1473265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2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2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427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427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427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427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42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bldLvl="4"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33400" y="152400"/>
            <a:ext cx="8229600" cy="1066800"/>
          </a:xfrm>
          <a:noFill/>
          <a:ln/>
        </p:spPr>
        <p:txBody>
          <a:bodyPr/>
          <a:lstStyle/>
          <a:p>
            <a:pPr algn="l"/>
            <a:r>
              <a:rPr lang="en-US" sz="3200" b="1" dirty="0">
                <a:solidFill>
                  <a:schemeClr val="hlink"/>
                </a:solidFill>
                <a:latin typeface="Arial Rounded MT Bold" pitchFamily="34" charset="0"/>
              </a:rPr>
              <a:t>What happens to Ach molecules after they bind to the postsynaptic receptor?</a:t>
            </a:r>
          </a:p>
        </p:txBody>
      </p:sp>
      <p:sp>
        <p:nvSpPr>
          <p:cNvPr id="55299" name="Rectangle 3"/>
          <p:cNvSpPr>
            <a:spLocks noGrp="1" noChangeArrowheads="1"/>
          </p:cNvSpPr>
          <p:nvPr>
            <p:ph type="body" idx="1"/>
          </p:nvPr>
        </p:nvSpPr>
        <p:spPr>
          <a:xfrm>
            <a:off x="457200" y="1370013"/>
            <a:ext cx="8305800" cy="3811587"/>
          </a:xfrm>
          <a:noFill/>
          <a:ln/>
        </p:spPr>
        <p:txBody>
          <a:bodyPr/>
          <a:lstStyle/>
          <a:p>
            <a:r>
              <a:rPr lang="en-US" sz="2800" b="1">
                <a:latin typeface="Arial Rounded MT Bold" pitchFamily="34" charset="0"/>
              </a:rPr>
              <a:t>If the Ach molecule remained bound to the receptor, the ion channel would stay open, and the a.p. would not be transient</a:t>
            </a:r>
          </a:p>
          <a:p>
            <a:r>
              <a:rPr lang="en-US" sz="2800" b="1">
                <a:solidFill>
                  <a:schemeClr val="hlink"/>
                </a:solidFill>
                <a:latin typeface="Arial Rounded MT Bold" pitchFamily="34" charset="0"/>
              </a:rPr>
              <a:t>Acetylcholinesterase (Ach-ase)</a:t>
            </a:r>
            <a:r>
              <a:rPr lang="en-US" sz="2800" b="1">
                <a:latin typeface="Arial Rounded MT Bold" pitchFamily="34" charset="0"/>
              </a:rPr>
              <a:t>, an enzyme on the junctional folds in the synaptic cleft, cleaves Ach </a:t>
            </a:r>
          </a:p>
          <a:p>
            <a:pPr marL="819150" lvl="1">
              <a:buFontTx/>
              <a:buNone/>
            </a:pPr>
            <a:endParaRPr lang="en-US" b="1">
              <a:latin typeface="Arial Rounded MT Bold" pitchFamily="34" charset="0"/>
            </a:endParaRPr>
          </a:p>
          <a:p>
            <a:pPr marL="819150" lvl="1">
              <a:buFontTx/>
              <a:buNone/>
            </a:pPr>
            <a:r>
              <a:rPr lang="en-US" b="1">
                <a:latin typeface="Arial Rounded MT Bold" pitchFamily="34" charset="0"/>
              </a:rPr>
              <a:t>Ach                                choline  + acetate</a:t>
            </a:r>
          </a:p>
        </p:txBody>
      </p:sp>
      <p:sp>
        <p:nvSpPr>
          <p:cNvPr id="55300" name="Line 4"/>
          <p:cNvSpPr>
            <a:spLocks noChangeShapeType="1"/>
          </p:cNvSpPr>
          <p:nvPr/>
        </p:nvSpPr>
        <p:spPr bwMode="auto">
          <a:xfrm>
            <a:off x="2362200" y="4876800"/>
            <a:ext cx="1828800" cy="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55301" name="Group 5"/>
          <p:cNvGrpSpPr>
            <a:grpSpLocks/>
          </p:cNvGrpSpPr>
          <p:nvPr/>
        </p:nvGrpSpPr>
        <p:grpSpPr bwMode="auto">
          <a:xfrm>
            <a:off x="1524000" y="5105400"/>
            <a:ext cx="3886200" cy="1235075"/>
            <a:chOff x="960" y="3216"/>
            <a:chExt cx="2448" cy="778"/>
          </a:xfrm>
        </p:grpSpPr>
        <p:sp>
          <p:nvSpPr>
            <p:cNvPr id="55302" name="Line 6"/>
            <p:cNvSpPr>
              <a:spLocks noChangeShapeType="1"/>
            </p:cNvSpPr>
            <p:nvPr/>
          </p:nvSpPr>
          <p:spPr bwMode="auto">
            <a:xfrm flipH="1">
              <a:off x="1392" y="3744"/>
              <a:ext cx="1584" cy="0"/>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55303" name="Group 7"/>
            <p:cNvGrpSpPr>
              <a:grpSpLocks/>
            </p:cNvGrpSpPr>
            <p:nvPr/>
          </p:nvGrpSpPr>
          <p:grpSpPr bwMode="auto">
            <a:xfrm>
              <a:off x="960" y="3216"/>
              <a:ext cx="2448" cy="778"/>
              <a:chOff x="960" y="3216"/>
              <a:chExt cx="2448" cy="778"/>
            </a:xfrm>
          </p:grpSpPr>
          <p:sp>
            <p:nvSpPr>
              <p:cNvPr id="55304" name="Line 8"/>
              <p:cNvSpPr>
                <a:spLocks noChangeShapeType="1"/>
              </p:cNvSpPr>
              <p:nvPr/>
            </p:nvSpPr>
            <p:spPr bwMode="auto">
              <a:xfrm flipH="1">
                <a:off x="2976" y="3216"/>
                <a:ext cx="432" cy="528"/>
              </a:xfrm>
              <a:prstGeom prst="line">
                <a:avLst/>
              </a:prstGeom>
              <a:noFill/>
              <a:ln w="1270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5305" name="Line 9"/>
              <p:cNvSpPr>
                <a:spLocks noChangeShapeType="1"/>
              </p:cNvSpPr>
              <p:nvPr/>
            </p:nvSpPr>
            <p:spPr bwMode="auto">
              <a:xfrm>
                <a:off x="960" y="3216"/>
                <a:ext cx="432" cy="528"/>
              </a:xfrm>
              <a:prstGeom prst="line">
                <a:avLst/>
              </a:prstGeom>
              <a:noFill/>
              <a:ln w="12700">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5306" name="Text Box 10"/>
              <p:cNvSpPr txBox="1">
                <a:spLocks noChangeArrowheads="1"/>
              </p:cNvSpPr>
              <p:nvPr/>
            </p:nvSpPr>
            <p:spPr bwMode="auto">
              <a:xfrm>
                <a:off x="1674" y="3744"/>
                <a:ext cx="87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000">
                    <a:solidFill>
                      <a:schemeClr val="accent2"/>
                    </a:solidFill>
                    <a:latin typeface="Arial Rounded MT Bold" pitchFamily="34" charset="0"/>
                  </a:rPr>
                  <a:t>re-uptake</a:t>
                </a:r>
                <a:endParaRPr lang="en-US" sz="2800">
                  <a:latin typeface="Arial Rounded MT Bold" pitchFamily="34" charset="0"/>
                </a:endParaRPr>
              </a:p>
            </p:txBody>
          </p:sp>
        </p:grpSp>
      </p:grpSp>
      <p:grpSp>
        <p:nvGrpSpPr>
          <p:cNvPr id="55307" name="Group 11"/>
          <p:cNvGrpSpPr>
            <a:grpSpLocks/>
          </p:cNvGrpSpPr>
          <p:nvPr/>
        </p:nvGrpSpPr>
        <p:grpSpPr bwMode="auto">
          <a:xfrm>
            <a:off x="304800" y="5400675"/>
            <a:ext cx="1520825" cy="863600"/>
            <a:chOff x="192" y="3402"/>
            <a:chExt cx="958" cy="544"/>
          </a:xfrm>
        </p:grpSpPr>
        <p:sp>
          <p:nvSpPr>
            <p:cNvPr id="55308" name="Text Box 12"/>
            <p:cNvSpPr txBox="1">
              <a:spLocks noChangeArrowheads="1"/>
            </p:cNvSpPr>
            <p:nvPr/>
          </p:nvSpPr>
          <p:spPr bwMode="auto">
            <a:xfrm>
              <a:off x="192" y="3696"/>
              <a:ext cx="95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000">
                  <a:solidFill>
                    <a:schemeClr val="accent2"/>
                  </a:solidFill>
                  <a:latin typeface="Arial Rounded MT Bold" pitchFamily="34" charset="0"/>
                </a:rPr>
                <a:t>acetyl CoA</a:t>
              </a:r>
              <a:endParaRPr lang="en-US" sz="2800">
                <a:latin typeface="Arial Rounded MT Bold" pitchFamily="34" charset="0"/>
              </a:endParaRPr>
            </a:p>
          </p:txBody>
        </p:sp>
        <p:sp>
          <p:nvSpPr>
            <p:cNvPr id="55309" name="Freeform 13"/>
            <p:cNvSpPr>
              <a:spLocks/>
            </p:cNvSpPr>
            <p:nvPr/>
          </p:nvSpPr>
          <p:spPr bwMode="auto">
            <a:xfrm>
              <a:off x="972" y="3402"/>
              <a:ext cx="168" cy="354"/>
            </a:xfrm>
            <a:custGeom>
              <a:avLst/>
              <a:gdLst>
                <a:gd name="T0" fmla="*/ 0 w 154"/>
                <a:gd name="T1" fmla="*/ 348 h 348"/>
                <a:gd name="T2" fmla="*/ 132 w 154"/>
                <a:gd name="T3" fmla="*/ 240 h 348"/>
                <a:gd name="T4" fmla="*/ 132 w 154"/>
                <a:gd name="T5" fmla="*/ 0 h 348"/>
              </a:gdLst>
              <a:ahLst/>
              <a:cxnLst>
                <a:cxn ang="0">
                  <a:pos x="T0" y="T1"/>
                </a:cxn>
                <a:cxn ang="0">
                  <a:pos x="T2" y="T3"/>
                </a:cxn>
                <a:cxn ang="0">
                  <a:pos x="T4" y="T5"/>
                </a:cxn>
              </a:cxnLst>
              <a:rect l="0" t="0" r="r" b="b"/>
              <a:pathLst>
                <a:path w="154" h="348">
                  <a:moveTo>
                    <a:pt x="0" y="348"/>
                  </a:moveTo>
                  <a:cubicBezTo>
                    <a:pt x="22" y="330"/>
                    <a:pt x="110" y="298"/>
                    <a:pt x="132" y="240"/>
                  </a:cubicBezTo>
                  <a:cubicBezTo>
                    <a:pt x="154" y="182"/>
                    <a:pt x="132" y="50"/>
                    <a:pt x="132" y="0"/>
                  </a:cubicBezTo>
                </a:path>
              </a:pathLst>
            </a:custGeom>
            <a:noFill/>
            <a:ln w="12700" cap="flat" cmpd="sng">
              <a:solidFill>
                <a:srgbClr val="0000FF"/>
              </a:solidFill>
              <a:prstDash val="solid"/>
              <a:round/>
              <a:headEnd type="none" w="sm" len="sm"/>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5310" name="Text Box 14"/>
            <p:cNvSpPr txBox="1">
              <a:spLocks noChangeArrowheads="1"/>
            </p:cNvSpPr>
            <p:nvPr/>
          </p:nvSpPr>
          <p:spPr bwMode="auto">
            <a:xfrm>
              <a:off x="926" y="3461"/>
              <a:ext cx="1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sz="2400">
                  <a:solidFill>
                    <a:schemeClr val="tx1"/>
                  </a:solidFill>
                  <a:latin typeface="Times New Roman" pitchFamily="18" charset="0"/>
                </a:defRPr>
              </a:lvl1pPr>
              <a:lvl2pPr marL="571500" defTabSz="762000">
                <a:defRPr sz="2400">
                  <a:solidFill>
                    <a:schemeClr val="tx1"/>
                  </a:solidFill>
                  <a:latin typeface="Times New Roman" pitchFamily="18" charset="0"/>
                </a:defRPr>
              </a:lvl2pPr>
              <a:lvl3pPr marL="1143000" defTabSz="762000">
                <a:defRPr sz="2400">
                  <a:solidFill>
                    <a:schemeClr val="tx1"/>
                  </a:solidFill>
                  <a:latin typeface="Times New Roman" pitchFamily="18" charset="0"/>
                </a:defRPr>
              </a:lvl3pPr>
              <a:lvl4pPr marL="1714500" defTabSz="762000">
                <a:defRPr sz="2400">
                  <a:solidFill>
                    <a:schemeClr val="tx1"/>
                  </a:solidFill>
                  <a:latin typeface="Times New Roman" pitchFamily="18" charset="0"/>
                </a:defRPr>
              </a:lvl4pPr>
              <a:lvl5pPr marL="2286000" defTabSz="762000">
                <a:defRPr sz="2400">
                  <a:solidFill>
                    <a:schemeClr val="tx1"/>
                  </a:solidFill>
                  <a:latin typeface="Times New Roman" pitchFamily="18" charset="0"/>
                </a:defRPr>
              </a:lvl5pPr>
              <a:lvl6pPr marL="2743200" defTabSz="762000" fontAlgn="base">
                <a:spcBef>
                  <a:spcPct val="0"/>
                </a:spcBef>
                <a:spcAft>
                  <a:spcPct val="0"/>
                </a:spcAft>
                <a:defRPr sz="2400">
                  <a:solidFill>
                    <a:schemeClr val="tx1"/>
                  </a:solidFill>
                  <a:latin typeface="Times New Roman" pitchFamily="18" charset="0"/>
                </a:defRPr>
              </a:lvl6pPr>
              <a:lvl7pPr marL="3200400" defTabSz="762000" fontAlgn="base">
                <a:spcBef>
                  <a:spcPct val="0"/>
                </a:spcBef>
                <a:spcAft>
                  <a:spcPct val="0"/>
                </a:spcAft>
                <a:defRPr sz="2400">
                  <a:solidFill>
                    <a:schemeClr val="tx1"/>
                  </a:solidFill>
                  <a:latin typeface="Times New Roman" pitchFamily="18" charset="0"/>
                </a:defRPr>
              </a:lvl7pPr>
              <a:lvl8pPr marL="3657600" defTabSz="762000" fontAlgn="base">
                <a:spcBef>
                  <a:spcPct val="0"/>
                </a:spcBef>
                <a:spcAft>
                  <a:spcPct val="0"/>
                </a:spcAft>
                <a:defRPr sz="2400">
                  <a:solidFill>
                    <a:schemeClr val="tx1"/>
                  </a:solidFill>
                  <a:latin typeface="Times New Roman" pitchFamily="18" charset="0"/>
                </a:defRPr>
              </a:lvl8pPr>
              <a:lvl9pPr marL="4114800" defTabSz="762000" fontAlgn="base">
                <a:spcBef>
                  <a:spcPct val="0"/>
                </a:spcBef>
                <a:spcAft>
                  <a:spcPct val="0"/>
                </a:spcAft>
                <a:defRPr sz="2400">
                  <a:solidFill>
                    <a:schemeClr val="tx1"/>
                  </a:solidFill>
                  <a:latin typeface="Times New Roman" pitchFamily="18" charset="0"/>
                </a:defRPr>
              </a:lvl9pPr>
            </a:lstStyle>
            <a:p>
              <a:pPr eaLnBrk="0" hangingPunct="0"/>
              <a:r>
                <a:rPr lang="en-US" sz="2000">
                  <a:solidFill>
                    <a:schemeClr val="accent2"/>
                  </a:solidFill>
                  <a:latin typeface="Arial Rounded MT Bold" pitchFamily="34" charset="0"/>
                  <a:sym typeface="Symbol" pitchFamily="18" charset="2"/>
                </a:rPr>
                <a:t></a:t>
              </a:r>
              <a:endParaRPr lang="en-US" sz="2800">
                <a:latin typeface="Arial Rounded MT Bold" pitchFamily="34" charset="0"/>
              </a:endParaRPr>
            </a:p>
          </p:txBody>
        </p:sp>
      </p:grpSp>
    </p:spTree>
    <p:extLst>
      <p:ext uri="{BB962C8B-B14F-4D97-AF65-F5344CB8AC3E}">
        <p14:creationId xmlns:p14="http://schemas.microsoft.com/office/powerpoint/2010/main" val="15773659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2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529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530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530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5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bldLvl="4" autoUpdateAnimBg="0"/>
      <p:bldP spid="5530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700808"/>
            <a:ext cx="6075099" cy="4207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p:cNvSpPr txBox="1">
            <a:spLocks noChangeArrowheads="1"/>
          </p:cNvSpPr>
          <p:nvPr/>
        </p:nvSpPr>
        <p:spPr bwMode="auto">
          <a:xfrm>
            <a:off x="381000" y="457200"/>
            <a:ext cx="8077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buFont typeface="Wingdings" pitchFamily="2" charset="2"/>
              <a:buChar char="q"/>
            </a:pPr>
            <a:r>
              <a:rPr lang="en-US" sz="4000" dirty="0">
                <a:solidFill>
                  <a:srgbClr val="FF0000"/>
                </a:solidFill>
                <a:latin typeface="Baskerville Old Face" pitchFamily="18" charset="0"/>
              </a:rPr>
              <a:t>Release and Re synthesis of Ach</a:t>
            </a:r>
          </a:p>
        </p:txBody>
      </p:sp>
    </p:spTree>
    <p:extLst>
      <p:ext uri="{BB962C8B-B14F-4D97-AF65-F5344CB8AC3E}">
        <p14:creationId xmlns:p14="http://schemas.microsoft.com/office/powerpoint/2010/main" val="256407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71210"/>
            <a:ext cx="8229600" cy="1143000"/>
          </a:xfrm>
        </p:spPr>
        <p:txBody>
          <a:bodyPr>
            <a:normAutofit fontScale="90000"/>
          </a:bodyPr>
          <a:lstStyle/>
          <a:p>
            <a:r>
              <a:rPr lang="en-GB" dirty="0"/>
              <a:t>Excitation-contraction coupling</a:t>
            </a:r>
            <a:br>
              <a:rPr lang="en-GB" dirty="0"/>
            </a:br>
            <a:br>
              <a:rPr lang="en-GB" dirty="0"/>
            </a:br>
            <a:r>
              <a:rPr lang="en-GB" sz="2800" i="1" dirty="0"/>
              <a:t>got the excitation, what about the contraction?</a:t>
            </a:r>
          </a:p>
        </p:txBody>
      </p:sp>
    </p:spTree>
    <p:extLst>
      <p:ext uri="{BB962C8B-B14F-4D97-AF65-F5344CB8AC3E}">
        <p14:creationId xmlns:p14="http://schemas.microsoft.com/office/powerpoint/2010/main" val="1242742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a:xfrm>
            <a:off x="533400" y="134938"/>
            <a:ext cx="7772400" cy="1028700"/>
          </a:xfrm>
          <a:noFill/>
          <a:ln/>
        </p:spPr>
        <p:txBody>
          <a:bodyPr>
            <a:normAutofit fontScale="90000"/>
          </a:bodyPr>
          <a:lstStyle/>
          <a:p>
            <a:r>
              <a:rPr lang="en-GB" sz="3200">
                <a:solidFill>
                  <a:srgbClr val="FF0000"/>
                </a:solidFill>
                <a:latin typeface="Arial Rounded MT Bold" pitchFamily="34" charset="0"/>
              </a:rPr>
              <a:t>Recap of neurotransmission at the NMJ:</a:t>
            </a:r>
          </a:p>
        </p:txBody>
      </p:sp>
      <p:sp>
        <p:nvSpPr>
          <p:cNvPr id="34819" name="Rectangle 1027"/>
          <p:cNvSpPr>
            <a:spLocks noGrp="1" noChangeArrowheads="1"/>
          </p:cNvSpPr>
          <p:nvPr>
            <p:ph type="body" idx="1"/>
          </p:nvPr>
        </p:nvSpPr>
        <p:spPr>
          <a:xfrm>
            <a:off x="685800" y="1119188"/>
            <a:ext cx="7772400" cy="5616575"/>
          </a:xfrm>
          <a:noFill/>
          <a:ln/>
        </p:spPr>
        <p:txBody>
          <a:bodyPr/>
          <a:lstStyle/>
          <a:p>
            <a:pPr>
              <a:lnSpc>
                <a:spcPct val="90000"/>
              </a:lnSpc>
            </a:pPr>
            <a:r>
              <a:rPr lang="en-GB" sz="2800" b="1">
                <a:latin typeface="Arial Rounded MT Bold" pitchFamily="34" charset="0"/>
              </a:rPr>
              <a:t>The action potential, an </a:t>
            </a:r>
            <a:r>
              <a:rPr lang="en-GB" sz="2800" b="1" u="sng">
                <a:latin typeface="Arial Rounded MT Bold" pitchFamily="34" charset="0"/>
              </a:rPr>
              <a:t>electrical signal</a:t>
            </a:r>
            <a:r>
              <a:rPr lang="en-GB" sz="2800" b="1">
                <a:latin typeface="Arial Rounded MT Bold" pitchFamily="34" charset="0"/>
              </a:rPr>
              <a:t>, invades the axon terminal</a:t>
            </a:r>
          </a:p>
          <a:p>
            <a:pPr>
              <a:lnSpc>
                <a:spcPct val="90000"/>
              </a:lnSpc>
            </a:pPr>
            <a:r>
              <a:rPr lang="en-GB" sz="2800" b="1">
                <a:latin typeface="Arial Rounded MT Bold" pitchFamily="34" charset="0"/>
              </a:rPr>
              <a:t>Depolarisation triggers activation of voltage-gated Ca</a:t>
            </a:r>
            <a:r>
              <a:rPr lang="en-GB" sz="2800" b="1" baseline="30000">
                <a:latin typeface="Arial Rounded MT Bold" pitchFamily="34" charset="0"/>
              </a:rPr>
              <a:t>2+</a:t>
            </a:r>
            <a:r>
              <a:rPr lang="en-GB" sz="2800" b="1">
                <a:latin typeface="Arial Rounded MT Bold" pitchFamily="34" charset="0"/>
              </a:rPr>
              <a:t> channels</a:t>
            </a:r>
          </a:p>
          <a:p>
            <a:pPr>
              <a:lnSpc>
                <a:spcPct val="90000"/>
              </a:lnSpc>
            </a:pPr>
            <a:r>
              <a:rPr lang="en-GB" sz="2800" b="1">
                <a:latin typeface="Arial Rounded MT Bold" pitchFamily="34" charset="0"/>
              </a:rPr>
              <a:t>Ca</a:t>
            </a:r>
            <a:r>
              <a:rPr lang="en-GB" sz="2800" b="1" baseline="30000">
                <a:latin typeface="Arial Rounded MT Bold" pitchFamily="34" charset="0"/>
              </a:rPr>
              <a:t>2+</a:t>
            </a:r>
            <a:r>
              <a:rPr lang="en-GB" sz="2800" b="1">
                <a:latin typeface="Arial Rounded MT Bold" pitchFamily="34" charset="0"/>
              </a:rPr>
              <a:t> influx causes the release of Ach molecules, a </a:t>
            </a:r>
            <a:r>
              <a:rPr lang="en-GB" sz="2800" b="1" u="sng">
                <a:latin typeface="Arial Rounded MT Bold" pitchFamily="34" charset="0"/>
              </a:rPr>
              <a:t>chemical signal</a:t>
            </a:r>
            <a:endParaRPr lang="en-GB" sz="2800" b="1">
              <a:latin typeface="Arial Rounded MT Bold" pitchFamily="34" charset="0"/>
            </a:endParaRPr>
          </a:p>
          <a:p>
            <a:pPr>
              <a:lnSpc>
                <a:spcPct val="90000"/>
              </a:lnSpc>
            </a:pPr>
            <a:r>
              <a:rPr lang="en-GB" sz="2800" b="1">
                <a:latin typeface="Arial Rounded MT Bold" pitchFamily="34" charset="0"/>
              </a:rPr>
              <a:t>The Ach molecules open Na</a:t>
            </a:r>
            <a:r>
              <a:rPr lang="en-GB" sz="2800" b="1" baseline="30000">
                <a:latin typeface="Arial Rounded MT Bold" pitchFamily="34" charset="0"/>
              </a:rPr>
              <a:t>+</a:t>
            </a:r>
            <a:r>
              <a:rPr lang="en-GB" sz="2800" b="1">
                <a:latin typeface="Arial Rounded MT Bold" pitchFamily="34" charset="0"/>
              </a:rPr>
              <a:t> channels in the postsynaptic cell, causing an EPP, an </a:t>
            </a:r>
            <a:r>
              <a:rPr lang="en-GB" sz="2800" b="1" u="sng">
                <a:latin typeface="Arial Rounded MT Bold" pitchFamily="34" charset="0"/>
              </a:rPr>
              <a:t>electrical signal</a:t>
            </a:r>
          </a:p>
          <a:p>
            <a:pPr>
              <a:lnSpc>
                <a:spcPct val="90000"/>
              </a:lnSpc>
            </a:pPr>
            <a:r>
              <a:rPr lang="en-GB" sz="2800" b="1">
                <a:latin typeface="Arial Rounded MT Bold" pitchFamily="34" charset="0"/>
              </a:rPr>
              <a:t>The EPP triggers an </a:t>
            </a:r>
            <a:r>
              <a:rPr lang="en-GB" sz="2800" b="1" err="1">
                <a:latin typeface="Arial Rounded MT Bold" pitchFamily="34" charset="0"/>
              </a:rPr>
              <a:t>a.p</a:t>
            </a:r>
            <a:r>
              <a:rPr lang="en-GB" sz="2800" b="1">
                <a:latin typeface="Arial Rounded MT Bold" pitchFamily="34" charset="0"/>
              </a:rPr>
              <a:t>, via voltage-gated Na</a:t>
            </a:r>
            <a:r>
              <a:rPr lang="en-GB" sz="2800" b="1" baseline="30000">
                <a:latin typeface="Arial Rounded MT Bold" pitchFamily="34" charset="0"/>
              </a:rPr>
              <a:t>+</a:t>
            </a:r>
            <a:r>
              <a:rPr lang="en-GB" sz="2800" b="1">
                <a:latin typeface="Arial Rounded MT Bold" pitchFamily="34" charset="0"/>
              </a:rPr>
              <a:t> channels located </a:t>
            </a:r>
            <a:r>
              <a:rPr lang="en-GB" sz="2800" b="1">
                <a:solidFill>
                  <a:schemeClr val="hlink"/>
                </a:solidFill>
                <a:latin typeface="Arial Rounded MT Bold" pitchFamily="34" charset="0"/>
              </a:rPr>
              <a:t>near</a:t>
            </a:r>
            <a:r>
              <a:rPr lang="en-GB" sz="2800" b="1">
                <a:latin typeface="Arial Rounded MT Bold" pitchFamily="34" charset="0"/>
              </a:rPr>
              <a:t> the junctional folds</a:t>
            </a:r>
            <a:r>
              <a:rPr lang="en-GB" b="1">
                <a:latin typeface="Arial Rounded MT Bold" pitchFamily="34" charset="0"/>
              </a:rPr>
              <a:t> </a:t>
            </a:r>
          </a:p>
        </p:txBody>
      </p:sp>
    </p:spTree>
    <p:extLst>
      <p:ext uri="{BB962C8B-B14F-4D97-AF65-F5344CB8AC3E}">
        <p14:creationId xmlns:p14="http://schemas.microsoft.com/office/powerpoint/2010/main" val="10018923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wipe(down)">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wipe(down)">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wipe(down)">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arn(inVertical)">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barn(inVertical)">
                                      <p:cBhvr>
                                        <p:cTn id="27" dur="5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33400" y="152400"/>
            <a:ext cx="7772400" cy="1066800"/>
          </a:xfrm>
          <a:noFill/>
          <a:ln/>
        </p:spPr>
        <p:txBody>
          <a:bodyPr/>
          <a:lstStyle/>
          <a:p>
            <a:r>
              <a:rPr lang="en-US" sz="3200" b="1">
                <a:solidFill>
                  <a:schemeClr val="hlink"/>
                </a:solidFill>
                <a:latin typeface="Arial Rounded MT Bold" pitchFamily="34" charset="0"/>
              </a:rPr>
              <a:t>The structure of the muscle membrane</a:t>
            </a:r>
          </a:p>
        </p:txBody>
      </p:sp>
      <p:sp>
        <p:nvSpPr>
          <p:cNvPr id="39939" name="Rectangle 3"/>
          <p:cNvSpPr>
            <a:spLocks noGrp="1" noChangeArrowheads="1"/>
          </p:cNvSpPr>
          <p:nvPr>
            <p:ph type="body" idx="1"/>
          </p:nvPr>
        </p:nvSpPr>
        <p:spPr>
          <a:xfrm>
            <a:off x="457200" y="1370013"/>
            <a:ext cx="4425950" cy="476250"/>
          </a:xfrm>
          <a:noFill/>
          <a:ln/>
        </p:spPr>
        <p:txBody>
          <a:bodyPr>
            <a:normAutofit lnSpcReduction="10000"/>
          </a:bodyPr>
          <a:lstStyle/>
          <a:p>
            <a:r>
              <a:rPr lang="en-US" sz="2800" b="1">
                <a:solidFill>
                  <a:schemeClr val="folHlink"/>
                </a:solidFill>
                <a:latin typeface="Arial Rounded MT Bold" pitchFamily="34" charset="0"/>
              </a:rPr>
              <a:t>The T-tubule system:</a:t>
            </a:r>
          </a:p>
        </p:txBody>
      </p:sp>
      <p:sp>
        <p:nvSpPr>
          <p:cNvPr id="39964" name="Rectangle 28"/>
          <p:cNvSpPr>
            <a:spLocks noChangeArrowheads="1"/>
          </p:cNvSpPr>
          <p:nvPr/>
        </p:nvSpPr>
        <p:spPr bwMode="auto">
          <a:xfrm>
            <a:off x="244475" y="5965825"/>
            <a:ext cx="85502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a:r>
              <a:rPr lang="en-US" sz="2400" dirty="0">
                <a:solidFill>
                  <a:schemeClr val="folHlink"/>
                </a:solidFill>
              </a:rPr>
              <a:t>T-tubules</a:t>
            </a:r>
            <a:r>
              <a:rPr lang="en-US" sz="2400" dirty="0"/>
              <a:t> are invaginations of the muscle membrane (sarcolemma), penetrating deep into the muscle </a:t>
            </a:r>
            <a:r>
              <a:rPr lang="en-US" sz="2400" dirty="0" err="1"/>
              <a:t>fibre</a:t>
            </a:r>
            <a:r>
              <a:rPr lang="en-US" sz="2400" dirty="0"/>
              <a:t>.</a:t>
            </a:r>
          </a:p>
        </p:txBody>
      </p:sp>
      <p:grpSp>
        <p:nvGrpSpPr>
          <p:cNvPr id="39997" name="Group 61"/>
          <p:cNvGrpSpPr>
            <a:grpSpLocks/>
          </p:cNvGrpSpPr>
          <p:nvPr/>
        </p:nvGrpSpPr>
        <p:grpSpPr bwMode="auto">
          <a:xfrm>
            <a:off x="1501775" y="4311650"/>
            <a:ext cx="2378075" cy="1417638"/>
            <a:chOff x="946" y="2716"/>
            <a:chExt cx="1498" cy="893"/>
          </a:xfrm>
        </p:grpSpPr>
        <p:sp>
          <p:nvSpPr>
            <p:cNvPr id="39962" name="Line 26"/>
            <p:cNvSpPr>
              <a:spLocks noChangeShapeType="1"/>
            </p:cNvSpPr>
            <p:nvPr/>
          </p:nvSpPr>
          <p:spPr bwMode="auto">
            <a:xfrm flipV="1">
              <a:off x="1340" y="2716"/>
              <a:ext cx="1104" cy="67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63" name="Rectangle 27"/>
            <p:cNvSpPr>
              <a:spLocks noChangeArrowheads="1"/>
            </p:cNvSpPr>
            <p:nvPr/>
          </p:nvSpPr>
          <p:spPr bwMode="auto">
            <a:xfrm>
              <a:off x="946" y="3359"/>
              <a:ext cx="7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r>
                <a:rPr lang="en-US" sz="2000">
                  <a:solidFill>
                    <a:schemeClr val="folHlink"/>
                  </a:solidFill>
                </a:rPr>
                <a:t>myofibril</a:t>
              </a:r>
            </a:p>
          </p:txBody>
        </p:sp>
      </p:grpSp>
      <p:grpSp>
        <p:nvGrpSpPr>
          <p:cNvPr id="39996" name="Group 60"/>
          <p:cNvGrpSpPr>
            <a:grpSpLocks/>
          </p:cNvGrpSpPr>
          <p:nvPr/>
        </p:nvGrpSpPr>
        <p:grpSpPr bwMode="auto">
          <a:xfrm>
            <a:off x="182563" y="1892300"/>
            <a:ext cx="8159750" cy="2865438"/>
            <a:chOff x="115" y="1192"/>
            <a:chExt cx="5140" cy="1805"/>
          </a:xfrm>
        </p:grpSpPr>
        <p:sp>
          <p:nvSpPr>
            <p:cNvPr id="39942" name="Freeform 6"/>
            <p:cNvSpPr>
              <a:spLocks/>
            </p:cNvSpPr>
            <p:nvPr/>
          </p:nvSpPr>
          <p:spPr bwMode="auto">
            <a:xfrm>
              <a:off x="120" y="1192"/>
              <a:ext cx="1951" cy="385"/>
            </a:xfrm>
            <a:custGeom>
              <a:avLst/>
              <a:gdLst>
                <a:gd name="T0" fmla="*/ 65 w 1951"/>
                <a:gd name="T1" fmla="*/ 355 h 385"/>
                <a:gd name="T2" fmla="*/ 132 w 1951"/>
                <a:gd name="T3" fmla="*/ 324 h 385"/>
                <a:gd name="T4" fmla="*/ 194 w 1951"/>
                <a:gd name="T5" fmla="*/ 278 h 385"/>
                <a:gd name="T6" fmla="*/ 250 w 1951"/>
                <a:gd name="T7" fmla="*/ 225 h 385"/>
                <a:gd name="T8" fmla="*/ 301 w 1951"/>
                <a:gd name="T9" fmla="*/ 171 h 385"/>
                <a:gd name="T10" fmla="*/ 357 w 1951"/>
                <a:gd name="T11" fmla="*/ 118 h 385"/>
                <a:gd name="T12" fmla="*/ 418 w 1951"/>
                <a:gd name="T13" fmla="*/ 79 h 385"/>
                <a:gd name="T14" fmla="*/ 484 w 1951"/>
                <a:gd name="T15" fmla="*/ 56 h 385"/>
                <a:gd name="T16" fmla="*/ 544 w 1951"/>
                <a:gd name="T17" fmla="*/ 66 h 385"/>
                <a:gd name="T18" fmla="*/ 587 w 1951"/>
                <a:gd name="T19" fmla="*/ 100 h 385"/>
                <a:gd name="T20" fmla="*/ 598 w 1951"/>
                <a:gd name="T21" fmla="*/ 164 h 385"/>
                <a:gd name="T22" fmla="*/ 588 w 1951"/>
                <a:gd name="T23" fmla="*/ 224 h 385"/>
                <a:gd name="T24" fmla="*/ 612 w 1951"/>
                <a:gd name="T25" fmla="*/ 290 h 385"/>
                <a:gd name="T26" fmla="*/ 672 w 1951"/>
                <a:gd name="T27" fmla="*/ 299 h 385"/>
                <a:gd name="T28" fmla="*/ 709 w 1951"/>
                <a:gd name="T29" fmla="*/ 243 h 385"/>
                <a:gd name="T30" fmla="*/ 752 w 1951"/>
                <a:gd name="T31" fmla="*/ 188 h 385"/>
                <a:gd name="T32" fmla="*/ 815 w 1951"/>
                <a:gd name="T33" fmla="*/ 177 h 385"/>
                <a:gd name="T34" fmla="*/ 874 w 1951"/>
                <a:gd name="T35" fmla="*/ 200 h 385"/>
                <a:gd name="T36" fmla="*/ 911 w 1951"/>
                <a:gd name="T37" fmla="*/ 268 h 385"/>
                <a:gd name="T38" fmla="*/ 956 w 1951"/>
                <a:gd name="T39" fmla="*/ 331 h 385"/>
                <a:gd name="T40" fmla="*/ 1011 w 1951"/>
                <a:gd name="T41" fmla="*/ 374 h 385"/>
                <a:gd name="T42" fmla="*/ 1070 w 1951"/>
                <a:gd name="T43" fmla="*/ 349 h 385"/>
                <a:gd name="T44" fmla="*/ 1087 w 1951"/>
                <a:gd name="T45" fmla="*/ 289 h 385"/>
                <a:gd name="T46" fmla="*/ 1089 w 1951"/>
                <a:gd name="T47" fmla="*/ 227 h 385"/>
                <a:gd name="T48" fmla="*/ 1106 w 1951"/>
                <a:gd name="T49" fmla="*/ 168 h 385"/>
                <a:gd name="T50" fmla="*/ 1166 w 1951"/>
                <a:gd name="T51" fmla="*/ 136 h 385"/>
                <a:gd name="T52" fmla="*/ 1223 w 1951"/>
                <a:gd name="T53" fmla="*/ 166 h 385"/>
                <a:gd name="T54" fmla="*/ 1268 w 1951"/>
                <a:gd name="T55" fmla="*/ 228 h 385"/>
                <a:gd name="T56" fmla="*/ 1325 w 1951"/>
                <a:gd name="T57" fmla="*/ 265 h 385"/>
                <a:gd name="T58" fmla="*/ 1384 w 1951"/>
                <a:gd name="T59" fmla="*/ 240 h 385"/>
                <a:gd name="T60" fmla="*/ 1372 w 1951"/>
                <a:gd name="T61" fmla="*/ 183 h 385"/>
                <a:gd name="T62" fmla="*/ 1319 w 1951"/>
                <a:gd name="T63" fmla="*/ 126 h 385"/>
                <a:gd name="T64" fmla="*/ 1315 w 1951"/>
                <a:gd name="T65" fmla="*/ 64 h 385"/>
                <a:gd name="T66" fmla="*/ 1325 w 1951"/>
                <a:gd name="T67" fmla="*/ 3 h 385"/>
                <a:gd name="T68" fmla="*/ 1385 w 1951"/>
                <a:gd name="T69" fmla="*/ 13 h 385"/>
                <a:gd name="T70" fmla="*/ 1441 w 1951"/>
                <a:gd name="T71" fmla="*/ 56 h 385"/>
                <a:gd name="T72" fmla="*/ 1495 w 1951"/>
                <a:gd name="T73" fmla="*/ 99 h 385"/>
                <a:gd name="T74" fmla="*/ 1569 w 1951"/>
                <a:gd name="T75" fmla="*/ 152 h 385"/>
                <a:gd name="T76" fmla="*/ 1634 w 1951"/>
                <a:gd name="T77" fmla="*/ 183 h 385"/>
                <a:gd name="T78" fmla="*/ 1691 w 1951"/>
                <a:gd name="T79" fmla="*/ 213 h 385"/>
                <a:gd name="T80" fmla="*/ 1748 w 1951"/>
                <a:gd name="T81" fmla="*/ 236 h 385"/>
                <a:gd name="T82" fmla="*/ 1809 w 1951"/>
                <a:gd name="T83" fmla="*/ 245 h 385"/>
                <a:gd name="T84" fmla="*/ 1870 w 1951"/>
                <a:gd name="T85" fmla="*/ 255 h 385"/>
                <a:gd name="T86" fmla="*/ 1933 w 1951"/>
                <a:gd name="T87" fmla="*/ 244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51" h="385">
                  <a:moveTo>
                    <a:pt x="0" y="384"/>
                  </a:moveTo>
                  <a:lnTo>
                    <a:pt x="43" y="364"/>
                  </a:lnTo>
                  <a:lnTo>
                    <a:pt x="65" y="355"/>
                  </a:lnTo>
                  <a:lnTo>
                    <a:pt x="86" y="350"/>
                  </a:lnTo>
                  <a:lnTo>
                    <a:pt x="108" y="341"/>
                  </a:lnTo>
                  <a:lnTo>
                    <a:pt x="132" y="324"/>
                  </a:lnTo>
                  <a:lnTo>
                    <a:pt x="155" y="307"/>
                  </a:lnTo>
                  <a:lnTo>
                    <a:pt x="177" y="296"/>
                  </a:lnTo>
                  <a:lnTo>
                    <a:pt x="194" y="278"/>
                  </a:lnTo>
                  <a:lnTo>
                    <a:pt x="217" y="262"/>
                  </a:lnTo>
                  <a:lnTo>
                    <a:pt x="234" y="243"/>
                  </a:lnTo>
                  <a:lnTo>
                    <a:pt x="250" y="225"/>
                  </a:lnTo>
                  <a:lnTo>
                    <a:pt x="267" y="207"/>
                  </a:lnTo>
                  <a:lnTo>
                    <a:pt x="283" y="189"/>
                  </a:lnTo>
                  <a:lnTo>
                    <a:pt x="301" y="171"/>
                  </a:lnTo>
                  <a:lnTo>
                    <a:pt x="317" y="153"/>
                  </a:lnTo>
                  <a:lnTo>
                    <a:pt x="340" y="136"/>
                  </a:lnTo>
                  <a:lnTo>
                    <a:pt x="357" y="118"/>
                  </a:lnTo>
                  <a:lnTo>
                    <a:pt x="379" y="108"/>
                  </a:lnTo>
                  <a:lnTo>
                    <a:pt x="396" y="90"/>
                  </a:lnTo>
                  <a:lnTo>
                    <a:pt x="418" y="79"/>
                  </a:lnTo>
                  <a:lnTo>
                    <a:pt x="441" y="70"/>
                  </a:lnTo>
                  <a:lnTo>
                    <a:pt x="462" y="66"/>
                  </a:lnTo>
                  <a:lnTo>
                    <a:pt x="484" y="56"/>
                  </a:lnTo>
                  <a:lnTo>
                    <a:pt x="504" y="59"/>
                  </a:lnTo>
                  <a:lnTo>
                    <a:pt x="524" y="62"/>
                  </a:lnTo>
                  <a:lnTo>
                    <a:pt x="544" y="66"/>
                  </a:lnTo>
                  <a:lnTo>
                    <a:pt x="564" y="69"/>
                  </a:lnTo>
                  <a:lnTo>
                    <a:pt x="583" y="78"/>
                  </a:lnTo>
                  <a:lnTo>
                    <a:pt x="587" y="100"/>
                  </a:lnTo>
                  <a:lnTo>
                    <a:pt x="590" y="121"/>
                  </a:lnTo>
                  <a:lnTo>
                    <a:pt x="594" y="142"/>
                  </a:lnTo>
                  <a:lnTo>
                    <a:pt x="598" y="164"/>
                  </a:lnTo>
                  <a:lnTo>
                    <a:pt x="594" y="183"/>
                  </a:lnTo>
                  <a:lnTo>
                    <a:pt x="591" y="204"/>
                  </a:lnTo>
                  <a:lnTo>
                    <a:pt x="588" y="224"/>
                  </a:lnTo>
                  <a:lnTo>
                    <a:pt x="591" y="245"/>
                  </a:lnTo>
                  <a:lnTo>
                    <a:pt x="595" y="266"/>
                  </a:lnTo>
                  <a:lnTo>
                    <a:pt x="612" y="290"/>
                  </a:lnTo>
                  <a:lnTo>
                    <a:pt x="630" y="306"/>
                  </a:lnTo>
                  <a:lnTo>
                    <a:pt x="650" y="309"/>
                  </a:lnTo>
                  <a:lnTo>
                    <a:pt x="672" y="299"/>
                  </a:lnTo>
                  <a:lnTo>
                    <a:pt x="683" y="280"/>
                  </a:lnTo>
                  <a:lnTo>
                    <a:pt x="699" y="262"/>
                  </a:lnTo>
                  <a:lnTo>
                    <a:pt x="709" y="243"/>
                  </a:lnTo>
                  <a:lnTo>
                    <a:pt x="725" y="225"/>
                  </a:lnTo>
                  <a:lnTo>
                    <a:pt x="735" y="206"/>
                  </a:lnTo>
                  <a:lnTo>
                    <a:pt x="752" y="188"/>
                  </a:lnTo>
                  <a:lnTo>
                    <a:pt x="774" y="177"/>
                  </a:lnTo>
                  <a:lnTo>
                    <a:pt x="794" y="180"/>
                  </a:lnTo>
                  <a:lnTo>
                    <a:pt x="815" y="177"/>
                  </a:lnTo>
                  <a:lnTo>
                    <a:pt x="836" y="180"/>
                  </a:lnTo>
                  <a:lnTo>
                    <a:pt x="856" y="183"/>
                  </a:lnTo>
                  <a:lnTo>
                    <a:pt x="874" y="200"/>
                  </a:lnTo>
                  <a:lnTo>
                    <a:pt x="891" y="223"/>
                  </a:lnTo>
                  <a:lnTo>
                    <a:pt x="901" y="245"/>
                  </a:lnTo>
                  <a:lnTo>
                    <a:pt x="911" y="268"/>
                  </a:lnTo>
                  <a:lnTo>
                    <a:pt x="921" y="290"/>
                  </a:lnTo>
                  <a:lnTo>
                    <a:pt x="938" y="314"/>
                  </a:lnTo>
                  <a:lnTo>
                    <a:pt x="956" y="331"/>
                  </a:lnTo>
                  <a:lnTo>
                    <a:pt x="974" y="353"/>
                  </a:lnTo>
                  <a:lnTo>
                    <a:pt x="992" y="371"/>
                  </a:lnTo>
                  <a:lnTo>
                    <a:pt x="1011" y="374"/>
                  </a:lnTo>
                  <a:lnTo>
                    <a:pt x="1032" y="377"/>
                  </a:lnTo>
                  <a:lnTo>
                    <a:pt x="1054" y="367"/>
                  </a:lnTo>
                  <a:lnTo>
                    <a:pt x="1070" y="349"/>
                  </a:lnTo>
                  <a:lnTo>
                    <a:pt x="1080" y="329"/>
                  </a:lnTo>
                  <a:lnTo>
                    <a:pt x="1084" y="309"/>
                  </a:lnTo>
                  <a:lnTo>
                    <a:pt x="1087" y="289"/>
                  </a:lnTo>
                  <a:lnTo>
                    <a:pt x="1083" y="268"/>
                  </a:lnTo>
                  <a:lnTo>
                    <a:pt x="1086" y="248"/>
                  </a:lnTo>
                  <a:lnTo>
                    <a:pt x="1089" y="227"/>
                  </a:lnTo>
                  <a:lnTo>
                    <a:pt x="1092" y="207"/>
                  </a:lnTo>
                  <a:lnTo>
                    <a:pt x="1096" y="187"/>
                  </a:lnTo>
                  <a:lnTo>
                    <a:pt x="1106" y="168"/>
                  </a:lnTo>
                  <a:lnTo>
                    <a:pt x="1122" y="150"/>
                  </a:lnTo>
                  <a:lnTo>
                    <a:pt x="1143" y="147"/>
                  </a:lnTo>
                  <a:lnTo>
                    <a:pt x="1166" y="136"/>
                  </a:lnTo>
                  <a:lnTo>
                    <a:pt x="1186" y="140"/>
                  </a:lnTo>
                  <a:lnTo>
                    <a:pt x="1205" y="150"/>
                  </a:lnTo>
                  <a:lnTo>
                    <a:pt x="1223" y="166"/>
                  </a:lnTo>
                  <a:lnTo>
                    <a:pt x="1233" y="188"/>
                  </a:lnTo>
                  <a:lnTo>
                    <a:pt x="1251" y="205"/>
                  </a:lnTo>
                  <a:lnTo>
                    <a:pt x="1268" y="228"/>
                  </a:lnTo>
                  <a:lnTo>
                    <a:pt x="1286" y="245"/>
                  </a:lnTo>
                  <a:lnTo>
                    <a:pt x="1304" y="262"/>
                  </a:lnTo>
                  <a:lnTo>
                    <a:pt x="1325" y="265"/>
                  </a:lnTo>
                  <a:lnTo>
                    <a:pt x="1345" y="268"/>
                  </a:lnTo>
                  <a:lnTo>
                    <a:pt x="1367" y="258"/>
                  </a:lnTo>
                  <a:lnTo>
                    <a:pt x="1384" y="240"/>
                  </a:lnTo>
                  <a:lnTo>
                    <a:pt x="1394" y="221"/>
                  </a:lnTo>
                  <a:lnTo>
                    <a:pt x="1390" y="200"/>
                  </a:lnTo>
                  <a:lnTo>
                    <a:pt x="1372" y="183"/>
                  </a:lnTo>
                  <a:lnTo>
                    <a:pt x="1354" y="166"/>
                  </a:lnTo>
                  <a:lnTo>
                    <a:pt x="1336" y="150"/>
                  </a:lnTo>
                  <a:lnTo>
                    <a:pt x="1319" y="126"/>
                  </a:lnTo>
                  <a:lnTo>
                    <a:pt x="1315" y="105"/>
                  </a:lnTo>
                  <a:lnTo>
                    <a:pt x="1312" y="84"/>
                  </a:lnTo>
                  <a:lnTo>
                    <a:pt x="1315" y="64"/>
                  </a:lnTo>
                  <a:lnTo>
                    <a:pt x="1319" y="43"/>
                  </a:lnTo>
                  <a:lnTo>
                    <a:pt x="1322" y="23"/>
                  </a:lnTo>
                  <a:lnTo>
                    <a:pt x="1325" y="3"/>
                  </a:lnTo>
                  <a:lnTo>
                    <a:pt x="1346" y="0"/>
                  </a:lnTo>
                  <a:lnTo>
                    <a:pt x="1366" y="3"/>
                  </a:lnTo>
                  <a:lnTo>
                    <a:pt x="1385" y="13"/>
                  </a:lnTo>
                  <a:lnTo>
                    <a:pt x="1405" y="22"/>
                  </a:lnTo>
                  <a:lnTo>
                    <a:pt x="1423" y="39"/>
                  </a:lnTo>
                  <a:lnTo>
                    <a:pt x="1441" y="56"/>
                  </a:lnTo>
                  <a:lnTo>
                    <a:pt x="1459" y="72"/>
                  </a:lnTo>
                  <a:lnTo>
                    <a:pt x="1478" y="82"/>
                  </a:lnTo>
                  <a:lnTo>
                    <a:pt x="1495" y="99"/>
                  </a:lnTo>
                  <a:lnTo>
                    <a:pt x="1520" y="117"/>
                  </a:lnTo>
                  <a:lnTo>
                    <a:pt x="1544" y="135"/>
                  </a:lnTo>
                  <a:lnTo>
                    <a:pt x="1569" y="152"/>
                  </a:lnTo>
                  <a:lnTo>
                    <a:pt x="1588" y="162"/>
                  </a:lnTo>
                  <a:lnTo>
                    <a:pt x="1607" y="172"/>
                  </a:lnTo>
                  <a:lnTo>
                    <a:pt x="1634" y="183"/>
                  </a:lnTo>
                  <a:lnTo>
                    <a:pt x="1653" y="192"/>
                  </a:lnTo>
                  <a:lnTo>
                    <a:pt x="1672" y="203"/>
                  </a:lnTo>
                  <a:lnTo>
                    <a:pt x="1691" y="213"/>
                  </a:lnTo>
                  <a:lnTo>
                    <a:pt x="1709" y="222"/>
                  </a:lnTo>
                  <a:lnTo>
                    <a:pt x="1730" y="225"/>
                  </a:lnTo>
                  <a:lnTo>
                    <a:pt x="1748" y="236"/>
                  </a:lnTo>
                  <a:lnTo>
                    <a:pt x="1769" y="239"/>
                  </a:lnTo>
                  <a:lnTo>
                    <a:pt x="1789" y="242"/>
                  </a:lnTo>
                  <a:lnTo>
                    <a:pt x="1809" y="245"/>
                  </a:lnTo>
                  <a:lnTo>
                    <a:pt x="1829" y="248"/>
                  </a:lnTo>
                  <a:lnTo>
                    <a:pt x="1849" y="252"/>
                  </a:lnTo>
                  <a:lnTo>
                    <a:pt x="1870" y="255"/>
                  </a:lnTo>
                  <a:lnTo>
                    <a:pt x="1889" y="258"/>
                  </a:lnTo>
                  <a:lnTo>
                    <a:pt x="1911" y="254"/>
                  </a:lnTo>
                  <a:lnTo>
                    <a:pt x="1933" y="244"/>
                  </a:lnTo>
                  <a:lnTo>
                    <a:pt x="1950" y="225"/>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39995" name="Group 59"/>
            <p:cNvGrpSpPr>
              <a:grpSpLocks/>
            </p:cNvGrpSpPr>
            <p:nvPr/>
          </p:nvGrpSpPr>
          <p:grpSpPr bwMode="auto">
            <a:xfrm>
              <a:off x="115" y="1213"/>
              <a:ext cx="5140" cy="1784"/>
              <a:chOff x="115" y="1213"/>
              <a:chExt cx="5140" cy="1784"/>
            </a:xfrm>
          </p:grpSpPr>
          <p:sp>
            <p:nvSpPr>
              <p:cNvPr id="39943" name="Freeform 7" descr="25%"/>
              <p:cNvSpPr>
                <a:spLocks/>
              </p:cNvSpPr>
              <p:nvPr/>
            </p:nvSpPr>
            <p:spPr bwMode="auto">
              <a:xfrm>
                <a:off x="115" y="1276"/>
                <a:ext cx="2035" cy="661"/>
              </a:xfrm>
              <a:custGeom>
                <a:avLst/>
                <a:gdLst>
                  <a:gd name="T0" fmla="*/ 78 w 2035"/>
                  <a:gd name="T1" fmla="*/ 306 h 661"/>
                  <a:gd name="T2" fmla="*/ 168 w 2035"/>
                  <a:gd name="T3" fmla="*/ 258 h 661"/>
                  <a:gd name="T4" fmla="*/ 248 w 2035"/>
                  <a:gd name="T5" fmla="*/ 189 h 661"/>
                  <a:gd name="T6" fmla="*/ 314 w 2035"/>
                  <a:gd name="T7" fmla="*/ 116 h 661"/>
                  <a:gd name="T8" fmla="*/ 393 w 2035"/>
                  <a:gd name="T9" fmla="*/ 53 h 661"/>
                  <a:gd name="T10" fmla="*/ 478 w 2035"/>
                  <a:gd name="T11" fmla="*/ 39 h 661"/>
                  <a:gd name="T12" fmla="*/ 558 w 2035"/>
                  <a:gd name="T13" fmla="*/ 52 h 661"/>
                  <a:gd name="T14" fmla="*/ 565 w 2035"/>
                  <a:gd name="T15" fmla="*/ 135 h 661"/>
                  <a:gd name="T16" fmla="*/ 601 w 2035"/>
                  <a:gd name="T17" fmla="*/ 216 h 661"/>
                  <a:gd name="T18" fmla="*/ 678 w 2035"/>
                  <a:gd name="T19" fmla="*/ 257 h 661"/>
                  <a:gd name="T20" fmla="*/ 731 w 2035"/>
                  <a:gd name="T21" fmla="*/ 182 h 661"/>
                  <a:gd name="T22" fmla="*/ 818 w 2035"/>
                  <a:gd name="T23" fmla="*/ 147 h 661"/>
                  <a:gd name="T24" fmla="*/ 899 w 2035"/>
                  <a:gd name="T25" fmla="*/ 160 h 661"/>
                  <a:gd name="T26" fmla="*/ 947 w 2035"/>
                  <a:gd name="T27" fmla="*/ 251 h 661"/>
                  <a:gd name="T28" fmla="*/ 1020 w 2035"/>
                  <a:gd name="T29" fmla="*/ 311 h 661"/>
                  <a:gd name="T30" fmla="*/ 1072 w 2035"/>
                  <a:gd name="T31" fmla="*/ 284 h 661"/>
                  <a:gd name="T32" fmla="*/ 1124 w 2035"/>
                  <a:gd name="T33" fmla="*/ 216 h 661"/>
                  <a:gd name="T34" fmla="*/ 1137 w 2035"/>
                  <a:gd name="T35" fmla="*/ 136 h 661"/>
                  <a:gd name="T36" fmla="*/ 1214 w 2035"/>
                  <a:gd name="T37" fmla="*/ 128 h 661"/>
                  <a:gd name="T38" fmla="*/ 1290 w 2035"/>
                  <a:gd name="T39" fmla="*/ 168 h 661"/>
                  <a:gd name="T40" fmla="*/ 1370 w 2035"/>
                  <a:gd name="T41" fmla="*/ 187 h 661"/>
                  <a:gd name="T42" fmla="*/ 1400 w 2035"/>
                  <a:gd name="T43" fmla="*/ 129 h 661"/>
                  <a:gd name="T44" fmla="*/ 1365 w 2035"/>
                  <a:gd name="T45" fmla="*/ 42 h 661"/>
                  <a:gd name="T46" fmla="*/ 1426 w 2035"/>
                  <a:gd name="T47" fmla="*/ 3 h 661"/>
                  <a:gd name="T48" fmla="*/ 1505 w 2035"/>
                  <a:gd name="T49" fmla="*/ 30 h 661"/>
                  <a:gd name="T50" fmla="*/ 1580 w 2035"/>
                  <a:gd name="T51" fmla="*/ 76 h 661"/>
                  <a:gd name="T52" fmla="*/ 1657 w 2035"/>
                  <a:gd name="T53" fmla="*/ 115 h 661"/>
                  <a:gd name="T54" fmla="*/ 1738 w 2035"/>
                  <a:gd name="T55" fmla="*/ 162 h 661"/>
                  <a:gd name="T56" fmla="*/ 1822 w 2035"/>
                  <a:gd name="T57" fmla="*/ 196 h 661"/>
                  <a:gd name="T58" fmla="*/ 1904 w 2035"/>
                  <a:gd name="T59" fmla="*/ 202 h 661"/>
                  <a:gd name="T60" fmla="*/ 1988 w 2035"/>
                  <a:gd name="T61" fmla="*/ 195 h 661"/>
                  <a:gd name="T62" fmla="*/ 2032 w 2035"/>
                  <a:gd name="T63" fmla="*/ 258 h 661"/>
                  <a:gd name="T64" fmla="*/ 2013 w 2035"/>
                  <a:gd name="T65" fmla="*/ 337 h 661"/>
                  <a:gd name="T66" fmla="*/ 1946 w 2035"/>
                  <a:gd name="T67" fmla="*/ 409 h 661"/>
                  <a:gd name="T68" fmla="*/ 1860 w 2035"/>
                  <a:gd name="T69" fmla="*/ 478 h 661"/>
                  <a:gd name="T70" fmla="*/ 1763 w 2035"/>
                  <a:gd name="T71" fmla="*/ 531 h 661"/>
                  <a:gd name="T72" fmla="*/ 1660 w 2035"/>
                  <a:gd name="T73" fmla="*/ 570 h 661"/>
                  <a:gd name="T74" fmla="*/ 1550 w 2035"/>
                  <a:gd name="T75" fmla="*/ 608 h 661"/>
                  <a:gd name="T76" fmla="*/ 1370 w 2035"/>
                  <a:gd name="T77" fmla="*/ 620 h 661"/>
                  <a:gd name="T78" fmla="*/ 1209 w 2035"/>
                  <a:gd name="T79" fmla="*/ 636 h 661"/>
                  <a:gd name="T80" fmla="*/ 1118 w 2035"/>
                  <a:gd name="T81" fmla="*/ 643 h 661"/>
                  <a:gd name="T82" fmla="*/ 1007 w 2035"/>
                  <a:gd name="T83" fmla="*/ 652 h 661"/>
                  <a:gd name="T84" fmla="*/ 923 w 2035"/>
                  <a:gd name="T85" fmla="*/ 660 h 661"/>
                  <a:gd name="T86" fmla="*/ 834 w 2035"/>
                  <a:gd name="T87" fmla="*/ 660 h 661"/>
                  <a:gd name="T88" fmla="*/ 746 w 2035"/>
                  <a:gd name="T89" fmla="*/ 652 h 661"/>
                  <a:gd name="T90" fmla="*/ 658 w 2035"/>
                  <a:gd name="T91" fmla="*/ 638 h 661"/>
                  <a:gd name="T92" fmla="*/ 571 w 2035"/>
                  <a:gd name="T93" fmla="*/ 625 h 661"/>
                  <a:gd name="T94" fmla="*/ 463 w 2035"/>
                  <a:gd name="T95" fmla="*/ 607 h 661"/>
                  <a:gd name="T96" fmla="*/ 352 w 2035"/>
                  <a:gd name="T97" fmla="*/ 577 h 661"/>
                  <a:gd name="T98" fmla="*/ 143 w 2035"/>
                  <a:gd name="T99" fmla="*/ 502 h 661"/>
                  <a:gd name="T100" fmla="*/ 70 w 2035"/>
                  <a:gd name="T101" fmla="*/ 442 h 661"/>
                  <a:gd name="T102" fmla="*/ 12 w 2035"/>
                  <a:gd name="T103" fmla="*/ 378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35" h="661">
                    <a:moveTo>
                      <a:pt x="0" y="328"/>
                    </a:moveTo>
                    <a:lnTo>
                      <a:pt x="34" y="320"/>
                    </a:lnTo>
                    <a:lnTo>
                      <a:pt x="57" y="309"/>
                    </a:lnTo>
                    <a:lnTo>
                      <a:pt x="78" y="306"/>
                    </a:lnTo>
                    <a:lnTo>
                      <a:pt x="99" y="302"/>
                    </a:lnTo>
                    <a:lnTo>
                      <a:pt x="121" y="292"/>
                    </a:lnTo>
                    <a:lnTo>
                      <a:pt x="145" y="275"/>
                    </a:lnTo>
                    <a:lnTo>
                      <a:pt x="168" y="258"/>
                    </a:lnTo>
                    <a:lnTo>
                      <a:pt x="184" y="240"/>
                    </a:lnTo>
                    <a:lnTo>
                      <a:pt x="201" y="222"/>
                    </a:lnTo>
                    <a:lnTo>
                      <a:pt x="225" y="205"/>
                    </a:lnTo>
                    <a:lnTo>
                      <a:pt x="248" y="189"/>
                    </a:lnTo>
                    <a:lnTo>
                      <a:pt x="265" y="171"/>
                    </a:lnTo>
                    <a:lnTo>
                      <a:pt x="281" y="152"/>
                    </a:lnTo>
                    <a:lnTo>
                      <a:pt x="298" y="134"/>
                    </a:lnTo>
                    <a:lnTo>
                      <a:pt x="314" y="116"/>
                    </a:lnTo>
                    <a:lnTo>
                      <a:pt x="337" y="99"/>
                    </a:lnTo>
                    <a:lnTo>
                      <a:pt x="354" y="81"/>
                    </a:lnTo>
                    <a:lnTo>
                      <a:pt x="371" y="63"/>
                    </a:lnTo>
                    <a:lnTo>
                      <a:pt x="393" y="53"/>
                    </a:lnTo>
                    <a:lnTo>
                      <a:pt x="417" y="36"/>
                    </a:lnTo>
                    <a:lnTo>
                      <a:pt x="438" y="33"/>
                    </a:lnTo>
                    <a:lnTo>
                      <a:pt x="459" y="29"/>
                    </a:lnTo>
                    <a:lnTo>
                      <a:pt x="478" y="39"/>
                    </a:lnTo>
                    <a:lnTo>
                      <a:pt x="498" y="42"/>
                    </a:lnTo>
                    <a:lnTo>
                      <a:pt x="519" y="39"/>
                    </a:lnTo>
                    <a:lnTo>
                      <a:pt x="539" y="42"/>
                    </a:lnTo>
                    <a:lnTo>
                      <a:pt x="558" y="52"/>
                    </a:lnTo>
                    <a:lnTo>
                      <a:pt x="562" y="73"/>
                    </a:lnTo>
                    <a:lnTo>
                      <a:pt x="565" y="94"/>
                    </a:lnTo>
                    <a:lnTo>
                      <a:pt x="569" y="115"/>
                    </a:lnTo>
                    <a:lnTo>
                      <a:pt x="565" y="135"/>
                    </a:lnTo>
                    <a:lnTo>
                      <a:pt x="570" y="157"/>
                    </a:lnTo>
                    <a:lnTo>
                      <a:pt x="573" y="178"/>
                    </a:lnTo>
                    <a:lnTo>
                      <a:pt x="591" y="194"/>
                    </a:lnTo>
                    <a:lnTo>
                      <a:pt x="601" y="216"/>
                    </a:lnTo>
                    <a:lnTo>
                      <a:pt x="619" y="233"/>
                    </a:lnTo>
                    <a:lnTo>
                      <a:pt x="637" y="250"/>
                    </a:lnTo>
                    <a:lnTo>
                      <a:pt x="657" y="260"/>
                    </a:lnTo>
                    <a:lnTo>
                      <a:pt x="678" y="257"/>
                    </a:lnTo>
                    <a:lnTo>
                      <a:pt x="687" y="237"/>
                    </a:lnTo>
                    <a:lnTo>
                      <a:pt x="704" y="219"/>
                    </a:lnTo>
                    <a:lnTo>
                      <a:pt x="720" y="201"/>
                    </a:lnTo>
                    <a:lnTo>
                      <a:pt x="731" y="182"/>
                    </a:lnTo>
                    <a:lnTo>
                      <a:pt x="753" y="165"/>
                    </a:lnTo>
                    <a:lnTo>
                      <a:pt x="776" y="154"/>
                    </a:lnTo>
                    <a:lnTo>
                      <a:pt x="798" y="144"/>
                    </a:lnTo>
                    <a:lnTo>
                      <a:pt x="818" y="147"/>
                    </a:lnTo>
                    <a:lnTo>
                      <a:pt x="840" y="144"/>
                    </a:lnTo>
                    <a:lnTo>
                      <a:pt x="860" y="147"/>
                    </a:lnTo>
                    <a:lnTo>
                      <a:pt x="880" y="150"/>
                    </a:lnTo>
                    <a:lnTo>
                      <a:pt x="899" y="160"/>
                    </a:lnTo>
                    <a:lnTo>
                      <a:pt x="916" y="183"/>
                    </a:lnTo>
                    <a:lnTo>
                      <a:pt x="926" y="206"/>
                    </a:lnTo>
                    <a:lnTo>
                      <a:pt x="937" y="228"/>
                    </a:lnTo>
                    <a:lnTo>
                      <a:pt x="947" y="251"/>
                    </a:lnTo>
                    <a:lnTo>
                      <a:pt x="965" y="267"/>
                    </a:lnTo>
                    <a:lnTo>
                      <a:pt x="983" y="284"/>
                    </a:lnTo>
                    <a:lnTo>
                      <a:pt x="1001" y="300"/>
                    </a:lnTo>
                    <a:lnTo>
                      <a:pt x="1020" y="311"/>
                    </a:lnTo>
                    <a:lnTo>
                      <a:pt x="1039" y="320"/>
                    </a:lnTo>
                    <a:lnTo>
                      <a:pt x="1059" y="324"/>
                    </a:lnTo>
                    <a:lnTo>
                      <a:pt x="1062" y="303"/>
                    </a:lnTo>
                    <a:lnTo>
                      <a:pt x="1072" y="284"/>
                    </a:lnTo>
                    <a:lnTo>
                      <a:pt x="1082" y="265"/>
                    </a:lnTo>
                    <a:lnTo>
                      <a:pt x="1092" y="246"/>
                    </a:lnTo>
                    <a:lnTo>
                      <a:pt x="1114" y="236"/>
                    </a:lnTo>
                    <a:lnTo>
                      <a:pt x="1124" y="216"/>
                    </a:lnTo>
                    <a:lnTo>
                      <a:pt x="1121" y="195"/>
                    </a:lnTo>
                    <a:lnTo>
                      <a:pt x="1124" y="175"/>
                    </a:lnTo>
                    <a:lnTo>
                      <a:pt x="1127" y="156"/>
                    </a:lnTo>
                    <a:lnTo>
                      <a:pt x="1137" y="136"/>
                    </a:lnTo>
                    <a:lnTo>
                      <a:pt x="1154" y="118"/>
                    </a:lnTo>
                    <a:lnTo>
                      <a:pt x="1173" y="121"/>
                    </a:lnTo>
                    <a:lnTo>
                      <a:pt x="1194" y="125"/>
                    </a:lnTo>
                    <a:lnTo>
                      <a:pt x="1214" y="128"/>
                    </a:lnTo>
                    <a:lnTo>
                      <a:pt x="1233" y="138"/>
                    </a:lnTo>
                    <a:lnTo>
                      <a:pt x="1252" y="147"/>
                    </a:lnTo>
                    <a:lnTo>
                      <a:pt x="1271" y="158"/>
                    </a:lnTo>
                    <a:lnTo>
                      <a:pt x="1290" y="168"/>
                    </a:lnTo>
                    <a:lnTo>
                      <a:pt x="1310" y="171"/>
                    </a:lnTo>
                    <a:lnTo>
                      <a:pt x="1329" y="180"/>
                    </a:lnTo>
                    <a:lnTo>
                      <a:pt x="1350" y="184"/>
                    </a:lnTo>
                    <a:lnTo>
                      <a:pt x="1370" y="187"/>
                    </a:lnTo>
                    <a:lnTo>
                      <a:pt x="1390" y="190"/>
                    </a:lnTo>
                    <a:lnTo>
                      <a:pt x="1406" y="172"/>
                    </a:lnTo>
                    <a:lnTo>
                      <a:pt x="1409" y="151"/>
                    </a:lnTo>
                    <a:lnTo>
                      <a:pt x="1400" y="129"/>
                    </a:lnTo>
                    <a:lnTo>
                      <a:pt x="1389" y="107"/>
                    </a:lnTo>
                    <a:lnTo>
                      <a:pt x="1379" y="85"/>
                    </a:lnTo>
                    <a:lnTo>
                      <a:pt x="1369" y="63"/>
                    </a:lnTo>
                    <a:lnTo>
                      <a:pt x="1365" y="42"/>
                    </a:lnTo>
                    <a:lnTo>
                      <a:pt x="1375" y="23"/>
                    </a:lnTo>
                    <a:lnTo>
                      <a:pt x="1385" y="4"/>
                    </a:lnTo>
                    <a:lnTo>
                      <a:pt x="1406" y="0"/>
                    </a:lnTo>
                    <a:lnTo>
                      <a:pt x="1426" y="3"/>
                    </a:lnTo>
                    <a:lnTo>
                      <a:pt x="1447" y="6"/>
                    </a:lnTo>
                    <a:lnTo>
                      <a:pt x="1466" y="16"/>
                    </a:lnTo>
                    <a:lnTo>
                      <a:pt x="1486" y="20"/>
                    </a:lnTo>
                    <a:lnTo>
                      <a:pt x="1505" y="30"/>
                    </a:lnTo>
                    <a:lnTo>
                      <a:pt x="1524" y="39"/>
                    </a:lnTo>
                    <a:lnTo>
                      <a:pt x="1543" y="49"/>
                    </a:lnTo>
                    <a:lnTo>
                      <a:pt x="1562" y="59"/>
                    </a:lnTo>
                    <a:lnTo>
                      <a:pt x="1580" y="76"/>
                    </a:lnTo>
                    <a:lnTo>
                      <a:pt x="1599" y="86"/>
                    </a:lnTo>
                    <a:lnTo>
                      <a:pt x="1618" y="96"/>
                    </a:lnTo>
                    <a:lnTo>
                      <a:pt x="1637" y="105"/>
                    </a:lnTo>
                    <a:lnTo>
                      <a:pt x="1657" y="115"/>
                    </a:lnTo>
                    <a:lnTo>
                      <a:pt x="1676" y="125"/>
                    </a:lnTo>
                    <a:lnTo>
                      <a:pt x="1694" y="135"/>
                    </a:lnTo>
                    <a:lnTo>
                      <a:pt x="1719" y="153"/>
                    </a:lnTo>
                    <a:lnTo>
                      <a:pt x="1738" y="162"/>
                    </a:lnTo>
                    <a:lnTo>
                      <a:pt x="1764" y="174"/>
                    </a:lnTo>
                    <a:lnTo>
                      <a:pt x="1783" y="183"/>
                    </a:lnTo>
                    <a:lnTo>
                      <a:pt x="1803" y="187"/>
                    </a:lnTo>
                    <a:lnTo>
                      <a:pt x="1822" y="196"/>
                    </a:lnTo>
                    <a:lnTo>
                      <a:pt x="1843" y="199"/>
                    </a:lnTo>
                    <a:lnTo>
                      <a:pt x="1862" y="203"/>
                    </a:lnTo>
                    <a:lnTo>
                      <a:pt x="1883" y="206"/>
                    </a:lnTo>
                    <a:lnTo>
                      <a:pt x="1904" y="202"/>
                    </a:lnTo>
                    <a:lnTo>
                      <a:pt x="1924" y="206"/>
                    </a:lnTo>
                    <a:lnTo>
                      <a:pt x="1946" y="195"/>
                    </a:lnTo>
                    <a:lnTo>
                      <a:pt x="1967" y="192"/>
                    </a:lnTo>
                    <a:lnTo>
                      <a:pt x="1988" y="195"/>
                    </a:lnTo>
                    <a:lnTo>
                      <a:pt x="2008" y="198"/>
                    </a:lnTo>
                    <a:lnTo>
                      <a:pt x="2026" y="215"/>
                    </a:lnTo>
                    <a:lnTo>
                      <a:pt x="2029" y="237"/>
                    </a:lnTo>
                    <a:lnTo>
                      <a:pt x="2032" y="258"/>
                    </a:lnTo>
                    <a:lnTo>
                      <a:pt x="2029" y="278"/>
                    </a:lnTo>
                    <a:lnTo>
                      <a:pt x="2034" y="299"/>
                    </a:lnTo>
                    <a:lnTo>
                      <a:pt x="2030" y="319"/>
                    </a:lnTo>
                    <a:lnTo>
                      <a:pt x="2013" y="337"/>
                    </a:lnTo>
                    <a:lnTo>
                      <a:pt x="2003" y="356"/>
                    </a:lnTo>
                    <a:lnTo>
                      <a:pt x="1987" y="374"/>
                    </a:lnTo>
                    <a:lnTo>
                      <a:pt x="1970" y="392"/>
                    </a:lnTo>
                    <a:lnTo>
                      <a:pt x="1946" y="409"/>
                    </a:lnTo>
                    <a:lnTo>
                      <a:pt x="1930" y="427"/>
                    </a:lnTo>
                    <a:lnTo>
                      <a:pt x="1907" y="444"/>
                    </a:lnTo>
                    <a:lnTo>
                      <a:pt x="1883" y="461"/>
                    </a:lnTo>
                    <a:lnTo>
                      <a:pt x="1860" y="478"/>
                    </a:lnTo>
                    <a:lnTo>
                      <a:pt x="1831" y="494"/>
                    </a:lnTo>
                    <a:lnTo>
                      <a:pt x="1807" y="511"/>
                    </a:lnTo>
                    <a:lnTo>
                      <a:pt x="1785" y="521"/>
                    </a:lnTo>
                    <a:lnTo>
                      <a:pt x="1763" y="531"/>
                    </a:lnTo>
                    <a:lnTo>
                      <a:pt x="1733" y="541"/>
                    </a:lnTo>
                    <a:lnTo>
                      <a:pt x="1703" y="556"/>
                    </a:lnTo>
                    <a:lnTo>
                      <a:pt x="1681" y="567"/>
                    </a:lnTo>
                    <a:lnTo>
                      <a:pt x="1660" y="570"/>
                    </a:lnTo>
                    <a:lnTo>
                      <a:pt x="1631" y="579"/>
                    </a:lnTo>
                    <a:lnTo>
                      <a:pt x="1609" y="589"/>
                    </a:lnTo>
                    <a:lnTo>
                      <a:pt x="1580" y="599"/>
                    </a:lnTo>
                    <a:lnTo>
                      <a:pt x="1550" y="608"/>
                    </a:lnTo>
                    <a:lnTo>
                      <a:pt x="1529" y="611"/>
                    </a:lnTo>
                    <a:lnTo>
                      <a:pt x="1474" y="616"/>
                    </a:lnTo>
                    <a:lnTo>
                      <a:pt x="1424" y="622"/>
                    </a:lnTo>
                    <a:lnTo>
                      <a:pt x="1370" y="620"/>
                    </a:lnTo>
                    <a:lnTo>
                      <a:pt x="1321" y="626"/>
                    </a:lnTo>
                    <a:lnTo>
                      <a:pt x="1293" y="629"/>
                    </a:lnTo>
                    <a:lnTo>
                      <a:pt x="1237" y="634"/>
                    </a:lnTo>
                    <a:lnTo>
                      <a:pt x="1209" y="636"/>
                    </a:lnTo>
                    <a:lnTo>
                      <a:pt x="1181" y="639"/>
                    </a:lnTo>
                    <a:lnTo>
                      <a:pt x="1160" y="642"/>
                    </a:lnTo>
                    <a:lnTo>
                      <a:pt x="1139" y="646"/>
                    </a:lnTo>
                    <a:lnTo>
                      <a:pt x="1118" y="643"/>
                    </a:lnTo>
                    <a:lnTo>
                      <a:pt x="1070" y="649"/>
                    </a:lnTo>
                    <a:lnTo>
                      <a:pt x="1048" y="652"/>
                    </a:lnTo>
                    <a:lnTo>
                      <a:pt x="1028" y="649"/>
                    </a:lnTo>
                    <a:lnTo>
                      <a:pt x="1007" y="652"/>
                    </a:lnTo>
                    <a:lnTo>
                      <a:pt x="986" y="656"/>
                    </a:lnTo>
                    <a:lnTo>
                      <a:pt x="966" y="653"/>
                    </a:lnTo>
                    <a:lnTo>
                      <a:pt x="944" y="656"/>
                    </a:lnTo>
                    <a:lnTo>
                      <a:pt x="923" y="660"/>
                    </a:lnTo>
                    <a:lnTo>
                      <a:pt x="897" y="655"/>
                    </a:lnTo>
                    <a:lnTo>
                      <a:pt x="875" y="660"/>
                    </a:lnTo>
                    <a:lnTo>
                      <a:pt x="855" y="656"/>
                    </a:lnTo>
                    <a:lnTo>
                      <a:pt x="834" y="660"/>
                    </a:lnTo>
                    <a:lnTo>
                      <a:pt x="814" y="656"/>
                    </a:lnTo>
                    <a:lnTo>
                      <a:pt x="794" y="653"/>
                    </a:lnTo>
                    <a:lnTo>
                      <a:pt x="766" y="655"/>
                    </a:lnTo>
                    <a:lnTo>
                      <a:pt x="746" y="652"/>
                    </a:lnTo>
                    <a:lnTo>
                      <a:pt x="726" y="649"/>
                    </a:lnTo>
                    <a:lnTo>
                      <a:pt x="705" y="646"/>
                    </a:lnTo>
                    <a:lnTo>
                      <a:pt x="686" y="643"/>
                    </a:lnTo>
                    <a:lnTo>
                      <a:pt x="658" y="638"/>
                    </a:lnTo>
                    <a:lnTo>
                      <a:pt x="639" y="635"/>
                    </a:lnTo>
                    <a:lnTo>
                      <a:pt x="618" y="632"/>
                    </a:lnTo>
                    <a:lnTo>
                      <a:pt x="598" y="629"/>
                    </a:lnTo>
                    <a:lnTo>
                      <a:pt x="571" y="625"/>
                    </a:lnTo>
                    <a:lnTo>
                      <a:pt x="550" y="621"/>
                    </a:lnTo>
                    <a:lnTo>
                      <a:pt x="524" y="617"/>
                    </a:lnTo>
                    <a:lnTo>
                      <a:pt x="484" y="611"/>
                    </a:lnTo>
                    <a:lnTo>
                      <a:pt x="463" y="607"/>
                    </a:lnTo>
                    <a:lnTo>
                      <a:pt x="444" y="598"/>
                    </a:lnTo>
                    <a:lnTo>
                      <a:pt x="424" y="595"/>
                    </a:lnTo>
                    <a:lnTo>
                      <a:pt x="371" y="586"/>
                    </a:lnTo>
                    <a:lnTo>
                      <a:pt x="352" y="577"/>
                    </a:lnTo>
                    <a:lnTo>
                      <a:pt x="299" y="560"/>
                    </a:lnTo>
                    <a:lnTo>
                      <a:pt x="247" y="539"/>
                    </a:lnTo>
                    <a:lnTo>
                      <a:pt x="196" y="517"/>
                    </a:lnTo>
                    <a:lnTo>
                      <a:pt x="143" y="502"/>
                    </a:lnTo>
                    <a:lnTo>
                      <a:pt x="124" y="491"/>
                    </a:lnTo>
                    <a:lnTo>
                      <a:pt x="106" y="475"/>
                    </a:lnTo>
                    <a:lnTo>
                      <a:pt x="88" y="458"/>
                    </a:lnTo>
                    <a:lnTo>
                      <a:pt x="70" y="442"/>
                    </a:lnTo>
                    <a:lnTo>
                      <a:pt x="52" y="425"/>
                    </a:lnTo>
                    <a:lnTo>
                      <a:pt x="33" y="416"/>
                    </a:lnTo>
                    <a:lnTo>
                      <a:pt x="15" y="399"/>
                    </a:lnTo>
                    <a:lnTo>
                      <a:pt x="12" y="378"/>
                    </a:lnTo>
                    <a:lnTo>
                      <a:pt x="1" y="356"/>
                    </a:lnTo>
                    <a:lnTo>
                      <a:pt x="0" y="328"/>
                    </a:lnTo>
                    <a:lnTo>
                      <a:pt x="0" y="328"/>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944" name="Oval 8"/>
              <p:cNvSpPr>
                <a:spLocks noChangeArrowheads="1"/>
              </p:cNvSpPr>
              <p:nvPr/>
            </p:nvSpPr>
            <p:spPr bwMode="auto">
              <a:xfrm rot="540000">
                <a:off x="580" y="1301"/>
                <a:ext cx="107" cy="51"/>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45" name="Oval 9"/>
              <p:cNvSpPr>
                <a:spLocks noChangeArrowheads="1"/>
              </p:cNvSpPr>
              <p:nvPr/>
            </p:nvSpPr>
            <p:spPr bwMode="auto">
              <a:xfrm rot="540000">
                <a:off x="1432" y="1213"/>
                <a:ext cx="107" cy="5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46" name="Oval 10"/>
              <p:cNvSpPr>
                <a:spLocks noChangeArrowheads="1"/>
              </p:cNvSpPr>
              <p:nvPr/>
            </p:nvSpPr>
            <p:spPr bwMode="auto">
              <a:xfrm rot="540000">
                <a:off x="1239" y="1328"/>
                <a:ext cx="107" cy="51"/>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47" name="Oval 11"/>
              <p:cNvSpPr>
                <a:spLocks noChangeArrowheads="1"/>
              </p:cNvSpPr>
              <p:nvPr/>
            </p:nvSpPr>
            <p:spPr bwMode="auto">
              <a:xfrm rot="540000">
                <a:off x="884" y="1408"/>
                <a:ext cx="107" cy="5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55" name="Line 19"/>
              <p:cNvSpPr>
                <a:spLocks noChangeShapeType="1"/>
              </p:cNvSpPr>
              <p:nvPr/>
            </p:nvSpPr>
            <p:spPr bwMode="auto">
              <a:xfrm>
                <a:off x="2076" y="1440"/>
                <a:ext cx="1007" cy="1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59" name="Freeform 23"/>
              <p:cNvSpPr>
                <a:spLocks/>
              </p:cNvSpPr>
              <p:nvPr/>
            </p:nvSpPr>
            <p:spPr bwMode="auto">
              <a:xfrm>
                <a:off x="3118" y="1515"/>
                <a:ext cx="431" cy="850"/>
              </a:xfrm>
              <a:custGeom>
                <a:avLst/>
                <a:gdLst>
                  <a:gd name="T0" fmla="*/ 2 w 431"/>
                  <a:gd name="T1" fmla="*/ 21 h 850"/>
                  <a:gd name="T2" fmla="*/ 0 w 431"/>
                  <a:gd name="T3" fmla="*/ 68 h 850"/>
                  <a:gd name="T4" fmla="*/ 34 w 431"/>
                  <a:gd name="T5" fmla="*/ 102 h 850"/>
                  <a:gd name="T6" fmla="*/ 34 w 431"/>
                  <a:gd name="T7" fmla="*/ 136 h 850"/>
                  <a:gd name="T8" fmla="*/ 56 w 431"/>
                  <a:gd name="T9" fmla="*/ 170 h 850"/>
                  <a:gd name="T10" fmla="*/ 68 w 431"/>
                  <a:gd name="T11" fmla="*/ 204 h 850"/>
                  <a:gd name="T12" fmla="*/ 90 w 431"/>
                  <a:gd name="T13" fmla="*/ 238 h 850"/>
                  <a:gd name="T14" fmla="*/ 102 w 431"/>
                  <a:gd name="T15" fmla="*/ 271 h 850"/>
                  <a:gd name="T16" fmla="*/ 113 w 431"/>
                  <a:gd name="T17" fmla="*/ 305 h 850"/>
                  <a:gd name="T18" fmla="*/ 124 w 431"/>
                  <a:gd name="T19" fmla="*/ 339 h 850"/>
                  <a:gd name="T20" fmla="*/ 136 w 431"/>
                  <a:gd name="T21" fmla="*/ 373 h 850"/>
                  <a:gd name="T22" fmla="*/ 147 w 431"/>
                  <a:gd name="T23" fmla="*/ 407 h 850"/>
                  <a:gd name="T24" fmla="*/ 147 w 431"/>
                  <a:gd name="T25" fmla="*/ 441 h 850"/>
                  <a:gd name="T26" fmla="*/ 147 w 431"/>
                  <a:gd name="T27" fmla="*/ 475 h 850"/>
                  <a:gd name="T28" fmla="*/ 147 w 431"/>
                  <a:gd name="T29" fmla="*/ 509 h 850"/>
                  <a:gd name="T30" fmla="*/ 147 w 431"/>
                  <a:gd name="T31" fmla="*/ 543 h 850"/>
                  <a:gd name="T32" fmla="*/ 147 w 431"/>
                  <a:gd name="T33" fmla="*/ 577 h 850"/>
                  <a:gd name="T34" fmla="*/ 147 w 431"/>
                  <a:gd name="T35" fmla="*/ 611 h 850"/>
                  <a:gd name="T36" fmla="*/ 147 w 431"/>
                  <a:gd name="T37" fmla="*/ 645 h 850"/>
                  <a:gd name="T38" fmla="*/ 147 w 431"/>
                  <a:gd name="T39" fmla="*/ 679 h 850"/>
                  <a:gd name="T40" fmla="*/ 147 w 431"/>
                  <a:gd name="T41" fmla="*/ 713 h 850"/>
                  <a:gd name="T42" fmla="*/ 136 w 431"/>
                  <a:gd name="T43" fmla="*/ 747 h 850"/>
                  <a:gd name="T44" fmla="*/ 136 w 431"/>
                  <a:gd name="T45" fmla="*/ 781 h 850"/>
                  <a:gd name="T46" fmla="*/ 124 w 431"/>
                  <a:gd name="T47" fmla="*/ 815 h 850"/>
                  <a:gd name="T48" fmla="*/ 124 w 431"/>
                  <a:gd name="T49" fmla="*/ 849 h 850"/>
                  <a:gd name="T50" fmla="*/ 158 w 431"/>
                  <a:gd name="T51" fmla="*/ 849 h 850"/>
                  <a:gd name="T52" fmla="*/ 192 w 431"/>
                  <a:gd name="T53" fmla="*/ 849 h 850"/>
                  <a:gd name="T54" fmla="*/ 226 w 431"/>
                  <a:gd name="T55" fmla="*/ 849 h 850"/>
                  <a:gd name="T56" fmla="*/ 260 w 431"/>
                  <a:gd name="T57" fmla="*/ 849 h 850"/>
                  <a:gd name="T58" fmla="*/ 294 w 431"/>
                  <a:gd name="T59" fmla="*/ 849 h 850"/>
                  <a:gd name="T60" fmla="*/ 328 w 431"/>
                  <a:gd name="T61" fmla="*/ 849 h 850"/>
                  <a:gd name="T62" fmla="*/ 362 w 431"/>
                  <a:gd name="T63" fmla="*/ 849 h 850"/>
                  <a:gd name="T64" fmla="*/ 373 w 431"/>
                  <a:gd name="T65" fmla="*/ 815 h 850"/>
                  <a:gd name="T66" fmla="*/ 396 w 431"/>
                  <a:gd name="T67" fmla="*/ 781 h 850"/>
                  <a:gd name="T68" fmla="*/ 396 w 431"/>
                  <a:gd name="T69" fmla="*/ 747 h 850"/>
                  <a:gd name="T70" fmla="*/ 396 w 431"/>
                  <a:gd name="T71" fmla="*/ 713 h 850"/>
                  <a:gd name="T72" fmla="*/ 396 w 431"/>
                  <a:gd name="T73" fmla="*/ 679 h 850"/>
                  <a:gd name="T74" fmla="*/ 407 w 431"/>
                  <a:gd name="T75" fmla="*/ 645 h 850"/>
                  <a:gd name="T76" fmla="*/ 419 w 431"/>
                  <a:gd name="T77" fmla="*/ 611 h 850"/>
                  <a:gd name="T78" fmla="*/ 430 w 431"/>
                  <a:gd name="T79" fmla="*/ 577 h 850"/>
                  <a:gd name="T80" fmla="*/ 430 w 431"/>
                  <a:gd name="T81" fmla="*/ 543 h 850"/>
                  <a:gd name="T82" fmla="*/ 430 w 431"/>
                  <a:gd name="T83" fmla="*/ 509 h 850"/>
                  <a:gd name="T84" fmla="*/ 430 w 431"/>
                  <a:gd name="T85" fmla="*/ 475 h 850"/>
                  <a:gd name="T86" fmla="*/ 430 w 431"/>
                  <a:gd name="T87" fmla="*/ 441 h 850"/>
                  <a:gd name="T88" fmla="*/ 419 w 431"/>
                  <a:gd name="T89" fmla="*/ 407 h 850"/>
                  <a:gd name="T90" fmla="*/ 407 w 431"/>
                  <a:gd name="T91" fmla="*/ 373 h 850"/>
                  <a:gd name="T92" fmla="*/ 407 w 431"/>
                  <a:gd name="T93" fmla="*/ 339 h 850"/>
                  <a:gd name="T94" fmla="*/ 396 w 431"/>
                  <a:gd name="T95" fmla="*/ 305 h 850"/>
                  <a:gd name="T96" fmla="*/ 385 w 431"/>
                  <a:gd name="T97" fmla="*/ 271 h 850"/>
                  <a:gd name="T98" fmla="*/ 373 w 431"/>
                  <a:gd name="T99" fmla="*/ 238 h 850"/>
                  <a:gd name="T100" fmla="*/ 351 w 431"/>
                  <a:gd name="T101" fmla="*/ 204 h 850"/>
                  <a:gd name="T102" fmla="*/ 340 w 431"/>
                  <a:gd name="T103" fmla="*/ 170 h 850"/>
                  <a:gd name="T104" fmla="*/ 317 w 431"/>
                  <a:gd name="T105" fmla="*/ 136 h 850"/>
                  <a:gd name="T106" fmla="*/ 283 w 431"/>
                  <a:gd name="T107" fmla="*/ 102 h 850"/>
                  <a:gd name="T108" fmla="*/ 260 w 431"/>
                  <a:gd name="T109" fmla="*/ 68 h 850"/>
                  <a:gd name="T110" fmla="*/ 238 w 431"/>
                  <a:gd name="T111" fmla="*/ 34 h 850"/>
                  <a:gd name="T112" fmla="*/ 215 w 431"/>
                  <a:gd name="T113" fmla="*/ 0 h 850"/>
                  <a:gd name="T114" fmla="*/ 181 w 431"/>
                  <a:gd name="T115" fmla="*/ 0 h 850"/>
                  <a:gd name="T116" fmla="*/ 147 w 431"/>
                  <a:gd name="T117" fmla="*/ 0 h 850"/>
                  <a:gd name="T118" fmla="*/ 113 w 431"/>
                  <a:gd name="T119" fmla="*/ 0 h 850"/>
                  <a:gd name="T120" fmla="*/ 79 w 431"/>
                  <a:gd name="T121" fmla="*/ 0 h 850"/>
                  <a:gd name="T122" fmla="*/ 2 w 431"/>
                  <a:gd name="T123" fmla="*/ 21 h 850"/>
                  <a:gd name="T124" fmla="*/ 2 w 431"/>
                  <a:gd name="T125" fmla="*/ 21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1" h="850">
                    <a:moveTo>
                      <a:pt x="2" y="21"/>
                    </a:moveTo>
                    <a:lnTo>
                      <a:pt x="0" y="68"/>
                    </a:lnTo>
                    <a:lnTo>
                      <a:pt x="34" y="102"/>
                    </a:lnTo>
                    <a:lnTo>
                      <a:pt x="34" y="136"/>
                    </a:lnTo>
                    <a:lnTo>
                      <a:pt x="56" y="170"/>
                    </a:lnTo>
                    <a:lnTo>
                      <a:pt x="68" y="204"/>
                    </a:lnTo>
                    <a:lnTo>
                      <a:pt x="90" y="238"/>
                    </a:lnTo>
                    <a:lnTo>
                      <a:pt x="102" y="271"/>
                    </a:lnTo>
                    <a:lnTo>
                      <a:pt x="113" y="305"/>
                    </a:lnTo>
                    <a:lnTo>
                      <a:pt x="124" y="339"/>
                    </a:lnTo>
                    <a:lnTo>
                      <a:pt x="136" y="373"/>
                    </a:lnTo>
                    <a:lnTo>
                      <a:pt x="147" y="407"/>
                    </a:lnTo>
                    <a:lnTo>
                      <a:pt x="147" y="441"/>
                    </a:lnTo>
                    <a:lnTo>
                      <a:pt x="147" y="475"/>
                    </a:lnTo>
                    <a:lnTo>
                      <a:pt x="147" y="509"/>
                    </a:lnTo>
                    <a:lnTo>
                      <a:pt x="147" y="543"/>
                    </a:lnTo>
                    <a:lnTo>
                      <a:pt x="147" y="577"/>
                    </a:lnTo>
                    <a:lnTo>
                      <a:pt x="147" y="611"/>
                    </a:lnTo>
                    <a:lnTo>
                      <a:pt x="147" y="645"/>
                    </a:lnTo>
                    <a:lnTo>
                      <a:pt x="147" y="679"/>
                    </a:lnTo>
                    <a:lnTo>
                      <a:pt x="147" y="713"/>
                    </a:lnTo>
                    <a:lnTo>
                      <a:pt x="136" y="747"/>
                    </a:lnTo>
                    <a:lnTo>
                      <a:pt x="136" y="781"/>
                    </a:lnTo>
                    <a:lnTo>
                      <a:pt x="124" y="815"/>
                    </a:lnTo>
                    <a:lnTo>
                      <a:pt x="124" y="849"/>
                    </a:lnTo>
                    <a:lnTo>
                      <a:pt x="158" y="849"/>
                    </a:lnTo>
                    <a:lnTo>
                      <a:pt x="192" y="849"/>
                    </a:lnTo>
                    <a:lnTo>
                      <a:pt x="226" y="849"/>
                    </a:lnTo>
                    <a:lnTo>
                      <a:pt x="260" y="849"/>
                    </a:lnTo>
                    <a:lnTo>
                      <a:pt x="294" y="849"/>
                    </a:lnTo>
                    <a:lnTo>
                      <a:pt x="328" y="849"/>
                    </a:lnTo>
                    <a:lnTo>
                      <a:pt x="362" y="849"/>
                    </a:lnTo>
                    <a:lnTo>
                      <a:pt x="373" y="815"/>
                    </a:lnTo>
                    <a:lnTo>
                      <a:pt x="396" y="781"/>
                    </a:lnTo>
                    <a:lnTo>
                      <a:pt x="396" y="747"/>
                    </a:lnTo>
                    <a:lnTo>
                      <a:pt x="396" y="713"/>
                    </a:lnTo>
                    <a:lnTo>
                      <a:pt x="396" y="679"/>
                    </a:lnTo>
                    <a:lnTo>
                      <a:pt x="407" y="645"/>
                    </a:lnTo>
                    <a:lnTo>
                      <a:pt x="419" y="611"/>
                    </a:lnTo>
                    <a:lnTo>
                      <a:pt x="430" y="577"/>
                    </a:lnTo>
                    <a:lnTo>
                      <a:pt x="430" y="543"/>
                    </a:lnTo>
                    <a:lnTo>
                      <a:pt x="430" y="509"/>
                    </a:lnTo>
                    <a:lnTo>
                      <a:pt x="430" y="475"/>
                    </a:lnTo>
                    <a:lnTo>
                      <a:pt x="430" y="441"/>
                    </a:lnTo>
                    <a:lnTo>
                      <a:pt x="419" y="407"/>
                    </a:lnTo>
                    <a:lnTo>
                      <a:pt x="407" y="373"/>
                    </a:lnTo>
                    <a:lnTo>
                      <a:pt x="407" y="339"/>
                    </a:lnTo>
                    <a:lnTo>
                      <a:pt x="396" y="305"/>
                    </a:lnTo>
                    <a:lnTo>
                      <a:pt x="385" y="271"/>
                    </a:lnTo>
                    <a:lnTo>
                      <a:pt x="373" y="238"/>
                    </a:lnTo>
                    <a:lnTo>
                      <a:pt x="351" y="204"/>
                    </a:lnTo>
                    <a:lnTo>
                      <a:pt x="340" y="170"/>
                    </a:lnTo>
                    <a:lnTo>
                      <a:pt x="317" y="136"/>
                    </a:lnTo>
                    <a:lnTo>
                      <a:pt x="283" y="102"/>
                    </a:lnTo>
                    <a:lnTo>
                      <a:pt x="260" y="68"/>
                    </a:lnTo>
                    <a:lnTo>
                      <a:pt x="238" y="34"/>
                    </a:lnTo>
                    <a:lnTo>
                      <a:pt x="215" y="0"/>
                    </a:lnTo>
                    <a:lnTo>
                      <a:pt x="181" y="0"/>
                    </a:lnTo>
                    <a:lnTo>
                      <a:pt x="147" y="0"/>
                    </a:lnTo>
                    <a:lnTo>
                      <a:pt x="113" y="0"/>
                    </a:lnTo>
                    <a:lnTo>
                      <a:pt x="79" y="0"/>
                    </a:lnTo>
                    <a:lnTo>
                      <a:pt x="2" y="21"/>
                    </a:lnTo>
                    <a:lnTo>
                      <a:pt x="2" y="21"/>
                    </a:lnTo>
                  </a:path>
                </a:pathLst>
              </a:custGeom>
              <a:solidFill>
                <a:schemeClr val="bg1"/>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960" name="Freeform 24"/>
              <p:cNvSpPr>
                <a:spLocks/>
              </p:cNvSpPr>
              <p:nvPr/>
            </p:nvSpPr>
            <p:spPr bwMode="auto">
              <a:xfrm>
                <a:off x="4030" y="1563"/>
                <a:ext cx="431" cy="850"/>
              </a:xfrm>
              <a:custGeom>
                <a:avLst/>
                <a:gdLst>
                  <a:gd name="T0" fmla="*/ 2 w 431"/>
                  <a:gd name="T1" fmla="*/ 21 h 850"/>
                  <a:gd name="T2" fmla="*/ 0 w 431"/>
                  <a:gd name="T3" fmla="*/ 68 h 850"/>
                  <a:gd name="T4" fmla="*/ 34 w 431"/>
                  <a:gd name="T5" fmla="*/ 102 h 850"/>
                  <a:gd name="T6" fmla="*/ 34 w 431"/>
                  <a:gd name="T7" fmla="*/ 136 h 850"/>
                  <a:gd name="T8" fmla="*/ 56 w 431"/>
                  <a:gd name="T9" fmla="*/ 170 h 850"/>
                  <a:gd name="T10" fmla="*/ 68 w 431"/>
                  <a:gd name="T11" fmla="*/ 204 h 850"/>
                  <a:gd name="T12" fmla="*/ 90 w 431"/>
                  <a:gd name="T13" fmla="*/ 238 h 850"/>
                  <a:gd name="T14" fmla="*/ 102 w 431"/>
                  <a:gd name="T15" fmla="*/ 271 h 850"/>
                  <a:gd name="T16" fmla="*/ 113 w 431"/>
                  <a:gd name="T17" fmla="*/ 305 h 850"/>
                  <a:gd name="T18" fmla="*/ 124 w 431"/>
                  <a:gd name="T19" fmla="*/ 339 h 850"/>
                  <a:gd name="T20" fmla="*/ 136 w 431"/>
                  <a:gd name="T21" fmla="*/ 373 h 850"/>
                  <a:gd name="T22" fmla="*/ 147 w 431"/>
                  <a:gd name="T23" fmla="*/ 407 h 850"/>
                  <a:gd name="T24" fmla="*/ 147 w 431"/>
                  <a:gd name="T25" fmla="*/ 441 h 850"/>
                  <a:gd name="T26" fmla="*/ 147 w 431"/>
                  <a:gd name="T27" fmla="*/ 475 h 850"/>
                  <a:gd name="T28" fmla="*/ 147 w 431"/>
                  <a:gd name="T29" fmla="*/ 509 h 850"/>
                  <a:gd name="T30" fmla="*/ 147 w 431"/>
                  <a:gd name="T31" fmla="*/ 543 h 850"/>
                  <a:gd name="T32" fmla="*/ 147 w 431"/>
                  <a:gd name="T33" fmla="*/ 577 h 850"/>
                  <a:gd name="T34" fmla="*/ 147 w 431"/>
                  <a:gd name="T35" fmla="*/ 611 h 850"/>
                  <a:gd name="T36" fmla="*/ 147 w 431"/>
                  <a:gd name="T37" fmla="*/ 645 h 850"/>
                  <a:gd name="T38" fmla="*/ 147 w 431"/>
                  <a:gd name="T39" fmla="*/ 679 h 850"/>
                  <a:gd name="T40" fmla="*/ 147 w 431"/>
                  <a:gd name="T41" fmla="*/ 713 h 850"/>
                  <a:gd name="T42" fmla="*/ 136 w 431"/>
                  <a:gd name="T43" fmla="*/ 747 h 850"/>
                  <a:gd name="T44" fmla="*/ 136 w 431"/>
                  <a:gd name="T45" fmla="*/ 781 h 850"/>
                  <a:gd name="T46" fmla="*/ 124 w 431"/>
                  <a:gd name="T47" fmla="*/ 815 h 850"/>
                  <a:gd name="T48" fmla="*/ 124 w 431"/>
                  <a:gd name="T49" fmla="*/ 849 h 850"/>
                  <a:gd name="T50" fmla="*/ 158 w 431"/>
                  <a:gd name="T51" fmla="*/ 849 h 850"/>
                  <a:gd name="T52" fmla="*/ 192 w 431"/>
                  <a:gd name="T53" fmla="*/ 849 h 850"/>
                  <a:gd name="T54" fmla="*/ 226 w 431"/>
                  <a:gd name="T55" fmla="*/ 849 h 850"/>
                  <a:gd name="T56" fmla="*/ 260 w 431"/>
                  <a:gd name="T57" fmla="*/ 849 h 850"/>
                  <a:gd name="T58" fmla="*/ 294 w 431"/>
                  <a:gd name="T59" fmla="*/ 849 h 850"/>
                  <a:gd name="T60" fmla="*/ 328 w 431"/>
                  <a:gd name="T61" fmla="*/ 849 h 850"/>
                  <a:gd name="T62" fmla="*/ 362 w 431"/>
                  <a:gd name="T63" fmla="*/ 849 h 850"/>
                  <a:gd name="T64" fmla="*/ 373 w 431"/>
                  <a:gd name="T65" fmla="*/ 815 h 850"/>
                  <a:gd name="T66" fmla="*/ 396 w 431"/>
                  <a:gd name="T67" fmla="*/ 781 h 850"/>
                  <a:gd name="T68" fmla="*/ 396 w 431"/>
                  <a:gd name="T69" fmla="*/ 747 h 850"/>
                  <a:gd name="T70" fmla="*/ 396 w 431"/>
                  <a:gd name="T71" fmla="*/ 713 h 850"/>
                  <a:gd name="T72" fmla="*/ 396 w 431"/>
                  <a:gd name="T73" fmla="*/ 679 h 850"/>
                  <a:gd name="T74" fmla="*/ 407 w 431"/>
                  <a:gd name="T75" fmla="*/ 645 h 850"/>
                  <a:gd name="T76" fmla="*/ 419 w 431"/>
                  <a:gd name="T77" fmla="*/ 611 h 850"/>
                  <a:gd name="T78" fmla="*/ 430 w 431"/>
                  <a:gd name="T79" fmla="*/ 577 h 850"/>
                  <a:gd name="T80" fmla="*/ 430 w 431"/>
                  <a:gd name="T81" fmla="*/ 543 h 850"/>
                  <a:gd name="T82" fmla="*/ 430 w 431"/>
                  <a:gd name="T83" fmla="*/ 509 h 850"/>
                  <a:gd name="T84" fmla="*/ 430 w 431"/>
                  <a:gd name="T85" fmla="*/ 475 h 850"/>
                  <a:gd name="T86" fmla="*/ 430 w 431"/>
                  <a:gd name="T87" fmla="*/ 441 h 850"/>
                  <a:gd name="T88" fmla="*/ 419 w 431"/>
                  <a:gd name="T89" fmla="*/ 407 h 850"/>
                  <a:gd name="T90" fmla="*/ 407 w 431"/>
                  <a:gd name="T91" fmla="*/ 373 h 850"/>
                  <a:gd name="T92" fmla="*/ 407 w 431"/>
                  <a:gd name="T93" fmla="*/ 339 h 850"/>
                  <a:gd name="T94" fmla="*/ 396 w 431"/>
                  <a:gd name="T95" fmla="*/ 305 h 850"/>
                  <a:gd name="T96" fmla="*/ 385 w 431"/>
                  <a:gd name="T97" fmla="*/ 271 h 850"/>
                  <a:gd name="T98" fmla="*/ 373 w 431"/>
                  <a:gd name="T99" fmla="*/ 238 h 850"/>
                  <a:gd name="T100" fmla="*/ 351 w 431"/>
                  <a:gd name="T101" fmla="*/ 204 h 850"/>
                  <a:gd name="T102" fmla="*/ 340 w 431"/>
                  <a:gd name="T103" fmla="*/ 170 h 850"/>
                  <a:gd name="T104" fmla="*/ 317 w 431"/>
                  <a:gd name="T105" fmla="*/ 136 h 850"/>
                  <a:gd name="T106" fmla="*/ 283 w 431"/>
                  <a:gd name="T107" fmla="*/ 102 h 850"/>
                  <a:gd name="T108" fmla="*/ 260 w 431"/>
                  <a:gd name="T109" fmla="*/ 68 h 850"/>
                  <a:gd name="T110" fmla="*/ 238 w 431"/>
                  <a:gd name="T111" fmla="*/ 34 h 850"/>
                  <a:gd name="T112" fmla="*/ 215 w 431"/>
                  <a:gd name="T113" fmla="*/ 0 h 850"/>
                  <a:gd name="T114" fmla="*/ 181 w 431"/>
                  <a:gd name="T115" fmla="*/ 0 h 850"/>
                  <a:gd name="T116" fmla="*/ 147 w 431"/>
                  <a:gd name="T117" fmla="*/ 0 h 850"/>
                  <a:gd name="T118" fmla="*/ 113 w 431"/>
                  <a:gd name="T119" fmla="*/ 0 h 850"/>
                  <a:gd name="T120" fmla="*/ 79 w 431"/>
                  <a:gd name="T121" fmla="*/ 0 h 850"/>
                  <a:gd name="T122" fmla="*/ 2 w 431"/>
                  <a:gd name="T123" fmla="*/ 21 h 850"/>
                  <a:gd name="T124" fmla="*/ 2 w 431"/>
                  <a:gd name="T125" fmla="*/ 21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1" h="850">
                    <a:moveTo>
                      <a:pt x="2" y="21"/>
                    </a:moveTo>
                    <a:lnTo>
                      <a:pt x="0" y="68"/>
                    </a:lnTo>
                    <a:lnTo>
                      <a:pt x="34" y="102"/>
                    </a:lnTo>
                    <a:lnTo>
                      <a:pt x="34" y="136"/>
                    </a:lnTo>
                    <a:lnTo>
                      <a:pt x="56" y="170"/>
                    </a:lnTo>
                    <a:lnTo>
                      <a:pt x="68" y="204"/>
                    </a:lnTo>
                    <a:lnTo>
                      <a:pt x="90" y="238"/>
                    </a:lnTo>
                    <a:lnTo>
                      <a:pt x="102" y="271"/>
                    </a:lnTo>
                    <a:lnTo>
                      <a:pt x="113" y="305"/>
                    </a:lnTo>
                    <a:lnTo>
                      <a:pt x="124" y="339"/>
                    </a:lnTo>
                    <a:lnTo>
                      <a:pt x="136" y="373"/>
                    </a:lnTo>
                    <a:lnTo>
                      <a:pt x="147" y="407"/>
                    </a:lnTo>
                    <a:lnTo>
                      <a:pt x="147" y="441"/>
                    </a:lnTo>
                    <a:lnTo>
                      <a:pt x="147" y="475"/>
                    </a:lnTo>
                    <a:lnTo>
                      <a:pt x="147" y="509"/>
                    </a:lnTo>
                    <a:lnTo>
                      <a:pt x="147" y="543"/>
                    </a:lnTo>
                    <a:lnTo>
                      <a:pt x="147" y="577"/>
                    </a:lnTo>
                    <a:lnTo>
                      <a:pt x="147" y="611"/>
                    </a:lnTo>
                    <a:lnTo>
                      <a:pt x="147" y="645"/>
                    </a:lnTo>
                    <a:lnTo>
                      <a:pt x="147" y="679"/>
                    </a:lnTo>
                    <a:lnTo>
                      <a:pt x="147" y="713"/>
                    </a:lnTo>
                    <a:lnTo>
                      <a:pt x="136" y="747"/>
                    </a:lnTo>
                    <a:lnTo>
                      <a:pt x="136" y="781"/>
                    </a:lnTo>
                    <a:lnTo>
                      <a:pt x="124" y="815"/>
                    </a:lnTo>
                    <a:lnTo>
                      <a:pt x="124" y="849"/>
                    </a:lnTo>
                    <a:lnTo>
                      <a:pt x="158" y="849"/>
                    </a:lnTo>
                    <a:lnTo>
                      <a:pt x="192" y="849"/>
                    </a:lnTo>
                    <a:lnTo>
                      <a:pt x="226" y="849"/>
                    </a:lnTo>
                    <a:lnTo>
                      <a:pt x="260" y="849"/>
                    </a:lnTo>
                    <a:lnTo>
                      <a:pt x="294" y="849"/>
                    </a:lnTo>
                    <a:lnTo>
                      <a:pt x="328" y="849"/>
                    </a:lnTo>
                    <a:lnTo>
                      <a:pt x="362" y="849"/>
                    </a:lnTo>
                    <a:lnTo>
                      <a:pt x="373" y="815"/>
                    </a:lnTo>
                    <a:lnTo>
                      <a:pt x="396" y="781"/>
                    </a:lnTo>
                    <a:lnTo>
                      <a:pt x="396" y="747"/>
                    </a:lnTo>
                    <a:lnTo>
                      <a:pt x="396" y="713"/>
                    </a:lnTo>
                    <a:lnTo>
                      <a:pt x="396" y="679"/>
                    </a:lnTo>
                    <a:lnTo>
                      <a:pt x="407" y="645"/>
                    </a:lnTo>
                    <a:lnTo>
                      <a:pt x="419" y="611"/>
                    </a:lnTo>
                    <a:lnTo>
                      <a:pt x="430" y="577"/>
                    </a:lnTo>
                    <a:lnTo>
                      <a:pt x="430" y="543"/>
                    </a:lnTo>
                    <a:lnTo>
                      <a:pt x="430" y="509"/>
                    </a:lnTo>
                    <a:lnTo>
                      <a:pt x="430" y="475"/>
                    </a:lnTo>
                    <a:lnTo>
                      <a:pt x="430" y="441"/>
                    </a:lnTo>
                    <a:lnTo>
                      <a:pt x="419" y="407"/>
                    </a:lnTo>
                    <a:lnTo>
                      <a:pt x="407" y="373"/>
                    </a:lnTo>
                    <a:lnTo>
                      <a:pt x="407" y="339"/>
                    </a:lnTo>
                    <a:lnTo>
                      <a:pt x="396" y="305"/>
                    </a:lnTo>
                    <a:lnTo>
                      <a:pt x="385" y="271"/>
                    </a:lnTo>
                    <a:lnTo>
                      <a:pt x="373" y="238"/>
                    </a:lnTo>
                    <a:lnTo>
                      <a:pt x="351" y="204"/>
                    </a:lnTo>
                    <a:lnTo>
                      <a:pt x="340" y="170"/>
                    </a:lnTo>
                    <a:lnTo>
                      <a:pt x="317" y="136"/>
                    </a:lnTo>
                    <a:lnTo>
                      <a:pt x="283" y="102"/>
                    </a:lnTo>
                    <a:lnTo>
                      <a:pt x="260" y="68"/>
                    </a:lnTo>
                    <a:lnTo>
                      <a:pt x="238" y="34"/>
                    </a:lnTo>
                    <a:lnTo>
                      <a:pt x="215" y="0"/>
                    </a:lnTo>
                    <a:lnTo>
                      <a:pt x="181" y="0"/>
                    </a:lnTo>
                    <a:lnTo>
                      <a:pt x="147" y="0"/>
                    </a:lnTo>
                    <a:lnTo>
                      <a:pt x="113" y="0"/>
                    </a:lnTo>
                    <a:lnTo>
                      <a:pt x="79" y="0"/>
                    </a:lnTo>
                    <a:lnTo>
                      <a:pt x="2" y="21"/>
                    </a:lnTo>
                    <a:lnTo>
                      <a:pt x="2" y="21"/>
                    </a:lnTo>
                  </a:path>
                </a:pathLst>
              </a:custGeom>
              <a:solidFill>
                <a:schemeClr val="bg1"/>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965" name="Rectangle 29"/>
              <p:cNvSpPr>
                <a:spLocks noChangeArrowheads="1"/>
              </p:cNvSpPr>
              <p:nvPr/>
            </p:nvSpPr>
            <p:spPr bwMode="auto">
              <a:xfrm>
                <a:off x="662" y="1449"/>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endParaRPr lang="en-GB">
                  <a:solidFill>
                    <a:schemeClr val="hlink"/>
                  </a:solidFill>
                </a:endParaRPr>
              </a:p>
            </p:txBody>
          </p:sp>
          <p:sp>
            <p:nvSpPr>
              <p:cNvPr id="39966" name="Rectangle 30"/>
              <p:cNvSpPr>
                <a:spLocks noChangeArrowheads="1"/>
              </p:cNvSpPr>
              <p:nvPr/>
            </p:nvSpPr>
            <p:spPr bwMode="auto">
              <a:xfrm>
                <a:off x="1046" y="1449"/>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endParaRPr lang="en-GB">
                  <a:solidFill>
                    <a:schemeClr val="hlink"/>
                  </a:solidFill>
                </a:endParaRPr>
              </a:p>
            </p:txBody>
          </p:sp>
          <p:sp>
            <p:nvSpPr>
              <p:cNvPr id="39967" name="Rectangle 31"/>
              <p:cNvSpPr>
                <a:spLocks noChangeArrowheads="1"/>
              </p:cNvSpPr>
              <p:nvPr/>
            </p:nvSpPr>
            <p:spPr bwMode="auto">
              <a:xfrm>
                <a:off x="1382" y="1353"/>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endParaRPr lang="en-GB">
                  <a:solidFill>
                    <a:schemeClr val="hlink"/>
                  </a:solidFill>
                </a:endParaRPr>
              </a:p>
            </p:txBody>
          </p:sp>
          <p:sp>
            <p:nvSpPr>
              <p:cNvPr id="39954" name="Freeform 18"/>
              <p:cNvSpPr>
                <a:spLocks/>
              </p:cNvSpPr>
              <p:nvPr/>
            </p:nvSpPr>
            <p:spPr bwMode="auto">
              <a:xfrm>
                <a:off x="2570" y="2453"/>
                <a:ext cx="2659" cy="397"/>
              </a:xfrm>
              <a:custGeom>
                <a:avLst/>
                <a:gdLst>
                  <a:gd name="T0" fmla="*/ 115 w 2659"/>
                  <a:gd name="T1" fmla="*/ 22 h 397"/>
                  <a:gd name="T2" fmla="*/ 230 w 2659"/>
                  <a:gd name="T3" fmla="*/ 22 h 397"/>
                  <a:gd name="T4" fmla="*/ 344 w 2659"/>
                  <a:gd name="T5" fmla="*/ 22 h 397"/>
                  <a:gd name="T6" fmla="*/ 459 w 2659"/>
                  <a:gd name="T7" fmla="*/ 22 h 397"/>
                  <a:gd name="T8" fmla="*/ 574 w 2659"/>
                  <a:gd name="T9" fmla="*/ 11 h 397"/>
                  <a:gd name="T10" fmla="*/ 689 w 2659"/>
                  <a:gd name="T11" fmla="*/ 11 h 397"/>
                  <a:gd name="T12" fmla="*/ 804 w 2659"/>
                  <a:gd name="T13" fmla="*/ 0 h 397"/>
                  <a:gd name="T14" fmla="*/ 919 w 2659"/>
                  <a:gd name="T15" fmla="*/ 0 h 397"/>
                  <a:gd name="T16" fmla="*/ 1034 w 2659"/>
                  <a:gd name="T17" fmla="*/ 22 h 397"/>
                  <a:gd name="T18" fmla="*/ 1150 w 2659"/>
                  <a:gd name="T19" fmla="*/ 33 h 397"/>
                  <a:gd name="T20" fmla="*/ 1265 w 2659"/>
                  <a:gd name="T21" fmla="*/ 33 h 397"/>
                  <a:gd name="T22" fmla="*/ 1380 w 2659"/>
                  <a:gd name="T23" fmla="*/ 33 h 397"/>
                  <a:gd name="T24" fmla="*/ 1495 w 2659"/>
                  <a:gd name="T25" fmla="*/ 45 h 397"/>
                  <a:gd name="T26" fmla="*/ 1610 w 2659"/>
                  <a:gd name="T27" fmla="*/ 45 h 397"/>
                  <a:gd name="T28" fmla="*/ 1724 w 2659"/>
                  <a:gd name="T29" fmla="*/ 22 h 397"/>
                  <a:gd name="T30" fmla="*/ 1839 w 2659"/>
                  <a:gd name="T31" fmla="*/ 22 h 397"/>
                  <a:gd name="T32" fmla="*/ 1954 w 2659"/>
                  <a:gd name="T33" fmla="*/ 22 h 397"/>
                  <a:gd name="T34" fmla="*/ 2069 w 2659"/>
                  <a:gd name="T35" fmla="*/ 22 h 397"/>
                  <a:gd name="T36" fmla="*/ 2185 w 2659"/>
                  <a:gd name="T37" fmla="*/ 22 h 397"/>
                  <a:gd name="T38" fmla="*/ 2300 w 2659"/>
                  <a:gd name="T39" fmla="*/ 33 h 397"/>
                  <a:gd name="T40" fmla="*/ 2415 w 2659"/>
                  <a:gd name="T41" fmla="*/ 33 h 397"/>
                  <a:gd name="T42" fmla="*/ 2530 w 2659"/>
                  <a:gd name="T43" fmla="*/ 45 h 397"/>
                  <a:gd name="T44" fmla="*/ 2619 w 2659"/>
                  <a:gd name="T45" fmla="*/ 147 h 397"/>
                  <a:gd name="T46" fmla="*/ 2645 w 2659"/>
                  <a:gd name="T47" fmla="*/ 249 h 397"/>
                  <a:gd name="T48" fmla="*/ 2658 w 2659"/>
                  <a:gd name="T49" fmla="*/ 350 h 397"/>
                  <a:gd name="T50" fmla="*/ 2542 w 2659"/>
                  <a:gd name="T51" fmla="*/ 384 h 397"/>
                  <a:gd name="T52" fmla="*/ 2427 w 2659"/>
                  <a:gd name="T53" fmla="*/ 373 h 397"/>
                  <a:gd name="T54" fmla="*/ 2312 w 2659"/>
                  <a:gd name="T55" fmla="*/ 362 h 397"/>
                  <a:gd name="T56" fmla="*/ 2197 w 2659"/>
                  <a:gd name="T57" fmla="*/ 362 h 397"/>
                  <a:gd name="T58" fmla="*/ 2083 w 2659"/>
                  <a:gd name="T59" fmla="*/ 384 h 397"/>
                  <a:gd name="T60" fmla="*/ 1968 w 2659"/>
                  <a:gd name="T61" fmla="*/ 384 h 397"/>
                  <a:gd name="T62" fmla="*/ 1853 w 2659"/>
                  <a:gd name="T63" fmla="*/ 384 h 397"/>
                  <a:gd name="T64" fmla="*/ 1738 w 2659"/>
                  <a:gd name="T65" fmla="*/ 384 h 397"/>
                  <a:gd name="T66" fmla="*/ 1623 w 2659"/>
                  <a:gd name="T67" fmla="*/ 384 h 397"/>
                  <a:gd name="T68" fmla="*/ 1507 w 2659"/>
                  <a:gd name="T69" fmla="*/ 373 h 397"/>
                  <a:gd name="T70" fmla="*/ 1392 w 2659"/>
                  <a:gd name="T71" fmla="*/ 384 h 397"/>
                  <a:gd name="T72" fmla="*/ 1277 w 2659"/>
                  <a:gd name="T73" fmla="*/ 396 h 397"/>
                  <a:gd name="T74" fmla="*/ 1162 w 2659"/>
                  <a:gd name="T75" fmla="*/ 396 h 397"/>
                  <a:gd name="T76" fmla="*/ 1047 w 2659"/>
                  <a:gd name="T77" fmla="*/ 396 h 397"/>
                  <a:gd name="T78" fmla="*/ 932 w 2659"/>
                  <a:gd name="T79" fmla="*/ 396 h 397"/>
                  <a:gd name="T80" fmla="*/ 804 w 2659"/>
                  <a:gd name="T81" fmla="*/ 396 h 397"/>
                  <a:gd name="T82" fmla="*/ 689 w 2659"/>
                  <a:gd name="T83" fmla="*/ 396 h 397"/>
                  <a:gd name="T84" fmla="*/ 574 w 2659"/>
                  <a:gd name="T85" fmla="*/ 396 h 397"/>
                  <a:gd name="T86" fmla="*/ 459 w 2659"/>
                  <a:gd name="T87" fmla="*/ 396 h 397"/>
                  <a:gd name="T88" fmla="*/ 344 w 2659"/>
                  <a:gd name="T89" fmla="*/ 396 h 397"/>
                  <a:gd name="T90" fmla="*/ 230 w 2659"/>
                  <a:gd name="T91" fmla="*/ 396 h 397"/>
                  <a:gd name="T92" fmla="*/ 115 w 2659"/>
                  <a:gd name="T93" fmla="*/ 384 h 397"/>
                  <a:gd name="T94" fmla="*/ 0 w 2659"/>
                  <a:gd name="T95" fmla="*/ 384 h 397"/>
                  <a:gd name="T96" fmla="*/ 63 w 2659"/>
                  <a:gd name="T97" fmla="*/ 294 h 397"/>
                  <a:gd name="T98" fmla="*/ 50 w 2659"/>
                  <a:gd name="T99" fmla="*/ 192 h 397"/>
                  <a:gd name="T100" fmla="*/ 50 w 2659"/>
                  <a:gd name="T101" fmla="*/ 9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59" h="397">
                    <a:moveTo>
                      <a:pt x="20" y="23"/>
                    </a:moveTo>
                    <a:lnTo>
                      <a:pt x="76" y="22"/>
                    </a:lnTo>
                    <a:lnTo>
                      <a:pt x="115" y="22"/>
                    </a:lnTo>
                    <a:lnTo>
                      <a:pt x="153" y="22"/>
                    </a:lnTo>
                    <a:lnTo>
                      <a:pt x="191" y="22"/>
                    </a:lnTo>
                    <a:lnTo>
                      <a:pt x="230" y="22"/>
                    </a:lnTo>
                    <a:lnTo>
                      <a:pt x="268" y="22"/>
                    </a:lnTo>
                    <a:lnTo>
                      <a:pt x="306" y="22"/>
                    </a:lnTo>
                    <a:lnTo>
                      <a:pt x="344" y="22"/>
                    </a:lnTo>
                    <a:lnTo>
                      <a:pt x="382" y="22"/>
                    </a:lnTo>
                    <a:lnTo>
                      <a:pt x="420" y="22"/>
                    </a:lnTo>
                    <a:lnTo>
                      <a:pt x="459" y="22"/>
                    </a:lnTo>
                    <a:lnTo>
                      <a:pt x="497" y="11"/>
                    </a:lnTo>
                    <a:lnTo>
                      <a:pt x="536" y="11"/>
                    </a:lnTo>
                    <a:lnTo>
                      <a:pt x="574" y="11"/>
                    </a:lnTo>
                    <a:lnTo>
                      <a:pt x="612" y="11"/>
                    </a:lnTo>
                    <a:lnTo>
                      <a:pt x="651" y="11"/>
                    </a:lnTo>
                    <a:lnTo>
                      <a:pt x="689" y="11"/>
                    </a:lnTo>
                    <a:lnTo>
                      <a:pt x="727" y="11"/>
                    </a:lnTo>
                    <a:lnTo>
                      <a:pt x="766" y="0"/>
                    </a:lnTo>
                    <a:lnTo>
                      <a:pt x="804" y="0"/>
                    </a:lnTo>
                    <a:lnTo>
                      <a:pt x="843" y="0"/>
                    </a:lnTo>
                    <a:lnTo>
                      <a:pt x="881" y="0"/>
                    </a:lnTo>
                    <a:lnTo>
                      <a:pt x="919" y="0"/>
                    </a:lnTo>
                    <a:lnTo>
                      <a:pt x="958" y="11"/>
                    </a:lnTo>
                    <a:lnTo>
                      <a:pt x="996" y="22"/>
                    </a:lnTo>
                    <a:lnTo>
                      <a:pt x="1034" y="22"/>
                    </a:lnTo>
                    <a:lnTo>
                      <a:pt x="1073" y="33"/>
                    </a:lnTo>
                    <a:lnTo>
                      <a:pt x="1111" y="33"/>
                    </a:lnTo>
                    <a:lnTo>
                      <a:pt x="1150" y="33"/>
                    </a:lnTo>
                    <a:lnTo>
                      <a:pt x="1188" y="33"/>
                    </a:lnTo>
                    <a:lnTo>
                      <a:pt x="1226" y="33"/>
                    </a:lnTo>
                    <a:lnTo>
                      <a:pt x="1265" y="33"/>
                    </a:lnTo>
                    <a:lnTo>
                      <a:pt x="1303" y="33"/>
                    </a:lnTo>
                    <a:lnTo>
                      <a:pt x="1341" y="33"/>
                    </a:lnTo>
                    <a:lnTo>
                      <a:pt x="1380" y="33"/>
                    </a:lnTo>
                    <a:lnTo>
                      <a:pt x="1418" y="33"/>
                    </a:lnTo>
                    <a:lnTo>
                      <a:pt x="1457" y="33"/>
                    </a:lnTo>
                    <a:lnTo>
                      <a:pt x="1495" y="45"/>
                    </a:lnTo>
                    <a:lnTo>
                      <a:pt x="1533" y="45"/>
                    </a:lnTo>
                    <a:lnTo>
                      <a:pt x="1572" y="45"/>
                    </a:lnTo>
                    <a:lnTo>
                      <a:pt x="1610" y="45"/>
                    </a:lnTo>
                    <a:lnTo>
                      <a:pt x="1648" y="33"/>
                    </a:lnTo>
                    <a:lnTo>
                      <a:pt x="1686" y="22"/>
                    </a:lnTo>
                    <a:lnTo>
                      <a:pt x="1724" y="22"/>
                    </a:lnTo>
                    <a:lnTo>
                      <a:pt x="1762" y="22"/>
                    </a:lnTo>
                    <a:lnTo>
                      <a:pt x="1801" y="22"/>
                    </a:lnTo>
                    <a:lnTo>
                      <a:pt x="1839" y="22"/>
                    </a:lnTo>
                    <a:lnTo>
                      <a:pt x="1878" y="22"/>
                    </a:lnTo>
                    <a:lnTo>
                      <a:pt x="1916" y="22"/>
                    </a:lnTo>
                    <a:lnTo>
                      <a:pt x="1954" y="22"/>
                    </a:lnTo>
                    <a:lnTo>
                      <a:pt x="1993" y="22"/>
                    </a:lnTo>
                    <a:lnTo>
                      <a:pt x="2031" y="22"/>
                    </a:lnTo>
                    <a:lnTo>
                      <a:pt x="2069" y="22"/>
                    </a:lnTo>
                    <a:lnTo>
                      <a:pt x="2108" y="22"/>
                    </a:lnTo>
                    <a:lnTo>
                      <a:pt x="2146" y="22"/>
                    </a:lnTo>
                    <a:lnTo>
                      <a:pt x="2185" y="22"/>
                    </a:lnTo>
                    <a:lnTo>
                      <a:pt x="2223" y="22"/>
                    </a:lnTo>
                    <a:lnTo>
                      <a:pt x="2261" y="22"/>
                    </a:lnTo>
                    <a:lnTo>
                      <a:pt x="2300" y="33"/>
                    </a:lnTo>
                    <a:lnTo>
                      <a:pt x="2338" y="33"/>
                    </a:lnTo>
                    <a:lnTo>
                      <a:pt x="2376" y="33"/>
                    </a:lnTo>
                    <a:lnTo>
                      <a:pt x="2415" y="33"/>
                    </a:lnTo>
                    <a:lnTo>
                      <a:pt x="2453" y="33"/>
                    </a:lnTo>
                    <a:lnTo>
                      <a:pt x="2492" y="33"/>
                    </a:lnTo>
                    <a:lnTo>
                      <a:pt x="2530" y="45"/>
                    </a:lnTo>
                    <a:lnTo>
                      <a:pt x="2568" y="79"/>
                    </a:lnTo>
                    <a:lnTo>
                      <a:pt x="2593" y="113"/>
                    </a:lnTo>
                    <a:lnTo>
                      <a:pt x="2619" y="147"/>
                    </a:lnTo>
                    <a:lnTo>
                      <a:pt x="2632" y="181"/>
                    </a:lnTo>
                    <a:lnTo>
                      <a:pt x="2645" y="215"/>
                    </a:lnTo>
                    <a:lnTo>
                      <a:pt x="2645" y="249"/>
                    </a:lnTo>
                    <a:lnTo>
                      <a:pt x="2658" y="282"/>
                    </a:lnTo>
                    <a:lnTo>
                      <a:pt x="2658" y="316"/>
                    </a:lnTo>
                    <a:lnTo>
                      <a:pt x="2658" y="350"/>
                    </a:lnTo>
                    <a:lnTo>
                      <a:pt x="2619" y="350"/>
                    </a:lnTo>
                    <a:lnTo>
                      <a:pt x="2581" y="373"/>
                    </a:lnTo>
                    <a:lnTo>
                      <a:pt x="2542" y="384"/>
                    </a:lnTo>
                    <a:lnTo>
                      <a:pt x="2504" y="384"/>
                    </a:lnTo>
                    <a:lnTo>
                      <a:pt x="2466" y="373"/>
                    </a:lnTo>
                    <a:lnTo>
                      <a:pt x="2427" y="373"/>
                    </a:lnTo>
                    <a:lnTo>
                      <a:pt x="2389" y="362"/>
                    </a:lnTo>
                    <a:lnTo>
                      <a:pt x="2351" y="362"/>
                    </a:lnTo>
                    <a:lnTo>
                      <a:pt x="2312" y="362"/>
                    </a:lnTo>
                    <a:lnTo>
                      <a:pt x="2274" y="362"/>
                    </a:lnTo>
                    <a:lnTo>
                      <a:pt x="2235" y="362"/>
                    </a:lnTo>
                    <a:lnTo>
                      <a:pt x="2197" y="362"/>
                    </a:lnTo>
                    <a:lnTo>
                      <a:pt x="2159" y="373"/>
                    </a:lnTo>
                    <a:lnTo>
                      <a:pt x="2120" y="384"/>
                    </a:lnTo>
                    <a:lnTo>
                      <a:pt x="2083" y="384"/>
                    </a:lnTo>
                    <a:lnTo>
                      <a:pt x="2045" y="384"/>
                    </a:lnTo>
                    <a:lnTo>
                      <a:pt x="2006" y="384"/>
                    </a:lnTo>
                    <a:lnTo>
                      <a:pt x="1968" y="384"/>
                    </a:lnTo>
                    <a:lnTo>
                      <a:pt x="1930" y="384"/>
                    </a:lnTo>
                    <a:lnTo>
                      <a:pt x="1891" y="384"/>
                    </a:lnTo>
                    <a:lnTo>
                      <a:pt x="1853" y="384"/>
                    </a:lnTo>
                    <a:lnTo>
                      <a:pt x="1814" y="384"/>
                    </a:lnTo>
                    <a:lnTo>
                      <a:pt x="1776" y="384"/>
                    </a:lnTo>
                    <a:lnTo>
                      <a:pt x="1738" y="384"/>
                    </a:lnTo>
                    <a:lnTo>
                      <a:pt x="1699" y="384"/>
                    </a:lnTo>
                    <a:lnTo>
                      <a:pt x="1661" y="384"/>
                    </a:lnTo>
                    <a:lnTo>
                      <a:pt x="1623" y="384"/>
                    </a:lnTo>
                    <a:lnTo>
                      <a:pt x="1584" y="384"/>
                    </a:lnTo>
                    <a:lnTo>
                      <a:pt x="1546" y="373"/>
                    </a:lnTo>
                    <a:lnTo>
                      <a:pt x="1507" y="373"/>
                    </a:lnTo>
                    <a:lnTo>
                      <a:pt x="1469" y="373"/>
                    </a:lnTo>
                    <a:lnTo>
                      <a:pt x="1431" y="373"/>
                    </a:lnTo>
                    <a:lnTo>
                      <a:pt x="1392" y="384"/>
                    </a:lnTo>
                    <a:lnTo>
                      <a:pt x="1354" y="396"/>
                    </a:lnTo>
                    <a:lnTo>
                      <a:pt x="1316" y="396"/>
                    </a:lnTo>
                    <a:lnTo>
                      <a:pt x="1277" y="396"/>
                    </a:lnTo>
                    <a:lnTo>
                      <a:pt x="1239" y="396"/>
                    </a:lnTo>
                    <a:lnTo>
                      <a:pt x="1200" y="396"/>
                    </a:lnTo>
                    <a:lnTo>
                      <a:pt x="1162" y="396"/>
                    </a:lnTo>
                    <a:lnTo>
                      <a:pt x="1124" y="396"/>
                    </a:lnTo>
                    <a:lnTo>
                      <a:pt x="1085" y="396"/>
                    </a:lnTo>
                    <a:lnTo>
                      <a:pt x="1047" y="396"/>
                    </a:lnTo>
                    <a:lnTo>
                      <a:pt x="1009" y="396"/>
                    </a:lnTo>
                    <a:lnTo>
                      <a:pt x="970" y="396"/>
                    </a:lnTo>
                    <a:lnTo>
                      <a:pt x="932" y="396"/>
                    </a:lnTo>
                    <a:lnTo>
                      <a:pt x="881" y="396"/>
                    </a:lnTo>
                    <a:lnTo>
                      <a:pt x="843" y="396"/>
                    </a:lnTo>
                    <a:lnTo>
                      <a:pt x="804" y="396"/>
                    </a:lnTo>
                    <a:lnTo>
                      <a:pt x="766" y="396"/>
                    </a:lnTo>
                    <a:lnTo>
                      <a:pt x="727" y="396"/>
                    </a:lnTo>
                    <a:lnTo>
                      <a:pt x="689" y="396"/>
                    </a:lnTo>
                    <a:lnTo>
                      <a:pt x="651" y="396"/>
                    </a:lnTo>
                    <a:lnTo>
                      <a:pt x="612" y="396"/>
                    </a:lnTo>
                    <a:lnTo>
                      <a:pt x="574" y="396"/>
                    </a:lnTo>
                    <a:lnTo>
                      <a:pt x="536" y="396"/>
                    </a:lnTo>
                    <a:lnTo>
                      <a:pt x="497" y="396"/>
                    </a:lnTo>
                    <a:lnTo>
                      <a:pt x="459" y="396"/>
                    </a:lnTo>
                    <a:lnTo>
                      <a:pt x="420" y="396"/>
                    </a:lnTo>
                    <a:lnTo>
                      <a:pt x="382" y="396"/>
                    </a:lnTo>
                    <a:lnTo>
                      <a:pt x="344" y="396"/>
                    </a:lnTo>
                    <a:lnTo>
                      <a:pt x="306" y="396"/>
                    </a:lnTo>
                    <a:lnTo>
                      <a:pt x="268" y="396"/>
                    </a:lnTo>
                    <a:lnTo>
                      <a:pt x="230" y="396"/>
                    </a:lnTo>
                    <a:lnTo>
                      <a:pt x="191" y="396"/>
                    </a:lnTo>
                    <a:lnTo>
                      <a:pt x="153" y="384"/>
                    </a:lnTo>
                    <a:lnTo>
                      <a:pt x="115" y="384"/>
                    </a:lnTo>
                    <a:lnTo>
                      <a:pt x="76" y="384"/>
                    </a:lnTo>
                    <a:lnTo>
                      <a:pt x="38" y="384"/>
                    </a:lnTo>
                    <a:lnTo>
                      <a:pt x="0" y="384"/>
                    </a:lnTo>
                    <a:lnTo>
                      <a:pt x="38" y="362"/>
                    </a:lnTo>
                    <a:lnTo>
                      <a:pt x="63" y="328"/>
                    </a:lnTo>
                    <a:lnTo>
                      <a:pt x="63" y="294"/>
                    </a:lnTo>
                    <a:lnTo>
                      <a:pt x="63" y="260"/>
                    </a:lnTo>
                    <a:lnTo>
                      <a:pt x="50" y="226"/>
                    </a:lnTo>
                    <a:lnTo>
                      <a:pt x="50" y="192"/>
                    </a:lnTo>
                    <a:lnTo>
                      <a:pt x="50" y="158"/>
                    </a:lnTo>
                    <a:lnTo>
                      <a:pt x="50" y="124"/>
                    </a:lnTo>
                    <a:lnTo>
                      <a:pt x="50" y="90"/>
                    </a:lnTo>
                    <a:lnTo>
                      <a:pt x="20" y="23"/>
                    </a:lnTo>
                    <a:lnTo>
                      <a:pt x="20" y="23"/>
                    </a:lnTo>
                  </a:path>
                </a:pathLst>
              </a:custGeom>
              <a:gradFill rotWithShape="0">
                <a:gsLst>
                  <a:gs pos="0">
                    <a:schemeClr val="bg2"/>
                  </a:gs>
                  <a:gs pos="50000">
                    <a:schemeClr val="bg2">
                      <a:gamma/>
                      <a:shade val="69804"/>
                      <a:invGamma/>
                    </a:schemeClr>
                  </a:gs>
                  <a:gs pos="100000">
                    <a:schemeClr val="bg2"/>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39949" name="Group 13"/>
              <p:cNvGrpSpPr>
                <a:grpSpLocks/>
              </p:cNvGrpSpPr>
              <p:nvPr/>
            </p:nvGrpSpPr>
            <p:grpSpPr bwMode="auto">
              <a:xfrm>
                <a:off x="2400" y="2428"/>
                <a:ext cx="2829" cy="433"/>
                <a:chOff x="2212" y="1728"/>
                <a:chExt cx="2829" cy="433"/>
              </a:xfrm>
            </p:grpSpPr>
            <p:sp>
              <p:nvSpPr>
                <p:cNvPr id="39950" name="Oval 14"/>
                <p:cNvSpPr>
                  <a:spLocks noChangeArrowheads="1"/>
                </p:cNvSpPr>
                <p:nvPr/>
              </p:nvSpPr>
              <p:spPr bwMode="auto">
                <a:xfrm>
                  <a:off x="2212" y="1732"/>
                  <a:ext cx="206" cy="424"/>
                </a:xfrm>
                <a:prstGeom prst="ellipse">
                  <a:avLst/>
                </a:prstGeom>
                <a:solidFill>
                  <a:schemeClr val="accent1">
                    <a:alpha val="50000"/>
                  </a:schemeClr>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51" name="Line 15"/>
                <p:cNvSpPr>
                  <a:spLocks noChangeShapeType="1"/>
                </p:cNvSpPr>
                <p:nvPr/>
              </p:nvSpPr>
              <p:spPr bwMode="auto">
                <a:xfrm>
                  <a:off x="2315" y="1728"/>
                  <a:ext cx="26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52" name="Line 16"/>
                <p:cNvSpPr>
                  <a:spLocks noChangeShapeType="1"/>
                </p:cNvSpPr>
                <p:nvPr/>
              </p:nvSpPr>
              <p:spPr bwMode="auto">
                <a:xfrm>
                  <a:off x="2369" y="2160"/>
                  <a:ext cx="2671"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53" name="Arc 17"/>
                <p:cNvSpPr>
                  <a:spLocks/>
                </p:cNvSpPr>
                <p:nvPr/>
              </p:nvSpPr>
              <p:spPr bwMode="auto">
                <a:xfrm>
                  <a:off x="4880" y="1729"/>
                  <a:ext cx="161" cy="432"/>
                </a:xfrm>
                <a:custGeom>
                  <a:avLst/>
                  <a:gdLst>
                    <a:gd name="G0" fmla="+- 135 0 0"/>
                    <a:gd name="G1" fmla="+- 21600 0 0"/>
                    <a:gd name="G2" fmla="+- 21600 0 0"/>
                    <a:gd name="T0" fmla="*/ 0 w 21735"/>
                    <a:gd name="T1" fmla="*/ 0 h 21600"/>
                    <a:gd name="T2" fmla="*/ 21735 w 21735"/>
                    <a:gd name="T3" fmla="*/ 21600 h 21600"/>
                    <a:gd name="T4" fmla="*/ 135 w 21735"/>
                    <a:gd name="T5" fmla="*/ 21600 h 21600"/>
                  </a:gdLst>
                  <a:ahLst/>
                  <a:cxnLst>
                    <a:cxn ang="0">
                      <a:pos x="T0" y="T1"/>
                    </a:cxn>
                    <a:cxn ang="0">
                      <a:pos x="T2" y="T3"/>
                    </a:cxn>
                    <a:cxn ang="0">
                      <a:pos x="T4" y="T5"/>
                    </a:cxn>
                  </a:cxnLst>
                  <a:rect l="0" t="0" r="r" b="b"/>
                  <a:pathLst>
                    <a:path w="21735" h="21600" fill="none" extrusionOk="0">
                      <a:moveTo>
                        <a:pt x="0" y="0"/>
                      </a:moveTo>
                      <a:cubicBezTo>
                        <a:pt x="45" y="0"/>
                        <a:pt x="90" y="-1"/>
                        <a:pt x="135" y="0"/>
                      </a:cubicBezTo>
                      <a:cubicBezTo>
                        <a:pt x="12064" y="0"/>
                        <a:pt x="21735" y="9670"/>
                        <a:pt x="21735" y="21600"/>
                      </a:cubicBezTo>
                    </a:path>
                    <a:path w="21735" h="21600" stroke="0" extrusionOk="0">
                      <a:moveTo>
                        <a:pt x="0" y="0"/>
                      </a:moveTo>
                      <a:cubicBezTo>
                        <a:pt x="45" y="0"/>
                        <a:pt x="90" y="-1"/>
                        <a:pt x="135" y="0"/>
                      </a:cubicBezTo>
                      <a:cubicBezTo>
                        <a:pt x="12064" y="0"/>
                        <a:pt x="21735" y="9670"/>
                        <a:pt x="21735" y="21600"/>
                      </a:cubicBezTo>
                      <a:lnTo>
                        <a:pt x="135" y="2160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39980" name="Line 44"/>
              <p:cNvSpPr>
                <a:spLocks noChangeShapeType="1"/>
              </p:cNvSpPr>
              <p:nvPr/>
            </p:nvSpPr>
            <p:spPr bwMode="auto">
              <a:xfrm>
                <a:off x="3361" y="1447"/>
                <a:ext cx="563" cy="1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81" name="Line 45"/>
              <p:cNvSpPr>
                <a:spLocks noChangeShapeType="1"/>
              </p:cNvSpPr>
              <p:nvPr/>
            </p:nvSpPr>
            <p:spPr bwMode="auto">
              <a:xfrm>
                <a:off x="4212" y="1443"/>
                <a:ext cx="663" cy="1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82" name="Line 46"/>
              <p:cNvSpPr>
                <a:spLocks noChangeShapeType="1"/>
              </p:cNvSpPr>
              <p:nvPr/>
            </p:nvSpPr>
            <p:spPr bwMode="auto">
              <a:xfrm rot="4407390">
                <a:off x="2704" y="1914"/>
                <a:ext cx="987" cy="2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83" name="Line 47"/>
              <p:cNvSpPr>
                <a:spLocks noChangeShapeType="1"/>
              </p:cNvSpPr>
              <p:nvPr/>
            </p:nvSpPr>
            <p:spPr bwMode="auto">
              <a:xfrm rot="4407390" flipH="1">
                <a:off x="2976" y="1920"/>
                <a:ext cx="1010" cy="1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84" name="Line 48"/>
              <p:cNvSpPr>
                <a:spLocks noChangeShapeType="1"/>
              </p:cNvSpPr>
              <p:nvPr/>
            </p:nvSpPr>
            <p:spPr bwMode="auto">
              <a:xfrm rot="4407390" flipH="1">
                <a:off x="3563" y="1913"/>
                <a:ext cx="1039" cy="3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85" name="Line 49"/>
              <p:cNvSpPr>
                <a:spLocks noChangeShapeType="1"/>
              </p:cNvSpPr>
              <p:nvPr/>
            </p:nvSpPr>
            <p:spPr bwMode="auto">
              <a:xfrm rot="4407390" flipH="1">
                <a:off x="3865" y="1890"/>
                <a:ext cx="1068" cy="8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986" name="Line 50"/>
              <p:cNvSpPr>
                <a:spLocks noChangeShapeType="1"/>
              </p:cNvSpPr>
              <p:nvPr/>
            </p:nvSpPr>
            <p:spPr bwMode="auto">
              <a:xfrm rot="4407390" flipH="1">
                <a:off x="4506" y="1936"/>
                <a:ext cx="1007" cy="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39992" name="Group 56"/>
              <p:cNvGrpSpPr>
                <a:grpSpLocks/>
              </p:cNvGrpSpPr>
              <p:nvPr/>
            </p:nvGrpSpPr>
            <p:grpSpPr bwMode="auto">
              <a:xfrm>
                <a:off x="2636" y="2222"/>
                <a:ext cx="795" cy="775"/>
                <a:chOff x="2636" y="2222"/>
                <a:chExt cx="795" cy="775"/>
              </a:xfrm>
            </p:grpSpPr>
            <p:sp>
              <p:nvSpPr>
                <p:cNvPr id="39956" name="Freeform 20"/>
                <p:cNvSpPr>
                  <a:spLocks/>
                </p:cNvSpPr>
                <p:nvPr/>
              </p:nvSpPr>
              <p:spPr bwMode="auto">
                <a:xfrm>
                  <a:off x="2636" y="2283"/>
                  <a:ext cx="795" cy="714"/>
                </a:xfrm>
                <a:custGeom>
                  <a:avLst/>
                  <a:gdLst>
                    <a:gd name="T0" fmla="*/ 47 w 795"/>
                    <a:gd name="T1" fmla="*/ 0 h 714"/>
                    <a:gd name="T2" fmla="*/ 115 w 795"/>
                    <a:gd name="T3" fmla="*/ 11 h 714"/>
                    <a:gd name="T4" fmla="*/ 183 w 795"/>
                    <a:gd name="T5" fmla="*/ 11 h 714"/>
                    <a:gd name="T6" fmla="*/ 251 w 795"/>
                    <a:gd name="T7" fmla="*/ 11 h 714"/>
                    <a:gd name="T8" fmla="*/ 319 w 795"/>
                    <a:gd name="T9" fmla="*/ 11 h 714"/>
                    <a:gd name="T10" fmla="*/ 387 w 795"/>
                    <a:gd name="T11" fmla="*/ 11 h 714"/>
                    <a:gd name="T12" fmla="*/ 455 w 795"/>
                    <a:gd name="T13" fmla="*/ 11 h 714"/>
                    <a:gd name="T14" fmla="*/ 523 w 795"/>
                    <a:gd name="T15" fmla="*/ 22 h 714"/>
                    <a:gd name="T16" fmla="*/ 591 w 795"/>
                    <a:gd name="T17" fmla="*/ 34 h 714"/>
                    <a:gd name="T18" fmla="*/ 658 w 795"/>
                    <a:gd name="T19" fmla="*/ 34 h 714"/>
                    <a:gd name="T20" fmla="*/ 692 w 795"/>
                    <a:gd name="T21" fmla="*/ 102 h 714"/>
                    <a:gd name="T22" fmla="*/ 726 w 795"/>
                    <a:gd name="T23" fmla="*/ 170 h 714"/>
                    <a:gd name="T24" fmla="*/ 760 w 795"/>
                    <a:gd name="T25" fmla="*/ 237 h 714"/>
                    <a:gd name="T26" fmla="*/ 772 w 795"/>
                    <a:gd name="T27" fmla="*/ 305 h 714"/>
                    <a:gd name="T28" fmla="*/ 783 w 795"/>
                    <a:gd name="T29" fmla="*/ 373 h 714"/>
                    <a:gd name="T30" fmla="*/ 783 w 795"/>
                    <a:gd name="T31" fmla="*/ 441 h 714"/>
                    <a:gd name="T32" fmla="*/ 794 w 795"/>
                    <a:gd name="T33" fmla="*/ 509 h 714"/>
                    <a:gd name="T34" fmla="*/ 794 w 795"/>
                    <a:gd name="T35" fmla="*/ 577 h 714"/>
                    <a:gd name="T36" fmla="*/ 783 w 795"/>
                    <a:gd name="T37" fmla="*/ 645 h 714"/>
                    <a:gd name="T38" fmla="*/ 772 w 795"/>
                    <a:gd name="T39" fmla="*/ 713 h 714"/>
                    <a:gd name="T40" fmla="*/ 704 w 795"/>
                    <a:gd name="T41" fmla="*/ 713 h 714"/>
                    <a:gd name="T42" fmla="*/ 636 w 795"/>
                    <a:gd name="T43" fmla="*/ 713 h 714"/>
                    <a:gd name="T44" fmla="*/ 568 w 795"/>
                    <a:gd name="T45" fmla="*/ 713 h 714"/>
                    <a:gd name="T46" fmla="*/ 500 w 795"/>
                    <a:gd name="T47" fmla="*/ 713 h 714"/>
                    <a:gd name="T48" fmla="*/ 432 w 795"/>
                    <a:gd name="T49" fmla="*/ 713 h 714"/>
                    <a:gd name="T50" fmla="*/ 364 w 795"/>
                    <a:gd name="T51" fmla="*/ 713 h 714"/>
                    <a:gd name="T52" fmla="*/ 296 w 795"/>
                    <a:gd name="T53" fmla="*/ 713 h 714"/>
                    <a:gd name="T54" fmla="*/ 228 w 795"/>
                    <a:gd name="T55" fmla="*/ 713 h 714"/>
                    <a:gd name="T56" fmla="*/ 160 w 795"/>
                    <a:gd name="T57" fmla="*/ 713 h 714"/>
                    <a:gd name="T58" fmla="*/ 206 w 795"/>
                    <a:gd name="T59" fmla="*/ 645 h 714"/>
                    <a:gd name="T60" fmla="*/ 206 w 795"/>
                    <a:gd name="T61" fmla="*/ 577 h 714"/>
                    <a:gd name="T62" fmla="*/ 194 w 795"/>
                    <a:gd name="T63" fmla="*/ 509 h 714"/>
                    <a:gd name="T64" fmla="*/ 194 w 795"/>
                    <a:gd name="T65" fmla="*/ 441 h 714"/>
                    <a:gd name="T66" fmla="*/ 194 w 795"/>
                    <a:gd name="T67" fmla="*/ 373 h 714"/>
                    <a:gd name="T68" fmla="*/ 183 w 795"/>
                    <a:gd name="T69" fmla="*/ 305 h 714"/>
                    <a:gd name="T70" fmla="*/ 172 w 795"/>
                    <a:gd name="T71" fmla="*/ 237 h 714"/>
                    <a:gd name="T72" fmla="*/ 138 w 795"/>
                    <a:gd name="T73" fmla="*/ 170 h 714"/>
                    <a:gd name="T74" fmla="*/ 104 w 795"/>
                    <a:gd name="T75" fmla="*/ 102 h 714"/>
                    <a:gd name="T76" fmla="*/ 58 w 795"/>
                    <a:gd name="T77" fmla="*/ 3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5" h="714">
                      <a:moveTo>
                        <a:pt x="0" y="1"/>
                      </a:moveTo>
                      <a:lnTo>
                        <a:pt x="47" y="0"/>
                      </a:lnTo>
                      <a:lnTo>
                        <a:pt x="81" y="11"/>
                      </a:lnTo>
                      <a:lnTo>
                        <a:pt x="115" y="11"/>
                      </a:lnTo>
                      <a:lnTo>
                        <a:pt x="149" y="11"/>
                      </a:lnTo>
                      <a:lnTo>
                        <a:pt x="183" y="11"/>
                      </a:lnTo>
                      <a:lnTo>
                        <a:pt x="217" y="11"/>
                      </a:lnTo>
                      <a:lnTo>
                        <a:pt x="251" y="11"/>
                      </a:lnTo>
                      <a:lnTo>
                        <a:pt x="285" y="11"/>
                      </a:lnTo>
                      <a:lnTo>
                        <a:pt x="319" y="11"/>
                      </a:lnTo>
                      <a:lnTo>
                        <a:pt x="353" y="11"/>
                      </a:lnTo>
                      <a:lnTo>
                        <a:pt x="387" y="11"/>
                      </a:lnTo>
                      <a:lnTo>
                        <a:pt x="421" y="11"/>
                      </a:lnTo>
                      <a:lnTo>
                        <a:pt x="455" y="11"/>
                      </a:lnTo>
                      <a:lnTo>
                        <a:pt x="489" y="22"/>
                      </a:lnTo>
                      <a:lnTo>
                        <a:pt x="523" y="22"/>
                      </a:lnTo>
                      <a:lnTo>
                        <a:pt x="557" y="34"/>
                      </a:lnTo>
                      <a:lnTo>
                        <a:pt x="591" y="34"/>
                      </a:lnTo>
                      <a:lnTo>
                        <a:pt x="625" y="34"/>
                      </a:lnTo>
                      <a:lnTo>
                        <a:pt x="658" y="34"/>
                      </a:lnTo>
                      <a:lnTo>
                        <a:pt x="670" y="68"/>
                      </a:lnTo>
                      <a:lnTo>
                        <a:pt x="692" y="102"/>
                      </a:lnTo>
                      <a:lnTo>
                        <a:pt x="715" y="136"/>
                      </a:lnTo>
                      <a:lnTo>
                        <a:pt x="726" y="170"/>
                      </a:lnTo>
                      <a:lnTo>
                        <a:pt x="749" y="203"/>
                      </a:lnTo>
                      <a:lnTo>
                        <a:pt x="760" y="237"/>
                      </a:lnTo>
                      <a:lnTo>
                        <a:pt x="772" y="271"/>
                      </a:lnTo>
                      <a:lnTo>
                        <a:pt x="772" y="305"/>
                      </a:lnTo>
                      <a:lnTo>
                        <a:pt x="783" y="339"/>
                      </a:lnTo>
                      <a:lnTo>
                        <a:pt x="783" y="373"/>
                      </a:lnTo>
                      <a:lnTo>
                        <a:pt x="783" y="407"/>
                      </a:lnTo>
                      <a:lnTo>
                        <a:pt x="783" y="441"/>
                      </a:lnTo>
                      <a:lnTo>
                        <a:pt x="783" y="475"/>
                      </a:lnTo>
                      <a:lnTo>
                        <a:pt x="794" y="509"/>
                      </a:lnTo>
                      <a:lnTo>
                        <a:pt x="794" y="543"/>
                      </a:lnTo>
                      <a:lnTo>
                        <a:pt x="794" y="577"/>
                      </a:lnTo>
                      <a:lnTo>
                        <a:pt x="794" y="611"/>
                      </a:lnTo>
                      <a:lnTo>
                        <a:pt x="783" y="645"/>
                      </a:lnTo>
                      <a:lnTo>
                        <a:pt x="783" y="679"/>
                      </a:lnTo>
                      <a:lnTo>
                        <a:pt x="772" y="713"/>
                      </a:lnTo>
                      <a:lnTo>
                        <a:pt x="738" y="713"/>
                      </a:lnTo>
                      <a:lnTo>
                        <a:pt x="704" y="713"/>
                      </a:lnTo>
                      <a:lnTo>
                        <a:pt x="670" y="713"/>
                      </a:lnTo>
                      <a:lnTo>
                        <a:pt x="636" y="713"/>
                      </a:lnTo>
                      <a:lnTo>
                        <a:pt x="602" y="713"/>
                      </a:lnTo>
                      <a:lnTo>
                        <a:pt x="568" y="713"/>
                      </a:lnTo>
                      <a:lnTo>
                        <a:pt x="534" y="713"/>
                      </a:lnTo>
                      <a:lnTo>
                        <a:pt x="500" y="713"/>
                      </a:lnTo>
                      <a:lnTo>
                        <a:pt x="466" y="713"/>
                      </a:lnTo>
                      <a:lnTo>
                        <a:pt x="432" y="713"/>
                      </a:lnTo>
                      <a:lnTo>
                        <a:pt x="398" y="713"/>
                      </a:lnTo>
                      <a:lnTo>
                        <a:pt x="364" y="713"/>
                      </a:lnTo>
                      <a:lnTo>
                        <a:pt x="330" y="713"/>
                      </a:lnTo>
                      <a:lnTo>
                        <a:pt x="296" y="713"/>
                      </a:lnTo>
                      <a:lnTo>
                        <a:pt x="262" y="713"/>
                      </a:lnTo>
                      <a:lnTo>
                        <a:pt x="228" y="713"/>
                      </a:lnTo>
                      <a:lnTo>
                        <a:pt x="194" y="713"/>
                      </a:lnTo>
                      <a:lnTo>
                        <a:pt x="160" y="713"/>
                      </a:lnTo>
                      <a:lnTo>
                        <a:pt x="183" y="679"/>
                      </a:lnTo>
                      <a:lnTo>
                        <a:pt x="206" y="645"/>
                      </a:lnTo>
                      <a:lnTo>
                        <a:pt x="206" y="611"/>
                      </a:lnTo>
                      <a:lnTo>
                        <a:pt x="206" y="577"/>
                      </a:lnTo>
                      <a:lnTo>
                        <a:pt x="194" y="543"/>
                      </a:lnTo>
                      <a:lnTo>
                        <a:pt x="194" y="509"/>
                      </a:lnTo>
                      <a:lnTo>
                        <a:pt x="194" y="475"/>
                      </a:lnTo>
                      <a:lnTo>
                        <a:pt x="194" y="441"/>
                      </a:lnTo>
                      <a:lnTo>
                        <a:pt x="194" y="407"/>
                      </a:lnTo>
                      <a:lnTo>
                        <a:pt x="194" y="373"/>
                      </a:lnTo>
                      <a:lnTo>
                        <a:pt x="183" y="339"/>
                      </a:lnTo>
                      <a:lnTo>
                        <a:pt x="183" y="305"/>
                      </a:lnTo>
                      <a:lnTo>
                        <a:pt x="183" y="271"/>
                      </a:lnTo>
                      <a:lnTo>
                        <a:pt x="172" y="237"/>
                      </a:lnTo>
                      <a:lnTo>
                        <a:pt x="160" y="203"/>
                      </a:lnTo>
                      <a:lnTo>
                        <a:pt x="138" y="170"/>
                      </a:lnTo>
                      <a:lnTo>
                        <a:pt x="126" y="136"/>
                      </a:lnTo>
                      <a:lnTo>
                        <a:pt x="104" y="102"/>
                      </a:lnTo>
                      <a:lnTo>
                        <a:pt x="81" y="68"/>
                      </a:lnTo>
                      <a:lnTo>
                        <a:pt x="58" y="34"/>
                      </a:lnTo>
                      <a:lnTo>
                        <a:pt x="96" y="1"/>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989" name="Rectangle 53"/>
                <p:cNvSpPr>
                  <a:spLocks noChangeArrowheads="1"/>
                </p:cNvSpPr>
                <p:nvPr/>
              </p:nvSpPr>
              <p:spPr bwMode="auto">
                <a:xfrm>
                  <a:off x="2723" y="2222"/>
                  <a:ext cx="533" cy="1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39993" name="Group 57"/>
              <p:cNvGrpSpPr>
                <a:grpSpLocks/>
              </p:cNvGrpSpPr>
              <p:nvPr/>
            </p:nvGrpSpPr>
            <p:grpSpPr bwMode="auto">
              <a:xfrm>
                <a:off x="3548" y="2218"/>
                <a:ext cx="795" cy="779"/>
                <a:chOff x="3548" y="2218"/>
                <a:chExt cx="795" cy="779"/>
              </a:xfrm>
            </p:grpSpPr>
            <p:sp>
              <p:nvSpPr>
                <p:cNvPr id="39957" name="Freeform 21"/>
                <p:cNvSpPr>
                  <a:spLocks/>
                </p:cNvSpPr>
                <p:nvPr/>
              </p:nvSpPr>
              <p:spPr bwMode="auto">
                <a:xfrm>
                  <a:off x="3548" y="2283"/>
                  <a:ext cx="795" cy="714"/>
                </a:xfrm>
                <a:custGeom>
                  <a:avLst/>
                  <a:gdLst>
                    <a:gd name="T0" fmla="*/ 47 w 795"/>
                    <a:gd name="T1" fmla="*/ 0 h 714"/>
                    <a:gd name="T2" fmla="*/ 115 w 795"/>
                    <a:gd name="T3" fmla="*/ 11 h 714"/>
                    <a:gd name="T4" fmla="*/ 183 w 795"/>
                    <a:gd name="T5" fmla="*/ 11 h 714"/>
                    <a:gd name="T6" fmla="*/ 251 w 795"/>
                    <a:gd name="T7" fmla="*/ 11 h 714"/>
                    <a:gd name="T8" fmla="*/ 319 w 795"/>
                    <a:gd name="T9" fmla="*/ 11 h 714"/>
                    <a:gd name="T10" fmla="*/ 387 w 795"/>
                    <a:gd name="T11" fmla="*/ 11 h 714"/>
                    <a:gd name="T12" fmla="*/ 455 w 795"/>
                    <a:gd name="T13" fmla="*/ 11 h 714"/>
                    <a:gd name="T14" fmla="*/ 523 w 795"/>
                    <a:gd name="T15" fmla="*/ 22 h 714"/>
                    <a:gd name="T16" fmla="*/ 591 w 795"/>
                    <a:gd name="T17" fmla="*/ 34 h 714"/>
                    <a:gd name="T18" fmla="*/ 658 w 795"/>
                    <a:gd name="T19" fmla="*/ 34 h 714"/>
                    <a:gd name="T20" fmla="*/ 692 w 795"/>
                    <a:gd name="T21" fmla="*/ 102 h 714"/>
                    <a:gd name="T22" fmla="*/ 726 w 795"/>
                    <a:gd name="T23" fmla="*/ 170 h 714"/>
                    <a:gd name="T24" fmla="*/ 760 w 795"/>
                    <a:gd name="T25" fmla="*/ 237 h 714"/>
                    <a:gd name="T26" fmla="*/ 772 w 795"/>
                    <a:gd name="T27" fmla="*/ 305 h 714"/>
                    <a:gd name="T28" fmla="*/ 783 w 795"/>
                    <a:gd name="T29" fmla="*/ 373 h 714"/>
                    <a:gd name="T30" fmla="*/ 783 w 795"/>
                    <a:gd name="T31" fmla="*/ 441 h 714"/>
                    <a:gd name="T32" fmla="*/ 794 w 795"/>
                    <a:gd name="T33" fmla="*/ 509 h 714"/>
                    <a:gd name="T34" fmla="*/ 794 w 795"/>
                    <a:gd name="T35" fmla="*/ 577 h 714"/>
                    <a:gd name="T36" fmla="*/ 783 w 795"/>
                    <a:gd name="T37" fmla="*/ 645 h 714"/>
                    <a:gd name="T38" fmla="*/ 772 w 795"/>
                    <a:gd name="T39" fmla="*/ 713 h 714"/>
                    <a:gd name="T40" fmla="*/ 704 w 795"/>
                    <a:gd name="T41" fmla="*/ 713 h 714"/>
                    <a:gd name="T42" fmla="*/ 636 w 795"/>
                    <a:gd name="T43" fmla="*/ 713 h 714"/>
                    <a:gd name="T44" fmla="*/ 568 w 795"/>
                    <a:gd name="T45" fmla="*/ 713 h 714"/>
                    <a:gd name="T46" fmla="*/ 500 w 795"/>
                    <a:gd name="T47" fmla="*/ 713 h 714"/>
                    <a:gd name="T48" fmla="*/ 432 w 795"/>
                    <a:gd name="T49" fmla="*/ 713 h 714"/>
                    <a:gd name="T50" fmla="*/ 364 w 795"/>
                    <a:gd name="T51" fmla="*/ 713 h 714"/>
                    <a:gd name="T52" fmla="*/ 296 w 795"/>
                    <a:gd name="T53" fmla="*/ 713 h 714"/>
                    <a:gd name="T54" fmla="*/ 228 w 795"/>
                    <a:gd name="T55" fmla="*/ 713 h 714"/>
                    <a:gd name="T56" fmla="*/ 160 w 795"/>
                    <a:gd name="T57" fmla="*/ 713 h 714"/>
                    <a:gd name="T58" fmla="*/ 206 w 795"/>
                    <a:gd name="T59" fmla="*/ 645 h 714"/>
                    <a:gd name="T60" fmla="*/ 206 w 795"/>
                    <a:gd name="T61" fmla="*/ 577 h 714"/>
                    <a:gd name="T62" fmla="*/ 194 w 795"/>
                    <a:gd name="T63" fmla="*/ 509 h 714"/>
                    <a:gd name="T64" fmla="*/ 194 w 795"/>
                    <a:gd name="T65" fmla="*/ 441 h 714"/>
                    <a:gd name="T66" fmla="*/ 194 w 795"/>
                    <a:gd name="T67" fmla="*/ 373 h 714"/>
                    <a:gd name="T68" fmla="*/ 183 w 795"/>
                    <a:gd name="T69" fmla="*/ 305 h 714"/>
                    <a:gd name="T70" fmla="*/ 172 w 795"/>
                    <a:gd name="T71" fmla="*/ 237 h 714"/>
                    <a:gd name="T72" fmla="*/ 138 w 795"/>
                    <a:gd name="T73" fmla="*/ 170 h 714"/>
                    <a:gd name="T74" fmla="*/ 104 w 795"/>
                    <a:gd name="T75" fmla="*/ 102 h 714"/>
                    <a:gd name="T76" fmla="*/ 58 w 795"/>
                    <a:gd name="T77" fmla="*/ 3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5" h="714">
                      <a:moveTo>
                        <a:pt x="0" y="1"/>
                      </a:moveTo>
                      <a:lnTo>
                        <a:pt x="47" y="0"/>
                      </a:lnTo>
                      <a:lnTo>
                        <a:pt x="81" y="11"/>
                      </a:lnTo>
                      <a:lnTo>
                        <a:pt x="115" y="11"/>
                      </a:lnTo>
                      <a:lnTo>
                        <a:pt x="149" y="11"/>
                      </a:lnTo>
                      <a:lnTo>
                        <a:pt x="183" y="11"/>
                      </a:lnTo>
                      <a:lnTo>
                        <a:pt x="217" y="11"/>
                      </a:lnTo>
                      <a:lnTo>
                        <a:pt x="251" y="11"/>
                      </a:lnTo>
                      <a:lnTo>
                        <a:pt x="285" y="11"/>
                      </a:lnTo>
                      <a:lnTo>
                        <a:pt x="319" y="11"/>
                      </a:lnTo>
                      <a:lnTo>
                        <a:pt x="353" y="11"/>
                      </a:lnTo>
                      <a:lnTo>
                        <a:pt x="387" y="11"/>
                      </a:lnTo>
                      <a:lnTo>
                        <a:pt x="421" y="11"/>
                      </a:lnTo>
                      <a:lnTo>
                        <a:pt x="455" y="11"/>
                      </a:lnTo>
                      <a:lnTo>
                        <a:pt x="489" y="22"/>
                      </a:lnTo>
                      <a:lnTo>
                        <a:pt x="523" y="22"/>
                      </a:lnTo>
                      <a:lnTo>
                        <a:pt x="557" y="34"/>
                      </a:lnTo>
                      <a:lnTo>
                        <a:pt x="591" y="34"/>
                      </a:lnTo>
                      <a:lnTo>
                        <a:pt x="625" y="34"/>
                      </a:lnTo>
                      <a:lnTo>
                        <a:pt x="658" y="34"/>
                      </a:lnTo>
                      <a:lnTo>
                        <a:pt x="670" y="68"/>
                      </a:lnTo>
                      <a:lnTo>
                        <a:pt x="692" y="102"/>
                      </a:lnTo>
                      <a:lnTo>
                        <a:pt x="715" y="136"/>
                      </a:lnTo>
                      <a:lnTo>
                        <a:pt x="726" y="170"/>
                      </a:lnTo>
                      <a:lnTo>
                        <a:pt x="749" y="203"/>
                      </a:lnTo>
                      <a:lnTo>
                        <a:pt x="760" y="237"/>
                      </a:lnTo>
                      <a:lnTo>
                        <a:pt x="772" y="271"/>
                      </a:lnTo>
                      <a:lnTo>
                        <a:pt x="772" y="305"/>
                      </a:lnTo>
                      <a:lnTo>
                        <a:pt x="783" y="339"/>
                      </a:lnTo>
                      <a:lnTo>
                        <a:pt x="783" y="373"/>
                      </a:lnTo>
                      <a:lnTo>
                        <a:pt x="783" y="407"/>
                      </a:lnTo>
                      <a:lnTo>
                        <a:pt x="783" y="441"/>
                      </a:lnTo>
                      <a:lnTo>
                        <a:pt x="783" y="475"/>
                      </a:lnTo>
                      <a:lnTo>
                        <a:pt x="794" y="509"/>
                      </a:lnTo>
                      <a:lnTo>
                        <a:pt x="794" y="543"/>
                      </a:lnTo>
                      <a:lnTo>
                        <a:pt x="794" y="577"/>
                      </a:lnTo>
                      <a:lnTo>
                        <a:pt x="794" y="611"/>
                      </a:lnTo>
                      <a:lnTo>
                        <a:pt x="783" y="645"/>
                      </a:lnTo>
                      <a:lnTo>
                        <a:pt x="783" y="679"/>
                      </a:lnTo>
                      <a:lnTo>
                        <a:pt x="772" y="713"/>
                      </a:lnTo>
                      <a:lnTo>
                        <a:pt x="738" y="713"/>
                      </a:lnTo>
                      <a:lnTo>
                        <a:pt x="704" y="713"/>
                      </a:lnTo>
                      <a:lnTo>
                        <a:pt x="670" y="713"/>
                      </a:lnTo>
                      <a:lnTo>
                        <a:pt x="636" y="713"/>
                      </a:lnTo>
                      <a:lnTo>
                        <a:pt x="602" y="713"/>
                      </a:lnTo>
                      <a:lnTo>
                        <a:pt x="568" y="713"/>
                      </a:lnTo>
                      <a:lnTo>
                        <a:pt x="534" y="713"/>
                      </a:lnTo>
                      <a:lnTo>
                        <a:pt x="500" y="713"/>
                      </a:lnTo>
                      <a:lnTo>
                        <a:pt x="466" y="713"/>
                      </a:lnTo>
                      <a:lnTo>
                        <a:pt x="432" y="713"/>
                      </a:lnTo>
                      <a:lnTo>
                        <a:pt x="398" y="713"/>
                      </a:lnTo>
                      <a:lnTo>
                        <a:pt x="364" y="713"/>
                      </a:lnTo>
                      <a:lnTo>
                        <a:pt x="330" y="713"/>
                      </a:lnTo>
                      <a:lnTo>
                        <a:pt x="296" y="713"/>
                      </a:lnTo>
                      <a:lnTo>
                        <a:pt x="262" y="713"/>
                      </a:lnTo>
                      <a:lnTo>
                        <a:pt x="228" y="713"/>
                      </a:lnTo>
                      <a:lnTo>
                        <a:pt x="194" y="713"/>
                      </a:lnTo>
                      <a:lnTo>
                        <a:pt x="160" y="713"/>
                      </a:lnTo>
                      <a:lnTo>
                        <a:pt x="183" y="679"/>
                      </a:lnTo>
                      <a:lnTo>
                        <a:pt x="206" y="645"/>
                      </a:lnTo>
                      <a:lnTo>
                        <a:pt x="206" y="611"/>
                      </a:lnTo>
                      <a:lnTo>
                        <a:pt x="206" y="577"/>
                      </a:lnTo>
                      <a:lnTo>
                        <a:pt x="194" y="543"/>
                      </a:lnTo>
                      <a:lnTo>
                        <a:pt x="194" y="509"/>
                      </a:lnTo>
                      <a:lnTo>
                        <a:pt x="194" y="475"/>
                      </a:lnTo>
                      <a:lnTo>
                        <a:pt x="194" y="441"/>
                      </a:lnTo>
                      <a:lnTo>
                        <a:pt x="194" y="407"/>
                      </a:lnTo>
                      <a:lnTo>
                        <a:pt x="194" y="373"/>
                      </a:lnTo>
                      <a:lnTo>
                        <a:pt x="183" y="339"/>
                      </a:lnTo>
                      <a:lnTo>
                        <a:pt x="183" y="305"/>
                      </a:lnTo>
                      <a:lnTo>
                        <a:pt x="183" y="271"/>
                      </a:lnTo>
                      <a:lnTo>
                        <a:pt x="172" y="237"/>
                      </a:lnTo>
                      <a:lnTo>
                        <a:pt x="160" y="203"/>
                      </a:lnTo>
                      <a:lnTo>
                        <a:pt x="138" y="170"/>
                      </a:lnTo>
                      <a:lnTo>
                        <a:pt x="126" y="136"/>
                      </a:lnTo>
                      <a:lnTo>
                        <a:pt x="104" y="102"/>
                      </a:lnTo>
                      <a:lnTo>
                        <a:pt x="81" y="68"/>
                      </a:lnTo>
                      <a:lnTo>
                        <a:pt x="58" y="34"/>
                      </a:lnTo>
                      <a:lnTo>
                        <a:pt x="96" y="1"/>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990" name="Rectangle 54"/>
                <p:cNvSpPr>
                  <a:spLocks noChangeArrowheads="1"/>
                </p:cNvSpPr>
                <p:nvPr/>
              </p:nvSpPr>
              <p:spPr bwMode="auto">
                <a:xfrm>
                  <a:off x="3653" y="2218"/>
                  <a:ext cx="533" cy="1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39994" name="Group 58"/>
              <p:cNvGrpSpPr>
                <a:grpSpLocks/>
              </p:cNvGrpSpPr>
              <p:nvPr/>
            </p:nvGrpSpPr>
            <p:grpSpPr bwMode="auto">
              <a:xfrm>
                <a:off x="4460" y="2218"/>
                <a:ext cx="795" cy="779"/>
                <a:chOff x="4460" y="2218"/>
                <a:chExt cx="795" cy="779"/>
              </a:xfrm>
            </p:grpSpPr>
            <p:sp>
              <p:nvSpPr>
                <p:cNvPr id="39958" name="Freeform 22"/>
                <p:cNvSpPr>
                  <a:spLocks/>
                </p:cNvSpPr>
                <p:nvPr/>
              </p:nvSpPr>
              <p:spPr bwMode="auto">
                <a:xfrm>
                  <a:off x="4460" y="2283"/>
                  <a:ext cx="795" cy="714"/>
                </a:xfrm>
                <a:custGeom>
                  <a:avLst/>
                  <a:gdLst>
                    <a:gd name="T0" fmla="*/ 47 w 795"/>
                    <a:gd name="T1" fmla="*/ 0 h 714"/>
                    <a:gd name="T2" fmla="*/ 115 w 795"/>
                    <a:gd name="T3" fmla="*/ 11 h 714"/>
                    <a:gd name="T4" fmla="*/ 183 w 795"/>
                    <a:gd name="T5" fmla="*/ 11 h 714"/>
                    <a:gd name="T6" fmla="*/ 251 w 795"/>
                    <a:gd name="T7" fmla="*/ 11 h 714"/>
                    <a:gd name="T8" fmla="*/ 319 w 795"/>
                    <a:gd name="T9" fmla="*/ 11 h 714"/>
                    <a:gd name="T10" fmla="*/ 387 w 795"/>
                    <a:gd name="T11" fmla="*/ 11 h 714"/>
                    <a:gd name="T12" fmla="*/ 455 w 795"/>
                    <a:gd name="T13" fmla="*/ 11 h 714"/>
                    <a:gd name="T14" fmla="*/ 523 w 795"/>
                    <a:gd name="T15" fmla="*/ 22 h 714"/>
                    <a:gd name="T16" fmla="*/ 591 w 795"/>
                    <a:gd name="T17" fmla="*/ 34 h 714"/>
                    <a:gd name="T18" fmla="*/ 658 w 795"/>
                    <a:gd name="T19" fmla="*/ 34 h 714"/>
                    <a:gd name="T20" fmla="*/ 692 w 795"/>
                    <a:gd name="T21" fmla="*/ 102 h 714"/>
                    <a:gd name="T22" fmla="*/ 726 w 795"/>
                    <a:gd name="T23" fmla="*/ 170 h 714"/>
                    <a:gd name="T24" fmla="*/ 760 w 795"/>
                    <a:gd name="T25" fmla="*/ 237 h 714"/>
                    <a:gd name="T26" fmla="*/ 772 w 795"/>
                    <a:gd name="T27" fmla="*/ 305 h 714"/>
                    <a:gd name="T28" fmla="*/ 783 w 795"/>
                    <a:gd name="T29" fmla="*/ 373 h 714"/>
                    <a:gd name="T30" fmla="*/ 783 w 795"/>
                    <a:gd name="T31" fmla="*/ 441 h 714"/>
                    <a:gd name="T32" fmla="*/ 794 w 795"/>
                    <a:gd name="T33" fmla="*/ 509 h 714"/>
                    <a:gd name="T34" fmla="*/ 794 w 795"/>
                    <a:gd name="T35" fmla="*/ 577 h 714"/>
                    <a:gd name="T36" fmla="*/ 783 w 795"/>
                    <a:gd name="T37" fmla="*/ 645 h 714"/>
                    <a:gd name="T38" fmla="*/ 772 w 795"/>
                    <a:gd name="T39" fmla="*/ 713 h 714"/>
                    <a:gd name="T40" fmla="*/ 704 w 795"/>
                    <a:gd name="T41" fmla="*/ 713 h 714"/>
                    <a:gd name="T42" fmla="*/ 636 w 795"/>
                    <a:gd name="T43" fmla="*/ 713 h 714"/>
                    <a:gd name="T44" fmla="*/ 568 w 795"/>
                    <a:gd name="T45" fmla="*/ 713 h 714"/>
                    <a:gd name="T46" fmla="*/ 500 w 795"/>
                    <a:gd name="T47" fmla="*/ 713 h 714"/>
                    <a:gd name="T48" fmla="*/ 432 w 795"/>
                    <a:gd name="T49" fmla="*/ 713 h 714"/>
                    <a:gd name="T50" fmla="*/ 364 w 795"/>
                    <a:gd name="T51" fmla="*/ 713 h 714"/>
                    <a:gd name="T52" fmla="*/ 296 w 795"/>
                    <a:gd name="T53" fmla="*/ 713 h 714"/>
                    <a:gd name="T54" fmla="*/ 228 w 795"/>
                    <a:gd name="T55" fmla="*/ 713 h 714"/>
                    <a:gd name="T56" fmla="*/ 160 w 795"/>
                    <a:gd name="T57" fmla="*/ 713 h 714"/>
                    <a:gd name="T58" fmla="*/ 206 w 795"/>
                    <a:gd name="T59" fmla="*/ 645 h 714"/>
                    <a:gd name="T60" fmla="*/ 206 w 795"/>
                    <a:gd name="T61" fmla="*/ 577 h 714"/>
                    <a:gd name="T62" fmla="*/ 194 w 795"/>
                    <a:gd name="T63" fmla="*/ 509 h 714"/>
                    <a:gd name="T64" fmla="*/ 194 w 795"/>
                    <a:gd name="T65" fmla="*/ 441 h 714"/>
                    <a:gd name="T66" fmla="*/ 194 w 795"/>
                    <a:gd name="T67" fmla="*/ 373 h 714"/>
                    <a:gd name="T68" fmla="*/ 183 w 795"/>
                    <a:gd name="T69" fmla="*/ 305 h 714"/>
                    <a:gd name="T70" fmla="*/ 172 w 795"/>
                    <a:gd name="T71" fmla="*/ 237 h 714"/>
                    <a:gd name="T72" fmla="*/ 138 w 795"/>
                    <a:gd name="T73" fmla="*/ 170 h 714"/>
                    <a:gd name="T74" fmla="*/ 104 w 795"/>
                    <a:gd name="T75" fmla="*/ 102 h 714"/>
                    <a:gd name="T76" fmla="*/ 58 w 795"/>
                    <a:gd name="T77" fmla="*/ 3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5" h="714">
                      <a:moveTo>
                        <a:pt x="0" y="1"/>
                      </a:moveTo>
                      <a:lnTo>
                        <a:pt x="47" y="0"/>
                      </a:lnTo>
                      <a:lnTo>
                        <a:pt x="81" y="11"/>
                      </a:lnTo>
                      <a:lnTo>
                        <a:pt x="115" y="11"/>
                      </a:lnTo>
                      <a:lnTo>
                        <a:pt x="149" y="11"/>
                      </a:lnTo>
                      <a:lnTo>
                        <a:pt x="183" y="11"/>
                      </a:lnTo>
                      <a:lnTo>
                        <a:pt x="217" y="11"/>
                      </a:lnTo>
                      <a:lnTo>
                        <a:pt x="251" y="11"/>
                      </a:lnTo>
                      <a:lnTo>
                        <a:pt x="285" y="11"/>
                      </a:lnTo>
                      <a:lnTo>
                        <a:pt x="319" y="11"/>
                      </a:lnTo>
                      <a:lnTo>
                        <a:pt x="353" y="11"/>
                      </a:lnTo>
                      <a:lnTo>
                        <a:pt x="387" y="11"/>
                      </a:lnTo>
                      <a:lnTo>
                        <a:pt x="421" y="11"/>
                      </a:lnTo>
                      <a:lnTo>
                        <a:pt x="455" y="11"/>
                      </a:lnTo>
                      <a:lnTo>
                        <a:pt x="489" y="22"/>
                      </a:lnTo>
                      <a:lnTo>
                        <a:pt x="523" y="22"/>
                      </a:lnTo>
                      <a:lnTo>
                        <a:pt x="557" y="34"/>
                      </a:lnTo>
                      <a:lnTo>
                        <a:pt x="591" y="34"/>
                      </a:lnTo>
                      <a:lnTo>
                        <a:pt x="625" y="34"/>
                      </a:lnTo>
                      <a:lnTo>
                        <a:pt x="658" y="34"/>
                      </a:lnTo>
                      <a:lnTo>
                        <a:pt x="670" y="68"/>
                      </a:lnTo>
                      <a:lnTo>
                        <a:pt x="692" y="102"/>
                      </a:lnTo>
                      <a:lnTo>
                        <a:pt x="715" y="136"/>
                      </a:lnTo>
                      <a:lnTo>
                        <a:pt x="726" y="170"/>
                      </a:lnTo>
                      <a:lnTo>
                        <a:pt x="749" y="203"/>
                      </a:lnTo>
                      <a:lnTo>
                        <a:pt x="760" y="237"/>
                      </a:lnTo>
                      <a:lnTo>
                        <a:pt x="772" y="271"/>
                      </a:lnTo>
                      <a:lnTo>
                        <a:pt x="772" y="305"/>
                      </a:lnTo>
                      <a:lnTo>
                        <a:pt x="783" y="339"/>
                      </a:lnTo>
                      <a:lnTo>
                        <a:pt x="783" y="373"/>
                      </a:lnTo>
                      <a:lnTo>
                        <a:pt x="783" y="407"/>
                      </a:lnTo>
                      <a:lnTo>
                        <a:pt x="783" y="441"/>
                      </a:lnTo>
                      <a:lnTo>
                        <a:pt x="783" y="475"/>
                      </a:lnTo>
                      <a:lnTo>
                        <a:pt x="794" y="509"/>
                      </a:lnTo>
                      <a:lnTo>
                        <a:pt x="794" y="543"/>
                      </a:lnTo>
                      <a:lnTo>
                        <a:pt x="794" y="577"/>
                      </a:lnTo>
                      <a:lnTo>
                        <a:pt x="794" y="611"/>
                      </a:lnTo>
                      <a:lnTo>
                        <a:pt x="783" y="645"/>
                      </a:lnTo>
                      <a:lnTo>
                        <a:pt x="783" y="679"/>
                      </a:lnTo>
                      <a:lnTo>
                        <a:pt x="772" y="713"/>
                      </a:lnTo>
                      <a:lnTo>
                        <a:pt x="738" y="713"/>
                      </a:lnTo>
                      <a:lnTo>
                        <a:pt x="704" y="713"/>
                      </a:lnTo>
                      <a:lnTo>
                        <a:pt x="670" y="713"/>
                      </a:lnTo>
                      <a:lnTo>
                        <a:pt x="636" y="713"/>
                      </a:lnTo>
                      <a:lnTo>
                        <a:pt x="602" y="713"/>
                      </a:lnTo>
                      <a:lnTo>
                        <a:pt x="568" y="713"/>
                      </a:lnTo>
                      <a:lnTo>
                        <a:pt x="534" y="713"/>
                      </a:lnTo>
                      <a:lnTo>
                        <a:pt x="500" y="713"/>
                      </a:lnTo>
                      <a:lnTo>
                        <a:pt x="466" y="713"/>
                      </a:lnTo>
                      <a:lnTo>
                        <a:pt x="432" y="713"/>
                      </a:lnTo>
                      <a:lnTo>
                        <a:pt x="398" y="713"/>
                      </a:lnTo>
                      <a:lnTo>
                        <a:pt x="364" y="713"/>
                      </a:lnTo>
                      <a:lnTo>
                        <a:pt x="330" y="713"/>
                      </a:lnTo>
                      <a:lnTo>
                        <a:pt x="296" y="713"/>
                      </a:lnTo>
                      <a:lnTo>
                        <a:pt x="262" y="713"/>
                      </a:lnTo>
                      <a:lnTo>
                        <a:pt x="228" y="713"/>
                      </a:lnTo>
                      <a:lnTo>
                        <a:pt x="194" y="713"/>
                      </a:lnTo>
                      <a:lnTo>
                        <a:pt x="160" y="713"/>
                      </a:lnTo>
                      <a:lnTo>
                        <a:pt x="183" y="679"/>
                      </a:lnTo>
                      <a:lnTo>
                        <a:pt x="206" y="645"/>
                      </a:lnTo>
                      <a:lnTo>
                        <a:pt x="206" y="611"/>
                      </a:lnTo>
                      <a:lnTo>
                        <a:pt x="206" y="577"/>
                      </a:lnTo>
                      <a:lnTo>
                        <a:pt x="194" y="543"/>
                      </a:lnTo>
                      <a:lnTo>
                        <a:pt x="194" y="509"/>
                      </a:lnTo>
                      <a:lnTo>
                        <a:pt x="194" y="475"/>
                      </a:lnTo>
                      <a:lnTo>
                        <a:pt x="194" y="441"/>
                      </a:lnTo>
                      <a:lnTo>
                        <a:pt x="194" y="407"/>
                      </a:lnTo>
                      <a:lnTo>
                        <a:pt x="194" y="373"/>
                      </a:lnTo>
                      <a:lnTo>
                        <a:pt x="183" y="339"/>
                      </a:lnTo>
                      <a:lnTo>
                        <a:pt x="183" y="305"/>
                      </a:lnTo>
                      <a:lnTo>
                        <a:pt x="183" y="271"/>
                      </a:lnTo>
                      <a:lnTo>
                        <a:pt x="172" y="237"/>
                      </a:lnTo>
                      <a:lnTo>
                        <a:pt x="160" y="203"/>
                      </a:lnTo>
                      <a:lnTo>
                        <a:pt x="138" y="170"/>
                      </a:lnTo>
                      <a:lnTo>
                        <a:pt x="126" y="136"/>
                      </a:lnTo>
                      <a:lnTo>
                        <a:pt x="104" y="102"/>
                      </a:lnTo>
                      <a:lnTo>
                        <a:pt x="81" y="68"/>
                      </a:lnTo>
                      <a:lnTo>
                        <a:pt x="58" y="34"/>
                      </a:lnTo>
                      <a:lnTo>
                        <a:pt x="96" y="1"/>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9991" name="Rectangle 55"/>
                <p:cNvSpPr>
                  <a:spLocks noChangeArrowheads="1"/>
                </p:cNvSpPr>
                <p:nvPr/>
              </p:nvSpPr>
              <p:spPr bwMode="auto">
                <a:xfrm>
                  <a:off x="4575" y="2218"/>
                  <a:ext cx="533" cy="1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sp>
        <p:nvSpPr>
          <p:cNvPr id="39961" name="Line 25"/>
          <p:cNvSpPr>
            <a:spLocks noChangeShapeType="1"/>
          </p:cNvSpPr>
          <p:nvPr/>
        </p:nvSpPr>
        <p:spPr bwMode="auto">
          <a:xfrm>
            <a:off x="3962400" y="1828800"/>
            <a:ext cx="1295400" cy="685800"/>
          </a:xfrm>
          <a:prstGeom prst="line">
            <a:avLst/>
          </a:prstGeom>
          <a:noFill/>
          <a:ln w="12700">
            <a:solidFill>
              <a:schemeClr val="fo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Tree>
    <p:extLst>
      <p:ext uri="{BB962C8B-B14F-4D97-AF65-F5344CB8AC3E}">
        <p14:creationId xmlns:p14="http://schemas.microsoft.com/office/powerpoint/2010/main" val="39989420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999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93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996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99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99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bldLvl="4" autoUpdateAnimBg="0"/>
      <p:bldP spid="39964" grpId="0" autoUpdateAnimBg="0"/>
      <p:bldP spid="39961"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33400" y="152400"/>
            <a:ext cx="7772400" cy="1066800"/>
          </a:xfrm>
          <a:noFill/>
          <a:ln/>
        </p:spPr>
        <p:txBody>
          <a:bodyPr/>
          <a:lstStyle/>
          <a:p>
            <a:r>
              <a:rPr lang="en-US" sz="3200" b="1">
                <a:solidFill>
                  <a:schemeClr val="hlink"/>
                </a:solidFill>
                <a:latin typeface="Arial Rounded MT Bold" pitchFamily="34" charset="0"/>
              </a:rPr>
              <a:t>The structure of the muscle membrane</a:t>
            </a:r>
          </a:p>
        </p:txBody>
      </p:sp>
      <p:sp>
        <p:nvSpPr>
          <p:cNvPr id="41987" name="Rectangle 3"/>
          <p:cNvSpPr>
            <a:spLocks noGrp="1" noChangeArrowheads="1"/>
          </p:cNvSpPr>
          <p:nvPr>
            <p:ph type="body" idx="1"/>
          </p:nvPr>
        </p:nvSpPr>
        <p:spPr>
          <a:xfrm>
            <a:off x="457200" y="1370013"/>
            <a:ext cx="4425950" cy="476250"/>
          </a:xfrm>
          <a:noFill/>
          <a:ln/>
        </p:spPr>
        <p:txBody>
          <a:bodyPr>
            <a:normAutofit lnSpcReduction="10000"/>
          </a:bodyPr>
          <a:lstStyle/>
          <a:p>
            <a:r>
              <a:rPr lang="en-US" sz="2800" b="1">
                <a:solidFill>
                  <a:schemeClr val="folHlink"/>
                </a:solidFill>
                <a:latin typeface="Arial Rounded MT Bold" pitchFamily="34" charset="0"/>
              </a:rPr>
              <a:t>The T-tubule system:</a:t>
            </a:r>
          </a:p>
        </p:txBody>
      </p:sp>
      <p:grpSp>
        <p:nvGrpSpPr>
          <p:cNvPr id="41989" name="Group 5"/>
          <p:cNvGrpSpPr>
            <a:grpSpLocks/>
          </p:cNvGrpSpPr>
          <p:nvPr/>
        </p:nvGrpSpPr>
        <p:grpSpPr bwMode="auto">
          <a:xfrm>
            <a:off x="1501775" y="4311650"/>
            <a:ext cx="2378075" cy="1417638"/>
            <a:chOff x="946" y="2716"/>
            <a:chExt cx="1498" cy="893"/>
          </a:xfrm>
        </p:grpSpPr>
        <p:sp>
          <p:nvSpPr>
            <p:cNvPr id="41990" name="Line 6"/>
            <p:cNvSpPr>
              <a:spLocks noChangeShapeType="1"/>
            </p:cNvSpPr>
            <p:nvPr/>
          </p:nvSpPr>
          <p:spPr bwMode="auto">
            <a:xfrm flipV="1">
              <a:off x="1340" y="2716"/>
              <a:ext cx="1104" cy="67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91" name="Rectangle 7"/>
            <p:cNvSpPr>
              <a:spLocks noChangeArrowheads="1"/>
            </p:cNvSpPr>
            <p:nvPr/>
          </p:nvSpPr>
          <p:spPr bwMode="auto">
            <a:xfrm>
              <a:off x="946" y="3359"/>
              <a:ext cx="7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r>
                <a:rPr lang="en-US" sz="2000">
                  <a:solidFill>
                    <a:schemeClr val="folHlink"/>
                  </a:solidFill>
                </a:rPr>
                <a:t>myofibril</a:t>
              </a:r>
            </a:p>
          </p:txBody>
        </p:sp>
      </p:grpSp>
      <p:grpSp>
        <p:nvGrpSpPr>
          <p:cNvPr id="41992" name="Group 8"/>
          <p:cNvGrpSpPr>
            <a:grpSpLocks/>
          </p:cNvGrpSpPr>
          <p:nvPr/>
        </p:nvGrpSpPr>
        <p:grpSpPr bwMode="auto">
          <a:xfrm>
            <a:off x="182563" y="1892300"/>
            <a:ext cx="8159750" cy="2865438"/>
            <a:chOff x="115" y="1192"/>
            <a:chExt cx="5140" cy="1805"/>
          </a:xfrm>
        </p:grpSpPr>
        <p:sp>
          <p:nvSpPr>
            <p:cNvPr id="41993" name="Freeform 9"/>
            <p:cNvSpPr>
              <a:spLocks/>
            </p:cNvSpPr>
            <p:nvPr/>
          </p:nvSpPr>
          <p:spPr bwMode="auto">
            <a:xfrm>
              <a:off x="120" y="1192"/>
              <a:ext cx="1951" cy="385"/>
            </a:xfrm>
            <a:custGeom>
              <a:avLst/>
              <a:gdLst>
                <a:gd name="T0" fmla="*/ 65 w 1951"/>
                <a:gd name="T1" fmla="*/ 355 h 385"/>
                <a:gd name="T2" fmla="*/ 132 w 1951"/>
                <a:gd name="T3" fmla="*/ 324 h 385"/>
                <a:gd name="T4" fmla="*/ 194 w 1951"/>
                <a:gd name="T5" fmla="*/ 278 h 385"/>
                <a:gd name="T6" fmla="*/ 250 w 1951"/>
                <a:gd name="T7" fmla="*/ 225 h 385"/>
                <a:gd name="T8" fmla="*/ 301 w 1951"/>
                <a:gd name="T9" fmla="*/ 171 h 385"/>
                <a:gd name="T10" fmla="*/ 357 w 1951"/>
                <a:gd name="T11" fmla="*/ 118 h 385"/>
                <a:gd name="T12" fmla="*/ 418 w 1951"/>
                <a:gd name="T13" fmla="*/ 79 h 385"/>
                <a:gd name="T14" fmla="*/ 484 w 1951"/>
                <a:gd name="T15" fmla="*/ 56 h 385"/>
                <a:gd name="T16" fmla="*/ 544 w 1951"/>
                <a:gd name="T17" fmla="*/ 66 h 385"/>
                <a:gd name="T18" fmla="*/ 587 w 1951"/>
                <a:gd name="T19" fmla="*/ 100 h 385"/>
                <a:gd name="T20" fmla="*/ 598 w 1951"/>
                <a:gd name="T21" fmla="*/ 164 h 385"/>
                <a:gd name="T22" fmla="*/ 588 w 1951"/>
                <a:gd name="T23" fmla="*/ 224 h 385"/>
                <a:gd name="T24" fmla="*/ 612 w 1951"/>
                <a:gd name="T25" fmla="*/ 290 h 385"/>
                <a:gd name="T26" fmla="*/ 672 w 1951"/>
                <a:gd name="T27" fmla="*/ 299 h 385"/>
                <a:gd name="T28" fmla="*/ 709 w 1951"/>
                <a:gd name="T29" fmla="*/ 243 h 385"/>
                <a:gd name="T30" fmla="*/ 752 w 1951"/>
                <a:gd name="T31" fmla="*/ 188 h 385"/>
                <a:gd name="T32" fmla="*/ 815 w 1951"/>
                <a:gd name="T33" fmla="*/ 177 h 385"/>
                <a:gd name="T34" fmla="*/ 874 w 1951"/>
                <a:gd name="T35" fmla="*/ 200 h 385"/>
                <a:gd name="T36" fmla="*/ 911 w 1951"/>
                <a:gd name="T37" fmla="*/ 268 h 385"/>
                <a:gd name="T38" fmla="*/ 956 w 1951"/>
                <a:gd name="T39" fmla="*/ 331 h 385"/>
                <a:gd name="T40" fmla="*/ 1011 w 1951"/>
                <a:gd name="T41" fmla="*/ 374 h 385"/>
                <a:gd name="T42" fmla="*/ 1070 w 1951"/>
                <a:gd name="T43" fmla="*/ 349 h 385"/>
                <a:gd name="T44" fmla="*/ 1087 w 1951"/>
                <a:gd name="T45" fmla="*/ 289 h 385"/>
                <a:gd name="T46" fmla="*/ 1089 w 1951"/>
                <a:gd name="T47" fmla="*/ 227 h 385"/>
                <a:gd name="T48" fmla="*/ 1106 w 1951"/>
                <a:gd name="T49" fmla="*/ 168 h 385"/>
                <a:gd name="T50" fmla="*/ 1166 w 1951"/>
                <a:gd name="T51" fmla="*/ 136 h 385"/>
                <a:gd name="T52" fmla="*/ 1223 w 1951"/>
                <a:gd name="T53" fmla="*/ 166 h 385"/>
                <a:gd name="T54" fmla="*/ 1268 w 1951"/>
                <a:gd name="T55" fmla="*/ 228 h 385"/>
                <a:gd name="T56" fmla="*/ 1325 w 1951"/>
                <a:gd name="T57" fmla="*/ 265 h 385"/>
                <a:gd name="T58" fmla="*/ 1384 w 1951"/>
                <a:gd name="T59" fmla="*/ 240 h 385"/>
                <a:gd name="T60" fmla="*/ 1372 w 1951"/>
                <a:gd name="T61" fmla="*/ 183 h 385"/>
                <a:gd name="T62" fmla="*/ 1319 w 1951"/>
                <a:gd name="T63" fmla="*/ 126 h 385"/>
                <a:gd name="T64" fmla="*/ 1315 w 1951"/>
                <a:gd name="T65" fmla="*/ 64 h 385"/>
                <a:gd name="T66" fmla="*/ 1325 w 1951"/>
                <a:gd name="T67" fmla="*/ 3 h 385"/>
                <a:gd name="T68" fmla="*/ 1385 w 1951"/>
                <a:gd name="T69" fmla="*/ 13 h 385"/>
                <a:gd name="T70" fmla="*/ 1441 w 1951"/>
                <a:gd name="T71" fmla="*/ 56 h 385"/>
                <a:gd name="T72" fmla="*/ 1495 w 1951"/>
                <a:gd name="T73" fmla="*/ 99 h 385"/>
                <a:gd name="T74" fmla="*/ 1569 w 1951"/>
                <a:gd name="T75" fmla="*/ 152 h 385"/>
                <a:gd name="T76" fmla="*/ 1634 w 1951"/>
                <a:gd name="T77" fmla="*/ 183 h 385"/>
                <a:gd name="T78" fmla="*/ 1691 w 1951"/>
                <a:gd name="T79" fmla="*/ 213 h 385"/>
                <a:gd name="T80" fmla="*/ 1748 w 1951"/>
                <a:gd name="T81" fmla="*/ 236 h 385"/>
                <a:gd name="T82" fmla="*/ 1809 w 1951"/>
                <a:gd name="T83" fmla="*/ 245 h 385"/>
                <a:gd name="T84" fmla="*/ 1870 w 1951"/>
                <a:gd name="T85" fmla="*/ 255 h 385"/>
                <a:gd name="T86" fmla="*/ 1933 w 1951"/>
                <a:gd name="T87" fmla="*/ 244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51" h="385">
                  <a:moveTo>
                    <a:pt x="0" y="384"/>
                  </a:moveTo>
                  <a:lnTo>
                    <a:pt x="43" y="364"/>
                  </a:lnTo>
                  <a:lnTo>
                    <a:pt x="65" y="355"/>
                  </a:lnTo>
                  <a:lnTo>
                    <a:pt x="86" y="350"/>
                  </a:lnTo>
                  <a:lnTo>
                    <a:pt x="108" y="341"/>
                  </a:lnTo>
                  <a:lnTo>
                    <a:pt x="132" y="324"/>
                  </a:lnTo>
                  <a:lnTo>
                    <a:pt x="155" y="307"/>
                  </a:lnTo>
                  <a:lnTo>
                    <a:pt x="177" y="296"/>
                  </a:lnTo>
                  <a:lnTo>
                    <a:pt x="194" y="278"/>
                  </a:lnTo>
                  <a:lnTo>
                    <a:pt x="217" y="262"/>
                  </a:lnTo>
                  <a:lnTo>
                    <a:pt x="234" y="243"/>
                  </a:lnTo>
                  <a:lnTo>
                    <a:pt x="250" y="225"/>
                  </a:lnTo>
                  <a:lnTo>
                    <a:pt x="267" y="207"/>
                  </a:lnTo>
                  <a:lnTo>
                    <a:pt x="283" y="189"/>
                  </a:lnTo>
                  <a:lnTo>
                    <a:pt x="301" y="171"/>
                  </a:lnTo>
                  <a:lnTo>
                    <a:pt x="317" y="153"/>
                  </a:lnTo>
                  <a:lnTo>
                    <a:pt x="340" y="136"/>
                  </a:lnTo>
                  <a:lnTo>
                    <a:pt x="357" y="118"/>
                  </a:lnTo>
                  <a:lnTo>
                    <a:pt x="379" y="108"/>
                  </a:lnTo>
                  <a:lnTo>
                    <a:pt x="396" y="90"/>
                  </a:lnTo>
                  <a:lnTo>
                    <a:pt x="418" y="79"/>
                  </a:lnTo>
                  <a:lnTo>
                    <a:pt x="441" y="70"/>
                  </a:lnTo>
                  <a:lnTo>
                    <a:pt x="462" y="66"/>
                  </a:lnTo>
                  <a:lnTo>
                    <a:pt x="484" y="56"/>
                  </a:lnTo>
                  <a:lnTo>
                    <a:pt x="504" y="59"/>
                  </a:lnTo>
                  <a:lnTo>
                    <a:pt x="524" y="62"/>
                  </a:lnTo>
                  <a:lnTo>
                    <a:pt x="544" y="66"/>
                  </a:lnTo>
                  <a:lnTo>
                    <a:pt x="564" y="69"/>
                  </a:lnTo>
                  <a:lnTo>
                    <a:pt x="583" y="78"/>
                  </a:lnTo>
                  <a:lnTo>
                    <a:pt x="587" y="100"/>
                  </a:lnTo>
                  <a:lnTo>
                    <a:pt x="590" y="121"/>
                  </a:lnTo>
                  <a:lnTo>
                    <a:pt x="594" y="142"/>
                  </a:lnTo>
                  <a:lnTo>
                    <a:pt x="598" y="164"/>
                  </a:lnTo>
                  <a:lnTo>
                    <a:pt x="594" y="183"/>
                  </a:lnTo>
                  <a:lnTo>
                    <a:pt x="591" y="204"/>
                  </a:lnTo>
                  <a:lnTo>
                    <a:pt x="588" y="224"/>
                  </a:lnTo>
                  <a:lnTo>
                    <a:pt x="591" y="245"/>
                  </a:lnTo>
                  <a:lnTo>
                    <a:pt x="595" y="266"/>
                  </a:lnTo>
                  <a:lnTo>
                    <a:pt x="612" y="290"/>
                  </a:lnTo>
                  <a:lnTo>
                    <a:pt x="630" y="306"/>
                  </a:lnTo>
                  <a:lnTo>
                    <a:pt x="650" y="309"/>
                  </a:lnTo>
                  <a:lnTo>
                    <a:pt x="672" y="299"/>
                  </a:lnTo>
                  <a:lnTo>
                    <a:pt x="683" y="280"/>
                  </a:lnTo>
                  <a:lnTo>
                    <a:pt x="699" y="262"/>
                  </a:lnTo>
                  <a:lnTo>
                    <a:pt x="709" y="243"/>
                  </a:lnTo>
                  <a:lnTo>
                    <a:pt x="725" y="225"/>
                  </a:lnTo>
                  <a:lnTo>
                    <a:pt x="735" y="206"/>
                  </a:lnTo>
                  <a:lnTo>
                    <a:pt x="752" y="188"/>
                  </a:lnTo>
                  <a:lnTo>
                    <a:pt x="774" y="177"/>
                  </a:lnTo>
                  <a:lnTo>
                    <a:pt x="794" y="180"/>
                  </a:lnTo>
                  <a:lnTo>
                    <a:pt x="815" y="177"/>
                  </a:lnTo>
                  <a:lnTo>
                    <a:pt x="836" y="180"/>
                  </a:lnTo>
                  <a:lnTo>
                    <a:pt x="856" y="183"/>
                  </a:lnTo>
                  <a:lnTo>
                    <a:pt x="874" y="200"/>
                  </a:lnTo>
                  <a:lnTo>
                    <a:pt x="891" y="223"/>
                  </a:lnTo>
                  <a:lnTo>
                    <a:pt x="901" y="245"/>
                  </a:lnTo>
                  <a:lnTo>
                    <a:pt x="911" y="268"/>
                  </a:lnTo>
                  <a:lnTo>
                    <a:pt x="921" y="290"/>
                  </a:lnTo>
                  <a:lnTo>
                    <a:pt x="938" y="314"/>
                  </a:lnTo>
                  <a:lnTo>
                    <a:pt x="956" y="331"/>
                  </a:lnTo>
                  <a:lnTo>
                    <a:pt x="974" y="353"/>
                  </a:lnTo>
                  <a:lnTo>
                    <a:pt x="992" y="371"/>
                  </a:lnTo>
                  <a:lnTo>
                    <a:pt x="1011" y="374"/>
                  </a:lnTo>
                  <a:lnTo>
                    <a:pt x="1032" y="377"/>
                  </a:lnTo>
                  <a:lnTo>
                    <a:pt x="1054" y="367"/>
                  </a:lnTo>
                  <a:lnTo>
                    <a:pt x="1070" y="349"/>
                  </a:lnTo>
                  <a:lnTo>
                    <a:pt x="1080" y="329"/>
                  </a:lnTo>
                  <a:lnTo>
                    <a:pt x="1084" y="309"/>
                  </a:lnTo>
                  <a:lnTo>
                    <a:pt x="1087" y="289"/>
                  </a:lnTo>
                  <a:lnTo>
                    <a:pt x="1083" y="268"/>
                  </a:lnTo>
                  <a:lnTo>
                    <a:pt x="1086" y="248"/>
                  </a:lnTo>
                  <a:lnTo>
                    <a:pt x="1089" y="227"/>
                  </a:lnTo>
                  <a:lnTo>
                    <a:pt x="1092" y="207"/>
                  </a:lnTo>
                  <a:lnTo>
                    <a:pt x="1096" y="187"/>
                  </a:lnTo>
                  <a:lnTo>
                    <a:pt x="1106" y="168"/>
                  </a:lnTo>
                  <a:lnTo>
                    <a:pt x="1122" y="150"/>
                  </a:lnTo>
                  <a:lnTo>
                    <a:pt x="1143" y="147"/>
                  </a:lnTo>
                  <a:lnTo>
                    <a:pt x="1166" y="136"/>
                  </a:lnTo>
                  <a:lnTo>
                    <a:pt x="1186" y="140"/>
                  </a:lnTo>
                  <a:lnTo>
                    <a:pt x="1205" y="150"/>
                  </a:lnTo>
                  <a:lnTo>
                    <a:pt x="1223" y="166"/>
                  </a:lnTo>
                  <a:lnTo>
                    <a:pt x="1233" y="188"/>
                  </a:lnTo>
                  <a:lnTo>
                    <a:pt x="1251" y="205"/>
                  </a:lnTo>
                  <a:lnTo>
                    <a:pt x="1268" y="228"/>
                  </a:lnTo>
                  <a:lnTo>
                    <a:pt x="1286" y="245"/>
                  </a:lnTo>
                  <a:lnTo>
                    <a:pt x="1304" y="262"/>
                  </a:lnTo>
                  <a:lnTo>
                    <a:pt x="1325" y="265"/>
                  </a:lnTo>
                  <a:lnTo>
                    <a:pt x="1345" y="268"/>
                  </a:lnTo>
                  <a:lnTo>
                    <a:pt x="1367" y="258"/>
                  </a:lnTo>
                  <a:lnTo>
                    <a:pt x="1384" y="240"/>
                  </a:lnTo>
                  <a:lnTo>
                    <a:pt x="1394" y="221"/>
                  </a:lnTo>
                  <a:lnTo>
                    <a:pt x="1390" y="200"/>
                  </a:lnTo>
                  <a:lnTo>
                    <a:pt x="1372" y="183"/>
                  </a:lnTo>
                  <a:lnTo>
                    <a:pt x="1354" y="166"/>
                  </a:lnTo>
                  <a:lnTo>
                    <a:pt x="1336" y="150"/>
                  </a:lnTo>
                  <a:lnTo>
                    <a:pt x="1319" y="126"/>
                  </a:lnTo>
                  <a:lnTo>
                    <a:pt x="1315" y="105"/>
                  </a:lnTo>
                  <a:lnTo>
                    <a:pt x="1312" y="84"/>
                  </a:lnTo>
                  <a:lnTo>
                    <a:pt x="1315" y="64"/>
                  </a:lnTo>
                  <a:lnTo>
                    <a:pt x="1319" y="43"/>
                  </a:lnTo>
                  <a:lnTo>
                    <a:pt x="1322" y="23"/>
                  </a:lnTo>
                  <a:lnTo>
                    <a:pt x="1325" y="3"/>
                  </a:lnTo>
                  <a:lnTo>
                    <a:pt x="1346" y="0"/>
                  </a:lnTo>
                  <a:lnTo>
                    <a:pt x="1366" y="3"/>
                  </a:lnTo>
                  <a:lnTo>
                    <a:pt x="1385" y="13"/>
                  </a:lnTo>
                  <a:lnTo>
                    <a:pt x="1405" y="22"/>
                  </a:lnTo>
                  <a:lnTo>
                    <a:pt x="1423" y="39"/>
                  </a:lnTo>
                  <a:lnTo>
                    <a:pt x="1441" y="56"/>
                  </a:lnTo>
                  <a:lnTo>
                    <a:pt x="1459" y="72"/>
                  </a:lnTo>
                  <a:lnTo>
                    <a:pt x="1478" y="82"/>
                  </a:lnTo>
                  <a:lnTo>
                    <a:pt x="1495" y="99"/>
                  </a:lnTo>
                  <a:lnTo>
                    <a:pt x="1520" y="117"/>
                  </a:lnTo>
                  <a:lnTo>
                    <a:pt x="1544" y="135"/>
                  </a:lnTo>
                  <a:lnTo>
                    <a:pt x="1569" y="152"/>
                  </a:lnTo>
                  <a:lnTo>
                    <a:pt x="1588" y="162"/>
                  </a:lnTo>
                  <a:lnTo>
                    <a:pt x="1607" y="172"/>
                  </a:lnTo>
                  <a:lnTo>
                    <a:pt x="1634" y="183"/>
                  </a:lnTo>
                  <a:lnTo>
                    <a:pt x="1653" y="192"/>
                  </a:lnTo>
                  <a:lnTo>
                    <a:pt x="1672" y="203"/>
                  </a:lnTo>
                  <a:lnTo>
                    <a:pt x="1691" y="213"/>
                  </a:lnTo>
                  <a:lnTo>
                    <a:pt x="1709" y="222"/>
                  </a:lnTo>
                  <a:lnTo>
                    <a:pt x="1730" y="225"/>
                  </a:lnTo>
                  <a:lnTo>
                    <a:pt x="1748" y="236"/>
                  </a:lnTo>
                  <a:lnTo>
                    <a:pt x="1769" y="239"/>
                  </a:lnTo>
                  <a:lnTo>
                    <a:pt x="1789" y="242"/>
                  </a:lnTo>
                  <a:lnTo>
                    <a:pt x="1809" y="245"/>
                  </a:lnTo>
                  <a:lnTo>
                    <a:pt x="1829" y="248"/>
                  </a:lnTo>
                  <a:lnTo>
                    <a:pt x="1849" y="252"/>
                  </a:lnTo>
                  <a:lnTo>
                    <a:pt x="1870" y="255"/>
                  </a:lnTo>
                  <a:lnTo>
                    <a:pt x="1889" y="258"/>
                  </a:lnTo>
                  <a:lnTo>
                    <a:pt x="1911" y="254"/>
                  </a:lnTo>
                  <a:lnTo>
                    <a:pt x="1933" y="244"/>
                  </a:lnTo>
                  <a:lnTo>
                    <a:pt x="1950" y="225"/>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41994" name="Group 10"/>
            <p:cNvGrpSpPr>
              <a:grpSpLocks/>
            </p:cNvGrpSpPr>
            <p:nvPr/>
          </p:nvGrpSpPr>
          <p:grpSpPr bwMode="auto">
            <a:xfrm>
              <a:off x="115" y="1213"/>
              <a:ext cx="5140" cy="1784"/>
              <a:chOff x="115" y="1213"/>
              <a:chExt cx="5140" cy="1784"/>
            </a:xfrm>
          </p:grpSpPr>
          <p:sp>
            <p:nvSpPr>
              <p:cNvPr id="41995" name="Freeform 11" descr="25%"/>
              <p:cNvSpPr>
                <a:spLocks/>
              </p:cNvSpPr>
              <p:nvPr/>
            </p:nvSpPr>
            <p:spPr bwMode="auto">
              <a:xfrm>
                <a:off x="115" y="1276"/>
                <a:ext cx="2035" cy="661"/>
              </a:xfrm>
              <a:custGeom>
                <a:avLst/>
                <a:gdLst>
                  <a:gd name="T0" fmla="*/ 78 w 2035"/>
                  <a:gd name="T1" fmla="*/ 306 h 661"/>
                  <a:gd name="T2" fmla="*/ 168 w 2035"/>
                  <a:gd name="T3" fmla="*/ 258 h 661"/>
                  <a:gd name="T4" fmla="*/ 248 w 2035"/>
                  <a:gd name="T5" fmla="*/ 189 h 661"/>
                  <a:gd name="T6" fmla="*/ 314 w 2035"/>
                  <a:gd name="T7" fmla="*/ 116 h 661"/>
                  <a:gd name="T8" fmla="*/ 393 w 2035"/>
                  <a:gd name="T9" fmla="*/ 53 h 661"/>
                  <a:gd name="T10" fmla="*/ 478 w 2035"/>
                  <a:gd name="T11" fmla="*/ 39 h 661"/>
                  <a:gd name="T12" fmla="*/ 558 w 2035"/>
                  <a:gd name="T13" fmla="*/ 52 h 661"/>
                  <a:gd name="T14" fmla="*/ 565 w 2035"/>
                  <a:gd name="T15" fmla="*/ 135 h 661"/>
                  <a:gd name="T16" fmla="*/ 601 w 2035"/>
                  <a:gd name="T17" fmla="*/ 216 h 661"/>
                  <a:gd name="T18" fmla="*/ 678 w 2035"/>
                  <a:gd name="T19" fmla="*/ 257 h 661"/>
                  <a:gd name="T20" fmla="*/ 731 w 2035"/>
                  <a:gd name="T21" fmla="*/ 182 h 661"/>
                  <a:gd name="T22" fmla="*/ 818 w 2035"/>
                  <a:gd name="T23" fmla="*/ 147 h 661"/>
                  <a:gd name="T24" fmla="*/ 899 w 2035"/>
                  <a:gd name="T25" fmla="*/ 160 h 661"/>
                  <a:gd name="T26" fmla="*/ 947 w 2035"/>
                  <a:gd name="T27" fmla="*/ 251 h 661"/>
                  <a:gd name="T28" fmla="*/ 1020 w 2035"/>
                  <a:gd name="T29" fmla="*/ 311 h 661"/>
                  <a:gd name="T30" fmla="*/ 1072 w 2035"/>
                  <a:gd name="T31" fmla="*/ 284 h 661"/>
                  <a:gd name="T32" fmla="*/ 1124 w 2035"/>
                  <a:gd name="T33" fmla="*/ 216 h 661"/>
                  <a:gd name="T34" fmla="*/ 1137 w 2035"/>
                  <a:gd name="T35" fmla="*/ 136 h 661"/>
                  <a:gd name="T36" fmla="*/ 1214 w 2035"/>
                  <a:gd name="T37" fmla="*/ 128 h 661"/>
                  <a:gd name="T38" fmla="*/ 1290 w 2035"/>
                  <a:gd name="T39" fmla="*/ 168 h 661"/>
                  <a:gd name="T40" fmla="*/ 1370 w 2035"/>
                  <a:gd name="T41" fmla="*/ 187 h 661"/>
                  <a:gd name="T42" fmla="*/ 1400 w 2035"/>
                  <a:gd name="T43" fmla="*/ 129 h 661"/>
                  <a:gd name="T44" fmla="*/ 1365 w 2035"/>
                  <a:gd name="T45" fmla="*/ 42 h 661"/>
                  <a:gd name="T46" fmla="*/ 1426 w 2035"/>
                  <a:gd name="T47" fmla="*/ 3 h 661"/>
                  <a:gd name="T48" fmla="*/ 1505 w 2035"/>
                  <a:gd name="T49" fmla="*/ 30 h 661"/>
                  <a:gd name="T50" fmla="*/ 1580 w 2035"/>
                  <a:gd name="T51" fmla="*/ 76 h 661"/>
                  <a:gd name="T52" fmla="*/ 1657 w 2035"/>
                  <a:gd name="T53" fmla="*/ 115 h 661"/>
                  <a:gd name="T54" fmla="*/ 1738 w 2035"/>
                  <a:gd name="T55" fmla="*/ 162 h 661"/>
                  <a:gd name="T56" fmla="*/ 1822 w 2035"/>
                  <a:gd name="T57" fmla="*/ 196 h 661"/>
                  <a:gd name="T58" fmla="*/ 1904 w 2035"/>
                  <a:gd name="T59" fmla="*/ 202 h 661"/>
                  <a:gd name="T60" fmla="*/ 1988 w 2035"/>
                  <a:gd name="T61" fmla="*/ 195 h 661"/>
                  <a:gd name="T62" fmla="*/ 2032 w 2035"/>
                  <a:gd name="T63" fmla="*/ 258 h 661"/>
                  <a:gd name="T64" fmla="*/ 2013 w 2035"/>
                  <a:gd name="T65" fmla="*/ 337 h 661"/>
                  <a:gd name="T66" fmla="*/ 1946 w 2035"/>
                  <a:gd name="T67" fmla="*/ 409 h 661"/>
                  <a:gd name="T68" fmla="*/ 1860 w 2035"/>
                  <a:gd name="T69" fmla="*/ 478 h 661"/>
                  <a:gd name="T70" fmla="*/ 1763 w 2035"/>
                  <a:gd name="T71" fmla="*/ 531 h 661"/>
                  <a:gd name="T72" fmla="*/ 1660 w 2035"/>
                  <a:gd name="T73" fmla="*/ 570 h 661"/>
                  <a:gd name="T74" fmla="*/ 1550 w 2035"/>
                  <a:gd name="T75" fmla="*/ 608 h 661"/>
                  <a:gd name="T76" fmla="*/ 1370 w 2035"/>
                  <a:gd name="T77" fmla="*/ 620 h 661"/>
                  <a:gd name="T78" fmla="*/ 1209 w 2035"/>
                  <a:gd name="T79" fmla="*/ 636 h 661"/>
                  <a:gd name="T80" fmla="*/ 1118 w 2035"/>
                  <a:gd name="T81" fmla="*/ 643 h 661"/>
                  <a:gd name="T82" fmla="*/ 1007 w 2035"/>
                  <a:gd name="T83" fmla="*/ 652 h 661"/>
                  <a:gd name="T84" fmla="*/ 923 w 2035"/>
                  <a:gd name="T85" fmla="*/ 660 h 661"/>
                  <a:gd name="T86" fmla="*/ 834 w 2035"/>
                  <a:gd name="T87" fmla="*/ 660 h 661"/>
                  <a:gd name="T88" fmla="*/ 746 w 2035"/>
                  <a:gd name="T89" fmla="*/ 652 h 661"/>
                  <a:gd name="T90" fmla="*/ 658 w 2035"/>
                  <a:gd name="T91" fmla="*/ 638 h 661"/>
                  <a:gd name="T92" fmla="*/ 571 w 2035"/>
                  <a:gd name="T93" fmla="*/ 625 h 661"/>
                  <a:gd name="T94" fmla="*/ 463 w 2035"/>
                  <a:gd name="T95" fmla="*/ 607 h 661"/>
                  <a:gd name="T96" fmla="*/ 352 w 2035"/>
                  <a:gd name="T97" fmla="*/ 577 h 661"/>
                  <a:gd name="T98" fmla="*/ 143 w 2035"/>
                  <a:gd name="T99" fmla="*/ 502 h 661"/>
                  <a:gd name="T100" fmla="*/ 70 w 2035"/>
                  <a:gd name="T101" fmla="*/ 442 h 661"/>
                  <a:gd name="T102" fmla="*/ 12 w 2035"/>
                  <a:gd name="T103" fmla="*/ 378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35" h="661">
                    <a:moveTo>
                      <a:pt x="0" y="328"/>
                    </a:moveTo>
                    <a:lnTo>
                      <a:pt x="34" y="320"/>
                    </a:lnTo>
                    <a:lnTo>
                      <a:pt x="57" y="309"/>
                    </a:lnTo>
                    <a:lnTo>
                      <a:pt x="78" y="306"/>
                    </a:lnTo>
                    <a:lnTo>
                      <a:pt x="99" y="302"/>
                    </a:lnTo>
                    <a:lnTo>
                      <a:pt x="121" y="292"/>
                    </a:lnTo>
                    <a:lnTo>
                      <a:pt x="145" y="275"/>
                    </a:lnTo>
                    <a:lnTo>
                      <a:pt x="168" y="258"/>
                    </a:lnTo>
                    <a:lnTo>
                      <a:pt x="184" y="240"/>
                    </a:lnTo>
                    <a:lnTo>
                      <a:pt x="201" y="222"/>
                    </a:lnTo>
                    <a:lnTo>
                      <a:pt x="225" y="205"/>
                    </a:lnTo>
                    <a:lnTo>
                      <a:pt x="248" y="189"/>
                    </a:lnTo>
                    <a:lnTo>
                      <a:pt x="265" y="171"/>
                    </a:lnTo>
                    <a:lnTo>
                      <a:pt x="281" y="152"/>
                    </a:lnTo>
                    <a:lnTo>
                      <a:pt x="298" y="134"/>
                    </a:lnTo>
                    <a:lnTo>
                      <a:pt x="314" y="116"/>
                    </a:lnTo>
                    <a:lnTo>
                      <a:pt x="337" y="99"/>
                    </a:lnTo>
                    <a:lnTo>
                      <a:pt x="354" y="81"/>
                    </a:lnTo>
                    <a:lnTo>
                      <a:pt x="371" y="63"/>
                    </a:lnTo>
                    <a:lnTo>
                      <a:pt x="393" y="53"/>
                    </a:lnTo>
                    <a:lnTo>
                      <a:pt x="417" y="36"/>
                    </a:lnTo>
                    <a:lnTo>
                      <a:pt x="438" y="33"/>
                    </a:lnTo>
                    <a:lnTo>
                      <a:pt x="459" y="29"/>
                    </a:lnTo>
                    <a:lnTo>
                      <a:pt x="478" y="39"/>
                    </a:lnTo>
                    <a:lnTo>
                      <a:pt x="498" y="42"/>
                    </a:lnTo>
                    <a:lnTo>
                      <a:pt x="519" y="39"/>
                    </a:lnTo>
                    <a:lnTo>
                      <a:pt x="539" y="42"/>
                    </a:lnTo>
                    <a:lnTo>
                      <a:pt x="558" y="52"/>
                    </a:lnTo>
                    <a:lnTo>
                      <a:pt x="562" y="73"/>
                    </a:lnTo>
                    <a:lnTo>
                      <a:pt x="565" y="94"/>
                    </a:lnTo>
                    <a:lnTo>
                      <a:pt x="569" y="115"/>
                    </a:lnTo>
                    <a:lnTo>
                      <a:pt x="565" y="135"/>
                    </a:lnTo>
                    <a:lnTo>
                      <a:pt x="570" y="157"/>
                    </a:lnTo>
                    <a:lnTo>
                      <a:pt x="573" y="178"/>
                    </a:lnTo>
                    <a:lnTo>
                      <a:pt x="591" y="194"/>
                    </a:lnTo>
                    <a:lnTo>
                      <a:pt x="601" y="216"/>
                    </a:lnTo>
                    <a:lnTo>
                      <a:pt x="619" y="233"/>
                    </a:lnTo>
                    <a:lnTo>
                      <a:pt x="637" y="250"/>
                    </a:lnTo>
                    <a:lnTo>
                      <a:pt x="657" y="260"/>
                    </a:lnTo>
                    <a:lnTo>
                      <a:pt x="678" y="257"/>
                    </a:lnTo>
                    <a:lnTo>
                      <a:pt x="687" y="237"/>
                    </a:lnTo>
                    <a:lnTo>
                      <a:pt x="704" y="219"/>
                    </a:lnTo>
                    <a:lnTo>
                      <a:pt x="720" y="201"/>
                    </a:lnTo>
                    <a:lnTo>
                      <a:pt x="731" y="182"/>
                    </a:lnTo>
                    <a:lnTo>
                      <a:pt x="753" y="165"/>
                    </a:lnTo>
                    <a:lnTo>
                      <a:pt x="776" y="154"/>
                    </a:lnTo>
                    <a:lnTo>
                      <a:pt x="798" y="144"/>
                    </a:lnTo>
                    <a:lnTo>
                      <a:pt x="818" y="147"/>
                    </a:lnTo>
                    <a:lnTo>
                      <a:pt x="840" y="144"/>
                    </a:lnTo>
                    <a:lnTo>
                      <a:pt x="860" y="147"/>
                    </a:lnTo>
                    <a:lnTo>
                      <a:pt x="880" y="150"/>
                    </a:lnTo>
                    <a:lnTo>
                      <a:pt x="899" y="160"/>
                    </a:lnTo>
                    <a:lnTo>
                      <a:pt x="916" y="183"/>
                    </a:lnTo>
                    <a:lnTo>
                      <a:pt x="926" y="206"/>
                    </a:lnTo>
                    <a:lnTo>
                      <a:pt x="937" y="228"/>
                    </a:lnTo>
                    <a:lnTo>
                      <a:pt x="947" y="251"/>
                    </a:lnTo>
                    <a:lnTo>
                      <a:pt x="965" y="267"/>
                    </a:lnTo>
                    <a:lnTo>
                      <a:pt x="983" y="284"/>
                    </a:lnTo>
                    <a:lnTo>
                      <a:pt x="1001" y="300"/>
                    </a:lnTo>
                    <a:lnTo>
                      <a:pt x="1020" y="311"/>
                    </a:lnTo>
                    <a:lnTo>
                      <a:pt x="1039" y="320"/>
                    </a:lnTo>
                    <a:lnTo>
                      <a:pt x="1059" y="324"/>
                    </a:lnTo>
                    <a:lnTo>
                      <a:pt x="1062" y="303"/>
                    </a:lnTo>
                    <a:lnTo>
                      <a:pt x="1072" y="284"/>
                    </a:lnTo>
                    <a:lnTo>
                      <a:pt x="1082" y="265"/>
                    </a:lnTo>
                    <a:lnTo>
                      <a:pt x="1092" y="246"/>
                    </a:lnTo>
                    <a:lnTo>
                      <a:pt x="1114" y="236"/>
                    </a:lnTo>
                    <a:lnTo>
                      <a:pt x="1124" y="216"/>
                    </a:lnTo>
                    <a:lnTo>
                      <a:pt x="1121" y="195"/>
                    </a:lnTo>
                    <a:lnTo>
                      <a:pt x="1124" y="175"/>
                    </a:lnTo>
                    <a:lnTo>
                      <a:pt x="1127" y="156"/>
                    </a:lnTo>
                    <a:lnTo>
                      <a:pt x="1137" y="136"/>
                    </a:lnTo>
                    <a:lnTo>
                      <a:pt x="1154" y="118"/>
                    </a:lnTo>
                    <a:lnTo>
                      <a:pt x="1173" y="121"/>
                    </a:lnTo>
                    <a:lnTo>
                      <a:pt x="1194" y="125"/>
                    </a:lnTo>
                    <a:lnTo>
                      <a:pt x="1214" y="128"/>
                    </a:lnTo>
                    <a:lnTo>
                      <a:pt x="1233" y="138"/>
                    </a:lnTo>
                    <a:lnTo>
                      <a:pt x="1252" y="147"/>
                    </a:lnTo>
                    <a:lnTo>
                      <a:pt x="1271" y="158"/>
                    </a:lnTo>
                    <a:lnTo>
                      <a:pt x="1290" y="168"/>
                    </a:lnTo>
                    <a:lnTo>
                      <a:pt x="1310" y="171"/>
                    </a:lnTo>
                    <a:lnTo>
                      <a:pt x="1329" y="180"/>
                    </a:lnTo>
                    <a:lnTo>
                      <a:pt x="1350" y="184"/>
                    </a:lnTo>
                    <a:lnTo>
                      <a:pt x="1370" y="187"/>
                    </a:lnTo>
                    <a:lnTo>
                      <a:pt x="1390" y="190"/>
                    </a:lnTo>
                    <a:lnTo>
                      <a:pt x="1406" y="172"/>
                    </a:lnTo>
                    <a:lnTo>
                      <a:pt x="1409" y="151"/>
                    </a:lnTo>
                    <a:lnTo>
                      <a:pt x="1400" y="129"/>
                    </a:lnTo>
                    <a:lnTo>
                      <a:pt x="1389" y="107"/>
                    </a:lnTo>
                    <a:lnTo>
                      <a:pt x="1379" y="85"/>
                    </a:lnTo>
                    <a:lnTo>
                      <a:pt x="1369" y="63"/>
                    </a:lnTo>
                    <a:lnTo>
                      <a:pt x="1365" y="42"/>
                    </a:lnTo>
                    <a:lnTo>
                      <a:pt x="1375" y="23"/>
                    </a:lnTo>
                    <a:lnTo>
                      <a:pt x="1385" y="4"/>
                    </a:lnTo>
                    <a:lnTo>
                      <a:pt x="1406" y="0"/>
                    </a:lnTo>
                    <a:lnTo>
                      <a:pt x="1426" y="3"/>
                    </a:lnTo>
                    <a:lnTo>
                      <a:pt x="1447" y="6"/>
                    </a:lnTo>
                    <a:lnTo>
                      <a:pt x="1466" y="16"/>
                    </a:lnTo>
                    <a:lnTo>
                      <a:pt x="1486" y="20"/>
                    </a:lnTo>
                    <a:lnTo>
                      <a:pt x="1505" y="30"/>
                    </a:lnTo>
                    <a:lnTo>
                      <a:pt x="1524" y="39"/>
                    </a:lnTo>
                    <a:lnTo>
                      <a:pt x="1543" y="49"/>
                    </a:lnTo>
                    <a:lnTo>
                      <a:pt x="1562" y="59"/>
                    </a:lnTo>
                    <a:lnTo>
                      <a:pt x="1580" y="76"/>
                    </a:lnTo>
                    <a:lnTo>
                      <a:pt x="1599" y="86"/>
                    </a:lnTo>
                    <a:lnTo>
                      <a:pt x="1618" y="96"/>
                    </a:lnTo>
                    <a:lnTo>
                      <a:pt x="1637" y="105"/>
                    </a:lnTo>
                    <a:lnTo>
                      <a:pt x="1657" y="115"/>
                    </a:lnTo>
                    <a:lnTo>
                      <a:pt x="1676" y="125"/>
                    </a:lnTo>
                    <a:lnTo>
                      <a:pt x="1694" y="135"/>
                    </a:lnTo>
                    <a:lnTo>
                      <a:pt x="1719" y="153"/>
                    </a:lnTo>
                    <a:lnTo>
                      <a:pt x="1738" y="162"/>
                    </a:lnTo>
                    <a:lnTo>
                      <a:pt x="1764" y="174"/>
                    </a:lnTo>
                    <a:lnTo>
                      <a:pt x="1783" y="183"/>
                    </a:lnTo>
                    <a:lnTo>
                      <a:pt x="1803" y="187"/>
                    </a:lnTo>
                    <a:lnTo>
                      <a:pt x="1822" y="196"/>
                    </a:lnTo>
                    <a:lnTo>
                      <a:pt x="1843" y="199"/>
                    </a:lnTo>
                    <a:lnTo>
                      <a:pt x="1862" y="203"/>
                    </a:lnTo>
                    <a:lnTo>
                      <a:pt x="1883" y="206"/>
                    </a:lnTo>
                    <a:lnTo>
                      <a:pt x="1904" y="202"/>
                    </a:lnTo>
                    <a:lnTo>
                      <a:pt x="1924" y="206"/>
                    </a:lnTo>
                    <a:lnTo>
                      <a:pt x="1946" y="195"/>
                    </a:lnTo>
                    <a:lnTo>
                      <a:pt x="1967" y="192"/>
                    </a:lnTo>
                    <a:lnTo>
                      <a:pt x="1988" y="195"/>
                    </a:lnTo>
                    <a:lnTo>
                      <a:pt x="2008" y="198"/>
                    </a:lnTo>
                    <a:lnTo>
                      <a:pt x="2026" y="215"/>
                    </a:lnTo>
                    <a:lnTo>
                      <a:pt x="2029" y="237"/>
                    </a:lnTo>
                    <a:lnTo>
                      <a:pt x="2032" y="258"/>
                    </a:lnTo>
                    <a:lnTo>
                      <a:pt x="2029" y="278"/>
                    </a:lnTo>
                    <a:lnTo>
                      <a:pt x="2034" y="299"/>
                    </a:lnTo>
                    <a:lnTo>
                      <a:pt x="2030" y="319"/>
                    </a:lnTo>
                    <a:lnTo>
                      <a:pt x="2013" y="337"/>
                    </a:lnTo>
                    <a:lnTo>
                      <a:pt x="2003" y="356"/>
                    </a:lnTo>
                    <a:lnTo>
                      <a:pt x="1987" y="374"/>
                    </a:lnTo>
                    <a:lnTo>
                      <a:pt x="1970" y="392"/>
                    </a:lnTo>
                    <a:lnTo>
                      <a:pt x="1946" y="409"/>
                    </a:lnTo>
                    <a:lnTo>
                      <a:pt x="1930" y="427"/>
                    </a:lnTo>
                    <a:lnTo>
                      <a:pt x="1907" y="444"/>
                    </a:lnTo>
                    <a:lnTo>
                      <a:pt x="1883" y="461"/>
                    </a:lnTo>
                    <a:lnTo>
                      <a:pt x="1860" y="478"/>
                    </a:lnTo>
                    <a:lnTo>
                      <a:pt x="1831" y="494"/>
                    </a:lnTo>
                    <a:lnTo>
                      <a:pt x="1807" y="511"/>
                    </a:lnTo>
                    <a:lnTo>
                      <a:pt x="1785" y="521"/>
                    </a:lnTo>
                    <a:lnTo>
                      <a:pt x="1763" y="531"/>
                    </a:lnTo>
                    <a:lnTo>
                      <a:pt x="1733" y="541"/>
                    </a:lnTo>
                    <a:lnTo>
                      <a:pt x="1703" y="556"/>
                    </a:lnTo>
                    <a:lnTo>
                      <a:pt x="1681" y="567"/>
                    </a:lnTo>
                    <a:lnTo>
                      <a:pt x="1660" y="570"/>
                    </a:lnTo>
                    <a:lnTo>
                      <a:pt x="1631" y="579"/>
                    </a:lnTo>
                    <a:lnTo>
                      <a:pt x="1609" y="589"/>
                    </a:lnTo>
                    <a:lnTo>
                      <a:pt x="1580" y="599"/>
                    </a:lnTo>
                    <a:lnTo>
                      <a:pt x="1550" y="608"/>
                    </a:lnTo>
                    <a:lnTo>
                      <a:pt x="1529" y="611"/>
                    </a:lnTo>
                    <a:lnTo>
                      <a:pt x="1474" y="616"/>
                    </a:lnTo>
                    <a:lnTo>
                      <a:pt x="1424" y="622"/>
                    </a:lnTo>
                    <a:lnTo>
                      <a:pt x="1370" y="620"/>
                    </a:lnTo>
                    <a:lnTo>
                      <a:pt x="1321" y="626"/>
                    </a:lnTo>
                    <a:lnTo>
                      <a:pt x="1293" y="629"/>
                    </a:lnTo>
                    <a:lnTo>
                      <a:pt x="1237" y="634"/>
                    </a:lnTo>
                    <a:lnTo>
                      <a:pt x="1209" y="636"/>
                    </a:lnTo>
                    <a:lnTo>
                      <a:pt x="1181" y="639"/>
                    </a:lnTo>
                    <a:lnTo>
                      <a:pt x="1160" y="642"/>
                    </a:lnTo>
                    <a:lnTo>
                      <a:pt x="1139" y="646"/>
                    </a:lnTo>
                    <a:lnTo>
                      <a:pt x="1118" y="643"/>
                    </a:lnTo>
                    <a:lnTo>
                      <a:pt x="1070" y="649"/>
                    </a:lnTo>
                    <a:lnTo>
                      <a:pt x="1048" y="652"/>
                    </a:lnTo>
                    <a:lnTo>
                      <a:pt x="1028" y="649"/>
                    </a:lnTo>
                    <a:lnTo>
                      <a:pt x="1007" y="652"/>
                    </a:lnTo>
                    <a:lnTo>
                      <a:pt x="986" y="656"/>
                    </a:lnTo>
                    <a:lnTo>
                      <a:pt x="966" y="653"/>
                    </a:lnTo>
                    <a:lnTo>
                      <a:pt x="944" y="656"/>
                    </a:lnTo>
                    <a:lnTo>
                      <a:pt x="923" y="660"/>
                    </a:lnTo>
                    <a:lnTo>
                      <a:pt x="897" y="655"/>
                    </a:lnTo>
                    <a:lnTo>
                      <a:pt x="875" y="660"/>
                    </a:lnTo>
                    <a:lnTo>
                      <a:pt x="855" y="656"/>
                    </a:lnTo>
                    <a:lnTo>
                      <a:pt x="834" y="660"/>
                    </a:lnTo>
                    <a:lnTo>
                      <a:pt x="814" y="656"/>
                    </a:lnTo>
                    <a:lnTo>
                      <a:pt x="794" y="653"/>
                    </a:lnTo>
                    <a:lnTo>
                      <a:pt x="766" y="655"/>
                    </a:lnTo>
                    <a:lnTo>
                      <a:pt x="746" y="652"/>
                    </a:lnTo>
                    <a:lnTo>
                      <a:pt x="726" y="649"/>
                    </a:lnTo>
                    <a:lnTo>
                      <a:pt x="705" y="646"/>
                    </a:lnTo>
                    <a:lnTo>
                      <a:pt x="686" y="643"/>
                    </a:lnTo>
                    <a:lnTo>
                      <a:pt x="658" y="638"/>
                    </a:lnTo>
                    <a:lnTo>
                      <a:pt x="639" y="635"/>
                    </a:lnTo>
                    <a:lnTo>
                      <a:pt x="618" y="632"/>
                    </a:lnTo>
                    <a:lnTo>
                      <a:pt x="598" y="629"/>
                    </a:lnTo>
                    <a:lnTo>
                      <a:pt x="571" y="625"/>
                    </a:lnTo>
                    <a:lnTo>
                      <a:pt x="550" y="621"/>
                    </a:lnTo>
                    <a:lnTo>
                      <a:pt x="524" y="617"/>
                    </a:lnTo>
                    <a:lnTo>
                      <a:pt x="484" y="611"/>
                    </a:lnTo>
                    <a:lnTo>
                      <a:pt x="463" y="607"/>
                    </a:lnTo>
                    <a:lnTo>
                      <a:pt x="444" y="598"/>
                    </a:lnTo>
                    <a:lnTo>
                      <a:pt x="424" y="595"/>
                    </a:lnTo>
                    <a:lnTo>
                      <a:pt x="371" y="586"/>
                    </a:lnTo>
                    <a:lnTo>
                      <a:pt x="352" y="577"/>
                    </a:lnTo>
                    <a:lnTo>
                      <a:pt x="299" y="560"/>
                    </a:lnTo>
                    <a:lnTo>
                      <a:pt x="247" y="539"/>
                    </a:lnTo>
                    <a:lnTo>
                      <a:pt x="196" y="517"/>
                    </a:lnTo>
                    <a:lnTo>
                      <a:pt x="143" y="502"/>
                    </a:lnTo>
                    <a:lnTo>
                      <a:pt x="124" y="491"/>
                    </a:lnTo>
                    <a:lnTo>
                      <a:pt x="106" y="475"/>
                    </a:lnTo>
                    <a:lnTo>
                      <a:pt x="88" y="458"/>
                    </a:lnTo>
                    <a:lnTo>
                      <a:pt x="70" y="442"/>
                    </a:lnTo>
                    <a:lnTo>
                      <a:pt x="52" y="425"/>
                    </a:lnTo>
                    <a:lnTo>
                      <a:pt x="33" y="416"/>
                    </a:lnTo>
                    <a:lnTo>
                      <a:pt x="15" y="399"/>
                    </a:lnTo>
                    <a:lnTo>
                      <a:pt x="12" y="378"/>
                    </a:lnTo>
                    <a:lnTo>
                      <a:pt x="1" y="356"/>
                    </a:lnTo>
                    <a:lnTo>
                      <a:pt x="0" y="328"/>
                    </a:lnTo>
                    <a:lnTo>
                      <a:pt x="0" y="328"/>
                    </a:lnTo>
                  </a:path>
                </a:pathLst>
              </a:custGeom>
              <a:pattFill prst="pct25">
                <a:fgClr>
                  <a:schemeClr val="bg2"/>
                </a:fgClr>
                <a:bgClr>
                  <a:schemeClr val="bg1"/>
                </a:bgClr>
              </a:patt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996" name="Oval 12"/>
              <p:cNvSpPr>
                <a:spLocks noChangeArrowheads="1"/>
              </p:cNvSpPr>
              <p:nvPr/>
            </p:nvSpPr>
            <p:spPr bwMode="auto">
              <a:xfrm rot="540000">
                <a:off x="580" y="1301"/>
                <a:ext cx="107" cy="51"/>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97" name="Oval 13"/>
              <p:cNvSpPr>
                <a:spLocks noChangeArrowheads="1"/>
              </p:cNvSpPr>
              <p:nvPr/>
            </p:nvSpPr>
            <p:spPr bwMode="auto">
              <a:xfrm rot="540000">
                <a:off x="1432" y="1213"/>
                <a:ext cx="107" cy="5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98" name="Oval 14"/>
              <p:cNvSpPr>
                <a:spLocks noChangeArrowheads="1"/>
              </p:cNvSpPr>
              <p:nvPr/>
            </p:nvSpPr>
            <p:spPr bwMode="auto">
              <a:xfrm rot="540000">
                <a:off x="1239" y="1328"/>
                <a:ext cx="107" cy="51"/>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99" name="Oval 15"/>
              <p:cNvSpPr>
                <a:spLocks noChangeArrowheads="1"/>
              </p:cNvSpPr>
              <p:nvPr/>
            </p:nvSpPr>
            <p:spPr bwMode="auto">
              <a:xfrm rot="540000">
                <a:off x="884" y="1408"/>
                <a:ext cx="107" cy="5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00" name="Line 16"/>
              <p:cNvSpPr>
                <a:spLocks noChangeShapeType="1"/>
              </p:cNvSpPr>
              <p:nvPr/>
            </p:nvSpPr>
            <p:spPr bwMode="auto">
              <a:xfrm>
                <a:off x="2076" y="1440"/>
                <a:ext cx="1007" cy="1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01" name="Freeform 17"/>
              <p:cNvSpPr>
                <a:spLocks/>
              </p:cNvSpPr>
              <p:nvPr/>
            </p:nvSpPr>
            <p:spPr bwMode="auto">
              <a:xfrm>
                <a:off x="3118" y="1515"/>
                <a:ext cx="431" cy="850"/>
              </a:xfrm>
              <a:custGeom>
                <a:avLst/>
                <a:gdLst>
                  <a:gd name="T0" fmla="*/ 2 w 431"/>
                  <a:gd name="T1" fmla="*/ 21 h 850"/>
                  <a:gd name="T2" fmla="*/ 0 w 431"/>
                  <a:gd name="T3" fmla="*/ 68 h 850"/>
                  <a:gd name="T4" fmla="*/ 34 w 431"/>
                  <a:gd name="T5" fmla="*/ 102 h 850"/>
                  <a:gd name="T6" fmla="*/ 34 w 431"/>
                  <a:gd name="T7" fmla="*/ 136 h 850"/>
                  <a:gd name="T8" fmla="*/ 56 w 431"/>
                  <a:gd name="T9" fmla="*/ 170 h 850"/>
                  <a:gd name="T10" fmla="*/ 68 w 431"/>
                  <a:gd name="T11" fmla="*/ 204 h 850"/>
                  <a:gd name="T12" fmla="*/ 90 w 431"/>
                  <a:gd name="T13" fmla="*/ 238 h 850"/>
                  <a:gd name="T14" fmla="*/ 102 w 431"/>
                  <a:gd name="T15" fmla="*/ 271 h 850"/>
                  <a:gd name="T16" fmla="*/ 113 w 431"/>
                  <a:gd name="T17" fmla="*/ 305 h 850"/>
                  <a:gd name="T18" fmla="*/ 124 w 431"/>
                  <a:gd name="T19" fmla="*/ 339 h 850"/>
                  <a:gd name="T20" fmla="*/ 136 w 431"/>
                  <a:gd name="T21" fmla="*/ 373 h 850"/>
                  <a:gd name="T22" fmla="*/ 147 w 431"/>
                  <a:gd name="T23" fmla="*/ 407 h 850"/>
                  <a:gd name="T24" fmla="*/ 147 w 431"/>
                  <a:gd name="T25" fmla="*/ 441 h 850"/>
                  <a:gd name="T26" fmla="*/ 147 w 431"/>
                  <a:gd name="T27" fmla="*/ 475 h 850"/>
                  <a:gd name="T28" fmla="*/ 147 w 431"/>
                  <a:gd name="T29" fmla="*/ 509 h 850"/>
                  <a:gd name="T30" fmla="*/ 147 w 431"/>
                  <a:gd name="T31" fmla="*/ 543 h 850"/>
                  <a:gd name="T32" fmla="*/ 147 w 431"/>
                  <a:gd name="T33" fmla="*/ 577 h 850"/>
                  <a:gd name="T34" fmla="*/ 147 w 431"/>
                  <a:gd name="T35" fmla="*/ 611 h 850"/>
                  <a:gd name="T36" fmla="*/ 147 w 431"/>
                  <a:gd name="T37" fmla="*/ 645 h 850"/>
                  <a:gd name="T38" fmla="*/ 147 w 431"/>
                  <a:gd name="T39" fmla="*/ 679 h 850"/>
                  <a:gd name="T40" fmla="*/ 147 w 431"/>
                  <a:gd name="T41" fmla="*/ 713 h 850"/>
                  <a:gd name="T42" fmla="*/ 136 w 431"/>
                  <a:gd name="T43" fmla="*/ 747 h 850"/>
                  <a:gd name="T44" fmla="*/ 136 w 431"/>
                  <a:gd name="T45" fmla="*/ 781 h 850"/>
                  <a:gd name="T46" fmla="*/ 124 w 431"/>
                  <a:gd name="T47" fmla="*/ 815 h 850"/>
                  <a:gd name="T48" fmla="*/ 124 w 431"/>
                  <a:gd name="T49" fmla="*/ 849 h 850"/>
                  <a:gd name="T50" fmla="*/ 158 w 431"/>
                  <a:gd name="T51" fmla="*/ 849 h 850"/>
                  <a:gd name="T52" fmla="*/ 192 w 431"/>
                  <a:gd name="T53" fmla="*/ 849 h 850"/>
                  <a:gd name="T54" fmla="*/ 226 w 431"/>
                  <a:gd name="T55" fmla="*/ 849 h 850"/>
                  <a:gd name="T56" fmla="*/ 260 w 431"/>
                  <a:gd name="T57" fmla="*/ 849 h 850"/>
                  <a:gd name="T58" fmla="*/ 294 w 431"/>
                  <a:gd name="T59" fmla="*/ 849 h 850"/>
                  <a:gd name="T60" fmla="*/ 328 w 431"/>
                  <a:gd name="T61" fmla="*/ 849 h 850"/>
                  <a:gd name="T62" fmla="*/ 362 w 431"/>
                  <a:gd name="T63" fmla="*/ 849 h 850"/>
                  <a:gd name="T64" fmla="*/ 373 w 431"/>
                  <a:gd name="T65" fmla="*/ 815 h 850"/>
                  <a:gd name="T66" fmla="*/ 396 w 431"/>
                  <a:gd name="T67" fmla="*/ 781 h 850"/>
                  <a:gd name="T68" fmla="*/ 396 w 431"/>
                  <a:gd name="T69" fmla="*/ 747 h 850"/>
                  <a:gd name="T70" fmla="*/ 396 w 431"/>
                  <a:gd name="T71" fmla="*/ 713 h 850"/>
                  <a:gd name="T72" fmla="*/ 396 w 431"/>
                  <a:gd name="T73" fmla="*/ 679 h 850"/>
                  <a:gd name="T74" fmla="*/ 407 w 431"/>
                  <a:gd name="T75" fmla="*/ 645 h 850"/>
                  <a:gd name="T76" fmla="*/ 419 w 431"/>
                  <a:gd name="T77" fmla="*/ 611 h 850"/>
                  <a:gd name="T78" fmla="*/ 430 w 431"/>
                  <a:gd name="T79" fmla="*/ 577 h 850"/>
                  <a:gd name="T80" fmla="*/ 430 w 431"/>
                  <a:gd name="T81" fmla="*/ 543 h 850"/>
                  <a:gd name="T82" fmla="*/ 430 w 431"/>
                  <a:gd name="T83" fmla="*/ 509 h 850"/>
                  <a:gd name="T84" fmla="*/ 430 w 431"/>
                  <a:gd name="T85" fmla="*/ 475 h 850"/>
                  <a:gd name="T86" fmla="*/ 430 w 431"/>
                  <a:gd name="T87" fmla="*/ 441 h 850"/>
                  <a:gd name="T88" fmla="*/ 419 w 431"/>
                  <a:gd name="T89" fmla="*/ 407 h 850"/>
                  <a:gd name="T90" fmla="*/ 407 w 431"/>
                  <a:gd name="T91" fmla="*/ 373 h 850"/>
                  <a:gd name="T92" fmla="*/ 407 w 431"/>
                  <a:gd name="T93" fmla="*/ 339 h 850"/>
                  <a:gd name="T94" fmla="*/ 396 w 431"/>
                  <a:gd name="T95" fmla="*/ 305 h 850"/>
                  <a:gd name="T96" fmla="*/ 385 w 431"/>
                  <a:gd name="T97" fmla="*/ 271 h 850"/>
                  <a:gd name="T98" fmla="*/ 373 w 431"/>
                  <a:gd name="T99" fmla="*/ 238 h 850"/>
                  <a:gd name="T100" fmla="*/ 351 w 431"/>
                  <a:gd name="T101" fmla="*/ 204 h 850"/>
                  <a:gd name="T102" fmla="*/ 340 w 431"/>
                  <a:gd name="T103" fmla="*/ 170 h 850"/>
                  <a:gd name="T104" fmla="*/ 317 w 431"/>
                  <a:gd name="T105" fmla="*/ 136 h 850"/>
                  <a:gd name="T106" fmla="*/ 283 w 431"/>
                  <a:gd name="T107" fmla="*/ 102 h 850"/>
                  <a:gd name="T108" fmla="*/ 260 w 431"/>
                  <a:gd name="T109" fmla="*/ 68 h 850"/>
                  <a:gd name="T110" fmla="*/ 238 w 431"/>
                  <a:gd name="T111" fmla="*/ 34 h 850"/>
                  <a:gd name="T112" fmla="*/ 215 w 431"/>
                  <a:gd name="T113" fmla="*/ 0 h 850"/>
                  <a:gd name="T114" fmla="*/ 181 w 431"/>
                  <a:gd name="T115" fmla="*/ 0 h 850"/>
                  <a:gd name="T116" fmla="*/ 147 w 431"/>
                  <a:gd name="T117" fmla="*/ 0 h 850"/>
                  <a:gd name="T118" fmla="*/ 113 w 431"/>
                  <a:gd name="T119" fmla="*/ 0 h 850"/>
                  <a:gd name="T120" fmla="*/ 79 w 431"/>
                  <a:gd name="T121" fmla="*/ 0 h 850"/>
                  <a:gd name="T122" fmla="*/ 2 w 431"/>
                  <a:gd name="T123" fmla="*/ 21 h 850"/>
                  <a:gd name="T124" fmla="*/ 2 w 431"/>
                  <a:gd name="T125" fmla="*/ 21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1" h="850">
                    <a:moveTo>
                      <a:pt x="2" y="21"/>
                    </a:moveTo>
                    <a:lnTo>
                      <a:pt x="0" y="68"/>
                    </a:lnTo>
                    <a:lnTo>
                      <a:pt x="34" y="102"/>
                    </a:lnTo>
                    <a:lnTo>
                      <a:pt x="34" y="136"/>
                    </a:lnTo>
                    <a:lnTo>
                      <a:pt x="56" y="170"/>
                    </a:lnTo>
                    <a:lnTo>
                      <a:pt x="68" y="204"/>
                    </a:lnTo>
                    <a:lnTo>
                      <a:pt x="90" y="238"/>
                    </a:lnTo>
                    <a:lnTo>
                      <a:pt x="102" y="271"/>
                    </a:lnTo>
                    <a:lnTo>
                      <a:pt x="113" y="305"/>
                    </a:lnTo>
                    <a:lnTo>
                      <a:pt x="124" y="339"/>
                    </a:lnTo>
                    <a:lnTo>
                      <a:pt x="136" y="373"/>
                    </a:lnTo>
                    <a:lnTo>
                      <a:pt x="147" y="407"/>
                    </a:lnTo>
                    <a:lnTo>
                      <a:pt x="147" y="441"/>
                    </a:lnTo>
                    <a:lnTo>
                      <a:pt x="147" y="475"/>
                    </a:lnTo>
                    <a:lnTo>
                      <a:pt x="147" y="509"/>
                    </a:lnTo>
                    <a:lnTo>
                      <a:pt x="147" y="543"/>
                    </a:lnTo>
                    <a:lnTo>
                      <a:pt x="147" y="577"/>
                    </a:lnTo>
                    <a:lnTo>
                      <a:pt x="147" y="611"/>
                    </a:lnTo>
                    <a:lnTo>
                      <a:pt x="147" y="645"/>
                    </a:lnTo>
                    <a:lnTo>
                      <a:pt x="147" y="679"/>
                    </a:lnTo>
                    <a:lnTo>
                      <a:pt x="147" y="713"/>
                    </a:lnTo>
                    <a:lnTo>
                      <a:pt x="136" y="747"/>
                    </a:lnTo>
                    <a:lnTo>
                      <a:pt x="136" y="781"/>
                    </a:lnTo>
                    <a:lnTo>
                      <a:pt x="124" y="815"/>
                    </a:lnTo>
                    <a:lnTo>
                      <a:pt x="124" y="849"/>
                    </a:lnTo>
                    <a:lnTo>
                      <a:pt x="158" y="849"/>
                    </a:lnTo>
                    <a:lnTo>
                      <a:pt x="192" y="849"/>
                    </a:lnTo>
                    <a:lnTo>
                      <a:pt x="226" y="849"/>
                    </a:lnTo>
                    <a:lnTo>
                      <a:pt x="260" y="849"/>
                    </a:lnTo>
                    <a:lnTo>
                      <a:pt x="294" y="849"/>
                    </a:lnTo>
                    <a:lnTo>
                      <a:pt x="328" y="849"/>
                    </a:lnTo>
                    <a:lnTo>
                      <a:pt x="362" y="849"/>
                    </a:lnTo>
                    <a:lnTo>
                      <a:pt x="373" y="815"/>
                    </a:lnTo>
                    <a:lnTo>
                      <a:pt x="396" y="781"/>
                    </a:lnTo>
                    <a:lnTo>
                      <a:pt x="396" y="747"/>
                    </a:lnTo>
                    <a:lnTo>
                      <a:pt x="396" y="713"/>
                    </a:lnTo>
                    <a:lnTo>
                      <a:pt x="396" y="679"/>
                    </a:lnTo>
                    <a:lnTo>
                      <a:pt x="407" y="645"/>
                    </a:lnTo>
                    <a:lnTo>
                      <a:pt x="419" y="611"/>
                    </a:lnTo>
                    <a:lnTo>
                      <a:pt x="430" y="577"/>
                    </a:lnTo>
                    <a:lnTo>
                      <a:pt x="430" y="543"/>
                    </a:lnTo>
                    <a:lnTo>
                      <a:pt x="430" y="509"/>
                    </a:lnTo>
                    <a:lnTo>
                      <a:pt x="430" y="475"/>
                    </a:lnTo>
                    <a:lnTo>
                      <a:pt x="430" y="441"/>
                    </a:lnTo>
                    <a:lnTo>
                      <a:pt x="419" y="407"/>
                    </a:lnTo>
                    <a:lnTo>
                      <a:pt x="407" y="373"/>
                    </a:lnTo>
                    <a:lnTo>
                      <a:pt x="407" y="339"/>
                    </a:lnTo>
                    <a:lnTo>
                      <a:pt x="396" y="305"/>
                    </a:lnTo>
                    <a:lnTo>
                      <a:pt x="385" y="271"/>
                    </a:lnTo>
                    <a:lnTo>
                      <a:pt x="373" y="238"/>
                    </a:lnTo>
                    <a:lnTo>
                      <a:pt x="351" y="204"/>
                    </a:lnTo>
                    <a:lnTo>
                      <a:pt x="340" y="170"/>
                    </a:lnTo>
                    <a:lnTo>
                      <a:pt x="317" y="136"/>
                    </a:lnTo>
                    <a:lnTo>
                      <a:pt x="283" y="102"/>
                    </a:lnTo>
                    <a:lnTo>
                      <a:pt x="260" y="68"/>
                    </a:lnTo>
                    <a:lnTo>
                      <a:pt x="238" y="34"/>
                    </a:lnTo>
                    <a:lnTo>
                      <a:pt x="215" y="0"/>
                    </a:lnTo>
                    <a:lnTo>
                      <a:pt x="181" y="0"/>
                    </a:lnTo>
                    <a:lnTo>
                      <a:pt x="147" y="0"/>
                    </a:lnTo>
                    <a:lnTo>
                      <a:pt x="113" y="0"/>
                    </a:lnTo>
                    <a:lnTo>
                      <a:pt x="79" y="0"/>
                    </a:lnTo>
                    <a:lnTo>
                      <a:pt x="2" y="21"/>
                    </a:lnTo>
                    <a:lnTo>
                      <a:pt x="2" y="21"/>
                    </a:lnTo>
                  </a:path>
                </a:pathLst>
              </a:custGeom>
              <a:solidFill>
                <a:schemeClr val="bg1"/>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2" name="Freeform 18"/>
              <p:cNvSpPr>
                <a:spLocks/>
              </p:cNvSpPr>
              <p:nvPr/>
            </p:nvSpPr>
            <p:spPr bwMode="auto">
              <a:xfrm>
                <a:off x="4030" y="1563"/>
                <a:ext cx="431" cy="850"/>
              </a:xfrm>
              <a:custGeom>
                <a:avLst/>
                <a:gdLst>
                  <a:gd name="T0" fmla="*/ 2 w 431"/>
                  <a:gd name="T1" fmla="*/ 21 h 850"/>
                  <a:gd name="T2" fmla="*/ 0 w 431"/>
                  <a:gd name="T3" fmla="*/ 68 h 850"/>
                  <a:gd name="T4" fmla="*/ 34 w 431"/>
                  <a:gd name="T5" fmla="*/ 102 h 850"/>
                  <a:gd name="T6" fmla="*/ 34 w 431"/>
                  <a:gd name="T7" fmla="*/ 136 h 850"/>
                  <a:gd name="T8" fmla="*/ 56 w 431"/>
                  <a:gd name="T9" fmla="*/ 170 h 850"/>
                  <a:gd name="T10" fmla="*/ 68 w 431"/>
                  <a:gd name="T11" fmla="*/ 204 h 850"/>
                  <a:gd name="T12" fmla="*/ 90 w 431"/>
                  <a:gd name="T13" fmla="*/ 238 h 850"/>
                  <a:gd name="T14" fmla="*/ 102 w 431"/>
                  <a:gd name="T15" fmla="*/ 271 h 850"/>
                  <a:gd name="T16" fmla="*/ 113 w 431"/>
                  <a:gd name="T17" fmla="*/ 305 h 850"/>
                  <a:gd name="T18" fmla="*/ 124 w 431"/>
                  <a:gd name="T19" fmla="*/ 339 h 850"/>
                  <a:gd name="T20" fmla="*/ 136 w 431"/>
                  <a:gd name="T21" fmla="*/ 373 h 850"/>
                  <a:gd name="T22" fmla="*/ 147 w 431"/>
                  <a:gd name="T23" fmla="*/ 407 h 850"/>
                  <a:gd name="T24" fmla="*/ 147 w 431"/>
                  <a:gd name="T25" fmla="*/ 441 h 850"/>
                  <a:gd name="T26" fmla="*/ 147 w 431"/>
                  <a:gd name="T27" fmla="*/ 475 h 850"/>
                  <a:gd name="T28" fmla="*/ 147 w 431"/>
                  <a:gd name="T29" fmla="*/ 509 h 850"/>
                  <a:gd name="T30" fmla="*/ 147 w 431"/>
                  <a:gd name="T31" fmla="*/ 543 h 850"/>
                  <a:gd name="T32" fmla="*/ 147 w 431"/>
                  <a:gd name="T33" fmla="*/ 577 h 850"/>
                  <a:gd name="T34" fmla="*/ 147 w 431"/>
                  <a:gd name="T35" fmla="*/ 611 h 850"/>
                  <a:gd name="T36" fmla="*/ 147 w 431"/>
                  <a:gd name="T37" fmla="*/ 645 h 850"/>
                  <a:gd name="T38" fmla="*/ 147 w 431"/>
                  <a:gd name="T39" fmla="*/ 679 h 850"/>
                  <a:gd name="T40" fmla="*/ 147 w 431"/>
                  <a:gd name="T41" fmla="*/ 713 h 850"/>
                  <a:gd name="T42" fmla="*/ 136 w 431"/>
                  <a:gd name="T43" fmla="*/ 747 h 850"/>
                  <a:gd name="T44" fmla="*/ 136 w 431"/>
                  <a:gd name="T45" fmla="*/ 781 h 850"/>
                  <a:gd name="T46" fmla="*/ 124 w 431"/>
                  <a:gd name="T47" fmla="*/ 815 h 850"/>
                  <a:gd name="T48" fmla="*/ 124 w 431"/>
                  <a:gd name="T49" fmla="*/ 849 h 850"/>
                  <a:gd name="T50" fmla="*/ 158 w 431"/>
                  <a:gd name="T51" fmla="*/ 849 h 850"/>
                  <a:gd name="T52" fmla="*/ 192 w 431"/>
                  <a:gd name="T53" fmla="*/ 849 h 850"/>
                  <a:gd name="T54" fmla="*/ 226 w 431"/>
                  <a:gd name="T55" fmla="*/ 849 h 850"/>
                  <a:gd name="T56" fmla="*/ 260 w 431"/>
                  <a:gd name="T57" fmla="*/ 849 h 850"/>
                  <a:gd name="T58" fmla="*/ 294 w 431"/>
                  <a:gd name="T59" fmla="*/ 849 h 850"/>
                  <a:gd name="T60" fmla="*/ 328 w 431"/>
                  <a:gd name="T61" fmla="*/ 849 h 850"/>
                  <a:gd name="T62" fmla="*/ 362 w 431"/>
                  <a:gd name="T63" fmla="*/ 849 h 850"/>
                  <a:gd name="T64" fmla="*/ 373 w 431"/>
                  <a:gd name="T65" fmla="*/ 815 h 850"/>
                  <a:gd name="T66" fmla="*/ 396 w 431"/>
                  <a:gd name="T67" fmla="*/ 781 h 850"/>
                  <a:gd name="T68" fmla="*/ 396 w 431"/>
                  <a:gd name="T69" fmla="*/ 747 h 850"/>
                  <a:gd name="T70" fmla="*/ 396 w 431"/>
                  <a:gd name="T71" fmla="*/ 713 h 850"/>
                  <a:gd name="T72" fmla="*/ 396 w 431"/>
                  <a:gd name="T73" fmla="*/ 679 h 850"/>
                  <a:gd name="T74" fmla="*/ 407 w 431"/>
                  <a:gd name="T75" fmla="*/ 645 h 850"/>
                  <a:gd name="T76" fmla="*/ 419 w 431"/>
                  <a:gd name="T77" fmla="*/ 611 h 850"/>
                  <a:gd name="T78" fmla="*/ 430 w 431"/>
                  <a:gd name="T79" fmla="*/ 577 h 850"/>
                  <a:gd name="T80" fmla="*/ 430 w 431"/>
                  <a:gd name="T81" fmla="*/ 543 h 850"/>
                  <a:gd name="T82" fmla="*/ 430 w 431"/>
                  <a:gd name="T83" fmla="*/ 509 h 850"/>
                  <a:gd name="T84" fmla="*/ 430 w 431"/>
                  <a:gd name="T85" fmla="*/ 475 h 850"/>
                  <a:gd name="T86" fmla="*/ 430 w 431"/>
                  <a:gd name="T87" fmla="*/ 441 h 850"/>
                  <a:gd name="T88" fmla="*/ 419 w 431"/>
                  <a:gd name="T89" fmla="*/ 407 h 850"/>
                  <a:gd name="T90" fmla="*/ 407 w 431"/>
                  <a:gd name="T91" fmla="*/ 373 h 850"/>
                  <a:gd name="T92" fmla="*/ 407 w 431"/>
                  <a:gd name="T93" fmla="*/ 339 h 850"/>
                  <a:gd name="T94" fmla="*/ 396 w 431"/>
                  <a:gd name="T95" fmla="*/ 305 h 850"/>
                  <a:gd name="T96" fmla="*/ 385 w 431"/>
                  <a:gd name="T97" fmla="*/ 271 h 850"/>
                  <a:gd name="T98" fmla="*/ 373 w 431"/>
                  <a:gd name="T99" fmla="*/ 238 h 850"/>
                  <a:gd name="T100" fmla="*/ 351 w 431"/>
                  <a:gd name="T101" fmla="*/ 204 h 850"/>
                  <a:gd name="T102" fmla="*/ 340 w 431"/>
                  <a:gd name="T103" fmla="*/ 170 h 850"/>
                  <a:gd name="T104" fmla="*/ 317 w 431"/>
                  <a:gd name="T105" fmla="*/ 136 h 850"/>
                  <a:gd name="T106" fmla="*/ 283 w 431"/>
                  <a:gd name="T107" fmla="*/ 102 h 850"/>
                  <a:gd name="T108" fmla="*/ 260 w 431"/>
                  <a:gd name="T109" fmla="*/ 68 h 850"/>
                  <a:gd name="T110" fmla="*/ 238 w 431"/>
                  <a:gd name="T111" fmla="*/ 34 h 850"/>
                  <a:gd name="T112" fmla="*/ 215 w 431"/>
                  <a:gd name="T113" fmla="*/ 0 h 850"/>
                  <a:gd name="T114" fmla="*/ 181 w 431"/>
                  <a:gd name="T115" fmla="*/ 0 h 850"/>
                  <a:gd name="T116" fmla="*/ 147 w 431"/>
                  <a:gd name="T117" fmla="*/ 0 h 850"/>
                  <a:gd name="T118" fmla="*/ 113 w 431"/>
                  <a:gd name="T119" fmla="*/ 0 h 850"/>
                  <a:gd name="T120" fmla="*/ 79 w 431"/>
                  <a:gd name="T121" fmla="*/ 0 h 850"/>
                  <a:gd name="T122" fmla="*/ 2 w 431"/>
                  <a:gd name="T123" fmla="*/ 21 h 850"/>
                  <a:gd name="T124" fmla="*/ 2 w 431"/>
                  <a:gd name="T125" fmla="*/ 21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1" h="850">
                    <a:moveTo>
                      <a:pt x="2" y="21"/>
                    </a:moveTo>
                    <a:lnTo>
                      <a:pt x="0" y="68"/>
                    </a:lnTo>
                    <a:lnTo>
                      <a:pt x="34" y="102"/>
                    </a:lnTo>
                    <a:lnTo>
                      <a:pt x="34" y="136"/>
                    </a:lnTo>
                    <a:lnTo>
                      <a:pt x="56" y="170"/>
                    </a:lnTo>
                    <a:lnTo>
                      <a:pt x="68" y="204"/>
                    </a:lnTo>
                    <a:lnTo>
                      <a:pt x="90" y="238"/>
                    </a:lnTo>
                    <a:lnTo>
                      <a:pt x="102" y="271"/>
                    </a:lnTo>
                    <a:lnTo>
                      <a:pt x="113" y="305"/>
                    </a:lnTo>
                    <a:lnTo>
                      <a:pt x="124" y="339"/>
                    </a:lnTo>
                    <a:lnTo>
                      <a:pt x="136" y="373"/>
                    </a:lnTo>
                    <a:lnTo>
                      <a:pt x="147" y="407"/>
                    </a:lnTo>
                    <a:lnTo>
                      <a:pt x="147" y="441"/>
                    </a:lnTo>
                    <a:lnTo>
                      <a:pt x="147" y="475"/>
                    </a:lnTo>
                    <a:lnTo>
                      <a:pt x="147" y="509"/>
                    </a:lnTo>
                    <a:lnTo>
                      <a:pt x="147" y="543"/>
                    </a:lnTo>
                    <a:lnTo>
                      <a:pt x="147" y="577"/>
                    </a:lnTo>
                    <a:lnTo>
                      <a:pt x="147" y="611"/>
                    </a:lnTo>
                    <a:lnTo>
                      <a:pt x="147" y="645"/>
                    </a:lnTo>
                    <a:lnTo>
                      <a:pt x="147" y="679"/>
                    </a:lnTo>
                    <a:lnTo>
                      <a:pt x="147" y="713"/>
                    </a:lnTo>
                    <a:lnTo>
                      <a:pt x="136" y="747"/>
                    </a:lnTo>
                    <a:lnTo>
                      <a:pt x="136" y="781"/>
                    </a:lnTo>
                    <a:lnTo>
                      <a:pt x="124" y="815"/>
                    </a:lnTo>
                    <a:lnTo>
                      <a:pt x="124" y="849"/>
                    </a:lnTo>
                    <a:lnTo>
                      <a:pt x="158" y="849"/>
                    </a:lnTo>
                    <a:lnTo>
                      <a:pt x="192" y="849"/>
                    </a:lnTo>
                    <a:lnTo>
                      <a:pt x="226" y="849"/>
                    </a:lnTo>
                    <a:lnTo>
                      <a:pt x="260" y="849"/>
                    </a:lnTo>
                    <a:lnTo>
                      <a:pt x="294" y="849"/>
                    </a:lnTo>
                    <a:lnTo>
                      <a:pt x="328" y="849"/>
                    </a:lnTo>
                    <a:lnTo>
                      <a:pt x="362" y="849"/>
                    </a:lnTo>
                    <a:lnTo>
                      <a:pt x="373" y="815"/>
                    </a:lnTo>
                    <a:lnTo>
                      <a:pt x="396" y="781"/>
                    </a:lnTo>
                    <a:lnTo>
                      <a:pt x="396" y="747"/>
                    </a:lnTo>
                    <a:lnTo>
                      <a:pt x="396" y="713"/>
                    </a:lnTo>
                    <a:lnTo>
                      <a:pt x="396" y="679"/>
                    </a:lnTo>
                    <a:lnTo>
                      <a:pt x="407" y="645"/>
                    </a:lnTo>
                    <a:lnTo>
                      <a:pt x="419" y="611"/>
                    </a:lnTo>
                    <a:lnTo>
                      <a:pt x="430" y="577"/>
                    </a:lnTo>
                    <a:lnTo>
                      <a:pt x="430" y="543"/>
                    </a:lnTo>
                    <a:lnTo>
                      <a:pt x="430" y="509"/>
                    </a:lnTo>
                    <a:lnTo>
                      <a:pt x="430" y="475"/>
                    </a:lnTo>
                    <a:lnTo>
                      <a:pt x="430" y="441"/>
                    </a:lnTo>
                    <a:lnTo>
                      <a:pt x="419" y="407"/>
                    </a:lnTo>
                    <a:lnTo>
                      <a:pt x="407" y="373"/>
                    </a:lnTo>
                    <a:lnTo>
                      <a:pt x="407" y="339"/>
                    </a:lnTo>
                    <a:lnTo>
                      <a:pt x="396" y="305"/>
                    </a:lnTo>
                    <a:lnTo>
                      <a:pt x="385" y="271"/>
                    </a:lnTo>
                    <a:lnTo>
                      <a:pt x="373" y="238"/>
                    </a:lnTo>
                    <a:lnTo>
                      <a:pt x="351" y="204"/>
                    </a:lnTo>
                    <a:lnTo>
                      <a:pt x="340" y="170"/>
                    </a:lnTo>
                    <a:lnTo>
                      <a:pt x="317" y="136"/>
                    </a:lnTo>
                    <a:lnTo>
                      <a:pt x="283" y="102"/>
                    </a:lnTo>
                    <a:lnTo>
                      <a:pt x="260" y="68"/>
                    </a:lnTo>
                    <a:lnTo>
                      <a:pt x="238" y="34"/>
                    </a:lnTo>
                    <a:lnTo>
                      <a:pt x="215" y="0"/>
                    </a:lnTo>
                    <a:lnTo>
                      <a:pt x="181" y="0"/>
                    </a:lnTo>
                    <a:lnTo>
                      <a:pt x="147" y="0"/>
                    </a:lnTo>
                    <a:lnTo>
                      <a:pt x="113" y="0"/>
                    </a:lnTo>
                    <a:lnTo>
                      <a:pt x="79" y="0"/>
                    </a:lnTo>
                    <a:lnTo>
                      <a:pt x="2" y="21"/>
                    </a:lnTo>
                    <a:lnTo>
                      <a:pt x="2" y="21"/>
                    </a:lnTo>
                  </a:path>
                </a:pathLst>
              </a:custGeom>
              <a:solidFill>
                <a:schemeClr val="bg1"/>
              </a:solidFill>
              <a:ln w="12700" cap="rnd"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03" name="Rectangle 19"/>
              <p:cNvSpPr>
                <a:spLocks noChangeArrowheads="1"/>
              </p:cNvSpPr>
              <p:nvPr/>
            </p:nvSpPr>
            <p:spPr bwMode="auto">
              <a:xfrm>
                <a:off x="662" y="1449"/>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endParaRPr lang="en-GB">
                  <a:solidFill>
                    <a:schemeClr val="hlink"/>
                  </a:solidFill>
                </a:endParaRPr>
              </a:p>
            </p:txBody>
          </p:sp>
          <p:sp>
            <p:nvSpPr>
              <p:cNvPr id="42004" name="Rectangle 20"/>
              <p:cNvSpPr>
                <a:spLocks noChangeArrowheads="1"/>
              </p:cNvSpPr>
              <p:nvPr/>
            </p:nvSpPr>
            <p:spPr bwMode="auto">
              <a:xfrm>
                <a:off x="1046" y="1449"/>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endParaRPr lang="en-GB">
                  <a:solidFill>
                    <a:schemeClr val="hlink"/>
                  </a:solidFill>
                </a:endParaRPr>
              </a:p>
            </p:txBody>
          </p:sp>
          <p:sp>
            <p:nvSpPr>
              <p:cNvPr id="42005" name="Rectangle 21"/>
              <p:cNvSpPr>
                <a:spLocks noChangeArrowheads="1"/>
              </p:cNvSpPr>
              <p:nvPr/>
            </p:nvSpPr>
            <p:spPr bwMode="auto">
              <a:xfrm>
                <a:off x="1382" y="1353"/>
                <a:ext cx="1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endParaRPr lang="en-GB">
                  <a:solidFill>
                    <a:schemeClr val="hlink"/>
                  </a:solidFill>
                </a:endParaRPr>
              </a:p>
            </p:txBody>
          </p:sp>
          <p:sp>
            <p:nvSpPr>
              <p:cNvPr id="42006" name="Freeform 22"/>
              <p:cNvSpPr>
                <a:spLocks/>
              </p:cNvSpPr>
              <p:nvPr/>
            </p:nvSpPr>
            <p:spPr bwMode="auto">
              <a:xfrm>
                <a:off x="2570" y="2453"/>
                <a:ext cx="2659" cy="397"/>
              </a:xfrm>
              <a:custGeom>
                <a:avLst/>
                <a:gdLst>
                  <a:gd name="T0" fmla="*/ 115 w 2659"/>
                  <a:gd name="T1" fmla="*/ 22 h 397"/>
                  <a:gd name="T2" fmla="*/ 230 w 2659"/>
                  <a:gd name="T3" fmla="*/ 22 h 397"/>
                  <a:gd name="T4" fmla="*/ 344 w 2659"/>
                  <a:gd name="T5" fmla="*/ 22 h 397"/>
                  <a:gd name="T6" fmla="*/ 459 w 2659"/>
                  <a:gd name="T7" fmla="*/ 22 h 397"/>
                  <a:gd name="T8" fmla="*/ 574 w 2659"/>
                  <a:gd name="T9" fmla="*/ 11 h 397"/>
                  <a:gd name="T10" fmla="*/ 689 w 2659"/>
                  <a:gd name="T11" fmla="*/ 11 h 397"/>
                  <a:gd name="T12" fmla="*/ 804 w 2659"/>
                  <a:gd name="T13" fmla="*/ 0 h 397"/>
                  <a:gd name="T14" fmla="*/ 919 w 2659"/>
                  <a:gd name="T15" fmla="*/ 0 h 397"/>
                  <a:gd name="T16" fmla="*/ 1034 w 2659"/>
                  <a:gd name="T17" fmla="*/ 22 h 397"/>
                  <a:gd name="T18" fmla="*/ 1150 w 2659"/>
                  <a:gd name="T19" fmla="*/ 33 h 397"/>
                  <a:gd name="T20" fmla="*/ 1265 w 2659"/>
                  <a:gd name="T21" fmla="*/ 33 h 397"/>
                  <a:gd name="T22" fmla="*/ 1380 w 2659"/>
                  <a:gd name="T23" fmla="*/ 33 h 397"/>
                  <a:gd name="T24" fmla="*/ 1495 w 2659"/>
                  <a:gd name="T25" fmla="*/ 45 h 397"/>
                  <a:gd name="T26" fmla="*/ 1610 w 2659"/>
                  <a:gd name="T27" fmla="*/ 45 h 397"/>
                  <a:gd name="T28" fmla="*/ 1724 w 2659"/>
                  <a:gd name="T29" fmla="*/ 22 h 397"/>
                  <a:gd name="T30" fmla="*/ 1839 w 2659"/>
                  <a:gd name="T31" fmla="*/ 22 h 397"/>
                  <a:gd name="T32" fmla="*/ 1954 w 2659"/>
                  <a:gd name="T33" fmla="*/ 22 h 397"/>
                  <a:gd name="T34" fmla="*/ 2069 w 2659"/>
                  <a:gd name="T35" fmla="*/ 22 h 397"/>
                  <a:gd name="T36" fmla="*/ 2185 w 2659"/>
                  <a:gd name="T37" fmla="*/ 22 h 397"/>
                  <a:gd name="T38" fmla="*/ 2300 w 2659"/>
                  <a:gd name="T39" fmla="*/ 33 h 397"/>
                  <a:gd name="T40" fmla="*/ 2415 w 2659"/>
                  <a:gd name="T41" fmla="*/ 33 h 397"/>
                  <a:gd name="T42" fmla="*/ 2530 w 2659"/>
                  <a:gd name="T43" fmla="*/ 45 h 397"/>
                  <a:gd name="T44" fmla="*/ 2619 w 2659"/>
                  <a:gd name="T45" fmla="*/ 147 h 397"/>
                  <a:gd name="T46" fmla="*/ 2645 w 2659"/>
                  <a:gd name="T47" fmla="*/ 249 h 397"/>
                  <a:gd name="T48" fmla="*/ 2658 w 2659"/>
                  <a:gd name="T49" fmla="*/ 350 h 397"/>
                  <a:gd name="T50" fmla="*/ 2542 w 2659"/>
                  <a:gd name="T51" fmla="*/ 384 h 397"/>
                  <a:gd name="T52" fmla="*/ 2427 w 2659"/>
                  <a:gd name="T53" fmla="*/ 373 h 397"/>
                  <a:gd name="T54" fmla="*/ 2312 w 2659"/>
                  <a:gd name="T55" fmla="*/ 362 h 397"/>
                  <a:gd name="T56" fmla="*/ 2197 w 2659"/>
                  <a:gd name="T57" fmla="*/ 362 h 397"/>
                  <a:gd name="T58" fmla="*/ 2083 w 2659"/>
                  <a:gd name="T59" fmla="*/ 384 h 397"/>
                  <a:gd name="T60" fmla="*/ 1968 w 2659"/>
                  <a:gd name="T61" fmla="*/ 384 h 397"/>
                  <a:gd name="T62" fmla="*/ 1853 w 2659"/>
                  <a:gd name="T63" fmla="*/ 384 h 397"/>
                  <a:gd name="T64" fmla="*/ 1738 w 2659"/>
                  <a:gd name="T65" fmla="*/ 384 h 397"/>
                  <a:gd name="T66" fmla="*/ 1623 w 2659"/>
                  <a:gd name="T67" fmla="*/ 384 h 397"/>
                  <a:gd name="T68" fmla="*/ 1507 w 2659"/>
                  <a:gd name="T69" fmla="*/ 373 h 397"/>
                  <a:gd name="T70" fmla="*/ 1392 w 2659"/>
                  <a:gd name="T71" fmla="*/ 384 h 397"/>
                  <a:gd name="T72" fmla="*/ 1277 w 2659"/>
                  <a:gd name="T73" fmla="*/ 396 h 397"/>
                  <a:gd name="T74" fmla="*/ 1162 w 2659"/>
                  <a:gd name="T75" fmla="*/ 396 h 397"/>
                  <a:gd name="T76" fmla="*/ 1047 w 2659"/>
                  <a:gd name="T77" fmla="*/ 396 h 397"/>
                  <a:gd name="T78" fmla="*/ 932 w 2659"/>
                  <a:gd name="T79" fmla="*/ 396 h 397"/>
                  <a:gd name="T80" fmla="*/ 804 w 2659"/>
                  <a:gd name="T81" fmla="*/ 396 h 397"/>
                  <a:gd name="T82" fmla="*/ 689 w 2659"/>
                  <a:gd name="T83" fmla="*/ 396 h 397"/>
                  <a:gd name="T84" fmla="*/ 574 w 2659"/>
                  <a:gd name="T85" fmla="*/ 396 h 397"/>
                  <a:gd name="T86" fmla="*/ 459 w 2659"/>
                  <a:gd name="T87" fmla="*/ 396 h 397"/>
                  <a:gd name="T88" fmla="*/ 344 w 2659"/>
                  <a:gd name="T89" fmla="*/ 396 h 397"/>
                  <a:gd name="T90" fmla="*/ 230 w 2659"/>
                  <a:gd name="T91" fmla="*/ 396 h 397"/>
                  <a:gd name="T92" fmla="*/ 115 w 2659"/>
                  <a:gd name="T93" fmla="*/ 384 h 397"/>
                  <a:gd name="T94" fmla="*/ 0 w 2659"/>
                  <a:gd name="T95" fmla="*/ 384 h 397"/>
                  <a:gd name="T96" fmla="*/ 63 w 2659"/>
                  <a:gd name="T97" fmla="*/ 294 h 397"/>
                  <a:gd name="T98" fmla="*/ 50 w 2659"/>
                  <a:gd name="T99" fmla="*/ 192 h 397"/>
                  <a:gd name="T100" fmla="*/ 50 w 2659"/>
                  <a:gd name="T101" fmla="*/ 90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59" h="397">
                    <a:moveTo>
                      <a:pt x="20" y="23"/>
                    </a:moveTo>
                    <a:lnTo>
                      <a:pt x="76" y="22"/>
                    </a:lnTo>
                    <a:lnTo>
                      <a:pt x="115" y="22"/>
                    </a:lnTo>
                    <a:lnTo>
                      <a:pt x="153" y="22"/>
                    </a:lnTo>
                    <a:lnTo>
                      <a:pt x="191" y="22"/>
                    </a:lnTo>
                    <a:lnTo>
                      <a:pt x="230" y="22"/>
                    </a:lnTo>
                    <a:lnTo>
                      <a:pt x="268" y="22"/>
                    </a:lnTo>
                    <a:lnTo>
                      <a:pt x="306" y="22"/>
                    </a:lnTo>
                    <a:lnTo>
                      <a:pt x="344" y="22"/>
                    </a:lnTo>
                    <a:lnTo>
                      <a:pt x="382" y="22"/>
                    </a:lnTo>
                    <a:lnTo>
                      <a:pt x="420" y="22"/>
                    </a:lnTo>
                    <a:lnTo>
                      <a:pt x="459" y="22"/>
                    </a:lnTo>
                    <a:lnTo>
                      <a:pt x="497" y="11"/>
                    </a:lnTo>
                    <a:lnTo>
                      <a:pt x="536" y="11"/>
                    </a:lnTo>
                    <a:lnTo>
                      <a:pt x="574" y="11"/>
                    </a:lnTo>
                    <a:lnTo>
                      <a:pt x="612" y="11"/>
                    </a:lnTo>
                    <a:lnTo>
                      <a:pt x="651" y="11"/>
                    </a:lnTo>
                    <a:lnTo>
                      <a:pt x="689" y="11"/>
                    </a:lnTo>
                    <a:lnTo>
                      <a:pt x="727" y="11"/>
                    </a:lnTo>
                    <a:lnTo>
                      <a:pt x="766" y="0"/>
                    </a:lnTo>
                    <a:lnTo>
                      <a:pt x="804" y="0"/>
                    </a:lnTo>
                    <a:lnTo>
                      <a:pt x="843" y="0"/>
                    </a:lnTo>
                    <a:lnTo>
                      <a:pt x="881" y="0"/>
                    </a:lnTo>
                    <a:lnTo>
                      <a:pt x="919" y="0"/>
                    </a:lnTo>
                    <a:lnTo>
                      <a:pt x="958" y="11"/>
                    </a:lnTo>
                    <a:lnTo>
                      <a:pt x="996" y="22"/>
                    </a:lnTo>
                    <a:lnTo>
                      <a:pt x="1034" y="22"/>
                    </a:lnTo>
                    <a:lnTo>
                      <a:pt x="1073" y="33"/>
                    </a:lnTo>
                    <a:lnTo>
                      <a:pt x="1111" y="33"/>
                    </a:lnTo>
                    <a:lnTo>
                      <a:pt x="1150" y="33"/>
                    </a:lnTo>
                    <a:lnTo>
                      <a:pt x="1188" y="33"/>
                    </a:lnTo>
                    <a:lnTo>
                      <a:pt x="1226" y="33"/>
                    </a:lnTo>
                    <a:lnTo>
                      <a:pt x="1265" y="33"/>
                    </a:lnTo>
                    <a:lnTo>
                      <a:pt x="1303" y="33"/>
                    </a:lnTo>
                    <a:lnTo>
                      <a:pt x="1341" y="33"/>
                    </a:lnTo>
                    <a:lnTo>
                      <a:pt x="1380" y="33"/>
                    </a:lnTo>
                    <a:lnTo>
                      <a:pt x="1418" y="33"/>
                    </a:lnTo>
                    <a:lnTo>
                      <a:pt x="1457" y="33"/>
                    </a:lnTo>
                    <a:lnTo>
                      <a:pt x="1495" y="45"/>
                    </a:lnTo>
                    <a:lnTo>
                      <a:pt x="1533" y="45"/>
                    </a:lnTo>
                    <a:lnTo>
                      <a:pt x="1572" y="45"/>
                    </a:lnTo>
                    <a:lnTo>
                      <a:pt x="1610" y="45"/>
                    </a:lnTo>
                    <a:lnTo>
                      <a:pt x="1648" y="33"/>
                    </a:lnTo>
                    <a:lnTo>
                      <a:pt x="1686" y="22"/>
                    </a:lnTo>
                    <a:lnTo>
                      <a:pt x="1724" y="22"/>
                    </a:lnTo>
                    <a:lnTo>
                      <a:pt x="1762" y="22"/>
                    </a:lnTo>
                    <a:lnTo>
                      <a:pt x="1801" y="22"/>
                    </a:lnTo>
                    <a:lnTo>
                      <a:pt x="1839" y="22"/>
                    </a:lnTo>
                    <a:lnTo>
                      <a:pt x="1878" y="22"/>
                    </a:lnTo>
                    <a:lnTo>
                      <a:pt x="1916" y="22"/>
                    </a:lnTo>
                    <a:lnTo>
                      <a:pt x="1954" y="22"/>
                    </a:lnTo>
                    <a:lnTo>
                      <a:pt x="1993" y="22"/>
                    </a:lnTo>
                    <a:lnTo>
                      <a:pt x="2031" y="22"/>
                    </a:lnTo>
                    <a:lnTo>
                      <a:pt x="2069" y="22"/>
                    </a:lnTo>
                    <a:lnTo>
                      <a:pt x="2108" y="22"/>
                    </a:lnTo>
                    <a:lnTo>
                      <a:pt x="2146" y="22"/>
                    </a:lnTo>
                    <a:lnTo>
                      <a:pt x="2185" y="22"/>
                    </a:lnTo>
                    <a:lnTo>
                      <a:pt x="2223" y="22"/>
                    </a:lnTo>
                    <a:lnTo>
                      <a:pt x="2261" y="22"/>
                    </a:lnTo>
                    <a:lnTo>
                      <a:pt x="2300" y="33"/>
                    </a:lnTo>
                    <a:lnTo>
                      <a:pt x="2338" y="33"/>
                    </a:lnTo>
                    <a:lnTo>
                      <a:pt x="2376" y="33"/>
                    </a:lnTo>
                    <a:lnTo>
                      <a:pt x="2415" y="33"/>
                    </a:lnTo>
                    <a:lnTo>
                      <a:pt x="2453" y="33"/>
                    </a:lnTo>
                    <a:lnTo>
                      <a:pt x="2492" y="33"/>
                    </a:lnTo>
                    <a:lnTo>
                      <a:pt x="2530" y="45"/>
                    </a:lnTo>
                    <a:lnTo>
                      <a:pt x="2568" y="79"/>
                    </a:lnTo>
                    <a:lnTo>
                      <a:pt x="2593" y="113"/>
                    </a:lnTo>
                    <a:lnTo>
                      <a:pt x="2619" y="147"/>
                    </a:lnTo>
                    <a:lnTo>
                      <a:pt x="2632" y="181"/>
                    </a:lnTo>
                    <a:lnTo>
                      <a:pt x="2645" y="215"/>
                    </a:lnTo>
                    <a:lnTo>
                      <a:pt x="2645" y="249"/>
                    </a:lnTo>
                    <a:lnTo>
                      <a:pt x="2658" y="282"/>
                    </a:lnTo>
                    <a:lnTo>
                      <a:pt x="2658" y="316"/>
                    </a:lnTo>
                    <a:lnTo>
                      <a:pt x="2658" y="350"/>
                    </a:lnTo>
                    <a:lnTo>
                      <a:pt x="2619" y="350"/>
                    </a:lnTo>
                    <a:lnTo>
                      <a:pt x="2581" y="373"/>
                    </a:lnTo>
                    <a:lnTo>
                      <a:pt x="2542" y="384"/>
                    </a:lnTo>
                    <a:lnTo>
                      <a:pt x="2504" y="384"/>
                    </a:lnTo>
                    <a:lnTo>
                      <a:pt x="2466" y="373"/>
                    </a:lnTo>
                    <a:lnTo>
                      <a:pt x="2427" y="373"/>
                    </a:lnTo>
                    <a:lnTo>
                      <a:pt x="2389" y="362"/>
                    </a:lnTo>
                    <a:lnTo>
                      <a:pt x="2351" y="362"/>
                    </a:lnTo>
                    <a:lnTo>
                      <a:pt x="2312" y="362"/>
                    </a:lnTo>
                    <a:lnTo>
                      <a:pt x="2274" y="362"/>
                    </a:lnTo>
                    <a:lnTo>
                      <a:pt x="2235" y="362"/>
                    </a:lnTo>
                    <a:lnTo>
                      <a:pt x="2197" y="362"/>
                    </a:lnTo>
                    <a:lnTo>
                      <a:pt x="2159" y="373"/>
                    </a:lnTo>
                    <a:lnTo>
                      <a:pt x="2120" y="384"/>
                    </a:lnTo>
                    <a:lnTo>
                      <a:pt x="2083" y="384"/>
                    </a:lnTo>
                    <a:lnTo>
                      <a:pt x="2045" y="384"/>
                    </a:lnTo>
                    <a:lnTo>
                      <a:pt x="2006" y="384"/>
                    </a:lnTo>
                    <a:lnTo>
                      <a:pt x="1968" y="384"/>
                    </a:lnTo>
                    <a:lnTo>
                      <a:pt x="1930" y="384"/>
                    </a:lnTo>
                    <a:lnTo>
                      <a:pt x="1891" y="384"/>
                    </a:lnTo>
                    <a:lnTo>
                      <a:pt x="1853" y="384"/>
                    </a:lnTo>
                    <a:lnTo>
                      <a:pt x="1814" y="384"/>
                    </a:lnTo>
                    <a:lnTo>
                      <a:pt x="1776" y="384"/>
                    </a:lnTo>
                    <a:lnTo>
                      <a:pt x="1738" y="384"/>
                    </a:lnTo>
                    <a:lnTo>
                      <a:pt x="1699" y="384"/>
                    </a:lnTo>
                    <a:lnTo>
                      <a:pt x="1661" y="384"/>
                    </a:lnTo>
                    <a:lnTo>
                      <a:pt x="1623" y="384"/>
                    </a:lnTo>
                    <a:lnTo>
                      <a:pt x="1584" y="384"/>
                    </a:lnTo>
                    <a:lnTo>
                      <a:pt x="1546" y="373"/>
                    </a:lnTo>
                    <a:lnTo>
                      <a:pt x="1507" y="373"/>
                    </a:lnTo>
                    <a:lnTo>
                      <a:pt x="1469" y="373"/>
                    </a:lnTo>
                    <a:lnTo>
                      <a:pt x="1431" y="373"/>
                    </a:lnTo>
                    <a:lnTo>
                      <a:pt x="1392" y="384"/>
                    </a:lnTo>
                    <a:lnTo>
                      <a:pt x="1354" y="396"/>
                    </a:lnTo>
                    <a:lnTo>
                      <a:pt x="1316" y="396"/>
                    </a:lnTo>
                    <a:lnTo>
                      <a:pt x="1277" y="396"/>
                    </a:lnTo>
                    <a:lnTo>
                      <a:pt x="1239" y="396"/>
                    </a:lnTo>
                    <a:lnTo>
                      <a:pt x="1200" y="396"/>
                    </a:lnTo>
                    <a:lnTo>
                      <a:pt x="1162" y="396"/>
                    </a:lnTo>
                    <a:lnTo>
                      <a:pt x="1124" y="396"/>
                    </a:lnTo>
                    <a:lnTo>
                      <a:pt x="1085" y="396"/>
                    </a:lnTo>
                    <a:lnTo>
                      <a:pt x="1047" y="396"/>
                    </a:lnTo>
                    <a:lnTo>
                      <a:pt x="1009" y="396"/>
                    </a:lnTo>
                    <a:lnTo>
                      <a:pt x="970" y="396"/>
                    </a:lnTo>
                    <a:lnTo>
                      <a:pt x="932" y="396"/>
                    </a:lnTo>
                    <a:lnTo>
                      <a:pt x="881" y="396"/>
                    </a:lnTo>
                    <a:lnTo>
                      <a:pt x="843" y="396"/>
                    </a:lnTo>
                    <a:lnTo>
                      <a:pt x="804" y="396"/>
                    </a:lnTo>
                    <a:lnTo>
                      <a:pt x="766" y="396"/>
                    </a:lnTo>
                    <a:lnTo>
                      <a:pt x="727" y="396"/>
                    </a:lnTo>
                    <a:lnTo>
                      <a:pt x="689" y="396"/>
                    </a:lnTo>
                    <a:lnTo>
                      <a:pt x="651" y="396"/>
                    </a:lnTo>
                    <a:lnTo>
                      <a:pt x="612" y="396"/>
                    </a:lnTo>
                    <a:lnTo>
                      <a:pt x="574" y="396"/>
                    </a:lnTo>
                    <a:lnTo>
                      <a:pt x="536" y="396"/>
                    </a:lnTo>
                    <a:lnTo>
                      <a:pt x="497" y="396"/>
                    </a:lnTo>
                    <a:lnTo>
                      <a:pt x="459" y="396"/>
                    </a:lnTo>
                    <a:lnTo>
                      <a:pt x="420" y="396"/>
                    </a:lnTo>
                    <a:lnTo>
                      <a:pt x="382" y="396"/>
                    </a:lnTo>
                    <a:lnTo>
                      <a:pt x="344" y="396"/>
                    </a:lnTo>
                    <a:lnTo>
                      <a:pt x="306" y="396"/>
                    </a:lnTo>
                    <a:lnTo>
                      <a:pt x="268" y="396"/>
                    </a:lnTo>
                    <a:lnTo>
                      <a:pt x="230" y="396"/>
                    </a:lnTo>
                    <a:lnTo>
                      <a:pt x="191" y="396"/>
                    </a:lnTo>
                    <a:lnTo>
                      <a:pt x="153" y="384"/>
                    </a:lnTo>
                    <a:lnTo>
                      <a:pt x="115" y="384"/>
                    </a:lnTo>
                    <a:lnTo>
                      <a:pt x="76" y="384"/>
                    </a:lnTo>
                    <a:lnTo>
                      <a:pt x="38" y="384"/>
                    </a:lnTo>
                    <a:lnTo>
                      <a:pt x="0" y="384"/>
                    </a:lnTo>
                    <a:lnTo>
                      <a:pt x="38" y="362"/>
                    </a:lnTo>
                    <a:lnTo>
                      <a:pt x="63" y="328"/>
                    </a:lnTo>
                    <a:lnTo>
                      <a:pt x="63" y="294"/>
                    </a:lnTo>
                    <a:lnTo>
                      <a:pt x="63" y="260"/>
                    </a:lnTo>
                    <a:lnTo>
                      <a:pt x="50" y="226"/>
                    </a:lnTo>
                    <a:lnTo>
                      <a:pt x="50" y="192"/>
                    </a:lnTo>
                    <a:lnTo>
                      <a:pt x="50" y="158"/>
                    </a:lnTo>
                    <a:lnTo>
                      <a:pt x="50" y="124"/>
                    </a:lnTo>
                    <a:lnTo>
                      <a:pt x="50" y="90"/>
                    </a:lnTo>
                    <a:lnTo>
                      <a:pt x="20" y="23"/>
                    </a:lnTo>
                    <a:lnTo>
                      <a:pt x="20" y="23"/>
                    </a:lnTo>
                  </a:path>
                </a:pathLst>
              </a:custGeom>
              <a:gradFill rotWithShape="0">
                <a:gsLst>
                  <a:gs pos="0">
                    <a:schemeClr val="bg2"/>
                  </a:gs>
                  <a:gs pos="50000">
                    <a:schemeClr val="bg2">
                      <a:gamma/>
                      <a:shade val="69804"/>
                      <a:invGamma/>
                    </a:schemeClr>
                  </a:gs>
                  <a:gs pos="100000">
                    <a:schemeClr val="bg2"/>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42007" name="Group 23"/>
              <p:cNvGrpSpPr>
                <a:grpSpLocks/>
              </p:cNvGrpSpPr>
              <p:nvPr/>
            </p:nvGrpSpPr>
            <p:grpSpPr bwMode="auto">
              <a:xfrm>
                <a:off x="2400" y="2428"/>
                <a:ext cx="2829" cy="433"/>
                <a:chOff x="2212" y="1728"/>
                <a:chExt cx="2829" cy="433"/>
              </a:xfrm>
            </p:grpSpPr>
            <p:sp>
              <p:nvSpPr>
                <p:cNvPr id="42008" name="Oval 24"/>
                <p:cNvSpPr>
                  <a:spLocks noChangeArrowheads="1"/>
                </p:cNvSpPr>
                <p:nvPr/>
              </p:nvSpPr>
              <p:spPr bwMode="auto">
                <a:xfrm>
                  <a:off x="2212" y="1732"/>
                  <a:ext cx="206" cy="424"/>
                </a:xfrm>
                <a:prstGeom prst="ellipse">
                  <a:avLst/>
                </a:prstGeom>
                <a:solidFill>
                  <a:schemeClr val="accent1">
                    <a:alpha val="50000"/>
                  </a:schemeClr>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09" name="Line 25"/>
                <p:cNvSpPr>
                  <a:spLocks noChangeShapeType="1"/>
                </p:cNvSpPr>
                <p:nvPr/>
              </p:nvSpPr>
              <p:spPr bwMode="auto">
                <a:xfrm>
                  <a:off x="2315" y="1728"/>
                  <a:ext cx="2618"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0" name="Line 26"/>
                <p:cNvSpPr>
                  <a:spLocks noChangeShapeType="1"/>
                </p:cNvSpPr>
                <p:nvPr/>
              </p:nvSpPr>
              <p:spPr bwMode="auto">
                <a:xfrm>
                  <a:off x="2369" y="2160"/>
                  <a:ext cx="2671"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1" name="Arc 27"/>
                <p:cNvSpPr>
                  <a:spLocks/>
                </p:cNvSpPr>
                <p:nvPr/>
              </p:nvSpPr>
              <p:spPr bwMode="auto">
                <a:xfrm>
                  <a:off x="4880" y="1729"/>
                  <a:ext cx="161" cy="432"/>
                </a:xfrm>
                <a:custGeom>
                  <a:avLst/>
                  <a:gdLst>
                    <a:gd name="G0" fmla="+- 135 0 0"/>
                    <a:gd name="G1" fmla="+- 21600 0 0"/>
                    <a:gd name="G2" fmla="+- 21600 0 0"/>
                    <a:gd name="T0" fmla="*/ 0 w 21735"/>
                    <a:gd name="T1" fmla="*/ 0 h 21600"/>
                    <a:gd name="T2" fmla="*/ 21735 w 21735"/>
                    <a:gd name="T3" fmla="*/ 21600 h 21600"/>
                    <a:gd name="T4" fmla="*/ 135 w 21735"/>
                    <a:gd name="T5" fmla="*/ 21600 h 21600"/>
                  </a:gdLst>
                  <a:ahLst/>
                  <a:cxnLst>
                    <a:cxn ang="0">
                      <a:pos x="T0" y="T1"/>
                    </a:cxn>
                    <a:cxn ang="0">
                      <a:pos x="T2" y="T3"/>
                    </a:cxn>
                    <a:cxn ang="0">
                      <a:pos x="T4" y="T5"/>
                    </a:cxn>
                  </a:cxnLst>
                  <a:rect l="0" t="0" r="r" b="b"/>
                  <a:pathLst>
                    <a:path w="21735" h="21600" fill="none" extrusionOk="0">
                      <a:moveTo>
                        <a:pt x="0" y="0"/>
                      </a:moveTo>
                      <a:cubicBezTo>
                        <a:pt x="45" y="0"/>
                        <a:pt x="90" y="-1"/>
                        <a:pt x="135" y="0"/>
                      </a:cubicBezTo>
                      <a:cubicBezTo>
                        <a:pt x="12064" y="0"/>
                        <a:pt x="21735" y="9670"/>
                        <a:pt x="21735" y="21600"/>
                      </a:cubicBezTo>
                    </a:path>
                    <a:path w="21735" h="21600" stroke="0" extrusionOk="0">
                      <a:moveTo>
                        <a:pt x="0" y="0"/>
                      </a:moveTo>
                      <a:cubicBezTo>
                        <a:pt x="45" y="0"/>
                        <a:pt x="90" y="-1"/>
                        <a:pt x="135" y="0"/>
                      </a:cubicBezTo>
                      <a:cubicBezTo>
                        <a:pt x="12064" y="0"/>
                        <a:pt x="21735" y="9670"/>
                        <a:pt x="21735" y="21600"/>
                      </a:cubicBezTo>
                      <a:lnTo>
                        <a:pt x="135" y="21600"/>
                      </a:lnTo>
                      <a:close/>
                    </a:path>
                  </a:pathLst>
                </a:custGeom>
                <a:noFill/>
                <a:ln w="127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42012" name="Line 28"/>
              <p:cNvSpPr>
                <a:spLocks noChangeShapeType="1"/>
              </p:cNvSpPr>
              <p:nvPr/>
            </p:nvSpPr>
            <p:spPr bwMode="auto">
              <a:xfrm>
                <a:off x="3361" y="1447"/>
                <a:ext cx="563" cy="1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3" name="Line 29"/>
              <p:cNvSpPr>
                <a:spLocks noChangeShapeType="1"/>
              </p:cNvSpPr>
              <p:nvPr/>
            </p:nvSpPr>
            <p:spPr bwMode="auto">
              <a:xfrm>
                <a:off x="4212" y="1443"/>
                <a:ext cx="663" cy="1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4" name="Line 30"/>
              <p:cNvSpPr>
                <a:spLocks noChangeShapeType="1"/>
              </p:cNvSpPr>
              <p:nvPr/>
            </p:nvSpPr>
            <p:spPr bwMode="auto">
              <a:xfrm rot="4407390">
                <a:off x="2704" y="1914"/>
                <a:ext cx="987" cy="2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5" name="Line 31"/>
              <p:cNvSpPr>
                <a:spLocks noChangeShapeType="1"/>
              </p:cNvSpPr>
              <p:nvPr/>
            </p:nvSpPr>
            <p:spPr bwMode="auto">
              <a:xfrm rot="4407390" flipH="1">
                <a:off x="2976" y="1920"/>
                <a:ext cx="1010" cy="1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6" name="Line 32"/>
              <p:cNvSpPr>
                <a:spLocks noChangeShapeType="1"/>
              </p:cNvSpPr>
              <p:nvPr/>
            </p:nvSpPr>
            <p:spPr bwMode="auto">
              <a:xfrm rot="4407390" flipH="1">
                <a:off x="3563" y="1913"/>
                <a:ext cx="1039" cy="31"/>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7" name="Line 33"/>
              <p:cNvSpPr>
                <a:spLocks noChangeShapeType="1"/>
              </p:cNvSpPr>
              <p:nvPr/>
            </p:nvSpPr>
            <p:spPr bwMode="auto">
              <a:xfrm rot="4407390" flipH="1">
                <a:off x="3865" y="1890"/>
                <a:ext cx="1068" cy="83"/>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18" name="Line 34"/>
              <p:cNvSpPr>
                <a:spLocks noChangeShapeType="1"/>
              </p:cNvSpPr>
              <p:nvPr/>
            </p:nvSpPr>
            <p:spPr bwMode="auto">
              <a:xfrm rot="4407390" flipH="1">
                <a:off x="4506" y="1936"/>
                <a:ext cx="1007" cy="6"/>
              </a:xfrm>
              <a:prstGeom prst="line">
                <a:avLst/>
              </a:prstGeom>
              <a:noFill/>
              <a:ln w="508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2019" name="Group 35"/>
              <p:cNvGrpSpPr>
                <a:grpSpLocks/>
              </p:cNvGrpSpPr>
              <p:nvPr/>
            </p:nvGrpSpPr>
            <p:grpSpPr bwMode="auto">
              <a:xfrm>
                <a:off x="2636" y="2222"/>
                <a:ext cx="795" cy="775"/>
                <a:chOff x="2636" y="2222"/>
                <a:chExt cx="795" cy="775"/>
              </a:xfrm>
            </p:grpSpPr>
            <p:sp>
              <p:nvSpPr>
                <p:cNvPr id="42020" name="Freeform 36"/>
                <p:cNvSpPr>
                  <a:spLocks/>
                </p:cNvSpPr>
                <p:nvPr/>
              </p:nvSpPr>
              <p:spPr bwMode="auto">
                <a:xfrm>
                  <a:off x="2636" y="2283"/>
                  <a:ext cx="795" cy="714"/>
                </a:xfrm>
                <a:custGeom>
                  <a:avLst/>
                  <a:gdLst>
                    <a:gd name="T0" fmla="*/ 47 w 795"/>
                    <a:gd name="T1" fmla="*/ 0 h 714"/>
                    <a:gd name="T2" fmla="*/ 115 w 795"/>
                    <a:gd name="T3" fmla="*/ 11 h 714"/>
                    <a:gd name="T4" fmla="*/ 183 w 795"/>
                    <a:gd name="T5" fmla="*/ 11 h 714"/>
                    <a:gd name="T6" fmla="*/ 251 w 795"/>
                    <a:gd name="T7" fmla="*/ 11 h 714"/>
                    <a:gd name="T8" fmla="*/ 319 w 795"/>
                    <a:gd name="T9" fmla="*/ 11 h 714"/>
                    <a:gd name="T10" fmla="*/ 387 w 795"/>
                    <a:gd name="T11" fmla="*/ 11 h 714"/>
                    <a:gd name="T12" fmla="*/ 455 w 795"/>
                    <a:gd name="T13" fmla="*/ 11 h 714"/>
                    <a:gd name="T14" fmla="*/ 523 w 795"/>
                    <a:gd name="T15" fmla="*/ 22 h 714"/>
                    <a:gd name="T16" fmla="*/ 591 w 795"/>
                    <a:gd name="T17" fmla="*/ 34 h 714"/>
                    <a:gd name="T18" fmla="*/ 658 w 795"/>
                    <a:gd name="T19" fmla="*/ 34 h 714"/>
                    <a:gd name="T20" fmla="*/ 692 w 795"/>
                    <a:gd name="T21" fmla="*/ 102 h 714"/>
                    <a:gd name="T22" fmla="*/ 726 w 795"/>
                    <a:gd name="T23" fmla="*/ 170 h 714"/>
                    <a:gd name="T24" fmla="*/ 760 w 795"/>
                    <a:gd name="T25" fmla="*/ 237 h 714"/>
                    <a:gd name="T26" fmla="*/ 772 w 795"/>
                    <a:gd name="T27" fmla="*/ 305 h 714"/>
                    <a:gd name="T28" fmla="*/ 783 w 795"/>
                    <a:gd name="T29" fmla="*/ 373 h 714"/>
                    <a:gd name="T30" fmla="*/ 783 w 795"/>
                    <a:gd name="T31" fmla="*/ 441 h 714"/>
                    <a:gd name="T32" fmla="*/ 794 w 795"/>
                    <a:gd name="T33" fmla="*/ 509 h 714"/>
                    <a:gd name="T34" fmla="*/ 794 w 795"/>
                    <a:gd name="T35" fmla="*/ 577 h 714"/>
                    <a:gd name="T36" fmla="*/ 783 w 795"/>
                    <a:gd name="T37" fmla="*/ 645 h 714"/>
                    <a:gd name="T38" fmla="*/ 772 w 795"/>
                    <a:gd name="T39" fmla="*/ 713 h 714"/>
                    <a:gd name="T40" fmla="*/ 704 w 795"/>
                    <a:gd name="T41" fmla="*/ 713 h 714"/>
                    <a:gd name="T42" fmla="*/ 636 w 795"/>
                    <a:gd name="T43" fmla="*/ 713 h 714"/>
                    <a:gd name="T44" fmla="*/ 568 w 795"/>
                    <a:gd name="T45" fmla="*/ 713 h 714"/>
                    <a:gd name="T46" fmla="*/ 500 w 795"/>
                    <a:gd name="T47" fmla="*/ 713 h 714"/>
                    <a:gd name="T48" fmla="*/ 432 w 795"/>
                    <a:gd name="T49" fmla="*/ 713 h 714"/>
                    <a:gd name="T50" fmla="*/ 364 w 795"/>
                    <a:gd name="T51" fmla="*/ 713 h 714"/>
                    <a:gd name="T52" fmla="*/ 296 w 795"/>
                    <a:gd name="T53" fmla="*/ 713 h 714"/>
                    <a:gd name="T54" fmla="*/ 228 w 795"/>
                    <a:gd name="T55" fmla="*/ 713 h 714"/>
                    <a:gd name="T56" fmla="*/ 160 w 795"/>
                    <a:gd name="T57" fmla="*/ 713 h 714"/>
                    <a:gd name="T58" fmla="*/ 206 w 795"/>
                    <a:gd name="T59" fmla="*/ 645 h 714"/>
                    <a:gd name="T60" fmla="*/ 206 w 795"/>
                    <a:gd name="T61" fmla="*/ 577 h 714"/>
                    <a:gd name="T62" fmla="*/ 194 w 795"/>
                    <a:gd name="T63" fmla="*/ 509 h 714"/>
                    <a:gd name="T64" fmla="*/ 194 w 795"/>
                    <a:gd name="T65" fmla="*/ 441 h 714"/>
                    <a:gd name="T66" fmla="*/ 194 w 795"/>
                    <a:gd name="T67" fmla="*/ 373 h 714"/>
                    <a:gd name="T68" fmla="*/ 183 w 795"/>
                    <a:gd name="T69" fmla="*/ 305 h 714"/>
                    <a:gd name="T70" fmla="*/ 172 w 795"/>
                    <a:gd name="T71" fmla="*/ 237 h 714"/>
                    <a:gd name="T72" fmla="*/ 138 w 795"/>
                    <a:gd name="T73" fmla="*/ 170 h 714"/>
                    <a:gd name="T74" fmla="*/ 104 w 795"/>
                    <a:gd name="T75" fmla="*/ 102 h 714"/>
                    <a:gd name="T76" fmla="*/ 58 w 795"/>
                    <a:gd name="T77" fmla="*/ 3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5" h="714">
                      <a:moveTo>
                        <a:pt x="0" y="1"/>
                      </a:moveTo>
                      <a:lnTo>
                        <a:pt x="47" y="0"/>
                      </a:lnTo>
                      <a:lnTo>
                        <a:pt x="81" y="11"/>
                      </a:lnTo>
                      <a:lnTo>
                        <a:pt x="115" y="11"/>
                      </a:lnTo>
                      <a:lnTo>
                        <a:pt x="149" y="11"/>
                      </a:lnTo>
                      <a:lnTo>
                        <a:pt x="183" y="11"/>
                      </a:lnTo>
                      <a:lnTo>
                        <a:pt x="217" y="11"/>
                      </a:lnTo>
                      <a:lnTo>
                        <a:pt x="251" y="11"/>
                      </a:lnTo>
                      <a:lnTo>
                        <a:pt x="285" y="11"/>
                      </a:lnTo>
                      <a:lnTo>
                        <a:pt x="319" y="11"/>
                      </a:lnTo>
                      <a:lnTo>
                        <a:pt x="353" y="11"/>
                      </a:lnTo>
                      <a:lnTo>
                        <a:pt x="387" y="11"/>
                      </a:lnTo>
                      <a:lnTo>
                        <a:pt x="421" y="11"/>
                      </a:lnTo>
                      <a:lnTo>
                        <a:pt x="455" y="11"/>
                      </a:lnTo>
                      <a:lnTo>
                        <a:pt x="489" y="22"/>
                      </a:lnTo>
                      <a:lnTo>
                        <a:pt x="523" y="22"/>
                      </a:lnTo>
                      <a:lnTo>
                        <a:pt x="557" y="34"/>
                      </a:lnTo>
                      <a:lnTo>
                        <a:pt x="591" y="34"/>
                      </a:lnTo>
                      <a:lnTo>
                        <a:pt x="625" y="34"/>
                      </a:lnTo>
                      <a:lnTo>
                        <a:pt x="658" y="34"/>
                      </a:lnTo>
                      <a:lnTo>
                        <a:pt x="670" y="68"/>
                      </a:lnTo>
                      <a:lnTo>
                        <a:pt x="692" y="102"/>
                      </a:lnTo>
                      <a:lnTo>
                        <a:pt x="715" y="136"/>
                      </a:lnTo>
                      <a:lnTo>
                        <a:pt x="726" y="170"/>
                      </a:lnTo>
                      <a:lnTo>
                        <a:pt x="749" y="203"/>
                      </a:lnTo>
                      <a:lnTo>
                        <a:pt x="760" y="237"/>
                      </a:lnTo>
                      <a:lnTo>
                        <a:pt x="772" y="271"/>
                      </a:lnTo>
                      <a:lnTo>
                        <a:pt x="772" y="305"/>
                      </a:lnTo>
                      <a:lnTo>
                        <a:pt x="783" y="339"/>
                      </a:lnTo>
                      <a:lnTo>
                        <a:pt x="783" y="373"/>
                      </a:lnTo>
                      <a:lnTo>
                        <a:pt x="783" y="407"/>
                      </a:lnTo>
                      <a:lnTo>
                        <a:pt x="783" y="441"/>
                      </a:lnTo>
                      <a:lnTo>
                        <a:pt x="783" y="475"/>
                      </a:lnTo>
                      <a:lnTo>
                        <a:pt x="794" y="509"/>
                      </a:lnTo>
                      <a:lnTo>
                        <a:pt x="794" y="543"/>
                      </a:lnTo>
                      <a:lnTo>
                        <a:pt x="794" y="577"/>
                      </a:lnTo>
                      <a:lnTo>
                        <a:pt x="794" y="611"/>
                      </a:lnTo>
                      <a:lnTo>
                        <a:pt x="783" y="645"/>
                      </a:lnTo>
                      <a:lnTo>
                        <a:pt x="783" y="679"/>
                      </a:lnTo>
                      <a:lnTo>
                        <a:pt x="772" y="713"/>
                      </a:lnTo>
                      <a:lnTo>
                        <a:pt x="738" y="713"/>
                      </a:lnTo>
                      <a:lnTo>
                        <a:pt x="704" y="713"/>
                      </a:lnTo>
                      <a:lnTo>
                        <a:pt x="670" y="713"/>
                      </a:lnTo>
                      <a:lnTo>
                        <a:pt x="636" y="713"/>
                      </a:lnTo>
                      <a:lnTo>
                        <a:pt x="602" y="713"/>
                      </a:lnTo>
                      <a:lnTo>
                        <a:pt x="568" y="713"/>
                      </a:lnTo>
                      <a:lnTo>
                        <a:pt x="534" y="713"/>
                      </a:lnTo>
                      <a:lnTo>
                        <a:pt x="500" y="713"/>
                      </a:lnTo>
                      <a:lnTo>
                        <a:pt x="466" y="713"/>
                      </a:lnTo>
                      <a:lnTo>
                        <a:pt x="432" y="713"/>
                      </a:lnTo>
                      <a:lnTo>
                        <a:pt x="398" y="713"/>
                      </a:lnTo>
                      <a:lnTo>
                        <a:pt x="364" y="713"/>
                      </a:lnTo>
                      <a:lnTo>
                        <a:pt x="330" y="713"/>
                      </a:lnTo>
                      <a:lnTo>
                        <a:pt x="296" y="713"/>
                      </a:lnTo>
                      <a:lnTo>
                        <a:pt x="262" y="713"/>
                      </a:lnTo>
                      <a:lnTo>
                        <a:pt x="228" y="713"/>
                      </a:lnTo>
                      <a:lnTo>
                        <a:pt x="194" y="713"/>
                      </a:lnTo>
                      <a:lnTo>
                        <a:pt x="160" y="713"/>
                      </a:lnTo>
                      <a:lnTo>
                        <a:pt x="183" y="679"/>
                      </a:lnTo>
                      <a:lnTo>
                        <a:pt x="206" y="645"/>
                      </a:lnTo>
                      <a:lnTo>
                        <a:pt x="206" y="611"/>
                      </a:lnTo>
                      <a:lnTo>
                        <a:pt x="206" y="577"/>
                      </a:lnTo>
                      <a:lnTo>
                        <a:pt x="194" y="543"/>
                      </a:lnTo>
                      <a:lnTo>
                        <a:pt x="194" y="509"/>
                      </a:lnTo>
                      <a:lnTo>
                        <a:pt x="194" y="475"/>
                      </a:lnTo>
                      <a:lnTo>
                        <a:pt x="194" y="441"/>
                      </a:lnTo>
                      <a:lnTo>
                        <a:pt x="194" y="407"/>
                      </a:lnTo>
                      <a:lnTo>
                        <a:pt x="194" y="373"/>
                      </a:lnTo>
                      <a:lnTo>
                        <a:pt x="183" y="339"/>
                      </a:lnTo>
                      <a:lnTo>
                        <a:pt x="183" y="305"/>
                      </a:lnTo>
                      <a:lnTo>
                        <a:pt x="183" y="271"/>
                      </a:lnTo>
                      <a:lnTo>
                        <a:pt x="172" y="237"/>
                      </a:lnTo>
                      <a:lnTo>
                        <a:pt x="160" y="203"/>
                      </a:lnTo>
                      <a:lnTo>
                        <a:pt x="138" y="170"/>
                      </a:lnTo>
                      <a:lnTo>
                        <a:pt x="126" y="136"/>
                      </a:lnTo>
                      <a:lnTo>
                        <a:pt x="104" y="102"/>
                      </a:lnTo>
                      <a:lnTo>
                        <a:pt x="81" y="68"/>
                      </a:lnTo>
                      <a:lnTo>
                        <a:pt x="58" y="34"/>
                      </a:lnTo>
                      <a:lnTo>
                        <a:pt x="96" y="1"/>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21" name="Rectangle 37"/>
                <p:cNvSpPr>
                  <a:spLocks noChangeArrowheads="1"/>
                </p:cNvSpPr>
                <p:nvPr/>
              </p:nvSpPr>
              <p:spPr bwMode="auto">
                <a:xfrm>
                  <a:off x="2723" y="2222"/>
                  <a:ext cx="533" cy="1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42022" name="Group 38"/>
              <p:cNvGrpSpPr>
                <a:grpSpLocks/>
              </p:cNvGrpSpPr>
              <p:nvPr/>
            </p:nvGrpSpPr>
            <p:grpSpPr bwMode="auto">
              <a:xfrm>
                <a:off x="3548" y="2218"/>
                <a:ext cx="795" cy="779"/>
                <a:chOff x="3548" y="2218"/>
                <a:chExt cx="795" cy="779"/>
              </a:xfrm>
            </p:grpSpPr>
            <p:sp>
              <p:nvSpPr>
                <p:cNvPr id="42023" name="Freeform 39"/>
                <p:cNvSpPr>
                  <a:spLocks/>
                </p:cNvSpPr>
                <p:nvPr/>
              </p:nvSpPr>
              <p:spPr bwMode="auto">
                <a:xfrm>
                  <a:off x="3548" y="2283"/>
                  <a:ext cx="795" cy="714"/>
                </a:xfrm>
                <a:custGeom>
                  <a:avLst/>
                  <a:gdLst>
                    <a:gd name="T0" fmla="*/ 47 w 795"/>
                    <a:gd name="T1" fmla="*/ 0 h 714"/>
                    <a:gd name="T2" fmla="*/ 115 w 795"/>
                    <a:gd name="T3" fmla="*/ 11 h 714"/>
                    <a:gd name="T4" fmla="*/ 183 w 795"/>
                    <a:gd name="T5" fmla="*/ 11 h 714"/>
                    <a:gd name="T6" fmla="*/ 251 w 795"/>
                    <a:gd name="T7" fmla="*/ 11 h 714"/>
                    <a:gd name="T8" fmla="*/ 319 w 795"/>
                    <a:gd name="T9" fmla="*/ 11 h 714"/>
                    <a:gd name="T10" fmla="*/ 387 w 795"/>
                    <a:gd name="T11" fmla="*/ 11 h 714"/>
                    <a:gd name="T12" fmla="*/ 455 w 795"/>
                    <a:gd name="T13" fmla="*/ 11 h 714"/>
                    <a:gd name="T14" fmla="*/ 523 w 795"/>
                    <a:gd name="T15" fmla="*/ 22 h 714"/>
                    <a:gd name="T16" fmla="*/ 591 w 795"/>
                    <a:gd name="T17" fmla="*/ 34 h 714"/>
                    <a:gd name="T18" fmla="*/ 658 w 795"/>
                    <a:gd name="T19" fmla="*/ 34 h 714"/>
                    <a:gd name="T20" fmla="*/ 692 w 795"/>
                    <a:gd name="T21" fmla="*/ 102 h 714"/>
                    <a:gd name="T22" fmla="*/ 726 w 795"/>
                    <a:gd name="T23" fmla="*/ 170 h 714"/>
                    <a:gd name="T24" fmla="*/ 760 w 795"/>
                    <a:gd name="T25" fmla="*/ 237 h 714"/>
                    <a:gd name="T26" fmla="*/ 772 w 795"/>
                    <a:gd name="T27" fmla="*/ 305 h 714"/>
                    <a:gd name="T28" fmla="*/ 783 w 795"/>
                    <a:gd name="T29" fmla="*/ 373 h 714"/>
                    <a:gd name="T30" fmla="*/ 783 w 795"/>
                    <a:gd name="T31" fmla="*/ 441 h 714"/>
                    <a:gd name="T32" fmla="*/ 794 w 795"/>
                    <a:gd name="T33" fmla="*/ 509 h 714"/>
                    <a:gd name="T34" fmla="*/ 794 w 795"/>
                    <a:gd name="T35" fmla="*/ 577 h 714"/>
                    <a:gd name="T36" fmla="*/ 783 w 795"/>
                    <a:gd name="T37" fmla="*/ 645 h 714"/>
                    <a:gd name="T38" fmla="*/ 772 w 795"/>
                    <a:gd name="T39" fmla="*/ 713 h 714"/>
                    <a:gd name="T40" fmla="*/ 704 w 795"/>
                    <a:gd name="T41" fmla="*/ 713 h 714"/>
                    <a:gd name="T42" fmla="*/ 636 w 795"/>
                    <a:gd name="T43" fmla="*/ 713 h 714"/>
                    <a:gd name="T44" fmla="*/ 568 w 795"/>
                    <a:gd name="T45" fmla="*/ 713 h 714"/>
                    <a:gd name="T46" fmla="*/ 500 w 795"/>
                    <a:gd name="T47" fmla="*/ 713 h 714"/>
                    <a:gd name="T48" fmla="*/ 432 w 795"/>
                    <a:gd name="T49" fmla="*/ 713 h 714"/>
                    <a:gd name="T50" fmla="*/ 364 w 795"/>
                    <a:gd name="T51" fmla="*/ 713 h 714"/>
                    <a:gd name="T52" fmla="*/ 296 w 795"/>
                    <a:gd name="T53" fmla="*/ 713 h 714"/>
                    <a:gd name="T54" fmla="*/ 228 w 795"/>
                    <a:gd name="T55" fmla="*/ 713 h 714"/>
                    <a:gd name="T56" fmla="*/ 160 w 795"/>
                    <a:gd name="T57" fmla="*/ 713 h 714"/>
                    <a:gd name="T58" fmla="*/ 206 w 795"/>
                    <a:gd name="T59" fmla="*/ 645 h 714"/>
                    <a:gd name="T60" fmla="*/ 206 w 795"/>
                    <a:gd name="T61" fmla="*/ 577 h 714"/>
                    <a:gd name="T62" fmla="*/ 194 w 795"/>
                    <a:gd name="T63" fmla="*/ 509 h 714"/>
                    <a:gd name="T64" fmla="*/ 194 w 795"/>
                    <a:gd name="T65" fmla="*/ 441 h 714"/>
                    <a:gd name="T66" fmla="*/ 194 w 795"/>
                    <a:gd name="T67" fmla="*/ 373 h 714"/>
                    <a:gd name="T68" fmla="*/ 183 w 795"/>
                    <a:gd name="T69" fmla="*/ 305 h 714"/>
                    <a:gd name="T70" fmla="*/ 172 w 795"/>
                    <a:gd name="T71" fmla="*/ 237 h 714"/>
                    <a:gd name="T72" fmla="*/ 138 w 795"/>
                    <a:gd name="T73" fmla="*/ 170 h 714"/>
                    <a:gd name="T74" fmla="*/ 104 w 795"/>
                    <a:gd name="T75" fmla="*/ 102 h 714"/>
                    <a:gd name="T76" fmla="*/ 58 w 795"/>
                    <a:gd name="T77" fmla="*/ 3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5" h="714">
                      <a:moveTo>
                        <a:pt x="0" y="1"/>
                      </a:moveTo>
                      <a:lnTo>
                        <a:pt x="47" y="0"/>
                      </a:lnTo>
                      <a:lnTo>
                        <a:pt x="81" y="11"/>
                      </a:lnTo>
                      <a:lnTo>
                        <a:pt x="115" y="11"/>
                      </a:lnTo>
                      <a:lnTo>
                        <a:pt x="149" y="11"/>
                      </a:lnTo>
                      <a:lnTo>
                        <a:pt x="183" y="11"/>
                      </a:lnTo>
                      <a:lnTo>
                        <a:pt x="217" y="11"/>
                      </a:lnTo>
                      <a:lnTo>
                        <a:pt x="251" y="11"/>
                      </a:lnTo>
                      <a:lnTo>
                        <a:pt x="285" y="11"/>
                      </a:lnTo>
                      <a:lnTo>
                        <a:pt x="319" y="11"/>
                      </a:lnTo>
                      <a:lnTo>
                        <a:pt x="353" y="11"/>
                      </a:lnTo>
                      <a:lnTo>
                        <a:pt x="387" y="11"/>
                      </a:lnTo>
                      <a:lnTo>
                        <a:pt x="421" y="11"/>
                      </a:lnTo>
                      <a:lnTo>
                        <a:pt x="455" y="11"/>
                      </a:lnTo>
                      <a:lnTo>
                        <a:pt x="489" y="22"/>
                      </a:lnTo>
                      <a:lnTo>
                        <a:pt x="523" y="22"/>
                      </a:lnTo>
                      <a:lnTo>
                        <a:pt x="557" y="34"/>
                      </a:lnTo>
                      <a:lnTo>
                        <a:pt x="591" y="34"/>
                      </a:lnTo>
                      <a:lnTo>
                        <a:pt x="625" y="34"/>
                      </a:lnTo>
                      <a:lnTo>
                        <a:pt x="658" y="34"/>
                      </a:lnTo>
                      <a:lnTo>
                        <a:pt x="670" y="68"/>
                      </a:lnTo>
                      <a:lnTo>
                        <a:pt x="692" y="102"/>
                      </a:lnTo>
                      <a:lnTo>
                        <a:pt x="715" y="136"/>
                      </a:lnTo>
                      <a:lnTo>
                        <a:pt x="726" y="170"/>
                      </a:lnTo>
                      <a:lnTo>
                        <a:pt x="749" y="203"/>
                      </a:lnTo>
                      <a:lnTo>
                        <a:pt x="760" y="237"/>
                      </a:lnTo>
                      <a:lnTo>
                        <a:pt x="772" y="271"/>
                      </a:lnTo>
                      <a:lnTo>
                        <a:pt x="772" y="305"/>
                      </a:lnTo>
                      <a:lnTo>
                        <a:pt x="783" y="339"/>
                      </a:lnTo>
                      <a:lnTo>
                        <a:pt x="783" y="373"/>
                      </a:lnTo>
                      <a:lnTo>
                        <a:pt x="783" y="407"/>
                      </a:lnTo>
                      <a:lnTo>
                        <a:pt x="783" y="441"/>
                      </a:lnTo>
                      <a:lnTo>
                        <a:pt x="783" y="475"/>
                      </a:lnTo>
                      <a:lnTo>
                        <a:pt x="794" y="509"/>
                      </a:lnTo>
                      <a:lnTo>
                        <a:pt x="794" y="543"/>
                      </a:lnTo>
                      <a:lnTo>
                        <a:pt x="794" y="577"/>
                      </a:lnTo>
                      <a:lnTo>
                        <a:pt x="794" y="611"/>
                      </a:lnTo>
                      <a:lnTo>
                        <a:pt x="783" y="645"/>
                      </a:lnTo>
                      <a:lnTo>
                        <a:pt x="783" y="679"/>
                      </a:lnTo>
                      <a:lnTo>
                        <a:pt x="772" y="713"/>
                      </a:lnTo>
                      <a:lnTo>
                        <a:pt x="738" y="713"/>
                      </a:lnTo>
                      <a:lnTo>
                        <a:pt x="704" y="713"/>
                      </a:lnTo>
                      <a:lnTo>
                        <a:pt x="670" y="713"/>
                      </a:lnTo>
                      <a:lnTo>
                        <a:pt x="636" y="713"/>
                      </a:lnTo>
                      <a:lnTo>
                        <a:pt x="602" y="713"/>
                      </a:lnTo>
                      <a:lnTo>
                        <a:pt x="568" y="713"/>
                      </a:lnTo>
                      <a:lnTo>
                        <a:pt x="534" y="713"/>
                      </a:lnTo>
                      <a:lnTo>
                        <a:pt x="500" y="713"/>
                      </a:lnTo>
                      <a:lnTo>
                        <a:pt x="466" y="713"/>
                      </a:lnTo>
                      <a:lnTo>
                        <a:pt x="432" y="713"/>
                      </a:lnTo>
                      <a:lnTo>
                        <a:pt x="398" y="713"/>
                      </a:lnTo>
                      <a:lnTo>
                        <a:pt x="364" y="713"/>
                      </a:lnTo>
                      <a:lnTo>
                        <a:pt x="330" y="713"/>
                      </a:lnTo>
                      <a:lnTo>
                        <a:pt x="296" y="713"/>
                      </a:lnTo>
                      <a:lnTo>
                        <a:pt x="262" y="713"/>
                      </a:lnTo>
                      <a:lnTo>
                        <a:pt x="228" y="713"/>
                      </a:lnTo>
                      <a:lnTo>
                        <a:pt x="194" y="713"/>
                      </a:lnTo>
                      <a:lnTo>
                        <a:pt x="160" y="713"/>
                      </a:lnTo>
                      <a:lnTo>
                        <a:pt x="183" y="679"/>
                      </a:lnTo>
                      <a:lnTo>
                        <a:pt x="206" y="645"/>
                      </a:lnTo>
                      <a:lnTo>
                        <a:pt x="206" y="611"/>
                      </a:lnTo>
                      <a:lnTo>
                        <a:pt x="206" y="577"/>
                      </a:lnTo>
                      <a:lnTo>
                        <a:pt x="194" y="543"/>
                      </a:lnTo>
                      <a:lnTo>
                        <a:pt x="194" y="509"/>
                      </a:lnTo>
                      <a:lnTo>
                        <a:pt x="194" y="475"/>
                      </a:lnTo>
                      <a:lnTo>
                        <a:pt x="194" y="441"/>
                      </a:lnTo>
                      <a:lnTo>
                        <a:pt x="194" y="407"/>
                      </a:lnTo>
                      <a:lnTo>
                        <a:pt x="194" y="373"/>
                      </a:lnTo>
                      <a:lnTo>
                        <a:pt x="183" y="339"/>
                      </a:lnTo>
                      <a:lnTo>
                        <a:pt x="183" y="305"/>
                      </a:lnTo>
                      <a:lnTo>
                        <a:pt x="183" y="271"/>
                      </a:lnTo>
                      <a:lnTo>
                        <a:pt x="172" y="237"/>
                      </a:lnTo>
                      <a:lnTo>
                        <a:pt x="160" y="203"/>
                      </a:lnTo>
                      <a:lnTo>
                        <a:pt x="138" y="170"/>
                      </a:lnTo>
                      <a:lnTo>
                        <a:pt x="126" y="136"/>
                      </a:lnTo>
                      <a:lnTo>
                        <a:pt x="104" y="102"/>
                      </a:lnTo>
                      <a:lnTo>
                        <a:pt x="81" y="68"/>
                      </a:lnTo>
                      <a:lnTo>
                        <a:pt x="58" y="34"/>
                      </a:lnTo>
                      <a:lnTo>
                        <a:pt x="96" y="1"/>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24" name="Rectangle 40"/>
                <p:cNvSpPr>
                  <a:spLocks noChangeArrowheads="1"/>
                </p:cNvSpPr>
                <p:nvPr/>
              </p:nvSpPr>
              <p:spPr bwMode="auto">
                <a:xfrm>
                  <a:off x="3653" y="2218"/>
                  <a:ext cx="533" cy="1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42025" name="Group 41"/>
              <p:cNvGrpSpPr>
                <a:grpSpLocks/>
              </p:cNvGrpSpPr>
              <p:nvPr/>
            </p:nvGrpSpPr>
            <p:grpSpPr bwMode="auto">
              <a:xfrm>
                <a:off x="4460" y="2218"/>
                <a:ext cx="795" cy="779"/>
                <a:chOff x="4460" y="2218"/>
                <a:chExt cx="795" cy="779"/>
              </a:xfrm>
            </p:grpSpPr>
            <p:sp>
              <p:nvSpPr>
                <p:cNvPr id="42026" name="Freeform 42"/>
                <p:cNvSpPr>
                  <a:spLocks/>
                </p:cNvSpPr>
                <p:nvPr/>
              </p:nvSpPr>
              <p:spPr bwMode="auto">
                <a:xfrm>
                  <a:off x="4460" y="2283"/>
                  <a:ext cx="795" cy="714"/>
                </a:xfrm>
                <a:custGeom>
                  <a:avLst/>
                  <a:gdLst>
                    <a:gd name="T0" fmla="*/ 47 w 795"/>
                    <a:gd name="T1" fmla="*/ 0 h 714"/>
                    <a:gd name="T2" fmla="*/ 115 w 795"/>
                    <a:gd name="T3" fmla="*/ 11 h 714"/>
                    <a:gd name="T4" fmla="*/ 183 w 795"/>
                    <a:gd name="T5" fmla="*/ 11 h 714"/>
                    <a:gd name="T6" fmla="*/ 251 w 795"/>
                    <a:gd name="T7" fmla="*/ 11 h 714"/>
                    <a:gd name="T8" fmla="*/ 319 w 795"/>
                    <a:gd name="T9" fmla="*/ 11 h 714"/>
                    <a:gd name="T10" fmla="*/ 387 w 795"/>
                    <a:gd name="T11" fmla="*/ 11 h 714"/>
                    <a:gd name="T12" fmla="*/ 455 w 795"/>
                    <a:gd name="T13" fmla="*/ 11 h 714"/>
                    <a:gd name="T14" fmla="*/ 523 w 795"/>
                    <a:gd name="T15" fmla="*/ 22 h 714"/>
                    <a:gd name="T16" fmla="*/ 591 w 795"/>
                    <a:gd name="T17" fmla="*/ 34 h 714"/>
                    <a:gd name="T18" fmla="*/ 658 w 795"/>
                    <a:gd name="T19" fmla="*/ 34 h 714"/>
                    <a:gd name="T20" fmla="*/ 692 w 795"/>
                    <a:gd name="T21" fmla="*/ 102 h 714"/>
                    <a:gd name="T22" fmla="*/ 726 w 795"/>
                    <a:gd name="T23" fmla="*/ 170 h 714"/>
                    <a:gd name="T24" fmla="*/ 760 w 795"/>
                    <a:gd name="T25" fmla="*/ 237 h 714"/>
                    <a:gd name="T26" fmla="*/ 772 w 795"/>
                    <a:gd name="T27" fmla="*/ 305 h 714"/>
                    <a:gd name="T28" fmla="*/ 783 w 795"/>
                    <a:gd name="T29" fmla="*/ 373 h 714"/>
                    <a:gd name="T30" fmla="*/ 783 w 795"/>
                    <a:gd name="T31" fmla="*/ 441 h 714"/>
                    <a:gd name="T32" fmla="*/ 794 w 795"/>
                    <a:gd name="T33" fmla="*/ 509 h 714"/>
                    <a:gd name="T34" fmla="*/ 794 w 795"/>
                    <a:gd name="T35" fmla="*/ 577 h 714"/>
                    <a:gd name="T36" fmla="*/ 783 w 795"/>
                    <a:gd name="T37" fmla="*/ 645 h 714"/>
                    <a:gd name="T38" fmla="*/ 772 w 795"/>
                    <a:gd name="T39" fmla="*/ 713 h 714"/>
                    <a:gd name="T40" fmla="*/ 704 w 795"/>
                    <a:gd name="T41" fmla="*/ 713 h 714"/>
                    <a:gd name="T42" fmla="*/ 636 w 795"/>
                    <a:gd name="T43" fmla="*/ 713 h 714"/>
                    <a:gd name="T44" fmla="*/ 568 w 795"/>
                    <a:gd name="T45" fmla="*/ 713 h 714"/>
                    <a:gd name="T46" fmla="*/ 500 w 795"/>
                    <a:gd name="T47" fmla="*/ 713 h 714"/>
                    <a:gd name="T48" fmla="*/ 432 w 795"/>
                    <a:gd name="T49" fmla="*/ 713 h 714"/>
                    <a:gd name="T50" fmla="*/ 364 w 795"/>
                    <a:gd name="T51" fmla="*/ 713 h 714"/>
                    <a:gd name="T52" fmla="*/ 296 w 795"/>
                    <a:gd name="T53" fmla="*/ 713 h 714"/>
                    <a:gd name="T54" fmla="*/ 228 w 795"/>
                    <a:gd name="T55" fmla="*/ 713 h 714"/>
                    <a:gd name="T56" fmla="*/ 160 w 795"/>
                    <a:gd name="T57" fmla="*/ 713 h 714"/>
                    <a:gd name="T58" fmla="*/ 206 w 795"/>
                    <a:gd name="T59" fmla="*/ 645 h 714"/>
                    <a:gd name="T60" fmla="*/ 206 w 795"/>
                    <a:gd name="T61" fmla="*/ 577 h 714"/>
                    <a:gd name="T62" fmla="*/ 194 w 795"/>
                    <a:gd name="T63" fmla="*/ 509 h 714"/>
                    <a:gd name="T64" fmla="*/ 194 w 795"/>
                    <a:gd name="T65" fmla="*/ 441 h 714"/>
                    <a:gd name="T66" fmla="*/ 194 w 795"/>
                    <a:gd name="T67" fmla="*/ 373 h 714"/>
                    <a:gd name="T68" fmla="*/ 183 w 795"/>
                    <a:gd name="T69" fmla="*/ 305 h 714"/>
                    <a:gd name="T70" fmla="*/ 172 w 795"/>
                    <a:gd name="T71" fmla="*/ 237 h 714"/>
                    <a:gd name="T72" fmla="*/ 138 w 795"/>
                    <a:gd name="T73" fmla="*/ 170 h 714"/>
                    <a:gd name="T74" fmla="*/ 104 w 795"/>
                    <a:gd name="T75" fmla="*/ 102 h 714"/>
                    <a:gd name="T76" fmla="*/ 58 w 795"/>
                    <a:gd name="T77" fmla="*/ 3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95" h="714">
                      <a:moveTo>
                        <a:pt x="0" y="1"/>
                      </a:moveTo>
                      <a:lnTo>
                        <a:pt x="47" y="0"/>
                      </a:lnTo>
                      <a:lnTo>
                        <a:pt x="81" y="11"/>
                      </a:lnTo>
                      <a:lnTo>
                        <a:pt x="115" y="11"/>
                      </a:lnTo>
                      <a:lnTo>
                        <a:pt x="149" y="11"/>
                      </a:lnTo>
                      <a:lnTo>
                        <a:pt x="183" y="11"/>
                      </a:lnTo>
                      <a:lnTo>
                        <a:pt x="217" y="11"/>
                      </a:lnTo>
                      <a:lnTo>
                        <a:pt x="251" y="11"/>
                      </a:lnTo>
                      <a:lnTo>
                        <a:pt x="285" y="11"/>
                      </a:lnTo>
                      <a:lnTo>
                        <a:pt x="319" y="11"/>
                      </a:lnTo>
                      <a:lnTo>
                        <a:pt x="353" y="11"/>
                      </a:lnTo>
                      <a:lnTo>
                        <a:pt x="387" y="11"/>
                      </a:lnTo>
                      <a:lnTo>
                        <a:pt x="421" y="11"/>
                      </a:lnTo>
                      <a:lnTo>
                        <a:pt x="455" y="11"/>
                      </a:lnTo>
                      <a:lnTo>
                        <a:pt x="489" y="22"/>
                      </a:lnTo>
                      <a:lnTo>
                        <a:pt x="523" y="22"/>
                      </a:lnTo>
                      <a:lnTo>
                        <a:pt x="557" y="34"/>
                      </a:lnTo>
                      <a:lnTo>
                        <a:pt x="591" y="34"/>
                      </a:lnTo>
                      <a:lnTo>
                        <a:pt x="625" y="34"/>
                      </a:lnTo>
                      <a:lnTo>
                        <a:pt x="658" y="34"/>
                      </a:lnTo>
                      <a:lnTo>
                        <a:pt x="670" y="68"/>
                      </a:lnTo>
                      <a:lnTo>
                        <a:pt x="692" y="102"/>
                      </a:lnTo>
                      <a:lnTo>
                        <a:pt x="715" y="136"/>
                      </a:lnTo>
                      <a:lnTo>
                        <a:pt x="726" y="170"/>
                      </a:lnTo>
                      <a:lnTo>
                        <a:pt x="749" y="203"/>
                      </a:lnTo>
                      <a:lnTo>
                        <a:pt x="760" y="237"/>
                      </a:lnTo>
                      <a:lnTo>
                        <a:pt x="772" y="271"/>
                      </a:lnTo>
                      <a:lnTo>
                        <a:pt x="772" y="305"/>
                      </a:lnTo>
                      <a:lnTo>
                        <a:pt x="783" y="339"/>
                      </a:lnTo>
                      <a:lnTo>
                        <a:pt x="783" y="373"/>
                      </a:lnTo>
                      <a:lnTo>
                        <a:pt x="783" y="407"/>
                      </a:lnTo>
                      <a:lnTo>
                        <a:pt x="783" y="441"/>
                      </a:lnTo>
                      <a:lnTo>
                        <a:pt x="783" y="475"/>
                      </a:lnTo>
                      <a:lnTo>
                        <a:pt x="794" y="509"/>
                      </a:lnTo>
                      <a:lnTo>
                        <a:pt x="794" y="543"/>
                      </a:lnTo>
                      <a:lnTo>
                        <a:pt x="794" y="577"/>
                      </a:lnTo>
                      <a:lnTo>
                        <a:pt x="794" y="611"/>
                      </a:lnTo>
                      <a:lnTo>
                        <a:pt x="783" y="645"/>
                      </a:lnTo>
                      <a:lnTo>
                        <a:pt x="783" y="679"/>
                      </a:lnTo>
                      <a:lnTo>
                        <a:pt x="772" y="713"/>
                      </a:lnTo>
                      <a:lnTo>
                        <a:pt x="738" y="713"/>
                      </a:lnTo>
                      <a:lnTo>
                        <a:pt x="704" y="713"/>
                      </a:lnTo>
                      <a:lnTo>
                        <a:pt x="670" y="713"/>
                      </a:lnTo>
                      <a:lnTo>
                        <a:pt x="636" y="713"/>
                      </a:lnTo>
                      <a:lnTo>
                        <a:pt x="602" y="713"/>
                      </a:lnTo>
                      <a:lnTo>
                        <a:pt x="568" y="713"/>
                      </a:lnTo>
                      <a:lnTo>
                        <a:pt x="534" y="713"/>
                      </a:lnTo>
                      <a:lnTo>
                        <a:pt x="500" y="713"/>
                      </a:lnTo>
                      <a:lnTo>
                        <a:pt x="466" y="713"/>
                      </a:lnTo>
                      <a:lnTo>
                        <a:pt x="432" y="713"/>
                      </a:lnTo>
                      <a:lnTo>
                        <a:pt x="398" y="713"/>
                      </a:lnTo>
                      <a:lnTo>
                        <a:pt x="364" y="713"/>
                      </a:lnTo>
                      <a:lnTo>
                        <a:pt x="330" y="713"/>
                      </a:lnTo>
                      <a:lnTo>
                        <a:pt x="296" y="713"/>
                      </a:lnTo>
                      <a:lnTo>
                        <a:pt x="262" y="713"/>
                      </a:lnTo>
                      <a:lnTo>
                        <a:pt x="228" y="713"/>
                      </a:lnTo>
                      <a:lnTo>
                        <a:pt x="194" y="713"/>
                      </a:lnTo>
                      <a:lnTo>
                        <a:pt x="160" y="713"/>
                      </a:lnTo>
                      <a:lnTo>
                        <a:pt x="183" y="679"/>
                      </a:lnTo>
                      <a:lnTo>
                        <a:pt x="206" y="645"/>
                      </a:lnTo>
                      <a:lnTo>
                        <a:pt x="206" y="611"/>
                      </a:lnTo>
                      <a:lnTo>
                        <a:pt x="206" y="577"/>
                      </a:lnTo>
                      <a:lnTo>
                        <a:pt x="194" y="543"/>
                      </a:lnTo>
                      <a:lnTo>
                        <a:pt x="194" y="509"/>
                      </a:lnTo>
                      <a:lnTo>
                        <a:pt x="194" y="475"/>
                      </a:lnTo>
                      <a:lnTo>
                        <a:pt x="194" y="441"/>
                      </a:lnTo>
                      <a:lnTo>
                        <a:pt x="194" y="407"/>
                      </a:lnTo>
                      <a:lnTo>
                        <a:pt x="194" y="373"/>
                      </a:lnTo>
                      <a:lnTo>
                        <a:pt x="183" y="339"/>
                      </a:lnTo>
                      <a:lnTo>
                        <a:pt x="183" y="305"/>
                      </a:lnTo>
                      <a:lnTo>
                        <a:pt x="183" y="271"/>
                      </a:lnTo>
                      <a:lnTo>
                        <a:pt x="172" y="237"/>
                      </a:lnTo>
                      <a:lnTo>
                        <a:pt x="160" y="203"/>
                      </a:lnTo>
                      <a:lnTo>
                        <a:pt x="138" y="170"/>
                      </a:lnTo>
                      <a:lnTo>
                        <a:pt x="126" y="136"/>
                      </a:lnTo>
                      <a:lnTo>
                        <a:pt x="104" y="102"/>
                      </a:lnTo>
                      <a:lnTo>
                        <a:pt x="81" y="68"/>
                      </a:lnTo>
                      <a:lnTo>
                        <a:pt x="58" y="34"/>
                      </a:lnTo>
                      <a:lnTo>
                        <a:pt x="96" y="1"/>
                      </a:lnTo>
                    </a:path>
                  </a:pathLst>
                </a:custGeom>
                <a:noFill/>
                <a:ln w="508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27" name="Rectangle 43"/>
                <p:cNvSpPr>
                  <a:spLocks noChangeArrowheads="1"/>
                </p:cNvSpPr>
                <p:nvPr/>
              </p:nvSpPr>
              <p:spPr bwMode="auto">
                <a:xfrm>
                  <a:off x="4575" y="2218"/>
                  <a:ext cx="533" cy="133"/>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grpSp>
      <p:sp>
        <p:nvSpPr>
          <p:cNvPr id="42028" name="Line 44"/>
          <p:cNvSpPr>
            <a:spLocks noChangeShapeType="1"/>
          </p:cNvSpPr>
          <p:nvPr/>
        </p:nvSpPr>
        <p:spPr bwMode="auto">
          <a:xfrm>
            <a:off x="3962400" y="1828800"/>
            <a:ext cx="1295400" cy="685800"/>
          </a:xfrm>
          <a:prstGeom prst="line">
            <a:avLst/>
          </a:prstGeom>
          <a:noFill/>
          <a:ln w="12700">
            <a:solidFill>
              <a:schemeClr val="folHlink"/>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2029" name="Group 45"/>
          <p:cNvGrpSpPr>
            <a:grpSpLocks/>
          </p:cNvGrpSpPr>
          <p:nvPr/>
        </p:nvGrpSpPr>
        <p:grpSpPr bwMode="auto">
          <a:xfrm>
            <a:off x="4244975" y="3697288"/>
            <a:ext cx="4013200" cy="2014537"/>
            <a:chOff x="2674" y="2329"/>
            <a:chExt cx="2528" cy="1269"/>
          </a:xfrm>
        </p:grpSpPr>
        <p:sp>
          <p:nvSpPr>
            <p:cNvPr id="42030" name="Rectangle 46"/>
            <p:cNvSpPr>
              <a:spLocks noChangeArrowheads="1"/>
            </p:cNvSpPr>
            <p:nvPr/>
          </p:nvSpPr>
          <p:spPr bwMode="auto">
            <a:xfrm>
              <a:off x="2674" y="3348"/>
              <a:ext cx="19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r>
                <a:rPr lang="en-US" sz="2000">
                  <a:solidFill>
                    <a:schemeClr val="folHlink"/>
                  </a:solidFill>
                </a:rPr>
                <a:t>sarcoplasmic reticulum</a:t>
              </a:r>
            </a:p>
          </p:txBody>
        </p:sp>
        <p:grpSp>
          <p:nvGrpSpPr>
            <p:cNvPr id="42031" name="Group 47"/>
            <p:cNvGrpSpPr>
              <a:grpSpLocks/>
            </p:cNvGrpSpPr>
            <p:nvPr/>
          </p:nvGrpSpPr>
          <p:grpSpPr bwMode="auto">
            <a:xfrm>
              <a:off x="2850" y="2329"/>
              <a:ext cx="555" cy="556"/>
              <a:chOff x="2651" y="1662"/>
              <a:chExt cx="555" cy="556"/>
            </a:xfrm>
          </p:grpSpPr>
          <p:sp>
            <p:nvSpPr>
              <p:cNvPr id="42032" name="Freeform 48"/>
              <p:cNvSpPr>
                <a:spLocks/>
              </p:cNvSpPr>
              <p:nvPr/>
            </p:nvSpPr>
            <p:spPr bwMode="auto">
              <a:xfrm>
                <a:off x="2651" y="1662"/>
                <a:ext cx="555" cy="556"/>
              </a:xfrm>
              <a:custGeom>
                <a:avLst/>
                <a:gdLst>
                  <a:gd name="T0" fmla="*/ 37 w 555"/>
                  <a:gd name="T1" fmla="*/ 538 h 556"/>
                  <a:gd name="T2" fmla="*/ 90 w 555"/>
                  <a:gd name="T3" fmla="*/ 532 h 556"/>
                  <a:gd name="T4" fmla="*/ 124 w 555"/>
                  <a:gd name="T5" fmla="*/ 521 h 556"/>
                  <a:gd name="T6" fmla="*/ 158 w 555"/>
                  <a:gd name="T7" fmla="*/ 521 h 556"/>
                  <a:gd name="T8" fmla="*/ 192 w 555"/>
                  <a:gd name="T9" fmla="*/ 521 h 556"/>
                  <a:gd name="T10" fmla="*/ 226 w 555"/>
                  <a:gd name="T11" fmla="*/ 521 h 556"/>
                  <a:gd name="T12" fmla="*/ 260 w 555"/>
                  <a:gd name="T13" fmla="*/ 532 h 556"/>
                  <a:gd name="T14" fmla="*/ 294 w 555"/>
                  <a:gd name="T15" fmla="*/ 532 h 556"/>
                  <a:gd name="T16" fmla="*/ 328 w 555"/>
                  <a:gd name="T17" fmla="*/ 543 h 556"/>
                  <a:gd name="T18" fmla="*/ 362 w 555"/>
                  <a:gd name="T19" fmla="*/ 555 h 556"/>
                  <a:gd name="T20" fmla="*/ 396 w 555"/>
                  <a:gd name="T21" fmla="*/ 555 h 556"/>
                  <a:gd name="T22" fmla="*/ 430 w 555"/>
                  <a:gd name="T23" fmla="*/ 555 h 556"/>
                  <a:gd name="T24" fmla="*/ 464 w 555"/>
                  <a:gd name="T25" fmla="*/ 555 h 556"/>
                  <a:gd name="T26" fmla="*/ 498 w 555"/>
                  <a:gd name="T27" fmla="*/ 543 h 556"/>
                  <a:gd name="T28" fmla="*/ 532 w 555"/>
                  <a:gd name="T29" fmla="*/ 532 h 556"/>
                  <a:gd name="T30" fmla="*/ 554 w 555"/>
                  <a:gd name="T31" fmla="*/ 498 h 556"/>
                  <a:gd name="T32" fmla="*/ 554 w 555"/>
                  <a:gd name="T33" fmla="*/ 464 h 556"/>
                  <a:gd name="T34" fmla="*/ 554 w 555"/>
                  <a:gd name="T35" fmla="*/ 430 h 556"/>
                  <a:gd name="T36" fmla="*/ 543 w 555"/>
                  <a:gd name="T37" fmla="*/ 396 h 556"/>
                  <a:gd name="T38" fmla="*/ 520 w 555"/>
                  <a:gd name="T39" fmla="*/ 362 h 556"/>
                  <a:gd name="T40" fmla="*/ 498 w 555"/>
                  <a:gd name="T41" fmla="*/ 328 h 556"/>
                  <a:gd name="T42" fmla="*/ 498 w 555"/>
                  <a:gd name="T43" fmla="*/ 294 h 556"/>
                  <a:gd name="T44" fmla="*/ 498 w 555"/>
                  <a:gd name="T45" fmla="*/ 260 h 556"/>
                  <a:gd name="T46" fmla="*/ 509 w 555"/>
                  <a:gd name="T47" fmla="*/ 226 h 556"/>
                  <a:gd name="T48" fmla="*/ 509 w 555"/>
                  <a:gd name="T49" fmla="*/ 192 h 556"/>
                  <a:gd name="T50" fmla="*/ 509 w 555"/>
                  <a:gd name="T51" fmla="*/ 158 h 556"/>
                  <a:gd name="T52" fmla="*/ 520 w 555"/>
                  <a:gd name="T53" fmla="*/ 124 h 556"/>
                  <a:gd name="T54" fmla="*/ 520 w 555"/>
                  <a:gd name="T55" fmla="*/ 90 h 556"/>
                  <a:gd name="T56" fmla="*/ 520 w 555"/>
                  <a:gd name="T57" fmla="*/ 57 h 556"/>
                  <a:gd name="T58" fmla="*/ 486 w 555"/>
                  <a:gd name="T59" fmla="*/ 23 h 556"/>
                  <a:gd name="T60" fmla="*/ 452 w 555"/>
                  <a:gd name="T61" fmla="*/ 0 h 556"/>
                  <a:gd name="T62" fmla="*/ 418 w 555"/>
                  <a:gd name="T63" fmla="*/ 0 h 556"/>
                  <a:gd name="T64" fmla="*/ 385 w 555"/>
                  <a:gd name="T65" fmla="*/ 0 h 556"/>
                  <a:gd name="T66" fmla="*/ 351 w 555"/>
                  <a:gd name="T67" fmla="*/ 23 h 556"/>
                  <a:gd name="T68" fmla="*/ 317 w 555"/>
                  <a:gd name="T69" fmla="*/ 23 h 556"/>
                  <a:gd name="T70" fmla="*/ 283 w 555"/>
                  <a:gd name="T71" fmla="*/ 34 h 556"/>
                  <a:gd name="T72" fmla="*/ 249 w 555"/>
                  <a:gd name="T73" fmla="*/ 34 h 556"/>
                  <a:gd name="T74" fmla="*/ 215 w 555"/>
                  <a:gd name="T75" fmla="*/ 34 h 556"/>
                  <a:gd name="T76" fmla="*/ 181 w 555"/>
                  <a:gd name="T77" fmla="*/ 34 h 556"/>
                  <a:gd name="T78" fmla="*/ 147 w 555"/>
                  <a:gd name="T79" fmla="*/ 34 h 556"/>
                  <a:gd name="T80" fmla="*/ 113 w 555"/>
                  <a:gd name="T81" fmla="*/ 34 h 556"/>
                  <a:gd name="T82" fmla="*/ 79 w 555"/>
                  <a:gd name="T83" fmla="*/ 34 h 556"/>
                  <a:gd name="T84" fmla="*/ 33 w 555"/>
                  <a:gd name="T85" fmla="*/ 57 h 556"/>
                  <a:gd name="T86" fmla="*/ 22 w 555"/>
                  <a:gd name="T87" fmla="*/ 90 h 556"/>
                  <a:gd name="T88" fmla="*/ 22 w 555"/>
                  <a:gd name="T89" fmla="*/ 124 h 556"/>
                  <a:gd name="T90" fmla="*/ 33 w 555"/>
                  <a:gd name="T91" fmla="*/ 158 h 556"/>
                  <a:gd name="T92" fmla="*/ 33 w 555"/>
                  <a:gd name="T93" fmla="*/ 192 h 556"/>
                  <a:gd name="T94" fmla="*/ 45 w 555"/>
                  <a:gd name="T95" fmla="*/ 226 h 556"/>
                  <a:gd name="T96" fmla="*/ 45 w 555"/>
                  <a:gd name="T97" fmla="*/ 260 h 556"/>
                  <a:gd name="T98" fmla="*/ 33 w 555"/>
                  <a:gd name="T99" fmla="*/ 294 h 556"/>
                  <a:gd name="T100" fmla="*/ 22 w 555"/>
                  <a:gd name="T101" fmla="*/ 328 h 556"/>
                  <a:gd name="T102" fmla="*/ 11 w 555"/>
                  <a:gd name="T103" fmla="*/ 362 h 556"/>
                  <a:gd name="T104" fmla="*/ 0 w 555"/>
                  <a:gd name="T105" fmla="*/ 396 h 556"/>
                  <a:gd name="T106" fmla="*/ 0 w 555"/>
                  <a:gd name="T107" fmla="*/ 430 h 556"/>
                  <a:gd name="T108" fmla="*/ 0 w 555"/>
                  <a:gd name="T109" fmla="*/ 464 h 556"/>
                  <a:gd name="T110" fmla="*/ 37 w 555"/>
                  <a:gd name="T111" fmla="*/ 538 h 556"/>
                  <a:gd name="T112" fmla="*/ 37 w 555"/>
                  <a:gd name="T113" fmla="*/ 53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55" h="556">
                    <a:moveTo>
                      <a:pt x="37" y="538"/>
                    </a:moveTo>
                    <a:lnTo>
                      <a:pt x="90" y="532"/>
                    </a:lnTo>
                    <a:lnTo>
                      <a:pt x="124" y="521"/>
                    </a:lnTo>
                    <a:lnTo>
                      <a:pt x="158" y="521"/>
                    </a:lnTo>
                    <a:lnTo>
                      <a:pt x="192" y="521"/>
                    </a:lnTo>
                    <a:lnTo>
                      <a:pt x="226" y="521"/>
                    </a:lnTo>
                    <a:lnTo>
                      <a:pt x="260" y="532"/>
                    </a:lnTo>
                    <a:lnTo>
                      <a:pt x="294" y="532"/>
                    </a:lnTo>
                    <a:lnTo>
                      <a:pt x="328" y="543"/>
                    </a:lnTo>
                    <a:lnTo>
                      <a:pt x="362" y="555"/>
                    </a:lnTo>
                    <a:lnTo>
                      <a:pt x="396" y="555"/>
                    </a:lnTo>
                    <a:lnTo>
                      <a:pt x="430" y="555"/>
                    </a:lnTo>
                    <a:lnTo>
                      <a:pt x="464" y="555"/>
                    </a:lnTo>
                    <a:lnTo>
                      <a:pt x="498" y="543"/>
                    </a:lnTo>
                    <a:lnTo>
                      <a:pt x="532" y="532"/>
                    </a:lnTo>
                    <a:lnTo>
                      <a:pt x="554" y="498"/>
                    </a:lnTo>
                    <a:lnTo>
                      <a:pt x="554" y="464"/>
                    </a:lnTo>
                    <a:lnTo>
                      <a:pt x="554" y="430"/>
                    </a:lnTo>
                    <a:lnTo>
                      <a:pt x="543" y="396"/>
                    </a:lnTo>
                    <a:lnTo>
                      <a:pt x="520" y="362"/>
                    </a:lnTo>
                    <a:lnTo>
                      <a:pt x="498" y="328"/>
                    </a:lnTo>
                    <a:lnTo>
                      <a:pt x="498" y="294"/>
                    </a:lnTo>
                    <a:lnTo>
                      <a:pt x="498" y="260"/>
                    </a:lnTo>
                    <a:lnTo>
                      <a:pt x="509" y="226"/>
                    </a:lnTo>
                    <a:lnTo>
                      <a:pt x="509" y="192"/>
                    </a:lnTo>
                    <a:lnTo>
                      <a:pt x="509" y="158"/>
                    </a:lnTo>
                    <a:lnTo>
                      <a:pt x="520" y="124"/>
                    </a:lnTo>
                    <a:lnTo>
                      <a:pt x="520" y="90"/>
                    </a:lnTo>
                    <a:lnTo>
                      <a:pt x="520" y="57"/>
                    </a:lnTo>
                    <a:lnTo>
                      <a:pt x="486" y="23"/>
                    </a:lnTo>
                    <a:lnTo>
                      <a:pt x="452" y="0"/>
                    </a:lnTo>
                    <a:lnTo>
                      <a:pt x="418" y="0"/>
                    </a:lnTo>
                    <a:lnTo>
                      <a:pt x="385" y="0"/>
                    </a:lnTo>
                    <a:lnTo>
                      <a:pt x="351" y="23"/>
                    </a:lnTo>
                    <a:lnTo>
                      <a:pt x="317" y="23"/>
                    </a:lnTo>
                    <a:lnTo>
                      <a:pt x="283" y="34"/>
                    </a:lnTo>
                    <a:lnTo>
                      <a:pt x="249" y="34"/>
                    </a:lnTo>
                    <a:lnTo>
                      <a:pt x="215" y="34"/>
                    </a:lnTo>
                    <a:lnTo>
                      <a:pt x="181" y="34"/>
                    </a:lnTo>
                    <a:lnTo>
                      <a:pt x="147" y="34"/>
                    </a:lnTo>
                    <a:lnTo>
                      <a:pt x="113" y="34"/>
                    </a:lnTo>
                    <a:lnTo>
                      <a:pt x="79" y="34"/>
                    </a:lnTo>
                    <a:lnTo>
                      <a:pt x="33" y="57"/>
                    </a:lnTo>
                    <a:lnTo>
                      <a:pt x="22" y="90"/>
                    </a:lnTo>
                    <a:lnTo>
                      <a:pt x="22" y="124"/>
                    </a:lnTo>
                    <a:lnTo>
                      <a:pt x="33" y="158"/>
                    </a:lnTo>
                    <a:lnTo>
                      <a:pt x="33" y="192"/>
                    </a:lnTo>
                    <a:lnTo>
                      <a:pt x="45" y="226"/>
                    </a:lnTo>
                    <a:lnTo>
                      <a:pt x="45" y="260"/>
                    </a:lnTo>
                    <a:lnTo>
                      <a:pt x="33" y="294"/>
                    </a:lnTo>
                    <a:lnTo>
                      <a:pt x="22" y="328"/>
                    </a:lnTo>
                    <a:lnTo>
                      <a:pt x="11" y="362"/>
                    </a:lnTo>
                    <a:lnTo>
                      <a:pt x="0" y="396"/>
                    </a:lnTo>
                    <a:lnTo>
                      <a:pt x="0" y="430"/>
                    </a:lnTo>
                    <a:lnTo>
                      <a:pt x="0" y="464"/>
                    </a:lnTo>
                    <a:lnTo>
                      <a:pt x="37" y="538"/>
                    </a:lnTo>
                    <a:lnTo>
                      <a:pt x="37" y="538"/>
                    </a:lnTo>
                  </a:path>
                </a:pathLst>
              </a:custGeom>
              <a:solidFill>
                <a:srgbClr val="FFFF00">
                  <a:alpha val="50000"/>
                </a:srgbClr>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33" name="Freeform 49"/>
              <p:cNvSpPr>
                <a:spLocks/>
              </p:cNvSpPr>
              <p:nvPr/>
            </p:nvSpPr>
            <p:spPr bwMode="auto">
              <a:xfrm>
                <a:off x="2718" y="2024"/>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34" name="Freeform 50"/>
              <p:cNvSpPr>
                <a:spLocks/>
              </p:cNvSpPr>
              <p:nvPr/>
            </p:nvSpPr>
            <p:spPr bwMode="auto">
              <a:xfrm>
                <a:off x="2958" y="2072"/>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35" name="Freeform 51"/>
              <p:cNvSpPr>
                <a:spLocks/>
              </p:cNvSpPr>
              <p:nvPr/>
            </p:nvSpPr>
            <p:spPr bwMode="auto">
              <a:xfrm>
                <a:off x="2814" y="1880"/>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36" name="Freeform 52"/>
              <p:cNvSpPr>
                <a:spLocks/>
              </p:cNvSpPr>
              <p:nvPr/>
            </p:nvSpPr>
            <p:spPr bwMode="auto">
              <a:xfrm>
                <a:off x="2766" y="1736"/>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37" name="Freeform 53"/>
              <p:cNvSpPr>
                <a:spLocks/>
              </p:cNvSpPr>
              <p:nvPr/>
            </p:nvSpPr>
            <p:spPr bwMode="auto">
              <a:xfrm>
                <a:off x="2958" y="1784"/>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42038" name="Group 54"/>
            <p:cNvGrpSpPr>
              <a:grpSpLocks/>
            </p:cNvGrpSpPr>
            <p:nvPr/>
          </p:nvGrpSpPr>
          <p:grpSpPr bwMode="auto">
            <a:xfrm>
              <a:off x="3746" y="2358"/>
              <a:ext cx="555" cy="556"/>
              <a:chOff x="2651" y="1662"/>
              <a:chExt cx="555" cy="556"/>
            </a:xfrm>
          </p:grpSpPr>
          <p:sp>
            <p:nvSpPr>
              <p:cNvPr id="42039" name="Freeform 55"/>
              <p:cNvSpPr>
                <a:spLocks/>
              </p:cNvSpPr>
              <p:nvPr/>
            </p:nvSpPr>
            <p:spPr bwMode="auto">
              <a:xfrm>
                <a:off x="2651" y="1662"/>
                <a:ext cx="555" cy="556"/>
              </a:xfrm>
              <a:custGeom>
                <a:avLst/>
                <a:gdLst>
                  <a:gd name="T0" fmla="*/ 37 w 555"/>
                  <a:gd name="T1" fmla="*/ 538 h 556"/>
                  <a:gd name="T2" fmla="*/ 90 w 555"/>
                  <a:gd name="T3" fmla="*/ 532 h 556"/>
                  <a:gd name="T4" fmla="*/ 124 w 555"/>
                  <a:gd name="T5" fmla="*/ 521 h 556"/>
                  <a:gd name="T6" fmla="*/ 158 w 555"/>
                  <a:gd name="T7" fmla="*/ 521 h 556"/>
                  <a:gd name="T8" fmla="*/ 192 w 555"/>
                  <a:gd name="T9" fmla="*/ 521 h 556"/>
                  <a:gd name="T10" fmla="*/ 226 w 555"/>
                  <a:gd name="T11" fmla="*/ 521 h 556"/>
                  <a:gd name="T12" fmla="*/ 260 w 555"/>
                  <a:gd name="T13" fmla="*/ 532 h 556"/>
                  <a:gd name="T14" fmla="*/ 294 w 555"/>
                  <a:gd name="T15" fmla="*/ 532 h 556"/>
                  <a:gd name="T16" fmla="*/ 328 w 555"/>
                  <a:gd name="T17" fmla="*/ 543 h 556"/>
                  <a:gd name="T18" fmla="*/ 362 w 555"/>
                  <a:gd name="T19" fmla="*/ 555 h 556"/>
                  <a:gd name="T20" fmla="*/ 396 w 555"/>
                  <a:gd name="T21" fmla="*/ 555 h 556"/>
                  <a:gd name="T22" fmla="*/ 430 w 555"/>
                  <a:gd name="T23" fmla="*/ 555 h 556"/>
                  <a:gd name="T24" fmla="*/ 464 w 555"/>
                  <a:gd name="T25" fmla="*/ 555 h 556"/>
                  <a:gd name="T26" fmla="*/ 498 w 555"/>
                  <a:gd name="T27" fmla="*/ 543 h 556"/>
                  <a:gd name="T28" fmla="*/ 532 w 555"/>
                  <a:gd name="T29" fmla="*/ 532 h 556"/>
                  <a:gd name="T30" fmla="*/ 554 w 555"/>
                  <a:gd name="T31" fmla="*/ 498 h 556"/>
                  <a:gd name="T32" fmla="*/ 554 w 555"/>
                  <a:gd name="T33" fmla="*/ 464 h 556"/>
                  <a:gd name="T34" fmla="*/ 554 w 555"/>
                  <a:gd name="T35" fmla="*/ 430 h 556"/>
                  <a:gd name="T36" fmla="*/ 543 w 555"/>
                  <a:gd name="T37" fmla="*/ 396 h 556"/>
                  <a:gd name="T38" fmla="*/ 520 w 555"/>
                  <a:gd name="T39" fmla="*/ 362 h 556"/>
                  <a:gd name="T40" fmla="*/ 498 w 555"/>
                  <a:gd name="T41" fmla="*/ 328 h 556"/>
                  <a:gd name="T42" fmla="*/ 498 w 555"/>
                  <a:gd name="T43" fmla="*/ 294 h 556"/>
                  <a:gd name="T44" fmla="*/ 498 w 555"/>
                  <a:gd name="T45" fmla="*/ 260 h 556"/>
                  <a:gd name="T46" fmla="*/ 509 w 555"/>
                  <a:gd name="T47" fmla="*/ 226 h 556"/>
                  <a:gd name="T48" fmla="*/ 509 w 555"/>
                  <a:gd name="T49" fmla="*/ 192 h 556"/>
                  <a:gd name="T50" fmla="*/ 509 w 555"/>
                  <a:gd name="T51" fmla="*/ 158 h 556"/>
                  <a:gd name="T52" fmla="*/ 520 w 555"/>
                  <a:gd name="T53" fmla="*/ 124 h 556"/>
                  <a:gd name="T54" fmla="*/ 520 w 555"/>
                  <a:gd name="T55" fmla="*/ 90 h 556"/>
                  <a:gd name="T56" fmla="*/ 520 w 555"/>
                  <a:gd name="T57" fmla="*/ 57 h 556"/>
                  <a:gd name="T58" fmla="*/ 486 w 555"/>
                  <a:gd name="T59" fmla="*/ 23 h 556"/>
                  <a:gd name="T60" fmla="*/ 452 w 555"/>
                  <a:gd name="T61" fmla="*/ 0 h 556"/>
                  <a:gd name="T62" fmla="*/ 418 w 555"/>
                  <a:gd name="T63" fmla="*/ 0 h 556"/>
                  <a:gd name="T64" fmla="*/ 385 w 555"/>
                  <a:gd name="T65" fmla="*/ 0 h 556"/>
                  <a:gd name="T66" fmla="*/ 351 w 555"/>
                  <a:gd name="T67" fmla="*/ 23 h 556"/>
                  <a:gd name="T68" fmla="*/ 317 w 555"/>
                  <a:gd name="T69" fmla="*/ 23 h 556"/>
                  <a:gd name="T70" fmla="*/ 283 w 555"/>
                  <a:gd name="T71" fmla="*/ 34 h 556"/>
                  <a:gd name="T72" fmla="*/ 249 w 555"/>
                  <a:gd name="T73" fmla="*/ 34 h 556"/>
                  <a:gd name="T74" fmla="*/ 215 w 555"/>
                  <a:gd name="T75" fmla="*/ 34 h 556"/>
                  <a:gd name="T76" fmla="*/ 181 w 555"/>
                  <a:gd name="T77" fmla="*/ 34 h 556"/>
                  <a:gd name="T78" fmla="*/ 147 w 555"/>
                  <a:gd name="T79" fmla="*/ 34 h 556"/>
                  <a:gd name="T80" fmla="*/ 113 w 555"/>
                  <a:gd name="T81" fmla="*/ 34 h 556"/>
                  <a:gd name="T82" fmla="*/ 79 w 555"/>
                  <a:gd name="T83" fmla="*/ 34 h 556"/>
                  <a:gd name="T84" fmla="*/ 33 w 555"/>
                  <a:gd name="T85" fmla="*/ 57 h 556"/>
                  <a:gd name="T86" fmla="*/ 22 w 555"/>
                  <a:gd name="T87" fmla="*/ 90 h 556"/>
                  <a:gd name="T88" fmla="*/ 22 w 555"/>
                  <a:gd name="T89" fmla="*/ 124 h 556"/>
                  <a:gd name="T90" fmla="*/ 33 w 555"/>
                  <a:gd name="T91" fmla="*/ 158 h 556"/>
                  <a:gd name="T92" fmla="*/ 33 w 555"/>
                  <a:gd name="T93" fmla="*/ 192 h 556"/>
                  <a:gd name="T94" fmla="*/ 45 w 555"/>
                  <a:gd name="T95" fmla="*/ 226 h 556"/>
                  <a:gd name="T96" fmla="*/ 45 w 555"/>
                  <a:gd name="T97" fmla="*/ 260 h 556"/>
                  <a:gd name="T98" fmla="*/ 33 w 555"/>
                  <a:gd name="T99" fmla="*/ 294 h 556"/>
                  <a:gd name="T100" fmla="*/ 22 w 555"/>
                  <a:gd name="T101" fmla="*/ 328 h 556"/>
                  <a:gd name="T102" fmla="*/ 11 w 555"/>
                  <a:gd name="T103" fmla="*/ 362 h 556"/>
                  <a:gd name="T104" fmla="*/ 0 w 555"/>
                  <a:gd name="T105" fmla="*/ 396 h 556"/>
                  <a:gd name="T106" fmla="*/ 0 w 555"/>
                  <a:gd name="T107" fmla="*/ 430 h 556"/>
                  <a:gd name="T108" fmla="*/ 0 w 555"/>
                  <a:gd name="T109" fmla="*/ 464 h 556"/>
                  <a:gd name="T110" fmla="*/ 37 w 555"/>
                  <a:gd name="T111" fmla="*/ 538 h 556"/>
                  <a:gd name="T112" fmla="*/ 37 w 555"/>
                  <a:gd name="T113" fmla="*/ 53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55" h="556">
                    <a:moveTo>
                      <a:pt x="37" y="538"/>
                    </a:moveTo>
                    <a:lnTo>
                      <a:pt x="90" y="532"/>
                    </a:lnTo>
                    <a:lnTo>
                      <a:pt x="124" y="521"/>
                    </a:lnTo>
                    <a:lnTo>
                      <a:pt x="158" y="521"/>
                    </a:lnTo>
                    <a:lnTo>
                      <a:pt x="192" y="521"/>
                    </a:lnTo>
                    <a:lnTo>
                      <a:pt x="226" y="521"/>
                    </a:lnTo>
                    <a:lnTo>
                      <a:pt x="260" y="532"/>
                    </a:lnTo>
                    <a:lnTo>
                      <a:pt x="294" y="532"/>
                    </a:lnTo>
                    <a:lnTo>
                      <a:pt x="328" y="543"/>
                    </a:lnTo>
                    <a:lnTo>
                      <a:pt x="362" y="555"/>
                    </a:lnTo>
                    <a:lnTo>
                      <a:pt x="396" y="555"/>
                    </a:lnTo>
                    <a:lnTo>
                      <a:pt x="430" y="555"/>
                    </a:lnTo>
                    <a:lnTo>
                      <a:pt x="464" y="555"/>
                    </a:lnTo>
                    <a:lnTo>
                      <a:pt x="498" y="543"/>
                    </a:lnTo>
                    <a:lnTo>
                      <a:pt x="532" y="532"/>
                    </a:lnTo>
                    <a:lnTo>
                      <a:pt x="554" y="498"/>
                    </a:lnTo>
                    <a:lnTo>
                      <a:pt x="554" y="464"/>
                    </a:lnTo>
                    <a:lnTo>
                      <a:pt x="554" y="430"/>
                    </a:lnTo>
                    <a:lnTo>
                      <a:pt x="543" y="396"/>
                    </a:lnTo>
                    <a:lnTo>
                      <a:pt x="520" y="362"/>
                    </a:lnTo>
                    <a:lnTo>
                      <a:pt x="498" y="328"/>
                    </a:lnTo>
                    <a:lnTo>
                      <a:pt x="498" y="294"/>
                    </a:lnTo>
                    <a:lnTo>
                      <a:pt x="498" y="260"/>
                    </a:lnTo>
                    <a:lnTo>
                      <a:pt x="509" y="226"/>
                    </a:lnTo>
                    <a:lnTo>
                      <a:pt x="509" y="192"/>
                    </a:lnTo>
                    <a:lnTo>
                      <a:pt x="509" y="158"/>
                    </a:lnTo>
                    <a:lnTo>
                      <a:pt x="520" y="124"/>
                    </a:lnTo>
                    <a:lnTo>
                      <a:pt x="520" y="90"/>
                    </a:lnTo>
                    <a:lnTo>
                      <a:pt x="520" y="57"/>
                    </a:lnTo>
                    <a:lnTo>
                      <a:pt x="486" y="23"/>
                    </a:lnTo>
                    <a:lnTo>
                      <a:pt x="452" y="0"/>
                    </a:lnTo>
                    <a:lnTo>
                      <a:pt x="418" y="0"/>
                    </a:lnTo>
                    <a:lnTo>
                      <a:pt x="385" y="0"/>
                    </a:lnTo>
                    <a:lnTo>
                      <a:pt x="351" y="23"/>
                    </a:lnTo>
                    <a:lnTo>
                      <a:pt x="317" y="23"/>
                    </a:lnTo>
                    <a:lnTo>
                      <a:pt x="283" y="34"/>
                    </a:lnTo>
                    <a:lnTo>
                      <a:pt x="249" y="34"/>
                    </a:lnTo>
                    <a:lnTo>
                      <a:pt x="215" y="34"/>
                    </a:lnTo>
                    <a:lnTo>
                      <a:pt x="181" y="34"/>
                    </a:lnTo>
                    <a:lnTo>
                      <a:pt x="147" y="34"/>
                    </a:lnTo>
                    <a:lnTo>
                      <a:pt x="113" y="34"/>
                    </a:lnTo>
                    <a:lnTo>
                      <a:pt x="79" y="34"/>
                    </a:lnTo>
                    <a:lnTo>
                      <a:pt x="33" y="57"/>
                    </a:lnTo>
                    <a:lnTo>
                      <a:pt x="22" y="90"/>
                    </a:lnTo>
                    <a:lnTo>
                      <a:pt x="22" y="124"/>
                    </a:lnTo>
                    <a:lnTo>
                      <a:pt x="33" y="158"/>
                    </a:lnTo>
                    <a:lnTo>
                      <a:pt x="33" y="192"/>
                    </a:lnTo>
                    <a:lnTo>
                      <a:pt x="45" y="226"/>
                    </a:lnTo>
                    <a:lnTo>
                      <a:pt x="45" y="260"/>
                    </a:lnTo>
                    <a:lnTo>
                      <a:pt x="33" y="294"/>
                    </a:lnTo>
                    <a:lnTo>
                      <a:pt x="22" y="328"/>
                    </a:lnTo>
                    <a:lnTo>
                      <a:pt x="11" y="362"/>
                    </a:lnTo>
                    <a:lnTo>
                      <a:pt x="0" y="396"/>
                    </a:lnTo>
                    <a:lnTo>
                      <a:pt x="0" y="430"/>
                    </a:lnTo>
                    <a:lnTo>
                      <a:pt x="0" y="464"/>
                    </a:lnTo>
                    <a:lnTo>
                      <a:pt x="37" y="538"/>
                    </a:lnTo>
                    <a:lnTo>
                      <a:pt x="37" y="538"/>
                    </a:lnTo>
                  </a:path>
                </a:pathLst>
              </a:custGeom>
              <a:solidFill>
                <a:srgbClr val="FFFF00">
                  <a:alpha val="50000"/>
                </a:srgbClr>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0" name="Freeform 56"/>
              <p:cNvSpPr>
                <a:spLocks/>
              </p:cNvSpPr>
              <p:nvPr/>
            </p:nvSpPr>
            <p:spPr bwMode="auto">
              <a:xfrm>
                <a:off x="2718" y="2024"/>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1" name="Freeform 57"/>
              <p:cNvSpPr>
                <a:spLocks/>
              </p:cNvSpPr>
              <p:nvPr/>
            </p:nvSpPr>
            <p:spPr bwMode="auto">
              <a:xfrm>
                <a:off x="2958" y="2072"/>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2" name="Freeform 58"/>
              <p:cNvSpPr>
                <a:spLocks/>
              </p:cNvSpPr>
              <p:nvPr/>
            </p:nvSpPr>
            <p:spPr bwMode="auto">
              <a:xfrm>
                <a:off x="2814" y="1880"/>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3" name="Freeform 59"/>
              <p:cNvSpPr>
                <a:spLocks/>
              </p:cNvSpPr>
              <p:nvPr/>
            </p:nvSpPr>
            <p:spPr bwMode="auto">
              <a:xfrm>
                <a:off x="2766" y="1736"/>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4" name="Freeform 60"/>
              <p:cNvSpPr>
                <a:spLocks/>
              </p:cNvSpPr>
              <p:nvPr/>
            </p:nvSpPr>
            <p:spPr bwMode="auto">
              <a:xfrm>
                <a:off x="2958" y="1784"/>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nvGrpSpPr>
            <p:cNvPr id="42045" name="Group 61"/>
            <p:cNvGrpSpPr>
              <a:grpSpLocks/>
            </p:cNvGrpSpPr>
            <p:nvPr/>
          </p:nvGrpSpPr>
          <p:grpSpPr bwMode="auto">
            <a:xfrm>
              <a:off x="4647" y="2358"/>
              <a:ext cx="555" cy="556"/>
              <a:chOff x="2651" y="1662"/>
              <a:chExt cx="555" cy="556"/>
            </a:xfrm>
          </p:grpSpPr>
          <p:sp>
            <p:nvSpPr>
              <p:cNvPr id="42046" name="Freeform 62"/>
              <p:cNvSpPr>
                <a:spLocks/>
              </p:cNvSpPr>
              <p:nvPr/>
            </p:nvSpPr>
            <p:spPr bwMode="auto">
              <a:xfrm>
                <a:off x="2651" y="1662"/>
                <a:ext cx="555" cy="556"/>
              </a:xfrm>
              <a:custGeom>
                <a:avLst/>
                <a:gdLst>
                  <a:gd name="T0" fmla="*/ 37 w 555"/>
                  <a:gd name="T1" fmla="*/ 538 h 556"/>
                  <a:gd name="T2" fmla="*/ 90 w 555"/>
                  <a:gd name="T3" fmla="*/ 532 h 556"/>
                  <a:gd name="T4" fmla="*/ 124 w 555"/>
                  <a:gd name="T5" fmla="*/ 521 h 556"/>
                  <a:gd name="T6" fmla="*/ 158 w 555"/>
                  <a:gd name="T7" fmla="*/ 521 h 556"/>
                  <a:gd name="T8" fmla="*/ 192 w 555"/>
                  <a:gd name="T9" fmla="*/ 521 h 556"/>
                  <a:gd name="T10" fmla="*/ 226 w 555"/>
                  <a:gd name="T11" fmla="*/ 521 h 556"/>
                  <a:gd name="T12" fmla="*/ 260 w 555"/>
                  <a:gd name="T13" fmla="*/ 532 h 556"/>
                  <a:gd name="T14" fmla="*/ 294 w 555"/>
                  <a:gd name="T15" fmla="*/ 532 h 556"/>
                  <a:gd name="T16" fmla="*/ 328 w 555"/>
                  <a:gd name="T17" fmla="*/ 543 h 556"/>
                  <a:gd name="T18" fmla="*/ 362 w 555"/>
                  <a:gd name="T19" fmla="*/ 555 h 556"/>
                  <a:gd name="T20" fmla="*/ 396 w 555"/>
                  <a:gd name="T21" fmla="*/ 555 h 556"/>
                  <a:gd name="T22" fmla="*/ 430 w 555"/>
                  <a:gd name="T23" fmla="*/ 555 h 556"/>
                  <a:gd name="T24" fmla="*/ 464 w 555"/>
                  <a:gd name="T25" fmla="*/ 555 h 556"/>
                  <a:gd name="T26" fmla="*/ 498 w 555"/>
                  <a:gd name="T27" fmla="*/ 543 h 556"/>
                  <a:gd name="T28" fmla="*/ 532 w 555"/>
                  <a:gd name="T29" fmla="*/ 532 h 556"/>
                  <a:gd name="T30" fmla="*/ 554 w 555"/>
                  <a:gd name="T31" fmla="*/ 498 h 556"/>
                  <a:gd name="T32" fmla="*/ 554 w 555"/>
                  <a:gd name="T33" fmla="*/ 464 h 556"/>
                  <a:gd name="T34" fmla="*/ 554 w 555"/>
                  <a:gd name="T35" fmla="*/ 430 h 556"/>
                  <a:gd name="T36" fmla="*/ 543 w 555"/>
                  <a:gd name="T37" fmla="*/ 396 h 556"/>
                  <a:gd name="T38" fmla="*/ 520 w 555"/>
                  <a:gd name="T39" fmla="*/ 362 h 556"/>
                  <a:gd name="T40" fmla="*/ 498 w 555"/>
                  <a:gd name="T41" fmla="*/ 328 h 556"/>
                  <a:gd name="T42" fmla="*/ 498 w 555"/>
                  <a:gd name="T43" fmla="*/ 294 h 556"/>
                  <a:gd name="T44" fmla="*/ 498 w 555"/>
                  <a:gd name="T45" fmla="*/ 260 h 556"/>
                  <a:gd name="T46" fmla="*/ 509 w 555"/>
                  <a:gd name="T47" fmla="*/ 226 h 556"/>
                  <a:gd name="T48" fmla="*/ 509 w 555"/>
                  <a:gd name="T49" fmla="*/ 192 h 556"/>
                  <a:gd name="T50" fmla="*/ 509 w 555"/>
                  <a:gd name="T51" fmla="*/ 158 h 556"/>
                  <a:gd name="T52" fmla="*/ 520 w 555"/>
                  <a:gd name="T53" fmla="*/ 124 h 556"/>
                  <a:gd name="T54" fmla="*/ 520 w 555"/>
                  <a:gd name="T55" fmla="*/ 90 h 556"/>
                  <a:gd name="T56" fmla="*/ 520 w 555"/>
                  <a:gd name="T57" fmla="*/ 57 h 556"/>
                  <a:gd name="T58" fmla="*/ 486 w 555"/>
                  <a:gd name="T59" fmla="*/ 23 h 556"/>
                  <a:gd name="T60" fmla="*/ 452 w 555"/>
                  <a:gd name="T61" fmla="*/ 0 h 556"/>
                  <a:gd name="T62" fmla="*/ 418 w 555"/>
                  <a:gd name="T63" fmla="*/ 0 h 556"/>
                  <a:gd name="T64" fmla="*/ 385 w 555"/>
                  <a:gd name="T65" fmla="*/ 0 h 556"/>
                  <a:gd name="T66" fmla="*/ 351 w 555"/>
                  <a:gd name="T67" fmla="*/ 23 h 556"/>
                  <a:gd name="T68" fmla="*/ 317 w 555"/>
                  <a:gd name="T69" fmla="*/ 23 h 556"/>
                  <a:gd name="T70" fmla="*/ 283 w 555"/>
                  <a:gd name="T71" fmla="*/ 34 h 556"/>
                  <a:gd name="T72" fmla="*/ 249 w 555"/>
                  <a:gd name="T73" fmla="*/ 34 h 556"/>
                  <a:gd name="T74" fmla="*/ 215 w 555"/>
                  <a:gd name="T75" fmla="*/ 34 h 556"/>
                  <a:gd name="T76" fmla="*/ 181 w 555"/>
                  <a:gd name="T77" fmla="*/ 34 h 556"/>
                  <a:gd name="T78" fmla="*/ 147 w 555"/>
                  <a:gd name="T79" fmla="*/ 34 h 556"/>
                  <a:gd name="T80" fmla="*/ 113 w 555"/>
                  <a:gd name="T81" fmla="*/ 34 h 556"/>
                  <a:gd name="T82" fmla="*/ 79 w 555"/>
                  <a:gd name="T83" fmla="*/ 34 h 556"/>
                  <a:gd name="T84" fmla="*/ 33 w 555"/>
                  <a:gd name="T85" fmla="*/ 57 h 556"/>
                  <a:gd name="T86" fmla="*/ 22 w 555"/>
                  <a:gd name="T87" fmla="*/ 90 h 556"/>
                  <a:gd name="T88" fmla="*/ 22 w 555"/>
                  <a:gd name="T89" fmla="*/ 124 h 556"/>
                  <a:gd name="T90" fmla="*/ 33 w 555"/>
                  <a:gd name="T91" fmla="*/ 158 h 556"/>
                  <a:gd name="T92" fmla="*/ 33 w 555"/>
                  <a:gd name="T93" fmla="*/ 192 h 556"/>
                  <a:gd name="T94" fmla="*/ 45 w 555"/>
                  <a:gd name="T95" fmla="*/ 226 h 556"/>
                  <a:gd name="T96" fmla="*/ 45 w 555"/>
                  <a:gd name="T97" fmla="*/ 260 h 556"/>
                  <a:gd name="T98" fmla="*/ 33 w 555"/>
                  <a:gd name="T99" fmla="*/ 294 h 556"/>
                  <a:gd name="T100" fmla="*/ 22 w 555"/>
                  <a:gd name="T101" fmla="*/ 328 h 556"/>
                  <a:gd name="T102" fmla="*/ 11 w 555"/>
                  <a:gd name="T103" fmla="*/ 362 h 556"/>
                  <a:gd name="T104" fmla="*/ 0 w 555"/>
                  <a:gd name="T105" fmla="*/ 396 h 556"/>
                  <a:gd name="T106" fmla="*/ 0 w 555"/>
                  <a:gd name="T107" fmla="*/ 430 h 556"/>
                  <a:gd name="T108" fmla="*/ 0 w 555"/>
                  <a:gd name="T109" fmla="*/ 464 h 556"/>
                  <a:gd name="T110" fmla="*/ 37 w 555"/>
                  <a:gd name="T111" fmla="*/ 538 h 556"/>
                  <a:gd name="T112" fmla="*/ 37 w 555"/>
                  <a:gd name="T113" fmla="*/ 538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55" h="556">
                    <a:moveTo>
                      <a:pt x="37" y="538"/>
                    </a:moveTo>
                    <a:lnTo>
                      <a:pt x="90" y="532"/>
                    </a:lnTo>
                    <a:lnTo>
                      <a:pt x="124" y="521"/>
                    </a:lnTo>
                    <a:lnTo>
                      <a:pt x="158" y="521"/>
                    </a:lnTo>
                    <a:lnTo>
                      <a:pt x="192" y="521"/>
                    </a:lnTo>
                    <a:lnTo>
                      <a:pt x="226" y="521"/>
                    </a:lnTo>
                    <a:lnTo>
                      <a:pt x="260" y="532"/>
                    </a:lnTo>
                    <a:lnTo>
                      <a:pt x="294" y="532"/>
                    </a:lnTo>
                    <a:lnTo>
                      <a:pt x="328" y="543"/>
                    </a:lnTo>
                    <a:lnTo>
                      <a:pt x="362" y="555"/>
                    </a:lnTo>
                    <a:lnTo>
                      <a:pt x="396" y="555"/>
                    </a:lnTo>
                    <a:lnTo>
                      <a:pt x="430" y="555"/>
                    </a:lnTo>
                    <a:lnTo>
                      <a:pt x="464" y="555"/>
                    </a:lnTo>
                    <a:lnTo>
                      <a:pt x="498" y="543"/>
                    </a:lnTo>
                    <a:lnTo>
                      <a:pt x="532" y="532"/>
                    </a:lnTo>
                    <a:lnTo>
                      <a:pt x="554" y="498"/>
                    </a:lnTo>
                    <a:lnTo>
                      <a:pt x="554" y="464"/>
                    </a:lnTo>
                    <a:lnTo>
                      <a:pt x="554" y="430"/>
                    </a:lnTo>
                    <a:lnTo>
                      <a:pt x="543" y="396"/>
                    </a:lnTo>
                    <a:lnTo>
                      <a:pt x="520" y="362"/>
                    </a:lnTo>
                    <a:lnTo>
                      <a:pt x="498" y="328"/>
                    </a:lnTo>
                    <a:lnTo>
                      <a:pt x="498" y="294"/>
                    </a:lnTo>
                    <a:lnTo>
                      <a:pt x="498" y="260"/>
                    </a:lnTo>
                    <a:lnTo>
                      <a:pt x="509" y="226"/>
                    </a:lnTo>
                    <a:lnTo>
                      <a:pt x="509" y="192"/>
                    </a:lnTo>
                    <a:lnTo>
                      <a:pt x="509" y="158"/>
                    </a:lnTo>
                    <a:lnTo>
                      <a:pt x="520" y="124"/>
                    </a:lnTo>
                    <a:lnTo>
                      <a:pt x="520" y="90"/>
                    </a:lnTo>
                    <a:lnTo>
                      <a:pt x="520" y="57"/>
                    </a:lnTo>
                    <a:lnTo>
                      <a:pt x="486" y="23"/>
                    </a:lnTo>
                    <a:lnTo>
                      <a:pt x="452" y="0"/>
                    </a:lnTo>
                    <a:lnTo>
                      <a:pt x="418" y="0"/>
                    </a:lnTo>
                    <a:lnTo>
                      <a:pt x="385" y="0"/>
                    </a:lnTo>
                    <a:lnTo>
                      <a:pt x="351" y="23"/>
                    </a:lnTo>
                    <a:lnTo>
                      <a:pt x="317" y="23"/>
                    </a:lnTo>
                    <a:lnTo>
                      <a:pt x="283" y="34"/>
                    </a:lnTo>
                    <a:lnTo>
                      <a:pt x="249" y="34"/>
                    </a:lnTo>
                    <a:lnTo>
                      <a:pt x="215" y="34"/>
                    </a:lnTo>
                    <a:lnTo>
                      <a:pt x="181" y="34"/>
                    </a:lnTo>
                    <a:lnTo>
                      <a:pt x="147" y="34"/>
                    </a:lnTo>
                    <a:lnTo>
                      <a:pt x="113" y="34"/>
                    </a:lnTo>
                    <a:lnTo>
                      <a:pt x="79" y="34"/>
                    </a:lnTo>
                    <a:lnTo>
                      <a:pt x="33" y="57"/>
                    </a:lnTo>
                    <a:lnTo>
                      <a:pt x="22" y="90"/>
                    </a:lnTo>
                    <a:lnTo>
                      <a:pt x="22" y="124"/>
                    </a:lnTo>
                    <a:lnTo>
                      <a:pt x="33" y="158"/>
                    </a:lnTo>
                    <a:lnTo>
                      <a:pt x="33" y="192"/>
                    </a:lnTo>
                    <a:lnTo>
                      <a:pt x="45" y="226"/>
                    </a:lnTo>
                    <a:lnTo>
                      <a:pt x="45" y="260"/>
                    </a:lnTo>
                    <a:lnTo>
                      <a:pt x="33" y="294"/>
                    </a:lnTo>
                    <a:lnTo>
                      <a:pt x="22" y="328"/>
                    </a:lnTo>
                    <a:lnTo>
                      <a:pt x="11" y="362"/>
                    </a:lnTo>
                    <a:lnTo>
                      <a:pt x="0" y="396"/>
                    </a:lnTo>
                    <a:lnTo>
                      <a:pt x="0" y="430"/>
                    </a:lnTo>
                    <a:lnTo>
                      <a:pt x="0" y="464"/>
                    </a:lnTo>
                    <a:lnTo>
                      <a:pt x="37" y="538"/>
                    </a:lnTo>
                    <a:lnTo>
                      <a:pt x="37" y="538"/>
                    </a:lnTo>
                  </a:path>
                </a:pathLst>
              </a:custGeom>
              <a:solidFill>
                <a:srgbClr val="FFFF00">
                  <a:alpha val="50000"/>
                </a:srgbClr>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7" name="Freeform 63"/>
              <p:cNvSpPr>
                <a:spLocks/>
              </p:cNvSpPr>
              <p:nvPr/>
            </p:nvSpPr>
            <p:spPr bwMode="auto">
              <a:xfrm>
                <a:off x="2718" y="2024"/>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8" name="Freeform 64"/>
              <p:cNvSpPr>
                <a:spLocks/>
              </p:cNvSpPr>
              <p:nvPr/>
            </p:nvSpPr>
            <p:spPr bwMode="auto">
              <a:xfrm>
                <a:off x="2958" y="2072"/>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49" name="Freeform 65"/>
              <p:cNvSpPr>
                <a:spLocks/>
              </p:cNvSpPr>
              <p:nvPr/>
            </p:nvSpPr>
            <p:spPr bwMode="auto">
              <a:xfrm>
                <a:off x="2814" y="1880"/>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50" name="Freeform 66"/>
              <p:cNvSpPr>
                <a:spLocks/>
              </p:cNvSpPr>
              <p:nvPr/>
            </p:nvSpPr>
            <p:spPr bwMode="auto">
              <a:xfrm>
                <a:off x="2766" y="1736"/>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2051" name="Freeform 67"/>
              <p:cNvSpPr>
                <a:spLocks/>
              </p:cNvSpPr>
              <p:nvPr/>
            </p:nvSpPr>
            <p:spPr bwMode="auto">
              <a:xfrm>
                <a:off x="2958" y="1784"/>
                <a:ext cx="171" cy="81"/>
              </a:xfrm>
              <a:custGeom>
                <a:avLst/>
                <a:gdLst>
                  <a:gd name="T0" fmla="*/ 114 w 171"/>
                  <a:gd name="T1" fmla="*/ 80 h 81"/>
                  <a:gd name="T2" fmla="*/ 68 w 171"/>
                  <a:gd name="T3" fmla="*/ 68 h 81"/>
                  <a:gd name="T4" fmla="*/ 34 w 171"/>
                  <a:gd name="T5" fmla="*/ 68 h 81"/>
                  <a:gd name="T6" fmla="*/ 0 w 171"/>
                  <a:gd name="T7" fmla="*/ 57 h 81"/>
                  <a:gd name="T8" fmla="*/ 0 w 171"/>
                  <a:gd name="T9" fmla="*/ 23 h 81"/>
                  <a:gd name="T10" fmla="*/ 34 w 171"/>
                  <a:gd name="T11" fmla="*/ 11 h 81"/>
                  <a:gd name="T12" fmla="*/ 68 w 171"/>
                  <a:gd name="T13" fmla="*/ 11 h 81"/>
                  <a:gd name="T14" fmla="*/ 102 w 171"/>
                  <a:gd name="T15" fmla="*/ 0 h 81"/>
                  <a:gd name="T16" fmla="*/ 136 w 171"/>
                  <a:gd name="T17" fmla="*/ 0 h 81"/>
                  <a:gd name="T18" fmla="*/ 170 w 171"/>
                  <a:gd name="T19" fmla="*/ 34 h 81"/>
                  <a:gd name="T20" fmla="*/ 159 w 171"/>
                  <a:gd name="T21" fmla="*/ 68 h 81"/>
                  <a:gd name="T22" fmla="*/ 114 w 171"/>
                  <a:gd name="T23" fmla="*/ 80 h 81"/>
                  <a:gd name="T24" fmla="*/ 114 w 171"/>
                  <a:gd name="T25" fmla="*/ 8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81">
                    <a:moveTo>
                      <a:pt x="114" y="80"/>
                    </a:moveTo>
                    <a:lnTo>
                      <a:pt x="68" y="68"/>
                    </a:lnTo>
                    <a:lnTo>
                      <a:pt x="34" y="68"/>
                    </a:lnTo>
                    <a:lnTo>
                      <a:pt x="0" y="57"/>
                    </a:lnTo>
                    <a:lnTo>
                      <a:pt x="0" y="23"/>
                    </a:lnTo>
                    <a:lnTo>
                      <a:pt x="34" y="11"/>
                    </a:lnTo>
                    <a:lnTo>
                      <a:pt x="68" y="11"/>
                    </a:lnTo>
                    <a:lnTo>
                      <a:pt x="102" y="0"/>
                    </a:lnTo>
                    <a:lnTo>
                      <a:pt x="136" y="0"/>
                    </a:lnTo>
                    <a:lnTo>
                      <a:pt x="170" y="34"/>
                    </a:lnTo>
                    <a:lnTo>
                      <a:pt x="159" y="68"/>
                    </a:lnTo>
                    <a:lnTo>
                      <a:pt x="114" y="80"/>
                    </a:lnTo>
                    <a:lnTo>
                      <a:pt x="114" y="80"/>
                    </a:lnTo>
                  </a:path>
                </a:pathLst>
              </a:custGeom>
              <a:gradFill rotWithShape="0">
                <a:gsLst>
                  <a:gs pos="0">
                    <a:schemeClr val="bg2"/>
                  </a:gs>
                  <a:gs pos="50000">
                    <a:schemeClr val="bg2">
                      <a:gamma/>
                      <a:shade val="69804"/>
                      <a:invGamma/>
                    </a:schemeClr>
                  </a:gs>
                  <a:gs pos="100000">
                    <a:schemeClr val="bg2"/>
                  </a:gs>
                </a:gsLst>
                <a:lin ang="5400000" scaled="1"/>
              </a:gra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42052" name="Line 68"/>
            <p:cNvSpPr>
              <a:spLocks noChangeShapeType="1"/>
            </p:cNvSpPr>
            <p:nvPr/>
          </p:nvSpPr>
          <p:spPr bwMode="auto">
            <a:xfrm flipV="1">
              <a:off x="3068" y="2801"/>
              <a:ext cx="0" cy="48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42053" name="Rectangle 69"/>
          <p:cNvSpPr>
            <a:spLocks noChangeArrowheads="1"/>
          </p:cNvSpPr>
          <p:nvPr/>
        </p:nvSpPr>
        <p:spPr bwMode="auto">
          <a:xfrm>
            <a:off x="287338" y="5670550"/>
            <a:ext cx="91217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defTabSz="762000"/>
            <a:r>
              <a:rPr lang="en-US" sz="2400"/>
              <a:t>The </a:t>
            </a:r>
            <a:r>
              <a:rPr lang="en-US" sz="2400">
                <a:solidFill>
                  <a:schemeClr val="folHlink"/>
                </a:solidFill>
              </a:rPr>
              <a:t>sarcoplasmic reticulum</a:t>
            </a:r>
            <a:r>
              <a:rPr lang="en-US" sz="2400"/>
              <a:t> (SR) is a tubular structure that surrounds the myofibrils, enlarging into terminal cisternae (TC) near the T-tubules. It stores lots of Ca</a:t>
            </a:r>
            <a:r>
              <a:rPr lang="en-US" sz="2400" baseline="30000"/>
              <a:t>2+</a:t>
            </a:r>
            <a:endParaRPr lang="en-US" sz="2400"/>
          </a:p>
        </p:txBody>
      </p:sp>
      <p:grpSp>
        <p:nvGrpSpPr>
          <p:cNvPr id="42054" name="Group 70"/>
          <p:cNvGrpSpPr>
            <a:grpSpLocks/>
          </p:cNvGrpSpPr>
          <p:nvPr/>
        </p:nvGrpSpPr>
        <p:grpSpPr bwMode="auto">
          <a:xfrm>
            <a:off x="5257800" y="4443414"/>
            <a:ext cx="2943225" cy="963612"/>
            <a:chOff x="3308" y="2849"/>
            <a:chExt cx="1858" cy="557"/>
          </a:xfrm>
        </p:grpSpPr>
        <p:sp>
          <p:nvSpPr>
            <p:cNvPr id="42055" name="Rectangle 71"/>
            <p:cNvSpPr>
              <a:spLocks noChangeArrowheads="1"/>
            </p:cNvSpPr>
            <p:nvPr/>
          </p:nvSpPr>
          <p:spPr bwMode="auto">
            <a:xfrm>
              <a:off x="3634" y="3156"/>
              <a:ext cx="15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defTabSz="762000"/>
              <a:r>
                <a:rPr lang="en-US" sz="2000">
                  <a:solidFill>
                    <a:schemeClr val="folHlink"/>
                  </a:solidFill>
                </a:rPr>
                <a:t>terminal cisternae</a:t>
              </a:r>
            </a:p>
          </p:txBody>
        </p:sp>
        <p:sp>
          <p:nvSpPr>
            <p:cNvPr id="42056" name="Line 72"/>
            <p:cNvSpPr>
              <a:spLocks noChangeShapeType="1"/>
            </p:cNvSpPr>
            <p:nvPr/>
          </p:nvSpPr>
          <p:spPr bwMode="auto">
            <a:xfrm>
              <a:off x="3308" y="2849"/>
              <a:ext cx="288" cy="432"/>
            </a:xfrm>
            <a:prstGeom prst="line">
              <a:avLst/>
            </a:prstGeom>
            <a:noFill/>
            <a:ln w="12700">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2" name="Oval 1">
            <a:extLst>
              <a:ext uri="{FF2B5EF4-FFF2-40B4-BE49-F238E27FC236}">
                <a16:creationId xmlns:a16="http://schemas.microsoft.com/office/drawing/2014/main" id="{BF2C90D7-1308-43BF-8E64-3385003DF4CE}"/>
              </a:ext>
            </a:extLst>
          </p:cNvPr>
          <p:cNvSpPr/>
          <p:nvPr/>
        </p:nvSpPr>
        <p:spPr>
          <a:xfrm>
            <a:off x="5184776" y="4191397"/>
            <a:ext cx="965994" cy="4101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extBox 2">
            <a:extLst>
              <a:ext uri="{FF2B5EF4-FFF2-40B4-BE49-F238E27FC236}">
                <a16:creationId xmlns:a16="http://schemas.microsoft.com/office/drawing/2014/main" id="{9643054A-3EFE-4138-8C5B-0BC4B247CED2}"/>
              </a:ext>
            </a:extLst>
          </p:cNvPr>
          <p:cNvSpPr txBox="1"/>
          <p:nvPr/>
        </p:nvSpPr>
        <p:spPr>
          <a:xfrm>
            <a:off x="5891306" y="1256712"/>
            <a:ext cx="3054349" cy="830997"/>
          </a:xfrm>
          <a:prstGeom prst="rect">
            <a:avLst/>
          </a:prstGeom>
          <a:noFill/>
        </p:spPr>
        <p:txBody>
          <a:bodyPr wrap="square" rtlCol="0">
            <a:spAutoFit/>
          </a:bodyPr>
          <a:lstStyle/>
          <a:p>
            <a:r>
              <a:rPr lang="en-MY" sz="2400" dirty="0">
                <a:solidFill>
                  <a:srgbClr val="FF0000"/>
                </a:solidFill>
              </a:rPr>
              <a:t>What we will see if we make a cross section</a:t>
            </a:r>
          </a:p>
        </p:txBody>
      </p:sp>
      <p:sp>
        <p:nvSpPr>
          <p:cNvPr id="4" name="Arrow: Down 3">
            <a:extLst>
              <a:ext uri="{FF2B5EF4-FFF2-40B4-BE49-F238E27FC236}">
                <a16:creationId xmlns:a16="http://schemas.microsoft.com/office/drawing/2014/main" id="{4BA168F0-CA19-46BC-BFF3-2274186ECBAC}"/>
              </a:ext>
            </a:extLst>
          </p:cNvPr>
          <p:cNvSpPr/>
          <p:nvPr/>
        </p:nvSpPr>
        <p:spPr>
          <a:xfrm rot="2080743">
            <a:off x="6108061" y="1901005"/>
            <a:ext cx="408327" cy="2430450"/>
          </a:xfrm>
          <a:prstGeom prst="downArrow">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199040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0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20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arn(inVertical)">
                                      <p:cBhvr>
                                        <p:cTn id="15" dur="500"/>
                                        <p:tgtEl>
                                          <p:spTgt spid="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arn(inVertic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53" grpId="0" autoUpdateAnimBg="0"/>
      <p:bldP spid="2" grpId="0" animBg="1"/>
      <p:bldP spid="3" grpId="0"/>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Mechanism of release of Calcium ion through Ryanodine receptors in skeletal muscle"/>
          <p:cNvPicPr>
            <a:picLocks noChangeAspect="1" noChangeArrowheads="1"/>
          </p:cNvPicPr>
          <p:nvPr/>
        </p:nvPicPr>
        <p:blipFill rotWithShape="1">
          <a:blip r:embed="rId3">
            <a:extLst>
              <a:ext uri="{28A0092B-C50C-407E-A947-70E740481C1C}">
                <a14:useLocalDpi xmlns:a14="http://schemas.microsoft.com/office/drawing/2010/main" val="0"/>
              </a:ext>
            </a:extLst>
          </a:blip>
          <a:srcRect t="5059" r="40558" b="8669"/>
          <a:stretch/>
        </p:blipFill>
        <p:spPr bwMode="auto">
          <a:xfrm>
            <a:off x="0" y="846982"/>
            <a:ext cx="3960440" cy="43109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971600" y="188640"/>
            <a:ext cx="7557988" cy="646331"/>
          </a:xfrm>
          <a:prstGeom prst="rect">
            <a:avLst/>
          </a:prstGeom>
          <a:noFill/>
        </p:spPr>
        <p:txBody>
          <a:bodyPr wrap="square" rtlCol="0">
            <a:spAutoFit/>
          </a:bodyPr>
          <a:lstStyle/>
          <a:p>
            <a:r>
              <a:rPr lang="en-US" sz="3600" b="1">
                <a:solidFill>
                  <a:srgbClr val="00B0F0"/>
                </a:solidFill>
              </a:rPr>
              <a:t>Mechanism of release of Calcium ion</a:t>
            </a:r>
            <a:endParaRPr lang="en-GB" sz="3600" b="1">
              <a:solidFill>
                <a:srgbClr val="00B0F0"/>
              </a:solidFill>
            </a:endParaRPr>
          </a:p>
        </p:txBody>
      </p:sp>
      <p:sp>
        <p:nvSpPr>
          <p:cNvPr id="3" name="TextBox 2">
            <a:extLst>
              <a:ext uri="{FF2B5EF4-FFF2-40B4-BE49-F238E27FC236}">
                <a16:creationId xmlns:a16="http://schemas.microsoft.com/office/drawing/2014/main" id="{A57091DD-43EE-4346-B173-E742E4F63886}"/>
              </a:ext>
            </a:extLst>
          </p:cNvPr>
          <p:cNvSpPr txBox="1"/>
          <p:nvPr/>
        </p:nvSpPr>
        <p:spPr>
          <a:xfrm>
            <a:off x="212664" y="5063546"/>
            <a:ext cx="7239656" cy="892552"/>
          </a:xfrm>
          <a:prstGeom prst="rect">
            <a:avLst/>
          </a:prstGeom>
          <a:noFill/>
        </p:spPr>
        <p:txBody>
          <a:bodyPr wrap="square" rtlCol="0">
            <a:spAutoFit/>
          </a:bodyPr>
          <a:lstStyle/>
          <a:p>
            <a:r>
              <a:rPr lang="en-MY" sz="2800" dirty="0">
                <a:solidFill>
                  <a:srgbClr val="FF0000"/>
                </a:solidFill>
              </a:rPr>
              <a:t>Key:</a:t>
            </a:r>
            <a:r>
              <a:rPr lang="en-MY" sz="2800" dirty="0"/>
              <a:t> </a:t>
            </a:r>
            <a:r>
              <a:rPr lang="en-MY" sz="2400" dirty="0"/>
              <a:t>DHP receptors have mechanical linkage with Ca channels via Ryanodine receptors with SR</a:t>
            </a:r>
          </a:p>
        </p:txBody>
      </p:sp>
      <p:pic>
        <p:nvPicPr>
          <p:cNvPr id="8" name="Picture 7">
            <a:extLst>
              <a:ext uri="{FF2B5EF4-FFF2-40B4-BE49-F238E27FC236}">
                <a16:creationId xmlns:a16="http://schemas.microsoft.com/office/drawing/2014/main" id="{59AF26FF-3AF8-98D0-8C26-0C037F747A63}"/>
              </a:ext>
            </a:extLst>
          </p:cNvPr>
          <p:cNvPicPr>
            <a:picLocks noChangeAspect="1"/>
          </p:cNvPicPr>
          <p:nvPr/>
        </p:nvPicPr>
        <p:blipFill>
          <a:blip r:embed="rId4"/>
          <a:srcRect t="54772"/>
          <a:stretch>
            <a:fillRect/>
          </a:stretch>
        </p:blipFill>
        <p:spPr>
          <a:xfrm>
            <a:off x="4283968" y="2249944"/>
            <a:ext cx="4765117" cy="2618138"/>
          </a:xfrm>
          <a:prstGeom prst="rect">
            <a:avLst/>
          </a:prstGeom>
        </p:spPr>
      </p:pic>
      <p:sp>
        <p:nvSpPr>
          <p:cNvPr id="9" name="TextBox 8"/>
          <p:cNvSpPr txBox="1"/>
          <p:nvPr/>
        </p:nvSpPr>
        <p:spPr>
          <a:xfrm>
            <a:off x="7608912" y="5063546"/>
            <a:ext cx="1512168" cy="923330"/>
          </a:xfrm>
          <a:prstGeom prst="rect">
            <a:avLst/>
          </a:prstGeom>
          <a:noFill/>
          <a:ln w="28575">
            <a:solidFill>
              <a:srgbClr val="FF0000"/>
            </a:solidFill>
          </a:ln>
        </p:spPr>
        <p:txBody>
          <a:bodyPr wrap="square" rtlCol="0">
            <a:spAutoFit/>
          </a:bodyPr>
          <a:lstStyle/>
          <a:p>
            <a:r>
              <a:rPr lang="en-MY" dirty="0">
                <a:solidFill>
                  <a:srgbClr val="FF0000"/>
                </a:solidFill>
              </a:rPr>
              <a:t>High capacity low affinity Ca binding ability</a:t>
            </a:r>
          </a:p>
        </p:txBody>
      </p:sp>
      <p:sp>
        <p:nvSpPr>
          <p:cNvPr id="10" name="Arrow: Down 9">
            <a:extLst>
              <a:ext uri="{FF2B5EF4-FFF2-40B4-BE49-F238E27FC236}">
                <a16:creationId xmlns:a16="http://schemas.microsoft.com/office/drawing/2014/main" id="{926D03F7-E2B4-6DA8-C076-30AFC6764CB0}"/>
              </a:ext>
            </a:extLst>
          </p:cNvPr>
          <p:cNvSpPr/>
          <p:nvPr/>
        </p:nvSpPr>
        <p:spPr>
          <a:xfrm>
            <a:off x="8319510" y="4461758"/>
            <a:ext cx="362892" cy="504056"/>
          </a:xfrm>
          <a:prstGeom prst="down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DF3C0706-4F32-E81C-7544-9C1DD08458C2}"/>
              </a:ext>
            </a:extLst>
          </p:cNvPr>
          <p:cNvSpPr txBox="1"/>
          <p:nvPr/>
        </p:nvSpPr>
        <p:spPr>
          <a:xfrm>
            <a:off x="0" y="5986876"/>
            <a:ext cx="7608912" cy="646331"/>
          </a:xfrm>
          <a:prstGeom prst="rect">
            <a:avLst/>
          </a:prstGeom>
          <a:solidFill>
            <a:srgbClr val="FFC000"/>
          </a:solidFill>
          <a:ln w="19050">
            <a:solidFill>
              <a:schemeClr val="tx1"/>
            </a:solidFill>
          </a:ln>
        </p:spPr>
        <p:txBody>
          <a:bodyPr wrap="square">
            <a:spAutoFit/>
          </a:bodyPr>
          <a:lstStyle/>
          <a:p>
            <a:r>
              <a:rPr lang="en-US" sz="1800" b="1" dirty="0">
                <a:solidFill>
                  <a:srgbClr val="FF0000"/>
                </a:solidFill>
                <a:effectLst/>
                <a:latin typeface="+mn-lt"/>
                <a:ea typeface="Arial MT"/>
                <a:cs typeface="Arial MT"/>
              </a:rPr>
              <a:t>Note</a:t>
            </a:r>
            <a:r>
              <a:rPr lang="en-US" sz="1800" dirty="0">
                <a:effectLst/>
                <a:latin typeface="+mn-lt"/>
                <a:ea typeface="Arial MT"/>
                <a:cs typeface="Arial MT"/>
              </a:rPr>
              <a:t>: Metabolic by-products (H</a:t>
            </a:r>
            <a:r>
              <a:rPr lang="en-US" sz="1800" baseline="30000" dirty="0">
                <a:effectLst/>
                <a:latin typeface="+mn-lt"/>
                <a:ea typeface="Arial MT"/>
                <a:cs typeface="Arial MT"/>
              </a:rPr>
              <a:t>+</a:t>
            </a:r>
            <a:r>
              <a:rPr lang="en-US" sz="1800" dirty="0">
                <a:effectLst/>
                <a:latin typeface="+mn-lt"/>
                <a:ea typeface="Arial MT"/>
                <a:cs typeface="Arial MT"/>
              </a:rPr>
              <a:t> and lactate) do not have any direct impact to stimulate ryanodine receptors</a:t>
            </a:r>
            <a:endParaRPr lang="en-GB" dirty="0"/>
          </a:p>
        </p:txBody>
      </p:sp>
    </p:spTree>
    <p:extLst>
      <p:ext uri="{BB962C8B-B14F-4D97-AF65-F5344CB8AC3E}">
        <p14:creationId xmlns:p14="http://schemas.microsoft.com/office/powerpoint/2010/main" val="310887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arn(inVertical)">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9" grpId="0" animBg="1"/>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66097" y="250790"/>
            <a:ext cx="4642746" cy="646331"/>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pPr algn="ctr"/>
            <a:r>
              <a:rPr lang="en-US" sz="3600"/>
              <a:t>Role of the Calcium Ion:</a:t>
            </a:r>
            <a:endParaRPr lang="en-GB" sz="3600">
              <a:solidFill>
                <a:srgbClr val="FF0000"/>
              </a:solidFill>
            </a:endParaRPr>
          </a:p>
        </p:txBody>
      </p:sp>
      <p:sp>
        <p:nvSpPr>
          <p:cNvPr id="5" name="TextBox 4"/>
          <p:cNvSpPr txBox="1"/>
          <p:nvPr/>
        </p:nvSpPr>
        <p:spPr>
          <a:xfrm>
            <a:off x="1115616" y="1124743"/>
            <a:ext cx="6840760" cy="461665"/>
          </a:xfrm>
          <a:prstGeom prst="rect">
            <a:avLst/>
          </a:prstGeom>
          <a:noFill/>
        </p:spPr>
        <p:txBody>
          <a:bodyPr wrap="square" rtlCol="0">
            <a:spAutoFit/>
          </a:bodyPr>
          <a:lstStyle/>
          <a:p>
            <a:pPr algn="ctr"/>
            <a:r>
              <a:rPr lang="en-US" sz="2400" b="1" dirty="0">
                <a:solidFill>
                  <a:schemeClr val="bg2">
                    <a:lumMod val="25000"/>
                  </a:schemeClr>
                </a:solidFill>
              </a:rPr>
              <a:t>Normal Calcium ion concentration ˂ 0.01 µm</a:t>
            </a:r>
            <a:endParaRPr lang="en-GB" sz="2400" b="1" dirty="0">
              <a:solidFill>
                <a:schemeClr val="bg2">
                  <a:lumMod val="25000"/>
                </a:schemeClr>
              </a:solidFill>
            </a:endParaRPr>
          </a:p>
        </p:txBody>
      </p:sp>
      <p:sp>
        <p:nvSpPr>
          <p:cNvPr id="6" name="TextBox 5"/>
          <p:cNvSpPr txBox="1"/>
          <p:nvPr/>
        </p:nvSpPr>
        <p:spPr>
          <a:xfrm>
            <a:off x="323528" y="2006122"/>
            <a:ext cx="8424938" cy="461665"/>
          </a:xfrm>
          <a:prstGeom prst="rect">
            <a:avLst/>
          </a:prstGeom>
          <a:noFill/>
        </p:spPr>
        <p:txBody>
          <a:bodyPr wrap="square" rtlCol="0">
            <a:spAutoFit/>
          </a:bodyPr>
          <a:lstStyle/>
          <a:p>
            <a:pPr algn="ctr"/>
            <a:r>
              <a:rPr lang="en-US" sz="2400" b="1" dirty="0">
                <a:solidFill>
                  <a:schemeClr val="accent5">
                    <a:lumMod val="75000"/>
                  </a:schemeClr>
                </a:solidFill>
              </a:rPr>
              <a:t>Following Action Potential Calcium (Ca) concentration ˃ 0.01 µm</a:t>
            </a:r>
            <a:endParaRPr lang="en-GB" sz="2400" b="1" dirty="0">
              <a:solidFill>
                <a:schemeClr val="accent5">
                  <a:lumMod val="75000"/>
                </a:schemeClr>
              </a:solidFill>
            </a:endParaRPr>
          </a:p>
        </p:txBody>
      </p:sp>
      <p:sp>
        <p:nvSpPr>
          <p:cNvPr id="7" name="TextBox 6"/>
          <p:cNvSpPr txBox="1"/>
          <p:nvPr/>
        </p:nvSpPr>
        <p:spPr>
          <a:xfrm>
            <a:off x="2447764" y="2964860"/>
            <a:ext cx="3888432" cy="461665"/>
          </a:xfrm>
          <a:prstGeom prst="rect">
            <a:avLst/>
          </a:prstGeom>
          <a:noFill/>
        </p:spPr>
        <p:txBody>
          <a:bodyPr wrap="square" rtlCol="0">
            <a:spAutoFit/>
          </a:bodyPr>
          <a:lstStyle/>
          <a:p>
            <a:r>
              <a:rPr lang="en-US" sz="2400" b="1" dirty="0">
                <a:solidFill>
                  <a:srgbClr val="002060"/>
                </a:solidFill>
              </a:rPr>
              <a:t>Ca binds to Troponin sites</a:t>
            </a:r>
            <a:endParaRPr lang="en-GB" sz="2400" b="1" dirty="0">
              <a:solidFill>
                <a:srgbClr val="002060"/>
              </a:solidFill>
            </a:endParaRPr>
          </a:p>
        </p:txBody>
      </p:sp>
      <p:sp>
        <p:nvSpPr>
          <p:cNvPr id="8" name="TextBox 7"/>
          <p:cNvSpPr txBox="1"/>
          <p:nvPr/>
        </p:nvSpPr>
        <p:spPr>
          <a:xfrm>
            <a:off x="1799692" y="4077072"/>
            <a:ext cx="5472608" cy="461665"/>
          </a:xfrm>
          <a:prstGeom prst="rect">
            <a:avLst/>
          </a:prstGeom>
          <a:noFill/>
        </p:spPr>
        <p:txBody>
          <a:bodyPr wrap="square" rtlCol="0">
            <a:spAutoFit/>
          </a:bodyPr>
          <a:lstStyle/>
          <a:p>
            <a:pPr algn="ctr"/>
            <a:r>
              <a:rPr lang="en-US" sz="2400" b="1" dirty="0">
                <a:solidFill>
                  <a:srgbClr val="C00000"/>
                </a:solidFill>
              </a:rPr>
              <a:t>Conformational change of the troponin</a:t>
            </a:r>
            <a:endParaRPr lang="en-GB" sz="2400" b="1" dirty="0">
              <a:solidFill>
                <a:srgbClr val="C00000"/>
              </a:solidFill>
            </a:endParaRPr>
          </a:p>
        </p:txBody>
      </p:sp>
      <p:sp>
        <p:nvSpPr>
          <p:cNvPr id="9" name="TextBox 8"/>
          <p:cNvSpPr txBox="1"/>
          <p:nvPr/>
        </p:nvSpPr>
        <p:spPr>
          <a:xfrm>
            <a:off x="813517" y="4994384"/>
            <a:ext cx="7596844" cy="461665"/>
          </a:xfrm>
          <a:prstGeom prst="rect">
            <a:avLst/>
          </a:prstGeom>
          <a:noFill/>
        </p:spPr>
        <p:txBody>
          <a:bodyPr wrap="square" rtlCol="0">
            <a:spAutoFit/>
          </a:bodyPr>
          <a:lstStyle/>
          <a:p>
            <a:pPr algn="ctr"/>
            <a:r>
              <a:rPr lang="en-US" sz="2400" b="1" dirty="0">
                <a:solidFill>
                  <a:srgbClr val="0070C0"/>
                </a:solidFill>
              </a:rPr>
              <a:t>Permits actin- Myosin interaction (</a:t>
            </a:r>
            <a:r>
              <a:rPr lang="en-US" sz="2400" b="1" dirty="0" err="1">
                <a:solidFill>
                  <a:srgbClr val="0070C0"/>
                </a:solidFill>
              </a:rPr>
              <a:t>Acto</a:t>
            </a:r>
            <a:r>
              <a:rPr lang="en-US" sz="2400" b="1" dirty="0">
                <a:solidFill>
                  <a:srgbClr val="0070C0"/>
                </a:solidFill>
              </a:rPr>
              <a:t>-myosin complex)</a:t>
            </a:r>
            <a:endParaRPr lang="en-GB" sz="2400" b="1" dirty="0">
              <a:solidFill>
                <a:srgbClr val="0070C0"/>
              </a:solidFill>
            </a:endParaRPr>
          </a:p>
        </p:txBody>
      </p:sp>
      <p:sp>
        <p:nvSpPr>
          <p:cNvPr id="10" name="TextBox 9"/>
          <p:cNvSpPr txBox="1"/>
          <p:nvPr/>
        </p:nvSpPr>
        <p:spPr>
          <a:xfrm>
            <a:off x="2675323" y="5851433"/>
            <a:ext cx="3660873" cy="461665"/>
          </a:xfrm>
          <a:prstGeom prst="rect">
            <a:avLst/>
          </a:prstGeom>
          <a:noFill/>
        </p:spPr>
        <p:txBody>
          <a:bodyPr wrap="square" rtlCol="0">
            <a:spAutoFit/>
          </a:bodyPr>
          <a:lstStyle/>
          <a:p>
            <a:r>
              <a:rPr lang="en-US" sz="2400" b="1" dirty="0">
                <a:solidFill>
                  <a:srgbClr val="00B050"/>
                </a:solidFill>
              </a:rPr>
              <a:t>Muscle contraction begins</a:t>
            </a:r>
            <a:endParaRPr lang="en-GB" sz="2400" b="1" dirty="0">
              <a:solidFill>
                <a:srgbClr val="00B050"/>
              </a:solidFill>
            </a:endParaRPr>
          </a:p>
        </p:txBody>
      </p:sp>
      <p:sp>
        <p:nvSpPr>
          <p:cNvPr id="12" name="Down Arrow 11"/>
          <p:cNvSpPr/>
          <p:nvPr/>
        </p:nvSpPr>
        <p:spPr>
          <a:xfrm>
            <a:off x="4031940" y="1586408"/>
            <a:ext cx="288032" cy="4320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Down Arrow 12"/>
          <p:cNvSpPr/>
          <p:nvPr/>
        </p:nvSpPr>
        <p:spPr>
          <a:xfrm>
            <a:off x="4013067" y="2412637"/>
            <a:ext cx="333647" cy="6332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own Arrow 13"/>
          <p:cNvSpPr/>
          <p:nvPr/>
        </p:nvSpPr>
        <p:spPr>
          <a:xfrm>
            <a:off x="3967802" y="3445387"/>
            <a:ext cx="424178" cy="6153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Down Arrow 14"/>
          <p:cNvSpPr/>
          <p:nvPr/>
        </p:nvSpPr>
        <p:spPr>
          <a:xfrm>
            <a:off x="3992526" y="4538736"/>
            <a:ext cx="543470" cy="54644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Down Arrow 15"/>
          <p:cNvSpPr/>
          <p:nvPr/>
        </p:nvSpPr>
        <p:spPr>
          <a:xfrm>
            <a:off x="3899729" y="5456049"/>
            <a:ext cx="712210" cy="5425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0114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1000"/>
                                        <p:tgtEl>
                                          <p:spTgt spid="7">
                                            <p:txEl>
                                              <p:pRg st="0" end="0"/>
                                            </p:txEl>
                                          </p:spTgt>
                                        </p:tgtEl>
                                      </p:cBhvr>
                                    </p:animEffect>
                                    <p:anim calcmode="lin" valueType="num">
                                      <p:cBhvr>
                                        <p:cTn id="23"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arn(inVertical)">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21" y="98180"/>
            <a:ext cx="8873066" cy="926155"/>
          </a:xfrm>
        </p:spPr>
        <p:txBody>
          <a:bodyPr>
            <a:normAutofit fontScale="90000"/>
          </a:bodyPr>
          <a:lstStyle/>
          <a:p>
            <a:r>
              <a:rPr lang="en-GB" sz="2400" dirty="0">
                <a:latin typeface="+mn-lt"/>
              </a:rPr>
              <a:t>Motor neuron activity leads to muscle contraction </a:t>
            </a:r>
            <a:br>
              <a:rPr lang="en-GB" sz="2400" dirty="0">
                <a:latin typeface="+mn-lt"/>
              </a:rPr>
            </a:br>
            <a:r>
              <a:rPr lang="en-GB" sz="2000" dirty="0">
                <a:latin typeface="+mn-lt"/>
              </a:rPr>
              <a:t>(</a:t>
            </a:r>
            <a:r>
              <a:rPr lang="en-GB" sz="2000" dirty="0">
                <a:solidFill>
                  <a:srgbClr val="FF0000"/>
                </a:solidFill>
                <a:latin typeface="+mn-lt"/>
              </a:rPr>
              <a:t>What could happen if released NTs bound to receptors are not regulated or stimulus appear at frequent intervals?</a:t>
            </a:r>
            <a:r>
              <a:rPr lang="en-GB" sz="2000" dirty="0">
                <a:latin typeface="+mn-lt"/>
              </a:rPr>
              <a:t>)</a:t>
            </a:r>
            <a:endParaRPr lang="en-US" sz="2000"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124" y="1052736"/>
            <a:ext cx="3963821" cy="5543843"/>
          </a:xfrm>
          <a:prstGeom prst="rect">
            <a:avLst/>
          </a:prstGeom>
        </p:spPr>
      </p:pic>
      <p:sp>
        <p:nvSpPr>
          <p:cNvPr id="4" name="TextBox 3"/>
          <p:cNvSpPr txBox="1"/>
          <p:nvPr/>
        </p:nvSpPr>
        <p:spPr>
          <a:xfrm>
            <a:off x="513605" y="3075057"/>
            <a:ext cx="1837024" cy="707886"/>
          </a:xfrm>
          <a:prstGeom prst="rect">
            <a:avLst/>
          </a:prstGeom>
          <a:noFill/>
        </p:spPr>
        <p:txBody>
          <a:bodyPr wrap="square" rtlCol="0">
            <a:spAutoFit/>
          </a:bodyPr>
          <a:lstStyle/>
          <a:p>
            <a:pPr lvl="0" fontAlgn="auto">
              <a:spcBef>
                <a:spcPts val="0"/>
              </a:spcBef>
              <a:spcAft>
                <a:spcPts val="0"/>
              </a:spcAft>
              <a:buNone/>
            </a:pPr>
            <a:r>
              <a:rPr lang="en-GB" sz="2000" dirty="0">
                <a:solidFill>
                  <a:prstClr val="black"/>
                </a:solidFill>
                <a:latin typeface="Calibri"/>
              </a:rPr>
              <a:t>Complete single twitch</a:t>
            </a:r>
          </a:p>
        </p:txBody>
      </p:sp>
      <p:sp>
        <p:nvSpPr>
          <p:cNvPr id="5" name="Rectangle 4"/>
          <p:cNvSpPr/>
          <p:nvPr/>
        </p:nvSpPr>
        <p:spPr>
          <a:xfrm>
            <a:off x="6949876" y="2636912"/>
            <a:ext cx="2205508" cy="1323439"/>
          </a:xfrm>
          <a:prstGeom prst="rect">
            <a:avLst/>
          </a:prstGeom>
        </p:spPr>
        <p:txBody>
          <a:bodyPr wrap="square">
            <a:spAutoFit/>
          </a:bodyPr>
          <a:lstStyle/>
          <a:p>
            <a:pPr>
              <a:buNone/>
            </a:pPr>
            <a:r>
              <a:rPr lang="en-GB" sz="2000" dirty="0">
                <a:latin typeface="+mn-lt"/>
              </a:rPr>
              <a:t>Summation / incomplete tetanus (Lower frequency stimulus)</a:t>
            </a:r>
          </a:p>
        </p:txBody>
      </p:sp>
      <p:sp>
        <p:nvSpPr>
          <p:cNvPr id="6" name="Rectangle 5"/>
          <p:cNvSpPr/>
          <p:nvPr/>
        </p:nvSpPr>
        <p:spPr>
          <a:xfrm>
            <a:off x="6982980" y="4747456"/>
            <a:ext cx="2258878" cy="1323439"/>
          </a:xfrm>
          <a:prstGeom prst="rect">
            <a:avLst/>
          </a:prstGeom>
        </p:spPr>
        <p:txBody>
          <a:bodyPr wrap="square">
            <a:spAutoFit/>
          </a:bodyPr>
          <a:lstStyle/>
          <a:p>
            <a:pPr>
              <a:buNone/>
            </a:pPr>
            <a:r>
              <a:rPr lang="en-GB" sz="2000" dirty="0">
                <a:latin typeface="+mn-lt"/>
              </a:rPr>
              <a:t>Sustained contraction / tetanus (very high frequency stimulus)</a:t>
            </a:r>
          </a:p>
        </p:txBody>
      </p:sp>
      <p:sp>
        <p:nvSpPr>
          <p:cNvPr id="7" name="Rectangle 6">
            <a:extLst>
              <a:ext uri="{FF2B5EF4-FFF2-40B4-BE49-F238E27FC236}">
                <a16:creationId xmlns:a16="http://schemas.microsoft.com/office/drawing/2014/main" id="{769BBF05-C738-B36C-4B72-B9E620539BC9}"/>
              </a:ext>
            </a:extLst>
          </p:cNvPr>
          <p:cNvSpPr/>
          <p:nvPr/>
        </p:nvSpPr>
        <p:spPr>
          <a:xfrm>
            <a:off x="1972491" y="2247901"/>
            <a:ext cx="5055326" cy="4610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8B0781C9-D05F-B1A1-6D15-6BF900E3EB2D}"/>
              </a:ext>
            </a:extLst>
          </p:cNvPr>
          <p:cNvSpPr/>
          <p:nvPr/>
        </p:nvSpPr>
        <p:spPr>
          <a:xfrm>
            <a:off x="317228" y="5117939"/>
            <a:ext cx="2598588" cy="1323439"/>
          </a:xfrm>
          <a:prstGeom prst="rect">
            <a:avLst/>
          </a:prstGeom>
        </p:spPr>
        <p:txBody>
          <a:bodyPr wrap="square">
            <a:spAutoFit/>
          </a:bodyPr>
          <a:lstStyle/>
          <a:p>
            <a:pPr>
              <a:buNone/>
            </a:pPr>
            <a:r>
              <a:rPr lang="en-GB" sz="2000" dirty="0">
                <a:latin typeface="+mn-lt"/>
              </a:rPr>
              <a:t>Summation</a:t>
            </a:r>
            <a:r>
              <a:rPr lang="en-GB" sz="2000" dirty="0"/>
              <a:t> / incomplete tetanus (higher frequency stimulus)</a:t>
            </a:r>
            <a:endParaRPr lang="en-GB" sz="2000" dirty="0">
              <a:latin typeface="+mn-lt"/>
            </a:endParaRPr>
          </a:p>
        </p:txBody>
      </p:sp>
      <p:sp>
        <p:nvSpPr>
          <p:cNvPr id="9" name="TextBox 8">
            <a:extLst>
              <a:ext uri="{FF2B5EF4-FFF2-40B4-BE49-F238E27FC236}">
                <a16:creationId xmlns:a16="http://schemas.microsoft.com/office/drawing/2014/main" id="{0A133BBA-9082-C216-ED30-8F0696AB3987}"/>
              </a:ext>
            </a:extLst>
          </p:cNvPr>
          <p:cNvSpPr txBox="1"/>
          <p:nvPr/>
        </p:nvSpPr>
        <p:spPr>
          <a:xfrm>
            <a:off x="1043608" y="6454801"/>
            <a:ext cx="6303228" cy="369332"/>
          </a:xfrm>
          <a:prstGeom prst="rect">
            <a:avLst/>
          </a:prstGeom>
          <a:solidFill>
            <a:srgbClr val="FFC000"/>
          </a:solidFill>
          <a:ln w="19050">
            <a:solidFill>
              <a:schemeClr val="tx1"/>
            </a:solidFill>
          </a:ln>
        </p:spPr>
        <p:txBody>
          <a:bodyPr wrap="square" rtlCol="0">
            <a:spAutoFit/>
          </a:bodyPr>
          <a:lstStyle/>
          <a:p>
            <a:r>
              <a:rPr lang="en-GB" dirty="0"/>
              <a:t>All we will experience in SIM-Muscle practical experiment later…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20FD-F54C-9A24-E05B-0228B0FA8B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CCA1B2-BC4A-3E67-4552-E24ADE9092BF}"/>
              </a:ext>
            </a:extLst>
          </p:cNvPr>
          <p:cNvSpPr/>
          <p:nvPr/>
        </p:nvSpPr>
        <p:spPr>
          <a:xfrm>
            <a:off x="442721" y="843603"/>
            <a:ext cx="8510779" cy="5186676"/>
          </a:xfrm>
          <a:prstGeom prst="rect">
            <a:avLst/>
          </a:prstGeom>
        </p:spPr>
        <p:txBody>
          <a:bodyPr wrap="square">
            <a:spAutoFit/>
          </a:bodyPr>
          <a:lstStyle/>
          <a:p>
            <a:pPr marL="457200" indent="-457200">
              <a:lnSpc>
                <a:spcPct val="150000"/>
              </a:lnSpc>
              <a:buFont typeface="Arial" panose="020B0604020202020204" pitchFamily="34" charset="0"/>
              <a:buChar char="•"/>
            </a:pPr>
            <a:r>
              <a:rPr lang="en-US" sz="3200" dirty="0">
                <a:effectLst/>
              </a:rPr>
              <a:t>The basic structure of the synapse / NMJ and concept of a motor unit</a:t>
            </a:r>
          </a:p>
          <a:p>
            <a:pPr marL="457200" indent="-457200">
              <a:lnSpc>
                <a:spcPct val="150000"/>
              </a:lnSpc>
              <a:buFont typeface="Arial" panose="020B0604020202020204" pitchFamily="34" charset="0"/>
              <a:buChar char="•"/>
            </a:pPr>
            <a:r>
              <a:rPr lang="en-US" sz="3200" dirty="0">
                <a:effectLst/>
              </a:rPr>
              <a:t>Events underlying chemical transmission &amp; fate of NTs</a:t>
            </a:r>
          </a:p>
          <a:p>
            <a:pPr marL="457200" indent="-457200">
              <a:lnSpc>
                <a:spcPct val="150000"/>
              </a:lnSpc>
              <a:buFont typeface="Arial" panose="020B0604020202020204" pitchFamily="34" charset="0"/>
              <a:buChar char="•"/>
            </a:pPr>
            <a:r>
              <a:rPr lang="en-US" sz="3200" dirty="0">
                <a:effectLst/>
              </a:rPr>
              <a:t>MEPP, EPP and quantal transmission</a:t>
            </a:r>
          </a:p>
          <a:p>
            <a:pPr marL="457200" indent="-457200">
              <a:lnSpc>
                <a:spcPct val="150000"/>
              </a:lnSpc>
              <a:buFont typeface="Arial" panose="020B0604020202020204" pitchFamily="34" charset="0"/>
              <a:buChar char="•"/>
            </a:pPr>
            <a:r>
              <a:rPr lang="en-GB" sz="3200" dirty="0"/>
              <a:t>Initiation of action potential &amp; contraction</a:t>
            </a:r>
          </a:p>
          <a:p>
            <a:pPr marL="457200" indent="-457200">
              <a:lnSpc>
                <a:spcPct val="150000"/>
              </a:lnSpc>
              <a:buFont typeface="Arial" panose="020B0604020202020204" pitchFamily="34" charset="0"/>
              <a:buChar char="•"/>
            </a:pPr>
            <a:r>
              <a:rPr lang="en-US" sz="3200" dirty="0">
                <a:highlight>
                  <a:srgbClr val="FFFF00"/>
                </a:highlight>
              </a:rPr>
              <a:t>Drugs and diseases that affect transmission</a:t>
            </a:r>
            <a:endParaRPr lang="en-GB" sz="3200" b="1" dirty="0">
              <a:highlight>
                <a:srgbClr val="FFFF00"/>
              </a:highlight>
            </a:endParaRPr>
          </a:p>
        </p:txBody>
      </p:sp>
      <p:sp>
        <p:nvSpPr>
          <p:cNvPr id="5" name="TextBox 4">
            <a:extLst>
              <a:ext uri="{FF2B5EF4-FFF2-40B4-BE49-F238E27FC236}">
                <a16:creationId xmlns:a16="http://schemas.microsoft.com/office/drawing/2014/main" id="{816020E6-93C0-EA74-E985-2634E2C699CA}"/>
              </a:ext>
            </a:extLst>
          </p:cNvPr>
          <p:cNvSpPr txBox="1"/>
          <p:nvPr/>
        </p:nvSpPr>
        <p:spPr>
          <a:xfrm>
            <a:off x="1331640" y="197272"/>
            <a:ext cx="6480720" cy="646331"/>
          </a:xfrm>
          <a:prstGeom prst="rect">
            <a:avLst/>
          </a:prstGeom>
          <a:noFill/>
        </p:spPr>
        <p:txBody>
          <a:bodyPr wrap="square" rtlCol="0">
            <a:spAutoFit/>
          </a:bodyPr>
          <a:lstStyle/>
          <a:p>
            <a:pPr algn="ctr">
              <a:buNone/>
            </a:pPr>
            <a:r>
              <a:rPr lang="en-IN" sz="3600" b="1" dirty="0">
                <a:solidFill>
                  <a:srgbClr val="FF0000"/>
                </a:solidFill>
              </a:rPr>
              <a:t>You will be able to know</a:t>
            </a:r>
          </a:p>
        </p:txBody>
      </p:sp>
    </p:spTree>
    <p:extLst>
      <p:ext uri="{BB962C8B-B14F-4D97-AF65-F5344CB8AC3E}">
        <p14:creationId xmlns:p14="http://schemas.microsoft.com/office/powerpoint/2010/main" val="541368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7988" y="-52853"/>
            <a:ext cx="8711689" cy="1066800"/>
          </a:xfrm>
          <a:noFill/>
          <a:ln/>
        </p:spPr>
        <p:txBody>
          <a:bodyPr/>
          <a:lstStyle/>
          <a:p>
            <a:r>
              <a:rPr lang="en-US" sz="3200" b="1" dirty="0">
                <a:solidFill>
                  <a:schemeClr val="hlink"/>
                </a:solidFill>
                <a:latin typeface="Arial Rounded MT Bold" pitchFamily="34" charset="0"/>
              </a:rPr>
              <a:t>Drugs and diseases (transmission at  NMJ)</a:t>
            </a:r>
          </a:p>
        </p:txBody>
      </p:sp>
      <p:sp>
        <p:nvSpPr>
          <p:cNvPr id="56323" name="Rectangle 3"/>
          <p:cNvSpPr>
            <a:spLocks noGrp="1" noChangeArrowheads="1"/>
          </p:cNvSpPr>
          <p:nvPr>
            <p:ph type="body" idx="1"/>
          </p:nvPr>
        </p:nvSpPr>
        <p:spPr>
          <a:xfrm>
            <a:off x="334071" y="934950"/>
            <a:ext cx="8464550" cy="4772025"/>
          </a:xfrm>
          <a:noFill/>
          <a:ln/>
        </p:spPr>
        <p:txBody>
          <a:bodyPr/>
          <a:lstStyle/>
          <a:p>
            <a:pPr>
              <a:lnSpc>
                <a:spcPct val="90000"/>
              </a:lnSpc>
            </a:pPr>
            <a:r>
              <a:rPr lang="en-US" sz="1800" b="1" dirty="0">
                <a:solidFill>
                  <a:schemeClr val="folHlink"/>
                </a:solidFill>
                <a:latin typeface="Arial Rounded MT Bold" pitchFamily="34" charset="0"/>
              </a:rPr>
              <a:t>Curare:</a:t>
            </a:r>
          </a:p>
          <a:p>
            <a:pPr marL="819150" lvl="1">
              <a:lnSpc>
                <a:spcPct val="90000"/>
              </a:lnSpc>
            </a:pPr>
            <a:r>
              <a:rPr lang="en-US" sz="1800" b="1" dirty="0">
                <a:latin typeface="Arial Rounded MT Bold" pitchFamily="34" charset="0"/>
              </a:rPr>
              <a:t>blocks Ach receptor, causes paralysis</a:t>
            </a:r>
          </a:p>
          <a:p>
            <a:pPr marL="819150" lvl="1">
              <a:lnSpc>
                <a:spcPct val="90000"/>
              </a:lnSpc>
            </a:pPr>
            <a:r>
              <a:rPr lang="en-US" sz="1800" b="1" dirty="0">
                <a:latin typeface="Arial Rounded MT Bold" pitchFamily="34" charset="0"/>
              </a:rPr>
              <a:t>used as muscle relaxant by anesthetists</a:t>
            </a:r>
          </a:p>
          <a:p>
            <a:pPr>
              <a:lnSpc>
                <a:spcPct val="90000"/>
              </a:lnSpc>
            </a:pPr>
            <a:r>
              <a:rPr lang="en-US" sz="1800" b="1" dirty="0">
                <a:solidFill>
                  <a:schemeClr val="folHlink"/>
                </a:solidFill>
                <a:latin typeface="Arial Rounded MT Bold" pitchFamily="34" charset="0"/>
              </a:rPr>
              <a:t>Botulinum toxin (Botulism):</a:t>
            </a:r>
          </a:p>
          <a:p>
            <a:pPr marL="819150" lvl="1">
              <a:lnSpc>
                <a:spcPct val="90000"/>
              </a:lnSpc>
            </a:pPr>
            <a:r>
              <a:rPr lang="en-US" sz="1800" b="1" dirty="0">
                <a:latin typeface="Arial Rounded MT Bold" pitchFamily="34" charset="0"/>
              </a:rPr>
              <a:t>produced by bacteria in badly tinned foods (</a:t>
            </a:r>
            <a:r>
              <a:rPr lang="en-US" sz="1800" b="1" i="1" dirty="0">
                <a:latin typeface="Arial Rounded MT Bold" pitchFamily="34" charset="0"/>
              </a:rPr>
              <a:t>Clostridium </a:t>
            </a:r>
            <a:r>
              <a:rPr lang="en-US" sz="1800" b="1" i="1" dirty="0" err="1">
                <a:latin typeface="Arial Rounded MT Bold" pitchFamily="34" charset="0"/>
              </a:rPr>
              <a:t>botulinum</a:t>
            </a:r>
            <a:r>
              <a:rPr lang="en-US" sz="1800" b="1" dirty="0">
                <a:latin typeface="Arial Rounded MT Bold" pitchFamily="34" charset="0"/>
              </a:rPr>
              <a:t>)</a:t>
            </a:r>
          </a:p>
          <a:p>
            <a:pPr marL="819150" lvl="1">
              <a:lnSpc>
                <a:spcPct val="90000"/>
              </a:lnSpc>
            </a:pPr>
            <a:r>
              <a:rPr lang="en-US" sz="1800" b="1" dirty="0">
                <a:latin typeface="Arial Rounded MT Bold" pitchFamily="34" charset="0"/>
              </a:rPr>
              <a:t>inhibits exocytosis so Ach release stopped. Muscles therefore relax</a:t>
            </a:r>
          </a:p>
          <a:p>
            <a:pPr marL="819150" lvl="1">
              <a:lnSpc>
                <a:spcPct val="90000"/>
              </a:lnSpc>
            </a:pPr>
            <a:r>
              <a:rPr lang="en-GB" sz="1800" b="1" dirty="0">
                <a:latin typeface="Arial Rounded MT Bold" pitchFamily="34" charset="0"/>
              </a:rPr>
              <a:t>in severe case paralysis can be fatal</a:t>
            </a:r>
          </a:p>
          <a:p>
            <a:pPr marL="533400" lvl="1" indent="0">
              <a:lnSpc>
                <a:spcPct val="90000"/>
              </a:lnSpc>
              <a:buNone/>
            </a:pPr>
            <a:endParaRPr lang="en-US" sz="2400" b="1" dirty="0">
              <a:latin typeface="Arial Rounded MT Bold" pitchFamily="34" charset="0"/>
            </a:endParaRPr>
          </a:p>
        </p:txBody>
      </p:sp>
      <p:grpSp>
        <p:nvGrpSpPr>
          <p:cNvPr id="4" name="Group 3"/>
          <p:cNvGrpSpPr/>
          <p:nvPr/>
        </p:nvGrpSpPr>
        <p:grpSpPr>
          <a:xfrm>
            <a:off x="4644008" y="3284071"/>
            <a:ext cx="4353506" cy="3281300"/>
            <a:chOff x="2925334" y="1452734"/>
            <a:chExt cx="4353506" cy="3281300"/>
          </a:xfrm>
        </p:grpSpPr>
        <p:grpSp>
          <p:nvGrpSpPr>
            <p:cNvPr id="5" name="Group 4"/>
            <p:cNvGrpSpPr/>
            <p:nvPr/>
          </p:nvGrpSpPr>
          <p:grpSpPr>
            <a:xfrm>
              <a:off x="3049367" y="1452734"/>
              <a:ext cx="1663007" cy="1659396"/>
              <a:chOff x="4499991" y="908721"/>
              <a:chExt cx="1332000" cy="1332000"/>
            </a:xfrm>
          </p:grpSpPr>
          <p:sp>
            <p:nvSpPr>
              <p:cNvPr id="30" name="Oval 29"/>
              <p:cNvSpPr/>
              <p:nvPr/>
            </p:nvSpPr>
            <p:spPr>
              <a:xfrm>
                <a:off x="4499991" y="908721"/>
                <a:ext cx="1332000" cy="1332000"/>
              </a:xfrm>
              <a:prstGeom prst="ellipse">
                <a:avLst/>
              </a:prstGeom>
              <a:ln w="762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p:cNvSpPr/>
              <p:nvPr/>
            </p:nvSpPr>
            <p:spPr>
              <a:xfrm>
                <a:off x="5108578" y="1056970"/>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2" name="Oval 31"/>
              <p:cNvSpPr/>
              <p:nvPr/>
            </p:nvSpPr>
            <p:spPr>
              <a:xfrm>
                <a:off x="5286428" y="1376032"/>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3" name="Oval 32"/>
              <p:cNvSpPr/>
              <p:nvPr/>
            </p:nvSpPr>
            <p:spPr>
              <a:xfrm>
                <a:off x="4849814" y="1191325"/>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4" name="Oval 33"/>
              <p:cNvSpPr/>
              <p:nvPr/>
            </p:nvSpPr>
            <p:spPr>
              <a:xfrm>
                <a:off x="5464278" y="1585607"/>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5" name="Oval 34"/>
              <p:cNvSpPr/>
              <p:nvPr/>
            </p:nvSpPr>
            <p:spPr>
              <a:xfrm>
                <a:off x="5108578" y="1594079"/>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6" name="Oval 35"/>
              <p:cNvSpPr/>
              <p:nvPr/>
            </p:nvSpPr>
            <p:spPr>
              <a:xfrm>
                <a:off x="4746628" y="1788311"/>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7" name="Oval 36"/>
              <p:cNvSpPr/>
              <p:nvPr/>
            </p:nvSpPr>
            <p:spPr>
              <a:xfrm>
                <a:off x="5192767" y="185133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8" name="Oval 37"/>
              <p:cNvSpPr/>
              <p:nvPr/>
            </p:nvSpPr>
            <p:spPr>
              <a:xfrm>
                <a:off x="4564042" y="140124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39" name="Oval 38"/>
              <p:cNvSpPr/>
              <p:nvPr/>
            </p:nvSpPr>
            <p:spPr>
              <a:xfrm>
                <a:off x="4941917" y="1936085"/>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40" name="Oval 39"/>
              <p:cNvSpPr/>
              <p:nvPr/>
            </p:nvSpPr>
            <p:spPr>
              <a:xfrm>
                <a:off x="5464278" y="115631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41" name="Oval 40"/>
              <p:cNvSpPr/>
              <p:nvPr/>
            </p:nvSpPr>
            <p:spPr>
              <a:xfrm>
                <a:off x="4829153" y="1475376"/>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grpSp>
        <p:grpSp>
          <p:nvGrpSpPr>
            <p:cNvPr id="6" name="Group 5"/>
            <p:cNvGrpSpPr/>
            <p:nvPr/>
          </p:nvGrpSpPr>
          <p:grpSpPr>
            <a:xfrm>
              <a:off x="5615833" y="1870455"/>
              <a:ext cx="1663007" cy="1659396"/>
              <a:chOff x="4465485" y="879921"/>
              <a:chExt cx="1332002" cy="1332002"/>
            </a:xfrm>
          </p:grpSpPr>
          <p:sp>
            <p:nvSpPr>
              <p:cNvPr id="18" name="Oval 17"/>
              <p:cNvSpPr/>
              <p:nvPr/>
            </p:nvSpPr>
            <p:spPr>
              <a:xfrm>
                <a:off x="4465485" y="879921"/>
                <a:ext cx="1332002" cy="1332002"/>
              </a:xfrm>
              <a:prstGeom prst="ellipse">
                <a:avLst/>
              </a:prstGeom>
              <a:ln w="762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5108586" y="1056972"/>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0" name="Oval 19"/>
              <p:cNvSpPr/>
              <p:nvPr/>
            </p:nvSpPr>
            <p:spPr>
              <a:xfrm>
                <a:off x="5286436" y="137603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1" name="Oval 20"/>
              <p:cNvSpPr/>
              <p:nvPr/>
            </p:nvSpPr>
            <p:spPr>
              <a:xfrm>
                <a:off x="4849821" y="1191327"/>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2" name="Oval 21"/>
              <p:cNvSpPr/>
              <p:nvPr/>
            </p:nvSpPr>
            <p:spPr>
              <a:xfrm>
                <a:off x="5464285" y="1585609"/>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3" name="Oval 22"/>
              <p:cNvSpPr/>
              <p:nvPr/>
            </p:nvSpPr>
            <p:spPr>
              <a:xfrm>
                <a:off x="5108586" y="1594081"/>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4" name="Oval 23"/>
              <p:cNvSpPr/>
              <p:nvPr/>
            </p:nvSpPr>
            <p:spPr>
              <a:xfrm>
                <a:off x="4746635" y="1788314"/>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5" name="Oval 24"/>
              <p:cNvSpPr/>
              <p:nvPr/>
            </p:nvSpPr>
            <p:spPr>
              <a:xfrm>
                <a:off x="5192774" y="1851337"/>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6" name="Oval 25"/>
              <p:cNvSpPr/>
              <p:nvPr/>
            </p:nvSpPr>
            <p:spPr>
              <a:xfrm>
                <a:off x="4564049" y="1401246"/>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7" name="Oval 26"/>
              <p:cNvSpPr/>
              <p:nvPr/>
            </p:nvSpPr>
            <p:spPr>
              <a:xfrm>
                <a:off x="4941925" y="1936088"/>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8" name="Oval 27"/>
              <p:cNvSpPr/>
              <p:nvPr/>
            </p:nvSpPr>
            <p:spPr>
              <a:xfrm>
                <a:off x="5464287" y="1156316"/>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9" name="Oval 28"/>
              <p:cNvSpPr/>
              <p:nvPr/>
            </p:nvSpPr>
            <p:spPr>
              <a:xfrm>
                <a:off x="4829153" y="1475376"/>
                <a:ext cx="177850" cy="19868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grpSp>
        <p:cxnSp>
          <p:nvCxnSpPr>
            <p:cNvPr id="7" name="Straight Connector 6"/>
            <p:cNvCxnSpPr/>
            <p:nvPr/>
          </p:nvCxnSpPr>
          <p:spPr>
            <a:xfrm>
              <a:off x="2925334" y="4572527"/>
              <a:ext cx="3820567" cy="35931"/>
            </a:xfrm>
            <a:prstGeom prst="line">
              <a:avLst/>
            </a:prstGeom>
            <a:ln w="76200" cmpd="dbl">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reeform 7"/>
            <p:cNvSpPr/>
            <p:nvPr/>
          </p:nvSpPr>
          <p:spPr>
            <a:xfrm>
              <a:off x="3612306" y="2937289"/>
              <a:ext cx="384916" cy="751052"/>
            </a:xfrm>
            <a:custGeom>
              <a:avLst/>
              <a:gdLst>
                <a:gd name="connsiteX0" fmla="*/ 209592 w 308302"/>
                <a:gd name="connsiteY0" fmla="*/ 23025 h 602871"/>
                <a:gd name="connsiteX1" fmla="*/ 42 w 308302"/>
                <a:gd name="connsiteY1" fmla="*/ 289725 h 602871"/>
                <a:gd name="connsiteX2" fmla="*/ 190542 w 308302"/>
                <a:gd name="connsiteY2" fmla="*/ 423075 h 602871"/>
                <a:gd name="connsiteX3" fmla="*/ 104817 w 308302"/>
                <a:gd name="connsiteY3" fmla="*/ 594525 h 602871"/>
                <a:gd name="connsiteX4" fmla="*/ 219117 w 308302"/>
                <a:gd name="connsiteY4" fmla="*/ 556425 h 602871"/>
                <a:gd name="connsiteX5" fmla="*/ 276267 w 308302"/>
                <a:gd name="connsiteY5" fmla="*/ 384975 h 602871"/>
                <a:gd name="connsiteX6" fmla="*/ 76242 w 308302"/>
                <a:gd name="connsiteY6" fmla="*/ 280200 h 602871"/>
                <a:gd name="connsiteX7" fmla="*/ 304842 w 308302"/>
                <a:gd name="connsiteY7" fmla="*/ 42075 h 602871"/>
                <a:gd name="connsiteX8" fmla="*/ 209592 w 308302"/>
                <a:gd name="connsiteY8" fmla="*/ 23025 h 60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302" h="602871">
                  <a:moveTo>
                    <a:pt x="209592" y="23025"/>
                  </a:moveTo>
                  <a:cubicBezTo>
                    <a:pt x="158792" y="64300"/>
                    <a:pt x="3217" y="223050"/>
                    <a:pt x="42" y="289725"/>
                  </a:cubicBezTo>
                  <a:cubicBezTo>
                    <a:pt x="-3133" y="356400"/>
                    <a:pt x="173080" y="372275"/>
                    <a:pt x="190542" y="423075"/>
                  </a:cubicBezTo>
                  <a:cubicBezTo>
                    <a:pt x="208004" y="473875"/>
                    <a:pt x="100054" y="572300"/>
                    <a:pt x="104817" y="594525"/>
                  </a:cubicBezTo>
                  <a:cubicBezTo>
                    <a:pt x="109579" y="616750"/>
                    <a:pt x="190542" y="591350"/>
                    <a:pt x="219117" y="556425"/>
                  </a:cubicBezTo>
                  <a:cubicBezTo>
                    <a:pt x="247692" y="521500"/>
                    <a:pt x="300080" y="431013"/>
                    <a:pt x="276267" y="384975"/>
                  </a:cubicBezTo>
                  <a:cubicBezTo>
                    <a:pt x="252455" y="338938"/>
                    <a:pt x="71479" y="337350"/>
                    <a:pt x="76242" y="280200"/>
                  </a:cubicBezTo>
                  <a:cubicBezTo>
                    <a:pt x="81004" y="223050"/>
                    <a:pt x="285792" y="83350"/>
                    <a:pt x="304842" y="42075"/>
                  </a:cubicBezTo>
                  <a:cubicBezTo>
                    <a:pt x="323892" y="800"/>
                    <a:pt x="260392" y="-18250"/>
                    <a:pt x="209592" y="23025"/>
                  </a:cubicBezTo>
                  <a:close/>
                </a:path>
              </a:pathLst>
            </a:cu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9" name="Freeform 8"/>
            <p:cNvSpPr/>
            <p:nvPr/>
          </p:nvSpPr>
          <p:spPr>
            <a:xfrm>
              <a:off x="3215974" y="3921473"/>
              <a:ext cx="594526" cy="812561"/>
            </a:xfrm>
            <a:custGeom>
              <a:avLst/>
              <a:gdLst>
                <a:gd name="connsiteX0" fmla="*/ 79362 w 476191"/>
                <a:gd name="connsiteY0" fmla="*/ 52169 h 652244"/>
                <a:gd name="connsiteX1" fmla="*/ 155562 w 476191"/>
                <a:gd name="connsiteY1" fmla="*/ 175994 h 652244"/>
                <a:gd name="connsiteX2" fmla="*/ 393687 w 476191"/>
                <a:gd name="connsiteY2" fmla="*/ 118844 h 652244"/>
                <a:gd name="connsiteX3" fmla="*/ 469887 w 476191"/>
                <a:gd name="connsiteY3" fmla="*/ 261719 h 652244"/>
                <a:gd name="connsiteX4" fmla="*/ 250812 w 476191"/>
                <a:gd name="connsiteY4" fmla="*/ 347444 h 652244"/>
                <a:gd name="connsiteX5" fmla="*/ 231762 w 476191"/>
                <a:gd name="connsiteY5" fmla="*/ 652244 h 652244"/>
                <a:gd name="connsiteX6" fmla="*/ 155562 w 476191"/>
                <a:gd name="connsiteY6" fmla="*/ 652244 h 652244"/>
                <a:gd name="connsiteX7" fmla="*/ 165087 w 476191"/>
                <a:gd name="connsiteY7" fmla="*/ 347444 h 652244"/>
                <a:gd name="connsiteX8" fmla="*/ 355587 w 476191"/>
                <a:gd name="connsiteY8" fmla="*/ 233144 h 652244"/>
                <a:gd name="connsiteX9" fmla="*/ 355587 w 476191"/>
                <a:gd name="connsiteY9" fmla="*/ 204569 h 652244"/>
                <a:gd name="connsiteX10" fmla="*/ 155562 w 476191"/>
                <a:gd name="connsiteY10" fmla="*/ 252194 h 652244"/>
                <a:gd name="connsiteX11" fmla="*/ 31737 w 476191"/>
                <a:gd name="connsiteY11" fmla="*/ 175994 h 652244"/>
                <a:gd name="connsiteX12" fmla="*/ 3162 w 476191"/>
                <a:gd name="connsiteY12" fmla="*/ 4544 h 652244"/>
                <a:gd name="connsiteX13" fmla="*/ 79362 w 476191"/>
                <a:gd name="connsiteY13" fmla="*/ 52169 h 65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191" h="652244">
                  <a:moveTo>
                    <a:pt x="79362" y="52169"/>
                  </a:moveTo>
                  <a:cubicBezTo>
                    <a:pt x="104762" y="80744"/>
                    <a:pt x="103175" y="164882"/>
                    <a:pt x="155562" y="175994"/>
                  </a:cubicBezTo>
                  <a:cubicBezTo>
                    <a:pt x="207949" y="187106"/>
                    <a:pt x="341300" y="104557"/>
                    <a:pt x="393687" y="118844"/>
                  </a:cubicBezTo>
                  <a:cubicBezTo>
                    <a:pt x="446074" y="133131"/>
                    <a:pt x="493699" y="223619"/>
                    <a:pt x="469887" y="261719"/>
                  </a:cubicBezTo>
                  <a:cubicBezTo>
                    <a:pt x="446075" y="299819"/>
                    <a:pt x="290499" y="282357"/>
                    <a:pt x="250812" y="347444"/>
                  </a:cubicBezTo>
                  <a:cubicBezTo>
                    <a:pt x="211125" y="412531"/>
                    <a:pt x="247637" y="601444"/>
                    <a:pt x="231762" y="652244"/>
                  </a:cubicBezTo>
                  <a:cubicBezTo>
                    <a:pt x="215887" y="703044"/>
                    <a:pt x="166675" y="703044"/>
                    <a:pt x="155562" y="652244"/>
                  </a:cubicBezTo>
                  <a:cubicBezTo>
                    <a:pt x="144450" y="601444"/>
                    <a:pt x="131750" y="417294"/>
                    <a:pt x="165087" y="347444"/>
                  </a:cubicBezTo>
                  <a:cubicBezTo>
                    <a:pt x="198424" y="277594"/>
                    <a:pt x="323837" y="256956"/>
                    <a:pt x="355587" y="233144"/>
                  </a:cubicBezTo>
                  <a:cubicBezTo>
                    <a:pt x="387337" y="209332"/>
                    <a:pt x="388924" y="201394"/>
                    <a:pt x="355587" y="204569"/>
                  </a:cubicBezTo>
                  <a:cubicBezTo>
                    <a:pt x="322250" y="207744"/>
                    <a:pt x="209537" y="256957"/>
                    <a:pt x="155562" y="252194"/>
                  </a:cubicBezTo>
                  <a:cubicBezTo>
                    <a:pt x="101587" y="247431"/>
                    <a:pt x="57137" y="217269"/>
                    <a:pt x="31737" y="175994"/>
                  </a:cubicBezTo>
                  <a:cubicBezTo>
                    <a:pt x="6337" y="134719"/>
                    <a:pt x="-6363" y="22006"/>
                    <a:pt x="3162" y="4544"/>
                  </a:cubicBezTo>
                  <a:cubicBezTo>
                    <a:pt x="12687" y="-12919"/>
                    <a:pt x="53962" y="23594"/>
                    <a:pt x="79362" y="52169"/>
                  </a:cubicBezTo>
                  <a:close/>
                </a:path>
              </a:pathLst>
            </a:cu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GB"/>
            </a:p>
          </p:txBody>
        </p:sp>
        <p:sp>
          <p:nvSpPr>
            <p:cNvPr id="10" name="Freeform 9"/>
            <p:cNvSpPr/>
            <p:nvPr/>
          </p:nvSpPr>
          <p:spPr>
            <a:xfrm>
              <a:off x="3586262" y="3916693"/>
              <a:ext cx="810113" cy="546628"/>
            </a:xfrm>
            <a:custGeom>
              <a:avLst/>
              <a:gdLst>
                <a:gd name="connsiteX0" fmla="*/ 1852 w 648867"/>
                <a:gd name="connsiteY0" fmla="*/ 113156 h 438779"/>
                <a:gd name="connsiteX1" fmla="*/ 154252 w 648867"/>
                <a:gd name="connsiteY1" fmla="*/ 75056 h 438779"/>
                <a:gd name="connsiteX2" fmla="*/ 230452 w 648867"/>
                <a:gd name="connsiteY2" fmla="*/ 265556 h 438779"/>
                <a:gd name="connsiteX3" fmla="*/ 201877 w 648867"/>
                <a:gd name="connsiteY3" fmla="*/ 370331 h 438779"/>
                <a:gd name="connsiteX4" fmla="*/ 335227 w 648867"/>
                <a:gd name="connsiteY4" fmla="*/ 427481 h 438779"/>
                <a:gd name="connsiteX5" fmla="*/ 640027 w 648867"/>
                <a:gd name="connsiteY5" fmla="*/ 141731 h 438779"/>
                <a:gd name="connsiteX6" fmla="*/ 544777 w 648867"/>
                <a:gd name="connsiteY6" fmla="*/ 103631 h 438779"/>
                <a:gd name="connsiteX7" fmla="*/ 316177 w 648867"/>
                <a:gd name="connsiteY7" fmla="*/ 351281 h 438779"/>
                <a:gd name="connsiteX8" fmla="*/ 278077 w 648867"/>
                <a:gd name="connsiteY8" fmla="*/ 351281 h 438779"/>
                <a:gd name="connsiteX9" fmla="*/ 306652 w 648867"/>
                <a:gd name="connsiteY9" fmla="*/ 208406 h 438779"/>
                <a:gd name="connsiteX10" fmla="*/ 201877 w 648867"/>
                <a:gd name="connsiteY10" fmla="*/ 27431 h 438779"/>
                <a:gd name="connsiteX11" fmla="*/ 78052 w 648867"/>
                <a:gd name="connsiteY11" fmla="*/ 8381 h 438779"/>
                <a:gd name="connsiteX12" fmla="*/ 1852 w 648867"/>
                <a:gd name="connsiteY12" fmla="*/ 113156 h 438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8867" h="438779">
                  <a:moveTo>
                    <a:pt x="1852" y="113156"/>
                  </a:moveTo>
                  <a:cubicBezTo>
                    <a:pt x="14552" y="124268"/>
                    <a:pt x="116152" y="49656"/>
                    <a:pt x="154252" y="75056"/>
                  </a:cubicBezTo>
                  <a:cubicBezTo>
                    <a:pt x="192352" y="100456"/>
                    <a:pt x="222515" y="216344"/>
                    <a:pt x="230452" y="265556"/>
                  </a:cubicBezTo>
                  <a:cubicBezTo>
                    <a:pt x="238389" y="314768"/>
                    <a:pt x="184414" y="343343"/>
                    <a:pt x="201877" y="370331"/>
                  </a:cubicBezTo>
                  <a:cubicBezTo>
                    <a:pt x="219340" y="397319"/>
                    <a:pt x="262202" y="465581"/>
                    <a:pt x="335227" y="427481"/>
                  </a:cubicBezTo>
                  <a:cubicBezTo>
                    <a:pt x="408252" y="389381"/>
                    <a:pt x="605102" y="195706"/>
                    <a:pt x="640027" y="141731"/>
                  </a:cubicBezTo>
                  <a:cubicBezTo>
                    <a:pt x="674952" y="87756"/>
                    <a:pt x="598752" y="68706"/>
                    <a:pt x="544777" y="103631"/>
                  </a:cubicBezTo>
                  <a:cubicBezTo>
                    <a:pt x="490802" y="138556"/>
                    <a:pt x="360627" y="310006"/>
                    <a:pt x="316177" y="351281"/>
                  </a:cubicBezTo>
                  <a:cubicBezTo>
                    <a:pt x="271727" y="392556"/>
                    <a:pt x="279665" y="375094"/>
                    <a:pt x="278077" y="351281"/>
                  </a:cubicBezTo>
                  <a:cubicBezTo>
                    <a:pt x="276489" y="327468"/>
                    <a:pt x="319352" y="262381"/>
                    <a:pt x="306652" y="208406"/>
                  </a:cubicBezTo>
                  <a:cubicBezTo>
                    <a:pt x="293952" y="154431"/>
                    <a:pt x="239977" y="60768"/>
                    <a:pt x="201877" y="27431"/>
                  </a:cubicBezTo>
                  <a:cubicBezTo>
                    <a:pt x="163777" y="-5906"/>
                    <a:pt x="111390" y="-4319"/>
                    <a:pt x="78052" y="8381"/>
                  </a:cubicBezTo>
                  <a:cubicBezTo>
                    <a:pt x="44715" y="21081"/>
                    <a:pt x="-10848" y="102044"/>
                    <a:pt x="1852" y="113156"/>
                  </a:cubicBezTo>
                  <a:close/>
                </a:path>
              </a:pathLst>
            </a:cu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11" name="Lightning Bolt 10"/>
            <p:cNvSpPr/>
            <p:nvPr/>
          </p:nvSpPr>
          <p:spPr>
            <a:xfrm rot="20237233">
              <a:off x="3358144" y="3196428"/>
              <a:ext cx="591832" cy="242125"/>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Lightning Bolt 11"/>
            <p:cNvSpPr/>
            <p:nvPr/>
          </p:nvSpPr>
          <p:spPr>
            <a:xfrm rot="20237233">
              <a:off x="3510544" y="3348828"/>
              <a:ext cx="591832" cy="242125"/>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Lightning Bolt 12"/>
            <p:cNvSpPr/>
            <p:nvPr/>
          </p:nvSpPr>
          <p:spPr>
            <a:xfrm rot="20237233">
              <a:off x="3157403" y="4261464"/>
              <a:ext cx="591832" cy="242125"/>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Lightning Bolt 13"/>
            <p:cNvSpPr/>
            <p:nvPr/>
          </p:nvSpPr>
          <p:spPr>
            <a:xfrm rot="1547900">
              <a:off x="3919698" y="4109917"/>
              <a:ext cx="591832" cy="242125"/>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Freeform 14"/>
            <p:cNvSpPr/>
            <p:nvPr/>
          </p:nvSpPr>
          <p:spPr>
            <a:xfrm>
              <a:off x="5474758" y="2872143"/>
              <a:ext cx="384916" cy="751052"/>
            </a:xfrm>
            <a:custGeom>
              <a:avLst/>
              <a:gdLst>
                <a:gd name="connsiteX0" fmla="*/ 209592 w 308302"/>
                <a:gd name="connsiteY0" fmla="*/ 23025 h 602871"/>
                <a:gd name="connsiteX1" fmla="*/ 42 w 308302"/>
                <a:gd name="connsiteY1" fmla="*/ 289725 h 602871"/>
                <a:gd name="connsiteX2" fmla="*/ 190542 w 308302"/>
                <a:gd name="connsiteY2" fmla="*/ 423075 h 602871"/>
                <a:gd name="connsiteX3" fmla="*/ 104817 w 308302"/>
                <a:gd name="connsiteY3" fmla="*/ 594525 h 602871"/>
                <a:gd name="connsiteX4" fmla="*/ 219117 w 308302"/>
                <a:gd name="connsiteY4" fmla="*/ 556425 h 602871"/>
                <a:gd name="connsiteX5" fmla="*/ 276267 w 308302"/>
                <a:gd name="connsiteY5" fmla="*/ 384975 h 602871"/>
                <a:gd name="connsiteX6" fmla="*/ 76242 w 308302"/>
                <a:gd name="connsiteY6" fmla="*/ 280200 h 602871"/>
                <a:gd name="connsiteX7" fmla="*/ 304842 w 308302"/>
                <a:gd name="connsiteY7" fmla="*/ 42075 h 602871"/>
                <a:gd name="connsiteX8" fmla="*/ 209592 w 308302"/>
                <a:gd name="connsiteY8" fmla="*/ 23025 h 60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302" h="602871">
                  <a:moveTo>
                    <a:pt x="209592" y="23025"/>
                  </a:moveTo>
                  <a:cubicBezTo>
                    <a:pt x="158792" y="64300"/>
                    <a:pt x="3217" y="223050"/>
                    <a:pt x="42" y="289725"/>
                  </a:cubicBezTo>
                  <a:cubicBezTo>
                    <a:pt x="-3133" y="356400"/>
                    <a:pt x="173080" y="372275"/>
                    <a:pt x="190542" y="423075"/>
                  </a:cubicBezTo>
                  <a:cubicBezTo>
                    <a:pt x="208004" y="473875"/>
                    <a:pt x="100054" y="572300"/>
                    <a:pt x="104817" y="594525"/>
                  </a:cubicBezTo>
                  <a:cubicBezTo>
                    <a:pt x="109579" y="616750"/>
                    <a:pt x="190542" y="591350"/>
                    <a:pt x="219117" y="556425"/>
                  </a:cubicBezTo>
                  <a:cubicBezTo>
                    <a:pt x="247692" y="521500"/>
                    <a:pt x="300080" y="431013"/>
                    <a:pt x="276267" y="384975"/>
                  </a:cubicBezTo>
                  <a:cubicBezTo>
                    <a:pt x="252455" y="338938"/>
                    <a:pt x="71479" y="337350"/>
                    <a:pt x="76242" y="280200"/>
                  </a:cubicBezTo>
                  <a:cubicBezTo>
                    <a:pt x="81004" y="223050"/>
                    <a:pt x="285792" y="83350"/>
                    <a:pt x="304842" y="42075"/>
                  </a:cubicBezTo>
                  <a:cubicBezTo>
                    <a:pt x="323892" y="800"/>
                    <a:pt x="260392" y="-18250"/>
                    <a:pt x="209592" y="23025"/>
                  </a:cubicBezTo>
                  <a:close/>
                </a:path>
              </a:pathLst>
            </a:cu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
          <p:nvSpPr>
            <p:cNvPr id="16" name="Lightning Bolt 15"/>
            <p:cNvSpPr/>
            <p:nvPr/>
          </p:nvSpPr>
          <p:spPr>
            <a:xfrm rot="20237233">
              <a:off x="5220596" y="3131282"/>
              <a:ext cx="591832" cy="242125"/>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Lightning Bolt 16"/>
            <p:cNvSpPr/>
            <p:nvPr/>
          </p:nvSpPr>
          <p:spPr>
            <a:xfrm rot="20237233">
              <a:off x="5372996" y="3283682"/>
              <a:ext cx="591832" cy="242125"/>
            </a:xfrm>
            <a:prstGeom prst="lightningBol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Box 1"/>
          <p:cNvSpPr txBox="1"/>
          <p:nvPr/>
        </p:nvSpPr>
        <p:spPr>
          <a:xfrm>
            <a:off x="6312607" y="5610492"/>
            <a:ext cx="2736304" cy="646331"/>
          </a:xfrm>
          <a:prstGeom prst="rect">
            <a:avLst/>
          </a:prstGeom>
          <a:noFill/>
        </p:spPr>
        <p:txBody>
          <a:bodyPr wrap="square" rtlCol="0">
            <a:spAutoFit/>
          </a:bodyPr>
          <a:lstStyle/>
          <a:p>
            <a:pPr algn="ctr"/>
            <a:r>
              <a:rPr lang="en-US" b="1" dirty="0"/>
              <a:t>The effectivity of docking protein get affected</a:t>
            </a:r>
            <a:endParaRPr lang="en-GB" b="1" dirty="0"/>
          </a:p>
        </p:txBody>
      </p:sp>
      <p:sp>
        <p:nvSpPr>
          <p:cNvPr id="3" name="Rectangle 2"/>
          <p:cNvSpPr/>
          <p:nvPr/>
        </p:nvSpPr>
        <p:spPr>
          <a:xfrm>
            <a:off x="-27851" y="3854726"/>
            <a:ext cx="4782803" cy="2744982"/>
          </a:xfrm>
          <a:prstGeom prst="rect">
            <a:avLst/>
          </a:prstGeom>
        </p:spPr>
        <p:txBody>
          <a:bodyPr wrap="square">
            <a:spAutoFit/>
          </a:bodyPr>
          <a:lstStyle/>
          <a:p>
            <a:pPr>
              <a:lnSpc>
                <a:spcPct val="107000"/>
              </a:lnSpc>
              <a:spcAft>
                <a:spcPts val="800"/>
              </a:spcAft>
            </a:pPr>
            <a:r>
              <a:rPr lang="en-US" sz="2400" b="1" dirty="0">
                <a:solidFill>
                  <a:srgbClr val="FF0000"/>
                </a:solidFill>
                <a:latin typeface="Arial Rounded MT Bold" panose="020F0704030504030204" pitchFamily="34" charset="0"/>
                <a:ea typeface="Calibri" panose="020F0502020204030204" pitchFamily="34" charset="0"/>
                <a:cs typeface="Times New Roman" panose="02020603050405020304" pitchFamily="18" charset="0"/>
              </a:rPr>
              <a:t>Clinical use:</a:t>
            </a:r>
          </a:p>
          <a:p>
            <a:pPr marL="342900" indent="-342900">
              <a:lnSpc>
                <a:spcPct val="107000"/>
              </a:lnSpc>
              <a:spcAft>
                <a:spcPts val="800"/>
              </a:spcAft>
              <a:buFont typeface="Arial" panose="020B0604020202020204" pitchFamily="34" charset="0"/>
              <a:buChar char="•"/>
            </a:pPr>
            <a:r>
              <a:rPr lang="en-US" sz="2000" dirty="0">
                <a:latin typeface="Arial Rounded MT Bold" panose="020F0704030504030204" pitchFamily="34" charset="0"/>
                <a:ea typeface="Calibri" panose="020F0502020204030204" pitchFamily="34" charset="0"/>
                <a:cs typeface="Times New Roman" panose="02020603050405020304" pitchFamily="18" charset="0"/>
              </a:rPr>
              <a:t>Inhibition of overactive extra ocular muscles</a:t>
            </a:r>
          </a:p>
          <a:p>
            <a:pPr marL="342900" indent="-342900">
              <a:lnSpc>
                <a:spcPct val="107000"/>
              </a:lnSpc>
              <a:spcAft>
                <a:spcPts val="800"/>
              </a:spcAft>
              <a:buFont typeface="Arial" panose="020B0604020202020204" pitchFamily="34" charset="0"/>
              <a:buChar char="•"/>
            </a:pPr>
            <a:r>
              <a:rPr lang="en-US" sz="2000" dirty="0">
                <a:latin typeface="Arial Rounded MT Bold" panose="020F0704030504030204" pitchFamily="34" charset="0"/>
                <a:ea typeface="Calibri" panose="020F0502020204030204" pitchFamily="34" charset="0"/>
                <a:cs typeface="Times New Roman" panose="02020603050405020304" pitchFamily="18" charset="0"/>
              </a:rPr>
              <a:t>Prevent overactive of sweat gland, Treating migraine headaches </a:t>
            </a:r>
          </a:p>
          <a:p>
            <a:pPr marL="342900" indent="-342900">
              <a:lnSpc>
                <a:spcPct val="107000"/>
              </a:lnSpc>
              <a:spcAft>
                <a:spcPts val="800"/>
              </a:spcAft>
              <a:buFont typeface="Arial" panose="020B0604020202020204" pitchFamily="34" charset="0"/>
              <a:buChar char="•"/>
            </a:pPr>
            <a:r>
              <a:rPr lang="en-US" sz="2000" dirty="0">
                <a:latin typeface="Arial Rounded MT Bold" panose="020F0704030504030204" pitchFamily="34" charset="0"/>
                <a:ea typeface="Calibri" panose="020F0502020204030204" pitchFamily="34" charset="0"/>
                <a:cs typeface="Times New Roman" panose="02020603050405020304" pitchFamily="18" charset="0"/>
              </a:rPr>
              <a:t>Lessening of age- related wrinkles.</a:t>
            </a:r>
            <a:endParaRPr lang="en-MY" sz="2000" dirty="0">
              <a:latin typeface="Arial Rounded MT Bold" panose="020F07040305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13818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3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63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63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63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63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63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632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wipe(down)">
                                      <p:cBhvr>
                                        <p:cTn id="35" dur="500"/>
                                        <p:tgtEl>
                                          <p:spTgt spid="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down)">
                                      <p:cBhvr>
                                        <p:cTn id="40" dur="5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down)">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bldLvl="4" autoUpdateAnimBg="0"/>
      <p:bldP spid="2"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3"/>
          <p:cNvSpPr>
            <a:spLocks noGrp="1" noChangeArrowheads="1"/>
          </p:cNvSpPr>
          <p:nvPr>
            <p:ph type="body" idx="1"/>
          </p:nvPr>
        </p:nvSpPr>
        <p:spPr>
          <a:xfrm>
            <a:off x="323528" y="332656"/>
            <a:ext cx="4248472" cy="720080"/>
          </a:xfrm>
          <a:noFill/>
          <a:ln/>
        </p:spPr>
        <p:txBody>
          <a:bodyPr/>
          <a:lstStyle/>
          <a:p>
            <a:r>
              <a:rPr lang="en-US" sz="2800" b="1" dirty="0">
                <a:solidFill>
                  <a:schemeClr val="folHlink"/>
                </a:solidFill>
                <a:latin typeface="Arial Rounded MT Bold" pitchFamily="34" charset="0"/>
              </a:rPr>
              <a:t>Myasthenia Gravis:</a:t>
            </a:r>
          </a:p>
          <a:p>
            <a:pPr marL="819150" lvl="1"/>
            <a:endParaRPr lang="en-US" sz="2000" b="1" dirty="0">
              <a:latin typeface="Arial Rounded MT Bold" pitchFamily="34" charset="0"/>
            </a:endParaRPr>
          </a:p>
        </p:txBody>
      </p:sp>
      <p:sp>
        <p:nvSpPr>
          <p:cNvPr id="2" name="TextBox 1"/>
          <p:cNvSpPr txBox="1"/>
          <p:nvPr/>
        </p:nvSpPr>
        <p:spPr>
          <a:xfrm>
            <a:off x="251520" y="1618936"/>
            <a:ext cx="8640960" cy="5262979"/>
          </a:xfrm>
          <a:prstGeom prst="rect">
            <a:avLst/>
          </a:prstGeom>
          <a:noFill/>
        </p:spPr>
        <p:txBody>
          <a:bodyPr wrap="square" rtlCol="0">
            <a:spAutoFit/>
          </a:bodyPr>
          <a:lstStyle/>
          <a:p>
            <a:pPr marL="722313" lvl="1" indent="-452438">
              <a:buFont typeface="Wingdings" pitchFamily="2" charset="2"/>
              <a:buChar char="q"/>
            </a:pPr>
            <a:r>
              <a:rPr lang="en-US" sz="2400" b="1" dirty="0">
                <a:highlight>
                  <a:srgbClr val="FFFF00"/>
                </a:highlight>
                <a:latin typeface="Arial Rounded MT Bold" pitchFamily="34" charset="0"/>
              </a:rPr>
              <a:t>Autoimmune disorder</a:t>
            </a:r>
            <a:r>
              <a:rPr lang="en-US" sz="2400" b="1" dirty="0">
                <a:latin typeface="Arial Rounded MT Bold" pitchFamily="34" charset="0"/>
              </a:rPr>
              <a:t>, in which antibodies destroy Ach receptors</a:t>
            </a:r>
          </a:p>
          <a:p>
            <a:pPr marL="722313" lvl="1" indent="-452438">
              <a:buFont typeface="Wingdings" pitchFamily="2" charset="2"/>
              <a:buChar char="q"/>
            </a:pPr>
            <a:r>
              <a:rPr lang="en-US" sz="2400" b="1" dirty="0">
                <a:latin typeface="Arial Rounded MT Bold" pitchFamily="34" charset="0"/>
              </a:rPr>
              <a:t>Because of safety factor, transmission at NMJ does not fail </a:t>
            </a:r>
            <a:r>
              <a:rPr lang="en-US" sz="2400" b="1" dirty="0">
                <a:highlight>
                  <a:srgbClr val="FFFF00"/>
                </a:highlight>
                <a:latin typeface="Arial Rounded MT Bold" pitchFamily="34" charset="0"/>
              </a:rPr>
              <a:t>until many antibodies have accumulated</a:t>
            </a:r>
          </a:p>
          <a:p>
            <a:pPr marL="722313" lvl="1" indent="-452438">
              <a:buFont typeface="Wingdings" pitchFamily="2" charset="2"/>
              <a:buChar char="q"/>
            </a:pPr>
            <a:r>
              <a:rPr lang="en-US" sz="2400" b="1" dirty="0">
                <a:latin typeface="Arial Rounded MT Bold" pitchFamily="34" charset="0"/>
              </a:rPr>
              <a:t>EPPs not large enough to stimulate </a:t>
            </a:r>
            <a:r>
              <a:rPr lang="en-US" sz="2400" b="1" dirty="0" err="1">
                <a:latin typeface="Arial Rounded MT Bold" pitchFamily="34" charset="0"/>
              </a:rPr>
              <a:t>a.p</a:t>
            </a:r>
            <a:r>
              <a:rPr lang="en-US" sz="2400" b="1" dirty="0">
                <a:latin typeface="Arial Rounded MT Bold" pitchFamily="34" charset="0"/>
              </a:rPr>
              <a:t>. in muscle (Ineffective); </a:t>
            </a:r>
            <a:r>
              <a:rPr lang="en-US" sz="2400" b="1" dirty="0">
                <a:highlight>
                  <a:srgbClr val="FFFF00"/>
                </a:highlight>
                <a:latin typeface="Arial Rounded MT Bold" pitchFamily="34" charset="0"/>
              </a:rPr>
              <a:t>Muscle fatigue </a:t>
            </a:r>
            <a:r>
              <a:rPr lang="en-US" sz="2400" b="1" dirty="0">
                <a:latin typeface="Arial Rounded MT Bold" pitchFamily="34" charset="0"/>
              </a:rPr>
              <a:t>ensues. </a:t>
            </a:r>
          </a:p>
          <a:p>
            <a:pPr marL="722313" lvl="1" indent="-452438">
              <a:buFont typeface="Wingdings" pitchFamily="2" charset="2"/>
              <a:buChar char="q"/>
            </a:pPr>
            <a:r>
              <a:rPr lang="en-US" sz="2400" b="1" dirty="0">
                <a:latin typeface="Arial Rounded MT Bold" pitchFamily="34" charset="0"/>
              </a:rPr>
              <a:t>Chewing, talking, swallowing, facial expressions affected; Breathing could be affected too.</a:t>
            </a:r>
          </a:p>
          <a:p>
            <a:pPr marL="722313" lvl="1" indent="-452438">
              <a:buFont typeface="Wingdings" pitchFamily="2" charset="2"/>
              <a:buChar char="q"/>
            </a:pPr>
            <a:r>
              <a:rPr lang="en-US" sz="2400" b="1" dirty="0">
                <a:latin typeface="Arial Rounded MT Bold" pitchFamily="34" charset="0"/>
              </a:rPr>
              <a:t>Death may result from paralysis of respiratory muscles (extreme situations)</a:t>
            </a:r>
          </a:p>
          <a:p>
            <a:pPr marL="819150" lvl="1"/>
            <a:endParaRPr lang="en-US" sz="2400" b="1" dirty="0">
              <a:solidFill>
                <a:srgbClr val="FF0000"/>
              </a:solidFill>
              <a:latin typeface="Arial Rounded MT Bold" pitchFamily="34" charset="0"/>
            </a:endParaRPr>
          </a:p>
          <a:p>
            <a:pPr marL="819150" lvl="1"/>
            <a:r>
              <a:rPr lang="en-US" sz="2400" b="1" dirty="0">
                <a:solidFill>
                  <a:srgbClr val="FF0000"/>
                </a:solidFill>
                <a:latin typeface="Arial Rounded MT Bold" pitchFamily="34" charset="0"/>
              </a:rPr>
              <a:t>Treatment: </a:t>
            </a:r>
          </a:p>
          <a:p>
            <a:pPr lvl="2" indent="-209550"/>
            <a:r>
              <a:rPr lang="en-US" sz="2400" b="1" dirty="0">
                <a:latin typeface="Arial Rounded MT Bold" pitchFamily="34" charset="0"/>
              </a:rPr>
              <a:t>Give inhibitors of Ach-</a:t>
            </a:r>
            <a:r>
              <a:rPr lang="en-US" sz="2400" b="1" dirty="0" err="1">
                <a:latin typeface="Arial Rounded MT Bold" pitchFamily="34" charset="0"/>
              </a:rPr>
              <a:t>ase</a:t>
            </a:r>
            <a:r>
              <a:rPr lang="en-US" sz="2400" b="1" dirty="0">
                <a:latin typeface="Arial Rounded MT Bold" pitchFamily="34" charset="0"/>
              </a:rPr>
              <a:t> (e.g. neostigmine)</a:t>
            </a:r>
          </a:p>
          <a:p>
            <a:pPr lvl="2" indent="-209550"/>
            <a:r>
              <a:rPr lang="en-US" sz="2400" b="1" dirty="0">
                <a:latin typeface="Arial Rounded MT Bold" pitchFamily="34" charset="0"/>
              </a:rPr>
              <a:t>Steroids, Plasmapheresis technique</a:t>
            </a:r>
            <a:endParaRPr lang="en-GB" sz="2400" dirty="0"/>
          </a:p>
        </p:txBody>
      </p:sp>
      <p:pic>
        <p:nvPicPr>
          <p:cNvPr id="5" name="Picture 3" descr="figure-5-example-of-ptosis-adam-website"/>
          <p:cNvPicPr>
            <a:picLocks noChangeAspect="1" noChangeArrowheads="1"/>
          </p:cNvPicPr>
          <p:nvPr/>
        </p:nvPicPr>
        <p:blipFill rotWithShape="1">
          <a:blip r:embed="rId3">
            <a:extLst>
              <a:ext uri="{28A0092B-C50C-407E-A947-70E740481C1C}">
                <a14:useLocalDpi xmlns:a14="http://schemas.microsoft.com/office/drawing/2010/main" val="0"/>
              </a:ext>
            </a:extLst>
          </a:blip>
          <a:srcRect b="20689"/>
          <a:stretch/>
        </p:blipFill>
        <p:spPr bwMode="auto">
          <a:xfrm>
            <a:off x="4778896" y="-63388"/>
            <a:ext cx="4365104" cy="1656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49894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barn(inVertical)">
                                      <p:cBhvr>
                                        <p:cTn id="16" dur="500"/>
                                        <p:tgtEl>
                                          <p:spTgt spid="2">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barn(inVertical)">
                                      <p:cBhvr>
                                        <p:cTn id="21" dur="500"/>
                                        <p:tgtEl>
                                          <p:spTgt spid="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2">
                                            <p:txEl>
                                              <p:pRg st="2" end="2"/>
                                            </p:txEl>
                                          </p:spTgt>
                                        </p:tgtEl>
                                        <p:attrNameLst>
                                          <p:attrName>style.visibility</p:attrName>
                                        </p:attrNameLst>
                                      </p:cBhvr>
                                      <p:to>
                                        <p:strVal val="visible"/>
                                      </p:to>
                                    </p:set>
                                    <p:animEffect transition="in" filter="barn(inVertical)">
                                      <p:cBhvr>
                                        <p:cTn id="26" dur="500"/>
                                        <p:tgtEl>
                                          <p:spTgt spid="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barn(inVertical)">
                                      <p:cBhvr>
                                        <p:cTn id="31" dur="500"/>
                                        <p:tgtEl>
                                          <p:spTgt spid="2">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2">
                                            <p:txEl>
                                              <p:pRg st="4" end="4"/>
                                            </p:txEl>
                                          </p:spTgt>
                                        </p:tgtEl>
                                        <p:attrNameLst>
                                          <p:attrName>style.visibility</p:attrName>
                                        </p:attrNameLst>
                                      </p:cBhvr>
                                      <p:to>
                                        <p:strVal val="visible"/>
                                      </p:to>
                                    </p:set>
                                    <p:animEffect transition="in" filter="barn(inVertical)">
                                      <p:cBhvr>
                                        <p:cTn id="36" dur="500"/>
                                        <p:tgtEl>
                                          <p:spTgt spid="2">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Effect transition="in" filter="fade">
                                      <p:cBhvr>
                                        <p:cTn id="41" dur="1000"/>
                                        <p:tgtEl>
                                          <p:spTgt spid="2">
                                            <p:txEl>
                                              <p:pRg st="6" end="6"/>
                                            </p:txEl>
                                          </p:spTgt>
                                        </p:tgtEl>
                                      </p:cBhvr>
                                    </p:animEffect>
                                    <p:anim calcmode="lin" valueType="num">
                                      <p:cBhvr>
                                        <p:cTn id="4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
                                            <p:txEl>
                                              <p:pRg st="7" end="7"/>
                                            </p:txEl>
                                          </p:spTgt>
                                        </p:tgtEl>
                                        <p:attrNameLst>
                                          <p:attrName>style.visibility</p:attrName>
                                        </p:attrNameLst>
                                      </p:cBhvr>
                                      <p:to>
                                        <p:strVal val="visible"/>
                                      </p:to>
                                    </p:set>
                                    <p:animEffect transition="in" filter="fade">
                                      <p:cBhvr>
                                        <p:cTn id="46" dur="1000"/>
                                        <p:tgtEl>
                                          <p:spTgt spid="2">
                                            <p:txEl>
                                              <p:pRg st="7" end="7"/>
                                            </p:txEl>
                                          </p:spTgt>
                                        </p:tgtEl>
                                      </p:cBhvr>
                                    </p:animEffect>
                                    <p:anim calcmode="lin" valueType="num">
                                      <p:cBhvr>
                                        <p:cTn id="4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
                                            <p:txEl>
                                              <p:pRg st="8" end="8"/>
                                            </p:txEl>
                                          </p:spTgt>
                                        </p:tgtEl>
                                        <p:attrNameLst>
                                          <p:attrName>style.visibility</p:attrName>
                                        </p:attrNameLst>
                                      </p:cBhvr>
                                      <p:to>
                                        <p:strVal val="visible"/>
                                      </p:to>
                                    </p:set>
                                    <p:animEffect transition="in" filter="fade">
                                      <p:cBhvr>
                                        <p:cTn id="51" dur="1000"/>
                                        <p:tgtEl>
                                          <p:spTgt spid="2">
                                            <p:txEl>
                                              <p:pRg st="8" end="8"/>
                                            </p:txEl>
                                          </p:spTgt>
                                        </p:tgtEl>
                                      </p:cBhvr>
                                    </p:animEffect>
                                    <p:anim calcmode="lin" valueType="num">
                                      <p:cBhvr>
                                        <p:cTn id="5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bldLvl="4"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6652" y="118027"/>
            <a:ext cx="8350696" cy="1009650"/>
          </a:xfrm>
        </p:spPr>
        <p:txBody>
          <a:bodyPr rtlCol="0">
            <a:noAutofit/>
          </a:bodyPr>
          <a:lstStyle/>
          <a:p>
            <a:pPr algn="l" eaLnBrk="1" fontAlgn="auto" hangingPunct="1">
              <a:spcAft>
                <a:spcPts val="0"/>
              </a:spcAft>
              <a:defRPr/>
            </a:pPr>
            <a:r>
              <a:rPr lang="en-GB" altLang="en-US" sz="3200" b="1" dirty="0">
                <a:latin typeface="+mn-lt"/>
                <a:ea typeface="+mj-ea"/>
              </a:rPr>
              <a:t>Muscle firing and Tension in response to nerve stimulation</a:t>
            </a:r>
          </a:p>
        </p:txBody>
      </p:sp>
      <p:grpSp>
        <p:nvGrpSpPr>
          <p:cNvPr id="46083" name="Group 14"/>
          <p:cNvGrpSpPr>
            <a:grpSpLocks/>
          </p:cNvGrpSpPr>
          <p:nvPr/>
        </p:nvGrpSpPr>
        <p:grpSpPr bwMode="auto">
          <a:xfrm>
            <a:off x="468313" y="1196975"/>
            <a:ext cx="7056437" cy="5516563"/>
            <a:chOff x="-214" y="754"/>
            <a:chExt cx="4445" cy="3475"/>
          </a:xfrm>
        </p:grpSpPr>
        <p:pic>
          <p:nvPicPr>
            <p:cNvPr id="46085" name="Picture 5" descr="AChE bl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 y="754"/>
              <a:ext cx="1626" cy="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Text Box 6"/>
            <p:cNvSpPr txBox="1">
              <a:spLocks noChangeArrowheads="1"/>
            </p:cNvSpPr>
            <p:nvPr/>
          </p:nvSpPr>
          <p:spPr bwMode="auto">
            <a:xfrm>
              <a:off x="-214" y="992"/>
              <a:ext cx="7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spcBef>
                  <a:spcPct val="0"/>
                </a:spcBef>
                <a:buFontTx/>
                <a:buNone/>
                <a:defRPr/>
              </a:pPr>
              <a:r>
                <a:rPr lang="en-GB" b="1" u="sng" dirty="0">
                  <a:solidFill>
                    <a:prstClr val="black"/>
                  </a:solidFill>
                  <a:latin typeface="Arial" charset="0"/>
                </a:rPr>
                <a:t>Normal</a:t>
              </a:r>
            </a:p>
          </p:txBody>
        </p:sp>
        <p:sp>
          <p:nvSpPr>
            <p:cNvPr id="25608" name="Text Box 7"/>
            <p:cNvSpPr txBox="1">
              <a:spLocks noChangeArrowheads="1"/>
            </p:cNvSpPr>
            <p:nvPr/>
          </p:nvSpPr>
          <p:spPr bwMode="auto">
            <a:xfrm>
              <a:off x="919" y="962"/>
              <a:ext cx="120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lgn="ctr">
                <a:spcBef>
                  <a:spcPct val="0"/>
                </a:spcBef>
                <a:buFontTx/>
                <a:buNone/>
                <a:defRPr/>
              </a:pPr>
              <a:r>
                <a:rPr lang="en-GB" dirty="0">
                  <a:solidFill>
                    <a:prstClr val="black"/>
                  </a:solidFill>
                  <a:latin typeface="Arial" charset="0"/>
                </a:rPr>
                <a:t>Muscle firing</a:t>
              </a:r>
            </a:p>
          </p:txBody>
        </p:sp>
        <p:sp>
          <p:nvSpPr>
            <p:cNvPr id="25609" name="Text Box 8"/>
            <p:cNvSpPr txBox="1">
              <a:spLocks noChangeArrowheads="1"/>
            </p:cNvSpPr>
            <p:nvPr/>
          </p:nvSpPr>
          <p:spPr bwMode="auto">
            <a:xfrm>
              <a:off x="1247" y="1328"/>
              <a:ext cx="8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spcBef>
                  <a:spcPct val="0"/>
                </a:spcBef>
                <a:buFontTx/>
                <a:buNone/>
                <a:defRPr/>
              </a:pPr>
              <a:r>
                <a:rPr lang="en-GB">
                  <a:solidFill>
                    <a:prstClr val="black"/>
                  </a:solidFill>
                  <a:latin typeface="Arial" charset="0"/>
                </a:rPr>
                <a:t>Tension</a:t>
              </a:r>
            </a:p>
          </p:txBody>
        </p:sp>
        <p:sp>
          <p:nvSpPr>
            <p:cNvPr id="25610" name="Text Box 9"/>
            <p:cNvSpPr txBox="1">
              <a:spLocks noChangeArrowheads="1"/>
            </p:cNvSpPr>
            <p:nvPr/>
          </p:nvSpPr>
          <p:spPr bwMode="auto">
            <a:xfrm>
              <a:off x="-214" y="2943"/>
              <a:ext cx="1172"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spcBef>
                  <a:spcPct val="0"/>
                </a:spcBef>
                <a:buFontTx/>
                <a:buNone/>
                <a:defRPr/>
              </a:pPr>
              <a:r>
                <a:rPr lang="en-GB" b="1" u="sng" dirty="0">
                  <a:solidFill>
                    <a:prstClr val="black"/>
                  </a:solidFill>
                  <a:latin typeface="Arial" charset="0"/>
                </a:rPr>
                <a:t>Myasthenia</a:t>
              </a:r>
            </a:p>
            <a:p>
              <a:pPr>
                <a:spcBef>
                  <a:spcPct val="0"/>
                </a:spcBef>
                <a:buFontTx/>
                <a:buNone/>
                <a:defRPr/>
              </a:pPr>
              <a:r>
                <a:rPr lang="en-GB" b="1" u="sng" dirty="0">
                  <a:solidFill>
                    <a:prstClr val="black"/>
                  </a:solidFill>
                  <a:latin typeface="Arial" charset="0"/>
                </a:rPr>
                <a:t>gravis</a:t>
              </a:r>
            </a:p>
          </p:txBody>
        </p:sp>
        <p:sp>
          <p:nvSpPr>
            <p:cNvPr id="25611" name="Text Box 10"/>
            <p:cNvSpPr txBox="1">
              <a:spLocks noChangeArrowheads="1"/>
            </p:cNvSpPr>
            <p:nvPr/>
          </p:nvSpPr>
          <p:spPr bwMode="auto">
            <a:xfrm>
              <a:off x="1058" y="2387"/>
              <a:ext cx="9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spcBef>
                  <a:spcPct val="0"/>
                </a:spcBef>
                <a:buFontTx/>
                <a:buNone/>
                <a:defRPr/>
              </a:pPr>
              <a:r>
                <a:rPr lang="en-GB">
                  <a:solidFill>
                    <a:prstClr val="black"/>
                  </a:solidFill>
                  <a:latin typeface="Arial" charset="0"/>
                </a:rPr>
                <a:t>Untreated</a:t>
              </a:r>
            </a:p>
          </p:txBody>
        </p:sp>
        <p:sp>
          <p:nvSpPr>
            <p:cNvPr id="25612" name="Text Box 11"/>
            <p:cNvSpPr txBox="1">
              <a:spLocks noChangeArrowheads="1"/>
            </p:cNvSpPr>
            <p:nvPr/>
          </p:nvSpPr>
          <p:spPr bwMode="auto">
            <a:xfrm>
              <a:off x="839" y="3430"/>
              <a:ext cx="1281"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lgn="ctr">
                <a:spcBef>
                  <a:spcPct val="0"/>
                </a:spcBef>
                <a:buFontTx/>
                <a:buNone/>
                <a:defRPr/>
              </a:pPr>
              <a:r>
                <a:rPr lang="en-GB">
                  <a:solidFill>
                    <a:prstClr val="black"/>
                  </a:solidFill>
                  <a:latin typeface="Arial" charset="0"/>
                </a:rPr>
                <a:t>Treated</a:t>
              </a:r>
            </a:p>
            <a:p>
              <a:pPr algn="ctr">
                <a:spcBef>
                  <a:spcPct val="0"/>
                </a:spcBef>
                <a:buFontTx/>
                <a:buNone/>
                <a:defRPr/>
              </a:pPr>
              <a:r>
                <a:rPr lang="en-GB">
                  <a:solidFill>
                    <a:prstClr val="black"/>
                  </a:solidFill>
                  <a:latin typeface="Arial" charset="0"/>
                </a:rPr>
                <a:t>(neostigmine)</a:t>
              </a:r>
            </a:p>
          </p:txBody>
        </p:sp>
        <p:sp>
          <p:nvSpPr>
            <p:cNvPr id="25613" name="Text Box 12"/>
            <p:cNvSpPr txBox="1">
              <a:spLocks noChangeArrowheads="1"/>
            </p:cNvSpPr>
            <p:nvPr/>
          </p:nvSpPr>
          <p:spPr bwMode="auto">
            <a:xfrm>
              <a:off x="3560" y="829"/>
              <a:ext cx="67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spcBef>
                  <a:spcPct val="0"/>
                </a:spcBef>
                <a:buFontTx/>
                <a:buNone/>
                <a:defRPr/>
              </a:pPr>
              <a:r>
                <a:rPr lang="en-GB">
                  <a:solidFill>
                    <a:prstClr val="black"/>
                  </a:solidFill>
                  <a:latin typeface="Arial" charset="0"/>
                </a:rPr>
                <a:t>10 mV</a:t>
              </a:r>
            </a:p>
          </p:txBody>
        </p:sp>
        <p:sp>
          <p:nvSpPr>
            <p:cNvPr id="25614" name="Text Box 13"/>
            <p:cNvSpPr txBox="1">
              <a:spLocks noChangeArrowheads="1"/>
            </p:cNvSpPr>
            <p:nvPr/>
          </p:nvSpPr>
          <p:spPr bwMode="auto">
            <a:xfrm>
              <a:off x="3560" y="1344"/>
              <a:ext cx="5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2400">
                  <a:solidFill>
                    <a:schemeClr val="tx1"/>
                  </a:solidFill>
                  <a:latin typeface="Calibri" charset="0"/>
                  <a:ea typeface="ＭＳ Ｐゴシック" charset="0"/>
                </a:defRPr>
              </a:lvl1pPr>
              <a:lvl2pPr>
                <a:defRPr sz="2000">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sz="1600">
                  <a:solidFill>
                    <a:schemeClr val="tx1"/>
                  </a:solidFill>
                  <a:latin typeface="Calibri" charset="0"/>
                  <a:ea typeface="ＭＳ Ｐゴシック" charset="0"/>
                </a:defRPr>
              </a:lvl4pPr>
              <a:lvl5pPr>
                <a:defRPr sz="1600">
                  <a:solidFill>
                    <a:schemeClr val="tx1"/>
                  </a:solidFill>
                  <a:latin typeface="Calibri" charset="0"/>
                  <a:ea typeface="ＭＳ Ｐゴシック" charset="0"/>
                </a:defRPr>
              </a:lvl5pPr>
              <a:lvl6pPr fontAlgn="base">
                <a:spcAft>
                  <a:spcPct val="0"/>
                </a:spcAft>
                <a:buFont typeface="Arial" charset="0"/>
                <a:buChar char="»"/>
                <a:defRPr sz="1600">
                  <a:solidFill>
                    <a:schemeClr val="tx1"/>
                  </a:solidFill>
                  <a:latin typeface="Calibri" charset="0"/>
                  <a:ea typeface="ＭＳ Ｐゴシック" charset="0"/>
                </a:defRPr>
              </a:lvl6pPr>
              <a:lvl7pPr fontAlgn="base">
                <a:spcAft>
                  <a:spcPct val="0"/>
                </a:spcAft>
                <a:buFont typeface="Arial" charset="0"/>
                <a:buChar char="»"/>
                <a:defRPr sz="1600">
                  <a:solidFill>
                    <a:schemeClr val="tx1"/>
                  </a:solidFill>
                  <a:latin typeface="Calibri" charset="0"/>
                  <a:ea typeface="ＭＳ Ｐゴシック" charset="0"/>
                </a:defRPr>
              </a:lvl7pPr>
              <a:lvl8pPr fontAlgn="base">
                <a:spcAft>
                  <a:spcPct val="0"/>
                </a:spcAft>
                <a:buFont typeface="Arial" charset="0"/>
                <a:buChar char="»"/>
                <a:defRPr sz="1600">
                  <a:solidFill>
                    <a:schemeClr val="tx1"/>
                  </a:solidFill>
                  <a:latin typeface="Calibri" charset="0"/>
                  <a:ea typeface="ＭＳ Ｐゴシック" charset="0"/>
                </a:defRPr>
              </a:lvl8pPr>
              <a:lvl9pPr fontAlgn="base">
                <a:spcAft>
                  <a:spcPct val="0"/>
                </a:spcAft>
                <a:buFont typeface="Arial" charset="0"/>
                <a:buChar char="»"/>
                <a:defRPr sz="1600">
                  <a:solidFill>
                    <a:schemeClr val="tx1"/>
                  </a:solidFill>
                  <a:latin typeface="Calibri" charset="0"/>
                  <a:ea typeface="ＭＳ Ｐゴシック" charset="0"/>
                </a:defRPr>
              </a:lvl9pPr>
            </a:lstStyle>
            <a:p>
              <a:pPr>
                <a:spcBef>
                  <a:spcPct val="0"/>
                </a:spcBef>
                <a:buFontTx/>
                <a:buNone/>
                <a:defRPr/>
              </a:pPr>
              <a:r>
                <a:rPr lang="en-GB">
                  <a:solidFill>
                    <a:prstClr val="black"/>
                  </a:solidFill>
                  <a:latin typeface="Arial" charset="0"/>
                </a:rPr>
                <a:t>10 kg</a:t>
              </a:r>
            </a:p>
          </p:txBody>
        </p:sp>
      </p:grpSp>
      <p:sp>
        <p:nvSpPr>
          <p:cNvPr id="25604" name="Line 16"/>
          <p:cNvSpPr>
            <a:spLocks noChangeShapeType="1"/>
          </p:cNvSpPr>
          <p:nvPr/>
        </p:nvSpPr>
        <p:spPr bwMode="auto">
          <a:xfrm>
            <a:off x="2195513" y="2997200"/>
            <a:ext cx="4608512"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0"/>
              </a:spcBef>
              <a:buFontTx/>
              <a:buNone/>
              <a:defRPr/>
            </a:pPr>
            <a:endParaRPr lang="en-US" sz="2800">
              <a:solidFill>
                <a:prstClr val="black"/>
              </a:solidFill>
              <a:latin typeface="Arial" charset="0"/>
              <a:ea typeface="ＭＳ Ｐゴシック" charset="0"/>
            </a:endParaRPr>
          </a:p>
        </p:txBody>
      </p:sp>
      <p:sp>
        <p:nvSpPr>
          <p:cNvPr id="3" name="Rectangle 2">
            <a:extLst>
              <a:ext uri="{FF2B5EF4-FFF2-40B4-BE49-F238E27FC236}">
                <a16:creationId xmlns:a16="http://schemas.microsoft.com/office/drawing/2014/main" id="{0B0D5351-75EC-700C-C7BE-8F485415D8C2}"/>
              </a:ext>
            </a:extLst>
          </p:cNvPr>
          <p:cNvSpPr/>
          <p:nvPr/>
        </p:nvSpPr>
        <p:spPr>
          <a:xfrm>
            <a:off x="2139950" y="5207002"/>
            <a:ext cx="5767387" cy="15827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F39B4AD5-B8A7-AE4D-A370-18788DF9E81F}"/>
              </a:ext>
            </a:extLst>
          </p:cNvPr>
          <p:cNvGrpSpPr/>
          <p:nvPr/>
        </p:nvGrpSpPr>
        <p:grpSpPr>
          <a:xfrm>
            <a:off x="28576" y="3286126"/>
            <a:ext cx="8067674" cy="2216149"/>
            <a:chOff x="28576" y="3286126"/>
            <a:chExt cx="8067674" cy="2216149"/>
          </a:xfrm>
        </p:grpSpPr>
        <p:sp>
          <p:nvSpPr>
            <p:cNvPr id="2" name="Rectangle 1">
              <a:extLst>
                <a:ext uri="{FF2B5EF4-FFF2-40B4-BE49-F238E27FC236}">
                  <a16:creationId xmlns:a16="http://schemas.microsoft.com/office/drawing/2014/main" id="{299E6DD7-DABC-34C5-F69D-94DC097BFBEB}"/>
                </a:ext>
              </a:extLst>
            </p:cNvPr>
            <p:cNvSpPr/>
            <p:nvPr/>
          </p:nvSpPr>
          <p:spPr>
            <a:xfrm>
              <a:off x="2328863" y="3286126"/>
              <a:ext cx="5767387" cy="15827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7020B846-4DA8-791C-C37F-1D9DEDBA407A}"/>
                </a:ext>
              </a:extLst>
            </p:cNvPr>
            <p:cNvSpPr/>
            <p:nvPr/>
          </p:nvSpPr>
          <p:spPr>
            <a:xfrm>
              <a:off x="28576" y="3578226"/>
              <a:ext cx="2290762" cy="19240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50306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7889875" cy="571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Box 5"/>
          <p:cNvSpPr txBox="1">
            <a:spLocks noChangeArrowheads="1"/>
          </p:cNvSpPr>
          <p:nvPr/>
        </p:nvSpPr>
        <p:spPr bwMode="auto">
          <a:xfrm>
            <a:off x="685800" y="203200"/>
            <a:ext cx="80772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3600" b="1" dirty="0">
                <a:latin typeface="Baskerville Old Face" pitchFamily="18" charset="0"/>
              </a:rPr>
              <a:t>Events in N-M Transmission: </a:t>
            </a:r>
            <a:r>
              <a:rPr lang="en-US" sz="3600" b="1" dirty="0">
                <a:highlight>
                  <a:srgbClr val="FFFF00"/>
                </a:highlight>
                <a:latin typeface="Baskerville Old Face" pitchFamily="18" charset="0"/>
              </a:rPr>
              <a:t>A Summary</a:t>
            </a:r>
          </a:p>
        </p:txBody>
      </p:sp>
    </p:spTree>
    <p:extLst>
      <p:ext uri="{BB962C8B-B14F-4D97-AF65-F5344CB8AC3E}">
        <p14:creationId xmlns:p14="http://schemas.microsoft.com/office/powerpoint/2010/main" val="1091882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188103-F400-7E9B-0D87-3C6DF7A83906}"/>
              </a:ext>
            </a:extLst>
          </p:cNvPr>
          <p:cNvSpPr txBox="1"/>
          <p:nvPr/>
        </p:nvSpPr>
        <p:spPr>
          <a:xfrm>
            <a:off x="2339752" y="25524"/>
            <a:ext cx="4140460" cy="523220"/>
          </a:xfrm>
          <a:prstGeom prst="rect">
            <a:avLst/>
          </a:prstGeom>
          <a:noFill/>
        </p:spPr>
        <p:txBody>
          <a:bodyPr wrap="square" rtlCol="0">
            <a:spAutoFit/>
          </a:bodyPr>
          <a:lstStyle/>
          <a:p>
            <a:r>
              <a:rPr lang="en-GB" sz="2800" b="1" dirty="0">
                <a:solidFill>
                  <a:srgbClr val="0070C0"/>
                </a:solidFill>
              </a:rPr>
              <a:t>Important Terminologies :</a:t>
            </a:r>
          </a:p>
        </p:txBody>
      </p:sp>
      <p:graphicFrame>
        <p:nvGraphicFramePr>
          <p:cNvPr id="7" name="Table 6">
            <a:extLst>
              <a:ext uri="{FF2B5EF4-FFF2-40B4-BE49-F238E27FC236}">
                <a16:creationId xmlns:a16="http://schemas.microsoft.com/office/drawing/2014/main" id="{21D29B05-FFA8-1A93-91DB-3D16A0D1C9C4}"/>
              </a:ext>
            </a:extLst>
          </p:cNvPr>
          <p:cNvGraphicFramePr>
            <a:graphicFrameLocks noGrp="1"/>
          </p:cNvGraphicFramePr>
          <p:nvPr>
            <p:extLst>
              <p:ext uri="{D42A27DB-BD31-4B8C-83A1-F6EECF244321}">
                <p14:modId xmlns:p14="http://schemas.microsoft.com/office/powerpoint/2010/main" val="3641638193"/>
              </p:ext>
            </p:extLst>
          </p:nvPr>
        </p:nvGraphicFramePr>
        <p:xfrm>
          <a:off x="143508" y="620688"/>
          <a:ext cx="8856984" cy="5852160"/>
        </p:xfrm>
        <a:graphic>
          <a:graphicData uri="http://schemas.openxmlformats.org/drawingml/2006/table">
            <a:tbl>
              <a:tblPr/>
              <a:tblGrid>
                <a:gridCol w="8856984">
                  <a:extLst>
                    <a:ext uri="{9D8B030D-6E8A-4147-A177-3AD203B41FA5}">
                      <a16:colId xmlns:a16="http://schemas.microsoft.com/office/drawing/2014/main" val="2475269276"/>
                    </a:ext>
                  </a:extLst>
                </a:gridCol>
              </a:tblGrid>
              <a:tr h="0">
                <a:tc>
                  <a:txBody>
                    <a:bodyPr/>
                    <a:lstStyle/>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Neuromuscular junction (NMJ): </a:t>
                      </a:r>
                      <a:r>
                        <a:rPr lang="en-GB" sz="1800" b="0" dirty="0"/>
                        <a:t>A specialised synapse where a motor neuron communicates with a skeletal muscle fibre. It has a presynaptic nerve terminal, synaptic cleft and postsynaptic muscle membrane.</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Motor unit: </a:t>
                      </a:r>
                      <a:r>
                        <a:rPr lang="en-GB" sz="1800" b="0" dirty="0"/>
                        <a:t>A single motor neuron and all the muscle fibres it innervates. Small motor units allow precise movements, while larger motor units are associated with stronger, less precise movements.</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Synaptic cleft: </a:t>
                      </a:r>
                      <a:r>
                        <a:rPr lang="en-GB" sz="1800" b="0" dirty="0"/>
                        <a:t>The small gap between the motor neuron terminal and the muscle membrane. Acetylcholine (</a:t>
                      </a:r>
                      <a:r>
                        <a:rPr lang="en-GB" sz="1800" b="0" dirty="0" err="1"/>
                        <a:t>ACh</a:t>
                      </a:r>
                      <a:r>
                        <a:rPr lang="en-GB" sz="1800" b="0" dirty="0"/>
                        <a:t>) is released into this space and diffuses across it.</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Acetylcholine (</a:t>
                      </a:r>
                      <a:r>
                        <a:rPr lang="en-GB" sz="1800" b="1" dirty="0" err="1"/>
                        <a:t>ACh</a:t>
                      </a:r>
                      <a:r>
                        <a:rPr lang="en-GB" sz="1800" b="1" dirty="0"/>
                        <a:t>)</a:t>
                      </a:r>
                      <a:r>
                        <a:rPr lang="en-GB" sz="1800" b="0" dirty="0"/>
                        <a:t>: The neurotransmitter released by the motor neuron at the NMJ. It binds to receptors on the muscle membrane and initiates the electrical response.</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Nicotinic </a:t>
                      </a:r>
                      <a:r>
                        <a:rPr lang="en-GB" sz="1800" b="1" dirty="0" err="1"/>
                        <a:t>ACh</a:t>
                      </a:r>
                      <a:r>
                        <a:rPr lang="en-GB" sz="1800" b="1" dirty="0"/>
                        <a:t> receptor</a:t>
                      </a:r>
                      <a:r>
                        <a:rPr lang="en-GB" sz="1800" b="0" dirty="0"/>
                        <a:t>: A ligand-gated ion channel on the postsynaptic muscle membrane. Binding of </a:t>
                      </a:r>
                      <a:r>
                        <a:rPr lang="en-GB" sz="1800" b="0" dirty="0" err="1"/>
                        <a:t>ACh</a:t>
                      </a:r>
                      <a:r>
                        <a:rPr lang="en-GB" sz="1800" b="0" dirty="0"/>
                        <a:t> opens the channel, allowing mainly Na⁺ to enter and producing depolarisation.</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End-plate potential (EPP): </a:t>
                      </a:r>
                      <a:r>
                        <a:rPr lang="en-GB" sz="1800" b="0" dirty="0"/>
                        <a:t>The depolarisation of the muscle membrane at the motor end plate produced when </a:t>
                      </a:r>
                      <a:r>
                        <a:rPr lang="en-GB" sz="1800" b="0" dirty="0" err="1"/>
                        <a:t>ACh</a:t>
                      </a:r>
                      <a:r>
                        <a:rPr lang="en-GB" sz="1800" b="0" dirty="0"/>
                        <a:t> activates its receptors. The EPP then triggers an action potential in the nearby muscle membrane. </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Miniature end-plate potential (</a:t>
                      </a:r>
                      <a:r>
                        <a:rPr lang="en-GB" sz="1800" b="1" dirty="0" err="1"/>
                        <a:t>mEPP</a:t>
                      </a:r>
                      <a:r>
                        <a:rPr lang="en-GB" sz="1800" b="1" dirty="0"/>
                        <a:t>)</a:t>
                      </a:r>
                      <a:r>
                        <a:rPr lang="en-GB" sz="1800" b="0" dirty="0"/>
                        <a:t>: A very small, spontaneous depolarisation of the muscle end plate produced by the release of </a:t>
                      </a:r>
                      <a:r>
                        <a:rPr lang="en-GB" sz="1800" b="0" dirty="0" err="1"/>
                        <a:t>ACh</a:t>
                      </a:r>
                      <a:r>
                        <a:rPr lang="en-GB" sz="1800" b="0" dirty="0"/>
                        <a:t> from a single synaptic vesicle. </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lang="en-GB" sz="1800" b="1" dirty="0"/>
                        <a:t>Quantal transmission: </a:t>
                      </a:r>
                      <a:r>
                        <a:rPr lang="en-GB" sz="1800" b="0" dirty="0"/>
                        <a:t>Neurotransmitter is released in discrete packets (quanta). At the NMJ, one quantum corresponds approximately to the contents of one </a:t>
                      </a:r>
                      <a:r>
                        <a:rPr lang="en-GB" sz="1800" b="0" dirty="0" err="1"/>
                        <a:t>ACh</a:t>
                      </a:r>
                      <a:r>
                        <a:rPr lang="en-GB" sz="1800" b="0" dirty="0"/>
                        <a:t>-containing vesicle.</a:t>
                      </a:r>
                    </a:p>
                  </a:txBody>
                  <a:tcPr anchor="ctr">
                    <a:lnL>
                      <a:noFill/>
                    </a:lnL>
                    <a:lnR>
                      <a:noFill/>
                    </a:lnR>
                    <a:lnT>
                      <a:noFill/>
                    </a:lnT>
                    <a:lnB>
                      <a:noFill/>
                    </a:lnB>
                    <a:noFill/>
                  </a:tcPr>
                </a:tc>
                <a:extLst>
                  <a:ext uri="{0D108BD9-81ED-4DB2-BD59-A6C34878D82A}">
                    <a16:rowId xmlns:a16="http://schemas.microsoft.com/office/drawing/2014/main" val="3591990177"/>
                  </a:ext>
                </a:extLst>
              </a:tr>
            </a:tbl>
          </a:graphicData>
        </a:graphic>
      </p:graphicFrame>
    </p:spTree>
    <p:extLst>
      <p:ext uri="{BB962C8B-B14F-4D97-AF65-F5344CB8AC3E}">
        <p14:creationId xmlns:p14="http://schemas.microsoft.com/office/powerpoint/2010/main" val="15877259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5432C-6EE4-3A48-B260-083AF2E7E36A}"/>
              </a:ext>
              <a:ext uri="{C183D7F6-B498-43B3-948B-1728B52AA6E4}">
                <adec:decorative xmlns:adec="http://schemas.microsoft.com/office/drawing/2017/decorative" val="1"/>
              </a:ext>
            </a:extLst>
          </p:cNvPr>
          <p:cNvSpPr>
            <a:spLocks noGrp="1"/>
          </p:cNvSpPr>
          <p:nvPr>
            <p:ph type="title"/>
            <p:custDataLst>
              <p:tags r:id="rId2"/>
            </p:custDataLst>
          </p:nvPr>
        </p:nvSpPr>
        <p:spPr/>
        <p:txBody>
          <a:bodyPr/>
          <a:lstStyle/>
          <a:p>
            <a:r>
              <a:rPr lang="en-FI"/>
              <a:t>Join the Vevox session </a:t>
            </a:r>
          </a:p>
        </p:txBody>
      </p:sp>
      <p:sp>
        <p:nvSpPr>
          <p:cNvPr id="3" name="Content Placeholder 2">
            <a:extLst>
              <a:ext uri="{FF2B5EF4-FFF2-40B4-BE49-F238E27FC236}">
                <a16:creationId xmlns:a16="http://schemas.microsoft.com/office/drawing/2014/main" id="{69BB87DD-025D-AE43-4A03-910135B61E5D}"/>
              </a:ext>
              <a:ext uri="{C183D7F6-B498-43B3-948B-1728B52AA6E4}">
                <adec:decorative xmlns:adec="http://schemas.microsoft.com/office/drawing/2017/decorative" val="1"/>
              </a:ext>
            </a:extLst>
          </p:cNvPr>
          <p:cNvSpPr>
            <a:spLocks noGrp="1"/>
          </p:cNvSpPr>
          <p:nvPr>
            <p:ph sz="quarter" idx="13"/>
            <p:custDataLst>
              <p:tags r:id="rId3"/>
            </p:custDataLst>
          </p:nvPr>
        </p:nvSpPr>
        <p:spPr/>
        <p:txBody>
          <a:bodyPr/>
          <a:lstStyle/>
          <a:p>
            <a:pPr marL="0" indent="0">
              <a:buNone/>
            </a:pPr>
            <a:r>
              <a:rPr lang="en-FI"/>
              <a:t> </a:t>
            </a:r>
            <a:endParaRPr lang="en-FI" dirty="0"/>
          </a:p>
        </p:txBody>
      </p:sp>
      <p:sp>
        <p:nvSpPr>
          <p:cNvPr id="4" name="TextBox 3">
            <a:extLst>
              <a:ext uri="{FF2B5EF4-FFF2-40B4-BE49-F238E27FC236}">
                <a16:creationId xmlns:a16="http://schemas.microsoft.com/office/drawing/2014/main" id="{59D1305D-4964-40D0-BDA2-8379FFAFCFF9}"/>
              </a:ext>
            </a:extLst>
          </p:cNvPr>
          <p:cNvSpPr txBox="1"/>
          <p:nvPr>
            <p:custDataLst>
              <p:tags r:id="rId4"/>
            </p:custDataLst>
          </p:nvPr>
        </p:nvSpPr>
        <p:spPr>
          <a:xfrm>
            <a:off x="628650" y="1798320"/>
            <a:ext cx="4711700" cy="4429760"/>
          </a:xfrm>
          <a:prstGeom prst="rect">
            <a:avLst/>
          </a:prstGeom>
          <a:noFill/>
        </p:spPr>
        <p:txBody>
          <a:bodyPr vertOverflow="overflow" vert="horz" wrap="square" rtlCol="0" anchor="t">
            <a:spAutoFit/>
          </a:bodyPr>
          <a:lstStyle/>
          <a:p>
            <a:pPr algn="l"/>
            <a:r>
              <a:rPr lang="en-GB" sz="3500"/>
              <a:t>Go to </a:t>
            </a:r>
            <a:r>
              <a:rPr lang="en-GB" sz="3500" b="1"/>
              <a:t>vevox.app</a:t>
            </a:r>
            <a:endParaRPr lang="en-GB" sz="3500"/>
          </a:p>
          <a:p>
            <a:pPr algn="l"/>
            <a:endParaRPr lang="en-GB" sz="3500"/>
          </a:p>
          <a:p>
            <a:pPr algn="l"/>
            <a:r>
              <a:rPr lang="en-GB" sz="3500"/>
              <a:t>Enter the session ID: </a:t>
            </a:r>
            <a:r>
              <a:rPr lang="en-GB" sz="3500" b="1"/>
              <a:t>149-856-345</a:t>
            </a:r>
            <a:endParaRPr lang="en-GB" sz="3500"/>
          </a:p>
          <a:p>
            <a:pPr algn="l"/>
            <a:endParaRPr lang="en-GB" sz="3500"/>
          </a:p>
          <a:p>
            <a:pPr algn="l"/>
            <a:r>
              <a:rPr lang="en-GB" sz="3500"/>
              <a:t>Or scan the QR code</a:t>
            </a:r>
          </a:p>
        </p:txBody>
      </p:sp>
      <p:pic>
        <p:nvPicPr>
          <p:cNvPr id="6" name="Picture 5" descr="QR code instruction to join https://vevox.app/#/m/149856345">
            <a:extLst>
              <a:ext uri="{FF2B5EF4-FFF2-40B4-BE49-F238E27FC236}">
                <a16:creationId xmlns:a16="http://schemas.microsoft.com/office/drawing/2014/main" id="{092C3A2A-0008-CA1E-B8C6-95C494D69C2D}"/>
              </a:ext>
            </a:extLst>
          </p:cNvPr>
          <p:cNvPicPr>
            <a:picLocks/>
          </p:cNvPicPr>
          <p:nvPr>
            <p:custDataLst>
              <p:tags r:id="rId5"/>
            </p:custDataLst>
          </p:nvPr>
        </p:nvPicPr>
        <p:blipFill>
          <a:blip r:embed="rId7"/>
          <a:stretch>
            <a:fillRect/>
          </a:stretch>
        </p:blipFill>
        <p:spPr>
          <a:xfrm>
            <a:off x="5340350" y="1783079"/>
            <a:ext cx="3175000" cy="3175000"/>
          </a:xfrm>
          <a:prstGeom prst="rect">
            <a:avLst/>
          </a:prstGeom>
        </p:spPr>
      </p:pic>
    </p:spTree>
    <p:custDataLst>
      <p:tags r:id="rId1"/>
    </p:custDataLst>
    <p:extLst>
      <p:ext uri="{BB962C8B-B14F-4D97-AF65-F5344CB8AC3E}">
        <p14:creationId xmlns:p14="http://schemas.microsoft.com/office/powerpoint/2010/main" val="3233255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AA7EC8-6A25-25D3-5C70-586CD36D3074}"/>
              </a:ext>
            </a:extLst>
          </p:cNvPr>
          <p:cNvSpPr txBox="1"/>
          <p:nvPr/>
        </p:nvSpPr>
        <p:spPr>
          <a:xfrm>
            <a:off x="179512" y="2274838"/>
            <a:ext cx="4248472" cy="3046988"/>
          </a:xfrm>
          <a:prstGeom prst="rect">
            <a:avLst/>
          </a:prstGeom>
          <a:noFill/>
        </p:spPr>
        <p:txBody>
          <a:bodyPr wrap="square" rtlCol="0">
            <a:spAutoFit/>
          </a:bodyPr>
          <a:lstStyle/>
          <a:p>
            <a:pPr algn="ctr"/>
            <a:r>
              <a:rPr lang="en-MY" sz="4800" dirty="0"/>
              <a:t>Lets have some questions to solve after the session</a:t>
            </a:r>
          </a:p>
        </p:txBody>
      </p:sp>
      <p:pic>
        <p:nvPicPr>
          <p:cNvPr id="9" name="Picture 8">
            <a:extLst>
              <a:ext uri="{FF2B5EF4-FFF2-40B4-BE49-F238E27FC236}">
                <a16:creationId xmlns:a16="http://schemas.microsoft.com/office/drawing/2014/main" id="{F96EF89E-C6C0-4D41-EA43-59055EA74ECB}"/>
              </a:ext>
            </a:extLst>
          </p:cNvPr>
          <p:cNvPicPr>
            <a:picLocks noChangeAspect="1"/>
          </p:cNvPicPr>
          <p:nvPr/>
        </p:nvPicPr>
        <p:blipFill>
          <a:blip r:embed="rId2"/>
          <a:stretch>
            <a:fillRect/>
          </a:stretch>
        </p:blipFill>
        <p:spPr>
          <a:xfrm>
            <a:off x="4541092" y="1484784"/>
            <a:ext cx="3889585" cy="4151736"/>
          </a:xfrm>
          <a:prstGeom prst="rect">
            <a:avLst/>
          </a:prstGeom>
        </p:spPr>
      </p:pic>
    </p:spTree>
    <p:extLst>
      <p:ext uri="{BB962C8B-B14F-4D97-AF65-F5344CB8AC3E}">
        <p14:creationId xmlns:p14="http://schemas.microsoft.com/office/powerpoint/2010/main" val="138197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_PRESENTATION" val="True"/>
  <p:tag name="PRESGUID" val="71ab0e31-6088-4aa6-a686-62bc9db68520"/>
  <p:tag name="VEVOX.CONNECTED.SESSION" val="{&quot;access_code&quot;:&quot;149856345&quot;,&quot;project_id&quot;:920511}"/>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VEVOX.PREBRANDED" val="X"/>
  <p:tag name="VEVOX.QR.DIMENSIONS" val="0"/>
  <p:tag name="VEVOX.INSTRUCTIONS.V2" val="149856345"/>
</p:tagLst>
</file>

<file path=ppt/tags/tag4.xml><?xml version="1.0" encoding="utf-8"?>
<p:tagLst xmlns:a="http://schemas.openxmlformats.org/drawingml/2006/main" xmlns:r="http://schemas.openxmlformats.org/officeDocument/2006/relationships" xmlns:p="http://schemas.openxmlformats.org/presentationml/2006/main">
  <p:tag name="VEVOX.INSTRUCTIONSLIDE" val="join_instructions_title"/>
</p:tagLst>
</file>

<file path=ppt/tags/tag5.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6.xml><?xml version="1.0" encoding="utf-8"?>
<p:tagLst xmlns:a="http://schemas.openxmlformats.org/drawingml/2006/main" xmlns:r="http://schemas.openxmlformats.org/officeDocument/2006/relationships" xmlns:p="http://schemas.openxmlformats.org/presentationml/2006/main">
  <p:tag name="VEVOX.INSTRUCTION.TEXT" val="join_instructions_text"/>
</p:tagLst>
</file>

<file path=ppt/tags/tag7.xml><?xml version="1.0" encoding="utf-8"?>
<p:tagLst xmlns:a="http://schemas.openxmlformats.org/drawingml/2006/main" xmlns:r="http://schemas.openxmlformats.org/officeDocument/2006/relationships" xmlns:p="http://schemas.openxmlformats.org/presentationml/2006/main">
  <p:tag name="VEVOX.QR.IMAGE" val="x"/>
  <p:tag name="VEVOX.QR.LINK" val="https://vevox.app/#/m/149856345"/>
</p:tagLst>
</file>

<file path=ppt/tags/tag8.xml><?xml version="1.0" encoding="utf-8"?>
<p:tagLst xmlns:a="http://schemas.openxmlformats.org/drawingml/2006/main" xmlns:r="http://schemas.openxmlformats.org/officeDocument/2006/relationships" xmlns:p="http://schemas.openxmlformats.org/presentationml/2006/main">
  <p:tag name="VEVOX.QR.DIMENSIONS" val="0"/>
  <p:tag name="VEVOX.INSTRUCTIONS.V2" val="149856345"/>
</p:tagLst>
</file>

<file path=ppt/tags/tag9.xml><?xml version="1.0" encoding="utf-8"?>
<p:tagLst xmlns:a="http://schemas.openxmlformats.org/drawingml/2006/main" xmlns:r="http://schemas.openxmlformats.org/officeDocument/2006/relationships" xmlns:p="http://schemas.openxmlformats.org/presentationml/2006/main">
  <p:tag name="VEVOX.INSTRUCTIONSLIDE" val="join_instructions_title"/>
</p:tagLst>
</file>

<file path=ppt/tags/tag10.xml><?xml version="1.0" encoding="utf-8"?>
<p:tagLst xmlns:a="http://schemas.openxmlformats.org/drawingml/2006/main" xmlns:r="http://schemas.openxmlformats.org/officeDocument/2006/relationships" xmlns:p="http://schemas.openxmlformats.org/presentationml/2006/main">
  <p:tag name="VEVOX.CONTENT.PLACEHOLDER" val="2"/>
</p:tagLst>
</file>

<file path=ppt/tags/tag11.xml><?xml version="1.0" encoding="utf-8"?>
<p:tagLst xmlns:a="http://schemas.openxmlformats.org/drawingml/2006/main" xmlns:r="http://schemas.openxmlformats.org/officeDocument/2006/relationships" xmlns:p="http://schemas.openxmlformats.org/presentationml/2006/main">
  <p:tag name="VEVOX.INSTRUCTION.TEXT" val="join_instructions_text"/>
</p:tagLst>
</file>

<file path=ppt/tags/tag12.xml><?xml version="1.0" encoding="utf-8"?>
<p:tagLst xmlns:a="http://schemas.openxmlformats.org/drawingml/2006/main" xmlns:r="http://schemas.openxmlformats.org/officeDocument/2006/relationships" xmlns:p="http://schemas.openxmlformats.org/presentationml/2006/main">
  <p:tag name="VEVOX.QR.IMAGE" val="x"/>
  <p:tag name="VEVOX.QR.LINK" val="https://vevox.app/#/m/14985634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4C39C99-5876-4BB3-8D7F-8DC5662697D9}">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863</TotalTime>
  <Words>2698</Words>
  <Application>Microsoft Office PowerPoint</Application>
  <PresentationFormat>On-screen Show (4:3)</PresentationFormat>
  <Paragraphs>377</Paragraphs>
  <Slides>50</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 Rounded MT Bold</vt:lpstr>
      <vt:lpstr>Calibri</vt:lpstr>
      <vt:lpstr>Helvetica</vt:lpstr>
      <vt:lpstr>Courier New</vt:lpstr>
      <vt:lpstr>Arial</vt:lpstr>
      <vt:lpstr>Baskerville Old Face</vt:lpstr>
      <vt:lpstr>quote-cjk-patch</vt:lpstr>
      <vt:lpstr>Wingdings</vt:lpstr>
      <vt:lpstr>Office Theme</vt:lpstr>
      <vt:lpstr>PowerPoint Presentation</vt:lpstr>
      <vt:lpstr>PowerPoint Presentation</vt:lpstr>
      <vt:lpstr>The structure of a classical neurone:</vt:lpstr>
      <vt:lpstr>PowerPoint Presentation</vt:lpstr>
      <vt:lpstr>PowerPoint Presentation</vt:lpstr>
      <vt:lpstr>PowerPoint Presentation</vt:lpstr>
      <vt:lpstr>PowerPoint Presentation</vt:lpstr>
      <vt:lpstr>PowerPoint Presentation</vt:lpstr>
      <vt:lpstr>PowerPoint Presentation</vt:lpstr>
      <vt:lpstr>Neuromuscular Junction</vt:lpstr>
      <vt:lpstr>PowerPoint Presentation</vt:lpstr>
      <vt:lpstr>Ach is synthesized from Choline &amp; Acetyl Co A by Choline acetyl transferase (CAT), an enzyme found in neuron</vt:lpstr>
      <vt:lpstr>(2) The depolarisation causes the opening of voltage-gated Ca2+ channels</vt:lpstr>
      <vt:lpstr> (4) The rise in Ca2+ concentration causes the vesicles to fuse with the presynaptic membrane (Role of synaptotagmin: Ca sensor)</vt:lpstr>
      <vt:lpstr>PowerPoint Presentation</vt:lpstr>
      <vt:lpstr>Join the Vevox session  </vt:lpstr>
      <vt:lpstr>PowerPoint Presentation</vt:lpstr>
      <vt:lpstr>PowerPoint Presentation</vt:lpstr>
      <vt:lpstr>(6) Ach molecules diffuse across the cleft in less than 1 millisecond</vt:lpstr>
      <vt:lpstr>(7) Ach molecules bind to receptors in the postsynaptic membrane</vt:lpstr>
      <vt:lpstr>PowerPoint Presentation</vt:lpstr>
      <vt:lpstr>(8) The binding of Ach to the receptor causes ion channels to open</vt:lpstr>
      <vt:lpstr>The ion channel is called a ligand-gated Na+ channel </vt:lpstr>
      <vt:lpstr>What happens when this new Na+ channel opens up?</vt:lpstr>
      <vt:lpstr>(9) Na+ ions rush into the postsynaptic cell (the muscle endplate)</vt:lpstr>
      <vt:lpstr>K+ ions rush out of the postsynaptic cell</vt:lpstr>
      <vt:lpstr>What happens to the membrane potential?</vt:lpstr>
      <vt:lpstr>The postsynaptic membrane potential reaches a level halfway between the equilibrium potentials of the 2 ions</vt:lpstr>
      <vt:lpstr>The endplate potential  (EPP) reaches -15mV</vt:lpstr>
      <vt:lpstr>PowerPoint Presentation</vt:lpstr>
      <vt:lpstr>What is the smallest EPP that be generated?</vt:lpstr>
      <vt:lpstr>The mini-EPP is the same shape as the EPP, but smaller, and occurs at random, when the nerve and muscle are at rest</vt:lpstr>
      <vt:lpstr>Why does the mini-EPP (mEPP) come in just one size?</vt:lpstr>
      <vt:lpstr>What happens to Ach molecules after they bind to the postsynaptic receptor?</vt:lpstr>
      <vt:lpstr>PowerPoint Presentation</vt:lpstr>
      <vt:lpstr>Excitation-contraction coupling  got the excitation, what about the contraction?</vt:lpstr>
      <vt:lpstr>Recap of neurotransmission at the NMJ:</vt:lpstr>
      <vt:lpstr>The structure of the muscle membrane</vt:lpstr>
      <vt:lpstr>The structure of the muscle membrane</vt:lpstr>
      <vt:lpstr>PowerPoint Presentation</vt:lpstr>
      <vt:lpstr>PowerPoint Presentation</vt:lpstr>
      <vt:lpstr>Motor neuron activity leads to muscle contraction  (What could happen if released NTs bound to receptors are not regulated or stimulus appear at frequent intervals?)</vt:lpstr>
      <vt:lpstr>PowerPoint Presentation</vt:lpstr>
      <vt:lpstr>Drugs and diseases (transmission at  NMJ)</vt:lpstr>
      <vt:lpstr>PowerPoint Presentation</vt:lpstr>
      <vt:lpstr>Muscle firing and Tension in response to nerve stimulation</vt:lpstr>
      <vt:lpstr>PowerPoint Presentation</vt:lpstr>
      <vt:lpstr>PowerPoint Presentation</vt:lpstr>
      <vt:lpstr>Join the Vevox session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Ratnadeep Saha</dc:creator>
  <cp:lastModifiedBy>Ratnadeep Saha (Biomedical Sciences)</cp:lastModifiedBy>
  <cp:revision>38</cp:revision>
  <dcterms:created xsi:type="dcterms:W3CDTF">2020-08-11T04:52:42Z</dcterms:created>
  <dcterms:modified xsi:type="dcterms:W3CDTF">2026-09-26T04:09:45Z</dcterms:modified>
</cp:coreProperties>
</file>