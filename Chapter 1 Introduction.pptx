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9" r:id="rId3"/>
    <p:sldId id="280" r:id="rId4"/>
    <p:sldId id="281" r:id="rId5"/>
    <p:sldId id="283" r:id="rId6"/>
    <p:sldId id="284" r:id="rId7"/>
    <p:sldId id="258" r:id="rId8"/>
    <p:sldId id="259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85" r:id="rId17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9" autoAdjust="0"/>
    <p:restoredTop sz="94660"/>
  </p:normalViewPr>
  <p:slideViewPr>
    <p:cSldViewPr>
      <p:cViewPr varScale="1">
        <p:scale>
          <a:sx n="113" d="100"/>
          <a:sy n="113" d="100"/>
        </p:scale>
        <p:origin x="100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7324F-E56F-48E1-A266-E15A8D32CEF5}" type="datetimeFigureOut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44252-F1B7-4930-9A60-E3B5BF9FAC5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7EBCF-6CCE-4458-BE7E-827A85D26573}" type="datetimeFigureOut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3A2A7-F12C-4EEA-9DF2-1D4A7B5E8E3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E4D4-0170-4118-BA8E-6CBF58C0C485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D4E5-E0DB-4E43-BE5E-B5B6B85E04E6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F815-9CF4-4E77-A9B6-A8107582A1F1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C857F-802B-4F05-BEB7-9C7D87E018FC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E2AE-2340-4501-8940-CC5DD7CB7F11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646A9-DDF5-499D-AD8D-9D1147754D74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F5067-2CF1-460D-B67A-E80147C4D2EB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4C520-8C32-4A99-82A4-739809BB160B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147B2-35A3-421D-8B9C-B8D2286A7483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34CDC-3672-4B9D-87E9-1AE3A35295F8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DE3EF-DE61-4EB0-A963-6DA33E93CE47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7AC7-1D04-435A-8FB7-79B3FBD31E0A}" type="datetime1">
              <a:rPr lang="zh-CN" altLang="en-US" smtClean="0"/>
              <a:pPr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777" y="4509120"/>
            <a:ext cx="4502561" cy="234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99656" y="1214706"/>
            <a:ext cx="86324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Medicinal Chemistry I</a:t>
            </a:r>
          </a:p>
          <a:p>
            <a:r>
              <a:rPr lang="en-US" altLang="zh-CN" sz="5400" b="1" dirty="0">
                <a:solidFill>
                  <a:srgbClr val="00B05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            </a:t>
            </a:r>
            <a:r>
              <a:rPr lang="en-US" altLang="zh-CN" sz="4400" b="1" dirty="0">
                <a:latin typeface="MS Reference Sans Serif" panose="020B0604030504040204" pitchFamily="34" charset="0"/>
                <a:cs typeface="Microsoft Sans Serif" pitchFamily="34" charset="0"/>
              </a:rPr>
              <a:t>-Organic Chemistry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6248" y="3244334"/>
            <a:ext cx="965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for 2025 Pharmacy Students in the Sino-British Cooperative Education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9670" y="5033822"/>
            <a:ext cx="4176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latin typeface="MS Reference Sans Serif" panose="020B0604030504040204" pitchFamily="34" charset="0"/>
                <a:cs typeface="Microsoft Sans Serif" pitchFamily="34" charset="0"/>
              </a:rPr>
              <a:t>Tongji</a:t>
            </a:r>
            <a:r>
              <a:rPr lang="en-US" altLang="zh-CN" sz="1600" dirty="0">
                <a:latin typeface="MS Reference Sans Serif" panose="020B0604030504040204" pitchFamily="34" charset="0"/>
                <a:cs typeface="Microsoft Sans Serif" pitchFamily="34" charset="0"/>
              </a:rPr>
              <a:t> School of Pharmacy, HUST</a:t>
            </a:r>
          </a:p>
          <a:p>
            <a:pPr algn="ctr"/>
            <a:endParaRPr lang="en-US" altLang="zh-CN" sz="1600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algn="ctr"/>
            <a:r>
              <a:rPr lang="en-US" altLang="zh-CN" sz="1600" dirty="0">
                <a:latin typeface="MS Reference Sans Serif" panose="020B0604030504040204" pitchFamily="34" charset="0"/>
                <a:cs typeface="Microsoft Sans Serif" pitchFamily="34" charset="0"/>
              </a:rPr>
              <a:t>Given by Dr. Luo, Associate Professor </a:t>
            </a:r>
          </a:p>
          <a:p>
            <a:pPr algn="ctr"/>
            <a:endParaRPr lang="en-US" altLang="zh-CN" sz="1600" dirty="0">
              <a:solidFill>
                <a:srgbClr val="0000FF"/>
              </a:solidFill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algn="ctr"/>
            <a:r>
              <a:rPr lang="en-US" altLang="zh-CN" sz="1600" dirty="0">
                <a:latin typeface="MS Reference Sans Serif" panose="020B0604030504040204" pitchFamily="34" charset="0"/>
                <a:cs typeface="Microsoft Sans Serif" pitchFamily="34" charset="0"/>
              </a:rPr>
              <a:t>2026 autumn semester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192351"/>
              </p:ext>
            </p:extLst>
          </p:nvPr>
        </p:nvGraphicFramePr>
        <p:xfrm>
          <a:off x="1127448" y="578951"/>
          <a:ext cx="1429052" cy="199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04" name="CS ChemDraw Drawing" r:id="rId4" imgW="2261241" imgH="3152698" progId="ChemDraw.Document.6.0">
                  <p:embed/>
                </p:oleObj>
              </mc:Choice>
              <mc:Fallback>
                <p:oleObj name="CS ChemDraw Drawing" r:id="rId4" imgW="2261241" imgH="3152698" progId="ChemDraw.Document.6.0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7448" y="578951"/>
                        <a:ext cx="1429052" cy="1993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" y="28703"/>
            <a:ext cx="928841" cy="93024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626" y="5899051"/>
            <a:ext cx="1217713" cy="958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906DFA-2CDC-4346-8D34-FD7EE3B6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990B8C5-D4B3-4A33-9688-60E1FD57058A}"/>
              </a:ext>
            </a:extLst>
          </p:cNvPr>
          <p:cNvSpPr txBox="1"/>
          <p:nvPr/>
        </p:nvSpPr>
        <p:spPr>
          <a:xfrm>
            <a:off x="0" y="244476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MS Reference Sans Serif" panose="020B0604030504040204" pitchFamily="34" charset="0"/>
                <a:cs typeface="Microsoft Sans Serif" pitchFamily="34" charset="0"/>
              </a:rPr>
              <a:t>Chapter 1 Introduction</a:t>
            </a:r>
            <a:endParaRPr lang="zh-CN" altLang="en-US" sz="28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B5AB-ABF3-4C3C-B799-9904DF741DC0}"/>
              </a:ext>
            </a:extLst>
          </p:cNvPr>
          <p:cNvSpPr txBox="1"/>
          <p:nvPr/>
        </p:nvSpPr>
        <p:spPr>
          <a:xfrm>
            <a:off x="289236" y="1022790"/>
            <a:ext cx="5681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</a:rPr>
              <a:t>Organic chemistry: what, why, how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2E551E-A135-4219-934B-FB89A0641558}"/>
              </a:ext>
            </a:extLst>
          </p:cNvPr>
          <p:cNvSpPr/>
          <p:nvPr/>
        </p:nvSpPr>
        <p:spPr>
          <a:xfrm>
            <a:off x="682772" y="5488493"/>
            <a:ext cx="10850514" cy="72453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highlight>
                  <a:srgbClr val="00FF00"/>
                </a:highlight>
                <a:latin typeface="MS Reference Sans Serif" panose="020B0604030504040204" pitchFamily="34" charset="0"/>
              </a:rPr>
              <a:t>Structure</a:t>
            </a:r>
            <a:endParaRPr lang="en-US" altLang="zh-CN" sz="2400" b="1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electrons, atoms, bonds, organic molecules (skeleton + functional groups)</a:t>
            </a:r>
            <a:endParaRPr lang="zh-CN" altLang="en-US" sz="2000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5C53A4-1752-4675-868E-059743FFBA7D}"/>
              </a:ext>
            </a:extLst>
          </p:cNvPr>
          <p:cNvSpPr/>
          <p:nvPr/>
        </p:nvSpPr>
        <p:spPr>
          <a:xfrm>
            <a:off x="706832" y="3753837"/>
            <a:ext cx="2867692" cy="162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highlight>
                  <a:srgbClr val="00FF00"/>
                </a:highlight>
                <a:latin typeface="MS Reference Sans Serif" panose="020B0604030504040204" pitchFamily="34" charset="0"/>
              </a:rPr>
              <a:t>Nomenclature</a:t>
            </a:r>
            <a:r>
              <a:rPr lang="en-US" altLang="zh-CN" sz="2400" b="1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Naming</a:t>
            </a:r>
            <a:r>
              <a:rPr lang="en-US" altLang="zh-CN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of organic compounds of various functional groups</a:t>
            </a:r>
            <a:endParaRPr lang="zh-CN" altLang="en-US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A9E302-7671-4BA5-A10F-6F6C6AB30D18}"/>
              </a:ext>
            </a:extLst>
          </p:cNvPr>
          <p:cNvSpPr/>
          <p:nvPr/>
        </p:nvSpPr>
        <p:spPr>
          <a:xfrm>
            <a:off x="3659158" y="3753837"/>
            <a:ext cx="3804993" cy="162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highlight>
                  <a:srgbClr val="00FF00"/>
                </a:highlight>
                <a:latin typeface="MS Reference Sans Serif" panose="020B0604030504040204" pitchFamily="34" charset="0"/>
              </a:rPr>
              <a:t>Physical Properties</a:t>
            </a:r>
          </a:p>
          <a:p>
            <a:pPr algn="ctr"/>
            <a:r>
              <a:rPr lang="en-US" altLang="zh-CN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B.p.</a:t>
            </a:r>
            <a:r>
              <a:rPr lang="en-US" altLang="zh-CN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</a:t>
            </a:r>
            <a:r>
              <a:rPr lang="en-US" altLang="zh-CN" dirty="0" err="1">
                <a:solidFill>
                  <a:schemeClr val="tx1"/>
                </a:solidFill>
                <a:latin typeface="MS Reference Sans Serif" panose="020B0604030504040204" pitchFamily="34" charset="0"/>
              </a:rPr>
              <a:t>m.p.</a:t>
            </a:r>
            <a:r>
              <a:rPr lang="en-US" altLang="zh-CN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, density, water solubility, etc. as determined by </a:t>
            </a:r>
            <a:r>
              <a:rPr lang="en-US" altLang="zh-CN" b="1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Intermolecular attractions</a:t>
            </a:r>
            <a:endParaRPr lang="zh-CN" altLang="en-US" b="1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C088B5-3E0F-4C2B-8DDB-48EFF10C60D4}"/>
              </a:ext>
            </a:extLst>
          </p:cNvPr>
          <p:cNvSpPr/>
          <p:nvPr/>
        </p:nvSpPr>
        <p:spPr>
          <a:xfrm>
            <a:off x="7548785" y="3753837"/>
            <a:ext cx="3984501" cy="1630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highlight>
                  <a:srgbClr val="00FF00"/>
                </a:highlight>
                <a:latin typeface="MS Reference Sans Serif" panose="020B0604030504040204" pitchFamily="34" charset="0"/>
              </a:rPr>
              <a:t>Chemical Properties</a:t>
            </a:r>
            <a:r>
              <a:rPr lang="en-US" altLang="zh-CN" sz="2400" b="1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Reactions</a:t>
            </a:r>
            <a:r>
              <a:rPr lang="en-US" altLang="zh-CN" dirty="0">
                <a:solidFill>
                  <a:schemeClr val="tx1"/>
                </a:solidFill>
                <a:latin typeface="MS Reference Sans Serif" panose="020B0604030504040204" pitchFamily="34" charset="0"/>
              </a:rPr>
              <a:t> of organic compounds with various functional groups</a:t>
            </a:r>
            <a:endParaRPr lang="zh-CN" altLang="en-US" dirty="0">
              <a:solidFill>
                <a:schemeClr val="tx1"/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C28D8D9-903D-46BE-9FA5-751178F674E0}"/>
              </a:ext>
            </a:extLst>
          </p:cNvPr>
          <p:cNvSpPr/>
          <p:nvPr/>
        </p:nvSpPr>
        <p:spPr>
          <a:xfrm>
            <a:off x="7548784" y="2929142"/>
            <a:ext cx="1859583" cy="7245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highlight>
                  <a:srgbClr val="00FF00"/>
                </a:highlight>
                <a:latin typeface="MS Reference Sans Serif" panose="020B0604030504040204" pitchFamily="34" charset="0"/>
              </a:rPr>
              <a:t>Mechanism</a:t>
            </a:r>
            <a:endParaRPr lang="zh-CN" altLang="en-US" sz="2000" dirty="0">
              <a:solidFill>
                <a:schemeClr val="tx1"/>
              </a:solidFill>
              <a:highlight>
                <a:srgbClr val="00FF00"/>
              </a:highlight>
              <a:latin typeface="MS Reference Sans Serif" panose="020B060403050404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B4F8419-C3E9-49A9-9691-2F524A180D4F}"/>
              </a:ext>
            </a:extLst>
          </p:cNvPr>
          <p:cNvSpPr/>
          <p:nvPr/>
        </p:nvSpPr>
        <p:spPr>
          <a:xfrm>
            <a:off x="9478144" y="2924944"/>
            <a:ext cx="2055142" cy="7245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highlight>
                  <a:srgbClr val="00FF00"/>
                </a:highlight>
                <a:latin typeface="MS Reference Sans Serif" panose="020B0604030504040204" pitchFamily="34" charset="0"/>
              </a:rPr>
              <a:t>Synthesis</a:t>
            </a:r>
            <a:endParaRPr lang="zh-CN" altLang="en-US" sz="2400" dirty="0">
              <a:solidFill>
                <a:schemeClr val="tx1"/>
              </a:solidFill>
              <a:highlight>
                <a:srgbClr val="00FF00"/>
              </a:highlight>
              <a:latin typeface="MS Reference Sans Serif" panose="020B060403050404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5F97C70-49A4-4FD6-AB9F-EF66DB80E914}"/>
              </a:ext>
            </a:extLst>
          </p:cNvPr>
          <p:cNvSpPr txBox="1"/>
          <p:nvPr/>
        </p:nvSpPr>
        <p:spPr>
          <a:xfrm>
            <a:off x="289236" y="1831838"/>
            <a:ext cx="9740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</a:rPr>
              <a:t>What</a:t>
            </a:r>
            <a:r>
              <a:rPr lang="zh-CN" altLang="en-US" sz="2000" dirty="0">
                <a:latin typeface="MS Reference Sans Serif" panose="020B0604030504040204" pitchFamily="34" charset="0"/>
              </a:rPr>
              <a:t>：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</a:rPr>
              <a:t>Organic chemistry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 is the study of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</a:rPr>
              <a:t>carbon-containing compounds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.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12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275AE54-EF38-47B3-B174-6DEF3D99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143CDF-6189-4894-B73E-1DA504DA7F89}"/>
              </a:ext>
            </a:extLst>
          </p:cNvPr>
          <p:cNvSpPr txBox="1"/>
          <p:nvPr/>
        </p:nvSpPr>
        <p:spPr>
          <a:xfrm>
            <a:off x="623392" y="764704"/>
            <a:ext cx="1130525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</a:rPr>
              <a:t>Why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</a:endParaRPr>
          </a:p>
          <a:p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</a:rPr>
              <a:t>Medicinal Chemistry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 is a chemistry-based discipline that integrates </a:t>
            </a:r>
            <a:r>
              <a:rPr lang="en-US" altLang="zh-CN" sz="2000" b="1" dirty="0">
                <a:highlight>
                  <a:srgbClr val="00FF00"/>
                </a:highlight>
                <a:latin typeface="MS Reference Sans Serif" panose="020B0604030504040204" pitchFamily="34" charset="0"/>
              </a:rPr>
              <a:t>synthetic organic chemistry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, </a:t>
            </a:r>
            <a:r>
              <a:rPr lang="en-US" altLang="zh-CN" sz="2000" b="1" dirty="0">
                <a:highlight>
                  <a:srgbClr val="00FF00"/>
                </a:highlight>
                <a:latin typeface="MS Reference Sans Serif" panose="020B0604030504040204" pitchFamily="34" charset="0"/>
              </a:rPr>
              <a:t>pharmacology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, biochemistry, molecular biology, and structural biology. </a:t>
            </a:r>
          </a:p>
          <a:p>
            <a:endParaRPr lang="en-US" altLang="zh-CN" sz="2000" b="1" dirty="0">
              <a:latin typeface="MS Reference Sans Serif" panose="020B0604030504040204" pitchFamily="34" charset="0"/>
            </a:endParaRPr>
          </a:p>
          <a:p>
            <a:r>
              <a:rPr lang="en-US" altLang="zh-CN" sz="2000" b="1" dirty="0">
                <a:latin typeface="MS Reference Sans Serif" panose="020B0604030504040204" pitchFamily="34" charset="0"/>
              </a:rPr>
              <a:t>Its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</a:rPr>
              <a:t>primary focus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 is the design, chemical synthesis, and optimization of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</a:rPr>
              <a:t>bioactive molecules (drugs) to interact with specific biological targets 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(such as enzymes, receptors, ion channels, or nucleic acids) in order to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</a:rPr>
              <a:t>diagnose, treat, or prevent disease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</a:endParaRPr>
          </a:p>
          <a:p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</a:rPr>
              <a:t>Organic Chemistry is the basis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 for Medicinal Chemistry, Pharmacology, Pharmaceutics, and Drug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</a:endParaRPr>
          </a:p>
          <a:p>
            <a:r>
              <a:rPr lang="en-US" altLang="zh-CN" sz="2000" b="1" dirty="0">
                <a:latin typeface="MS Reference Sans Serif" panose="020B0604030504040204" pitchFamily="34" charset="0"/>
              </a:rPr>
              <a:t>Organic chemistry is also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</a:rPr>
              <a:t>a subject of National Postgraduate Entrance Examination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358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527800-5FA1-485F-917A-9B50C8E0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D3342F-AA90-4E4E-9F7A-FF19EFB46F9B}"/>
              </a:ext>
            </a:extLst>
          </p:cNvPr>
          <p:cNvSpPr txBox="1"/>
          <p:nvPr/>
        </p:nvSpPr>
        <p:spPr>
          <a:xfrm>
            <a:off x="277144" y="180174"/>
            <a:ext cx="6250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</a:rPr>
              <a:t>How</a:t>
            </a:r>
            <a:r>
              <a:rPr lang="en-US" altLang="zh-CN" sz="2000" b="1" dirty="0">
                <a:latin typeface="MS Reference Sans Serif" panose="020B0604030504040204" pitchFamily="34" charset="0"/>
              </a:rPr>
              <a:t>: Theoretical Part &amp; Experimental Part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E95203-2897-4D20-BFFB-2BD3210E106E}"/>
              </a:ext>
            </a:extLst>
          </p:cNvPr>
          <p:cNvSpPr/>
          <p:nvPr/>
        </p:nvSpPr>
        <p:spPr>
          <a:xfrm>
            <a:off x="1127448" y="580284"/>
            <a:ext cx="38780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MS Reference Sans Serif" panose="020B0604030504040204" pitchFamily="34" charset="0"/>
                <a:cs typeface="Microsoft Sans Serif" pitchFamily="34" charset="0"/>
              </a:rPr>
              <a:t>Theoretical (50 class hours)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F7F140-EE2C-41A3-B2EF-AC8A34226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28867"/>
              </p:ext>
            </p:extLst>
          </p:nvPr>
        </p:nvGraphicFramePr>
        <p:xfrm>
          <a:off x="1199456" y="991554"/>
          <a:ext cx="10009112" cy="554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717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84064837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8252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Chapters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Titles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Class hrs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Given by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1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Introduction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2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Dr. Luo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2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Alkanes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and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Cycloalkanes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3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Stereochemistry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4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Alkenes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and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Alkynes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5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Conjugated Dienes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and 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Resonance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6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Aromatic Hydrocarbons 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and 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Aromaticity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7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Alkyl Halides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8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Alcohols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,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Phenols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, and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Ethers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9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9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Aldehydes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and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Ketones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Luo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11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10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Carboxylic Acids and Their Derivatives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Dr. Zhou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05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11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Reactions of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Enolate Ions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Zeng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19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12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Organic Nitrogen-Containing Compounds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Gu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9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Chapter 13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Heterocyclic Compounds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Sans Serif" pitchFamily="34" charset="0"/>
                          <a:ea typeface="宋体" panose="02010600030101010101" pitchFamily="2" charset="-122"/>
                          <a:cs typeface="Microsoft Sans Serif" pitchFamily="34" charset="0"/>
                        </a:rPr>
                        <a:t>Dr. Gu</a:t>
                      </a:r>
                      <a:endParaRPr kumimoji="0" lang="zh-CN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icrosoft Sans Serif" pitchFamily="34" charset="0"/>
                        <a:ea typeface="宋体" panose="02010600030101010101" pitchFamily="2" charset="-122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42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79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98A835-4925-459C-85F3-05C71C4C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FB4038-F3CE-4E4F-B1C0-3FB08C888794}"/>
              </a:ext>
            </a:extLst>
          </p:cNvPr>
          <p:cNvSpPr/>
          <p:nvPr/>
        </p:nvSpPr>
        <p:spPr>
          <a:xfrm>
            <a:off x="623392" y="620688"/>
            <a:ext cx="7920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MS Reference Sans Serif" panose="020B0604030504040204" pitchFamily="34" charset="0"/>
                <a:cs typeface="Microsoft Sans Serif" pitchFamily="34" charset="0"/>
              </a:rPr>
              <a:t>Experimental (30 class hours)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5DCA614-75F2-428C-917F-EDF2D5030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238468"/>
              </p:ext>
            </p:extLst>
          </p:nvPr>
        </p:nvGraphicFramePr>
        <p:xfrm>
          <a:off x="1055440" y="1772816"/>
          <a:ext cx="10081120" cy="2773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840648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Experiments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Titles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Class hrs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1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Extraction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,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Distillation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, and Boiling Point Determination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2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Recrystallization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and Melting Point Determination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Synthesis of 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Cyclohexene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and its Property Test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Synthesis of 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n-Butyl Acetate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Synthesis of 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Binaphthol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and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Thin-Layer Chromatography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Synthesis of 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Triphenylmethanol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 and its Property Test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46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EAF548-BA04-46BB-94D3-CB40EF28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ED2DFEF-EDFD-4E9D-BB70-6BBD28B7E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91510"/>
              </p:ext>
            </p:extLst>
          </p:nvPr>
        </p:nvGraphicFramePr>
        <p:xfrm>
          <a:off x="2567608" y="836712"/>
          <a:ext cx="7200800" cy="2377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3035733113"/>
                    </a:ext>
                  </a:extLst>
                </a:gridCol>
                <a:gridCol w="504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1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Attendance 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10%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2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Homework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10%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3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Final Exam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50%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4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Lab Reports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10%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5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Experimental Theory Test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10%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6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Microsoft Sans Serif" pitchFamily="34" charset="0"/>
                          <a:cs typeface="Microsoft Sans Serif" pitchFamily="34" charset="0"/>
                        </a:rPr>
                        <a:t>Experimental technique Test</a:t>
                      </a:r>
                      <a:endParaRPr lang="zh-CN" altLang="en-US" sz="20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Microsoft Sans Serif" pitchFamily="34" charset="0"/>
                          <a:cs typeface="Microsoft Sans Serif" pitchFamily="34" charset="0"/>
                        </a:rPr>
                        <a:t>10%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F9EBA38-AE70-47F9-88AA-D78D852D3FCC}"/>
              </a:ext>
            </a:extLst>
          </p:cNvPr>
          <p:cNvSpPr txBox="1"/>
          <p:nvPr/>
        </p:nvSpPr>
        <p:spPr>
          <a:xfrm>
            <a:off x="983432" y="260648"/>
            <a:ext cx="1311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</a:rPr>
              <a:t>Grading:</a:t>
            </a:r>
            <a:endParaRPr lang="zh-CN" altLang="en-US" sz="2000" b="1" dirty="0">
              <a:latin typeface="MS Reference Sans Serif" panose="020B060403050404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944FA0-D28B-412E-A8A5-B598CA5E5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987" y="3429000"/>
            <a:ext cx="2152650" cy="27622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4DED550-4CD5-4AB9-8540-00AB63212560}"/>
              </a:ext>
            </a:extLst>
          </p:cNvPr>
          <p:cNvSpPr txBox="1"/>
          <p:nvPr/>
        </p:nvSpPr>
        <p:spPr>
          <a:xfrm>
            <a:off x="1775520" y="6117696"/>
            <a:ext cx="291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QQ community for Q&amp;A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FF26B9-0A65-417C-9F65-82D592E7F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3429000"/>
            <a:ext cx="2356625" cy="259228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F290804-E65C-4570-A0A6-3476C059DE51}"/>
              </a:ext>
            </a:extLst>
          </p:cNvPr>
          <p:cNvSpPr txBox="1"/>
          <p:nvPr/>
        </p:nvSpPr>
        <p:spPr>
          <a:xfrm>
            <a:off x="5735960" y="6117696"/>
            <a:ext cx="4168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HUST curricula platform for homework &amp; learning materials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981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85347"/>
            <a:ext cx="3217547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S Reference Sans Serif" panose="020B0604030504040204" pitchFamily="34" charset="0"/>
                <a:cs typeface="Microsoft Sans Serif" pitchFamily="34" charset="0"/>
              </a:rPr>
              <a:t>1. Carbon is unique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2002E0-F571-401E-A234-E6C2C2B6307F}"/>
              </a:ext>
            </a:extLst>
          </p:cNvPr>
          <p:cNvSpPr/>
          <p:nvPr/>
        </p:nvSpPr>
        <p:spPr>
          <a:xfrm>
            <a:off x="335360" y="801341"/>
            <a:ext cx="115212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Organic Chemistry (modern definition): the study of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carbon–containing compounds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Carbon is special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among all elements: carbon has a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powerful ability to form strong bonds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to other carbon atoms and to a wide variety of other elements, resulting in an endless variety of molecules.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The diversity of carbon compounds (&gt; 100,000,000 known) provides the basis for life on Earth.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387D00E-6ED2-4E97-8FF4-67AD98863C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829383"/>
              </p:ext>
            </p:extLst>
          </p:nvPr>
        </p:nvGraphicFramePr>
        <p:xfrm>
          <a:off x="1464429" y="3415406"/>
          <a:ext cx="9263141" cy="288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38" name="CS ChemDraw Drawing" r:id="rId3" imgW="5940303" imgH="1848185" progId="ChemDraw.Document.6.0">
                  <p:embed/>
                </p:oleObj>
              </mc:Choice>
              <mc:Fallback>
                <p:oleObj name="CS ChemDraw Drawing" r:id="rId3" imgW="5940303" imgH="184818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4429" y="3415406"/>
                        <a:ext cx="9263141" cy="2881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D201086-BE68-472D-97D9-80D6B6671DDB}"/>
              </a:ext>
            </a:extLst>
          </p:cNvPr>
          <p:cNvSpPr/>
          <p:nvPr/>
        </p:nvSpPr>
        <p:spPr>
          <a:xfrm>
            <a:off x="7464152" y="5006639"/>
            <a:ext cx="4413091" cy="1207381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B5F892D-67F3-4EA9-A0DB-60AB502BA6C7}"/>
              </a:ext>
            </a:extLst>
          </p:cNvPr>
          <p:cNvSpPr/>
          <p:nvPr/>
        </p:nvSpPr>
        <p:spPr>
          <a:xfrm>
            <a:off x="7836360" y="1682361"/>
            <a:ext cx="4140460" cy="70788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3" name="Picture 6" descr="http://lms.hanluninfo.com/modx/assets/images/C0503/iStock_000005374361XSmall_ed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2424" y="2"/>
            <a:ext cx="2241177" cy="1680884"/>
          </a:xfrm>
          <a:prstGeom prst="rect">
            <a:avLst/>
          </a:prstGeom>
          <a:noFill/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2968C5-6C51-4546-BD87-47929A6B23F9}"/>
              </a:ext>
            </a:extLst>
          </p:cNvPr>
          <p:cNvSpPr/>
          <p:nvPr/>
        </p:nvSpPr>
        <p:spPr>
          <a:xfrm>
            <a:off x="0" y="185347"/>
            <a:ext cx="422743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Microsoft Sans Serif" pitchFamily="34" charset="0"/>
                <a:cs typeface="Microsoft Sans Serif" pitchFamily="34" charset="0"/>
              </a:rPr>
              <a:t>2. Atomic Structure of Carbon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608B97-57A3-4619-991E-6BB91C03C71B}"/>
              </a:ext>
            </a:extLst>
          </p:cNvPr>
          <p:cNvSpPr txBox="1"/>
          <p:nvPr/>
        </p:nvSpPr>
        <p:spPr>
          <a:xfrm>
            <a:off x="-84025" y="799330"/>
            <a:ext cx="6252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2-1 Structure of the atom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nucleus + electrons</a:t>
            </a:r>
            <a:endParaRPr lang="zh-CN" altLang="en-US" sz="2000" dirty="0">
              <a:latin typeface="MS Reference Sans Serif" panose="020B0604030504040204" pitchFamily="34" charset="0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66D453C1-DC01-4B49-B14A-1D724C3B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6408" y="1405070"/>
            <a:ext cx="2016224" cy="1721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Box 6">
            <a:extLst>
              <a:ext uri="{FF2B5EF4-FFF2-40B4-BE49-F238E27FC236}">
                <a16:creationId xmlns:a16="http://schemas.microsoft.com/office/drawing/2014/main" id="{11CECCC8-A904-472E-9409-550088DEBD5F}"/>
              </a:ext>
            </a:extLst>
          </p:cNvPr>
          <p:cNvSpPr txBox="1"/>
          <p:nvPr/>
        </p:nvSpPr>
        <p:spPr>
          <a:xfrm>
            <a:off x="2840969" y="208283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+</a:t>
            </a:r>
            <a:endParaRPr lang="zh-CN" altLang="en-US" b="1" dirty="0">
              <a:solidFill>
                <a:srgbClr val="FF0000"/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D324206B-8276-4570-B725-C453A4ADF807}"/>
              </a:ext>
            </a:extLst>
          </p:cNvPr>
          <p:cNvSpPr txBox="1"/>
          <p:nvPr/>
        </p:nvSpPr>
        <p:spPr>
          <a:xfrm>
            <a:off x="3526459" y="144125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  <a:sym typeface="Symbol"/>
              </a:rPr>
              <a:t>-</a:t>
            </a:r>
            <a:endParaRPr lang="zh-CN" altLang="en-US" b="1" dirty="0">
              <a:solidFill>
                <a:srgbClr val="FF0000"/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1027BC6-61B2-4C6E-8CE7-3C1DE812D132}"/>
              </a:ext>
            </a:extLst>
          </p:cNvPr>
          <p:cNvCxnSpPr>
            <a:cxnSpLocks/>
          </p:cNvCxnSpPr>
          <p:nvPr/>
        </p:nvCxnSpPr>
        <p:spPr>
          <a:xfrm>
            <a:off x="2985742" y="2354484"/>
            <a:ext cx="1113263" cy="4668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0">
            <a:extLst>
              <a:ext uri="{FF2B5EF4-FFF2-40B4-BE49-F238E27FC236}">
                <a16:creationId xmlns:a16="http://schemas.microsoft.com/office/drawing/2014/main" id="{B813B5B2-F7F2-4FA1-A93C-D606ED6D38E6}"/>
              </a:ext>
            </a:extLst>
          </p:cNvPr>
          <p:cNvSpPr txBox="1"/>
          <p:nvPr/>
        </p:nvSpPr>
        <p:spPr>
          <a:xfrm>
            <a:off x="4092840" y="2665657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icrosoft Sans Serif" pitchFamily="34" charset="0"/>
                <a:cs typeface="Microsoft Sans Serif" pitchFamily="34" charset="0"/>
              </a:rPr>
              <a:t>Nucleus: protons + neutrons</a:t>
            </a:r>
            <a:endParaRPr lang="zh-CN" altLang="en-US" b="1" dirty="0">
              <a:latin typeface="Microsoft Sans Serif" pitchFamily="34" charset="0"/>
              <a:cs typeface="Microsoft Sans Serif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520D374-0C75-4B0D-AA89-CBC53EE00885}"/>
              </a:ext>
            </a:extLst>
          </p:cNvPr>
          <p:cNvCxnSpPr>
            <a:cxnSpLocks/>
          </p:cNvCxnSpPr>
          <p:nvPr/>
        </p:nvCxnSpPr>
        <p:spPr>
          <a:xfrm>
            <a:off x="3781332" y="1692341"/>
            <a:ext cx="730492" cy="2564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3">
            <a:extLst>
              <a:ext uri="{FF2B5EF4-FFF2-40B4-BE49-F238E27FC236}">
                <a16:creationId xmlns:a16="http://schemas.microsoft.com/office/drawing/2014/main" id="{5BF74DCE-83CB-4927-A8C4-45B86F826D8A}"/>
              </a:ext>
            </a:extLst>
          </p:cNvPr>
          <p:cNvSpPr txBox="1"/>
          <p:nvPr/>
        </p:nvSpPr>
        <p:spPr>
          <a:xfrm>
            <a:off x="4578886" y="1825694"/>
            <a:ext cx="309411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Electrons in different orbitals</a:t>
            </a:r>
            <a:endParaRPr lang="zh-CN" altLang="en-US" b="1" dirty="0">
              <a:solidFill>
                <a:srgbClr val="FF0000"/>
              </a:solidFill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5ECA466B-C848-4957-B0B9-5F85165CDD1F}"/>
              </a:ext>
            </a:extLst>
          </p:cNvPr>
          <p:cNvSpPr txBox="1"/>
          <p:nvPr/>
        </p:nvSpPr>
        <p:spPr>
          <a:xfrm>
            <a:off x="7890140" y="1701345"/>
            <a:ext cx="4140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It is the electrons that take part in chemical bonding and reactions</a:t>
            </a:r>
            <a:endParaRPr lang="zh-CN" altLang="en-US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AB869FC-ADFE-4E19-B456-AA1BA2469176}"/>
              </a:ext>
            </a:extLst>
          </p:cNvPr>
          <p:cNvSpPr txBox="1"/>
          <p:nvPr/>
        </p:nvSpPr>
        <p:spPr>
          <a:xfrm>
            <a:off x="-84025" y="3471677"/>
            <a:ext cx="6143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2-2  Electronic Structure of the Atom</a:t>
            </a:r>
            <a:endParaRPr lang="zh-CN" altLang="en-US" sz="2000" dirty="0">
              <a:highlight>
                <a:srgbClr val="C0C0C0"/>
              </a:highlight>
              <a:latin typeface="MS Reference Sans Serif" panose="020B0604030504040204" pitchFamily="34" charset="0"/>
            </a:endParaRP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2873AD7E-5565-4E06-90F4-A45B89AB5DBF}"/>
              </a:ext>
            </a:extLst>
          </p:cNvPr>
          <p:cNvSpPr txBox="1"/>
          <p:nvPr/>
        </p:nvSpPr>
        <p:spPr>
          <a:xfrm>
            <a:off x="330895" y="3778640"/>
            <a:ext cx="11822706" cy="82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Electrons</a:t>
            </a: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 bound to nuclei are found in </a:t>
            </a:r>
            <a:r>
              <a:rPr lang="en-US" altLang="zh-CN" sz="2000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Orbitals </a:t>
            </a: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(an allowed energy state for an electron).</a:t>
            </a:r>
          </a:p>
          <a:p>
            <a:pPr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Microsoft Sans Serif" pitchFamily="34" charset="0"/>
                <a:cs typeface="Microsoft Sans Serif" pitchFamily="34" charset="0"/>
              </a:rPr>
              <a:t>Atomic orbitals</a:t>
            </a: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 are grouped into </a:t>
            </a:r>
            <a:r>
              <a:rPr lang="en-US" altLang="zh-CN" sz="2000" b="1" dirty="0">
                <a:solidFill>
                  <a:srgbClr val="0000FF"/>
                </a:solidFill>
                <a:latin typeface="Microsoft Sans Serif" pitchFamily="34" charset="0"/>
                <a:cs typeface="Microsoft Sans Serif" pitchFamily="34" charset="0"/>
              </a:rPr>
              <a:t>different “shells” </a:t>
            </a: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at </a:t>
            </a:r>
            <a:r>
              <a:rPr lang="en-US" altLang="zh-CN" sz="2000" b="1" dirty="0">
                <a:solidFill>
                  <a:srgbClr val="0000FF"/>
                </a:solidFill>
                <a:latin typeface="Microsoft Sans Serif" pitchFamily="34" charset="0"/>
                <a:cs typeface="Microsoft Sans Serif" pitchFamily="34" charset="0"/>
              </a:rPr>
              <a:t>different distances </a:t>
            </a:r>
            <a:r>
              <a:rPr lang="en-US" altLang="zh-CN" sz="2000" b="1" dirty="0">
                <a:latin typeface="Microsoft Sans Serif" pitchFamily="34" charset="0"/>
                <a:cs typeface="Microsoft Sans Serif" pitchFamily="34" charset="0"/>
              </a:rPr>
              <a:t>from the nucleus (1s, 2s, 2p….).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9111A67-D9E7-42BF-9481-7C55DF1BA766}"/>
              </a:ext>
            </a:extLst>
          </p:cNvPr>
          <p:cNvSpPr txBox="1"/>
          <p:nvPr/>
        </p:nvSpPr>
        <p:spPr>
          <a:xfrm>
            <a:off x="7473180" y="4986766"/>
            <a:ext cx="4413091" cy="119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Most of the common elements in organic compounds are found in </a:t>
            </a:r>
            <a:r>
              <a:rPr lang="en-US" altLang="zh-CN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first two rows of the periodic table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9B8BBB5-1496-4A14-8B48-A94D50232BCC}"/>
              </a:ext>
            </a:extLst>
          </p:cNvPr>
          <p:cNvGrpSpPr/>
          <p:nvPr/>
        </p:nvGrpSpPr>
        <p:grpSpPr>
          <a:xfrm>
            <a:off x="927029" y="4819319"/>
            <a:ext cx="6175103" cy="1975844"/>
            <a:chOff x="1743773" y="4833988"/>
            <a:chExt cx="6175103" cy="1975844"/>
          </a:xfrm>
        </p:grpSpPr>
        <p:pic>
          <p:nvPicPr>
            <p:cNvPr id="43" name="Picture 3">
              <a:extLst>
                <a:ext uri="{FF2B5EF4-FFF2-40B4-BE49-F238E27FC236}">
                  <a16:creationId xmlns:a16="http://schemas.microsoft.com/office/drawing/2014/main" id="{1EF31F45-7AFB-420B-AC0E-EB9621372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007767" y="4953309"/>
              <a:ext cx="3816424" cy="9019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" name="TextBox 8">
              <a:extLst>
                <a:ext uri="{FF2B5EF4-FFF2-40B4-BE49-F238E27FC236}">
                  <a16:creationId xmlns:a16="http://schemas.microsoft.com/office/drawing/2014/main" id="{0D3B69B8-E0E0-472C-8372-7E3C7B90CD65}"/>
                </a:ext>
              </a:extLst>
            </p:cNvPr>
            <p:cNvSpPr txBox="1"/>
            <p:nvPr/>
          </p:nvSpPr>
          <p:spPr>
            <a:xfrm>
              <a:off x="4031222" y="5951608"/>
              <a:ext cx="35820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/>
                <a:t>1</a:t>
              </a:r>
              <a:r>
                <a:rPr lang="en-US" altLang="zh-CN" sz="1600" b="1" i="1" dirty="0"/>
                <a:t>s        </a:t>
              </a:r>
              <a:r>
                <a:rPr lang="en-US" altLang="zh-CN" sz="1600" b="1" dirty="0"/>
                <a:t> 2</a:t>
              </a:r>
              <a:r>
                <a:rPr lang="en-US" altLang="zh-CN" sz="1600" b="1" i="1" dirty="0"/>
                <a:t>s      </a:t>
              </a:r>
              <a:r>
                <a:rPr lang="en-US" altLang="zh-CN" sz="1600" b="1" dirty="0"/>
                <a:t>       2</a:t>
              </a:r>
              <a:r>
                <a:rPr lang="en-US" altLang="zh-CN" sz="1600" b="1" i="1" dirty="0"/>
                <a:t>p</a:t>
              </a:r>
              <a:r>
                <a:rPr lang="en-US" altLang="zh-CN" sz="1600" b="1" i="1" baseline="-25000" dirty="0"/>
                <a:t>y</a:t>
              </a:r>
              <a:r>
                <a:rPr lang="en-US" altLang="zh-CN" sz="1600" b="1" i="1" dirty="0"/>
                <a:t>  </a:t>
              </a:r>
              <a:r>
                <a:rPr lang="en-US" altLang="zh-CN" sz="1600" b="1" dirty="0"/>
                <a:t>           2</a:t>
              </a:r>
              <a:r>
                <a:rPr lang="en-US" altLang="zh-CN" sz="1600" b="1" i="1" dirty="0"/>
                <a:t>p</a:t>
              </a:r>
              <a:r>
                <a:rPr lang="en-US" altLang="zh-CN" sz="1600" b="1" i="1" baseline="-25000" dirty="0"/>
                <a:t>z </a:t>
              </a:r>
              <a:r>
                <a:rPr lang="en-US" altLang="zh-CN" sz="1600" b="1" i="1" dirty="0"/>
                <a:t>  </a:t>
              </a:r>
              <a:r>
                <a:rPr lang="en-US" altLang="zh-CN" sz="1600" b="1" dirty="0"/>
                <a:t>          2</a:t>
              </a:r>
              <a:r>
                <a:rPr lang="en-US" altLang="zh-CN" sz="1600" b="1" i="1" dirty="0"/>
                <a:t>p</a:t>
              </a:r>
              <a:r>
                <a:rPr lang="en-US" altLang="zh-CN" sz="1600" b="1" i="1" baseline="-25000" dirty="0"/>
                <a:t>x</a:t>
              </a:r>
              <a:endParaRPr lang="zh-CN" altLang="en-US" sz="1600" b="1" i="1" baseline="-250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A00A0DD-6189-4D70-86E3-27017A62A1B3}"/>
                </a:ext>
              </a:extLst>
            </p:cNvPr>
            <p:cNvSpPr txBox="1"/>
            <p:nvPr/>
          </p:nvSpPr>
          <p:spPr>
            <a:xfrm>
              <a:off x="1743773" y="6440500"/>
              <a:ext cx="2730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MS Reference Sans Serif" panose="020B0604030504040204" pitchFamily="34" charset="0"/>
                </a:rPr>
                <a:t>the first electron shell</a:t>
              </a:r>
              <a:endParaRPr lang="zh-CN" altLang="en-US" b="1" dirty="0">
                <a:latin typeface="MS Reference Sans Serif" panose="020B0604030504040204" pitchFamily="34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0D235BB-1EAA-47E4-B7C0-E2D7A8442681}"/>
                </a:ext>
              </a:extLst>
            </p:cNvPr>
            <p:cNvSpPr/>
            <p:nvPr/>
          </p:nvSpPr>
          <p:spPr>
            <a:xfrm>
              <a:off x="4007767" y="4833989"/>
              <a:ext cx="408827" cy="15223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6466ED0-9D5F-490F-977E-D34847962D6C}"/>
                </a:ext>
              </a:extLst>
            </p:cNvPr>
            <p:cNvSpPr/>
            <p:nvPr/>
          </p:nvSpPr>
          <p:spPr>
            <a:xfrm>
              <a:off x="4474309" y="4833988"/>
              <a:ext cx="3349882" cy="15223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E90F2FF-53BA-4EA8-A40D-DDF9E9860EF2}"/>
                </a:ext>
              </a:extLst>
            </p:cNvPr>
            <p:cNvSpPr txBox="1"/>
            <p:nvPr/>
          </p:nvSpPr>
          <p:spPr>
            <a:xfrm>
              <a:off x="4604813" y="6438799"/>
              <a:ext cx="3081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MS Reference Sans Serif" panose="020B0604030504040204" pitchFamily="34" charset="0"/>
                </a:rPr>
                <a:t>the second electron shell</a:t>
              </a:r>
              <a:endParaRPr lang="zh-CN" altLang="en-US" b="1" dirty="0">
                <a:solidFill>
                  <a:srgbClr val="FF0000"/>
                </a:solidFill>
                <a:latin typeface="MS Reference Sans Serif" panose="020B0604030504040204" pitchFamily="34" charset="0"/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3290B423-9B53-417A-928C-A4B5BFC6AE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951" y="4869160"/>
              <a:ext cx="1" cy="11176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D173D390-2F71-4069-AE52-6F1007E5AF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3191" y="5268946"/>
              <a:ext cx="309718" cy="1908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8D250B20-6B3E-4AF3-967B-9386D8C46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419" y="5427970"/>
              <a:ext cx="1053457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03060"/>
            <a:ext cx="5392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2-3 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Electronic Configuration </a:t>
            </a:r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of the Atom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360" y="569117"/>
            <a:ext cx="115212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Build up the electronic configuration of an atom in its ground state:</a:t>
            </a:r>
          </a:p>
          <a:p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000" b="1" i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Pauli exclusion principle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: each orbital can hold a maximum of  2 electrons.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Hund’s rule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: when there are two or more orbitals of the same energy, electrons will go into different orbitals rather than pair up in the same orbital.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517794"/>
              </p:ext>
            </p:extLst>
          </p:nvPr>
        </p:nvGraphicFramePr>
        <p:xfrm>
          <a:off x="467386" y="2296300"/>
          <a:ext cx="597403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Element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Configuration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effectLst/>
                        </a:rPr>
                        <a:t>Valence Electrons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H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  <a:highlight>
                            <a:srgbClr val="FF0000"/>
                          </a:highlight>
                        </a:rPr>
                        <a:t>He</a:t>
                      </a:r>
                      <a:endParaRPr lang="zh-CN" altLang="en-US" sz="2000" b="1" dirty="0">
                        <a:effectLst/>
                        <a:highlight>
                          <a:srgbClr val="FF00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Li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Be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B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3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C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N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5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O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6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  <a:highlight>
                            <a:srgbClr val="00FFFF"/>
                          </a:highlight>
                        </a:rPr>
                        <a:t>F</a:t>
                      </a:r>
                      <a:endParaRPr lang="zh-CN" altLang="en-US" sz="2000" b="1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7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  <a:highlight>
                            <a:srgbClr val="FF0000"/>
                          </a:highlight>
                        </a:rPr>
                        <a:t>Ne</a:t>
                      </a:r>
                      <a:endParaRPr lang="zh-CN" altLang="en-US" sz="2000" b="1" dirty="0">
                        <a:effectLst/>
                        <a:highlight>
                          <a:srgbClr val="FF00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441416" y="3296803"/>
            <a:ext cx="5544616" cy="2357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Valence electrons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: electrons that are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in the outmost shell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 Valence electrons are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crucial to bonding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, because they are not close to the nucleus and therefore only held loosely by the nucleus.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04F2A04-B103-4006-B0E3-24C7416D8409}"/>
              </a:ext>
            </a:extLst>
          </p:cNvPr>
          <p:cNvSpPr/>
          <p:nvPr/>
        </p:nvSpPr>
        <p:spPr>
          <a:xfrm>
            <a:off x="5015880" y="4725144"/>
            <a:ext cx="792088" cy="29194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3427" y="278857"/>
            <a:ext cx="4681923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3. Bond Formation: The Octet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117" y="762144"/>
            <a:ext cx="55890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Atoms bond together to form molecules.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81790" y="2247707"/>
            <a:ext cx="2721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 3-1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The Octet Rule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664" y="1309461"/>
            <a:ext cx="1368152" cy="637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395" y="507451"/>
            <a:ext cx="2551570" cy="1698052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8" name="矩形 7"/>
          <p:cNvSpPr/>
          <p:nvPr/>
        </p:nvSpPr>
        <p:spPr>
          <a:xfrm>
            <a:off x="8227331" y="736888"/>
            <a:ext cx="365525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MS Reference Sans Serif" panose="020B0604030504040204" pitchFamily="34" charset="0"/>
              </a:rPr>
              <a:t>Aspirin (C</a:t>
            </a:r>
            <a:r>
              <a:rPr lang="en-US" altLang="zh-CN" sz="1600" b="1" baseline="-25000" dirty="0">
                <a:latin typeface="MS Reference Sans Serif" panose="020B0604030504040204" pitchFamily="34" charset="0"/>
              </a:rPr>
              <a:t>9</a:t>
            </a:r>
            <a:r>
              <a:rPr lang="en-US" altLang="zh-CN" sz="1600" b="1" dirty="0">
                <a:latin typeface="MS Reference Sans Serif" panose="020B0604030504040204" pitchFamily="34" charset="0"/>
              </a:rPr>
              <a:t>H</a:t>
            </a:r>
            <a:r>
              <a:rPr lang="en-US" altLang="zh-CN" sz="1600" b="1" baseline="-25000" dirty="0">
                <a:latin typeface="MS Reference Sans Serif" panose="020B0604030504040204" pitchFamily="34" charset="0"/>
              </a:rPr>
              <a:t>8</a:t>
            </a:r>
            <a:r>
              <a:rPr lang="en-US" altLang="zh-CN" sz="1600" b="1" dirty="0">
                <a:latin typeface="MS Reference Sans Serif" panose="020B0604030504040204" pitchFamily="34" charset="0"/>
              </a:rPr>
              <a:t>O</a:t>
            </a:r>
            <a:r>
              <a:rPr lang="en-US" altLang="zh-CN" sz="1600" b="1" baseline="-25000" dirty="0">
                <a:latin typeface="MS Reference Sans Serif" panose="020B0604030504040204" pitchFamily="34" charset="0"/>
              </a:rPr>
              <a:t>4</a:t>
            </a:r>
            <a:r>
              <a:rPr lang="en-US" altLang="zh-CN" sz="1600" b="1" dirty="0">
                <a:latin typeface="MS Reference Sans Serif" panose="020B0604030504040204" pitchFamily="34" charset="0"/>
              </a:rPr>
              <a:t>)</a:t>
            </a:r>
            <a:r>
              <a:rPr lang="zh-CN" altLang="en-US" sz="1600" b="1" dirty="0">
                <a:latin typeface="MS Reference Sans Serif" panose="020B0604030504040204" pitchFamily="34" charset="0"/>
              </a:rPr>
              <a:t> </a:t>
            </a:r>
            <a:r>
              <a:rPr lang="en-US" altLang="zh-CN" sz="1600" b="1" dirty="0">
                <a:latin typeface="MS Reference Sans Serif" panose="020B0604030504040204" pitchFamily="34" charset="0"/>
              </a:rPr>
              <a:t>- one of the most effective and reliable pain relievers, anti-inflammatory and fever-fighting drugs in the world</a:t>
            </a:r>
            <a:endParaRPr lang="zh-CN" altLang="en-US" sz="1600" b="1" dirty="0">
              <a:latin typeface="MS Reference Sans Serif" panose="020B060403050404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FD21FC-BF93-4A1C-91AA-097C470E5D8C}"/>
              </a:ext>
            </a:extLst>
          </p:cNvPr>
          <p:cNvSpPr txBox="1"/>
          <p:nvPr/>
        </p:nvSpPr>
        <p:spPr>
          <a:xfrm>
            <a:off x="6600056" y="5453120"/>
            <a:ext cx="46864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Atoms attain a filled shell of electrons by transferring or sharing electrons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F3CD1B0-7F1C-40DE-91D5-012756383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387649"/>
              </p:ext>
            </p:extLst>
          </p:nvPr>
        </p:nvGraphicFramePr>
        <p:xfrm>
          <a:off x="336803" y="2854914"/>
          <a:ext cx="597403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Element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Configuration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effectLst/>
                        </a:rPr>
                        <a:t>Valence Electrons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H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  <a:highlight>
                            <a:srgbClr val="FF0000"/>
                          </a:highlight>
                        </a:rPr>
                        <a:t>He</a:t>
                      </a:r>
                      <a:endParaRPr lang="zh-CN" altLang="en-US" sz="2000" b="1" dirty="0">
                        <a:effectLst/>
                        <a:highlight>
                          <a:srgbClr val="FF00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B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3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C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N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5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  <a:highlight>
                            <a:srgbClr val="00FFFF"/>
                          </a:highlight>
                        </a:rPr>
                        <a:t>O</a:t>
                      </a:r>
                      <a:endParaRPr lang="zh-CN" altLang="en-US" sz="2000" b="1" u="none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6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  <a:highlight>
                            <a:srgbClr val="00FFFF"/>
                          </a:highlight>
                        </a:rPr>
                        <a:t>F</a:t>
                      </a:r>
                      <a:endParaRPr lang="zh-CN" altLang="en-US" sz="2000" b="1" dirty="0">
                        <a:effectLst/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7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  <a:highlight>
                            <a:srgbClr val="FF0000"/>
                          </a:highlight>
                        </a:rPr>
                        <a:t>Ne</a:t>
                      </a:r>
                      <a:endParaRPr lang="zh-CN" altLang="en-US" sz="2000" b="1" dirty="0">
                        <a:effectLst/>
                        <a:highlight>
                          <a:srgbClr val="FF0000"/>
                        </a:highlight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0C187807-B310-4714-8A42-B9308F88B21A}"/>
              </a:ext>
            </a:extLst>
          </p:cNvPr>
          <p:cNvSpPr/>
          <p:nvPr/>
        </p:nvSpPr>
        <p:spPr>
          <a:xfrm>
            <a:off x="4815383" y="3699798"/>
            <a:ext cx="864096" cy="29194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BC5E5E5-6583-4232-922F-1A3FD28354CC}"/>
              </a:ext>
            </a:extLst>
          </p:cNvPr>
          <p:cNvSpPr/>
          <p:nvPr/>
        </p:nvSpPr>
        <p:spPr>
          <a:xfrm>
            <a:off x="4815383" y="6084509"/>
            <a:ext cx="864096" cy="29194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B97D26-A929-48B3-95DC-B282E9CCEC05}"/>
              </a:ext>
            </a:extLst>
          </p:cNvPr>
          <p:cNvSpPr txBox="1"/>
          <p:nvPr/>
        </p:nvSpPr>
        <p:spPr>
          <a:xfrm>
            <a:off x="6592499" y="3680763"/>
            <a:ext cx="5427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A filled shell of electrons is especially stable  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(2 and </a:t>
            </a:r>
            <a:r>
              <a:rPr lang="en-US" altLang="zh-CN" sz="18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8 valence electrons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 for the elements in the 1st and </a:t>
            </a:r>
            <a:r>
              <a:rPr lang="en-US" altLang="zh-CN" sz="1800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2nd rows </a:t>
            </a:r>
            <a:r>
              <a:rPr lang="en-US" altLang="zh-CN" sz="1800" b="1" dirty="0">
                <a:latin typeface="MS Reference Sans Serif" panose="020B0604030504040204" pitchFamily="34" charset="0"/>
                <a:cs typeface="Microsoft Sans Serif" pitchFamily="34" charset="0"/>
              </a:rPr>
              <a:t>of the periodic table, respectively).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24034" y="656154"/>
            <a:ext cx="118486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Some atoms attain noble-gas configurations by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transferring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electrons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 from one atom to another.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The resulting ions have opposite charges, and they attract each other to form an ionic bond.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034" y="5976164"/>
            <a:ext cx="11632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Ionic bonding is common in inorganic compounds (for example NaCl) but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relatively uncommon in organic compounds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617535"/>
              </p:ext>
            </p:extLst>
          </p:nvPr>
        </p:nvGraphicFramePr>
        <p:xfrm>
          <a:off x="3287688" y="3582630"/>
          <a:ext cx="612068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1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Element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Configuration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effectLst/>
                        </a:rPr>
                        <a:t>Valence electrons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He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Li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F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7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Ne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8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-96688" y="173950"/>
            <a:ext cx="25731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3-2 Ionic Bonding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1E2C7C1-1834-4F53-8321-AF315FB123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712114"/>
              </p:ext>
            </p:extLst>
          </p:nvPr>
        </p:nvGraphicFramePr>
        <p:xfrm>
          <a:off x="1857778" y="1896645"/>
          <a:ext cx="8581141" cy="154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6" name="CS ChemDraw Drawing" r:id="rId3" imgW="4003237" imgH="722270" progId="ChemDraw.Document.6.0">
                  <p:embed/>
                </p:oleObj>
              </mc:Choice>
              <mc:Fallback>
                <p:oleObj name="CS ChemDraw Drawing" r:id="rId3" imgW="4003237" imgH="7222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7778" y="1896645"/>
                        <a:ext cx="8581141" cy="1548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55340" y="587600"/>
            <a:ext cx="11881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Covalent bonding is the most common type of bonding in organic compounds.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In covalent bonding,  </a:t>
            </a:r>
            <a:r>
              <a:rPr lang="en-US" altLang="zh-CN" sz="2000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electrons are shared  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rather than transferred  to attain noble-gas configurations.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6688" y="154401"/>
            <a:ext cx="30648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3-3 </a:t>
            </a: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Covalent Bonding 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32804"/>
              </p:ext>
            </p:extLst>
          </p:nvPr>
        </p:nvGraphicFramePr>
        <p:xfrm>
          <a:off x="767408" y="4528783"/>
          <a:ext cx="5793481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Element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Configuration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effectLst/>
                        </a:rPr>
                        <a:t>Valence Electrons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</a:rPr>
                        <a:t>H</a:t>
                      </a:r>
                      <a:endParaRPr lang="zh-CN" altLang="en-US" sz="2000" b="1" u="none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1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He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endParaRPr lang="zh-CN" altLang="en-US" sz="2000" b="1" baseline="30000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2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u="none" dirty="0">
                          <a:effectLst/>
                        </a:rPr>
                        <a:t>C</a:t>
                      </a:r>
                      <a:endParaRPr lang="zh-CN" altLang="en-US" sz="2000" b="1" u="none" dirty="0"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Ne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effectLst/>
                        </a:rPr>
                        <a:t>1</a:t>
                      </a:r>
                      <a:r>
                        <a:rPr lang="en-US" altLang="zh-CN" sz="2000" b="1" i="1" dirty="0"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effectLst/>
                        </a:rPr>
                        <a:t>2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baseline="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altLang="zh-CN" sz="2000" b="1" i="1" baseline="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US" altLang="zh-CN" sz="2000" b="1" i="1" baseline="-25000" dirty="0">
                          <a:solidFill>
                            <a:srgbClr val="FF0000"/>
                          </a:solidFill>
                          <a:effectLst/>
                        </a:rPr>
                        <a:t>z</a:t>
                      </a:r>
                      <a:r>
                        <a:rPr lang="en-US" altLang="zh-CN" sz="2000" b="1" baseline="30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zh-CN" altLang="en-US" sz="2000" b="1" baseline="30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effectLst/>
                        </a:rPr>
                        <a:t>8</a:t>
                      </a:r>
                      <a:endParaRPr lang="zh-CN" altLang="en-US" sz="2000" b="1" dirty="0">
                        <a:effectLst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E9AE4A4-75F6-4092-A2E8-8869C274E5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39757"/>
              </p:ext>
            </p:extLst>
          </p:nvPr>
        </p:nvGraphicFramePr>
        <p:xfrm>
          <a:off x="2967347" y="1703437"/>
          <a:ext cx="6094385" cy="2174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6" name="CS ChemDraw Drawing" r:id="rId3" imgW="2954883" imgH="1054467" progId="ChemDraw.Document.6.0">
                  <p:embed/>
                </p:oleObj>
              </mc:Choice>
              <mc:Fallback>
                <p:oleObj name="CS ChemDraw Drawing" r:id="rId3" imgW="2954883" imgH="105446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67347" y="1703437"/>
                        <a:ext cx="6094385" cy="2174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C8C9F98-D4F3-44E3-890F-FBFD310BF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16035"/>
              </p:ext>
            </p:extLst>
          </p:nvPr>
        </p:nvGraphicFramePr>
        <p:xfrm>
          <a:off x="7464152" y="4067332"/>
          <a:ext cx="1147447" cy="256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17" name="CS ChemDraw Drawing" r:id="rId5" imgW="556334" imgH="1243558" progId="ChemDraw.Document.6.0">
                  <p:embed/>
                </p:oleObj>
              </mc:Choice>
              <mc:Fallback>
                <p:oleObj name="CS ChemDraw Drawing" r:id="rId5" imgW="556334" imgH="124355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64152" y="4067332"/>
                        <a:ext cx="1147447" cy="2567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4190A08-3D35-4063-B02F-5B6679EE33A3}"/>
              </a:ext>
            </a:extLst>
          </p:cNvPr>
          <p:cNvSpPr txBox="1"/>
          <p:nvPr/>
        </p:nvSpPr>
        <p:spPr>
          <a:xfrm>
            <a:off x="8737600" y="4418641"/>
            <a:ext cx="2637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latin typeface="MS Reference Sans Serif" panose="020B0604030504040204" pitchFamily="34" charset="0"/>
              </a:rPr>
              <a:t>Ne config. satisfied</a:t>
            </a:r>
            <a:endParaRPr lang="zh-CN" altLang="en-US" sz="2000" b="1" i="1" dirty="0">
              <a:latin typeface="MS Reference Sans Serif" panose="020B060403050404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595869-2D58-4F64-BC77-2F3D7211E44D}"/>
              </a:ext>
            </a:extLst>
          </p:cNvPr>
          <p:cNvSpPr txBox="1"/>
          <p:nvPr/>
        </p:nvSpPr>
        <p:spPr>
          <a:xfrm>
            <a:off x="8737600" y="5805264"/>
            <a:ext cx="2637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latin typeface="MS Reference Sans Serif" panose="020B0604030504040204" pitchFamily="34" charset="0"/>
              </a:rPr>
              <a:t>He config. satisfied</a:t>
            </a:r>
            <a:endParaRPr lang="zh-CN" altLang="en-US" sz="2000" b="1" i="1" dirty="0"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97A86FE-83C2-4F26-B6CD-8B737E486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09026"/>
              </p:ext>
            </p:extLst>
          </p:nvPr>
        </p:nvGraphicFramePr>
        <p:xfrm>
          <a:off x="1789428" y="1370323"/>
          <a:ext cx="9649072" cy="2024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Compound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Lewis</a:t>
                      </a:r>
                      <a:r>
                        <a:rPr lang="en-US" altLang="zh-CN" sz="1800" b="1" baseline="0" dirty="0">
                          <a:latin typeface="Microsoft Sans Serif" pitchFamily="34" charset="0"/>
                          <a:cs typeface="Microsoft Sans Serif" pitchFamily="34" charset="0"/>
                        </a:rPr>
                        <a:t> Structure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Condensed</a:t>
                      </a:r>
                      <a:r>
                        <a:rPr lang="en-US" altLang="zh-CN" sz="1800" b="1" baseline="0" dirty="0">
                          <a:latin typeface="Microsoft Sans Serif" pitchFamily="34" charset="0"/>
                          <a:cs typeface="Microsoft Sans Serif" pitchFamily="34" charset="0"/>
                        </a:rPr>
                        <a:t> Structure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Line-Angle Formula</a:t>
                      </a:r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030">
                <a:tc>
                  <a:txBody>
                    <a:bodyPr/>
                    <a:lstStyle/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latin typeface="Microsoft Sans Serif" pitchFamily="34" charset="0"/>
                          <a:cs typeface="Microsoft Sans Serif" pitchFamily="34" charset="0"/>
                        </a:rPr>
                        <a:t>isobutane</a:t>
                      </a:r>
                    </a:p>
                    <a:p>
                      <a:pPr algn="ctr"/>
                      <a:endParaRPr lang="en-US" altLang="zh-CN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latin typeface="Microsoft Sans Serif" pitchFamily="34" charset="0"/>
                        <a:cs typeface="Microsoft Sans Serif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99591818-0E81-4494-8882-6D65064E1146}"/>
              </a:ext>
            </a:extLst>
          </p:cNvPr>
          <p:cNvSpPr/>
          <p:nvPr/>
        </p:nvSpPr>
        <p:spPr>
          <a:xfrm>
            <a:off x="623888" y="2690509"/>
            <a:ext cx="3229681" cy="664019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10960"/>
            <a:ext cx="501587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4. Structural Formulas and Lone Pairs 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5C1FEE7-D7E1-4C07-9DC7-E14C61EBC031}"/>
              </a:ext>
            </a:extLst>
          </p:cNvPr>
          <p:cNvSpPr txBox="1"/>
          <p:nvPr/>
        </p:nvSpPr>
        <p:spPr>
          <a:xfrm>
            <a:off x="-96688" y="779123"/>
            <a:ext cx="331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4-1 Structural formulas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3C30FA-D4E2-42FF-896A-4DDB4BD75A1E}"/>
              </a:ext>
            </a:extLst>
          </p:cNvPr>
          <p:cNvSpPr/>
          <p:nvPr/>
        </p:nvSpPr>
        <p:spPr>
          <a:xfrm>
            <a:off x="6858373" y="2394541"/>
            <a:ext cx="1114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(</a:t>
            </a:r>
            <a:r>
              <a:rPr lang="en-US" altLang="zh-CN" sz="2000" b="1" dirty="0">
                <a:solidFill>
                  <a:srgbClr val="FF0000"/>
                </a:solidFill>
              </a:rPr>
              <a:t>CH</a:t>
            </a:r>
            <a:r>
              <a:rPr lang="en-US" altLang="zh-CN" sz="2000" b="1" baseline="-25000" dirty="0">
                <a:solidFill>
                  <a:srgbClr val="FF0000"/>
                </a:solidFill>
              </a:rPr>
              <a:t>3</a:t>
            </a:r>
            <a:r>
              <a:rPr lang="en-US" altLang="zh-CN" sz="2000" b="1" dirty="0"/>
              <a:t>)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C</a:t>
            </a:r>
            <a:r>
              <a:rPr lang="en-US" altLang="zh-CN" sz="2000" b="1" dirty="0">
                <a:solidFill>
                  <a:srgbClr val="0000FF"/>
                </a:solidFill>
              </a:rPr>
              <a:t>H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D8997329-657E-4C86-B18D-218E4D05E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361966"/>
              </p:ext>
            </p:extLst>
          </p:nvPr>
        </p:nvGraphicFramePr>
        <p:xfrm>
          <a:off x="9751723" y="2245505"/>
          <a:ext cx="816553" cy="71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5" name="CS ChemDraw Drawing" r:id="rId3" imgW="363880" imgH="319601" progId="ChemDraw.Document.6.0">
                  <p:embed/>
                </p:oleObj>
              </mc:Choice>
              <mc:Fallback>
                <p:oleObj name="CS ChemDraw Drawing" r:id="rId3" imgW="363880" imgH="319601" progId="ChemDraw.Document.6.0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1723" y="2245505"/>
                        <a:ext cx="816553" cy="71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9BCB265-0A3E-4362-B917-07A726106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9504"/>
              </p:ext>
            </p:extLst>
          </p:nvPr>
        </p:nvGraphicFramePr>
        <p:xfrm>
          <a:off x="4130808" y="1839030"/>
          <a:ext cx="1490663" cy="152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6" name="CS ChemDraw Drawing" r:id="rId5" imgW="1092545" imgH="1121461" progId="ChemDraw.Document.6.0">
                  <p:embed/>
                </p:oleObj>
              </mc:Choice>
              <mc:Fallback>
                <p:oleObj name="CS ChemDraw Drawing" r:id="rId5" imgW="1092545" imgH="1121461" progId="ChemDraw.Document.6.0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30808" y="1839030"/>
                        <a:ext cx="1490663" cy="1529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12F7E3C3-B572-4C51-AE79-6DA6E384A9F7}"/>
              </a:ext>
            </a:extLst>
          </p:cNvPr>
          <p:cNvSpPr txBox="1"/>
          <p:nvPr/>
        </p:nvSpPr>
        <p:spPr>
          <a:xfrm>
            <a:off x="599410" y="2718257"/>
            <a:ext cx="3449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bonding pair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of electrons  is symbolized by a dash</a:t>
            </a:r>
            <a:endParaRPr lang="zh-CN" altLang="en-US" dirty="0">
              <a:latin typeface="MS Reference Sans Serif" panose="020B0604030504040204" pitchFamily="34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35C011C-BB40-4F7A-AEB5-93A592DA8F88}"/>
              </a:ext>
            </a:extLst>
          </p:cNvPr>
          <p:cNvCxnSpPr>
            <a:cxnSpLocks/>
          </p:cNvCxnSpPr>
          <p:nvPr/>
        </p:nvCxnSpPr>
        <p:spPr>
          <a:xfrm flipV="1">
            <a:off x="3878047" y="2654806"/>
            <a:ext cx="990001" cy="3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5">
            <a:extLst>
              <a:ext uri="{FF2B5EF4-FFF2-40B4-BE49-F238E27FC236}">
                <a16:creationId xmlns:a16="http://schemas.microsoft.com/office/drawing/2014/main" id="{DB98412D-2969-4493-B406-1E725B100395}"/>
              </a:ext>
            </a:extLst>
          </p:cNvPr>
          <p:cNvSpPr txBox="1"/>
          <p:nvPr/>
        </p:nvSpPr>
        <p:spPr>
          <a:xfrm>
            <a:off x="263352" y="3864930"/>
            <a:ext cx="11854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A pair of nonbonding electrons that are not shared between two atoms are called often called a lone pair.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Lone pairs are sometimes omitted for clarity. However, always do not forget lone pairs, if any.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DACFCF-B9E3-451C-B84A-64E6B7ABFE3B}"/>
              </a:ext>
            </a:extLst>
          </p:cNvPr>
          <p:cNvSpPr txBox="1"/>
          <p:nvPr/>
        </p:nvSpPr>
        <p:spPr>
          <a:xfrm>
            <a:off x="-96688" y="3493578"/>
            <a:ext cx="1903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4-2 Lone Pair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8F48554-0D3B-4D68-8DCE-F39A441A6F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714175"/>
              </p:ext>
            </p:extLst>
          </p:nvPr>
        </p:nvGraphicFramePr>
        <p:xfrm>
          <a:off x="1703512" y="5029183"/>
          <a:ext cx="2013956" cy="1804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7" name="CS ChemDraw Drawing" r:id="rId7" imgW="1098464" imgH="984301" progId="ChemDraw.Document.6.0">
                  <p:embed/>
                </p:oleObj>
              </mc:Choice>
              <mc:Fallback>
                <p:oleObj name="CS ChemDraw Drawing" r:id="rId7" imgW="1098464" imgH="98430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03512" y="5029183"/>
                        <a:ext cx="2013956" cy="1804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C764D94-C002-408A-92DC-7F3169B6D3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95481"/>
              </p:ext>
            </p:extLst>
          </p:nvPr>
        </p:nvGraphicFramePr>
        <p:xfrm>
          <a:off x="4478837" y="5059634"/>
          <a:ext cx="2546478" cy="178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8" name="CS ChemDraw Drawing" r:id="rId9" imgW="1410958" imgH="988662" progId="ChemDraw.Document.6.0">
                  <p:embed/>
                </p:oleObj>
              </mc:Choice>
              <mc:Fallback>
                <p:oleObj name="CS ChemDraw Drawing" r:id="rId9" imgW="1410958" imgH="98866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78837" y="5059634"/>
                        <a:ext cx="2546478" cy="178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3136F8D-38FC-4645-9433-285F73E09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723155"/>
              </p:ext>
            </p:extLst>
          </p:nvPr>
        </p:nvGraphicFramePr>
        <p:xfrm>
          <a:off x="7896994" y="5472734"/>
          <a:ext cx="3099334" cy="133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9" name="CS ChemDraw Drawing" r:id="rId11" imgW="1769221" imgH="761515" progId="ChemDraw.Document.6.0">
                  <p:embed/>
                </p:oleObj>
              </mc:Choice>
              <mc:Fallback>
                <p:oleObj name="CS ChemDraw Drawing" r:id="rId11" imgW="1769221" imgH="76151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6994" y="5472734"/>
                        <a:ext cx="3099334" cy="1335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6AD97822-2AB9-4C00-9D5D-6969CAD5F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6" y="3431241"/>
            <a:ext cx="4887164" cy="3226826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B0694FF-9665-40F8-90D4-234C92627E58}"/>
              </a:ext>
            </a:extLst>
          </p:cNvPr>
          <p:cNvSpPr/>
          <p:nvPr/>
        </p:nvSpPr>
        <p:spPr>
          <a:xfrm>
            <a:off x="7968208" y="1531576"/>
            <a:ext cx="3956240" cy="120718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29808FE-42D6-471A-BA65-51087B3C8C85}"/>
              </a:ext>
            </a:extLst>
          </p:cNvPr>
          <p:cNvSpPr/>
          <p:nvPr/>
        </p:nvSpPr>
        <p:spPr>
          <a:xfrm>
            <a:off x="270640" y="1527761"/>
            <a:ext cx="3309422" cy="142515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290502"/>
            <a:ext cx="5048946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5. Electronegativity and Bond Polarity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13B699-F68F-47FE-9C54-F9E397025785}"/>
              </a:ext>
            </a:extLst>
          </p:cNvPr>
          <p:cNvSpPr txBox="1"/>
          <p:nvPr/>
        </p:nvSpPr>
        <p:spPr>
          <a:xfrm>
            <a:off x="345298" y="1498868"/>
            <a:ext cx="33879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Bonding between two identical elements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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electrons shared equally  between the two atoms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  </a:t>
            </a:r>
            <a:r>
              <a:rPr lang="en-US" altLang="zh-CN" b="1" dirty="0">
                <a:highlight>
                  <a:srgbClr val="00FFFF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nonpolar covalent bond </a:t>
            </a:r>
            <a:endParaRPr lang="zh-CN" altLang="en-US" dirty="0">
              <a:highlight>
                <a:srgbClr val="00FFFF"/>
              </a:highlight>
              <a:latin typeface="MS Reference Sans Serif" panose="020B0604030504040204" pitchFamily="34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AC4BFA0-8C86-42A4-8F67-6DB23FCC5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668838"/>
              </p:ext>
            </p:extLst>
          </p:nvPr>
        </p:nvGraphicFramePr>
        <p:xfrm>
          <a:off x="3765069" y="1378290"/>
          <a:ext cx="1556700" cy="1718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8" name="CS ChemDraw Drawing" r:id="rId4" imgW="687329" imgH="758741" progId="ChemDraw.Document.6.0">
                  <p:embed/>
                </p:oleObj>
              </mc:Choice>
              <mc:Fallback>
                <p:oleObj name="CS ChemDraw Drawing" r:id="rId4" imgW="687329" imgH="75874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5069" y="1378290"/>
                        <a:ext cx="1556700" cy="1718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16AE9E09-3805-4B0A-A5D0-37E2C5A323A6}"/>
              </a:ext>
            </a:extLst>
          </p:cNvPr>
          <p:cNvSpPr txBox="1"/>
          <p:nvPr/>
        </p:nvSpPr>
        <p:spPr>
          <a:xfrm>
            <a:off x="7968208" y="1539811"/>
            <a:ext cx="40311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Bonding between two different elements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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an unequally shared  pair of bonding electrons  </a:t>
            </a:r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  </a:t>
            </a:r>
            <a:r>
              <a:rPr lang="en-US" altLang="zh-CN" b="1" dirty="0">
                <a:highlight>
                  <a:srgbClr val="00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Polar covalent bond</a:t>
            </a:r>
            <a:endParaRPr lang="zh-CN" altLang="en-US" dirty="0">
              <a:highlight>
                <a:srgbClr val="00FF00"/>
              </a:highlight>
              <a:latin typeface="MS Reference Sans Serif" panose="020B0604030504040204" pitchFamily="34" charset="0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647FA575-A690-4F25-BD5B-B019ED096B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100088"/>
              </p:ext>
            </p:extLst>
          </p:nvPr>
        </p:nvGraphicFramePr>
        <p:xfrm>
          <a:off x="5828691" y="1385017"/>
          <a:ext cx="1907468" cy="1721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9" name="CS ChemDraw Drawing" r:id="rId6" imgW="843970" imgH="761515" progId="ChemDraw.Document.6.0">
                  <p:embed/>
                </p:oleObj>
              </mc:Choice>
              <mc:Fallback>
                <p:oleObj name="CS ChemDraw Drawing" r:id="rId6" imgW="843970" imgH="76151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28691" y="1385017"/>
                        <a:ext cx="1907468" cy="1721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ACF4A7A2-01CA-4940-9A3B-2966F4F4A925}"/>
              </a:ext>
            </a:extLst>
          </p:cNvPr>
          <p:cNvSpPr txBox="1"/>
          <p:nvPr/>
        </p:nvSpPr>
        <p:spPr>
          <a:xfrm>
            <a:off x="-96688" y="802378"/>
            <a:ext cx="7078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5-1 </a:t>
            </a:r>
            <a:r>
              <a:rPr lang="en-US" altLang="zh-CN" sz="2000" b="1" dirty="0">
                <a:highlight>
                  <a:srgbClr val="00FFFF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Nonpolar Covalent Bond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</a:t>
            </a:r>
            <a:r>
              <a:rPr lang="en-US" altLang="zh-CN" sz="2000" b="1" dirty="0">
                <a:highlight>
                  <a:srgbClr val="00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Polar Covalent Bond</a:t>
            </a:r>
            <a:endParaRPr lang="zh-CN" altLang="en-US" sz="2000" b="1" dirty="0">
              <a:highlight>
                <a:srgbClr val="00FF00"/>
              </a:highlight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C2B955-F441-45A0-8420-59F03DF72CCA}"/>
              </a:ext>
            </a:extLst>
          </p:cNvPr>
          <p:cNvSpPr txBox="1"/>
          <p:nvPr/>
        </p:nvSpPr>
        <p:spPr>
          <a:xfrm>
            <a:off x="-96688" y="3193128"/>
            <a:ext cx="2876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5-2 Electronegativity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9A6090-0E2C-4AA3-BF96-80E4A674FDEC}"/>
              </a:ext>
            </a:extLst>
          </p:cNvPr>
          <p:cNvSpPr txBox="1"/>
          <p:nvPr/>
        </p:nvSpPr>
        <p:spPr>
          <a:xfrm>
            <a:off x="191344" y="3637370"/>
            <a:ext cx="630327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Electronegativities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 are often used as a guide in predicting </a:t>
            </a:r>
            <a:r>
              <a:rPr lang="en-US" altLang="zh-CN" sz="2000" b="1" dirty="0">
                <a:solidFill>
                  <a:srgbClr val="0000FF"/>
                </a:solidFill>
                <a:latin typeface="MS Reference Sans Serif" panose="020B0604030504040204" pitchFamily="34" charset="0"/>
                <a:cs typeface="Microsoft Sans Serif" pitchFamily="34" charset="0"/>
              </a:rPr>
              <a:t>the direction of bond polarity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Electronegativity reflects the ability of a bonding atom to attract electrons toward its direction.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MS Reference Sans Serif" panose="020B0604030504040204" pitchFamily="34" charset="0"/>
              <a:cs typeface="Microsoft Sans Serif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cs typeface="Microsoft Sans Serif" pitchFamily="34" charset="0"/>
              </a:rPr>
              <a:t>Elements with higher electronegativities generally have more attraction for the bonding electrons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. 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B29CD0C-6C38-48B4-8D45-7F399947B025}"/>
              </a:ext>
            </a:extLst>
          </p:cNvPr>
          <p:cNvCxnSpPr>
            <a:cxnSpLocks/>
          </p:cNvCxnSpPr>
          <p:nvPr/>
        </p:nvCxnSpPr>
        <p:spPr>
          <a:xfrm>
            <a:off x="6921951" y="4725144"/>
            <a:ext cx="4574649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12">
            <a:extLst>
              <a:ext uri="{FF2B5EF4-FFF2-40B4-BE49-F238E27FC236}">
                <a16:creationId xmlns:a16="http://schemas.microsoft.com/office/drawing/2014/main" id="{4D3A0884-1C3B-4500-9A71-498708B78257}"/>
              </a:ext>
            </a:extLst>
          </p:cNvPr>
          <p:cNvSpPr txBox="1"/>
          <p:nvPr/>
        </p:nvSpPr>
        <p:spPr>
          <a:xfrm>
            <a:off x="7598400" y="3756233"/>
            <a:ext cx="372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highlight>
                  <a:srgbClr val="00FFFF"/>
                </a:highlight>
                <a:latin typeface="Microsoft Sans Serif" pitchFamily="34" charset="0"/>
                <a:cs typeface="Microsoft Sans Serif" pitchFamily="34" charset="0"/>
              </a:rPr>
              <a:t>the Pauling electronegativity scale</a:t>
            </a:r>
            <a:endParaRPr lang="zh-CN" altLang="en-US" b="1" dirty="0">
              <a:highlight>
                <a:srgbClr val="00FFFF"/>
              </a:highlight>
              <a:latin typeface="Microsoft Sans Serif" pitchFamily="34" charset="0"/>
              <a:cs typeface="Microsoft Sans Serif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AEF1CEB-6121-4BC5-9C93-02BBF40FC9B0}"/>
              </a:ext>
            </a:extLst>
          </p:cNvPr>
          <p:cNvSpPr/>
          <p:nvPr/>
        </p:nvSpPr>
        <p:spPr>
          <a:xfrm>
            <a:off x="7534526" y="5311165"/>
            <a:ext cx="3097978" cy="92333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FF"/>
              </a:highlight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0602C16-9F2C-4CF7-B31F-1BF5159224F8}"/>
              </a:ext>
            </a:extLst>
          </p:cNvPr>
          <p:cNvSpPr txBox="1"/>
          <p:nvPr/>
        </p:nvSpPr>
        <p:spPr>
          <a:xfrm>
            <a:off x="7534526" y="5301208"/>
            <a:ext cx="3169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cs typeface="Microsoft Sans Serif" pitchFamily="34" charset="0"/>
              </a:rPr>
              <a:t>The electronegativities increase from left to right across the periodic 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7706"/>
              </p:ext>
            </p:extLst>
          </p:nvPr>
        </p:nvGraphicFramePr>
        <p:xfrm>
          <a:off x="5043169" y="3281363"/>
          <a:ext cx="2160240" cy="688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4" name="CS ChemDraw Drawing" r:id="rId3" imgW="427856" imgH="136586" progId="ChemDraw.Document.6.0">
                  <p:embed/>
                </p:oleObj>
              </mc:Choice>
              <mc:Fallback>
                <p:oleObj name="CS ChemDraw Drawing" r:id="rId3" imgW="427856" imgH="136586" progId="ChemDraw.Document.6.0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169" y="3281363"/>
                        <a:ext cx="2160240" cy="6880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37873" y="2819220"/>
            <a:ext cx="48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sym typeface="Symbol"/>
              </a:rPr>
              <a:t></a:t>
            </a:r>
            <a:r>
              <a:rPr lang="en-US" altLang="zh-CN" sz="2800" b="1" baseline="30000" dirty="0">
                <a:solidFill>
                  <a:srgbClr val="FF0000"/>
                </a:solidFill>
                <a:sym typeface="Symbol"/>
              </a:rPr>
              <a:t>+</a:t>
            </a:r>
            <a:endParaRPr lang="zh-CN" altLang="en-US" sz="2800" b="1" baseline="30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3743" y="2810015"/>
            <a:ext cx="436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sym typeface="Symbol"/>
              </a:rPr>
              <a:t></a:t>
            </a:r>
            <a:r>
              <a:rPr lang="en-US" altLang="zh-CN" sz="2800" b="1" baseline="30000" dirty="0">
                <a:solidFill>
                  <a:srgbClr val="FF0000"/>
                </a:solidFill>
                <a:sym typeface="Symbol"/>
              </a:rPr>
              <a:t>-</a:t>
            </a:r>
            <a:endParaRPr lang="zh-CN" altLang="en-US" sz="2800" b="1" baseline="30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058" y="802118"/>
            <a:ext cx="11175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Bond polarity is symbolized by 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18990"/>
              </p:ext>
            </p:extLst>
          </p:nvPr>
        </p:nvGraphicFramePr>
        <p:xfrm>
          <a:off x="4931568" y="883362"/>
          <a:ext cx="714166" cy="264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5" name="CS ChemDraw Drawing" r:id="rId5" imgW="437034" imgH="161150" progId="ChemDraw.Document.6.0">
                  <p:embed/>
                </p:oleObj>
              </mc:Choice>
              <mc:Fallback>
                <p:oleObj name="CS ChemDraw Drawing" r:id="rId5" imgW="437034" imgH="161150" progId="ChemDraw.Document.6.0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568" y="883362"/>
                        <a:ext cx="714166" cy="264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660702"/>
              </p:ext>
            </p:extLst>
          </p:nvPr>
        </p:nvGraphicFramePr>
        <p:xfrm>
          <a:off x="5565631" y="3721385"/>
          <a:ext cx="1008112" cy="373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06" name="CS ChemDraw Drawing" r:id="rId7" imgW="437034" imgH="161150" progId="ChemDraw.Document.6.0">
                  <p:embed/>
                </p:oleObj>
              </mc:Choice>
              <mc:Fallback>
                <p:oleObj name="CS ChemDraw Drawing" r:id="rId7" imgW="437034" imgH="161150" progId="ChemDraw.Document.6.0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631" y="3721385"/>
                        <a:ext cx="1008112" cy="373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9F0D96E4-4996-4E1A-9E75-F0341C3F983C}"/>
              </a:ext>
            </a:extLst>
          </p:cNvPr>
          <p:cNvSpPr txBox="1"/>
          <p:nvPr/>
        </p:nvSpPr>
        <p:spPr>
          <a:xfrm>
            <a:off x="-96688" y="184871"/>
            <a:ext cx="242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highlight>
                  <a:srgbClr val="C0C0C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5-3 Bond Polarity</a:t>
            </a:r>
            <a:endParaRPr lang="zh-CN" altLang="en-US" sz="2000" b="1" dirty="0">
              <a:highlight>
                <a:srgbClr val="C0C0C0"/>
              </a:highlight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FEB4FF-BA60-407A-BB64-D630ABAB6042}"/>
              </a:ext>
            </a:extLst>
          </p:cNvPr>
          <p:cNvSpPr txBox="1"/>
          <p:nvPr/>
        </p:nvSpPr>
        <p:spPr>
          <a:xfrm>
            <a:off x="3265408" y="2635032"/>
            <a:ext cx="2017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</a:t>
            </a:r>
            <a:r>
              <a:rPr lang="zh-CN" altLang="en-US" b="1" dirty="0">
                <a:latin typeface="MS Reference Sans Serif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partial positive charge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45448F-C7AC-47F9-86BD-71FD0B4E9DD9}"/>
              </a:ext>
            </a:extLst>
          </p:cNvPr>
          <p:cNvSpPr txBox="1"/>
          <p:nvPr/>
        </p:nvSpPr>
        <p:spPr>
          <a:xfrm>
            <a:off x="7057828" y="2635031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</a:t>
            </a:r>
            <a:r>
              <a:rPr lang="zh-CN" altLang="en-US" b="1" dirty="0">
                <a:latin typeface="MS Reference Sans Serif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partial negative charge</a:t>
            </a:r>
            <a:endParaRPr lang="zh-CN" altLang="en-US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C21499-5008-4916-9D19-5003C3C3012B}"/>
              </a:ext>
            </a:extLst>
          </p:cNvPr>
          <p:cNvSpPr txBox="1"/>
          <p:nvPr/>
        </p:nvSpPr>
        <p:spPr>
          <a:xfrm>
            <a:off x="429058" y="1202228"/>
            <a:ext cx="11175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The atom with the higher electronegativity is the negative end of the dipole, while that with the lower electronegativity is the positive end of the dipole.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AAA78A-87DE-47BF-9EC5-752053F58A0F}"/>
              </a:ext>
            </a:extLst>
          </p:cNvPr>
          <p:cNvSpPr txBox="1"/>
          <p:nvPr/>
        </p:nvSpPr>
        <p:spPr>
          <a:xfrm>
            <a:off x="5043169" y="3969440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MS Reference Sans Serif" panose="020B0604030504040204" pitchFamily="34" charset="0"/>
              </a:rPr>
              <a:t>(2.5)          (3.2)</a:t>
            </a:r>
            <a:endParaRPr lang="zh-CN" altLang="en-US" b="1" dirty="0">
              <a:latin typeface="MS Reference Sans Serif" panose="020B060403050404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E8C4EE-81A4-46A8-AFD7-76BED5985E32}"/>
              </a:ext>
            </a:extLst>
          </p:cNvPr>
          <p:cNvSpPr txBox="1"/>
          <p:nvPr/>
        </p:nvSpPr>
        <p:spPr>
          <a:xfrm>
            <a:off x="429058" y="5266752"/>
            <a:ext cx="11499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C</a:t>
            </a:r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  <a:sym typeface="Symbol"/>
              </a:rPr>
              <a:t>H bonds are usually considered to be nonpolar because of the negligible difference in the electronegativities of  C (2.5) and H (2.2).</a:t>
            </a:r>
            <a:endParaRPr lang="zh-CN" altLang="en-US" sz="2000" dirty="0">
              <a:latin typeface="MS Reference Sans Serif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2C83BD-BDC3-409B-8F6D-902B1A39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038228-C8D2-427E-911F-31E62AFA238C}"/>
              </a:ext>
            </a:extLst>
          </p:cNvPr>
          <p:cNvSpPr/>
          <p:nvPr/>
        </p:nvSpPr>
        <p:spPr>
          <a:xfrm>
            <a:off x="0" y="184888"/>
            <a:ext cx="5399363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MS Reference Sans Serif" panose="020B0604030504040204" pitchFamily="34" charset="0"/>
                <a:cs typeface="Microsoft Sans Serif" pitchFamily="34" charset="0"/>
              </a:rPr>
              <a:t>6. Electron-Withdrawing Inductive Effect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BC80D8-622C-450F-8525-499DBA526A51}"/>
              </a:ext>
            </a:extLst>
          </p:cNvPr>
          <p:cNvSpPr txBox="1"/>
          <p:nvPr/>
        </p:nvSpPr>
        <p:spPr>
          <a:xfrm>
            <a:off x="167141" y="682222"/>
            <a:ext cx="11737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highlight>
                  <a:srgbClr val="FFFF00"/>
                </a:highlight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Electron-Withdrawing Inductive effect</a:t>
            </a:r>
            <a:r>
              <a:rPr lang="en-US" altLang="zh-CN" sz="2000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 type of electronic effect caused by an electronegative atom/group, and passed down through single bonds.  </a:t>
            </a:r>
            <a:endParaRPr lang="zh-CN" altLang="en-US" sz="2000" b="1" dirty="0">
              <a:latin typeface="MS Reference Sans Serif" panose="020B060403050404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6D1BBB-8DBE-41DB-882A-4D17305EFA02}"/>
              </a:ext>
            </a:extLst>
          </p:cNvPr>
          <p:cNvSpPr txBox="1"/>
          <p:nvPr/>
        </p:nvSpPr>
        <p:spPr>
          <a:xfrm>
            <a:off x="106945" y="3279674"/>
            <a:ext cx="119781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electronegative atom/group (Cl atom here) withdraws electron density towards its own direction, making the atom bonded to it (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-C here) electron-deficient, and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partially positively charged.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electron-deficient 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-C has to withdraw electron density from the atoms (-C here, for example ) bonded to it to compensate for its electron-deficient situation, making -C electron-deficient and partially positively charged. The amount of charge on -C is smaller than that on -C.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Likewise, -C withdraws electron density towards its own direction, making -H slightly electron-deficient.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MS Reference Sans Serif" panose="020B0604030504040204" pitchFamily="34" charset="0"/>
              <a:ea typeface="Microsoft Sans Serif" panose="020B0604020202020204" pitchFamily="34" charset="0"/>
              <a:cs typeface="Microsoft Sans Serif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The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range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of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inductive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effect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is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usually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within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3-4</a:t>
            </a:r>
            <a:r>
              <a:rPr lang="zh-CN" altLang="en-US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MS Reference Sans Serif" panose="020B060403050404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sym typeface="Symbol" panose="05050102010706020507" pitchFamily="18" charset="2"/>
              </a:rPr>
              <a:t>single bonds.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913CE66-CA31-47C8-9457-4A781AFB33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646616"/>
              </p:ext>
            </p:extLst>
          </p:nvPr>
        </p:nvGraphicFramePr>
        <p:xfrm>
          <a:off x="4511824" y="1359855"/>
          <a:ext cx="4083160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6" name="CS ChemDraw Drawing" r:id="rId3" imgW="1779870" imgH="816357" progId="ChemDraw.Document.6.0">
                  <p:embed/>
                </p:oleObj>
              </mc:Choice>
              <mc:Fallback>
                <p:oleObj name="CS ChemDraw Drawing" r:id="rId3" imgW="1779870" imgH="81635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1824" y="1359855"/>
                        <a:ext cx="4083160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915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3970</TotalTime>
  <Words>1463</Words>
  <Application>Microsoft Office PowerPoint</Application>
  <PresentationFormat>宽屏</PresentationFormat>
  <Paragraphs>321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Arial</vt:lpstr>
      <vt:lpstr>Calibri</vt:lpstr>
      <vt:lpstr>Microsoft Sans Serif</vt:lpstr>
      <vt:lpstr>MS Reference Sans Serif</vt:lpstr>
      <vt:lpstr>Office 主题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luo</cp:lastModifiedBy>
  <cp:revision>788</cp:revision>
  <dcterms:created xsi:type="dcterms:W3CDTF">2016-06-28T06:46:32Z</dcterms:created>
  <dcterms:modified xsi:type="dcterms:W3CDTF">2026-09-01T00:11:32Z</dcterms:modified>
</cp:coreProperties>
</file>